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F14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1508760"/>
            <a:ext cx="7315200" cy="1005840"/>
          </a:xfrm>
          <a:prstGeom prst="rect">
            <a:avLst/>
          </a:prstGeom>
          <a:noFill/>
          <a:ln/>
        </p:spPr>
        <p:txBody>
          <a:bodyPr wrap="square" rtlCol="0" anchor="ctr"/>
          <a:lstStyle/>
          <a:p>
            <a:pPr indent="0" marL="0">
              <a:buNone/>
            </a:pPr>
            <a:r>
              <a:rPr lang="en-US" sz="5200" b="1" dirty="0">
                <a:solidFill>
                  <a:srgbClr val="E8804F"/>
                </a:solidFill>
                <a:latin typeface="Arial" pitchFamily="34" charset="0"/>
                <a:ea typeface="Arial" pitchFamily="34" charset="-122"/>
                <a:cs typeface="Arial" pitchFamily="34" charset="-120"/>
              </a:rPr>
              <a:t>LAB DAY 1</a:t>
            </a:r>
            <a:endParaRPr lang="en-US" sz="5200" dirty="0"/>
          </a:p>
        </p:txBody>
      </p:sp>
      <p:sp>
        <p:nvSpPr>
          <p:cNvPr id="3" name="Text 1"/>
          <p:cNvSpPr/>
          <p:nvPr/>
        </p:nvSpPr>
        <p:spPr>
          <a:xfrm>
            <a:off x="548640" y="2286000"/>
            <a:ext cx="10058400" cy="548640"/>
          </a:xfrm>
          <a:prstGeom prst="rect">
            <a:avLst/>
          </a:prstGeom>
          <a:noFill/>
          <a:ln/>
        </p:spPr>
        <p:txBody>
          <a:bodyPr wrap="square" rtlCol="0" anchor="ctr"/>
          <a:lstStyle/>
          <a:p>
            <a:pPr indent="0" marL="0">
              <a:buNone/>
            </a:pPr>
            <a:r>
              <a:rPr lang="en-US" sz="2200" dirty="0">
                <a:solidFill>
                  <a:srgbClr val="EDEFF4"/>
                </a:solidFill>
                <a:latin typeface="Arial" pitchFamily="34" charset="0"/>
                <a:ea typeface="Arial" pitchFamily="34" charset="-122"/>
                <a:cs typeface="Arial" pitchFamily="34" charset="-120"/>
              </a:rPr>
              <a:t>Hands-On Afternoon Labs</a:t>
            </a:r>
            <a:endParaRPr lang="en-US" sz="2200" dirty="0"/>
          </a:p>
        </p:txBody>
      </p:sp>
      <p:sp>
        <p:nvSpPr>
          <p:cNvPr id="4" name="Text 2"/>
          <p:cNvSpPr/>
          <p:nvPr/>
        </p:nvSpPr>
        <p:spPr>
          <a:xfrm>
            <a:off x="548640" y="2788920"/>
            <a:ext cx="8229600" cy="411480"/>
          </a:xfrm>
          <a:prstGeom prst="rect">
            <a:avLst/>
          </a:prstGeom>
          <a:noFill/>
          <a:ln/>
        </p:spPr>
        <p:txBody>
          <a:bodyPr wrap="square" rtlCol="0" anchor="ctr"/>
          <a:lstStyle/>
          <a:p>
            <a:pPr indent="0" marL="0">
              <a:buNone/>
            </a:pPr>
            <a:r>
              <a:rPr lang="en-US" sz="1400" i="1" dirty="0">
                <a:solidFill>
                  <a:srgbClr val="9AA4B8"/>
                </a:solidFill>
                <a:latin typeface="Arial" pitchFamily="34" charset="0"/>
                <a:ea typeface="Arial" pitchFamily="34" charset="-122"/>
                <a:cs typeface="Arial" pitchFamily="34" charset="-120"/>
              </a:rPr>
              <a:t>Two labs, roughly two hours each, building directly on this morning's material</a:t>
            </a:r>
            <a:endParaRPr lang="en-US" sz="1400" dirty="0"/>
          </a:p>
        </p:txBody>
      </p:sp>
      <p:sp>
        <p:nvSpPr>
          <p:cNvPr id="5" name="Shape 3"/>
          <p:cNvSpPr/>
          <p:nvPr/>
        </p:nvSpPr>
        <p:spPr>
          <a:xfrm>
            <a:off x="548640" y="3657600"/>
            <a:ext cx="11064240" cy="1417320"/>
          </a:xfrm>
          <a:prstGeom prst="roundRect">
            <a:avLst>
              <a:gd name="adj" fmla="val 5161"/>
            </a:avLst>
          </a:prstGeom>
          <a:solidFill>
            <a:srgbClr val="1B2333"/>
          </a:solidFill>
          <a:ln w="12700">
            <a:solidFill>
              <a:srgbClr val="2B3550"/>
            </a:solidFill>
            <a:prstDash val="solid"/>
          </a:ln>
        </p:spPr>
      </p:sp>
      <p:sp>
        <p:nvSpPr>
          <p:cNvPr id="6" name="Text 4"/>
          <p:cNvSpPr/>
          <p:nvPr/>
        </p:nvSpPr>
        <p:spPr>
          <a:xfrm>
            <a:off x="548640" y="3931920"/>
            <a:ext cx="2766060" cy="868680"/>
          </a:xfrm>
          <a:prstGeom prst="rect">
            <a:avLst/>
          </a:prstGeom>
          <a:noFill/>
          <a:ln/>
        </p:spPr>
        <p:txBody>
          <a:bodyPr wrap="square" rtlCol="0" anchor="ctr"/>
          <a:lstStyle/>
          <a:p>
            <a:pPr algn="ctr" indent="0" marL="0">
              <a:buNone/>
            </a:pPr>
            <a:r>
              <a:rPr lang="en-US" sz="1150" dirty="0">
                <a:solidFill>
                  <a:srgbClr val="EDEFF4"/>
                </a:solidFill>
                <a:latin typeface="Arial" pitchFamily="34" charset="0"/>
                <a:ea typeface="Arial" pitchFamily="34" charset="-122"/>
                <a:cs typeface="Arial" pitchFamily="34" charset="-120"/>
              </a:rPr>
              <a:t>Lab 1: Data Summarizer</a:t>
            </a:r>
            <a:endParaRPr lang="en-US" sz="1150" dirty="0"/>
          </a:p>
        </p:txBody>
      </p:sp>
      <p:sp>
        <p:nvSpPr>
          <p:cNvPr id="7" name="Text 5"/>
          <p:cNvSpPr/>
          <p:nvPr/>
        </p:nvSpPr>
        <p:spPr>
          <a:xfrm>
            <a:off x="3314700" y="3931920"/>
            <a:ext cx="2766060" cy="868680"/>
          </a:xfrm>
          <a:prstGeom prst="rect">
            <a:avLst/>
          </a:prstGeom>
          <a:noFill/>
          <a:ln/>
        </p:spPr>
        <p:txBody>
          <a:bodyPr wrap="square" rtlCol="0" anchor="ctr"/>
          <a:lstStyle/>
          <a:p>
            <a:pPr algn="ctr" indent="0" marL="0">
              <a:buNone/>
            </a:pPr>
            <a:r>
              <a:rPr lang="en-US" sz="1150" dirty="0">
                <a:solidFill>
                  <a:srgbClr val="EDEFF4"/>
                </a:solidFill>
                <a:latin typeface="Arial" pitchFamily="34" charset="0"/>
                <a:ea typeface="Arial" pitchFamily="34" charset="-122"/>
                <a:cs typeface="Arial" pitchFamily="34" charset="-120"/>
              </a:rPr>
              <a:t>Lab 2: Parallel Batch Processor</a:t>
            </a:r>
            <a:endParaRPr lang="en-US" sz="1150" dirty="0"/>
          </a:p>
        </p:txBody>
      </p:sp>
      <p:sp>
        <p:nvSpPr>
          <p:cNvPr id="8" name="Shape 6"/>
          <p:cNvSpPr/>
          <p:nvPr/>
        </p:nvSpPr>
        <p:spPr>
          <a:xfrm>
            <a:off x="3314700" y="3794760"/>
            <a:ext cx="0" cy="1143000"/>
          </a:xfrm>
          <a:prstGeom prst="line">
            <a:avLst/>
          </a:prstGeom>
          <a:noFill/>
          <a:ln w="12700">
            <a:solidFill>
              <a:srgbClr val="2B3550"/>
            </a:solidFill>
            <a:prstDash val="solid"/>
          </a:ln>
        </p:spPr>
      </p:sp>
      <p:sp>
        <p:nvSpPr>
          <p:cNvPr id="9" name="Text 7"/>
          <p:cNvSpPr/>
          <p:nvPr/>
        </p:nvSpPr>
        <p:spPr>
          <a:xfrm>
            <a:off x="6080760" y="3931920"/>
            <a:ext cx="2766060" cy="868680"/>
          </a:xfrm>
          <a:prstGeom prst="rect">
            <a:avLst/>
          </a:prstGeom>
          <a:noFill/>
          <a:ln/>
        </p:spPr>
        <p:txBody>
          <a:bodyPr wrap="square" rtlCol="0" anchor="ctr"/>
          <a:lstStyle/>
          <a:p>
            <a:pPr algn="ctr" indent="0" marL="0">
              <a:buNone/>
            </a:pPr>
            <a:r>
              <a:rPr lang="en-US" sz="1150" dirty="0">
                <a:solidFill>
                  <a:srgbClr val="EDEFF4"/>
                </a:solidFill>
                <a:latin typeface="Arial" pitchFamily="34" charset="0"/>
                <a:ea typeface="Arial" pitchFamily="34" charset="-122"/>
                <a:cs typeface="Arial" pitchFamily="34" charset="-120"/>
              </a:rPr>
              <a:t>Pairs Welcome</a:t>
            </a:r>
            <a:endParaRPr lang="en-US" sz="1150" dirty="0"/>
          </a:p>
        </p:txBody>
      </p:sp>
      <p:sp>
        <p:nvSpPr>
          <p:cNvPr id="10" name="Shape 8"/>
          <p:cNvSpPr/>
          <p:nvPr/>
        </p:nvSpPr>
        <p:spPr>
          <a:xfrm>
            <a:off x="6080760" y="3794760"/>
            <a:ext cx="0" cy="1143000"/>
          </a:xfrm>
          <a:prstGeom prst="line">
            <a:avLst/>
          </a:prstGeom>
          <a:noFill/>
          <a:ln w="12700">
            <a:solidFill>
              <a:srgbClr val="2B3550"/>
            </a:solidFill>
            <a:prstDash val="solid"/>
          </a:ln>
        </p:spPr>
      </p:sp>
      <p:sp>
        <p:nvSpPr>
          <p:cNvPr id="11" name="Text 9"/>
          <p:cNvSpPr/>
          <p:nvPr/>
        </p:nvSpPr>
        <p:spPr>
          <a:xfrm>
            <a:off x="8846820" y="3931920"/>
            <a:ext cx="2766060" cy="868680"/>
          </a:xfrm>
          <a:prstGeom prst="rect">
            <a:avLst/>
          </a:prstGeom>
          <a:noFill/>
          <a:ln/>
        </p:spPr>
        <p:txBody>
          <a:bodyPr wrap="square" rtlCol="0" anchor="ctr"/>
          <a:lstStyle/>
          <a:p>
            <a:pPr algn="ctr" indent="0" marL="0">
              <a:buNone/>
            </a:pPr>
            <a:r>
              <a:rPr lang="en-US" sz="1150" b="1" dirty="0">
                <a:solidFill>
                  <a:srgbClr val="E8804F"/>
                </a:solidFill>
                <a:latin typeface="Arial" pitchFamily="34" charset="0"/>
                <a:ea typeface="Arial" pitchFamily="34" charset="-122"/>
                <a:cs typeface="Arial" pitchFamily="34" charset="-120"/>
              </a:rPr>
              <a:t>Docs Yes / LLMs No</a:t>
            </a:r>
            <a:endParaRPr lang="en-US" sz="1150" dirty="0"/>
          </a:p>
        </p:txBody>
      </p:sp>
      <p:sp>
        <p:nvSpPr>
          <p:cNvPr id="12" name="Shape 10"/>
          <p:cNvSpPr/>
          <p:nvPr/>
        </p:nvSpPr>
        <p:spPr>
          <a:xfrm>
            <a:off x="8846820" y="3794760"/>
            <a:ext cx="0" cy="1143000"/>
          </a:xfrm>
          <a:prstGeom prst="line">
            <a:avLst/>
          </a:prstGeom>
          <a:noFill/>
          <a:ln w="12700">
            <a:solidFill>
              <a:srgbClr val="2B3550"/>
            </a:solidFill>
            <a:prstDash val="solid"/>
          </a:ln>
        </p:spPr>
      </p:sp>
      <p:sp>
        <p:nvSpPr>
          <p:cNvPr id="13" name="Text 11"/>
          <p:cNvSpPr/>
          <p:nvPr/>
        </p:nvSpPr>
        <p:spPr>
          <a:xfrm>
            <a:off x="548640" y="5349240"/>
            <a:ext cx="10058400" cy="640080"/>
          </a:xfrm>
          <a:prstGeom prst="rect">
            <a:avLst/>
          </a:prstGeom>
          <a:noFill/>
          <a:ln/>
        </p:spPr>
        <p:txBody>
          <a:bodyPr wrap="square" rtlCol="0" anchor="ctr"/>
          <a:lstStyle/>
          <a:p>
            <a:pPr indent="0" marL="0">
              <a:lnSpc>
                <a:spcPct val="130000"/>
              </a:lnSpc>
              <a:buNone/>
            </a:pPr>
            <a:r>
              <a:rPr lang="en-US" sz="1300" dirty="0">
                <a:solidFill>
                  <a:srgbClr val="9AA4B8"/>
                </a:solidFill>
                <a:latin typeface="Arial" pitchFamily="34" charset="0"/>
                <a:ea typeface="Arial" pitchFamily="34" charset="-122"/>
                <a:cs typeface="Arial" pitchFamily="34" charset="-120"/>
              </a:rPr>
              <a:t>Everything in both labs draws on Day 1's lecture modules — this is where that material becomes muscle memory.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HOW TODAY WORKS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Two labs, one structure</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Each lab opens with a short framing and requirements briefing,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then roughly 90 minutes of independent or paired work, then a group walkthrough of reference solutions.</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Reference solutions show more than one valid approach on purpose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there's rarely one right way to write a piece of Rust, and comparing approaches is where a lot of the real learning happens.</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Both labs are scoped to run about two to two-and-a-half hours end to end, including discussion and presentations.  </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 / 44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CE422B"/>
                </a:solidFill>
                <a:latin typeface="Arial" pitchFamily="34" charset="0"/>
                <a:ea typeface="Arial" pitchFamily="34" charset="-122"/>
                <a:cs typeface="Arial" pitchFamily="34" charset="-120"/>
              </a:rPr>
              <a:t>GROUND RULES</a:t>
            </a:r>
            <a:endParaRPr lang="en-US" sz="1300" dirty="0"/>
          </a:p>
        </p:txBody>
      </p:sp>
      <p:sp>
        <p:nvSpPr>
          <p:cNvPr id="3" name="Text 1"/>
          <p:cNvSpPr/>
          <p:nvPr/>
        </p:nvSpPr>
        <p:spPr>
          <a:xfrm>
            <a:off x="548640" y="2194560"/>
            <a:ext cx="11064240" cy="2103120"/>
          </a:xfrm>
          <a:prstGeom prst="rect">
            <a:avLst/>
          </a:prstGeom>
          <a:noFill/>
          <a:ln/>
        </p:spPr>
        <p:txBody>
          <a:bodyPr wrap="square" rtlCol="0" anchor="ctr"/>
          <a:lstStyle/>
          <a:p>
            <a:pPr indent="0" marL="0">
              <a:lnSpc>
                <a:spcPct val="115000"/>
              </a:lnSpc>
              <a:buNone/>
            </a:pPr>
            <a:r>
              <a:rPr lang="en-US" sz="3200" b="1" dirty="0">
                <a:solidFill>
                  <a:srgbClr val="EDEFF4"/>
                </a:solidFill>
                <a:latin typeface="Arial" pitchFamily="34" charset="0"/>
                <a:ea typeface="Arial" pitchFamily="34" charset="-122"/>
                <a:cs typeface="Arial" pitchFamily="34" charset="-120"/>
              </a:rPr>
              <a:t>Pairs welcome. Docs encouraged. LLMs, please don't.</a:t>
            </a:r>
            <a:endParaRPr lang="en-US" sz="3200" dirty="0"/>
          </a:p>
        </p:txBody>
      </p:sp>
      <p:sp>
        <p:nvSpPr>
          <p:cNvPr id="4" name="Text 2"/>
          <p:cNvSpPr/>
          <p:nvPr/>
        </p:nvSpPr>
        <p:spPr>
          <a:xfrm>
            <a:off x="548640" y="4434840"/>
            <a:ext cx="10332720" cy="822960"/>
          </a:xfrm>
          <a:prstGeom prst="rect">
            <a:avLst/>
          </a:prstGeom>
          <a:noFill/>
          <a:ln/>
        </p:spPr>
        <p:txBody>
          <a:bodyPr wrap="square" rtlCol="0" anchor="ctr"/>
          <a:lstStyle/>
          <a:p>
            <a:pPr indent="0" marL="0">
              <a:lnSpc>
                <a:spcPct val="130000"/>
              </a:lnSpc>
              <a:buNone/>
            </a:pPr>
            <a:r>
              <a:rPr lang="en-US" sz="1400" dirty="0">
                <a:solidFill>
                  <a:srgbClr val="9AA4B8"/>
                </a:solidFill>
                <a:latin typeface="Arial" pitchFamily="34" charset="0"/>
                <a:ea typeface="Arial" pitchFamily="34" charset="-122"/>
                <a:cs typeface="Arial" pitchFamily="34" charset="-120"/>
              </a:rPr>
              <a:t>Work in pairs or small groups if you'd like — talking through a borrow-checker error out loud is often the fastest way to understand it. Please don't ask an LLM to write or fix your code today: the goal is to build your own intuition for ownership, errors, and concurrency, and that's exactly what an LLM shortcut skips past. Internet search is fully fair game — the standard library docs, docs.rs, the Rust Book, and users.rust-lang.org are exactly what a working Rust engineer reaches for. If you're stuck for more than about ten minutes, flag an instructor — that's part of the lab, not a failure of it.</a:t>
            </a:r>
            <a:endParaRPr lang="en-US" sz="1400" dirty="0"/>
          </a:p>
        </p:txBody>
      </p:sp>
      <p:sp>
        <p:nvSpPr>
          <p:cNvPr id="5" name="Text 3"/>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4"/>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 / 44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TODAY'S SCHEDULE</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Where labs fit in a full course day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377440"/>
                <a:gridCol w="2377440"/>
                <a:gridCol w="6309360"/>
              </a:tblGrid>
              <a:tr h="457200">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Block</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Duration</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Content</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Morning lecture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~3.5–4 hrs (with breaks)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Modules 1–16 from Day 1: Foundations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Lunch</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~45–60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Lab 1</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~2.5 hrs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Robust Data Summarizer — ownership, error handling, iterators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Short break</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~10–15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Lab 2</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~2.5 hrs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Parallel Batch Processor — concurrency, borrowing</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Total</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~7.5–8.5 hrs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A full course day</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4 / 44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0"/>
        </a:solidFill>
      </p:bgPr>
    </p:bg>
    <p:spTree>
      <p:nvGrpSpPr>
        <p:cNvPr id="1" name=""/>
        <p:cNvGrpSpPr/>
        <p:nvPr/>
      </p:nvGrpSpPr>
      <p:grpSpPr>
        <a:xfrm>
          <a:off x="0" y="0"/>
          <a:ext cx="0" cy="0"/>
          <a:chOff x="0" y="0"/>
          <a:chExt cx="0" cy="0"/>
        </a:xfrm>
      </p:grpSpPr>
      <p:sp>
        <p:nvSpPr>
          <p:cNvPr id="2" name="Shape 0"/>
          <p:cNvSpPr/>
          <p:nvPr/>
        </p:nvSpPr>
        <p:spPr>
          <a:xfrm>
            <a:off x="548640" y="2651760"/>
            <a:ext cx="1371600" cy="1371600"/>
          </a:xfrm>
          <a:prstGeom prst="roundRect">
            <a:avLst>
              <a:gd name="adj" fmla="val 6667"/>
            </a:avLst>
          </a:prstGeom>
          <a:solidFill>
            <a:srgbClr val="202A40"/>
          </a:solidFill>
          <a:ln w="19050">
            <a:solidFill>
              <a:srgbClr val="CE422B"/>
            </a:solidFill>
            <a:prstDash val="solid"/>
          </a:ln>
        </p:spPr>
      </p:sp>
      <p:sp>
        <p:nvSpPr>
          <p:cNvPr id="3" name="Text 1"/>
          <p:cNvSpPr/>
          <p:nvPr/>
        </p:nvSpPr>
        <p:spPr>
          <a:xfrm>
            <a:off x="548640" y="2651760"/>
            <a:ext cx="1371600" cy="1371600"/>
          </a:xfrm>
          <a:prstGeom prst="rect">
            <a:avLst/>
          </a:prstGeom>
          <a:noFill/>
          <a:ln/>
        </p:spPr>
        <p:txBody>
          <a:bodyPr wrap="square" rtlCol="0" anchor="ctr"/>
          <a:lstStyle/>
          <a:p>
            <a:pPr algn="ctr" indent="0" marL="0">
              <a:buNone/>
            </a:pPr>
            <a:r>
              <a:rPr lang="en-US" sz="3400" b="1" dirty="0">
                <a:solidFill>
                  <a:srgbClr val="E8804F"/>
                </a:solidFill>
                <a:latin typeface="Consolas" pitchFamily="34" charset="0"/>
                <a:ea typeface="Consolas" pitchFamily="34" charset="-122"/>
                <a:cs typeface="Consolas" pitchFamily="34" charset="-120"/>
              </a:rPr>
              <a:t>01</a:t>
            </a:r>
            <a:endParaRPr lang="en-US" sz="3400" dirty="0"/>
          </a:p>
        </p:txBody>
      </p:sp>
      <p:sp>
        <p:nvSpPr>
          <p:cNvPr id="4" name="Text 2"/>
          <p:cNvSpPr/>
          <p:nvPr/>
        </p:nvSpPr>
        <p:spPr>
          <a:xfrm>
            <a:off x="2194560" y="2743200"/>
            <a:ext cx="932688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Lab 1: Robust Data Summarizer</a:t>
            </a:r>
            <a:endParaRPr lang="en-US" sz="2800" dirty="0"/>
          </a:p>
        </p:txBody>
      </p:sp>
      <p:sp>
        <p:nvSpPr>
          <p:cNvPr id="5" name="Text 3"/>
          <p:cNvSpPr/>
          <p:nvPr/>
        </p:nvSpPr>
        <p:spPr>
          <a:xfrm>
            <a:off x="2194560" y="3474720"/>
            <a:ext cx="8961120" cy="548640"/>
          </a:xfrm>
          <a:prstGeom prst="rect">
            <a:avLst/>
          </a:prstGeom>
          <a:noFill/>
          <a:ln/>
        </p:spPr>
        <p:txBody>
          <a:bodyPr wrap="square" rtlCol="0" anchor="ctr"/>
          <a:lstStyle/>
          <a:p>
            <a:pPr indent="0" marL="0">
              <a:buNone/>
            </a:pPr>
            <a:r>
              <a:rPr lang="en-US" sz="1350" dirty="0">
                <a:solidFill>
                  <a:srgbClr val="9AA4B8"/>
                </a:solidFill>
                <a:latin typeface="Arial" pitchFamily="34" charset="0"/>
                <a:ea typeface="Arial" pitchFamily="34" charset="-122"/>
                <a:cs typeface="Arial" pitchFamily="34" charset="-120"/>
              </a:rPr>
              <a:t>Ownership, error handling, and iterators — applied to messy real-world input</a:t>
            </a:r>
            <a:endParaRPr lang="en-US" sz="1350" dirty="0"/>
          </a:p>
        </p:txBody>
      </p:sp>
      <p:sp>
        <p:nvSpPr>
          <p:cNvPr id="6" name="Text 4"/>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7" name="Text 5"/>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5 / 44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Lab 1 time budget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1463040"/>
                <a:gridCol w="6492240"/>
              </a:tblGrid>
              <a:tr h="457200">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Segment</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Duration</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What happens</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Setup &amp; framing</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10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Instructor presents the problem, requirements, and ground rules; questions answered</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Independent / paired work</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90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Students work solo or in pairs; instructors circulate to help, not to hand out answers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Short break</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10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Stretch, refill coffee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Solution walkthrough &amp; discussion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20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Instructor presents reference approaches; group discussion questions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Student presentations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20–30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2–3 pairs briefly present their approach and one thing they learned</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6 / 44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The scenario</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Every run, an instrument logs a batch of readings to a plain text file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one record per line, as "id,value".</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Some lines are malformed — a dropped byte, a corrupted field, a stray blank line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because the hardware isn't perfect and the log format was never validated at write time.</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You need a small command-line tool that summarizes the good data and doesn't fall over on the bad.  </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7 / 44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Sample input file</a:t>
            </a:r>
            <a:endParaRPr lang="en-US" sz="2800" dirty="0"/>
          </a:p>
        </p:txBody>
      </p:sp>
      <p:sp>
        <p:nvSpPr>
          <p:cNvPr id="4" name="Shape 2"/>
          <p:cNvSpPr/>
          <p:nvPr/>
        </p:nvSpPr>
        <p:spPr>
          <a:xfrm>
            <a:off x="548640" y="1645920"/>
            <a:ext cx="11064240" cy="2468880"/>
          </a:xfrm>
          <a:prstGeom prst="roundRect">
            <a:avLst>
              <a:gd name="adj" fmla="val 3333"/>
            </a:avLst>
          </a:prstGeom>
          <a:solidFill>
            <a:srgbClr val="1B2333"/>
          </a:solidFill>
          <a:ln w="12700">
            <a:solidFill>
              <a:srgbClr val="2B3550"/>
            </a:solidFill>
            <a:prstDash val="solid"/>
          </a:ln>
        </p:spPr>
      </p:sp>
      <p:sp>
        <p:nvSpPr>
          <p:cNvPr id="5" name="Text 3"/>
          <p:cNvSpPr/>
          <p:nvPr/>
        </p:nvSpPr>
        <p:spPr>
          <a:xfrm>
            <a:off x="777240" y="1755648"/>
            <a:ext cx="10607040" cy="2249424"/>
          </a:xfrm>
          <a:prstGeom prst="rect">
            <a:avLst/>
          </a:prstGeom>
          <a:solidFill>
            <a:srgbClr val="141A28"/>
          </a:solidFill>
          <a:ln/>
        </p:spPr>
        <p:txBody>
          <a:bodyPr wrap="square" lIns="101600" tIns="101600" rIns="101600" bIns="101600" rtlCol="0" anchor="t"/>
          <a:lstStyle/>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S1,23.4</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S2,25.1</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S3,BAD</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S4,22.9</a:t>
            </a:r>
            <a:endParaRPr lang="en-US" sz="1400" dirty="0"/>
          </a:p>
          <a:p>
            <a:pPr indent="0" marL="0">
              <a:lnSpc>
                <a:spcPct val="125000"/>
              </a:lnSpc>
              <a:buNone/>
            </a:pP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S5,24.0</a:t>
            </a:r>
            <a:endParaRPr lang="en-US" sz="1400" dirty="0"/>
          </a:p>
        </p:txBody>
      </p:sp>
      <p:sp>
        <p:nvSpPr>
          <p:cNvPr id="6" name="Shape 4"/>
          <p:cNvSpPr/>
          <p:nvPr/>
        </p:nvSpPr>
        <p:spPr>
          <a:xfrm>
            <a:off x="548640" y="4251960"/>
            <a:ext cx="11064240" cy="2057400"/>
          </a:xfrm>
          <a:prstGeom prst="roundRect">
            <a:avLst>
              <a:gd name="adj" fmla="val 3556"/>
            </a:avLst>
          </a:prstGeom>
          <a:solidFill>
            <a:srgbClr val="202A40"/>
          </a:solidFill>
          <a:ln w="12700">
            <a:solidFill>
              <a:srgbClr val="58C27D"/>
            </a:solidFill>
            <a:prstDash val="solid"/>
          </a:ln>
        </p:spPr>
      </p:sp>
      <p:sp>
        <p:nvSpPr>
          <p:cNvPr id="7" name="Text 5"/>
          <p:cNvSpPr/>
          <p:nvPr/>
        </p:nvSpPr>
        <p:spPr>
          <a:xfrm>
            <a:off x="777240" y="4370832"/>
            <a:ext cx="10607040" cy="1819656"/>
          </a:xfrm>
          <a:prstGeom prst="rect">
            <a:avLst/>
          </a:prstGeom>
          <a:noFill/>
          <a:ln/>
        </p:spPr>
        <p:txBody>
          <a:bodyPr wrap="square" rtlCol="0" anchor="t"/>
          <a:lstStyle/>
          <a:p>
            <a:pPr indent="0" marL="0">
              <a:lnSpc>
                <a:spcPct val="128000"/>
              </a:lnSpc>
              <a:buNone/>
            </a:pPr>
            <a:r>
              <a:rPr lang="en-US" sz="1250" b="1" dirty="0">
                <a:solidFill>
                  <a:srgbClr val="58C27D"/>
                </a:solidFill>
                <a:latin typeface="Arial" pitchFamily="34" charset="0"/>
                <a:ea typeface="Arial" pitchFamily="34" charset="-122"/>
                <a:cs typeface="Arial" pitchFamily="34" charset="-120"/>
              </a:rPr>
              <a:t>Note: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Line 3 has a non-numeric value; line 5 is blank. Both are realistic hardware-log failure modes, and both must be handled without panicking.</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8 / 44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Expected output (illustrative)</a:t>
            </a:r>
            <a:endParaRPr lang="en-US" sz="2800" dirty="0"/>
          </a:p>
        </p:txBody>
      </p:sp>
      <p:sp>
        <p:nvSpPr>
          <p:cNvPr id="4" name="Shape 2"/>
          <p:cNvSpPr/>
          <p:nvPr/>
        </p:nvSpPr>
        <p:spPr>
          <a:xfrm>
            <a:off x="548640" y="1645920"/>
            <a:ext cx="11064240" cy="2468880"/>
          </a:xfrm>
          <a:prstGeom prst="roundRect">
            <a:avLst>
              <a:gd name="adj" fmla="val 3333"/>
            </a:avLst>
          </a:prstGeom>
          <a:solidFill>
            <a:srgbClr val="1B2333"/>
          </a:solidFill>
          <a:ln w="12700">
            <a:solidFill>
              <a:srgbClr val="2B3550"/>
            </a:solidFill>
            <a:prstDash val="solid"/>
          </a:ln>
        </p:spPr>
      </p:sp>
      <p:sp>
        <p:nvSpPr>
          <p:cNvPr id="5" name="Text 3"/>
          <p:cNvSpPr/>
          <p:nvPr/>
        </p:nvSpPr>
        <p:spPr>
          <a:xfrm>
            <a:off x="777240" y="1755648"/>
            <a:ext cx="10607040" cy="2249424"/>
          </a:xfrm>
          <a:prstGeom prst="rect">
            <a:avLst/>
          </a:prstGeom>
          <a:solidFill>
            <a:srgbClr val="141A28"/>
          </a:solidFill>
          <a:ln/>
        </p:spPr>
        <p:txBody>
          <a:bodyPr wrap="square" lIns="101600" tIns="101600" rIns="101600" bIns="101600" rtlCol="0" anchor="t"/>
          <a:lstStyle/>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Records read:      6</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Valid records:     4</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Skipped (bad):     2</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Mean:          23.85</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Min:           22.90</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Max:           25.10</a:t>
            </a:r>
            <a:endParaRPr lang="en-US" sz="1400" dirty="0"/>
          </a:p>
          <a:p>
            <a:pPr indent="0" marL="0">
              <a:lnSpc>
                <a:spcPct val="125000"/>
              </a:lnSpc>
              <a:buNone/>
            </a:pPr>
            <a:r>
              <a:rPr lang="en-US" sz="1400" dirty="0">
                <a:solidFill>
                  <a:srgbClr val="EDEFF4"/>
                </a:solidFill>
                <a:latin typeface="Consolas" pitchFamily="34" charset="0"/>
                <a:ea typeface="Consolas" pitchFamily="34" charset="-122"/>
                <a:cs typeface="Consolas" pitchFamily="34" charset="-120"/>
              </a:rPr>
              <a:t>Std dev:        0.90</a:t>
            </a:r>
            <a:endParaRPr lang="en-US" sz="1400" dirty="0"/>
          </a:p>
        </p:txBody>
      </p:sp>
      <p:sp>
        <p:nvSpPr>
          <p:cNvPr id="6" name="Shape 4"/>
          <p:cNvSpPr/>
          <p:nvPr/>
        </p:nvSpPr>
        <p:spPr>
          <a:xfrm>
            <a:off x="548640" y="4251960"/>
            <a:ext cx="11064240" cy="2057400"/>
          </a:xfrm>
          <a:prstGeom prst="roundRect">
            <a:avLst>
              <a:gd name="adj" fmla="val 3556"/>
            </a:avLst>
          </a:prstGeom>
          <a:solidFill>
            <a:srgbClr val="202A40"/>
          </a:solidFill>
          <a:ln w="12700">
            <a:solidFill>
              <a:srgbClr val="58C27D"/>
            </a:solidFill>
            <a:prstDash val="solid"/>
          </a:ln>
        </p:spPr>
      </p:sp>
      <p:sp>
        <p:nvSpPr>
          <p:cNvPr id="7" name="Text 5"/>
          <p:cNvSpPr/>
          <p:nvPr/>
        </p:nvSpPr>
        <p:spPr>
          <a:xfrm>
            <a:off x="777240" y="4370832"/>
            <a:ext cx="10607040" cy="1819656"/>
          </a:xfrm>
          <a:prstGeom prst="rect">
            <a:avLst/>
          </a:prstGeom>
          <a:noFill/>
          <a:ln/>
        </p:spPr>
        <p:txBody>
          <a:bodyPr wrap="square" rtlCol="0" anchor="t"/>
          <a:lstStyle/>
          <a:p>
            <a:pPr indent="0" marL="0">
              <a:lnSpc>
                <a:spcPct val="128000"/>
              </a:lnSpc>
              <a:buNone/>
            </a:pPr>
            <a:r>
              <a:rPr lang="en-US" sz="1250" b="1" dirty="0">
                <a:solidFill>
                  <a:srgbClr val="58C27D"/>
                </a:solidFill>
                <a:latin typeface="Arial" pitchFamily="34" charset="0"/>
                <a:ea typeface="Arial" pitchFamily="34" charset="-122"/>
                <a:cs typeface="Arial" pitchFamily="34" charset="-120"/>
              </a:rPr>
              <a:t>Note: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Exact formatting is your choice — these numbers are illustrative, not a byte-for-byte spec to match.</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9 / 44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Requirements</a:t>
            </a:r>
            <a:endParaRPr lang="en-US" sz="2800" dirty="0"/>
          </a:p>
        </p:txBody>
      </p:sp>
      <p:sp>
        <p:nvSpPr>
          <p:cNvPr id="4" name="Text 2"/>
          <p:cNvSpPr/>
          <p:nvPr/>
        </p:nvSpPr>
        <p:spPr>
          <a:xfrm>
            <a:off x="548640" y="1600200"/>
            <a:ext cx="11064240" cy="502920"/>
          </a:xfrm>
          <a:prstGeom prst="rect">
            <a:avLst/>
          </a:prstGeom>
          <a:noFill/>
          <a:ln/>
        </p:spPr>
        <p:txBody>
          <a:bodyPr wrap="square" rtlCol="0" anchor="ctr"/>
          <a:lstStyle/>
          <a:p>
            <a:pPr indent="0" marL="0">
              <a:lnSpc>
                <a:spcPct val="125000"/>
              </a:lnSpc>
              <a:buNone/>
            </a:pPr>
            <a:r>
              <a:rPr lang="en-US" sz="1300" i="1" dirty="0">
                <a:solidFill>
                  <a:srgbClr val="9AA4B8"/>
                </a:solidFill>
                <a:latin typeface="Arial" pitchFamily="34" charset="0"/>
                <a:ea typeface="Arial" pitchFamily="34" charset="-122"/>
                <a:cs typeface="Arial" pitchFamily="34" charset="-120"/>
              </a:rPr>
              <a:t>In rough priority order — get the top ones solid before chasing the rest.</a:t>
            </a:r>
            <a:endParaRPr lang="en-US" sz="1300" dirty="0"/>
          </a:p>
        </p:txBody>
      </p:sp>
      <p:sp>
        <p:nvSpPr>
          <p:cNvPr id="5" name="Shape 3"/>
          <p:cNvSpPr/>
          <p:nvPr/>
        </p:nvSpPr>
        <p:spPr>
          <a:xfrm>
            <a:off x="548640" y="2221992"/>
            <a:ext cx="11064240" cy="698602"/>
          </a:xfrm>
          <a:prstGeom prst="roundRect">
            <a:avLst>
              <a:gd name="adj" fmla="val 9162"/>
            </a:avLst>
          </a:prstGeom>
          <a:solidFill>
            <a:srgbClr val="1B2333"/>
          </a:solidFill>
          <a:ln w="12700">
            <a:solidFill>
              <a:srgbClr val="2B3550"/>
            </a:solidFill>
            <a:prstDash val="solid"/>
          </a:ln>
        </p:spPr>
      </p:sp>
      <p:sp>
        <p:nvSpPr>
          <p:cNvPr id="6" name="Shape 4"/>
          <p:cNvSpPr/>
          <p:nvPr/>
        </p:nvSpPr>
        <p:spPr>
          <a:xfrm>
            <a:off x="777240" y="2470709"/>
            <a:ext cx="201168" cy="201168"/>
          </a:xfrm>
          <a:prstGeom prst="roundRect">
            <a:avLst>
              <a:gd name="adj" fmla="val 227273"/>
            </a:avLst>
          </a:prstGeom>
          <a:solidFill>
            <a:srgbClr val="CE422B"/>
          </a:solidFill>
          <a:ln w="12700">
            <a:solidFill>
              <a:srgbClr val="CE422B"/>
            </a:solidFill>
            <a:prstDash val="solid"/>
          </a:ln>
        </p:spPr>
      </p:sp>
      <p:sp>
        <p:nvSpPr>
          <p:cNvPr id="7" name="Text 5"/>
          <p:cNvSpPr/>
          <p:nvPr/>
        </p:nvSpPr>
        <p:spPr>
          <a:xfrm>
            <a:off x="1143000" y="2221992"/>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Read the file path from the first command-line argument, parse each line as "id,value".  </a:t>
            </a:r>
            <a:endParaRPr lang="en-US" sz="1250" dirty="0"/>
          </a:p>
        </p:txBody>
      </p:sp>
      <p:sp>
        <p:nvSpPr>
          <p:cNvPr id="8" name="Shape 6"/>
          <p:cNvSpPr/>
          <p:nvPr/>
        </p:nvSpPr>
        <p:spPr>
          <a:xfrm>
            <a:off x="548640" y="3030322"/>
            <a:ext cx="11064240" cy="698602"/>
          </a:xfrm>
          <a:prstGeom prst="roundRect">
            <a:avLst>
              <a:gd name="adj" fmla="val 9162"/>
            </a:avLst>
          </a:prstGeom>
          <a:solidFill>
            <a:srgbClr val="1B2333"/>
          </a:solidFill>
          <a:ln w="12700">
            <a:solidFill>
              <a:srgbClr val="2B3550"/>
            </a:solidFill>
            <a:prstDash val="solid"/>
          </a:ln>
        </p:spPr>
      </p:sp>
      <p:sp>
        <p:nvSpPr>
          <p:cNvPr id="9" name="Shape 7"/>
          <p:cNvSpPr/>
          <p:nvPr/>
        </p:nvSpPr>
        <p:spPr>
          <a:xfrm>
            <a:off x="777240" y="3279038"/>
            <a:ext cx="201168" cy="201168"/>
          </a:xfrm>
          <a:prstGeom prst="roundRect">
            <a:avLst>
              <a:gd name="adj" fmla="val 227273"/>
            </a:avLst>
          </a:prstGeom>
          <a:solidFill>
            <a:srgbClr val="CE422B"/>
          </a:solidFill>
          <a:ln w="12700">
            <a:solidFill>
              <a:srgbClr val="CE422B"/>
            </a:solidFill>
            <a:prstDash val="solid"/>
          </a:ln>
        </p:spPr>
      </p:sp>
      <p:sp>
        <p:nvSpPr>
          <p:cNvPr id="10" name="Text 8"/>
          <p:cNvSpPr/>
          <p:nvPr/>
        </p:nvSpPr>
        <p:spPr>
          <a:xfrm>
            <a:off x="1143000" y="3030322"/>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Skip and count malformed lines (empty, missing comma, non-numeric value) without panicking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print a one-line warning to stderr for each one skipped.</a:t>
            </a:r>
            <a:endParaRPr lang="en-US" sz="1250" dirty="0"/>
          </a:p>
        </p:txBody>
      </p:sp>
      <p:sp>
        <p:nvSpPr>
          <p:cNvPr id="11" name="Shape 9"/>
          <p:cNvSpPr/>
          <p:nvPr/>
        </p:nvSpPr>
        <p:spPr>
          <a:xfrm>
            <a:off x="548640" y="3838651"/>
            <a:ext cx="11064240" cy="698602"/>
          </a:xfrm>
          <a:prstGeom prst="roundRect">
            <a:avLst>
              <a:gd name="adj" fmla="val 9162"/>
            </a:avLst>
          </a:prstGeom>
          <a:solidFill>
            <a:srgbClr val="1B2333"/>
          </a:solidFill>
          <a:ln w="12700">
            <a:solidFill>
              <a:srgbClr val="2B3550"/>
            </a:solidFill>
            <a:prstDash val="solid"/>
          </a:ln>
        </p:spPr>
      </p:sp>
      <p:sp>
        <p:nvSpPr>
          <p:cNvPr id="12" name="Shape 10"/>
          <p:cNvSpPr/>
          <p:nvPr/>
        </p:nvSpPr>
        <p:spPr>
          <a:xfrm>
            <a:off x="777240" y="4087368"/>
            <a:ext cx="201168" cy="201168"/>
          </a:xfrm>
          <a:prstGeom prst="roundRect">
            <a:avLst>
              <a:gd name="adj" fmla="val 227273"/>
            </a:avLst>
          </a:prstGeom>
          <a:solidFill>
            <a:srgbClr val="CE422B"/>
          </a:solidFill>
          <a:ln w="12700">
            <a:solidFill>
              <a:srgbClr val="CE422B"/>
            </a:solidFill>
            <a:prstDash val="solid"/>
          </a:ln>
        </p:spPr>
      </p:sp>
      <p:sp>
        <p:nvSpPr>
          <p:cNvPr id="13" name="Text 11"/>
          <p:cNvSpPr/>
          <p:nvPr/>
        </p:nvSpPr>
        <p:spPr>
          <a:xfrm>
            <a:off x="1143000" y="3838651"/>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Compute and print: total lines read, valid count, skipped count, mean, min, max, and standard deviation.  </a:t>
            </a:r>
            <a:endParaRPr lang="en-US" sz="1250" dirty="0"/>
          </a:p>
        </p:txBody>
      </p:sp>
      <p:sp>
        <p:nvSpPr>
          <p:cNvPr id="14" name="Shape 12"/>
          <p:cNvSpPr/>
          <p:nvPr/>
        </p:nvSpPr>
        <p:spPr>
          <a:xfrm>
            <a:off x="548640" y="4646981"/>
            <a:ext cx="11064240" cy="698602"/>
          </a:xfrm>
          <a:prstGeom prst="roundRect">
            <a:avLst>
              <a:gd name="adj" fmla="val 9162"/>
            </a:avLst>
          </a:prstGeom>
          <a:solidFill>
            <a:srgbClr val="1B2333"/>
          </a:solidFill>
          <a:ln w="12700">
            <a:solidFill>
              <a:srgbClr val="2B3550"/>
            </a:solidFill>
            <a:prstDash val="solid"/>
          </a:ln>
        </p:spPr>
      </p:sp>
      <p:sp>
        <p:nvSpPr>
          <p:cNvPr id="15" name="Shape 13"/>
          <p:cNvSpPr/>
          <p:nvPr/>
        </p:nvSpPr>
        <p:spPr>
          <a:xfrm>
            <a:off x="777240" y="4895698"/>
            <a:ext cx="201168" cy="201168"/>
          </a:xfrm>
          <a:prstGeom prst="roundRect">
            <a:avLst>
              <a:gd name="adj" fmla="val 227273"/>
            </a:avLst>
          </a:prstGeom>
          <a:solidFill>
            <a:srgbClr val="CE422B"/>
          </a:solidFill>
          <a:ln w="12700">
            <a:solidFill>
              <a:srgbClr val="CE422B"/>
            </a:solidFill>
            <a:prstDash val="solid"/>
          </a:ln>
        </p:spPr>
      </p:sp>
      <p:sp>
        <p:nvSpPr>
          <p:cNvPr id="16" name="Text 14"/>
          <p:cNvSpPr/>
          <p:nvPr/>
        </p:nvSpPr>
        <p:spPr>
          <a:xfrm>
            <a:off x="1143000" y="4646981"/>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Group records by the first character of their id and print a per-group mean.  </a:t>
            </a:r>
            <a:endParaRPr lang="en-US" sz="1250" dirty="0"/>
          </a:p>
        </p:txBody>
      </p:sp>
      <p:sp>
        <p:nvSpPr>
          <p:cNvPr id="17" name="Shape 15"/>
          <p:cNvSpPr/>
          <p:nvPr/>
        </p:nvSpPr>
        <p:spPr>
          <a:xfrm>
            <a:off x="548640" y="5455310"/>
            <a:ext cx="11064240" cy="698602"/>
          </a:xfrm>
          <a:prstGeom prst="roundRect">
            <a:avLst>
              <a:gd name="adj" fmla="val 9162"/>
            </a:avLst>
          </a:prstGeom>
          <a:solidFill>
            <a:srgbClr val="1B2333"/>
          </a:solidFill>
          <a:ln w="12700">
            <a:solidFill>
              <a:srgbClr val="2B3550"/>
            </a:solidFill>
            <a:prstDash val="solid"/>
          </a:ln>
        </p:spPr>
      </p:sp>
      <p:sp>
        <p:nvSpPr>
          <p:cNvPr id="18" name="Shape 16"/>
          <p:cNvSpPr/>
          <p:nvPr/>
        </p:nvSpPr>
        <p:spPr>
          <a:xfrm>
            <a:off x="777240" y="5704027"/>
            <a:ext cx="201168" cy="201168"/>
          </a:xfrm>
          <a:prstGeom prst="roundRect">
            <a:avLst>
              <a:gd name="adj" fmla="val 227273"/>
            </a:avLst>
          </a:prstGeom>
          <a:solidFill>
            <a:srgbClr val="CE422B"/>
          </a:solidFill>
          <a:ln w="12700">
            <a:solidFill>
              <a:srgbClr val="CE422B"/>
            </a:solidFill>
            <a:prstDash val="solid"/>
          </a:ln>
        </p:spPr>
      </p:sp>
      <p:sp>
        <p:nvSpPr>
          <p:cNvPr id="19" name="Text 17"/>
          <p:cNvSpPr/>
          <p:nvPr/>
        </p:nvSpPr>
        <p:spPr>
          <a:xfrm>
            <a:off x="1143000" y="5455310"/>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Include at least two unit tests: one for the stats calculation on a known small dataset, one for malformed-line handling.  </a:t>
            </a:r>
            <a:endParaRPr lang="en-US" sz="1250" dirty="0"/>
          </a:p>
        </p:txBody>
      </p:sp>
      <p:sp>
        <p:nvSpPr>
          <p:cNvPr id="20" name="Text 18"/>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21" name="Text 19"/>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10 / 44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What we'll look for</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200400"/>
                <a:gridCol w="7863840"/>
              </a:tblGrid>
              <a:tr h="457200">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Criterion</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What we're checking</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Correctness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Stats match a hand-computed reference on the sample input above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Robustness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No panics on any malformed line — the program always finishes and reports a result</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Idiomatic style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cargo clippy runs clean; ownership and error handling follow today's patterns, not C++ habits ported over</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Tests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At least two tests, both passing, covering a normal case and a malformed-input case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11 / 44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Stretch goals</a:t>
            </a:r>
            <a:endParaRPr lang="en-US" sz="2800" dirty="0"/>
          </a:p>
        </p:txBody>
      </p:sp>
      <p:sp>
        <p:nvSpPr>
          <p:cNvPr id="4" name="Text 2"/>
          <p:cNvSpPr/>
          <p:nvPr/>
        </p:nvSpPr>
        <p:spPr>
          <a:xfrm>
            <a:off x="548640" y="1600200"/>
            <a:ext cx="11064240" cy="502920"/>
          </a:xfrm>
          <a:prstGeom prst="rect">
            <a:avLst/>
          </a:prstGeom>
          <a:noFill/>
          <a:ln/>
        </p:spPr>
        <p:txBody>
          <a:bodyPr wrap="square" rtlCol="0" anchor="ctr"/>
          <a:lstStyle/>
          <a:p>
            <a:pPr indent="0" marL="0">
              <a:lnSpc>
                <a:spcPct val="125000"/>
              </a:lnSpc>
              <a:buNone/>
            </a:pPr>
            <a:r>
              <a:rPr lang="en-US" sz="1300" i="1" dirty="0">
                <a:solidFill>
                  <a:srgbClr val="9AA4B8"/>
                </a:solidFill>
                <a:latin typeface="Arial" pitchFamily="34" charset="0"/>
                <a:ea typeface="Arial" pitchFamily="34" charset="-122"/>
                <a:cs typeface="Arial" pitchFamily="34" charset="-120"/>
              </a:rPr>
              <a:t>Optional, for pairs who finish early — pick at most one or two.</a:t>
            </a:r>
            <a:endParaRPr lang="en-US" sz="1300" dirty="0"/>
          </a:p>
        </p:txBody>
      </p:sp>
      <p:sp>
        <p:nvSpPr>
          <p:cNvPr id="5" name="Shape 3"/>
          <p:cNvSpPr/>
          <p:nvPr/>
        </p:nvSpPr>
        <p:spPr>
          <a:xfrm>
            <a:off x="548640" y="2221992"/>
            <a:ext cx="11064240" cy="698602"/>
          </a:xfrm>
          <a:prstGeom prst="roundRect">
            <a:avLst>
              <a:gd name="adj" fmla="val 9162"/>
            </a:avLst>
          </a:prstGeom>
          <a:solidFill>
            <a:srgbClr val="1B2333"/>
          </a:solidFill>
          <a:ln w="12700">
            <a:solidFill>
              <a:srgbClr val="2B3550"/>
            </a:solidFill>
            <a:prstDash val="solid"/>
          </a:ln>
        </p:spPr>
      </p:sp>
      <p:sp>
        <p:nvSpPr>
          <p:cNvPr id="6" name="Shape 4"/>
          <p:cNvSpPr/>
          <p:nvPr/>
        </p:nvSpPr>
        <p:spPr>
          <a:xfrm>
            <a:off x="777240" y="2470709"/>
            <a:ext cx="201168" cy="201168"/>
          </a:xfrm>
          <a:prstGeom prst="roundRect">
            <a:avLst>
              <a:gd name="adj" fmla="val 227273"/>
            </a:avLst>
          </a:prstGeom>
          <a:solidFill>
            <a:srgbClr val="CE422B"/>
          </a:solidFill>
          <a:ln w="12700">
            <a:solidFill>
              <a:srgbClr val="CE422B"/>
            </a:solidFill>
            <a:prstDash val="solid"/>
          </a:ln>
        </p:spPr>
      </p:sp>
      <p:sp>
        <p:nvSpPr>
          <p:cNvPr id="7" name="Text 5"/>
          <p:cNvSpPr/>
          <p:nvPr/>
        </p:nvSpPr>
        <p:spPr>
          <a:xfrm>
            <a:off x="1143000" y="2221992"/>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Accept input from stdin when no file argument is given (or when the argument is "-").  </a:t>
            </a:r>
            <a:endParaRPr lang="en-US" sz="1250" dirty="0"/>
          </a:p>
        </p:txBody>
      </p:sp>
      <p:sp>
        <p:nvSpPr>
          <p:cNvPr id="8" name="Shape 6"/>
          <p:cNvSpPr/>
          <p:nvPr/>
        </p:nvSpPr>
        <p:spPr>
          <a:xfrm>
            <a:off x="548640" y="3030322"/>
            <a:ext cx="11064240" cy="698602"/>
          </a:xfrm>
          <a:prstGeom prst="roundRect">
            <a:avLst>
              <a:gd name="adj" fmla="val 9162"/>
            </a:avLst>
          </a:prstGeom>
          <a:solidFill>
            <a:srgbClr val="1B2333"/>
          </a:solidFill>
          <a:ln w="12700">
            <a:solidFill>
              <a:srgbClr val="2B3550"/>
            </a:solidFill>
            <a:prstDash val="solid"/>
          </a:ln>
        </p:spPr>
      </p:sp>
      <p:sp>
        <p:nvSpPr>
          <p:cNvPr id="9" name="Shape 7"/>
          <p:cNvSpPr/>
          <p:nvPr/>
        </p:nvSpPr>
        <p:spPr>
          <a:xfrm>
            <a:off x="777240" y="3279038"/>
            <a:ext cx="201168" cy="201168"/>
          </a:xfrm>
          <a:prstGeom prst="roundRect">
            <a:avLst>
              <a:gd name="adj" fmla="val 227273"/>
            </a:avLst>
          </a:prstGeom>
          <a:solidFill>
            <a:srgbClr val="CE422B"/>
          </a:solidFill>
          <a:ln w="12700">
            <a:solidFill>
              <a:srgbClr val="CE422B"/>
            </a:solidFill>
            <a:prstDash val="solid"/>
          </a:ln>
        </p:spPr>
      </p:sp>
      <p:sp>
        <p:nvSpPr>
          <p:cNvPr id="10" name="Text 8"/>
          <p:cNvSpPr/>
          <p:nvPr/>
        </p:nvSpPr>
        <p:spPr>
          <a:xfrm>
            <a:off x="1143000" y="3030322"/>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Print the top three outlier records — the ones furthest from the mean.  </a:t>
            </a:r>
            <a:endParaRPr lang="en-US" sz="1250" dirty="0"/>
          </a:p>
        </p:txBody>
      </p:sp>
      <p:sp>
        <p:nvSpPr>
          <p:cNvPr id="11" name="Shape 9"/>
          <p:cNvSpPr/>
          <p:nvPr/>
        </p:nvSpPr>
        <p:spPr>
          <a:xfrm>
            <a:off x="548640" y="3838651"/>
            <a:ext cx="11064240" cy="698602"/>
          </a:xfrm>
          <a:prstGeom prst="roundRect">
            <a:avLst>
              <a:gd name="adj" fmla="val 9162"/>
            </a:avLst>
          </a:prstGeom>
          <a:solidFill>
            <a:srgbClr val="1B2333"/>
          </a:solidFill>
          <a:ln w="12700">
            <a:solidFill>
              <a:srgbClr val="2B3550"/>
            </a:solidFill>
            <a:prstDash val="solid"/>
          </a:ln>
        </p:spPr>
      </p:sp>
      <p:sp>
        <p:nvSpPr>
          <p:cNvPr id="12" name="Shape 10"/>
          <p:cNvSpPr/>
          <p:nvPr/>
        </p:nvSpPr>
        <p:spPr>
          <a:xfrm>
            <a:off x="777240" y="4087368"/>
            <a:ext cx="201168" cy="201168"/>
          </a:xfrm>
          <a:prstGeom prst="roundRect">
            <a:avLst>
              <a:gd name="adj" fmla="val 227273"/>
            </a:avLst>
          </a:prstGeom>
          <a:solidFill>
            <a:srgbClr val="CE422B"/>
          </a:solidFill>
          <a:ln w="12700">
            <a:solidFill>
              <a:srgbClr val="CE422B"/>
            </a:solidFill>
            <a:prstDash val="solid"/>
          </a:ln>
        </p:spPr>
      </p:sp>
      <p:sp>
        <p:nvSpPr>
          <p:cNvPr id="13" name="Text 11"/>
          <p:cNvSpPr/>
          <p:nvPr/>
        </p:nvSpPr>
        <p:spPr>
          <a:xfrm>
            <a:off x="1143000" y="3838651"/>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Replace manual argument parsing with the clap crate — look up its docs.rs page.  </a:t>
            </a:r>
            <a:endParaRPr lang="en-US" sz="1250" dirty="0"/>
          </a:p>
        </p:txBody>
      </p:sp>
      <p:sp>
        <p:nvSpPr>
          <p:cNvPr id="14" name="Shape 12"/>
          <p:cNvSpPr/>
          <p:nvPr/>
        </p:nvSpPr>
        <p:spPr>
          <a:xfrm>
            <a:off x="548640" y="4646981"/>
            <a:ext cx="11064240" cy="698602"/>
          </a:xfrm>
          <a:prstGeom prst="roundRect">
            <a:avLst>
              <a:gd name="adj" fmla="val 9162"/>
            </a:avLst>
          </a:prstGeom>
          <a:solidFill>
            <a:srgbClr val="1B2333"/>
          </a:solidFill>
          <a:ln w="12700">
            <a:solidFill>
              <a:srgbClr val="2B3550"/>
            </a:solidFill>
            <a:prstDash val="solid"/>
          </a:ln>
        </p:spPr>
      </p:sp>
      <p:sp>
        <p:nvSpPr>
          <p:cNvPr id="15" name="Shape 13"/>
          <p:cNvSpPr/>
          <p:nvPr/>
        </p:nvSpPr>
        <p:spPr>
          <a:xfrm>
            <a:off x="777240" y="4895698"/>
            <a:ext cx="201168" cy="201168"/>
          </a:xfrm>
          <a:prstGeom prst="roundRect">
            <a:avLst>
              <a:gd name="adj" fmla="val 227273"/>
            </a:avLst>
          </a:prstGeom>
          <a:solidFill>
            <a:srgbClr val="CE422B"/>
          </a:solidFill>
          <a:ln w="12700">
            <a:solidFill>
              <a:srgbClr val="CE422B"/>
            </a:solidFill>
            <a:prstDash val="solid"/>
          </a:ln>
        </p:spPr>
      </p:sp>
      <p:sp>
        <p:nvSpPr>
          <p:cNvPr id="16" name="Text 14"/>
          <p:cNvSpPr/>
          <p:nvPr/>
        </p:nvSpPr>
        <p:spPr>
          <a:xfrm>
            <a:off x="1143000" y="4646981"/>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Define a custom error enum implementing std::error::Error instead of silently dropping bad lines.  </a:t>
            </a:r>
            <a:endParaRPr lang="en-US" sz="1250" dirty="0"/>
          </a:p>
        </p:txBody>
      </p:sp>
      <p:sp>
        <p:nvSpPr>
          <p:cNvPr id="17" name="Shape 15"/>
          <p:cNvSpPr/>
          <p:nvPr/>
        </p:nvSpPr>
        <p:spPr>
          <a:xfrm>
            <a:off x="548640" y="5455310"/>
            <a:ext cx="11064240" cy="698602"/>
          </a:xfrm>
          <a:prstGeom prst="roundRect">
            <a:avLst>
              <a:gd name="adj" fmla="val 9162"/>
            </a:avLst>
          </a:prstGeom>
          <a:solidFill>
            <a:srgbClr val="1B2333"/>
          </a:solidFill>
          <a:ln w="12700">
            <a:solidFill>
              <a:srgbClr val="2B3550"/>
            </a:solidFill>
            <a:prstDash val="solid"/>
          </a:ln>
        </p:spPr>
      </p:sp>
      <p:sp>
        <p:nvSpPr>
          <p:cNvPr id="18" name="Shape 16"/>
          <p:cNvSpPr/>
          <p:nvPr/>
        </p:nvSpPr>
        <p:spPr>
          <a:xfrm>
            <a:off x="777240" y="5704027"/>
            <a:ext cx="201168" cy="201168"/>
          </a:xfrm>
          <a:prstGeom prst="roundRect">
            <a:avLst>
              <a:gd name="adj" fmla="val 227273"/>
            </a:avLst>
          </a:prstGeom>
          <a:solidFill>
            <a:srgbClr val="CE422B"/>
          </a:solidFill>
          <a:ln w="12700">
            <a:solidFill>
              <a:srgbClr val="CE422B"/>
            </a:solidFill>
            <a:prstDash val="solid"/>
          </a:ln>
        </p:spPr>
      </p:sp>
      <p:sp>
        <p:nvSpPr>
          <p:cNvPr id="19" name="Text 17"/>
          <p:cNvSpPr/>
          <p:nvPr/>
        </p:nvSpPr>
        <p:spPr>
          <a:xfrm>
            <a:off x="1143000" y="5455310"/>
            <a:ext cx="10241280" cy="69860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Generate a synthetic 1-million-line file and report how long your program takes to summarize it.  </a:t>
            </a:r>
            <a:endParaRPr lang="en-US" sz="1250" dirty="0"/>
          </a:p>
        </p:txBody>
      </p:sp>
      <p:sp>
        <p:nvSpPr>
          <p:cNvPr id="20" name="Text 18"/>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21" name="Text 19"/>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12 / 44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Hints, if you want them</a:t>
            </a:r>
            <a:endParaRPr lang="en-US" sz="2800" dirty="0"/>
          </a:p>
        </p:txBody>
      </p:sp>
      <p:sp>
        <p:nvSpPr>
          <p:cNvPr id="4" name="Text 2"/>
          <p:cNvSpPr/>
          <p:nvPr/>
        </p:nvSpPr>
        <p:spPr>
          <a:xfrm>
            <a:off x="548640" y="1600200"/>
            <a:ext cx="11064240" cy="502920"/>
          </a:xfrm>
          <a:prstGeom prst="rect">
            <a:avLst/>
          </a:prstGeom>
          <a:noFill/>
          <a:ln/>
        </p:spPr>
        <p:txBody>
          <a:bodyPr wrap="square" rtlCol="0" anchor="ctr"/>
          <a:lstStyle/>
          <a:p>
            <a:pPr indent="0" marL="0">
              <a:lnSpc>
                <a:spcPct val="125000"/>
              </a:lnSpc>
              <a:buNone/>
            </a:pPr>
            <a:r>
              <a:rPr lang="en-US" sz="1300" i="1" dirty="0">
                <a:solidFill>
                  <a:srgbClr val="9AA4B8"/>
                </a:solidFill>
                <a:latin typeface="Arial" pitchFamily="34" charset="0"/>
                <a:ea typeface="Arial" pitchFamily="34" charset="-122"/>
                <a:cs typeface="Arial" pitchFamily="34" charset="-120"/>
              </a:rPr>
              <a:t>Socratic on purpose — look these up rather than guess.</a:t>
            </a:r>
            <a:endParaRPr lang="en-US" sz="1300" dirty="0"/>
          </a:p>
        </p:txBody>
      </p:sp>
      <p:sp>
        <p:nvSpPr>
          <p:cNvPr id="5" name="Shape 3"/>
          <p:cNvSpPr/>
          <p:nvPr/>
        </p:nvSpPr>
        <p:spPr>
          <a:xfrm>
            <a:off x="548640" y="2221992"/>
            <a:ext cx="11064240" cy="900684"/>
          </a:xfrm>
          <a:prstGeom prst="roundRect">
            <a:avLst>
              <a:gd name="adj" fmla="val 7107"/>
            </a:avLst>
          </a:prstGeom>
          <a:solidFill>
            <a:srgbClr val="1B2333"/>
          </a:solidFill>
          <a:ln w="12700">
            <a:solidFill>
              <a:srgbClr val="2B3550"/>
            </a:solidFill>
            <a:prstDash val="solid"/>
          </a:ln>
        </p:spPr>
      </p:sp>
      <p:sp>
        <p:nvSpPr>
          <p:cNvPr id="6" name="Shape 4"/>
          <p:cNvSpPr/>
          <p:nvPr/>
        </p:nvSpPr>
        <p:spPr>
          <a:xfrm>
            <a:off x="777240" y="2571750"/>
            <a:ext cx="201168" cy="201168"/>
          </a:xfrm>
          <a:prstGeom prst="roundRect">
            <a:avLst>
              <a:gd name="adj" fmla="val 227273"/>
            </a:avLst>
          </a:prstGeom>
          <a:solidFill>
            <a:srgbClr val="CE422B"/>
          </a:solidFill>
          <a:ln w="12700">
            <a:solidFill>
              <a:srgbClr val="CE422B"/>
            </a:solidFill>
            <a:prstDash val="solid"/>
          </a:ln>
        </p:spPr>
      </p:sp>
      <p:sp>
        <p:nvSpPr>
          <p:cNvPr id="7" name="Text 5"/>
          <p:cNvSpPr/>
          <p:nvPr/>
        </p:nvSpPr>
        <p:spPr>
          <a:xfrm>
            <a:off x="1143000" y="2221992"/>
            <a:ext cx="10241280" cy="900684"/>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str::split_once, str::trim, and "3.14".parse::&lt;f64&gt;() do most of the parsing work for you.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What type does parse() return, and what does .ok() do to it?</a:t>
            </a:r>
            <a:endParaRPr lang="en-US" sz="1250" dirty="0"/>
          </a:p>
        </p:txBody>
      </p:sp>
      <p:sp>
        <p:nvSpPr>
          <p:cNvPr id="8" name="Shape 6"/>
          <p:cNvSpPr/>
          <p:nvPr/>
        </p:nvSpPr>
        <p:spPr>
          <a:xfrm>
            <a:off x="548640" y="3232404"/>
            <a:ext cx="11064240" cy="900684"/>
          </a:xfrm>
          <a:prstGeom prst="roundRect">
            <a:avLst>
              <a:gd name="adj" fmla="val 7107"/>
            </a:avLst>
          </a:prstGeom>
          <a:solidFill>
            <a:srgbClr val="1B2333"/>
          </a:solidFill>
          <a:ln w="12700">
            <a:solidFill>
              <a:srgbClr val="2B3550"/>
            </a:solidFill>
            <a:prstDash val="solid"/>
          </a:ln>
        </p:spPr>
      </p:sp>
      <p:sp>
        <p:nvSpPr>
          <p:cNvPr id="9" name="Shape 7"/>
          <p:cNvSpPr/>
          <p:nvPr/>
        </p:nvSpPr>
        <p:spPr>
          <a:xfrm>
            <a:off x="777240" y="3582162"/>
            <a:ext cx="201168" cy="201168"/>
          </a:xfrm>
          <a:prstGeom prst="roundRect">
            <a:avLst>
              <a:gd name="adj" fmla="val 227273"/>
            </a:avLst>
          </a:prstGeom>
          <a:solidFill>
            <a:srgbClr val="CE422B"/>
          </a:solidFill>
          <a:ln w="12700">
            <a:solidFill>
              <a:srgbClr val="CE422B"/>
            </a:solidFill>
            <a:prstDash val="solid"/>
          </a:ln>
        </p:spPr>
      </p:sp>
      <p:sp>
        <p:nvSpPr>
          <p:cNvPr id="10" name="Text 8"/>
          <p:cNvSpPr/>
          <p:nvPr/>
        </p:nvSpPr>
        <p:spPr>
          <a:xfrm>
            <a:off x="1143000" y="3232404"/>
            <a:ext cx="10241280" cy="900684"/>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Iterator::fold can compute a running (count, sum, sum_sq) in one pass instead of three separate passes.  </a:t>
            </a:r>
            <a:endParaRPr lang="en-US" sz="1250" dirty="0"/>
          </a:p>
        </p:txBody>
      </p:sp>
      <p:sp>
        <p:nvSpPr>
          <p:cNvPr id="11" name="Shape 9"/>
          <p:cNvSpPr/>
          <p:nvPr/>
        </p:nvSpPr>
        <p:spPr>
          <a:xfrm>
            <a:off x="548640" y="4242816"/>
            <a:ext cx="11064240" cy="900684"/>
          </a:xfrm>
          <a:prstGeom prst="roundRect">
            <a:avLst>
              <a:gd name="adj" fmla="val 7107"/>
            </a:avLst>
          </a:prstGeom>
          <a:solidFill>
            <a:srgbClr val="1B2333"/>
          </a:solidFill>
          <a:ln w="12700">
            <a:solidFill>
              <a:srgbClr val="2B3550"/>
            </a:solidFill>
            <a:prstDash val="solid"/>
          </a:ln>
        </p:spPr>
      </p:sp>
      <p:sp>
        <p:nvSpPr>
          <p:cNvPr id="12" name="Shape 10"/>
          <p:cNvSpPr/>
          <p:nvPr/>
        </p:nvSpPr>
        <p:spPr>
          <a:xfrm>
            <a:off x="777240" y="4592574"/>
            <a:ext cx="201168" cy="201168"/>
          </a:xfrm>
          <a:prstGeom prst="roundRect">
            <a:avLst>
              <a:gd name="adj" fmla="val 227273"/>
            </a:avLst>
          </a:prstGeom>
          <a:solidFill>
            <a:srgbClr val="CE422B"/>
          </a:solidFill>
          <a:ln w="12700">
            <a:solidFill>
              <a:srgbClr val="CE422B"/>
            </a:solidFill>
            <a:prstDash val="solid"/>
          </a:ln>
        </p:spPr>
      </p:sp>
      <p:sp>
        <p:nvSpPr>
          <p:cNvPr id="13" name="Text 11"/>
          <p:cNvSpPr/>
          <p:nvPr/>
        </p:nvSpPr>
        <p:spPr>
          <a:xfrm>
            <a:off x="1143000" y="4242816"/>
            <a:ext cx="10241280" cy="900684"/>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HashMap::entry(...).or_insert_with(...) is the idiomatic way to build a HashMap&lt;String, Vec&lt;f64&gt;&gt; without a manual contains_key check.  </a:t>
            </a:r>
            <a:endParaRPr lang="en-US" sz="1250" dirty="0"/>
          </a:p>
        </p:txBody>
      </p:sp>
      <p:sp>
        <p:nvSpPr>
          <p:cNvPr id="14" name="Shape 12"/>
          <p:cNvSpPr/>
          <p:nvPr/>
        </p:nvSpPr>
        <p:spPr>
          <a:xfrm>
            <a:off x="548640" y="5253228"/>
            <a:ext cx="11064240" cy="900684"/>
          </a:xfrm>
          <a:prstGeom prst="roundRect">
            <a:avLst>
              <a:gd name="adj" fmla="val 7107"/>
            </a:avLst>
          </a:prstGeom>
          <a:solidFill>
            <a:srgbClr val="1B2333"/>
          </a:solidFill>
          <a:ln w="12700">
            <a:solidFill>
              <a:srgbClr val="2B3550"/>
            </a:solidFill>
            <a:prstDash val="solid"/>
          </a:ln>
        </p:spPr>
      </p:sp>
      <p:sp>
        <p:nvSpPr>
          <p:cNvPr id="15" name="Shape 13"/>
          <p:cNvSpPr/>
          <p:nvPr/>
        </p:nvSpPr>
        <p:spPr>
          <a:xfrm>
            <a:off x="777240" y="5602986"/>
            <a:ext cx="201168" cy="201168"/>
          </a:xfrm>
          <a:prstGeom prst="roundRect">
            <a:avLst>
              <a:gd name="adj" fmla="val 227273"/>
            </a:avLst>
          </a:prstGeom>
          <a:solidFill>
            <a:srgbClr val="CE422B"/>
          </a:solidFill>
          <a:ln w="12700">
            <a:solidFill>
              <a:srgbClr val="CE422B"/>
            </a:solidFill>
            <a:prstDash val="solid"/>
          </a:ln>
        </p:spPr>
      </p:sp>
      <p:sp>
        <p:nvSpPr>
          <p:cNvPr id="16" name="Text 14"/>
          <p:cNvSpPr/>
          <p:nvPr/>
        </p:nvSpPr>
        <p:spPr>
          <a:xfrm>
            <a:off x="1143000" y="5253228"/>
            <a:ext cx="10241280" cy="900684"/>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Searching "rust parse csv line without a crate" or the std::str documentation this afternoon is completely fair game.  </a:t>
            </a:r>
            <a:endParaRPr lang="en-US" sz="1250" dirty="0"/>
          </a:p>
        </p:txBody>
      </p:sp>
      <p:sp>
        <p:nvSpPr>
          <p:cNvPr id="17" name="Text 15"/>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8" name="Text 16"/>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13 / 44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0B155"/>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2194560"/>
            <a:ext cx="11064240" cy="2103120"/>
          </a:xfrm>
          <a:prstGeom prst="rect">
            <a:avLst/>
          </a:prstGeom>
          <a:noFill/>
          <a:ln/>
        </p:spPr>
        <p:txBody>
          <a:bodyPr wrap="square" rtlCol="0" anchor="ctr"/>
          <a:lstStyle/>
          <a:p>
            <a:pPr indent="0" marL="0">
              <a:lnSpc>
                <a:spcPct val="115000"/>
              </a:lnSpc>
              <a:buNone/>
            </a:pPr>
            <a:r>
              <a:rPr lang="en-US" sz="3200" b="1" dirty="0">
                <a:solidFill>
                  <a:srgbClr val="EDEFF4"/>
                </a:solidFill>
                <a:latin typeface="Arial" pitchFamily="34" charset="0"/>
                <a:ea typeface="Arial" pitchFamily="34" charset="-122"/>
                <a:cs typeface="Arial" pitchFamily="34" charset="-120"/>
              </a:rPr>
              <a:t>Try it yourself now — reference solutions follow.</a:t>
            </a:r>
            <a:endParaRPr lang="en-US" sz="3200" dirty="0"/>
          </a:p>
        </p:txBody>
      </p:sp>
      <p:sp>
        <p:nvSpPr>
          <p:cNvPr id="4" name="Text 2"/>
          <p:cNvSpPr/>
          <p:nvPr/>
        </p:nvSpPr>
        <p:spPr>
          <a:xfrm>
            <a:off x="548640" y="4434840"/>
            <a:ext cx="10332720" cy="822960"/>
          </a:xfrm>
          <a:prstGeom prst="rect">
            <a:avLst/>
          </a:prstGeom>
          <a:noFill/>
          <a:ln/>
        </p:spPr>
        <p:txBody>
          <a:bodyPr wrap="square" rtlCol="0" anchor="ctr"/>
          <a:lstStyle/>
          <a:p>
            <a:pPr indent="0" marL="0">
              <a:lnSpc>
                <a:spcPct val="130000"/>
              </a:lnSpc>
              <a:buNone/>
            </a:pPr>
            <a:r>
              <a:rPr lang="en-US" sz="1400" dirty="0">
                <a:solidFill>
                  <a:srgbClr val="9AA4B8"/>
                </a:solidFill>
                <a:latin typeface="Arial" pitchFamily="34" charset="0"/>
                <a:ea typeface="Arial" pitchFamily="34" charset="-122"/>
                <a:cs typeface="Arial" pitchFamily="34" charset="-120"/>
              </a:rPr>
              <a:t>This is a good place to pause the slides for the 90-minute work session. What follows are two full reference approaches, plus a third for early finishers — not the only correct answers, just a solid baseline to compare against.</a:t>
            </a:r>
            <a:endParaRPr lang="en-US" sz="1400" dirty="0"/>
          </a:p>
        </p:txBody>
      </p:sp>
      <p:sp>
        <p:nvSpPr>
          <p:cNvPr id="5" name="Text 3"/>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4"/>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14 / 44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A: straightforward and imperative</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A single explicit loop over contents.lines(), with running accumulators for count, sum, sum_sq, min, and max.  </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Malformed lines are caught with split_once and a match on parse(), incrementing skipped in the error arm.  </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Easy to read top to bottom, easy to add a print statement to when debugging — the natural first draft for most people.  </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15 / 44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A: core loop</a:t>
            </a:r>
            <a:endParaRPr lang="en-US" sz="2800" dirty="0"/>
          </a:p>
        </p:txBody>
      </p:sp>
      <p:sp>
        <p:nvSpPr>
          <p:cNvPr id="4" name="Shape 2"/>
          <p:cNvSpPr/>
          <p:nvPr/>
        </p:nvSpPr>
        <p:spPr>
          <a:xfrm>
            <a:off x="548640" y="1645920"/>
            <a:ext cx="11064240" cy="3291840"/>
          </a:xfrm>
          <a:prstGeom prst="roundRect">
            <a:avLst>
              <a:gd name="adj" fmla="val 2500"/>
            </a:avLst>
          </a:prstGeom>
          <a:solidFill>
            <a:srgbClr val="1B2333"/>
          </a:solidFill>
          <a:ln w="12700">
            <a:solidFill>
              <a:srgbClr val="2B3550"/>
            </a:solidFill>
            <a:prstDash val="solid"/>
          </a:ln>
        </p:spPr>
      </p:sp>
      <p:sp>
        <p:nvSpPr>
          <p:cNvPr id="5" name="Text 3"/>
          <p:cNvSpPr/>
          <p:nvPr/>
        </p:nvSpPr>
        <p:spPr>
          <a:xfrm>
            <a:off x="777240" y="1755648"/>
            <a:ext cx="10607040" cy="3072384"/>
          </a:xfrm>
          <a:prstGeom prst="rect">
            <a:avLst/>
          </a:prstGeom>
          <a:solidFill>
            <a:srgbClr val="141A28"/>
          </a:solidFill>
          <a:ln/>
        </p:spPr>
        <p:txBody>
          <a:bodyPr wrap="square" lIns="101600" tIns="101600" rIns="101600" bIns="101600" rtlCol="0" anchor="t"/>
          <a:lstStyle/>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let (mut count, mut skipped) = (0, 0);</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let (mut sum, mut min, mut max) = (0.0, f64::MAX, f64::MIN);</a:t>
            </a:r>
            <a:endParaRPr lang="en-US" sz="1050" dirty="0"/>
          </a:p>
          <a:p>
            <a:pPr indent="0" marL="0">
              <a:lnSpc>
                <a:spcPct val="110000"/>
              </a:lnSpc>
              <a:buNone/>
            </a:pP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for line in contents.lines()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Some((_id, raw)) = line.split_once(',') else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skipped += 1;</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continue;</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match raw.trim().parse::&lt;f64&gt;()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Ok(v) =&gt; { count += 1; sum += v; min = min.min(v); max = max.max(v);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Err(_) =&gt; skipped += 1,</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a:t>
            </a:r>
            <a:endParaRPr lang="en-US" sz="1050" dirty="0"/>
          </a:p>
        </p:txBody>
      </p:sp>
      <p:sp>
        <p:nvSpPr>
          <p:cNvPr id="6" name="Shape 4"/>
          <p:cNvSpPr/>
          <p:nvPr/>
        </p:nvSpPr>
        <p:spPr>
          <a:xfrm>
            <a:off x="548640" y="5074920"/>
            <a:ext cx="11064240" cy="1234440"/>
          </a:xfrm>
          <a:prstGeom prst="roundRect">
            <a:avLst>
              <a:gd name="adj" fmla="val 5926"/>
            </a:avLst>
          </a:prstGeom>
          <a:solidFill>
            <a:srgbClr val="202A40"/>
          </a:solidFill>
          <a:ln w="12700">
            <a:solidFill>
              <a:srgbClr val="58C27D"/>
            </a:solidFill>
            <a:prstDash val="solid"/>
          </a:ln>
        </p:spPr>
      </p:sp>
      <p:sp>
        <p:nvSpPr>
          <p:cNvPr id="7" name="Text 5"/>
          <p:cNvSpPr/>
          <p:nvPr/>
        </p:nvSpPr>
        <p:spPr>
          <a:xfrm>
            <a:off x="777240" y="5193792"/>
            <a:ext cx="10607040" cy="996696"/>
          </a:xfrm>
          <a:prstGeom prst="rect">
            <a:avLst/>
          </a:prstGeom>
          <a:noFill/>
          <a:ln/>
        </p:spPr>
        <p:txBody>
          <a:bodyPr wrap="square" rtlCol="0" anchor="t"/>
          <a:lstStyle/>
          <a:p>
            <a:pPr indent="0" marL="0">
              <a:lnSpc>
                <a:spcPct val="128000"/>
              </a:lnSpc>
              <a:buNone/>
            </a:pPr>
            <a:r>
              <a:rPr lang="en-US" sz="1250" b="1" dirty="0">
                <a:solidFill>
                  <a:srgbClr val="58C27D"/>
                </a:solidFill>
                <a:latin typeface="Arial" pitchFamily="34" charset="0"/>
                <a:ea typeface="Arial" pitchFamily="34" charset="-122"/>
                <a:cs typeface="Arial" pitchFamily="34" charset="-120"/>
              </a:rPr>
              <a:t>Worth noting: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let-else (stable since 1.65) lets the malformed-line case fall through to continue without an extra nested block. Std-dev tracking (sum_sq) is one more accumulator updated the same way — omitted here for space.</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16 / 44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B: iterator-idiomatic</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The same computation expressed as one filter_map → filter_map → fold pipeline over a Stats accumulator struct.  </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More concise, and the pipeline reads close to a description of the algorithm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at the cost of making "why was this line skipped" slightly less direct to recover.</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Functionally identical results to Approach A on well-formed and malformed input alike.  </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17 / 44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B: fold pipeline</a:t>
            </a:r>
            <a:endParaRPr lang="en-US" sz="2800" dirty="0"/>
          </a:p>
        </p:txBody>
      </p:sp>
      <p:sp>
        <p:nvSpPr>
          <p:cNvPr id="4" name="Shape 2"/>
          <p:cNvSpPr/>
          <p:nvPr/>
        </p:nvSpPr>
        <p:spPr>
          <a:xfrm>
            <a:off x="548640" y="1645920"/>
            <a:ext cx="11064240" cy="3291840"/>
          </a:xfrm>
          <a:prstGeom prst="roundRect">
            <a:avLst>
              <a:gd name="adj" fmla="val 2500"/>
            </a:avLst>
          </a:prstGeom>
          <a:solidFill>
            <a:srgbClr val="1B2333"/>
          </a:solidFill>
          <a:ln w="12700">
            <a:solidFill>
              <a:srgbClr val="2B3550"/>
            </a:solidFill>
            <a:prstDash val="solid"/>
          </a:ln>
        </p:spPr>
      </p:sp>
      <p:sp>
        <p:nvSpPr>
          <p:cNvPr id="5" name="Text 3"/>
          <p:cNvSpPr/>
          <p:nvPr/>
        </p:nvSpPr>
        <p:spPr>
          <a:xfrm>
            <a:off x="777240" y="1755648"/>
            <a:ext cx="10607040" cy="3072384"/>
          </a:xfrm>
          <a:prstGeom prst="rect">
            <a:avLst/>
          </a:prstGeom>
          <a:solidFill>
            <a:srgbClr val="141A28"/>
          </a:solidFill>
          <a:ln/>
        </p:spPr>
        <p:txBody>
          <a:bodyPr wrap="square" lIns="101600" tIns="101600" rIns="101600" bIns="101600" rtlCol="0" anchor="t"/>
          <a:lstStyle/>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#[derive(Default)]</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struct Stats { count: usize, sum: f64, min: f64, max: f64 }</a:t>
            </a:r>
            <a:endParaRPr lang="en-US" sz="1200" dirty="0"/>
          </a:p>
          <a:p>
            <a:pPr indent="0" marL="0">
              <a:lnSpc>
                <a:spcPct val="110000"/>
              </a:lnSpc>
              <a:buNone/>
            </a:pP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let stats = contents.lines()</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.filter_map(|line| line.split_once(','))</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.filter_map(|(_, v)| v.trim().parse::&lt;f64&gt;().ok())</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.fold(Stats { min: f64::MAX, max: f64::MIN, ..Default::default() }, |mut s, v|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s.count += 1; s.sum += v;</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s.min = s.min.min(v); s.max = s.max.max(v);</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s</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a:t>
            </a:r>
            <a:endParaRPr lang="en-US" sz="1200" dirty="0"/>
          </a:p>
        </p:txBody>
      </p:sp>
      <p:sp>
        <p:nvSpPr>
          <p:cNvPr id="6" name="Shape 4"/>
          <p:cNvSpPr/>
          <p:nvPr/>
        </p:nvSpPr>
        <p:spPr>
          <a:xfrm>
            <a:off x="548640" y="5074920"/>
            <a:ext cx="11064240" cy="1234440"/>
          </a:xfrm>
          <a:prstGeom prst="roundRect">
            <a:avLst>
              <a:gd name="adj" fmla="val 5926"/>
            </a:avLst>
          </a:prstGeom>
          <a:solidFill>
            <a:srgbClr val="202A40"/>
          </a:solidFill>
          <a:ln w="12700">
            <a:solidFill>
              <a:srgbClr val="E0B155"/>
            </a:solidFill>
            <a:prstDash val="solid"/>
          </a:ln>
        </p:spPr>
      </p:sp>
      <p:sp>
        <p:nvSpPr>
          <p:cNvPr id="7" name="Text 5"/>
          <p:cNvSpPr/>
          <p:nvPr/>
        </p:nvSpPr>
        <p:spPr>
          <a:xfrm>
            <a:off x="777240" y="5193792"/>
            <a:ext cx="10607040" cy="996696"/>
          </a:xfrm>
          <a:prstGeom prst="rect">
            <a:avLst/>
          </a:prstGeom>
          <a:noFill/>
          <a:ln/>
        </p:spPr>
        <p:txBody>
          <a:bodyPr wrap="square" rtlCol="0" anchor="t"/>
          <a:lstStyle/>
          <a:p>
            <a:pPr indent="0" marL="0">
              <a:lnSpc>
                <a:spcPct val="128000"/>
              </a:lnSpc>
              <a:buNone/>
            </a:pPr>
            <a:r>
              <a:rPr lang="en-US" sz="1250" b="1" dirty="0">
                <a:solidFill>
                  <a:srgbClr val="E0B155"/>
                </a:solidFill>
                <a:latin typeface="Arial" pitchFamily="34" charset="0"/>
                <a:ea typeface="Arial" pitchFamily="34" charset="-122"/>
                <a:cs typeface="Arial" pitchFamily="34" charset="-120"/>
              </a:rPr>
              <a:t>Trade-off: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skipped isn't tracked here directly — a common fix is a second, cheap pass (.lines().count() minus stats.count) or restructuring the fold to carry a skip counter too.</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18 / 44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 SOLUTIONS</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A vs. Approach B: when to reach for which</a:t>
            </a:r>
            <a:endParaRPr lang="en-US" sz="2800" dirty="0"/>
          </a:p>
        </p:txBody>
      </p:sp>
      <p:sp>
        <p:nvSpPr>
          <p:cNvPr id="4" name="Shape 2"/>
          <p:cNvSpPr/>
          <p:nvPr/>
        </p:nvSpPr>
        <p:spPr>
          <a:xfrm>
            <a:off x="548640" y="1691640"/>
            <a:ext cx="5349240" cy="3246120"/>
          </a:xfrm>
          <a:prstGeom prst="roundRect">
            <a:avLst>
              <a:gd name="adj" fmla="val 2535"/>
            </a:avLst>
          </a:prstGeom>
          <a:solidFill>
            <a:srgbClr val="1B2333"/>
          </a:solidFill>
          <a:ln w="12700">
            <a:solidFill>
              <a:srgbClr val="2B3550"/>
            </a:solidFill>
            <a:prstDash val="solid"/>
          </a:ln>
        </p:spPr>
      </p:sp>
      <p:sp>
        <p:nvSpPr>
          <p:cNvPr id="5" name="Shape 3"/>
          <p:cNvSpPr/>
          <p:nvPr/>
        </p:nvSpPr>
        <p:spPr>
          <a:xfrm>
            <a:off x="777240" y="1892808"/>
            <a:ext cx="384048" cy="384048"/>
          </a:xfrm>
          <a:prstGeom prst="roundRect">
            <a:avLst>
              <a:gd name="adj" fmla="val 119048"/>
            </a:avLst>
          </a:prstGeom>
          <a:solidFill>
            <a:srgbClr val="22283A"/>
          </a:solidFill>
          <a:ln w="12700">
            <a:solidFill>
              <a:srgbClr val="3E8FE0"/>
            </a:solidFill>
            <a:prstDash val="solid"/>
          </a:ln>
        </p:spPr>
      </p:sp>
      <p:sp>
        <p:nvSpPr>
          <p:cNvPr id="6" name="Text 4"/>
          <p:cNvSpPr/>
          <p:nvPr/>
        </p:nvSpPr>
        <p:spPr>
          <a:xfrm>
            <a:off x="777240" y="1892808"/>
            <a:ext cx="384048" cy="384048"/>
          </a:xfrm>
          <a:prstGeom prst="rect">
            <a:avLst/>
          </a:prstGeom>
          <a:noFill/>
          <a:ln/>
        </p:spPr>
        <p:txBody>
          <a:bodyPr wrap="square" rtlCol="0" anchor="ctr"/>
          <a:lstStyle/>
          <a:p>
            <a:pPr algn="ctr" indent="0" marL="0">
              <a:buNone/>
            </a:pPr>
            <a:r>
              <a:rPr lang="en-US" sz="950" b="1" dirty="0">
                <a:solidFill>
                  <a:srgbClr val="3E8FE0"/>
                </a:solidFill>
                <a:latin typeface="Consolas" pitchFamily="34" charset="0"/>
                <a:ea typeface="Consolas" pitchFamily="34" charset="-122"/>
                <a:cs typeface="Consolas" pitchFamily="34" charset="-120"/>
              </a:rPr>
              <a:t>A</a:t>
            </a:r>
            <a:endParaRPr lang="en-US" sz="950" dirty="0"/>
          </a:p>
        </p:txBody>
      </p:sp>
      <p:sp>
        <p:nvSpPr>
          <p:cNvPr id="7" name="Text 5"/>
          <p:cNvSpPr/>
          <p:nvPr/>
        </p:nvSpPr>
        <p:spPr>
          <a:xfrm>
            <a:off x="1280160" y="1911096"/>
            <a:ext cx="3657600" cy="365760"/>
          </a:xfrm>
          <a:prstGeom prst="rect">
            <a:avLst/>
          </a:prstGeom>
          <a:noFill/>
          <a:ln/>
        </p:spPr>
        <p:txBody>
          <a:bodyPr wrap="square" rtlCol="0" anchor="ctr"/>
          <a:lstStyle/>
          <a:p>
            <a:pPr indent="0" marL="0">
              <a:buNone/>
            </a:pPr>
            <a:r>
              <a:rPr lang="en-US" sz="1300" b="1" spc="100" kern="0" dirty="0">
                <a:solidFill>
                  <a:srgbClr val="3E8FE0"/>
                </a:solidFill>
                <a:latin typeface="Arial" pitchFamily="34" charset="0"/>
                <a:ea typeface="Arial" pitchFamily="34" charset="-122"/>
                <a:cs typeface="Arial" pitchFamily="34" charset="-120"/>
              </a:rPr>
              <a:t>APPROACH A: IMPERATIVE</a:t>
            </a:r>
            <a:endParaRPr lang="en-US" sz="1300" dirty="0"/>
          </a:p>
        </p:txBody>
      </p:sp>
      <p:sp>
        <p:nvSpPr>
          <p:cNvPr id="8" name="Text 6"/>
          <p:cNvSpPr/>
          <p:nvPr/>
        </p:nvSpPr>
        <p:spPr>
          <a:xfrm>
            <a:off x="822960" y="2468880"/>
            <a:ext cx="4800600" cy="1417320"/>
          </a:xfrm>
          <a:prstGeom prst="rect">
            <a:avLst/>
          </a:prstGeom>
          <a:solidFill>
            <a:srgbClr val="141A28"/>
          </a:solidFill>
          <a:ln/>
        </p:spPr>
        <p:txBody>
          <a:bodyPr wrap="square" lIns="101600" tIns="101600" rIns="101600" bIns="101600" rtlCol="0" anchor="t"/>
          <a:lstStyle/>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for line in contents.lines() {</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 explicit branches,</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 explicit accumulators,</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 one thing happening</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 per line, visibly</a:t>
            </a:r>
            <a:endParaRPr lang="en-US" sz="1200" dirty="0"/>
          </a:p>
        </p:txBody>
      </p:sp>
      <p:sp>
        <p:nvSpPr>
          <p:cNvPr id="9" name="Text 7"/>
          <p:cNvSpPr/>
          <p:nvPr/>
        </p:nvSpPr>
        <p:spPr>
          <a:xfrm>
            <a:off x="822960" y="4023360"/>
            <a:ext cx="4800600" cy="731520"/>
          </a:xfrm>
          <a:prstGeom prst="rect">
            <a:avLst/>
          </a:prstGeom>
          <a:noFill/>
          <a:ln/>
        </p:spPr>
        <p:txBody>
          <a:bodyPr wrap="square" rtlCol="0" anchor="ctr"/>
          <a:lstStyle/>
          <a:p>
            <a:pPr indent="0" marL="0">
              <a:lnSpc>
                <a:spcPct val="122000"/>
              </a:lnSpc>
              <a:buNone/>
            </a:pPr>
            <a:r>
              <a:rPr lang="en-US" sz="1100" dirty="0">
                <a:solidFill>
                  <a:srgbClr val="9AA4B8"/>
                </a:solidFill>
                <a:latin typeface="Arial" pitchFamily="34" charset="0"/>
                <a:ea typeface="Arial" pitchFamily="34" charset="-122"/>
                <a:cs typeface="Arial" pitchFamily="34" charset="-120"/>
              </a:rPr>
              <a:t>Easiest to modify incrementally — adding a new tracked field or a new failure category is a one-line addition to an existing, visible loop body.</a:t>
            </a:r>
            <a:endParaRPr lang="en-US" sz="1100" dirty="0"/>
          </a:p>
        </p:txBody>
      </p:sp>
      <p:sp>
        <p:nvSpPr>
          <p:cNvPr id="10" name="Shape 8"/>
          <p:cNvSpPr/>
          <p:nvPr/>
        </p:nvSpPr>
        <p:spPr>
          <a:xfrm>
            <a:off x="6263640" y="1691640"/>
            <a:ext cx="5349240" cy="3246120"/>
          </a:xfrm>
          <a:prstGeom prst="roundRect">
            <a:avLst>
              <a:gd name="adj" fmla="val 2535"/>
            </a:avLst>
          </a:prstGeom>
          <a:solidFill>
            <a:srgbClr val="1B2333"/>
          </a:solidFill>
          <a:ln w="12700">
            <a:solidFill>
              <a:srgbClr val="2B3550"/>
            </a:solidFill>
            <a:prstDash val="solid"/>
          </a:ln>
        </p:spPr>
      </p:sp>
      <p:sp>
        <p:nvSpPr>
          <p:cNvPr id="11" name="Shape 9"/>
          <p:cNvSpPr/>
          <p:nvPr/>
        </p:nvSpPr>
        <p:spPr>
          <a:xfrm>
            <a:off x="6492240" y="1892808"/>
            <a:ext cx="384048" cy="384048"/>
          </a:xfrm>
          <a:prstGeom prst="roundRect">
            <a:avLst>
              <a:gd name="adj" fmla="val 119048"/>
            </a:avLst>
          </a:prstGeom>
          <a:solidFill>
            <a:srgbClr val="2E2019"/>
          </a:solidFill>
          <a:ln w="12700">
            <a:solidFill>
              <a:srgbClr val="CE422B"/>
            </a:solidFill>
            <a:prstDash val="solid"/>
          </a:ln>
        </p:spPr>
      </p:sp>
      <p:sp>
        <p:nvSpPr>
          <p:cNvPr id="12" name="Text 10"/>
          <p:cNvSpPr/>
          <p:nvPr/>
        </p:nvSpPr>
        <p:spPr>
          <a:xfrm>
            <a:off x="6492240" y="1892808"/>
            <a:ext cx="384048" cy="384048"/>
          </a:xfrm>
          <a:prstGeom prst="rect">
            <a:avLst/>
          </a:prstGeom>
          <a:noFill/>
          <a:ln/>
        </p:spPr>
        <p:txBody>
          <a:bodyPr wrap="square" rtlCol="0" anchor="ctr"/>
          <a:lstStyle/>
          <a:p>
            <a:pPr algn="ctr" indent="0" marL="0">
              <a:buNone/>
            </a:pPr>
            <a:r>
              <a:rPr lang="en-US" sz="1400" b="1" dirty="0">
                <a:solidFill>
                  <a:srgbClr val="E8804F"/>
                </a:solidFill>
                <a:latin typeface="Consolas" pitchFamily="34" charset="0"/>
                <a:ea typeface="Consolas" pitchFamily="34" charset="-122"/>
                <a:cs typeface="Consolas" pitchFamily="34" charset="-120"/>
              </a:rPr>
              <a:t>B</a:t>
            </a:r>
            <a:endParaRPr lang="en-US" sz="1400" dirty="0"/>
          </a:p>
        </p:txBody>
      </p:sp>
      <p:sp>
        <p:nvSpPr>
          <p:cNvPr id="13" name="Text 11"/>
          <p:cNvSpPr/>
          <p:nvPr/>
        </p:nvSpPr>
        <p:spPr>
          <a:xfrm>
            <a:off x="6995160" y="1911096"/>
            <a:ext cx="3657600" cy="365760"/>
          </a:xfrm>
          <a:prstGeom prst="rect">
            <a:avLst/>
          </a:prstGeom>
          <a:noFill/>
          <a:ln/>
        </p:spPr>
        <p:txBody>
          <a:bodyPr wrap="square" rtlCol="0" anchor="ctr"/>
          <a:lstStyle/>
          <a:p>
            <a:pPr indent="0" marL="0">
              <a:buNone/>
            </a:pPr>
            <a:r>
              <a:rPr lang="en-US" sz="1300" b="1" spc="100" kern="0" dirty="0">
                <a:solidFill>
                  <a:srgbClr val="E8804F"/>
                </a:solidFill>
                <a:latin typeface="Arial" pitchFamily="34" charset="0"/>
                <a:ea typeface="Arial" pitchFamily="34" charset="-122"/>
                <a:cs typeface="Arial" pitchFamily="34" charset="-120"/>
              </a:rPr>
              <a:t>APPROACH B: ITERATOR PIPELINE</a:t>
            </a:r>
            <a:endParaRPr lang="en-US" sz="1300" dirty="0"/>
          </a:p>
        </p:txBody>
      </p:sp>
      <p:sp>
        <p:nvSpPr>
          <p:cNvPr id="14" name="Text 12"/>
          <p:cNvSpPr/>
          <p:nvPr/>
        </p:nvSpPr>
        <p:spPr>
          <a:xfrm>
            <a:off x="6537960" y="2468880"/>
            <a:ext cx="4800600" cy="1417320"/>
          </a:xfrm>
          <a:prstGeom prst="rect">
            <a:avLst/>
          </a:prstGeom>
          <a:solidFill>
            <a:srgbClr val="141A28"/>
          </a:solidFill>
          <a:ln/>
        </p:spPr>
        <p:txBody>
          <a:bodyPr wrap="square" lIns="101600" tIns="101600" rIns="101600" bIns="101600" rtlCol="0" anchor="t"/>
          <a:lstStyle/>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contents.lines()</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.filter_map(...)</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.filter_map(...)</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.fold(Stats::new(), |s, v| ...)</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 a pipeline describing</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 the transformation</a:t>
            </a:r>
            <a:endParaRPr lang="en-US" sz="1200" dirty="0"/>
          </a:p>
        </p:txBody>
      </p:sp>
      <p:sp>
        <p:nvSpPr>
          <p:cNvPr id="15" name="Text 13"/>
          <p:cNvSpPr/>
          <p:nvPr/>
        </p:nvSpPr>
        <p:spPr>
          <a:xfrm>
            <a:off x="6537960" y="4023360"/>
            <a:ext cx="4800600" cy="731520"/>
          </a:xfrm>
          <a:prstGeom prst="rect">
            <a:avLst/>
          </a:prstGeom>
          <a:noFill/>
          <a:ln/>
        </p:spPr>
        <p:txBody>
          <a:bodyPr wrap="square" rtlCol="0" anchor="ctr"/>
          <a:lstStyle/>
          <a:p>
            <a:pPr indent="0" marL="0">
              <a:lnSpc>
                <a:spcPct val="122000"/>
              </a:lnSpc>
              <a:buNone/>
            </a:pPr>
            <a:r>
              <a:rPr lang="en-US" sz="1100" dirty="0">
                <a:solidFill>
                  <a:srgbClr val="9AA4B8"/>
                </a:solidFill>
                <a:latin typeface="Arial" pitchFamily="34" charset="0"/>
                <a:ea typeface="Arial" pitchFamily="34" charset="-122"/>
                <a:cs typeface="Arial" pitchFamily="34" charset="-120"/>
              </a:rPr>
              <a:t>Shorter, and the pipeline shape is exactly what you'd reach for later if this needed to run in parallel — fold-style accumulation composes with rayon or threads with little change.</a:t>
            </a:r>
            <a:endParaRPr lang="en-US" sz="1100" dirty="0"/>
          </a:p>
        </p:txBody>
      </p:sp>
      <p:sp>
        <p:nvSpPr>
          <p:cNvPr id="16" name="Shape 14"/>
          <p:cNvSpPr/>
          <p:nvPr/>
        </p:nvSpPr>
        <p:spPr>
          <a:xfrm>
            <a:off x="548640" y="5102352"/>
            <a:ext cx="11064240" cy="566928"/>
          </a:xfrm>
          <a:prstGeom prst="roundRect">
            <a:avLst>
              <a:gd name="adj" fmla="val 12903"/>
            </a:avLst>
          </a:prstGeom>
          <a:solidFill>
            <a:srgbClr val="202A40"/>
          </a:solidFill>
          <a:ln w="12700">
            <a:solidFill>
              <a:srgbClr val="2B3550"/>
            </a:solidFill>
            <a:prstDash val="solid"/>
          </a:ln>
        </p:spPr>
      </p:sp>
      <p:sp>
        <p:nvSpPr>
          <p:cNvPr id="17" name="Text 15"/>
          <p:cNvSpPr/>
          <p:nvPr/>
        </p:nvSpPr>
        <p:spPr>
          <a:xfrm>
            <a:off x="777240" y="5102352"/>
            <a:ext cx="10607040" cy="566928"/>
          </a:xfrm>
          <a:prstGeom prst="rect">
            <a:avLst/>
          </a:prstGeom>
          <a:noFill/>
          <a:ln/>
        </p:spPr>
        <p:txBody>
          <a:bodyPr wrap="square" rtlCol="0" anchor="ctr"/>
          <a:lstStyle/>
          <a:p>
            <a:pPr indent="0" marL="0">
              <a:buNone/>
            </a:pPr>
            <a:r>
              <a:rPr lang="en-US" sz="1150" b="1" dirty="0">
                <a:solidFill>
                  <a:srgbClr val="E8804F"/>
                </a:solidFill>
                <a:latin typeface="Arial" pitchFamily="34" charset="0"/>
                <a:ea typeface="Arial" pitchFamily="34" charset="-122"/>
                <a:cs typeface="Arial" pitchFamily="34" charset="-120"/>
              </a:rPr>
              <a:t>Trade-off:  </a:t>
            </a:r>
            <a:pPr indent="0" marL="0">
              <a:buNone/>
            </a:pPr>
            <a:r>
              <a:rPr lang="en-US" sz="1150" dirty="0">
                <a:solidFill>
                  <a:srgbClr val="EDEFF4"/>
                </a:solidFill>
                <a:latin typeface="Arial" pitchFamily="34" charset="0"/>
                <a:ea typeface="Arial" pitchFamily="34" charset="-122"/>
                <a:cs typeface="Arial" pitchFamily="34" charset="-120"/>
              </a:rPr>
              <a:t>Both compile to nearly identical machine code. Pick A when the logic is still settling and you want to add print statements freely; pick B once the shape is stable and you want it to read like its own description.</a:t>
            </a:r>
            <a:endParaRPr lang="en-US" sz="1150" dirty="0"/>
          </a:p>
        </p:txBody>
      </p:sp>
      <p:sp>
        <p:nvSpPr>
          <p:cNvPr id="18" name="Text 1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9" name="Text 1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19 / 44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 third path, for early finishers</a:t>
            </a:r>
            <a:endParaRPr lang="en-US" sz="2800" dirty="0"/>
          </a:p>
        </p:txBody>
      </p:sp>
      <p:sp>
        <p:nvSpPr>
          <p:cNvPr id="4" name="Shape 2"/>
          <p:cNvSpPr/>
          <p:nvPr/>
        </p:nvSpPr>
        <p:spPr>
          <a:xfrm>
            <a:off x="548640" y="1600200"/>
            <a:ext cx="11064240" cy="2221992"/>
          </a:xfrm>
          <a:prstGeom prst="roundRect">
            <a:avLst>
              <a:gd name="adj" fmla="val 2881"/>
            </a:avLst>
          </a:prstGeom>
          <a:solidFill>
            <a:srgbClr val="1B2333"/>
          </a:solidFill>
          <a:ln w="12700">
            <a:solidFill>
              <a:srgbClr val="2B3550"/>
            </a:solidFill>
            <a:prstDash val="solid"/>
          </a:ln>
        </p:spPr>
      </p:sp>
      <p:sp>
        <p:nvSpPr>
          <p:cNvPr id="5" name="Shape 3"/>
          <p:cNvSpPr/>
          <p:nvPr/>
        </p:nvSpPr>
        <p:spPr>
          <a:xfrm>
            <a:off x="777240" y="261061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222199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Define a Record struct and implement FromStr for it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parsing becomes "S3,BAD".parse::&lt;Record&gt;() instead of hand-rolled split-and-match logic inline.</a:t>
            </a:r>
            <a:endParaRPr lang="en-US" sz="1250" dirty="0"/>
          </a:p>
        </p:txBody>
      </p:sp>
      <p:sp>
        <p:nvSpPr>
          <p:cNvPr id="7" name="Shape 5"/>
          <p:cNvSpPr/>
          <p:nvPr/>
        </p:nvSpPr>
        <p:spPr>
          <a:xfrm>
            <a:off x="548640" y="3931920"/>
            <a:ext cx="11064240" cy="2221992"/>
          </a:xfrm>
          <a:prstGeom prst="roundRect">
            <a:avLst>
              <a:gd name="adj" fmla="val 2881"/>
            </a:avLst>
          </a:prstGeom>
          <a:solidFill>
            <a:srgbClr val="1B2333"/>
          </a:solidFill>
          <a:ln w="12700">
            <a:solidFill>
              <a:srgbClr val="2B3550"/>
            </a:solidFill>
            <a:prstDash val="solid"/>
          </a:ln>
        </p:spPr>
      </p:sp>
      <p:sp>
        <p:nvSpPr>
          <p:cNvPr id="8" name="Shape 6"/>
          <p:cNvSpPr/>
          <p:nvPr/>
        </p:nvSpPr>
        <p:spPr>
          <a:xfrm>
            <a:off x="777240" y="494233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931920"/>
            <a:ext cx="10241280" cy="222199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Pair it with a small custom error enum so a caller can distinguish "missing comma" from "bad number" if they ever need to.  </a:t>
            </a:r>
            <a:endParaRPr lang="en-US" sz="1250" dirty="0"/>
          </a:p>
        </p:txBody>
      </p:sp>
      <p:sp>
        <p:nvSpPr>
          <p:cNvPr id="10" name="Text 8"/>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1" name="Text 9"/>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20 / 44</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C: type-driven parsing</a:t>
            </a:r>
            <a:endParaRPr lang="en-US" sz="2800" dirty="0"/>
          </a:p>
        </p:txBody>
      </p:sp>
      <p:sp>
        <p:nvSpPr>
          <p:cNvPr id="4" name="Shape 2"/>
          <p:cNvSpPr/>
          <p:nvPr/>
        </p:nvSpPr>
        <p:spPr>
          <a:xfrm>
            <a:off x="548640" y="1645920"/>
            <a:ext cx="11064240" cy="3291840"/>
          </a:xfrm>
          <a:prstGeom prst="roundRect">
            <a:avLst>
              <a:gd name="adj" fmla="val 2500"/>
            </a:avLst>
          </a:prstGeom>
          <a:solidFill>
            <a:srgbClr val="1B2333"/>
          </a:solidFill>
          <a:ln w="12700">
            <a:solidFill>
              <a:srgbClr val="2B3550"/>
            </a:solidFill>
            <a:prstDash val="solid"/>
          </a:ln>
        </p:spPr>
      </p:sp>
      <p:sp>
        <p:nvSpPr>
          <p:cNvPr id="5" name="Text 3"/>
          <p:cNvSpPr/>
          <p:nvPr/>
        </p:nvSpPr>
        <p:spPr>
          <a:xfrm>
            <a:off x="777240" y="1755648"/>
            <a:ext cx="10607040" cy="3072384"/>
          </a:xfrm>
          <a:prstGeom prst="rect">
            <a:avLst/>
          </a:prstGeom>
          <a:solidFill>
            <a:srgbClr val="141A28"/>
          </a:solidFill>
          <a:ln/>
        </p:spPr>
        <p:txBody>
          <a:bodyPr wrap="square" lIns="101600" tIns="101600" rIns="101600" bIns="101600" rtlCol="0" anchor="t"/>
          <a:lstStyle/>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enum ParseRecordError { MissingComma, BadValue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struct Record { id: String, value: f64 }</a:t>
            </a:r>
            <a:endParaRPr lang="en-US" sz="1200" dirty="0"/>
          </a:p>
          <a:p>
            <a:pPr indent="0" marL="0">
              <a:lnSpc>
                <a:spcPct val="110000"/>
              </a:lnSpc>
              <a:buNone/>
            </a:pP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impl FromStr for Record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type Err = ParseRecordError;</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fn from_str(line: &amp;str) -&gt; Result&lt;Self, Self::Err&gt;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let (id, raw) = line.split_once(',').ok_or(ParseRecordError::MissingComma)?;</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let value = raw.trim().parse().map_err(|_| ParseRecordError::BadValue)?;</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Ok(Record { id: id.to_string(), value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a:t>
            </a:r>
            <a:endParaRPr lang="en-US" sz="1200" dirty="0"/>
          </a:p>
        </p:txBody>
      </p:sp>
      <p:sp>
        <p:nvSpPr>
          <p:cNvPr id="6" name="Shape 4"/>
          <p:cNvSpPr/>
          <p:nvPr/>
        </p:nvSpPr>
        <p:spPr>
          <a:xfrm>
            <a:off x="548640" y="5074920"/>
            <a:ext cx="11064240" cy="1234440"/>
          </a:xfrm>
          <a:prstGeom prst="roundRect">
            <a:avLst>
              <a:gd name="adj" fmla="val 5926"/>
            </a:avLst>
          </a:prstGeom>
          <a:solidFill>
            <a:srgbClr val="202A40"/>
          </a:solidFill>
          <a:ln w="12700">
            <a:solidFill>
              <a:srgbClr val="58C27D"/>
            </a:solidFill>
            <a:prstDash val="solid"/>
          </a:ln>
        </p:spPr>
      </p:sp>
      <p:sp>
        <p:nvSpPr>
          <p:cNvPr id="7" name="Text 5"/>
          <p:cNvSpPr/>
          <p:nvPr/>
        </p:nvSpPr>
        <p:spPr>
          <a:xfrm>
            <a:off x="777240" y="5193792"/>
            <a:ext cx="10607040" cy="996696"/>
          </a:xfrm>
          <a:prstGeom prst="rect">
            <a:avLst/>
          </a:prstGeom>
          <a:noFill/>
          <a:ln/>
        </p:spPr>
        <p:txBody>
          <a:bodyPr wrap="square" rtlCol="0" anchor="t"/>
          <a:lstStyle/>
          <a:p>
            <a:pPr indent="0" marL="0">
              <a:lnSpc>
                <a:spcPct val="128000"/>
              </a:lnSpc>
              <a:buNone/>
            </a:pPr>
            <a:r>
              <a:rPr lang="en-US" sz="1250" b="1" dirty="0">
                <a:solidFill>
                  <a:srgbClr val="58C27D"/>
                </a:solidFill>
                <a:latin typeface="Arial" pitchFamily="34" charset="0"/>
                <a:ea typeface="Arial" pitchFamily="34" charset="-122"/>
                <a:cs typeface="Arial" pitchFamily="34" charset="-120"/>
              </a:rPr>
              <a:t>When it's worth it: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This is more ceremony for a one-off script, but it's the shape you'd want the moment this parsing logic needs to be reused, tested in isolation, or exposed as a library function to someone else.</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21 / 44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Common pitfalls in this lab</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5029200"/>
                <a:gridCol w="6035040"/>
              </a:tblGrid>
              <a:tr h="457200">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Pitfall</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Fix</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Calling .unwrap() on parse() — panics on the first bad line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match, if let, or .ok() with filter_map instead</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Forgetting .trim() — a trailing \r (common on Windows-formatted files) makes every line fail to parse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Always trim before parse, even when the sample data looks clean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Standard deviation divided by n vs. n−1 (population vs. sample)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Either is defensible — pick one and say which in your output or a comment</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Reading the whole file into one String works fine here but silently doesn't scale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BufRead::lines() streams instead — worth knowing about even if you don't need it today</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22 / 44</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Discussion questions</a:t>
            </a:r>
            <a:endParaRPr lang="en-US" sz="2800" dirty="0"/>
          </a:p>
        </p:txBody>
      </p:sp>
      <p:sp>
        <p:nvSpPr>
          <p:cNvPr id="4" name="Text 2"/>
          <p:cNvSpPr/>
          <p:nvPr/>
        </p:nvSpPr>
        <p:spPr>
          <a:xfrm>
            <a:off x="548640" y="1600200"/>
            <a:ext cx="11064240" cy="502920"/>
          </a:xfrm>
          <a:prstGeom prst="rect">
            <a:avLst/>
          </a:prstGeom>
          <a:noFill/>
          <a:ln/>
        </p:spPr>
        <p:txBody>
          <a:bodyPr wrap="square" rtlCol="0" anchor="ctr"/>
          <a:lstStyle/>
          <a:p>
            <a:pPr indent="0" marL="0">
              <a:lnSpc>
                <a:spcPct val="125000"/>
              </a:lnSpc>
              <a:buNone/>
            </a:pPr>
            <a:r>
              <a:rPr lang="en-US" sz="1300" i="1" dirty="0">
                <a:solidFill>
                  <a:srgbClr val="9AA4B8"/>
                </a:solidFill>
                <a:latin typeface="Arial" pitchFamily="34" charset="0"/>
                <a:ea typeface="Arial" pitchFamily="34" charset="-122"/>
                <a:cs typeface="Arial" pitchFamily="34" charset="-120"/>
              </a:rPr>
              <a:t>For the group discussion block — no single right answer expected.</a:t>
            </a:r>
            <a:endParaRPr lang="en-US" sz="1300" dirty="0"/>
          </a:p>
        </p:txBody>
      </p:sp>
      <p:sp>
        <p:nvSpPr>
          <p:cNvPr id="5" name="Shape 3"/>
          <p:cNvSpPr/>
          <p:nvPr/>
        </p:nvSpPr>
        <p:spPr>
          <a:xfrm>
            <a:off x="548640" y="2221992"/>
            <a:ext cx="11064240" cy="1237488"/>
          </a:xfrm>
          <a:prstGeom prst="roundRect">
            <a:avLst>
              <a:gd name="adj" fmla="val 5172"/>
            </a:avLst>
          </a:prstGeom>
          <a:solidFill>
            <a:srgbClr val="1B2333"/>
          </a:solidFill>
          <a:ln w="12700">
            <a:solidFill>
              <a:srgbClr val="2B3550"/>
            </a:solidFill>
            <a:prstDash val="solid"/>
          </a:ln>
        </p:spPr>
      </p:sp>
      <p:sp>
        <p:nvSpPr>
          <p:cNvPr id="6" name="Shape 4"/>
          <p:cNvSpPr/>
          <p:nvPr/>
        </p:nvSpPr>
        <p:spPr>
          <a:xfrm>
            <a:off x="777240" y="2740152"/>
            <a:ext cx="201168" cy="201168"/>
          </a:xfrm>
          <a:prstGeom prst="roundRect">
            <a:avLst>
              <a:gd name="adj" fmla="val 227273"/>
            </a:avLst>
          </a:prstGeom>
          <a:solidFill>
            <a:srgbClr val="CE422B"/>
          </a:solidFill>
          <a:ln w="12700">
            <a:solidFill>
              <a:srgbClr val="CE422B"/>
            </a:solidFill>
            <a:prstDash val="solid"/>
          </a:ln>
        </p:spPr>
      </p:sp>
      <p:sp>
        <p:nvSpPr>
          <p:cNvPr id="7" name="Text 5"/>
          <p:cNvSpPr/>
          <p:nvPr/>
        </p:nvSpPr>
        <p:spPr>
          <a:xfrm>
            <a:off x="1143000" y="2221992"/>
            <a:ext cx="10241280" cy="1237488"/>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Which approach would you extend to stream a 10 GB file without loading it all into memory first?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What single method call would you swap in to get there?</a:t>
            </a:r>
            <a:endParaRPr lang="en-US" sz="1250" dirty="0"/>
          </a:p>
        </p:txBody>
      </p:sp>
      <p:sp>
        <p:nvSpPr>
          <p:cNvPr id="8" name="Shape 6"/>
          <p:cNvSpPr/>
          <p:nvPr/>
        </p:nvSpPr>
        <p:spPr>
          <a:xfrm>
            <a:off x="548640" y="3569208"/>
            <a:ext cx="11064240" cy="1237488"/>
          </a:xfrm>
          <a:prstGeom prst="roundRect">
            <a:avLst>
              <a:gd name="adj" fmla="val 5172"/>
            </a:avLst>
          </a:prstGeom>
          <a:solidFill>
            <a:srgbClr val="1B2333"/>
          </a:solidFill>
          <a:ln w="12700">
            <a:solidFill>
              <a:srgbClr val="2B3550"/>
            </a:solidFill>
            <a:prstDash val="solid"/>
          </a:ln>
        </p:spPr>
      </p:sp>
      <p:sp>
        <p:nvSpPr>
          <p:cNvPr id="9" name="Shape 7"/>
          <p:cNvSpPr/>
          <p:nvPr/>
        </p:nvSpPr>
        <p:spPr>
          <a:xfrm>
            <a:off x="777240" y="4087368"/>
            <a:ext cx="201168" cy="201168"/>
          </a:xfrm>
          <a:prstGeom prst="roundRect">
            <a:avLst>
              <a:gd name="adj" fmla="val 227273"/>
            </a:avLst>
          </a:prstGeom>
          <a:solidFill>
            <a:srgbClr val="CE422B"/>
          </a:solidFill>
          <a:ln w="12700">
            <a:solidFill>
              <a:srgbClr val="CE422B"/>
            </a:solidFill>
            <a:prstDash val="solid"/>
          </a:ln>
        </p:spPr>
      </p:sp>
      <p:sp>
        <p:nvSpPr>
          <p:cNvPr id="10" name="Text 8"/>
          <p:cNvSpPr/>
          <p:nvPr/>
        </p:nvSpPr>
        <p:spPr>
          <a:xfrm>
            <a:off x="1143000" y="3569208"/>
            <a:ext cx="10241280" cy="1237488"/>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Where did your program panic before you added error handling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and why didn't the compiler warn you about that possibility?</a:t>
            </a:r>
            <a:endParaRPr lang="en-US" sz="1250" dirty="0"/>
          </a:p>
        </p:txBody>
      </p:sp>
      <p:sp>
        <p:nvSpPr>
          <p:cNvPr id="11" name="Shape 9"/>
          <p:cNvSpPr/>
          <p:nvPr/>
        </p:nvSpPr>
        <p:spPr>
          <a:xfrm>
            <a:off x="548640" y="4916424"/>
            <a:ext cx="11064240" cy="1237488"/>
          </a:xfrm>
          <a:prstGeom prst="roundRect">
            <a:avLst>
              <a:gd name="adj" fmla="val 5172"/>
            </a:avLst>
          </a:prstGeom>
          <a:solidFill>
            <a:srgbClr val="1B2333"/>
          </a:solidFill>
          <a:ln w="12700">
            <a:solidFill>
              <a:srgbClr val="2B3550"/>
            </a:solidFill>
            <a:prstDash val="solid"/>
          </a:ln>
        </p:spPr>
      </p:sp>
      <p:sp>
        <p:nvSpPr>
          <p:cNvPr id="12" name="Shape 10"/>
          <p:cNvSpPr/>
          <p:nvPr/>
        </p:nvSpPr>
        <p:spPr>
          <a:xfrm>
            <a:off x="777240" y="5434584"/>
            <a:ext cx="201168" cy="201168"/>
          </a:xfrm>
          <a:prstGeom prst="roundRect">
            <a:avLst>
              <a:gd name="adj" fmla="val 227273"/>
            </a:avLst>
          </a:prstGeom>
          <a:solidFill>
            <a:srgbClr val="CE422B"/>
          </a:solidFill>
          <a:ln w="12700">
            <a:solidFill>
              <a:srgbClr val="CE422B"/>
            </a:solidFill>
            <a:prstDash val="solid"/>
          </a:ln>
        </p:spPr>
      </p:sp>
      <p:sp>
        <p:nvSpPr>
          <p:cNvPr id="13" name="Text 11"/>
          <p:cNvSpPr/>
          <p:nvPr/>
        </p:nvSpPr>
        <p:spPr>
          <a:xfrm>
            <a:off x="1143000" y="4916424"/>
            <a:ext cx="10241280" cy="1237488"/>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If tomorrow's task were "parallelize this," which approach's internal data structures would need to change the least?  </a:t>
            </a:r>
            <a:endParaRPr lang="en-US" sz="1250" dirty="0"/>
          </a:p>
        </p:txBody>
      </p:sp>
      <p:sp>
        <p:nvSpPr>
          <p:cNvPr id="14" name="Text 1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5" name="Text 1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23 / 44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1: ROBUST DATA SUMMARIZER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Presentation prompts</a:t>
            </a:r>
            <a:endParaRPr lang="en-US" sz="2800" dirty="0"/>
          </a:p>
        </p:txBody>
      </p:sp>
      <p:sp>
        <p:nvSpPr>
          <p:cNvPr id="4" name="Text 2"/>
          <p:cNvSpPr/>
          <p:nvPr/>
        </p:nvSpPr>
        <p:spPr>
          <a:xfrm>
            <a:off x="548640" y="1600200"/>
            <a:ext cx="11064240" cy="502920"/>
          </a:xfrm>
          <a:prstGeom prst="rect">
            <a:avLst/>
          </a:prstGeom>
          <a:noFill/>
          <a:ln/>
        </p:spPr>
        <p:txBody>
          <a:bodyPr wrap="square" rtlCol="0" anchor="ctr"/>
          <a:lstStyle/>
          <a:p>
            <a:pPr indent="0" marL="0">
              <a:lnSpc>
                <a:spcPct val="125000"/>
              </a:lnSpc>
              <a:buNone/>
            </a:pPr>
            <a:r>
              <a:rPr lang="en-US" sz="1300" i="1" dirty="0">
                <a:solidFill>
                  <a:srgbClr val="9AA4B8"/>
                </a:solidFill>
                <a:latin typeface="Arial" pitchFamily="34" charset="0"/>
                <a:ea typeface="Arial" pitchFamily="34" charset="-122"/>
                <a:cs typeface="Arial" pitchFamily="34" charset="-120"/>
              </a:rPr>
              <a:t>Three quick things for each presenting pair to cover — five minutes, tops.</a:t>
            </a:r>
            <a:endParaRPr lang="en-US" sz="1300" dirty="0"/>
          </a:p>
        </p:txBody>
      </p:sp>
      <p:sp>
        <p:nvSpPr>
          <p:cNvPr id="5" name="Shape 3"/>
          <p:cNvSpPr/>
          <p:nvPr/>
        </p:nvSpPr>
        <p:spPr>
          <a:xfrm>
            <a:off x="548640" y="2221992"/>
            <a:ext cx="11064240" cy="1237488"/>
          </a:xfrm>
          <a:prstGeom prst="roundRect">
            <a:avLst>
              <a:gd name="adj" fmla="val 5172"/>
            </a:avLst>
          </a:prstGeom>
          <a:solidFill>
            <a:srgbClr val="1B2333"/>
          </a:solidFill>
          <a:ln w="12700">
            <a:solidFill>
              <a:srgbClr val="2B3550"/>
            </a:solidFill>
            <a:prstDash val="solid"/>
          </a:ln>
        </p:spPr>
      </p:sp>
      <p:sp>
        <p:nvSpPr>
          <p:cNvPr id="6" name="Shape 4"/>
          <p:cNvSpPr/>
          <p:nvPr/>
        </p:nvSpPr>
        <p:spPr>
          <a:xfrm>
            <a:off x="777240" y="2740152"/>
            <a:ext cx="201168" cy="201168"/>
          </a:xfrm>
          <a:prstGeom prst="roundRect">
            <a:avLst>
              <a:gd name="adj" fmla="val 227273"/>
            </a:avLst>
          </a:prstGeom>
          <a:solidFill>
            <a:srgbClr val="CE422B"/>
          </a:solidFill>
          <a:ln w="12700">
            <a:solidFill>
              <a:srgbClr val="CE422B"/>
            </a:solidFill>
            <a:prstDash val="solid"/>
          </a:ln>
        </p:spPr>
      </p:sp>
      <p:sp>
        <p:nvSpPr>
          <p:cNvPr id="7" name="Text 5"/>
          <p:cNvSpPr/>
          <p:nvPr/>
        </p:nvSpPr>
        <p:spPr>
          <a:xfrm>
            <a:off x="1143000" y="2221992"/>
            <a:ext cx="10241280" cy="1237488"/>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Which approach did you take, and why?  </a:t>
            </a:r>
            <a:endParaRPr lang="en-US" sz="1250" dirty="0"/>
          </a:p>
        </p:txBody>
      </p:sp>
      <p:sp>
        <p:nvSpPr>
          <p:cNvPr id="8" name="Shape 6"/>
          <p:cNvSpPr/>
          <p:nvPr/>
        </p:nvSpPr>
        <p:spPr>
          <a:xfrm>
            <a:off x="548640" y="3569208"/>
            <a:ext cx="11064240" cy="1237488"/>
          </a:xfrm>
          <a:prstGeom prst="roundRect">
            <a:avLst>
              <a:gd name="adj" fmla="val 5172"/>
            </a:avLst>
          </a:prstGeom>
          <a:solidFill>
            <a:srgbClr val="1B2333"/>
          </a:solidFill>
          <a:ln w="12700">
            <a:solidFill>
              <a:srgbClr val="2B3550"/>
            </a:solidFill>
            <a:prstDash val="solid"/>
          </a:ln>
        </p:spPr>
      </p:sp>
      <p:sp>
        <p:nvSpPr>
          <p:cNvPr id="9" name="Shape 7"/>
          <p:cNvSpPr/>
          <p:nvPr/>
        </p:nvSpPr>
        <p:spPr>
          <a:xfrm>
            <a:off x="777240" y="4087368"/>
            <a:ext cx="201168" cy="201168"/>
          </a:xfrm>
          <a:prstGeom prst="roundRect">
            <a:avLst>
              <a:gd name="adj" fmla="val 227273"/>
            </a:avLst>
          </a:prstGeom>
          <a:solidFill>
            <a:srgbClr val="CE422B"/>
          </a:solidFill>
          <a:ln w="12700">
            <a:solidFill>
              <a:srgbClr val="CE422B"/>
            </a:solidFill>
            <a:prstDash val="solid"/>
          </a:ln>
        </p:spPr>
      </p:sp>
      <p:sp>
        <p:nvSpPr>
          <p:cNvPr id="10" name="Text 8"/>
          <p:cNvSpPr/>
          <p:nvPr/>
        </p:nvSpPr>
        <p:spPr>
          <a:xfrm>
            <a:off x="1143000" y="3569208"/>
            <a:ext cx="10241280" cy="1237488"/>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Show us one bug you hit and how you found it.  </a:t>
            </a:r>
            <a:endParaRPr lang="en-US" sz="1250" dirty="0"/>
          </a:p>
        </p:txBody>
      </p:sp>
      <p:sp>
        <p:nvSpPr>
          <p:cNvPr id="11" name="Shape 9"/>
          <p:cNvSpPr/>
          <p:nvPr/>
        </p:nvSpPr>
        <p:spPr>
          <a:xfrm>
            <a:off x="548640" y="4916424"/>
            <a:ext cx="11064240" cy="1237488"/>
          </a:xfrm>
          <a:prstGeom prst="roundRect">
            <a:avLst>
              <a:gd name="adj" fmla="val 5172"/>
            </a:avLst>
          </a:prstGeom>
          <a:solidFill>
            <a:srgbClr val="1B2333"/>
          </a:solidFill>
          <a:ln w="12700">
            <a:solidFill>
              <a:srgbClr val="2B3550"/>
            </a:solidFill>
            <a:prstDash val="solid"/>
          </a:ln>
        </p:spPr>
      </p:sp>
      <p:sp>
        <p:nvSpPr>
          <p:cNvPr id="12" name="Shape 10"/>
          <p:cNvSpPr/>
          <p:nvPr/>
        </p:nvSpPr>
        <p:spPr>
          <a:xfrm>
            <a:off x="777240" y="5434584"/>
            <a:ext cx="201168" cy="201168"/>
          </a:xfrm>
          <a:prstGeom prst="roundRect">
            <a:avLst>
              <a:gd name="adj" fmla="val 227273"/>
            </a:avLst>
          </a:prstGeom>
          <a:solidFill>
            <a:srgbClr val="CE422B"/>
          </a:solidFill>
          <a:ln w="12700">
            <a:solidFill>
              <a:srgbClr val="CE422B"/>
            </a:solidFill>
            <a:prstDash val="solid"/>
          </a:ln>
        </p:spPr>
      </p:sp>
      <p:sp>
        <p:nvSpPr>
          <p:cNvPr id="13" name="Text 11"/>
          <p:cNvSpPr/>
          <p:nvPr/>
        </p:nvSpPr>
        <p:spPr>
          <a:xfrm>
            <a:off x="1143000" y="4916424"/>
            <a:ext cx="10241280" cy="1237488"/>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What's one thing you'd do differently with another hour?  </a:t>
            </a:r>
            <a:endParaRPr lang="en-US" sz="1250" dirty="0"/>
          </a:p>
        </p:txBody>
      </p:sp>
      <p:sp>
        <p:nvSpPr>
          <p:cNvPr id="14" name="Text 1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5" name="Text 1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24 / 44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420"/>
        </a:solidFill>
      </p:bgPr>
    </p:bg>
    <p:spTree>
      <p:nvGrpSpPr>
        <p:cNvPr id="1" name=""/>
        <p:cNvGrpSpPr/>
        <p:nvPr/>
      </p:nvGrpSpPr>
      <p:grpSpPr>
        <a:xfrm>
          <a:off x="0" y="0"/>
          <a:ext cx="0" cy="0"/>
          <a:chOff x="0" y="0"/>
          <a:chExt cx="0" cy="0"/>
        </a:xfrm>
      </p:grpSpPr>
      <p:sp>
        <p:nvSpPr>
          <p:cNvPr id="2" name="Shape 0"/>
          <p:cNvSpPr/>
          <p:nvPr/>
        </p:nvSpPr>
        <p:spPr>
          <a:xfrm>
            <a:off x="548640" y="2651760"/>
            <a:ext cx="1371600" cy="1371600"/>
          </a:xfrm>
          <a:prstGeom prst="roundRect">
            <a:avLst>
              <a:gd name="adj" fmla="val 6667"/>
            </a:avLst>
          </a:prstGeom>
          <a:solidFill>
            <a:srgbClr val="202A40"/>
          </a:solidFill>
          <a:ln w="19050">
            <a:solidFill>
              <a:srgbClr val="CE422B"/>
            </a:solidFill>
            <a:prstDash val="solid"/>
          </a:ln>
        </p:spPr>
      </p:sp>
      <p:sp>
        <p:nvSpPr>
          <p:cNvPr id="3" name="Text 1"/>
          <p:cNvSpPr/>
          <p:nvPr/>
        </p:nvSpPr>
        <p:spPr>
          <a:xfrm>
            <a:off x="548640" y="2651760"/>
            <a:ext cx="1371600" cy="1371600"/>
          </a:xfrm>
          <a:prstGeom prst="rect">
            <a:avLst/>
          </a:prstGeom>
          <a:noFill/>
          <a:ln/>
        </p:spPr>
        <p:txBody>
          <a:bodyPr wrap="square" rtlCol="0" anchor="ctr"/>
          <a:lstStyle/>
          <a:p>
            <a:pPr algn="ctr" indent="0" marL="0">
              <a:buNone/>
            </a:pPr>
            <a:r>
              <a:rPr lang="en-US" sz="3400" b="1" dirty="0">
                <a:solidFill>
                  <a:srgbClr val="E8804F"/>
                </a:solidFill>
                <a:latin typeface="Consolas" pitchFamily="34" charset="0"/>
                <a:ea typeface="Consolas" pitchFamily="34" charset="-122"/>
                <a:cs typeface="Consolas" pitchFamily="34" charset="-120"/>
              </a:rPr>
              <a:t>02</a:t>
            </a:r>
            <a:endParaRPr lang="en-US" sz="3400" dirty="0"/>
          </a:p>
        </p:txBody>
      </p:sp>
      <p:sp>
        <p:nvSpPr>
          <p:cNvPr id="4" name="Text 2"/>
          <p:cNvSpPr/>
          <p:nvPr/>
        </p:nvSpPr>
        <p:spPr>
          <a:xfrm>
            <a:off x="2194560" y="2743200"/>
            <a:ext cx="932688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Lab 2: Parallel Batch Processor</a:t>
            </a:r>
            <a:endParaRPr lang="en-US" sz="2800" dirty="0"/>
          </a:p>
        </p:txBody>
      </p:sp>
      <p:sp>
        <p:nvSpPr>
          <p:cNvPr id="5" name="Text 3"/>
          <p:cNvSpPr/>
          <p:nvPr/>
        </p:nvSpPr>
        <p:spPr>
          <a:xfrm>
            <a:off x="2194560" y="3474720"/>
            <a:ext cx="8961120" cy="548640"/>
          </a:xfrm>
          <a:prstGeom prst="rect">
            <a:avLst/>
          </a:prstGeom>
          <a:noFill/>
          <a:ln/>
        </p:spPr>
        <p:txBody>
          <a:bodyPr wrap="square" rtlCol="0" anchor="ctr"/>
          <a:lstStyle/>
          <a:p>
            <a:pPr indent="0" marL="0">
              <a:buNone/>
            </a:pPr>
            <a:r>
              <a:rPr lang="en-US" sz="1350" dirty="0">
                <a:solidFill>
                  <a:srgbClr val="9AA4B8"/>
                </a:solidFill>
                <a:latin typeface="Arial" pitchFamily="34" charset="0"/>
                <a:ea typeface="Arial" pitchFamily="34" charset="-122"/>
                <a:cs typeface="Arial" pitchFamily="34" charset="-120"/>
              </a:rPr>
              <a:t>Concurrency and borrowing — proving a parallel version matches a trusted sequential one</a:t>
            </a:r>
            <a:endParaRPr lang="en-US" sz="1350" dirty="0"/>
          </a:p>
        </p:txBody>
      </p:sp>
      <p:sp>
        <p:nvSpPr>
          <p:cNvPr id="6" name="Text 4"/>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7" name="Text 5"/>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25 / 44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Lab 2 time budget</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1463040"/>
                <a:gridCol w="6492240"/>
              </a:tblGrid>
              <a:tr h="457200">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Segment</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Duration</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What happens</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Setup &amp; framing</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10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Instructor presents the problem, requirements, and ground rules; questions answered</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Independent / paired work</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90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Students work solo or in pairs; instructors circulate to help, not to hand out answers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Short break</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10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Stretch, refill coffee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Solution walkthrough &amp; discussion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20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Instructor presents reference approaches; group discussion questions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Student presentations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EDEFF4"/>
                          </a:solidFill>
                          <a:latin typeface="Arial" pitchFamily="34" charset="0"/>
                          <a:ea typeface="Arial" pitchFamily="34" charset="-122"/>
                          <a:cs typeface="Arial" pitchFamily="34" charset="-120"/>
                        </a:rPr>
                        <a:t>20–30 min</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2–3 pairs briefly present their approach and one thing they learned</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26 / 44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The scenario</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Your team occasionally needs to validate a large batch buffer — think a big block of raw bytes off an acquisition device — before it's trusted downstream.  </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A single-threaded pass works and is already trusted, but it's too slow on the largest buffers your team sees.  </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You've been asked for a parallel version that produces byte-for-byte identical results to the sequential one, just faster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not "probably the same," identical, provably.</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27 / 44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The trusted reference implementation (given)</a:t>
            </a:r>
            <a:endParaRPr lang="en-US" sz="2800" dirty="0"/>
          </a:p>
        </p:txBody>
      </p:sp>
      <p:sp>
        <p:nvSpPr>
          <p:cNvPr id="4" name="Shape 2"/>
          <p:cNvSpPr/>
          <p:nvPr/>
        </p:nvSpPr>
        <p:spPr>
          <a:xfrm>
            <a:off x="548640" y="1645920"/>
            <a:ext cx="11064240" cy="3749040"/>
          </a:xfrm>
          <a:prstGeom prst="roundRect">
            <a:avLst>
              <a:gd name="adj" fmla="val 2195"/>
            </a:avLst>
          </a:prstGeom>
          <a:solidFill>
            <a:srgbClr val="1B2333"/>
          </a:solidFill>
          <a:ln w="12700">
            <a:solidFill>
              <a:srgbClr val="2B3550"/>
            </a:solidFill>
            <a:prstDash val="solid"/>
          </a:ln>
        </p:spPr>
      </p:sp>
      <p:sp>
        <p:nvSpPr>
          <p:cNvPr id="5" name="Text 3"/>
          <p:cNvSpPr/>
          <p:nvPr/>
        </p:nvSpPr>
        <p:spPr>
          <a:xfrm>
            <a:off x="777240" y="1755648"/>
            <a:ext cx="10607040" cy="3529584"/>
          </a:xfrm>
          <a:prstGeom prst="rect">
            <a:avLst/>
          </a:prstGeom>
          <a:solidFill>
            <a:srgbClr val="141A28"/>
          </a:solidFill>
          <a:ln/>
        </p:spPr>
        <p:txBody>
          <a:bodyPr wrap="square" lIns="101600" tIns="101600" rIns="101600" bIns="101600" rtlCol="0" anchor="t"/>
          <a:lstStyle/>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struct BatchReport { len: usize, sum: u64, min: u8, max: u8, xor_checksum: u8 }</a:t>
            </a:r>
            <a:endParaRPr lang="en-US" sz="1050" dirty="0"/>
          </a:p>
          <a:p>
            <a:pPr indent="0" marL="0">
              <a:lnSpc>
                <a:spcPct val="110000"/>
              </a:lnSpc>
              <a:buNone/>
            </a:pP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fn analyze_sequential(data: &amp;[u8]) -&gt; BatchReport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mut sum = 0u64;</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mut min = u8::MAX;</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mut max = 0u8;</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mut xor_checksum = 0u8;</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for &amp;b in data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sum += b as u64;</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min = min.min(b);</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max = max.max(b);</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xor_checksum ^= b;</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BatchReport { len: data.len(), sum, min, max, xor_checksum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a:t>
            </a:r>
            <a:endParaRPr lang="en-US" sz="1050" dirty="0"/>
          </a:p>
        </p:txBody>
      </p:sp>
      <p:sp>
        <p:nvSpPr>
          <p:cNvPr id="6" name="Shape 4"/>
          <p:cNvSpPr/>
          <p:nvPr/>
        </p:nvSpPr>
        <p:spPr>
          <a:xfrm>
            <a:off x="548640" y="5532120"/>
            <a:ext cx="11064240" cy="777240"/>
          </a:xfrm>
          <a:prstGeom prst="roundRect">
            <a:avLst>
              <a:gd name="adj" fmla="val 9412"/>
            </a:avLst>
          </a:prstGeom>
          <a:solidFill>
            <a:srgbClr val="202A40"/>
          </a:solidFill>
          <a:ln w="12700">
            <a:solidFill>
              <a:srgbClr val="E0B155"/>
            </a:solidFill>
            <a:prstDash val="solid"/>
          </a:ln>
        </p:spPr>
      </p:sp>
      <p:sp>
        <p:nvSpPr>
          <p:cNvPr id="7" name="Text 5"/>
          <p:cNvSpPr/>
          <p:nvPr/>
        </p:nvSpPr>
        <p:spPr>
          <a:xfrm>
            <a:off x="777240" y="5650992"/>
            <a:ext cx="10607040" cy="539496"/>
          </a:xfrm>
          <a:prstGeom prst="rect">
            <a:avLst/>
          </a:prstGeom>
          <a:noFill/>
          <a:ln/>
        </p:spPr>
        <p:txBody>
          <a:bodyPr wrap="square" rtlCol="0" anchor="t"/>
          <a:lstStyle/>
          <a:p>
            <a:pPr indent="0" marL="0">
              <a:lnSpc>
                <a:spcPct val="128000"/>
              </a:lnSpc>
              <a:buNone/>
            </a:pPr>
            <a:r>
              <a:rPr lang="en-US" sz="1250" b="1" dirty="0">
                <a:solidFill>
                  <a:srgbClr val="E0B155"/>
                </a:solidFill>
                <a:latin typeface="Arial" pitchFamily="34" charset="0"/>
                <a:ea typeface="Arial" pitchFamily="34" charset="-122"/>
                <a:cs typeface="Arial" pitchFamily="34" charset="-120"/>
              </a:rPr>
              <a:t>Your task: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This function is your specification and your correctness oracle. Your job is analyze_parallel(data, num_workers) — same return type, same results, using threads.</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28 / 44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Requirements</a:t>
            </a:r>
            <a:endParaRPr lang="en-US" sz="2800" dirty="0"/>
          </a:p>
        </p:txBody>
      </p:sp>
      <p:sp>
        <p:nvSpPr>
          <p:cNvPr id="4" name="Shape 2"/>
          <p:cNvSpPr/>
          <p:nvPr/>
        </p:nvSpPr>
        <p:spPr>
          <a:xfrm>
            <a:off x="548640" y="1600200"/>
            <a:ext cx="11064240" cy="822960"/>
          </a:xfrm>
          <a:prstGeom prst="roundRect">
            <a:avLst>
              <a:gd name="adj" fmla="val 7778"/>
            </a:avLst>
          </a:prstGeom>
          <a:solidFill>
            <a:srgbClr val="1B2333"/>
          </a:solidFill>
          <a:ln w="12700">
            <a:solidFill>
              <a:srgbClr val="2B3550"/>
            </a:solidFill>
            <a:prstDash val="solid"/>
          </a:ln>
        </p:spPr>
      </p:sp>
      <p:sp>
        <p:nvSpPr>
          <p:cNvPr id="5" name="Shape 3"/>
          <p:cNvSpPr/>
          <p:nvPr/>
        </p:nvSpPr>
        <p:spPr>
          <a:xfrm>
            <a:off x="777240" y="1911096"/>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822960"/>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Split data into num_workers roughly-equal contiguous chunks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handle data.len() not dividing evenly, and num_workers larger than data.len().</a:t>
            </a:r>
            <a:endParaRPr lang="en-US" sz="1250" dirty="0"/>
          </a:p>
        </p:txBody>
      </p:sp>
      <p:sp>
        <p:nvSpPr>
          <p:cNvPr id="7" name="Shape 5"/>
          <p:cNvSpPr/>
          <p:nvPr/>
        </p:nvSpPr>
        <p:spPr>
          <a:xfrm>
            <a:off x="548640" y="2532888"/>
            <a:ext cx="11064240" cy="822960"/>
          </a:xfrm>
          <a:prstGeom prst="roundRect">
            <a:avLst>
              <a:gd name="adj" fmla="val 7778"/>
            </a:avLst>
          </a:prstGeom>
          <a:solidFill>
            <a:srgbClr val="1B2333"/>
          </a:solidFill>
          <a:ln w="12700">
            <a:solidFill>
              <a:srgbClr val="2B3550"/>
            </a:solidFill>
            <a:prstDash val="solid"/>
          </a:ln>
        </p:spPr>
      </p:sp>
      <p:sp>
        <p:nvSpPr>
          <p:cNvPr id="8" name="Shape 6"/>
          <p:cNvSpPr/>
          <p:nvPr/>
        </p:nvSpPr>
        <p:spPr>
          <a:xfrm>
            <a:off x="777240" y="2843784"/>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2532888"/>
            <a:ext cx="10241280" cy="822960"/>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Use std::thread::scope so threads can borrow slices of data directly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no cloning the buffer, no Arc, no unsafe.</a:t>
            </a:r>
            <a:endParaRPr lang="en-US" sz="1250" dirty="0"/>
          </a:p>
        </p:txBody>
      </p:sp>
      <p:sp>
        <p:nvSpPr>
          <p:cNvPr id="10" name="Shape 8"/>
          <p:cNvSpPr/>
          <p:nvPr/>
        </p:nvSpPr>
        <p:spPr>
          <a:xfrm>
            <a:off x="548640" y="3465576"/>
            <a:ext cx="11064240" cy="822960"/>
          </a:xfrm>
          <a:prstGeom prst="roundRect">
            <a:avLst>
              <a:gd name="adj" fmla="val 7778"/>
            </a:avLst>
          </a:prstGeom>
          <a:solidFill>
            <a:srgbClr val="1B2333"/>
          </a:solidFill>
          <a:ln w="12700">
            <a:solidFill>
              <a:srgbClr val="2B3550"/>
            </a:solidFill>
            <a:prstDash val="solid"/>
          </a:ln>
        </p:spPr>
      </p:sp>
      <p:sp>
        <p:nvSpPr>
          <p:cNvPr id="11" name="Shape 9"/>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3465576"/>
            <a:ext cx="10241280" cy="822960"/>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Each thread computes a partial report for its chunk; combine partial reports into one final BatchReport.  </a:t>
            </a:r>
            <a:endParaRPr lang="en-US" sz="1250" dirty="0"/>
          </a:p>
        </p:txBody>
      </p:sp>
      <p:sp>
        <p:nvSpPr>
          <p:cNvPr id="13" name="Shape 11"/>
          <p:cNvSpPr/>
          <p:nvPr/>
        </p:nvSpPr>
        <p:spPr>
          <a:xfrm>
            <a:off x="548640" y="4398264"/>
            <a:ext cx="11064240" cy="822960"/>
          </a:xfrm>
          <a:prstGeom prst="roundRect">
            <a:avLst>
              <a:gd name="adj" fmla="val 7778"/>
            </a:avLst>
          </a:prstGeom>
          <a:solidFill>
            <a:srgbClr val="1B2333"/>
          </a:solidFill>
          <a:ln w="12700">
            <a:solidFill>
              <a:srgbClr val="2B3550"/>
            </a:solidFill>
            <a:prstDash val="solid"/>
          </a:ln>
        </p:spPr>
      </p:sp>
      <p:sp>
        <p:nvSpPr>
          <p:cNvPr id="14" name="Shape 12"/>
          <p:cNvSpPr/>
          <p:nvPr/>
        </p:nvSpPr>
        <p:spPr>
          <a:xfrm>
            <a:off x="777240" y="4709160"/>
            <a:ext cx="201168" cy="201168"/>
          </a:xfrm>
          <a:prstGeom prst="roundRect">
            <a:avLst>
              <a:gd name="adj" fmla="val 227273"/>
            </a:avLst>
          </a:prstGeom>
          <a:solidFill>
            <a:srgbClr val="CE422B"/>
          </a:solidFill>
          <a:ln w="12700">
            <a:solidFill>
              <a:srgbClr val="CE422B"/>
            </a:solidFill>
            <a:prstDash val="solid"/>
          </a:ln>
        </p:spPr>
      </p:sp>
      <p:sp>
        <p:nvSpPr>
          <p:cNvPr id="15" name="Text 13"/>
          <p:cNvSpPr/>
          <p:nvPr/>
        </p:nvSpPr>
        <p:spPr>
          <a:xfrm>
            <a:off x="1143000" y="4398264"/>
            <a:ext cx="10241280" cy="822960"/>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The result must exactly match analyze_sequential(data) for the same data, for every num_workers you test.  </a:t>
            </a:r>
            <a:endParaRPr lang="en-US" sz="1250" dirty="0"/>
          </a:p>
        </p:txBody>
      </p:sp>
      <p:sp>
        <p:nvSpPr>
          <p:cNvPr id="16" name="Shape 14"/>
          <p:cNvSpPr/>
          <p:nvPr/>
        </p:nvSpPr>
        <p:spPr>
          <a:xfrm>
            <a:off x="548640" y="5330952"/>
            <a:ext cx="11064240" cy="822960"/>
          </a:xfrm>
          <a:prstGeom prst="roundRect">
            <a:avLst>
              <a:gd name="adj" fmla="val 7778"/>
            </a:avLst>
          </a:prstGeom>
          <a:solidFill>
            <a:srgbClr val="1B2333"/>
          </a:solidFill>
          <a:ln w="12700">
            <a:solidFill>
              <a:srgbClr val="2B3550"/>
            </a:solidFill>
            <a:prstDash val="solid"/>
          </a:ln>
        </p:spPr>
      </p:sp>
      <p:sp>
        <p:nvSpPr>
          <p:cNvPr id="17" name="Shape 15"/>
          <p:cNvSpPr/>
          <p:nvPr/>
        </p:nvSpPr>
        <p:spPr>
          <a:xfrm>
            <a:off x="777240" y="5641848"/>
            <a:ext cx="201168" cy="201168"/>
          </a:xfrm>
          <a:prstGeom prst="roundRect">
            <a:avLst>
              <a:gd name="adj" fmla="val 227273"/>
            </a:avLst>
          </a:prstGeom>
          <a:solidFill>
            <a:srgbClr val="CE422B"/>
          </a:solidFill>
          <a:ln w="12700">
            <a:solidFill>
              <a:srgbClr val="CE422B"/>
            </a:solidFill>
            <a:prstDash val="solid"/>
          </a:ln>
        </p:spPr>
      </p:sp>
      <p:sp>
        <p:nvSpPr>
          <p:cNvPr id="18" name="Text 16"/>
          <p:cNvSpPr/>
          <p:nvPr/>
        </p:nvSpPr>
        <p:spPr>
          <a:xfrm>
            <a:off x="1143000" y="5330952"/>
            <a:ext cx="10241280" cy="822960"/>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Include a test that checks this equality across at least three different worker counts, including one that doesn't evenly divide the data.  </a:t>
            </a:r>
            <a:endParaRPr lang="en-US" sz="1250" dirty="0"/>
          </a:p>
        </p:txBody>
      </p:sp>
      <p:sp>
        <p:nvSpPr>
          <p:cNvPr id="19" name="Text 17"/>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20" name="Text 18"/>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29 / 44</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What we'll look for</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200400"/>
                <a:gridCol w="7863840"/>
              </a:tblGrid>
              <a:tr h="457200">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Criterion</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What we're checking</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Correctness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Output matches analyze_sequential exactly, for every worker count tested</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Safe concurrency</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No unsafe blocks; no Arc&lt;Mutex&lt;_&gt;&gt; where scoped borrowing or a channel would do</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Edge cases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Empty data, num_workers = 1, and num_workers &gt; data.len() all handled without panicking</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Tests</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The equivalence test passes across multiple worker counts, not just one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30 / 44</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Stretch goals</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Report live progress as chunks complete, using a channel or a shared atomic counter.  </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Measure and print wall-clock time for both the sequential and parallel versions on the same large input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at what size does parallel actually win?</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Pick num_workers automatically using std::thread::available_parallelism().  </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31 / 44</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Hints, if you want them</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std::thread::scope lets spawned threads borrow data with an ordinary &amp; reference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look up why that's sound here when a plain thread::spawn would require 'static.</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slice::chunks(n) already handles an uneven final chunk correctly — the harder part is computing the right chunk size in the first place.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Does usize have a method for "divide, rounding up"?</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A thread::scope closure's JoinHandle::join() returns whatever the spawned closure returns, directly and typed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no shared mutable state required just to get a value back out.</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32 / 44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0B155"/>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2194560"/>
            <a:ext cx="11064240" cy="2103120"/>
          </a:xfrm>
          <a:prstGeom prst="rect">
            <a:avLst/>
          </a:prstGeom>
          <a:noFill/>
          <a:ln/>
        </p:spPr>
        <p:txBody>
          <a:bodyPr wrap="square" rtlCol="0" anchor="ctr"/>
          <a:lstStyle/>
          <a:p>
            <a:pPr indent="0" marL="0">
              <a:lnSpc>
                <a:spcPct val="115000"/>
              </a:lnSpc>
              <a:buNone/>
            </a:pPr>
            <a:r>
              <a:rPr lang="en-US" sz="3200" b="1" dirty="0">
                <a:solidFill>
                  <a:srgbClr val="EDEFF4"/>
                </a:solidFill>
                <a:latin typeface="Arial" pitchFamily="34" charset="0"/>
                <a:ea typeface="Arial" pitchFamily="34" charset="-122"/>
                <a:cs typeface="Arial" pitchFamily="34" charset="-120"/>
              </a:rPr>
              <a:t>Try it yourself now — reference solutions follow.</a:t>
            </a:r>
            <a:endParaRPr lang="en-US" sz="3200" dirty="0"/>
          </a:p>
        </p:txBody>
      </p:sp>
      <p:sp>
        <p:nvSpPr>
          <p:cNvPr id="4" name="Text 2"/>
          <p:cNvSpPr/>
          <p:nvPr/>
        </p:nvSpPr>
        <p:spPr>
          <a:xfrm>
            <a:off x="548640" y="4434840"/>
            <a:ext cx="10332720" cy="822960"/>
          </a:xfrm>
          <a:prstGeom prst="rect">
            <a:avLst/>
          </a:prstGeom>
          <a:noFill/>
          <a:ln/>
        </p:spPr>
        <p:txBody>
          <a:bodyPr wrap="square" rtlCol="0" anchor="ctr"/>
          <a:lstStyle/>
          <a:p>
            <a:pPr indent="0" marL="0">
              <a:lnSpc>
                <a:spcPct val="130000"/>
              </a:lnSpc>
              <a:buNone/>
            </a:pPr>
            <a:r>
              <a:rPr lang="en-US" sz="1400" dirty="0">
                <a:solidFill>
                  <a:srgbClr val="9AA4B8"/>
                </a:solidFill>
                <a:latin typeface="Arial" pitchFamily="34" charset="0"/>
                <a:ea typeface="Arial" pitchFamily="34" charset="-122"/>
                <a:cs typeface="Arial" pitchFamily="34" charset="-120"/>
              </a:rPr>
              <a:t>Same structure as Lab 1: two full approaches with different trade-offs, a correctness test you can compare against your own, and a set of common pitfalls to check your solution against.</a:t>
            </a:r>
            <a:endParaRPr lang="en-US" sz="1400" dirty="0"/>
          </a:p>
        </p:txBody>
      </p:sp>
      <p:sp>
        <p:nvSpPr>
          <p:cNvPr id="5" name="Text 3"/>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4"/>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33 / 44</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A: scoped threads, join-returned results</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Each chunk gets one spawned thread running the trusted analyze_sequential on its own slice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correctness is inherited for free, since each worker reuses code you've already proven correct.</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Partial reports come back directly from .join(), with no shared mutable state anywhere in the program.  </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The simplest approach that satisfies every requirement — reach for this first.  </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34 / 44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A: scope + join</a:t>
            </a:r>
            <a:endParaRPr lang="en-US" sz="2800" dirty="0"/>
          </a:p>
        </p:txBody>
      </p:sp>
      <p:sp>
        <p:nvSpPr>
          <p:cNvPr id="4" name="Shape 2"/>
          <p:cNvSpPr/>
          <p:nvPr/>
        </p:nvSpPr>
        <p:spPr>
          <a:xfrm>
            <a:off x="548640" y="1645920"/>
            <a:ext cx="11064240" cy="3291840"/>
          </a:xfrm>
          <a:prstGeom prst="roundRect">
            <a:avLst>
              <a:gd name="adj" fmla="val 2500"/>
            </a:avLst>
          </a:prstGeom>
          <a:solidFill>
            <a:srgbClr val="1B2333"/>
          </a:solidFill>
          <a:ln w="12700">
            <a:solidFill>
              <a:srgbClr val="2B3550"/>
            </a:solidFill>
            <a:prstDash val="solid"/>
          </a:ln>
        </p:spPr>
      </p:sp>
      <p:sp>
        <p:nvSpPr>
          <p:cNvPr id="5" name="Text 3"/>
          <p:cNvSpPr/>
          <p:nvPr/>
        </p:nvSpPr>
        <p:spPr>
          <a:xfrm>
            <a:off x="777240" y="1755648"/>
            <a:ext cx="10607040" cy="3072384"/>
          </a:xfrm>
          <a:prstGeom prst="rect">
            <a:avLst/>
          </a:prstGeom>
          <a:solidFill>
            <a:srgbClr val="141A28"/>
          </a:solidFill>
          <a:ln/>
        </p:spPr>
        <p:txBody>
          <a:bodyPr wrap="square" lIns="101600" tIns="101600" rIns="101600" bIns="101600" rtlCol="0" anchor="t"/>
          <a:lstStyle/>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fn analyze_parallel(data: &amp;[u8], num_workers: usize) -&gt; BatchReport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chunk_size = data.len().div_ceil(num_workers.max(1)).max(1);</a:t>
            </a:r>
            <a:endParaRPr lang="en-US" sz="1050" dirty="0"/>
          </a:p>
          <a:p>
            <a:pPr indent="0" marL="0">
              <a:lnSpc>
                <a:spcPct val="110000"/>
              </a:lnSpc>
              <a:buNone/>
            </a:pP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partials: Vec&lt;BatchReport&gt; = thread::scope(|s|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handles: Vec&lt;_&gt; = data.chunks(chunk_size)</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.map(|chunk| s.spawn(|| analyze_sequential(chunk)))</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.collect();</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handles.into_iter().map(|h| h.join().unwrap()).collect()</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a:t>
            </a:r>
            <a:endParaRPr lang="en-US" sz="1050" dirty="0"/>
          </a:p>
          <a:p>
            <a:pPr indent="0" marL="0">
              <a:lnSpc>
                <a:spcPct val="110000"/>
              </a:lnSpc>
              <a:buNone/>
            </a:pP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partials.into_iter().reduce(combine)</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.unwrap_or(BatchReport { len: 0, sum: 0, min: u8::MAX, max: 0, xor_checksum: 0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a:t>
            </a:r>
            <a:endParaRPr lang="en-US" sz="1050" dirty="0"/>
          </a:p>
        </p:txBody>
      </p:sp>
      <p:sp>
        <p:nvSpPr>
          <p:cNvPr id="6" name="Shape 4"/>
          <p:cNvSpPr/>
          <p:nvPr/>
        </p:nvSpPr>
        <p:spPr>
          <a:xfrm>
            <a:off x="548640" y="5074920"/>
            <a:ext cx="11064240" cy="1234440"/>
          </a:xfrm>
          <a:prstGeom prst="roundRect">
            <a:avLst>
              <a:gd name="adj" fmla="val 5926"/>
            </a:avLst>
          </a:prstGeom>
          <a:solidFill>
            <a:srgbClr val="202A40"/>
          </a:solidFill>
          <a:ln w="12700">
            <a:solidFill>
              <a:srgbClr val="58C27D"/>
            </a:solidFill>
            <a:prstDash val="solid"/>
          </a:ln>
        </p:spPr>
      </p:sp>
      <p:sp>
        <p:nvSpPr>
          <p:cNvPr id="7" name="Text 5"/>
          <p:cNvSpPr/>
          <p:nvPr/>
        </p:nvSpPr>
        <p:spPr>
          <a:xfrm>
            <a:off x="777240" y="5193792"/>
            <a:ext cx="10607040" cy="996696"/>
          </a:xfrm>
          <a:prstGeom prst="rect">
            <a:avLst/>
          </a:prstGeom>
          <a:noFill/>
          <a:ln/>
        </p:spPr>
        <p:txBody>
          <a:bodyPr wrap="square" rtlCol="0" anchor="t"/>
          <a:lstStyle/>
          <a:p>
            <a:pPr indent="0" marL="0">
              <a:lnSpc>
                <a:spcPct val="128000"/>
              </a:lnSpc>
              <a:buNone/>
            </a:pPr>
            <a:r>
              <a:rPr lang="en-US" sz="1250" b="1" dirty="0">
                <a:solidFill>
                  <a:srgbClr val="58C27D"/>
                </a:solidFill>
                <a:latin typeface="Arial" pitchFamily="34" charset="0"/>
                <a:ea typeface="Arial" pitchFamily="34" charset="-122"/>
                <a:cs typeface="Arial" pitchFamily="34" charset="-120"/>
              </a:rPr>
              <a:t>Worth noting: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div_ceil is stable since 1.73 — on an older toolchain, (len + n - 1) / n does the same job. combine merges two partial reports: sums add, min/max compare, xor_checksum xors.</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35 / 44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B: channel-based producer/consumer</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Each worker sends its partial report over an mpsc channel as soon as it finishes, instead of the main thread waiting on a Vec of handles.  </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More moving parts than Approach A for this exact requirement set —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but it's the natural shape to extend into live progress reporting or an unknown, dynamically-growing number of chunks.</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Still uses thread::scope, so senders can be cloned into borrowing threads without needing Arc anywhere.  </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36 / 44</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B: scope + channel</a:t>
            </a:r>
            <a:endParaRPr lang="en-US" sz="2800" dirty="0"/>
          </a:p>
        </p:txBody>
      </p:sp>
      <p:sp>
        <p:nvSpPr>
          <p:cNvPr id="4" name="Shape 2"/>
          <p:cNvSpPr/>
          <p:nvPr/>
        </p:nvSpPr>
        <p:spPr>
          <a:xfrm>
            <a:off x="548640" y="1645920"/>
            <a:ext cx="11064240" cy="3749040"/>
          </a:xfrm>
          <a:prstGeom prst="roundRect">
            <a:avLst>
              <a:gd name="adj" fmla="val 2195"/>
            </a:avLst>
          </a:prstGeom>
          <a:solidFill>
            <a:srgbClr val="1B2333"/>
          </a:solidFill>
          <a:ln w="12700">
            <a:solidFill>
              <a:srgbClr val="2B3550"/>
            </a:solidFill>
            <a:prstDash val="solid"/>
          </a:ln>
        </p:spPr>
      </p:sp>
      <p:sp>
        <p:nvSpPr>
          <p:cNvPr id="5" name="Text 3"/>
          <p:cNvSpPr/>
          <p:nvPr/>
        </p:nvSpPr>
        <p:spPr>
          <a:xfrm>
            <a:off x="777240" y="1755648"/>
            <a:ext cx="10607040" cy="3529584"/>
          </a:xfrm>
          <a:prstGeom prst="rect">
            <a:avLst/>
          </a:prstGeom>
          <a:solidFill>
            <a:srgbClr val="141A28"/>
          </a:solidFill>
          <a:ln/>
        </p:spPr>
        <p:txBody>
          <a:bodyPr wrap="square" lIns="101600" tIns="101600" rIns="101600" bIns="101600" rtlCol="0" anchor="t"/>
          <a:lstStyle/>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fn analyze_parallel_streaming(data: &amp;[u8], num_workers: usize) -&gt; BatchReport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(tx, rx) = mpsc::channel();</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chunk_size = data.len().div_ceil(num_workers.max(1)).max(1);</a:t>
            </a:r>
            <a:endParaRPr lang="en-US" sz="1050" dirty="0"/>
          </a:p>
          <a:p>
            <a:pPr indent="0" marL="0">
              <a:lnSpc>
                <a:spcPct val="110000"/>
              </a:lnSpc>
              <a:buNone/>
            </a:pP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thread::scope(|s|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for chunk in data.chunks(chunk_size)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let tx = tx.clone();</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s.spawn(move || tx.send(analyze_sequential(chunk)).unwrap());</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drop(tx); // let rx.iter() end once every clone is dropped</a:t>
            </a:r>
            <a:endParaRPr lang="en-US" sz="1050" dirty="0"/>
          </a:p>
          <a:p>
            <a:pPr indent="0" marL="0">
              <a:lnSpc>
                <a:spcPct val="110000"/>
              </a:lnSpc>
              <a:buNone/>
            </a:pP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rx.iter().reduce(combine)</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.unwrap_or(BatchReport { len: 0, sum: 0, min: u8::MAX, max: 0, xor_checksum: 0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    })</a:t>
            </a:r>
            <a:endParaRPr lang="en-US" sz="1050" dirty="0"/>
          </a:p>
          <a:p>
            <a:pPr indent="0" marL="0">
              <a:lnSpc>
                <a:spcPct val="110000"/>
              </a:lnSpc>
              <a:buNone/>
            </a:pPr>
            <a:r>
              <a:rPr lang="en-US" sz="1050" dirty="0">
                <a:solidFill>
                  <a:srgbClr val="EDEFF4"/>
                </a:solidFill>
                <a:latin typeface="Consolas" pitchFamily="34" charset="0"/>
                <a:ea typeface="Consolas" pitchFamily="34" charset="-122"/>
                <a:cs typeface="Consolas" pitchFamily="34" charset="-120"/>
              </a:rPr>
              <a:t>}</a:t>
            </a:r>
            <a:endParaRPr lang="en-US" sz="1050" dirty="0"/>
          </a:p>
        </p:txBody>
      </p:sp>
      <p:sp>
        <p:nvSpPr>
          <p:cNvPr id="6" name="Shape 4"/>
          <p:cNvSpPr/>
          <p:nvPr/>
        </p:nvSpPr>
        <p:spPr>
          <a:xfrm>
            <a:off x="548640" y="5532120"/>
            <a:ext cx="11064240" cy="777240"/>
          </a:xfrm>
          <a:prstGeom prst="roundRect">
            <a:avLst>
              <a:gd name="adj" fmla="val 9412"/>
            </a:avLst>
          </a:prstGeom>
          <a:solidFill>
            <a:srgbClr val="202A40"/>
          </a:solidFill>
          <a:ln w="12700">
            <a:solidFill>
              <a:srgbClr val="E0B155"/>
            </a:solidFill>
            <a:prstDash val="solid"/>
          </a:ln>
        </p:spPr>
      </p:sp>
      <p:sp>
        <p:nvSpPr>
          <p:cNvPr id="7" name="Text 5"/>
          <p:cNvSpPr/>
          <p:nvPr/>
        </p:nvSpPr>
        <p:spPr>
          <a:xfrm>
            <a:off x="777240" y="5650992"/>
            <a:ext cx="10607040" cy="539496"/>
          </a:xfrm>
          <a:prstGeom prst="rect">
            <a:avLst/>
          </a:prstGeom>
          <a:noFill/>
          <a:ln/>
        </p:spPr>
        <p:txBody>
          <a:bodyPr wrap="square" rtlCol="0" anchor="t"/>
          <a:lstStyle/>
          <a:p>
            <a:pPr indent="0" marL="0">
              <a:lnSpc>
                <a:spcPct val="128000"/>
              </a:lnSpc>
              <a:buNone/>
            </a:pPr>
            <a:r>
              <a:rPr lang="en-US" sz="1250" b="1" dirty="0">
                <a:solidFill>
                  <a:srgbClr val="E0B155"/>
                </a:solidFill>
                <a:latin typeface="Arial" pitchFamily="34" charset="0"/>
                <a:ea typeface="Arial" pitchFamily="34" charset="-122"/>
                <a:cs typeface="Arial" pitchFamily="34" charset="-120"/>
              </a:rPr>
              <a:t>Watch out: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Forgetting drop(tx) here is the single most common bug in this approach — the original sender staying alive means rx.iter() never sees the channel close, and the program hangs forever.</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37 / 44</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 SOLUTIONS</a:t>
            </a:r>
            <a:endParaRPr lang="en-US" sz="13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Approach A vs. Approach B: when to reach for which</a:t>
            </a:r>
            <a:endParaRPr lang="en-US" sz="2800" dirty="0"/>
          </a:p>
        </p:txBody>
      </p:sp>
      <p:sp>
        <p:nvSpPr>
          <p:cNvPr id="4" name="Shape 2"/>
          <p:cNvSpPr/>
          <p:nvPr/>
        </p:nvSpPr>
        <p:spPr>
          <a:xfrm>
            <a:off x="548640" y="1691640"/>
            <a:ext cx="5349240" cy="3246120"/>
          </a:xfrm>
          <a:prstGeom prst="roundRect">
            <a:avLst>
              <a:gd name="adj" fmla="val 2535"/>
            </a:avLst>
          </a:prstGeom>
          <a:solidFill>
            <a:srgbClr val="1B2333"/>
          </a:solidFill>
          <a:ln w="12700">
            <a:solidFill>
              <a:srgbClr val="2B3550"/>
            </a:solidFill>
            <a:prstDash val="solid"/>
          </a:ln>
        </p:spPr>
      </p:sp>
      <p:sp>
        <p:nvSpPr>
          <p:cNvPr id="5" name="Shape 3"/>
          <p:cNvSpPr/>
          <p:nvPr/>
        </p:nvSpPr>
        <p:spPr>
          <a:xfrm>
            <a:off x="777240" y="1892808"/>
            <a:ext cx="384048" cy="384048"/>
          </a:xfrm>
          <a:prstGeom prst="roundRect">
            <a:avLst>
              <a:gd name="adj" fmla="val 119048"/>
            </a:avLst>
          </a:prstGeom>
          <a:solidFill>
            <a:srgbClr val="22283A"/>
          </a:solidFill>
          <a:ln w="12700">
            <a:solidFill>
              <a:srgbClr val="3E8FE0"/>
            </a:solidFill>
            <a:prstDash val="solid"/>
          </a:ln>
        </p:spPr>
      </p:sp>
      <p:sp>
        <p:nvSpPr>
          <p:cNvPr id="6" name="Text 4"/>
          <p:cNvSpPr/>
          <p:nvPr/>
        </p:nvSpPr>
        <p:spPr>
          <a:xfrm>
            <a:off x="777240" y="1892808"/>
            <a:ext cx="384048" cy="384048"/>
          </a:xfrm>
          <a:prstGeom prst="rect">
            <a:avLst/>
          </a:prstGeom>
          <a:noFill/>
          <a:ln/>
        </p:spPr>
        <p:txBody>
          <a:bodyPr wrap="square" rtlCol="0" anchor="ctr"/>
          <a:lstStyle/>
          <a:p>
            <a:pPr algn="ctr" indent="0" marL="0">
              <a:buNone/>
            </a:pPr>
            <a:r>
              <a:rPr lang="en-US" sz="950" b="1" dirty="0">
                <a:solidFill>
                  <a:srgbClr val="3E8FE0"/>
                </a:solidFill>
                <a:latin typeface="Consolas" pitchFamily="34" charset="0"/>
                <a:ea typeface="Consolas" pitchFamily="34" charset="-122"/>
                <a:cs typeface="Consolas" pitchFamily="34" charset="-120"/>
              </a:rPr>
              <a:t>A</a:t>
            </a:r>
            <a:endParaRPr lang="en-US" sz="950" dirty="0"/>
          </a:p>
        </p:txBody>
      </p:sp>
      <p:sp>
        <p:nvSpPr>
          <p:cNvPr id="7" name="Text 5"/>
          <p:cNvSpPr/>
          <p:nvPr/>
        </p:nvSpPr>
        <p:spPr>
          <a:xfrm>
            <a:off x="1280160" y="1911096"/>
            <a:ext cx="3657600" cy="365760"/>
          </a:xfrm>
          <a:prstGeom prst="rect">
            <a:avLst/>
          </a:prstGeom>
          <a:noFill/>
          <a:ln/>
        </p:spPr>
        <p:txBody>
          <a:bodyPr wrap="square" rtlCol="0" anchor="ctr"/>
          <a:lstStyle/>
          <a:p>
            <a:pPr indent="0" marL="0">
              <a:buNone/>
            </a:pPr>
            <a:r>
              <a:rPr lang="en-US" sz="1300" b="1" spc="100" kern="0" dirty="0">
                <a:solidFill>
                  <a:srgbClr val="3E8FE0"/>
                </a:solidFill>
                <a:latin typeface="Arial" pitchFamily="34" charset="0"/>
                <a:ea typeface="Arial" pitchFamily="34" charset="-122"/>
                <a:cs typeface="Arial" pitchFamily="34" charset="-120"/>
              </a:rPr>
              <a:t>APPROACH A: JOIN-BASED</a:t>
            </a:r>
            <a:endParaRPr lang="en-US" sz="1300" dirty="0"/>
          </a:p>
        </p:txBody>
      </p:sp>
      <p:sp>
        <p:nvSpPr>
          <p:cNvPr id="8" name="Text 6"/>
          <p:cNvSpPr/>
          <p:nvPr/>
        </p:nvSpPr>
        <p:spPr>
          <a:xfrm>
            <a:off x="822960" y="2468880"/>
            <a:ext cx="4800600" cy="1417320"/>
          </a:xfrm>
          <a:prstGeom prst="rect">
            <a:avLst/>
          </a:prstGeom>
          <a:solidFill>
            <a:srgbClr val="141A28"/>
          </a:solidFill>
          <a:ln/>
        </p:spPr>
        <p:txBody>
          <a:bodyPr wrap="square" lIns="101600" tIns="101600" rIns="101600" bIns="101600" rtlCol="0" anchor="t"/>
          <a:lstStyle/>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let partials: Vec&lt;_&gt; = handles</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.into_iter()</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.map(|h| h.join().unwrap())</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.collect();</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simple, sufficient, done</a:t>
            </a:r>
            <a:endParaRPr lang="en-US" sz="1200" dirty="0"/>
          </a:p>
        </p:txBody>
      </p:sp>
      <p:sp>
        <p:nvSpPr>
          <p:cNvPr id="9" name="Text 7"/>
          <p:cNvSpPr/>
          <p:nvPr/>
        </p:nvSpPr>
        <p:spPr>
          <a:xfrm>
            <a:off x="822960" y="4023360"/>
            <a:ext cx="4800600" cy="731520"/>
          </a:xfrm>
          <a:prstGeom prst="rect">
            <a:avLst/>
          </a:prstGeom>
          <a:noFill/>
          <a:ln/>
        </p:spPr>
        <p:txBody>
          <a:bodyPr wrap="square" rtlCol="0" anchor="ctr"/>
          <a:lstStyle/>
          <a:p>
            <a:pPr indent="0" marL="0">
              <a:lnSpc>
                <a:spcPct val="122000"/>
              </a:lnSpc>
              <a:buNone/>
            </a:pPr>
            <a:r>
              <a:rPr lang="en-US" sz="1100" dirty="0">
                <a:solidFill>
                  <a:srgbClr val="9AA4B8"/>
                </a:solidFill>
                <a:latin typeface="Arial" pitchFamily="34" charset="0"/>
                <a:ea typeface="Arial" pitchFamily="34" charset="-122"/>
                <a:cs typeface="Arial" pitchFamily="34" charset="-120"/>
              </a:rPr>
              <a:t>Fewer moving parts, easier to read and to test. The right default whenever you just need one final aggregate at the end.</a:t>
            </a:r>
            <a:endParaRPr lang="en-US" sz="1100" dirty="0"/>
          </a:p>
        </p:txBody>
      </p:sp>
      <p:sp>
        <p:nvSpPr>
          <p:cNvPr id="10" name="Shape 8"/>
          <p:cNvSpPr/>
          <p:nvPr/>
        </p:nvSpPr>
        <p:spPr>
          <a:xfrm>
            <a:off x="6263640" y="1691640"/>
            <a:ext cx="5349240" cy="3246120"/>
          </a:xfrm>
          <a:prstGeom prst="roundRect">
            <a:avLst>
              <a:gd name="adj" fmla="val 2535"/>
            </a:avLst>
          </a:prstGeom>
          <a:solidFill>
            <a:srgbClr val="1B2333"/>
          </a:solidFill>
          <a:ln w="12700">
            <a:solidFill>
              <a:srgbClr val="2B3550"/>
            </a:solidFill>
            <a:prstDash val="solid"/>
          </a:ln>
        </p:spPr>
      </p:sp>
      <p:sp>
        <p:nvSpPr>
          <p:cNvPr id="11" name="Shape 9"/>
          <p:cNvSpPr/>
          <p:nvPr/>
        </p:nvSpPr>
        <p:spPr>
          <a:xfrm>
            <a:off x="6492240" y="1892808"/>
            <a:ext cx="384048" cy="384048"/>
          </a:xfrm>
          <a:prstGeom prst="roundRect">
            <a:avLst>
              <a:gd name="adj" fmla="val 119048"/>
            </a:avLst>
          </a:prstGeom>
          <a:solidFill>
            <a:srgbClr val="2E2019"/>
          </a:solidFill>
          <a:ln w="12700">
            <a:solidFill>
              <a:srgbClr val="CE422B"/>
            </a:solidFill>
            <a:prstDash val="solid"/>
          </a:ln>
        </p:spPr>
      </p:sp>
      <p:sp>
        <p:nvSpPr>
          <p:cNvPr id="12" name="Text 10"/>
          <p:cNvSpPr/>
          <p:nvPr/>
        </p:nvSpPr>
        <p:spPr>
          <a:xfrm>
            <a:off x="6492240" y="1892808"/>
            <a:ext cx="384048" cy="384048"/>
          </a:xfrm>
          <a:prstGeom prst="rect">
            <a:avLst/>
          </a:prstGeom>
          <a:noFill/>
          <a:ln/>
        </p:spPr>
        <p:txBody>
          <a:bodyPr wrap="square" rtlCol="0" anchor="ctr"/>
          <a:lstStyle/>
          <a:p>
            <a:pPr algn="ctr" indent="0" marL="0">
              <a:buNone/>
            </a:pPr>
            <a:r>
              <a:rPr lang="en-US" sz="1400" b="1" dirty="0">
                <a:solidFill>
                  <a:srgbClr val="E8804F"/>
                </a:solidFill>
                <a:latin typeface="Consolas" pitchFamily="34" charset="0"/>
                <a:ea typeface="Consolas" pitchFamily="34" charset="-122"/>
                <a:cs typeface="Consolas" pitchFamily="34" charset="-120"/>
              </a:rPr>
              <a:t>B</a:t>
            </a:r>
            <a:endParaRPr lang="en-US" sz="1400" dirty="0"/>
          </a:p>
        </p:txBody>
      </p:sp>
      <p:sp>
        <p:nvSpPr>
          <p:cNvPr id="13" name="Text 11"/>
          <p:cNvSpPr/>
          <p:nvPr/>
        </p:nvSpPr>
        <p:spPr>
          <a:xfrm>
            <a:off x="6995160" y="1911096"/>
            <a:ext cx="3657600" cy="365760"/>
          </a:xfrm>
          <a:prstGeom prst="rect">
            <a:avLst/>
          </a:prstGeom>
          <a:noFill/>
          <a:ln/>
        </p:spPr>
        <p:txBody>
          <a:bodyPr wrap="square" rtlCol="0" anchor="ctr"/>
          <a:lstStyle/>
          <a:p>
            <a:pPr indent="0" marL="0">
              <a:buNone/>
            </a:pPr>
            <a:r>
              <a:rPr lang="en-US" sz="1300" b="1" spc="100" kern="0" dirty="0">
                <a:solidFill>
                  <a:srgbClr val="E8804F"/>
                </a:solidFill>
                <a:latin typeface="Arial" pitchFamily="34" charset="0"/>
                <a:ea typeface="Arial" pitchFamily="34" charset="-122"/>
                <a:cs typeface="Arial" pitchFamily="34" charset="-120"/>
              </a:rPr>
              <a:t>APPROACH B: CHANNEL-BASED</a:t>
            </a:r>
            <a:endParaRPr lang="en-US" sz="1300" dirty="0"/>
          </a:p>
        </p:txBody>
      </p:sp>
      <p:sp>
        <p:nvSpPr>
          <p:cNvPr id="14" name="Text 12"/>
          <p:cNvSpPr/>
          <p:nvPr/>
        </p:nvSpPr>
        <p:spPr>
          <a:xfrm>
            <a:off x="6537960" y="2468880"/>
            <a:ext cx="4800600" cy="1417320"/>
          </a:xfrm>
          <a:prstGeom prst="rect">
            <a:avLst/>
          </a:prstGeom>
          <a:solidFill>
            <a:srgbClr val="141A28"/>
          </a:solidFill>
          <a:ln/>
        </p:spPr>
        <p:txBody>
          <a:bodyPr wrap="square" lIns="101600" tIns="101600" rIns="101600" bIns="101600" rtlCol="0" anchor="t"/>
          <a:lstStyle/>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for chunk in data.chunks(n) {</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let tx = tx.clone();</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s.spawn(move || tx.send(work(chunk)));</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rx.iter().reduce(combine)</a:t>
            </a:r>
            <a:endParaRPr lang="en-US" sz="1200" dirty="0"/>
          </a:p>
          <a:p>
            <a:pPr indent="0" marL="0">
              <a:lnSpc>
                <a:spcPct val="120000"/>
              </a:lnSpc>
              <a:buNone/>
            </a:pPr>
            <a:r>
              <a:rPr lang="en-US" sz="1200" dirty="0">
                <a:solidFill>
                  <a:srgbClr val="EDEFF4"/>
                </a:solidFill>
                <a:latin typeface="Consolas" pitchFamily="34" charset="0"/>
                <a:ea typeface="Consolas" pitchFamily="34" charset="-122"/>
                <a:cs typeface="Consolas" pitchFamily="34" charset="-120"/>
              </a:rPr>
              <a:t>// results arrive as they finish</a:t>
            </a:r>
            <a:endParaRPr lang="en-US" sz="1200" dirty="0"/>
          </a:p>
        </p:txBody>
      </p:sp>
      <p:sp>
        <p:nvSpPr>
          <p:cNvPr id="15" name="Text 13"/>
          <p:cNvSpPr/>
          <p:nvPr/>
        </p:nvSpPr>
        <p:spPr>
          <a:xfrm>
            <a:off x="6537960" y="4023360"/>
            <a:ext cx="4800600" cy="731520"/>
          </a:xfrm>
          <a:prstGeom prst="rect">
            <a:avLst/>
          </a:prstGeom>
          <a:noFill/>
          <a:ln/>
        </p:spPr>
        <p:txBody>
          <a:bodyPr wrap="square" rtlCol="0" anchor="ctr"/>
          <a:lstStyle/>
          <a:p>
            <a:pPr indent="0" marL="0">
              <a:lnSpc>
                <a:spcPct val="122000"/>
              </a:lnSpc>
              <a:buNone/>
            </a:pPr>
            <a:r>
              <a:rPr lang="en-US" sz="1100" dirty="0">
                <a:solidFill>
                  <a:srgbClr val="9AA4B8"/>
                </a:solidFill>
                <a:latin typeface="Arial" pitchFamily="34" charset="0"/>
                <a:ea typeface="Arial" pitchFamily="34" charset="-122"/>
                <a:cs typeface="Arial" pitchFamily="34" charset="-120"/>
              </a:rPr>
              <a:t>Enables live progress reporting and works naturally even when the number of chunks isn't known up front. More to get wrong (see: the dropped-sender hang).</a:t>
            </a:r>
            <a:endParaRPr lang="en-US" sz="1100" dirty="0"/>
          </a:p>
        </p:txBody>
      </p:sp>
      <p:sp>
        <p:nvSpPr>
          <p:cNvPr id="16" name="Shape 14"/>
          <p:cNvSpPr/>
          <p:nvPr/>
        </p:nvSpPr>
        <p:spPr>
          <a:xfrm>
            <a:off x="548640" y="5102352"/>
            <a:ext cx="11064240" cy="566928"/>
          </a:xfrm>
          <a:prstGeom prst="roundRect">
            <a:avLst>
              <a:gd name="adj" fmla="val 12903"/>
            </a:avLst>
          </a:prstGeom>
          <a:solidFill>
            <a:srgbClr val="202A40"/>
          </a:solidFill>
          <a:ln w="12700">
            <a:solidFill>
              <a:srgbClr val="2B3550"/>
            </a:solidFill>
            <a:prstDash val="solid"/>
          </a:ln>
        </p:spPr>
      </p:sp>
      <p:sp>
        <p:nvSpPr>
          <p:cNvPr id="17" name="Text 15"/>
          <p:cNvSpPr/>
          <p:nvPr/>
        </p:nvSpPr>
        <p:spPr>
          <a:xfrm>
            <a:off x="777240" y="5102352"/>
            <a:ext cx="10607040" cy="566928"/>
          </a:xfrm>
          <a:prstGeom prst="rect">
            <a:avLst/>
          </a:prstGeom>
          <a:noFill/>
          <a:ln/>
        </p:spPr>
        <p:txBody>
          <a:bodyPr wrap="square" rtlCol="0" anchor="ctr"/>
          <a:lstStyle/>
          <a:p>
            <a:pPr indent="0" marL="0">
              <a:buNone/>
            </a:pPr>
            <a:r>
              <a:rPr lang="en-US" sz="1150" b="1" dirty="0">
                <a:solidFill>
                  <a:srgbClr val="E8804F"/>
                </a:solidFill>
                <a:latin typeface="Arial" pitchFamily="34" charset="0"/>
                <a:ea typeface="Arial" pitchFamily="34" charset="-122"/>
                <a:cs typeface="Arial" pitchFamily="34" charset="-120"/>
              </a:rPr>
              <a:t>Trade-off:  </a:t>
            </a:r>
            <a:pPr indent="0" marL="0">
              <a:buNone/>
            </a:pPr>
            <a:r>
              <a:rPr lang="en-US" sz="1150" dirty="0">
                <a:solidFill>
                  <a:srgbClr val="EDEFF4"/>
                </a:solidFill>
                <a:latin typeface="Arial" pitchFamily="34" charset="0"/>
                <a:ea typeface="Arial" pitchFamily="34" charset="-122"/>
                <a:cs typeface="Arial" pitchFamily="34" charset="-120"/>
              </a:rPr>
              <a:t>If the requirement is only "give me the final combined report," Approach A is simpler and just as correct. Reach for B specifically when you need results before every worker has finished.</a:t>
            </a:r>
            <a:endParaRPr lang="en-US" sz="1150" dirty="0"/>
          </a:p>
        </p:txBody>
      </p:sp>
      <p:sp>
        <p:nvSpPr>
          <p:cNvPr id="18" name="Text 1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9" name="Text 1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38 / 44</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 SOLUTIONS</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The correctness oracle</a:t>
            </a:r>
            <a:endParaRPr lang="en-US" sz="2800" dirty="0"/>
          </a:p>
        </p:txBody>
      </p:sp>
      <p:sp>
        <p:nvSpPr>
          <p:cNvPr id="4" name="Shape 2"/>
          <p:cNvSpPr/>
          <p:nvPr/>
        </p:nvSpPr>
        <p:spPr>
          <a:xfrm>
            <a:off x="548640" y="1645920"/>
            <a:ext cx="11064240" cy="3291840"/>
          </a:xfrm>
          <a:prstGeom prst="roundRect">
            <a:avLst>
              <a:gd name="adj" fmla="val 2500"/>
            </a:avLst>
          </a:prstGeom>
          <a:solidFill>
            <a:srgbClr val="1B2333"/>
          </a:solidFill>
          <a:ln w="12700">
            <a:solidFill>
              <a:srgbClr val="2B3550"/>
            </a:solidFill>
            <a:prstDash val="solid"/>
          </a:ln>
        </p:spPr>
      </p:sp>
      <p:sp>
        <p:nvSpPr>
          <p:cNvPr id="5" name="Text 3"/>
          <p:cNvSpPr/>
          <p:nvPr/>
        </p:nvSpPr>
        <p:spPr>
          <a:xfrm>
            <a:off x="777240" y="1755648"/>
            <a:ext cx="10607040" cy="3072384"/>
          </a:xfrm>
          <a:prstGeom prst="rect">
            <a:avLst/>
          </a:prstGeom>
          <a:solidFill>
            <a:srgbClr val="141A28"/>
          </a:solidFill>
          <a:ln/>
        </p:spPr>
        <p:txBody>
          <a:bodyPr wrap="square" lIns="101600" tIns="101600" rIns="101600" bIns="101600" rtlCol="0" anchor="t"/>
          <a:lstStyle/>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#[test]</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fn parallel_matches_sequential()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let data: Vec&lt;u8&gt; = (0..10_000).map(|i| (i % 251) as u8).collect();</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for workers in [1, 2, 3, 7, 16]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let expected = analyze_sequential(&amp;data);</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let actual = analyze_parallel(&amp;data, workers);</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assert_eq!(actual.sum, expected.sum);</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assert_eq!(actual.min, expected.min);</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assert_eq!(actual.max, expected.max);</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assert_eq!(actual.xor_checksum, expected.xor_checksum);</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    }</a:t>
            </a:r>
            <a:endParaRPr lang="en-US" sz="1200" dirty="0"/>
          </a:p>
          <a:p>
            <a:pPr indent="0" marL="0">
              <a:lnSpc>
                <a:spcPct val="110000"/>
              </a:lnSpc>
              <a:buNone/>
            </a:pPr>
            <a:r>
              <a:rPr lang="en-US" sz="1200" dirty="0">
                <a:solidFill>
                  <a:srgbClr val="EDEFF4"/>
                </a:solidFill>
                <a:latin typeface="Consolas" pitchFamily="34" charset="0"/>
                <a:ea typeface="Consolas" pitchFamily="34" charset="-122"/>
                <a:cs typeface="Consolas" pitchFamily="34" charset="-120"/>
              </a:rPr>
              <a:t>}</a:t>
            </a:r>
            <a:endParaRPr lang="en-US" sz="1200" dirty="0"/>
          </a:p>
        </p:txBody>
      </p:sp>
      <p:sp>
        <p:nvSpPr>
          <p:cNvPr id="6" name="Shape 4"/>
          <p:cNvSpPr/>
          <p:nvPr/>
        </p:nvSpPr>
        <p:spPr>
          <a:xfrm>
            <a:off x="548640" y="5074920"/>
            <a:ext cx="11064240" cy="1234440"/>
          </a:xfrm>
          <a:prstGeom prst="roundRect">
            <a:avLst>
              <a:gd name="adj" fmla="val 5926"/>
            </a:avLst>
          </a:prstGeom>
          <a:solidFill>
            <a:srgbClr val="202A40"/>
          </a:solidFill>
          <a:ln w="12700">
            <a:solidFill>
              <a:srgbClr val="58C27D"/>
            </a:solidFill>
            <a:prstDash val="solid"/>
          </a:ln>
        </p:spPr>
      </p:sp>
      <p:sp>
        <p:nvSpPr>
          <p:cNvPr id="7" name="Text 5"/>
          <p:cNvSpPr/>
          <p:nvPr/>
        </p:nvSpPr>
        <p:spPr>
          <a:xfrm>
            <a:off x="777240" y="5193792"/>
            <a:ext cx="10607040" cy="996696"/>
          </a:xfrm>
          <a:prstGeom prst="rect">
            <a:avLst/>
          </a:prstGeom>
          <a:noFill/>
          <a:ln/>
        </p:spPr>
        <p:txBody>
          <a:bodyPr wrap="square" rtlCol="0" anchor="t"/>
          <a:lstStyle/>
          <a:p>
            <a:pPr indent="0" marL="0">
              <a:lnSpc>
                <a:spcPct val="128000"/>
              </a:lnSpc>
              <a:buNone/>
            </a:pPr>
            <a:r>
              <a:rPr lang="en-US" sz="1250" b="1" dirty="0">
                <a:solidFill>
                  <a:srgbClr val="58C27D"/>
                </a:solidFill>
                <a:latin typeface="Arial" pitchFamily="34" charset="0"/>
                <a:ea typeface="Arial" pitchFamily="34" charset="-122"/>
                <a:cs typeface="Arial" pitchFamily="34" charset="-120"/>
              </a:rPr>
              <a:t>Why several worker counts:  </a:t>
            </a:r>
            <a:pPr indent="0" marL="0">
              <a:lnSpc>
                <a:spcPct val="128000"/>
              </a:lnSpc>
              <a:buNone/>
            </a:pPr>
            <a:r>
              <a:rPr lang="en-US" sz="1250" dirty="0">
                <a:solidFill>
                  <a:srgbClr val="EDEFF4"/>
                </a:solidFill>
                <a:latin typeface="Arial" pitchFamily="34" charset="0"/>
                <a:ea typeface="Arial" pitchFamily="34" charset="-122"/>
                <a:cs typeface="Arial" pitchFamily="34" charset="-120"/>
              </a:rPr>
              <a:t>Testing several worker counts — including 1, an odd number, and one bigger than would evenly divide 10,000 — is what actually exercises the remainder-chunk edge case. A single passing run with one worker count proves much less than it looks like it does.</a:t>
            </a:r>
            <a:endParaRPr lang="en-US" sz="125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9" name="Text 7"/>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39 / 44</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Common pitfalls in this lab</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5029200"/>
                <a:gridCol w="6035040"/>
              </a:tblGrid>
              <a:tr h="457200">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Pitfall</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c>
                  <a:txBody>
                    <a:bodyPr/>
                    <a:lstStyle/>
                    <a:p>
                      <a:pPr algn="l" indent="0" marL="0">
                        <a:buNone/>
                      </a:pPr>
                      <a:r>
                        <a:rPr lang="en-US" sz="1250" b="1" dirty="0">
                          <a:solidFill>
                            <a:srgbClr val="E8804F"/>
                          </a:solidFill>
                          <a:latin typeface="Arial" pitchFamily="34" charset="0"/>
                          <a:ea typeface="Arial" pitchFamily="34" charset="-122"/>
                          <a:cs typeface="Arial" pitchFamily="34" charset="-120"/>
                        </a:rPr>
                        <a:t>Fix</a:t>
                      </a:r>
                      <a:endParaRPr lang="en-US" sz="12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202A40"/>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Integer division drops the remainder bytes into no chunk at all</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div_ceil (or manual ceiling division) when computing chunk_size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Forgetting drop(tx) in the channel approach — the program hangs forever</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Explicitly drop the original sender once every worker has its own clone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Reaching for Arc&lt;Mutex&lt;Vec&lt;_&gt;&gt;&gt; out of C++ habit</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thread::scope's direct borrowing, or a channel, removes the need for shared mutable state entirely here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r h="457200">
                <a:tc>
                  <a:txBody>
                    <a:bodyPr/>
                    <a:lstStyle/>
                    <a:p>
                      <a:pPr indent="0" marL="0">
                        <a:buNone/>
                      </a:pPr>
                      <a:r>
                        <a:rPr lang="en-US" sz="1150" dirty="0">
                          <a:solidFill>
                            <a:srgbClr val="EDEFF4"/>
                          </a:solidFill>
                          <a:latin typeface="Arial" pitchFamily="34" charset="0"/>
                          <a:ea typeface="Arial" pitchFamily="34" charset="-122"/>
                          <a:cs typeface="Arial" pitchFamily="34" charset="-120"/>
                        </a:rPr>
                        <a:t>Testing only one worker count and calling it done</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c>
                  <a:txBody>
                    <a:bodyPr/>
                    <a:lstStyle/>
                    <a:p>
                      <a:pPr indent="0" marL="0">
                        <a:buNone/>
                      </a:pPr>
                      <a:r>
                        <a:rPr lang="en-US" sz="1150" dirty="0">
                          <a:solidFill>
                            <a:srgbClr val="9AA4B8"/>
                          </a:solidFill>
                          <a:latin typeface="Arial" pitchFamily="34" charset="0"/>
                          <a:ea typeface="Arial" pitchFamily="34" charset="-122"/>
                          <a:cs typeface="Arial" pitchFamily="34" charset="-120"/>
                        </a:rPr>
                        <a:t>Test at least one count that doesn't evenly divide the data length</a:t>
                      </a:r>
                      <a:endParaRPr lang="en-US" sz="1150" dirty="0">
                        <a:latin typeface="Arial" charset="0"/>
                        <a:ea typeface="Arial" charset="0"/>
                        <a:cs typeface="Arial" charset="0"/>
                      </a:endParaRPr>
                    </a:p>
                  </a:txBody>
                  <a:tcPr marL="127000" marR="127000" marT="50800" marB="50800" anchor="ctr">
                    <a:lnL w="9525" cap="flat" cmpd="sng" algn="ctr">
                      <a:solidFill>
                        <a:srgbClr val="2B3550"/>
                      </a:solidFill>
                      <a:prstDash val="solid"/>
                      <a:round/>
                      <a:headEnd type="none" w="med" len="med"/>
                      <a:tailEnd type="none" w="med" len="med"/>
                    </a:lnL>
                    <a:lnR w="9525" cap="flat" cmpd="sng" algn="ctr">
                      <a:solidFill>
                        <a:srgbClr val="2B3550"/>
                      </a:solidFill>
                      <a:prstDash val="solid"/>
                      <a:round/>
                      <a:headEnd type="none" w="med" len="med"/>
                      <a:tailEnd type="none" w="med" len="med"/>
                    </a:lnR>
                    <a:lnT w="9525" cap="flat" cmpd="sng" algn="ctr">
                      <a:solidFill>
                        <a:srgbClr val="2B3550"/>
                      </a:solidFill>
                      <a:prstDash val="solid"/>
                      <a:round/>
                      <a:headEnd type="none" w="med" len="med"/>
                      <a:tailEnd type="none" w="med" len="med"/>
                    </a:lnT>
                    <a:lnB w="9525" cap="flat" cmpd="sng" algn="ctr">
                      <a:solidFill>
                        <a:srgbClr val="2B3550"/>
                      </a:solidFill>
                      <a:prstDash val="solid"/>
                      <a:round/>
                      <a:headEnd type="none" w="med" len="med"/>
                      <a:tailEnd type="none" w="med" len="med"/>
                    </a:lnB>
                    <a:solidFill>
                      <a:srgbClr val="1B2333"/>
                    </a:solidFill>
                  </a:tcPr>
                </a:tc>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3"/>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40 / 44</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Discussion questions</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This program parallelizes buffer processing without a single unsafe block, and a data race isn't possible even if you tried to introduce one by accident.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What would the equivalent C++ version need to get right by hand that Rust enforced here for free?</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sum, min, max, and xor_checksum are all associative and commutative — partial results combine in any order.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What would change in your design if the spec required an order-dependent rolling hash instead?</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If you measured it: at what data size did the parallel version actually beat the sequential one?  </a:t>
            </a:r>
            <a:pPr indent="0" marL="0">
              <a:lnSpc>
                <a:spcPct val="115000"/>
              </a:lnSpc>
              <a:buNone/>
            </a:pPr>
            <a:r>
              <a:rPr lang="en-US" sz="1200" dirty="0">
                <a:solidFill>
                  <a:srgbClr val="9AA4B8"/>
                </a:solidFill>
                <a:latin typeface="Arial" pitchFamily="34" charset="0"/>
                <a:ea typeface="Arial" pitchFamily="34" charset="-122"/>
                <a:cs typeface="Arial" pitchFamily="34" charset="-120"/>
              </a:rPr>
              <a:t>Why might a small input make threading slower, not faster?</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41 / 44</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LAB 2: PARALLEL BATCH PROCESSOR</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Presentation prompts</a:t>
            </a:r>
            <a:endParaRPr lang="en-US" sz="2800" dirty="0"/>
          </a:p>
        </p:txBody>
      </p:sp>
      <p:sp>
        <p:nvSpPr>
          <p:cNvPr id="4" name="Shape 2"/>
          <p:cNvSpPr/>
          <p:nvPr/>
        </p:nvSpPr>
        <p:spPr>
          <a:xfrm>
            <a:off x="548640" y="1600200"/>
            <a:ext cx="11064240" cy="1444752"/>
          </a:xfrm>
          <a:prstGeom prst="roundRect">
            <a:avLst>
              <a:gd name="adj" fmla="val 4430"/>
            </a:avLst>
          </a:prstGeom>
          <a:solidFill>
            <a:srgbClr val="1B2333"/>
          </a:solidFill>
          <a:ln w="12700">
            <a:solidFill>
              <a:srgbClr val="2B3550"/>
            </a:solidFill>
            <a:prstDash val="solid"/>
          </a:ln>
        </p:spPr>
      </p:sp>
      <p:sp>
        <p:nvSpPr>
          <p:cNvPr id="5" name="Shape 3"/>
          <p:cNvSpPr/>
          <p:nvPr/>
        </p:nvSpPr>
        <p:spPr>
          <a:xfrm>
            <a:off x="777240" y="2221992"/>
            <a:ext cx="201168" cy="201168"/>
          </a:xfrm>
          <a:prstGeom prst="roundRect">
            <a:avLst>
              <a:gd name="adj" fmla="val 227273"/>
            </a:avLst>
          </a:prstGeom>
          <a:solidFill>
            <a:srgbClr val="CE422B"/>
          </a:solidFill>
          <a:ln w="12700">
            <a:solidFill>
              <a:srgbClr val="CE422B"/>
            </a:solidFill>
            <a:prstDash val="solid"/>
          </a:ln>
        </p:spPr>
      </p:sp>
      <p:sp>
        <p:nvSpPr>
          <p:cNvPr id="6" name="Text 4"/>
          <p:cNvSpPr/>
          <p:nvPr/>
        </p:nvSpPr>
        <p:spPr>
          <a:xfrm>
            <a:off x="1143000" y="160020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Which approach did you take, and why?  </a:t>
            </a:r>
            <a:endParaRPr lang="en-US" sz="1250" dirty="0"/>
          </a:p>
        </p:txBody>
      </p:sp>
      <p:sp>
        <p:nvSpPr>
          <p:cNvPr id="7" name="Shape 5"/>
          <p:cNvSpPr/>
          <p:nvPr/>
        </p:nvSpPr>
        <p:spPr>
          <a:xfrm>
            <a:off x="548640" y="3154680"/>
            <a:ext cx="11064240" cy="1444752"/>
          </a:xfrm>
          <a:prstGeom prst="roundRect">
            <a:avLst>
              <a:gd name="adj" fmla="val 4430"/>
            </a:avLst>
          </a:prstGeom>
          <a:solidFill>
            <a:srgbClr val="1B2333"/>
          </a:solidFill>
          <a:ln w="12700">
            <a:solidFill>
              <a:srgbClr val="2B3550"/>
            </a:solidFill>
            <a:prstDash val="solid"/>
          </a:ln>
        </p:spPr>
      </p:sp>
      <p:sp>
        <p:nvSpPr>
          <p:cNvPr id="8" name="Shape 6"/>
          <p:cNvSpPr/>
          <p:nvPr/>
        </p:nvSpPr>
        <p:spPr>
          <a:xfrm>
            <a:off x="777240" y="3776472"/>
            <a:ext cx="201168" cy="201168"/>
          </a:xfrm>
          <a:prstGeom prst="roundRect">
            <a:avLst>
              <a:gd name="adj" fmla="val 227273"/>
            </a:avLst>
          </a:prstGeom>
          <a:solidFill>
            <a:srgbClr val="CE422B"/>
          </a:solidFill>
          <a:ln w="12700">
            <a:solidFill>
              <a:srgbClr val="CE422B"/>
            </a:solidFill>
            <a:prstDash val="solid"/>
          </a:ln>
        </p:spPr>
      </p:sp>
      <p:sp>
        <p:nvSpPr>
          <p:cNvPr id="9" name="Text 7"/>
          <p:cNvSpPr/>
          <p:nvPr/>
        </p:nvSpPr>
        <p:spPr>
          <a:xfrm>
            <a:off x="1143000" y="315468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Show us one bug you hit and how you found it.  </a:t>
            </a:r>
            <a:endParaRPr lang="en-US" sz="1250" dirty="0"/>
          </a:p>
        </p:txBody>
      </p:sp>
      <p:sp>
        <p:nvSpPr>
          <p:cNvPr id="10" name="Shape 8"/>
          <p:cNvSpPr/>
          <p:nvPr/>
        </p:nvSpPr>
        <p:spPr>
          <a:xfrm>
            <a:off x="548640" y="4709160"/>
            <a:ext cx="11064240" cy="1444752"/>
          </a:xfrm>
          <a:prstGeom prst="roundRect">
            <a:avLst>
              <a:gd name="adj" fmla="val 4430"/>
            </a:avLst>
          </a:prstGeom>
          <a:solidFill>
            <a:srgbClr val="1B2333"/>
          </a:solidFill>
          <a:ln w="12700">
            <a:solidFill>
              <a:srgbClr val="2B3550"/>
            </a:solidFill>
            <a:prstDash val="solid"/>
          </a:ln>
        </p:spPr>
      </p:sp>
      <p:sp>
        <p:nvSpPr>
          <p:cNvPr id="11" name="Shape 9"/>
          <p:cNvSpPr/>
          <p:nvPr/>
        </p:nvSpPr>
        <p:spPr>
          <a:xfrm>
            <a:off x="777240" y="5330952"/>
            <a:ext cx="201168" cy="201168"/>
          </a:xfrm>
          <a:prstGeom prst="roundRect">
            <a:avLst>
              <a:gd name="adj" fmla="val 227273"/>
            </a:avLst>
          </a:prstGeom>
          <a:solidFill>
            <a:srgbClr val="CE422B"/>
          </a:solidFill>
          <a:ln w="12700">
            <a:solidFill>
              <a:srgbClr val="CE422B"/>
            </a:solidFill>
            <a:prstDash val="solid"/>
          </a:ln>
        </p:spPr>
      </p:sp>
      <p:sp>
        <p:nvSpPr>
          <p:cNvPr id="12" name="Text 10"/>
          <p:cNvSpPr/>
          <p:nvPr/>
        </p:nvSpPr>
        <p:spPr>
          <a:xfrm>
            <a:off x="1143000" y="4709160"/>
            <a:ext cx="10241280" cy="1444752"/>
          </a:xfrm>
          <a:prstGeom prst="rect">
            <a:avLst/>
          </a:prstGeom>
          <a:noFill/>
          <a:ln/>
        </p:spPr>
        <p:txBody>
          <a:bodyPr wrap="square" rtlCol="0" anchor="ctr"/>
          <a:lstStyle/>
          <a:p>
            <a:pPr indent="0" marL="0">
              <a:lnSpc>
                <a:spcPct val="115000"/>
              </a:lnSpc>
              <a:buNone/>
            </a:pPr>
            <a:r>
              <a:rPr lang="en-US" sz="1250" b="1" dirty="0">
                <a:solidFill>
                  <a:srgbClr val="EDEFF4"/>
                </a:solidFill>
                <a:latin typeface="Arial" pitchFamily="34" charset="0"/>
                <a:ea typeface="Arial" pitchFamily="34" charset="-122"/>
                <a:cs typeface="Arial" pitchFamily="34" charset="-120"/>
              </a:rPr>
              <a:t>What's one thing you'd do differently with another hour?  </a:t>
            </a:r>
            <a:endParaRPr lang="en-US" sz="125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14" name="Text 12"/>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42 / 44</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CE422B"/>
                </a:solidFill>
                <a:latin typeface="Arial" pitchFamily="34" charset="0"/>
                <a:ea typeface="Arial" pitchFamily="34" charset="-122"/>
                <a:cs typeface="Arial" pitchFamily="34" charset="-120"/>
              </a:rPr>
              <a:t>WRAP-UP</a:t>
            </a:r>
            <a:endParaRPr lang="en-US" sz="1300" dirty="0"/>
          </a:p>
        </p:txBody>
      </p:sp>
      <p:sp>
        <p:nvSpPr>
          <p:cNvPr id="3" name="Text 1"/>
          <p:cNvSpPr/>
          <p:nvPr/>
        </p:nvSpPr>
        <p:spPr>
          <a:xfrm>
            <a:off x="548640" y="2194560"/>
            <a:ext cx="11064240" cy="2103120"/>
          </a:xfrm>
          <a:prstGeom prst="rect">
            <a:avLst/>
          </a:prstGeom>
          <a:noFill/>
          <a:ln/>
        </p:spPr>
        <p:txBody>
          <a:bodyPr wrap="square" rtlCol="0" anchor="ctr"/>
          <a:lstStyle/>
          <a:p>
            <a:pPr indent="0" marL="0">
              <a:lnSpc>
                <a:spcPct val="115000"/>
              </a:lnSpc>
              <a:buNone/>
            </a:pPr>
            <a:r>
              <a:rPr lang="en-US" sz="3200" b="1" dirty="0">
                <a:solidFill>
                  <a:srgbClr val="EDEFF4"/>
                </a:solidFill>
                <a:latin typeface="Arial" pitchFamily="34" charset="0"/>
                <a:ea typeface="Arial" pitchFamily="34" charset="-122"/>
                <a:cs typeface="Arial" pitchFamily="34" charset="-120"/>
              </a:rPr>
              <a:t>Fearless concurrency isn't a slogan — you just wrote it.</a:t>
            </a:r>
            <a:endParaRPr lang="en-US" sz="3200" dirty="0"/>
          </a:p>
        </p:txBody>
      </p:sp>
      <p:sp>
        <p:nvSpPr>
          <p:cNvPr id="4" name="Text 2"/>
          <p:cNvSpPr/>
          <p:nvPr/>
        </p:nvSpPr>
        <p:spPr>
          <a:xfrm>
            <a:off x="548640" y="4434840"/>
            <a:ext cx="10332720" cy="822960"/>
          </a:xfrm>
          <a:prstGeom prst="rect">
            <a:avLst/>
          </a:prstGeom>
          <a:noFill/>
          <a:ln/>
        </p:spPr>
        <p:txBody>
          <a:bodyPr wrap="square" rtlCol="0" anchor="ctr"/>
          <a:lstStyle/>
          <a:p>
            <a:pPr indent="0" marL="0">
              <a:lnSpc>
                <a:spcPct val="130000"/>
              </a:lnSpc>
              <a:buNone/>
            </a:pPr>
            <a:r>
              <a:rPr lang="en-US" sz="1400" dirty="0">
                <a:solidFill>
                  <a:srgbClr val="9AA4B8"/>
                </a:solidFill>
                <a:latin typeface="Arial" pitchFamily="34" charset="0"/>
                <a:ea typeface="Arial" pitchFamily="34" charset="-122"/>
                <a:cs typeface="Arial" pitchFamily="34" charset="-120"/>
              </a:rPr>
              <a:t>Lab 2's parallel version has no unsafe block and no possible data race, not because you were careful, but because the compiler wouldn't let you be careless. That's the whole pitch from this morning, made concrete in code you wrote yourself this afternoon.</a:t>
            </a:r>
            <a:endParaRPr lang="en-US" sz="1400" dirty="0"/>
          </a:p>
        </p:txBody>
      </p:sp>
      <p:sp>
        <p:nvSpPr>
          <p:cNvPr id="5" name="Text 3"/>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6" name="Text 4"/>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43 / 44</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420"/>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200" kern="0" dirty="0">
                <a:solidFill>
                  <a:srgbClr val="E8804F"/>
                </a:solidFill>
                <a:latin typeface="Arial" pitchFamily="34" charset="0"/>
                <a:ea typeface="Arial" pitchFamily="34" charset="-122"/>
                <a:cs typeface="Arial" pitchFamily="34" charset="-120"/>
              </a:rPr>
              <a:t>WRAP-UP</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800" b="1" dirty="0">
                <a:solidFill>
                  <a:srgbClr val="EDEFF4"/>
                </a:solidFill>
                <a:latin typeface="Arial" pitchFamily="34" charset="0"/>
                <a:ea typeface="Arial" pitchFamily="34" charset="-122"/>
                <a:cs typeface="Arial" pitchFamily="34" charset="-120"/>
              </a:rPr>
              <a:t>Before you go</a:t>
            </a:r>
            <a:endParaRPr lang="en-US" sz="2800" dirty="0"/>
          </a:p>
        </p:txBody>
      </p:sp>
      <p:sp>
        <p:nvSpPr>
          <p:cNvPr id="4" name="Shape 2"/>
          <p:cNvSpPr/>
          <p:nvPr/>
        </p:nvSpPr>
        <p:spPr>
          <a:xfrm>
            <a:off x="548640" y="1828800"/>
            <a:ext cx="5349240" cy="777240"/>
          </a:xfrm>
          <a:prstGeom prst="roundRect">
            <a:avLst>
              <a:gd name="adj" fmla="val 9412"/>
            </a:avLst>
          </a:prstGeom>
          <a:solidFill>
            <a:srgbClr val="1B2333"/>
          </a:solidFill>
          <a:ln w="12700">
            <a:solidFill>
              <a:srgbClr val="2B3550"/>
            </a:solidFill>
            <a:prstDash val="solid"/>
          </a:ln>
        </p:spPr>
      </p:sp>
      <p:sp>
        <p:nvSpPr>
          <p:cNvPr id="5" name="Shape 3"/>
          <p:cNvSpPr/>
          <p:nvPr/>
        </p:nvSpPr>
        <p:spPr>
          <a:xfrm>
            <a:off x="731520" y="2135124"/>
            <a:ext cx="164592" cy="164592"/>
          </a:xfrm>
          <a:prstGeom prst="roundRect">
            <a:avLst>
              <a:gd name="adj" fmla="val 277778"/>
            </a:avLst>
          </a:prstGeom>
          <a:solidFill>
            <a:srgbClr val="CE422B"/>
          </a:solidFill>
          <a:ln w="12700">
            <a:solidFill>
              <a:srgbClr val="CE422B"/>
            </a:solidFill>
            <a:prstDash val="solid"/>
          </a:ln>
        </p:spPr>
      </p:sp>
      <p:sp>
        <p:nvSpPr>
          <p:cNvPr id="6" name="Text 4"/>
          <p:cNvSpPr/>
          <p:nvPr/>
        </p:nvSpPr>
        <p:spPr>
          <a:xfrm>
            <a:off x="1051560" y="1901952"/>
            <a:ext cx="4617720" cy="630936"/>
          </a:xfrm>
          <a:prstGeom prst="rect">
            <a:avLst/>
          </a:prstGeom>
          <a:noFill/>
          <a:ln/>
        </p:spPr>
        <p:txBody>
          <a:bodyPr wrap="square" rtlCol="0" anchor="ctr"/>
          <a:lstStyle/>
          <a:p>
            <a:pPr indent="0" marL="0">
              <a:lnSpc>
                <a:spcPct val="115000"/>
              </a:lnSpc>
              <a:buNone/>
            </a:pPr>
            <a:r>
              <a:rPr lang="en-US" sz="1200" dirty="0">
                <a:solidFill>
                  <a:srgbClr val="EDEFF4"/>
                </a:solidFill>
                <a:latin typeface="Arial" pitchFamily="34" charset="0"/>
                <a:ea typeface="Arial" pitchFamily="34" charset="-122"/>
                <a:cs typeface="Arial" pitchFamily="34" charset="-120"/>
              </a:rPr>
              <a:t>Push both labs' code to your course repo before you leave</a:t>
            </a:r>
            <a:endParaRPr lang="en-US" sz="1200" dirty="0"/>
          </a:p>
        </p:txBody>
      </p:sp>
      <p:sp>
        <p:nvSpPr>
          <p:cNvPr id="7" name="Shape 5"/>
          <p:cNvSpPr/>
          <p:nvPr/>
        </p:nvSpPr>
        <p:spPr>
          <a:xfrm>
            <a:off x="6263640" y="1828800"/>
            <a:ext cx="5349240" cy="777240"/>
          </a:xfrm>
          <a:prstGeom prst="roundRect">
            <a:avLst>
              <a:gd name="adj" fmla="val 9412"/>
            </a:avLst>
          </a:prstGeom>
          <a:solidFill>
            <a:srgbClr val="1B2333"/>
          </a:solidFill>
          <a:ln w="12700">
            <a:solidFill>
              <a:srgbClr val="2B3550"/>
            </a:solidFill>
            <a:prstDash val="solid"/>
          </a:ln>
        </p:spPr>
      </p:sp>
      <p:sp>
        <p:nvSpPr>
          <p:cNvPr id="8" name="Shape 6"/>
          <p:cNvSpPr/>
          <p:nvPr/>
        </p:nvSpPr>
        <p:spPr>
          <a:xfrm>
            <a:off x="6446520" y="2135124"/>
            <a:ext cx="164592" cy="164592"/>
          </a:xfrm>
          <a:prstGeom prst="roundRect">
            <a:avLst>
              <a:gd name="adj" fmla="val 277778"/>
            </a:avLst>
          </a:prstGeom>
          <a:solidFill>
            <a:srgbClr val="CE422B"/>
          </a:solidFill>
          <a:ln w="12700">
            <a:solidFill>
              <a:srgbClr val="CE422B"/>
            </a:solidFill>
            <a:prstDash val="solid"/>
          </a:ln>
        </p:spPr>
      </p:sp>
      <p:sp>
        <p:nvSpPr>
          <p:cNvPr id="9" name="Text 7"/>
          <p:cNvSpPr/>
          <p:nvPr/>
        </p:nvSpPr>
        <p:spPr>
          <a:xfrm>
            <a:off x="6766560" y="1901952"/>
            <a:ext cx="4617720" cy="630936"/>
          </a:xfrm>
          <a:prstGeom prst="rect">
            <a:avLst/>
          </a:prstGeom>
          <a:noFill/>
          <a:ln/>
        </p:spPr>
        <p:txBody>
          <a:bodyPr wrap="square" rtlCol="0" anchor="ctr"/>
          <a:lstStyle/>
          <a:p>
            <a:pPr indent="0" marL="0">
              <a:lnSpc>
                <a:spcPct val="115000"/>
              </a:lnSpc>
              <a:buNone/>
            </a:pPr>
            <a:r>
              <a:rPr lang="en-US" sz="1200" dirty="0">
                <a:solidFill>
                  <a:srgbClr val="EDEFF4"/>
                </a:solidFill>
                <a:latin typeface="Arial" pitchFamily="34" charset="0"/>
                <a:ea typeface="Arial" pitchFamily="34" charset="-122"/>
                <a:cs typeface="Arial" pitchFamily="34" charset="-120"/>
              </a:rPr>
              <a:t>Keep your Lab 2 timing numbers — we'll revisit them in Day 2's performance module</a:t>
            </a:r>
            <a:endParaRPr lang="en-US" sz="1200" dirty="0"/>
          </a:p>
        </p:txBody>
      </p:sp>
      <p:sp>
        <p:nvSpPr>
          <p:cNvPr id="10" name="Shape 8"/>
          <p:cNvSpPr/>
          <p:nvPr/>
        </p:nvSpPr>
        <p:spPr>
          <a:xfrm>
            <a:off x="548640" y="2752344"/>
            <a:ext cx="5349240" cy="777240"/>
          </a:xfrm>
          <a:prstGeom prst="roundRect">
            <a:avLst>
              <a:gd name="adj" fmla="val 9412"/>
            </a:avLst>
          </a:prstGeom>
          <a:solidFill>
            <a:srgbClr val="1B2333"/>
          </a:solidFill>
          <a:ln w="12700">
            <a:solidFill>
              <a:srgbClr val="2B3550"/>
            </a:solidFill>
            <a:prstDash val="solid"/>
          </a:ln>
        </p:spPr>
      </p:sp>
      <p:sp>
        <p:nvSpPr>
          <p:cNvPr id="11" name="Shape 9"/>
          <p:cNvSpPr/>
          <p:nvPr/>
        </p:nvSpPr>
        <p:spPr>
          <a:xfrm>
            <a:off x="731520" y="3058668"/>
            <a:ext cx="164592" cy="164592"/>
          </a:xfrm>
          <a:prstGeom prst="roundRect">
            <a:avLst>
              <a:gd name="adj" fmla="val 277778"/>
            </a:avLst>
          </a:prstGeom>
          <a:solidFill>
            <a:srgbClr val="CE422B"/>
          </a:solidFill>
          <a:ln w="12700">
            <a:solidFill>
              <a:srgbClr val="CE422B"/>
            </a:solidFill>
            <a:prstDash val="solid"/>
          </a:ln>
        </p:spPr>
      </p:sp>
      <p:sp>
        <p:nvSpPr>
          <p:cNvPr id="12" name="Text 10"/>
          <p:cNvSpPr/>
          <p:nvPr/>
        </p:nvSpPr>
        <p:spPr>
          <a:xfrm>
            <a:off x="1051560" y="2825496"/>
            <a:ext cx="4617720" cy="630936"/>
          </a:xfrm>
          <a:prstGeom prst="rect">
            <a:avLst/>
          </a:prstGeom>
          <a:noFill/>
          <a:ln/>
        </p:spPr>
        <p:txBody>
          <a:bodyPr wrap="square" rtlCol="0" anchor="ctr"/>
          <a:lstStyle/>
          <a:p>
            <a:pPr indent="0" marL="0">
              <a:lnSpc>
                <a:spcPct val="115000"/>
              </a:lnSpc>
              <a:buNone/>
            </a:pPr>
            <a:r>
              <a:rPr lang="en-US" sz="1200" dirty="0">
                <a:solidFill>
                  <a:srgbClr val="EDEFF4"/>
                </a:solidFill>
                <a:latin typeface="Arial" pitchFamily="34" charset="0"/>
                <a:ea typeface="Arial" pitchFamily="34" charset="-122"/>
                <a:cs typeface="Arial" pitchFamily="34" charset="-120"/>
              </a:rPr>
              <a:t>Tomorrow's labs build directly on today's error-handling and concurrency patterns</a:t>
            </a:r>
            <a:endParaRPr lang="en-US" sz="1200" dirty="0"/>
          </a:p>
        </p:txBody>
      </p:sp>
      <p:sp>
        <p:nvSpPr>
          <p:cNvPr id="13" name="Shape 11"/>
          <p:cNvSpPr/>
          <p:nvPr/>
        </p:nvSpPr>
        <p:spPr>
          <a:xfrm>
            <a:off x="6263640" y="2752344"/>
            <a:ext cx="5349240" cy="777240"/>
          </a:xfrm>
          <a:prstGeom prst="roundRect">
            <a:avLst>
              <a:gd name="adj" fmla="val 9412"/>
            </a:avLst>
          </a:prstGeom>
          <a:solidFill>
            <a:srgbClr val="1B2333"/>
          </a:solidFill>
          <a:ln w="12700">
            <a:solidFill>
              <a:srgbClr val="2B3550"/>
            </a:solidFill>
            <a:prstDash val="solid"/>
          </a:ln>
        </p:spPr>
      </p:sp>
      <p:sp>
        <p:nvSpPr>
          <p:cNvPr id="14" name="Shape 12"/>
          <p:cNvSpPr/>
          <p:nvPr/>
        </p:nvSpPr>
        <p:spPr>
          <a:xfrm>
            <a:off x="6446520" y="3058668"/>
            <a:ext cx="164592" cy="164592"/>
          </a:xfrm>
          <a:prstGeom prst="roundRect">
            <a:avLst>
              <a:gd name="adj" fmla="val 277778"/>
            </a:avLst>
          </a:prstGeom>
          <a:solidFill>
            <a:srgbClr val="CE422B"/>
          </a:solidFill>
          <a:ln w="12700">
            <a:solidFill>
              <a:srgbClr val="CE422B"/>
            </a:solidFill>
            <a:prstDash val="solid"/>
          </a:ln>
        </p:spPr>
      </p:sp>
      <p:sp>
        <p:nvSpPr>
          <p:cNvPr id="15" name="Text 13"/>
          <p:cNvSpPr/>
          <p:nvPr/>
        </p:nvSpPr>
        <p:spPr>
          <a:xfrm>
            <a:off x="6766560" y="2825496"/>
            <a:ext cx="4617720" cy="630936"/>
          </a:xfrm>
          <a:prstGeom prst="rect">
            <a:avLst/>
          </a:prstGeom>
          <a:noFill/>
          <a:ln/>
        </p:spPr>
        <p:txBody>
          <a:bodyPr wrap="square" rtlCol="0" anchor="ctr"/>
          <a:lstStyle/>
          <a:p>
            <a:pPr indent="0" marL="0">
              <a:lnSpc>
                <a:spcPct val="115000"/>
              </a:lnSpc>
              <a:buNone/>
            </a:pPr>
            <a:r>
              <a:rPr lang="en-US" sz="1200" dirty="0">
                <a:solidFill>
                  <a:srgbClr val="EDEFF4"/>
                </a:solidFill>
                <a:latin typeface="Arial" pitchFamily="34" charset="0"/>
                <a:ea typeface="Arial" pitchFamily="34" charset="-122"/>
                <a:cs typeface="Arial" pitchFamily="34" charset="-120"/>
              </a:rPr>
              <a:t>Questions that came up today but went unanswered: bring them to tomorrow morning's Q&amp;A</a:t>
            </a:r>
            <a:endParaRPr lang="en-US" sz="1200" dirty="0"/>
          </a:p>
        </p:txBody>
      </p:sp>
      <p:sp>
        <p:nvSpPr>
          <p:cNvPr id="16" name="Shape 14"/>
          <p:cNvSpPr/>
          <p:nvPr/>
        </p:nvSpPr>
        <p:spPr>
          <a:xfrm>
            <a:off x="548640" y="3675888"/>
            <a:ext cx="5349240" cy="777240"/>
          </a:xfrm>
          <a:prstGeom prst="roundRect">
            <a:avLst>
              <a:gd name="adj" fmla="val 9412"/>
            </a:avLst>
          </a:prstGeom>
          <a:solidFill>
            <a:srgbClr val="1B2333"/>
          </a:solidFill>
          <a:ln w="12700">
            <a:solidFill>
              <a:srgbClr val="2B3550"/>
            </a:solidFill>
            <a:prstDash val="solid"/>
          </a:ln>
        </p:spPr>
      </p:sp>
      <p:sp>
        <p:nvSpPr>
          <p:cNvPr id="17" name="Shape 15"/>
          <p:cNvSpPr/>
          <p:nvPr/>
        </p:nvSpPr>
        <p:spPr>
          <a:xfrm>
            <a:off x="731520" y="3982212"/>
            <a:ext cx="164592" cy="164592"/>
          </a:xfrm>
          <a:prstGeom prst="roundRect">
            <a:avLst>
              <a:gd name="adj" fmla="val 277778"/>
            </a:avLst>
          </a:prstGeom>
          <a:solidFill>
            <a:srgbClr val="CE422B"/>
          </a:solidFill>
          <a:ln w="12700">
            <a:solidFill>
              <a:srgbClr val="CE422B"/>
            </a:solidFill>
            <a:prstDash val="solid"/>
          </a:ln>
        </p:spPr>
      </p:sp>
      <p:sp>
        <p:nvSpPr>
          <p:cNvPr id="18" name="Text 16"/>
          <p:cNvSpPr/>
          <p:nvPr/>
        </p:nvSpPr>
        <p:spPr>
          <a:xfrm>
            <a:off x="1051560" y="3749040"/>
            <a:ext cx="4617720" cy="630936"/>
          </a:xfrm>
          <a:prstGeom prst="rect">
            <a:avLst/>
          </a:prstGeom>
          <a:noFill/>
          <a:ln/>
        </p:spPr>
        <p:txBody>
          <a:bodyPr wrap="square" rtlCol="0" anchor="ctr"/>
          <a:lstStyle/>
          <a:p>
            <a:pPr indent="0" marL="0">
              <a:lnSpc>
                <a:spcPct val="115000"/>
              </a:lnSpc>
              <a:buNone/>
            </a:pPr>
            <a:r>
              <a:rPr lang="en-US" sz="1200" dirty="0">
                <a:solidFill>
                  <a:srgbClr val="EDEFF4"/>
                </a:solidFill>
                <a:latin typeface="Arial" pitchFamily="34" charset="0"/>
                <a:ea typeface="Arial" pitchFamily="34" charset="-122"/>
                <a:cs typeface="Arial" pitchFamily="34" charset="-120"/>
              </a:rPr>
              <a:t>Feedback on today's labs is welcome, anytime, on the course portal</a:t>
            </a:r>
            <a:endParaRPr lang="en-US" sz="1200" dirty="0"/>
          </a:p>
        </p:txBody>
      </p:sp>
      <p:sp>
        <p:nvSpPr>
          <p:cNvPr id="19" name="Shape 17"/>
          <p:cNvSpPr/>
          <p:nvPr/>
        </p:nvSpPr>
        <p:spPr>
          <a:xfrm>
            <a:off x="6263640" y="3675888"/>
            <a:ext cx="5349240" cy="777240"/>
          </a:xfrm>
          <a:prstGeom prst="roundRect">
            <a:avLst>
              <a:gd name="adj" fmla="val 9412"/>
            </a:avLst>
          </a:prstGeom>
          <a:solidFill>
            <a:srgbClr val="1B2333"/>
          </a:solidFill>
          <a:ln w="12700">
            <a:solidFill>
              <a:srgbClr val="2B3550"/>
            </a:solidFill>
            <a:prstDash val="solid"/>
          </a:ln>
        </p:spPr>
      </p:sp>
      <p:sp>
        <p:nvSpPr>
          <p:cNvPr id="20" name="Shape 18"/>
          <p:cNvSpPr/>
          <p:nvPr/>
        </p:nvSpPr>
        <p:spPr>
          <a:xfrm>
            <a:off x="6446520" y="3982212"/>
            <a:ext cx="164592" cy="164592"/>
          </a:xfrm>
          <a:prstGeom prst="roundRect">
            <a:avLst>
              <a:gd name="adj" fmla="val 277778"/>
            </a:avLst>
          </a:prstGeom>
          <a:solidFill>
            <a:srgbClr val="CE422B"/>
          </a:solidFill>
          <a:ln w="12700">
            <a:solidFill>
              <a:srgbClr val="CE422B"/>
            </a:solidFill>
            <a:prstDash val="solid"/>
          </a:ln>
        </p:spPr>
      </p:sp>
      <p:sp>
        <p:nvSpPr>
          <p:cNvPr id="21" name="Text 19"/>
          <p:cNvSpPr/>
          <p:nvPr/>
        </p:nvSpPr>
        <p:spPr>
          <a:xfrm>
            <a:off x="6766560" y="3749040"/>
            <a:ext cx="4617720" cy="630936"/>
          </a:xfrm>
          <a:prstGeom prst="rect">
            <a:avLst/>
          </a:prstGeom>
          <a:noFill/>
          <a:ln/>
        </p:spPr>
        <p:txBody>
          <a:bodyPr wrap="square" rtlCol="0" anchor="ctr"/>
          <a:lstStyle/>
          <a:p>
            <a:pPr indent="0" marL="0">
              <a:lnSpc>
                <a:spcPct val="115000"/>
              </a:lnSpc>
              <a:buNone/>
            </a:pPr>
            <a:r>
              <a:rPr lang="en-US" sz="1200" dirty="0">
                <a:solidFill>
                  <a:srgbClr val="EDEFF4"/>
                </a:solidFill>
                <a:latin typeface="Arial" pitchFamily="34" charset="0"/>
                <a:ea typeface="Arial" pitchFamily="34" charset="-122"/>
                <a:cs typeface="Arial" pitchFamily="34" charset="-120"/>
              </a:rPr>
              <a:t>See you tomorrow for Day 2</a:t>
            </a:r>
            <a:endParaRPr lang="en-US" sz="1200" dirty="0"/>
          </a:p>
        </p:txBody>
      </p:sp>
      <p:sp>
        <p:nvSpPr>
          <p:cNvPr id="22" name="Text 20"/>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AA4B8"/>
                </a:solidFill>
                <a:latin typeface="Arial" pitchFamily="34" charset="0"/>
                <a:ea typeface="Arial" pitchFamily="34" charset="-122"/>
                <a:cs typeface="Arial" pitchFamily="34" charset="-120"/>
              </a:rPr>
              <a:t>Rust for Experienced C++ Developers</a:t>
            </a:r>
            <a:endParaRPr lang="en-US" sz="1000" dirty="0"/>
          </a:p>
        </p:txBody>
      </p:sp>
      <p:sp>
        <p:nvSpPr>
          <p:cNvPr id="23" name="Text 21"/>
          <p:cNvSpPr/>
          <p:nvPr/>
        </p:nvSpPr>
        <p:spPr>
          <a:xfrm>
            <a:off x="11155680" y="6537960"/>
            <a:ext cx="731520" cy="274320"/>
          </a:xfrm>
          <a:prstGeom prst="rect">
            <a:avLst/>
          </a:prstGeom>
          <a:noFill/>
          <a:ln/>
        </p:spPr>
        <p:txBody>
          <a:bodyPr wrap="square" rtlCol="0" anchor="ctr"/>
          <a:lstStyle/>
          <a:p>
            <a:pPr algn="r" indent="0" marL="0">
              <a:buNone/>
            </a:pPr>
            <a:r>
              <a:rPr lang="en-US" sz="1000" dirty="0">
                <a:solidFill>
                  <a:srgbClr val="9AA4B8"/>
                </a:solidFill>
                <a:latin typeface="Arial" pitchFamily="34" charset="0"/>
                <a:ea typeface="Arial" pitchFamily="34" charset="-122"/>
                <a:cs typeface="Arial" pitchFamily="34" charset="-120"/>
              </a:rPr>
              <a:t>44 / 44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2026-08-28T18:15:39Z</dcterms:created>
  <dcterms:modified xsi:type="dcterms:W3CDTF">2026-08-28T18:15:39Z</dcterms:modified>
</cp:coreProperties>
</file>