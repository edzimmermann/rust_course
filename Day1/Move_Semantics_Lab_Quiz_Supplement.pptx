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SUPPLEMENT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 + Quiz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Lab Pack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6766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DD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bridge from source-level ownership rules to what LLVM actually sees.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621792" y="2743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0D263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2743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2D1D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56448" y="2743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20163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063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LAB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• break • repair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3063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QUIZ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multiple-choice questions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03336" y="30632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REVEAL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+ answer key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5074920"/>
            <a:ext cx="9326880" cy="50292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22D3E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rule: every step asks “who owns the obligation to destroy/free now?”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 • 35–45 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brief: move the ownership, not the bytes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738360" y="338328"/>
            <a:ext cx="1463040" cy="292608"/>
          </a:xfrm>
          <a:prstGeom prst="rect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4407408"/>
          </a:xfrm>
          <a:prstGeom prst="roundRect">
            <a:avLst>
              <a:gd name="adj" fmla="val 1660"/>
            </a:avLst>
          </a:prstGeom>
          <a:solidFill>
            <a:srgbClr val="10192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5806440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first</a:t>
            </a:r>
            <a:pPr indent="0" marL="0">
              <a:buNone/>
            </a:pPr>
            <a:r>
              <a:rPr lang="en-US" sz="17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before compiling, write down who owns the resource after each line.</a:t>
            </a:r>
            <a:endParaRPr lang="en-US" sz="1720" dirty="0"/>
          </a:p>
          <a:p>
            <a:pPr indent="0" marL="0">
              <a:buNone/>
            </a:pPr>
            <a:r>
              <a:rPr lang="en-US" sz="17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C++ safely</a:t>
            </a:r>
            <a:pPr indent="0" marL="0">
              <a:buNone/>
            </a:pPr>
            <a:r>
              <a:rPr lang="en-US" sz="17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expose the shallow-copy hazard, then delete copying and implement a true ownership handoff.</a:t>
            </a:r>
            <a:endParaRPr lang="en-US" sz="1720" dirty="0"/>
          </a:p>
          <a:p>
            <a:pPr indent="0" marL="0">
              <a:buNone/>
            </a:pPr>
            <a:r>
              <a:rPr lang="en-US" sz="17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Rust complain</a:t>
            </a:r>
            <a:pPr indent="0" marL="0">
              <a:buNone/>
            </a:pPr>
            <a:r>
              <a:rPr lang="en-US" sz="17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trigger a use-after-move diagnostic, then fix the API with borrowing rather than reflexive cloning.</a:t>
            </a:r>
            <a:endParaRPr lang="en-US" sz="1720" dirty="0"/>
          </a:p>
          <a:p>
            <a:pPr indent="0" marL="0">
              <a:buNone/>
            </a:pPr>
            <a:r>
              <a:rPr lang="en-US" sz="17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lowering</a:t>
            </a:r>
            <a:pPr indent="0" marL="0">
              <a:buNone/>
            </a:pPr>
            <a:r>
              <a:rPr lang="en-US" sz="17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emit LLVM IR at O0 and O2 and hunt for what “move” becomes.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7315200" y="1389888"/>
            <a:ext cx="4224528" cy="1920240"/>
          </a:xfrm>
          <a:prstGeom prst="roundRect">
            <a:avLst>
              <a:gd name="adj" fmla="val 3810"/>
            </a:avLst>
          </a:prstGeom>
          <a:solidFill>
            <a:srgbClr val="131C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of engagement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71232" y="2084832"/>
            <a:ext cx="36118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“fix” Rust with clone() unless you can justify a real second owner.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AddressSanitizer for the intentionally broken C++ starter.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one-line ownership ledger as you work.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315200" y="3584448"/>
            <a:ext cx="4224528" cy="2212848"/>
          </a:xfrm>
          <a:prstGeom prst="roundRect">
            <a:avLst>
              <a:gd name="adj" fmla="val 3306"/>
            </a:avLst>
          </a:prstGeom>
          <a:solidFill>
            <a:srgbClr val="1117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71232" y="4279392"/>
            <a:ext cx="34290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clang++ 17+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toolchain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IR / Compiler Explorer (optional)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71232" y="5230368"/>
            <a:ext cx="3520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one answer per transfer → “destructor/drop obligation is now held by ___.”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• C++ OWNERSHIP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— C++: predict, then expose the hazard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966960" y="338328"/>
            <a:ext cx="1143000" cy="29260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80644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73936"/>
            <a:ext cx="547725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Buffer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int* p{};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n{};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explicit Buffer(size_t n)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p(new int[n]), n(n) {}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~Buffer() { delete[] p;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copy/move declarations yet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 a(4);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 b = a;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consume(std::move(a));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48272" y="1389888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you compile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040880" y="2148840"/>
            <a:ext cx="406908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Predict the pointer values in a and b after Buffer b = a.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Predict what std::move(a) itself does.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Which destructors will run, and what will each try to free?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Now compile under AddressSanitizer. Explain the failure.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Delete copy construction/assignment and rebuild. What changed?</a:t>
            </a:r>
            <a:endParaRPr lang="en-US" sz="1510" dirty="0"/>
          </a:p>
        </p:txBody>
      </p:sp>
      <p:sp>
        <p:nvSpPr>
          <p:cNvPr id="16" name="Text 14"/>
          <p:cNvSpPr/>
          <p:nvPr/>
        </p:nvSpPr>
        <p:spPr>
          <a:xfrm>
            <a:off x="7040880" y="5349240"/>
            <a:ext cx="3977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contrast to Rust: C++ does not infer that raw pointer p represents unique ownership.</a:t>
            </a:r>
            <a:endParaRPr lang="en-US" sz="13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• C++ MOVE CONSTRUCTOR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— C++: make the ownership handoff explicit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98932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73936"/>
            <a:ext cx="566013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Buffer(const Buffer&amp;) = delete;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Buffer&amp; operator=(const Buffer&amp;) = delete;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Buffer(Buffer&amp;&amp; other) noexcept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p(/* ? */), n(/* ? */)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restore other's safe state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Buffer&amp; operator=(Buffer&amp;&amp; other) noexcept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release this-&gt;p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take other's p and n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restore other's safe state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*this;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931152" y="1389888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constraints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05472" y="2139696"/>
            <a:ext cx="3913632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7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allocation in the move constructor.</a:t>
            </a:r>
            <a:endParaRPr lang="en-US" sz="1470" dirty="0"/>
          </a:p>
          <a:p>
            <a:pPr indent="0" marL="0">
              <a:buNone/>
            </a:pPr>
            <a:r>
              <a:rPr lang="en-US" sz="14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7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deep copy of the elements.</a:t>
            </a:r>
            <a:endParaRPr lang="en-US" sz="1470" dirty="0"/>
          </a:p>
          <a:p>
            <a:pPr indent="0" marL="0">
              <a:buNone/>
            </a:pPr>
            <a:r>
              <a:rPr lang="en-US" sz="14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7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Destroying the moved-from object must be safe.</a:t>
            </a:r>
            <a:endParaRPr lang="en-US" sz="1470" dirty="0"/>
          </a:p>
          <a:p>
            <a:pPr indent="0" marL="0">
              <a:buNone/>
            </a:pPr>
            <a:r>
              <a:rPr lang="en-US" sz="14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7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assignment must not leak the destination’s old allocation.</a:t>
            </a:r>
            <a:endParaRPr lang="en-US" sz="1470" dirty="0"/>
          </a:p>
          <a:p>
            <a:pPr indent="0" marL="0">
              <a:buNone/>
            </a:pPr>
            <a:r>
              <a:rPr lang="en-US" sz="14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7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move operations noexcept and explain why that matters to containers.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7205472" y="4965192"/>
            <a:ext cx="3895344" cy="658368"/>
          </a:xfrm>
          <a:prstGeom prst="roundRect">
            <a:avLst>
              <a:gd name="adj" fmla="val 11111"/>
            </a:avLst>
          </a:prstGeom>
          <a:solidFill>
            <a:srgbClr val="12202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5129784"/>
            <a:ext cx="3529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after Buffer b = std::move(a), who owns the allocation?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• RUST OWNERSHIP MOVE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— Rust: let the compiler stop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966960" y="338328"/>
            <a:ext cx="1143000" cy="292608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98932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73936"/>
            <a:ext cx="566013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931152" y="1389888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fix it yet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23760" y="2148840"/>
            <a:ext cx="3794760" cy="2852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Compile and read the diagnostic literally.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Why is b allowed to use the Vec but a is not?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Where will the Vec be dropped if the program is corrected?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What would be different if Buffer implemented Copy?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1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pPr indent="0" marL="0">
              <a:buNone/>
            </a:pPr>
            <a:r>
              <a:rPr lang="en-US" sz="15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Compare this failure mode with the C++ raw-pointer starter.</a:t>
            </a:r>
            <a:endParaRPr lang="en-US" sz="1510" dirty="0"/>
          </a:p>
        </p:txBody>
      </p:sp>
      <p:sp>
        <p:nvSpPr>
          <p:cNvPr id="16" name="Text 14"/>
          <p:cNvSpPr/>
          <p:nvPr/>
        </p:nvSpPr>
        <p:spPr>
          <a:xfrm>
            <a:off x="7223760" y="5285232"/>
            <a:ext cx="38130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Rust’s default move is mostly a compile-time permission change: the old binding becomes inaccessible.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• API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— Rust: borrow when you only need access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98932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73936"/>
            <a:ext cx="566013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?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usize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?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"{n}"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Requirement: move a exactly once, later.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931152" y="1389888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the API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23760" y="2148840"/>
            <a:ext cx="37947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inspect so it does not take ownership.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it without clone().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 remains usable after inspection.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move a into b and observe that a is no longer usable.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semantic difference between &amp;T and T in the parameter list.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4864608"/>
            <a:ext cx="3767328" cy="841248"/>
          </a:xfrm>
          <a:prstGeom prst="roundRect">
            <a:avLst>
              <a:gd name="adj" fmla="val 8696"/>
            </a:avLst>
          </a:prstGeom>
          <a:solidFill>
            <a:srgbClr val="0D25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50200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question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59952" y="4983480"/>
            <a:ext cx="20299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a function own T, share &amp;T, or mutate &amp;mut T? Make that choice part of the API contract.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• LOWERING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5 — LLVM: hunt for the “move instruction”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 IR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4892040" cy="3337560"/>
          </a:xfrm>
          <a:prstGeom prst="roundRect">
            <a:avLst>
              <a:gd name="adj" fmla="val 2192"/>
            </a:avLst>
          </a:prstGeom>
          <a:solidFill>
            <a:srgbClr val="070D1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22311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2231136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1016" y="22311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468880"/>
            <a:ext cx="4562856" cy="2825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C++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clang++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-emit-llvm cpp_solution.cpp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cpp-O0.ll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clang++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-emit-llvm cpp_solution.cpp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cpp-O2.ll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opt-level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--emit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llvm-ir rust_solution.rs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rust-O0.ll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opt-level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--emit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llvm-ir rust_solution.rs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rust-O2.ll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6355080" y="1389888"/>
            <a:ext cx="5193792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to answer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47688" y="2139696"/>
            <a:ext cx="4352544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find a universal LLVM instruction whose meaning is “transfer ownership”?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O0, what low-level operations implement the C++ pointer handoff?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Rust arrange for drop to happen—and where does it not?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O2, which transfers or temporaries disappear completely?</a:t>
            </a:r>
            <a:endParaRPr lang="en-US" sz="1460" dirty="0"/>
          </a:p>
          <a:p>
            <a:pPr indent="0" marL="0">
              <a:buNone/>
            </a:pPr>
            <a:r>
              <a:rPr lang="en-US" sz="146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semantics were already decided before LLVM optimization began?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6647688" y="5074920"/>
            <a:ext cx="431596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insight: LLVM optimizes loads, stores, calls and lifetimes—not “ownership” as a first-class move opcode.</a:t>
            </a:r>
            <a:endParaRPr lang="en-US" sz="13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 • DEBRIEF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hand-in: a one-page ownership ledger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6967728" cy="4526280"/>
          </a:xfrm>
          <a:prstGeom prst="roundRect">
            <a:avLst>
              <a:gd name="adj" fmla="val 1616"/>
            </a:avLst>
          </a:prstGeom>
          <a:solidFill>
            <a:srgbClr val="1019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this table as a pair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1965960" cy="502920"/>
          </a:xfrm>
          <a:prstGeom prst="rect">
            <a:avLst/>
          </a:prstGeom>
          <a:solidFill>
            <a:srgbClr val="163A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23113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2834640" y="2148840"/>
            <a:ext cx="2267712" cy="502920"/>
          </a:xfrm>
          <a:prstGeom prst="rect">
            <a:avLst/>
          </a:prstGeom>
          <a:solidFill>
            <a:srgbClr val="163A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23113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102352" y="2148840"/>
            <a:ext cx="2240280" cy="502920"/>
          </a:xfrm>
          <a:prstGeom prst="rect">
            <a:avLst/>
          </a:prstGeom>
          <a:solidFill>
            <a:srgbClr val="163A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23113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68680" y="2651760"/>
            <a:ext cx="196596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73405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owning value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2834640" y="2651760"/>
            <a:ext cx="2267712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73405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or move depends on overloads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5102352" y="2651760"/>
            <a:ext cx="224028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273405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unless Copy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868680" y="3154680"/>
            <a:ext cx="196596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23697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old source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2834640" y="3154680"/>
            <a:ext cx="2267712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323697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allowed; state depends on contract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5102352" y="3154680"/>
            <a:ext cx="224028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323697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after move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868680" y="3657600"/>
            <a:ext cx="196596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73989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without transfer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2834640" y="3657600"/>
            <a:ext cx="2267712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373989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 T&amp; / T const&amp;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5102352" y="3657600"/>
            <a:ext cx="224028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73989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868680" y="4160520"/>
            <a:ext cx="196596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424281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obligation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2834640" y="4160520"/>
            <a:ext cx="2267712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424281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object invariant + RAII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5102352" y="4160520"/>
            <a:ext cx="224028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75504" y="424281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owner gets Drop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868680" y="4663440"/>
            <a:ext cx="196596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4745736"/>
            <a:ext cx="1819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IR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2834640" y="4663440"/>
            <a:ext cx="2267712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4745736"/>
            <a:ext cx="2121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Loads/stores/calls; move may vanish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5102352" y="4663440"/>
            <a:ext cx="2240280" cy="502920"/>
          </a:xfrm>
          <a:prstGeom prst="rect">
            <a:avLst/>
          </a:prstGeom>
          <a:solidFill>
            <a:srgbClr val="0C1425"/>
          </a:solidFill>
          <a:ln w="10160">
            <a:solidFill>
              <a:srgbClr val="2432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5504" y="4745736"/>
            <a:ext cx="2093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Loads/stores/drop glue; move may vanish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7882128" y="138988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01A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56448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debrief prompts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8156448" y="224028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0456" y="23134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0" y="231343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cleanup now?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56448" y="28346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0456" y="2907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3920" y="29077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state is the old name in?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56448" y="34290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0456" y="3502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03920" y="35021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survives into LLVM?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279392"/>
            <a:ext cx="2880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 rewrite one owning parameter in each language as a non-owning parameter. Explain the API change, not just the syntax.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AB3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• NO PEEKING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— questions 1–2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46177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std::move(x) do by itself?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Destroys x after transferring its resource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3038094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Casts x to an xvalue so move-enabled overloads can be selected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41248" y="3936492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Invokes x’s move constructor immediately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41248" y="4834890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Sets owning pointers inside x to null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81928" y="1389888"/>
            <a:ext cx="5266944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0296" y="1508760"/>
            <a:ext cx="44439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moving from a standard-library object in C++, what is generally guaranteed?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01384" y="2139696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The source object has already been destroyed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01384" y="3038094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The source retains the same value as before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01384" y="3936492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The source remains valid but its value is usually unspecified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501384" y="4834890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Destroying the source has undefined behavior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AB3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• OWNERSHIP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— questions 3–4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46177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Rust, String is not Copy. What does let b = a; mean?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A deep copy of the heap buffer is made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3038094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The reference count is incremented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41248" y="3936492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Ownership moves to b and a can no longer be used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41248" y="4834890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b becomes a shared borrow of a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81928" y="1389888"/>
            <a:ext cx="5266944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0296" y="1508760"/>
            <a:ext cx="44439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let y = x; behave differently when x: i32?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01384" y="2139696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i32 is moved but the compiler silently recreates x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01384" y="3038094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i32 implements Copy, so the value is duplicated and x remains usable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01384" y="3936492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Primitive values are always heap allocated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501384" y="4834890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Rust automatically calls clone() for all primitives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AB3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• BORROWING AND ELISION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— questions 5–6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46177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 Rust parameter of type &amp;T normally express?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Transfer ownership of T to the callee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3038094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Shared read-only access without transferring ownership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41248" y="3936492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Create a permanent alias that outlives 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41248" y="4834890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Clone T before entering the function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81928" y="1389888"/>
            <a:ext cx="5266944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0296" y="1508760"/>
            <a:ext cx="44439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C++17 case covered by guaranteed copy elision, T x = make_T(); may…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01384" y="2139696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Require a move constructor call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01384" y="3038094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Require a copy constructor call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01384" y="3936492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Construct the result directly in x without a copy/move operation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501384" y="4834890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Allocate x on the heap automatically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AB3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• UNDER THE HOOD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— questions 7–8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46177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 best describes move semantics at LLVM IR level?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LLVM has a dedicated ownership-move instruction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41248" y="3038094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Ownership metadata must survive unchanged into machine code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41248" y="3936492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Moves lower to ordinary operations/calls and can be optimized away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41248" y="4834890"/>
            <a:ext cx="5001768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Every Rust move lowers to memcpy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81928" y="1389888"/>
            <a:ext cx="5266944" cy="4526280"/>
          </a:xfrm>
          <a:prstGeom prst="roundRect">
            <a:avLst>
              <a:gd name="adj" fmla="val 1616"/>
            </a:avLst>
          </a:prstGeom>
          <a:solidFill>
            <a:srgbClr val="0C1425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361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0296" y="1508760"/>
            <a:ext cx="44439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performance statement is the safest?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01384" y="2139696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Every move is O(1)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01384" y="3038094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A Rust move is always faster than a C++ move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01384" y="3936492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Every move copies all bytes in the owned allocation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501384" y="4834890"/>
            <a:ext cx="4828032" cy="852678"/>
          </a:xfrm>
          <a:prstGeom prst="rect">
            <a:avLst/>
          </a:prstGeom>
          <a:solidFill>
            <a:srgbClr val="152138">
              <a:alpha val="82000"/>
            </a:srgbClr>
          </a:solidFill>
          <a:ln w="8890">
            <a:solidFill>
              <a:srgbClr val="2636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6E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Move is a semantic transfer; actual cost depends on representation and optimization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• AFTER THE QUIZ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lab solution — C++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635508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73936"/>
            <a:ext cx="602589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Buffer(const Buffer&amp;) = delete;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Buffer&amp; operator=(const Buffer&amp;) = delete;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Buffer(Buffer&amp;&amp; other) noexcept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p(std::exchange(other.p, nullptr)),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n(std::exchange(other.n, 0)) {}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Buffer&amp; operator=(Buffer&amp;&amp; other) noexcept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(this != &amp;other)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delete[] 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std::exchange(other.p, nullptr);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std::exchange(other.n, 0);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*this;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96912" y="1389888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1019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works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71232" y="2139696"/>
            <a:ext cx="3493008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destination receives the pointer and size.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Neutralize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source is reset to an empty state chosen by this class.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Destroy safely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delete[] nullptr is valid, so the moved-from destructor is harmless.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safely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the destination releases its old resource before taking the new one.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noexcept</a:t>
            </a:r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enables many standard containers to prefer moving during reallocation.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71232" y="5193792"/>
            <a:ext cx="349300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C++ only requires whatever moved-from contract your type promises; “empty” is a design choice here.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• BORROW VS 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lab solution — Rust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389888"/>
            <a:ext cx="6355080" cy="4526280"/>
          </a:xfrm>
          <a:prstGeom prst="roundRect">
            <a:avLst>
              <a:gd name="adj" fmla="val 1616"/>
            </a:avLst>
          </a:prstGeom>
          <a:solidFill>
            <a:srgbClr val="070D1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53619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53619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73936"/>
            <a:ext cx="6025896" cy="4014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usize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borrow: a still valid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move: a invalid for use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move again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296912" y="1389888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1019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ledger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71232" y="2176272"/>
            <a:ext cx="1078992" cy="310896"/>
          </a:xfrm>
          <a:prstGeom prst="rect">
            <a:avLst/>
          </a:prstGeom>
          <a:solidFill>
            <a:srgbClr val="172338"/>
          </a:solidFill>
          <a:ln w="8890">
            <a:solidFill>
              <a:srgbClr val="24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96528" y="2176272"/>
            <a:ext cx="2331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Buffer + Vec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571232" y="2743200"/>
            <a:ext cx="1078992" cy="310896"/>
          </a:xfrm>
          <a:prstGeom prst="rect">
            <a:avLst/>
          </a:prstGeom>
          <a:solidFill>
            <a:srgbClr val="172338"/>
          </a:solidFill>
          <a:ln w="8890">
            <a:solidFill>
              <a:srgbClr val="24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&amp;a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96528" y="2743200"/>
            <a:ext cx="2331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shared access; owner unchanged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7571232" y="3310128"/>
            <a:ext cx="1078992" cy="310896"/>
          </a:xfrm>
          <a:prstGeom prst="rect">
            <a:avLst/>
          </a:prstGeom>
          <a:solidFill>
            <a:srgbClr val="172338"/>
          </a:solidFill>
          <a:ln w="8890">
            <a:solidFill>
              <a:srgbClr val="24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96528" y="3310128"/>
            <a:ext cx="2331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becomes owner; a is inaccessible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571232" y="3877056"/>
            <a:ext cx="1078992" cy="310896"/>
          </a:xfrm>
          <a:prstGeom prst="rect">
            <a:avLst/>
          </a:prstGeom>
          <a:solidFill>
            <a:srgbClr val="172338"/>
          </a:solidFill>
          <a:ln w="8890">
            <a:solidFill>
              <a:srgbClr val="24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consume(b)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96528" y="3877056"/>
            <a:ext cx="2331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callee owns b for the call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7571232" y="4443984"/>
            <a:ext cx="1078992" cy="310896"/>
          </a:xfrm>
          <a:prstGeom prst="rect">
            <a:avLst/>
          </a:prstGeom>
          <a:solidFill>
            <a:srgbClr val="172338"/>
          </a:solidFill>
          <a:ln w="8890">
            <a:solidFill>
              <a:srgbClr val="24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96528" y="4443984"/>
            <a:ext cx="2331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callee drops Buffer/Vec exactly once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571232" y="5230368"/>
            <a:ext cx="349300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clone() is not a borrow. It creates another owned value and should reflect a real semantic need.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• SEMANTICS → LOWERING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lab solution — what LLVM should teach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3493008" cy="3401568"/>
          </a:xfrm>
          <a:prstGeom prst="roundRect">
            <a:avLst>
              <a:gd name="adj" fmla="val 2151"/>
            </a:avLst>
          </a:prstGeom>
          <a:solidFill>
            <a:srgbClr val="1019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85623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at O0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395728"/>
            <a:ext cx="310896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16736" y="2386584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source pointer/size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877824" y="2971800"/>
            <a:ext cx="310896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16736" y="2962656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into destination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877824" y="3547872"/>
            <a:ext cx="310896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16736" y="3538728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null/0 into source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877824" y="4123944"/>
            <a:ext cx="310896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16736" y="4114800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destructor calls remain visible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4352544" y="1572768"/>
            <a:ext cx="3493008" cy="3401568"/>
          </a:xfrm>
          <a:prstGeom prst="roundRect">
            <a:avLst>
              <a:gd name="adj" fmla="val 2151"/>
            </a:avLst>
          </a:prstGeom>
          <a:solidFill>
            <a:srgbClr val="10192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85623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at O0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08576" y="2395728"/>
            <a:ext cx="310896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7488" y="2386584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fields are transferred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4608576" y="2971800"/>
            <a:ext cx="310896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2962656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glue tracks current owner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4608576" y="3547872"/>
            <a:ext cx="310896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3538728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moved-from binding is not dropped as owner</a:t>
            </a:r>
            <a:endParaRPr lang="en-US" sz="1310" dirty="0"/>
          </a:p>
        </p:txBody>
      </p:sp>
      <p:sp>
        <p:nvSpPr>
          <p:cNvPr id="25" name="Text 23"/>
          <p:cNvSpPr/>
          <p:nvPr/>
        </p:nvSpPr>
        <p:spPr>
          <a:xfrm>
            <a:off x="4608576" y="4123944"/>
            <a:ext cx="310896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016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47488" y="4114800"/>
            <a:ext cx="254203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checks already happened earlier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8083296" y="1572768"/>
            <a:ext cx="3465576" cy="3401568"/>
          </a:xfrm>
          <a:prstGeom prst="roundRect">
            <a:avLst>
              <a:gd name="adj" fmla="val 2151"/>
            </a:avLst>
          </a:prstGeom>
          <a:solidFill>
            <a:srgbClr val="1019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85623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O2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39328" y="2395728"/>
            <a:ext cx="310896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238658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moves may disappear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8339328" y="2971800"/>
            <a:ext cx="310896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296265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can fold or vanish</a:t>
            </a:r>
            <a:endParaRPr lang="en-US" sz="1310" dirty="0"/>
          </a:p>
        </p:txBody>
      </p:sp>
      <p:sp>
        <p:nvSpPr>
          <p:cNvPr id="33" name="Text 31"/>
          <p:cNvSpPr/>
          <p:nvPr/>
        </p:nvSpPr>
        <p:spPr>
          <a:xfrm>
            <a:off x="8339328" y="3547872"/>
            <a:ext cx="310896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3538728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constructors/drop glue may inline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8339328" y="4123944"/>
            <a:ext cx="310896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4114800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 preserves effects, not source syntax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2331720" y="5413248"/>
            <a:ext cx="74980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41248" y="5230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 decides legality + lifetime/drop obligations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6894576" y="5230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sees ordinary IR and optimizes consequences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2240280" y="5870448"/>
            <a:ext cx="7772400" cy="438912"/>
          </a:xfrm>
          <a:prstGeom prst="rect">
            <a:avLst/>
          </a:prstGeom>
          <a:solidFill>
            <a:srgbClr val="0C192B"/>
          </a:solidFill>
          <a:ln w="12700">
            <a:solidFill>
              <a:srgbClr val="22D3EE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universal “ownership move” opcode is required for either language.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 • EXPLAIN THE WHY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answers — 1–4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4712" y="1563624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27632" y="1554480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std::move is essentially a cast that enables move-aware overload resolution; it does not transfer resources on its own.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13232" y="2048256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87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2578608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27632" y="2569464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Moved-from standard-library objects are generally valid but have an unspecified value unless a stronger postcondition is documented.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3232" y="3063240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027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4712" y="3593592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27632" y="3584448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non-Copy values such as String, assignment transfers ownership; the old binding is rejected on later use.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4078224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617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4712" y="4608576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27632" y="4599432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i32 implements Copy, so assignment duplicates its value and the source remains usable.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13232" y="5093208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prompt: can the learner explain each answer in terms of “who owns cleanup now?”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83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 • SOURCE SEMANTICS VS GENERATED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9006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answers — 5–8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47104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 • C++ ↔ Rust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4712" y="1563624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27632" y="1554480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 grants shared access without transferring ownership; the original owner remains responsible for Drop.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13232" y="2048256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87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2578608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27632" y="2569464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C++17 guaranteed-elision cases, the result can be constructed directly in the destination object with no copy/move call.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3232" y="3063240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027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4712" y="3593592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27632" y="3584448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has no general ownership-move instruction; front ends lower semantics to normal IR operations that optimizers can rewrite or remove.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4078224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617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4712" y="4608576"/>
            <a:ext cx="347472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27632" y="4599432"/>
            <a:ext cx="97840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“Move” is a semantic idea, not a fixed cost model. Cost depends on the type’s representation, move implementation and optimization.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13232" y="5093208"/>
            <a:ext cx="10698480" cy="0"/>
          </a:xfrm>
          <a:prstGeom prst="line">
            <a:avLst/>
          </a:prstGeom>
          <a:noFill/>
          <a:ln w="8890">
            <a:solidFill>
              <a:srgbClr val="2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teaching test: if students can distinguish semantic transfer from physical data movement, the lesson landed.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Semantics — Hands-on Lab + Quiz Supplement</dc:title>
  <dc:subject>PptxGenJS Presentation</dc:subject>
  <dc:creator>OpenAI</dc:creator>
  <cp:lastModifiedBy>OpenAI</cp:lastModifiedBy>
  <cp:revision>1</cp:revision>
  <dcterms:created xsi:type="dcterms:W3CDTF">2026-09-12T22:20:42Z</dcterms:created>
  <dcterms:modified xsi:type="dcterms:W3CDTF">2026-09-12T22:20:42Z</dcterms:modified>
</cp:coreProperties>
</file>