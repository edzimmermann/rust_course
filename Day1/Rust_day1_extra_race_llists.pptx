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5087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88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548640" y="22860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— Supplementary Slides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2788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Deeper pitfalls, held in reserve for when the conversation goes there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1B2333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931920"/>
            <a:ext cx="27660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Conditions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314700" y="3931920"/>
            <a:ext cx="27660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 Lists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14700" y="3794760"/>
            <a:ext cx="0" cy="1143000"/>
          </a:xfrm>
          <a:prstGeom prst="line">
            <a:avLst/>
          </a:prstGeom>
          <a:noFill/>
          <a:ln w="12700">
            <a:solidFill>
              <a:srgbClr val="2B35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80760" y="3931920"/>
            <a:ext cx="27660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Inheritance → Traits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80760" y="3794760"/>
            <a:ext cx="0" cy="1143000"/>
          </a:xfrm>
          <a:prstGeom prst="line">
            <a:avLst/>
          </a:prstGeom>
          <a:noFill/>
          <a:ln w="12700">
            <a:solidFill>
              <a:srgbClr val="2B35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46820" y="3931920"/>
            <a:ext cx="27660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8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Part of the Main Flow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846820" y="3794760"/>
            <a:ext cx="0" cy="1143000"/>
          </a:xfrm>
          <a:prstGeom prst="line">
            <a:avLst/>
          </a:prstGeom>
          <a:noFill/>
          <a:ln w="12700">
            <a:solidFill>
              <a:srgbClr val="2B35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5349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deck isn't meant to be presented start to finish — it's reference material for the questions that come up when a room full of experienced C++ engineers starts probing.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USE THIS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self-contained deep-dives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444752"/>
          </a:xfrm>
          <a:prstGeom prst="roundRect">
            <a:avLst>
              <a:gd name="adj" fmla="val 4430"/>
            </a:avLst>
          </a:prstGeom>
          <a:solidFill>
            <a:srgbClr val="1B2333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221992"/>
            <a:ext cx="201168" cy="201168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600200"/>
            <a:ext cx="1024128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section stands alone —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up whichever one matches the question in the room; none of them depend on the others.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11064240" cy="1444752"/>
          </a:xfrm>
          <a:prstGeom prst="roundRect">
            <a:avLst>
              <a:gd name="adj" fmla="val 4430"/>
            </a:avLst>
          </a:prstGeom>
          <a:solidFill>
            <a:srgbClr val="1B2333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776472"/>
            <a:ext cx="201168" cy="201168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3154680"/>
            <a:ext cx="1024128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assume the audience has already been through Day 1's core modules —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Ownership, Borrowing, Concurrency, and Traits &amp; Generics are referenced directly, not re-explained.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709160"/>
            <a:ext cx="11064240" cy="1444752"/>
          </a:xfrm>
          <a:prstGeom prst="roundRect">
            <a:avLst>
              <a:gd name="adj" fmla="val 4430"/>
            </a:avLst>
          </a:prstGeom>
          <a:solidFill>
            <a:srgbClr val="1B2333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5330952"/>
            <a:ext cx="201168" cy="201168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4709160"/>
            <a:ext cx="1024128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deliberately the harder, more honest half of each topic —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earlier decks emphasized what Rust makes easy, these slides are about where it doesn't, and why.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for Experienced C++ Developers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15568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38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651760"/>
            <a:ext cx="1371600" cy="1371600"/>
          </a:xfrm>
          <a:prstGeom prst="roundRect">
            <a:avLst>
              <a:gd name="adj" fmla="val 6667"/>
            </a:avLst>
          </a:prstGeom>
          <a:solidFill>
            <a:srgbClr val="202A40"/>
          </a:solidFill>
          <a:ln w="19050">
            <a:solidFill>
              <a:srgbClr val="CE42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65176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8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194560" y="2743200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Conditions That Compile Just Fine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194560" y="347472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Rust's concurrency guarantee actually covers — and the real gap right next to it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for Experienced C++ Developers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38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CONDITIONS THAT COMPILE JUST FINE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different words, two different guarantees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distinction is the single most common misunderstanding about Rust's concurrency story — worth having crisp if the question comes up.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21992"/>
            <a:ext cx="11064240" cy="1237488"/>
          </a:xfrm>
          <a:prstGeom prst="roundRect">
            <a:avLst>
              <a:gd name="adj" fmla="val 5172"/>
            </a:avLst>
          </a:prstGeom>
          <a:solidFill>
            <a:srgbClr val="1B2333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740152"/>
            <a:ext cx="201168" cy="201168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221992"/>
            <a:ext cx="10241280" cy="1237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race: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threads access the same memory, at least one writes, with no synchronization. Undefined behavior in C++. A compile-time error in safe Rust — the type system genuinely rules this out.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569208"/>
            <a:ext cx="11064240" cy="1237488"/>
          </a:xfrm>
          <a:prstGeom prst="roundRect">
            <a:avLst>
              <a:gd name="adj" fmla="val 5172"/>
            </a:avLst>
          </a:prstGeom>
          <a:solidFill>
            <a:srgbClr val="1B2333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087368"/>
            <a:ext cx="201168" cy="201168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3569208"/>
            <a:ext cx="10241280" cy="1237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condition: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correctness of a result depends on timing or interleaving, even when every individual memory access is perfectly synchronized. Rust's type system has no opinion on this at all.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916424"/>
            <a:ext cx="11064240" cy="1237488"/>
          </a:xfrm>
          <a:prstGeom prst="roundRect">
            <a:avLst>
              <a:gd name="adj" fmla="val 5172"/>
            </a:avLst>
          </a:prstGeom>
          <a:solidFill>
            <a:srgbClr val="1B2333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5434584"/>
            <a:ext cx="201168" cy="201168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4916424"/>
            <a:ext cx="10241280" cy="1237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example on the next few slides compiles cleanly, uses the correct synchronization primitive, and produces a wrong answer anyway.  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for Experienced C++ Developers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15568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38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CONDITIONS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lost update — same bug, both languages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3246120"/>
          </a:xfrm>
          <a:prstGeom prst="roundRect">
            <a:avLst>
              <a:gd name="adj" fmla="val 2535"/>
            </a:avLst>
          </a:prstGeom>
          <a:solidFill>
            <a:srgbClr val="1B2333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92808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22283A"/>
          </a:solidFill>
          <a:ln w="12700">
            <a:solidFill>
              <a:srgbClr val="3E8F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928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E8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C++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80160" y="191109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E8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4800600" cy="1417320"/>
          </a:xfrm>
          <a:prstGeom prst="rect">
            <a:avLst/>
          </a:prstGeom>
          <a:solidFill>
            <a:srgbClr val="141A28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std::atomic&lt;int&gt; counter{0};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100 threads, each running: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cur = counter.load();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counter.store(cur + 1);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final count: often NOT 100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4023360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operations are individually synchronized — no data race, no UB. But two threads can both load() the same value before either store()s, and one increment is silently lost.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5349240" cy="3246120"/>
          </a:xfrm>
          <a:prstGeom prst="roundRect">
            <a:avLst>
              <a:gd name="adj" fmla="val 2535"/>
            </a:avLst>
          </a:prstGeom>
          <a:solidFill>
            <a:srgbClr val="1B2333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1892808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2E2019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8928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8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95160" y="191109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8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37960" y="2468880"/>
            <a:ext cx="4800600" cy="1417320"/>
          </a:xfrm>
          <a:prstGeom prst="rect">
            <a:avLst/>
          </a:prstGeom>
          <a:solidFill>
            <a:srgbClr val="141A28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counter = AtomicUsize::new(0);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100 threads, each running: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cur = counter.load(Relaxed);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counter.store(cur + 1, Relaxed);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final count: often NOT 100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37960" y="4023360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compiles without a single warning. AtomicUsize is being used "correctly" in the sense that every access is atomic — the bug is that load-then-store isn't one atomic operation.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5102352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202A40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10235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8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 </a:t>
            </a:r>
            <a:pPr indent="0" marL="0">
              <a:buNone/>
            </a:pPr>
            <a:r>
              <a:rPr lang="en-US" sz="1150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languages are equally happy to compile this. Rust's guarantee is about the safety of each individual access, not about whether you composed them into a correct algorithm.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for Experienced C++ Developers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15568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38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CONDITIONS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fix: a real atomic read-modify-write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2468880"/>
          </a:xfrm>
          <a:prstGeom prst="roundRect">
            <a:avLst>
              <a:gd name="adj" fmla="val 3333"/>
            </a:avLst>
          </a:prstGeom>
          <a:solidFill>
            <a:srgbClr val="1B2333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55648"/>
            <a:ext cx="10607040" cy="2249424"/>
          </a:xfrm>
          <a:prstGeom prst="rect">
            <a:avLst/>
          </a:prstGeom>
          <a:solidFill>
            <a:srgbClr val="141A28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C++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counter.fetch_add(1, std::memory_order_relaxed);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or simply: counter++;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Rust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counter.fetch_add(1, Ordering::Relaxed);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4251960"/>
            <a:ext cx="11064240" cy="2057400"/>
          </a:xfrm>
          <a:prstGeom prst="roundRect">
            <a:avLst>
              <a:gd name="adj" fmla="val 3556"/>
            </a:avLst>
          </a:prstGeom>
          <a:solidFill>
            <a:srgbClr val="202A40"/>
          </a:solidFill>
          <a:ln w="12700">
            <a:solidFill>
              <a:srgbClr val="58C2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4370832"/>
            <a:ext cx="10607040" cy="1819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58C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works:  </a:t>
            </a:r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fetch_add performs the read, the increment, and the write as one indivisible hardware operation — there's no window between them for another thread to interleave. This is the whole reason fetch_add, compare_exchange, and friends exist as distinct methods instead of just load and store.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for Experienced C++ Developers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15568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38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CONDITIONS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Check-then-act — the classic TOCTOU bug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3246120"/>
          </a:xfrm>
          <a:prstGeom prst="roundRect">
            <a:avLst>
              <a:gd name="adj" fmla="val 2535"/>
            </a:avLst>
          </a:prstGeom>
          <a:solidFill>
            <a:srgbClr val="1B2333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92808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22283A"/>
          </a:solidFill>
          <a:ln w="12700">
            <a:solidFill>
              <a:srgbClr val="3E8F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928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E8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C++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80160" y="191109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E8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4800600" cy="1417320"/>
          </a:xfrm>
          <a:prstGeom prst="rect">
            <a:avLst/>
          </a:prstGeom>
          <a:solidFill>
            <a:srgbClr val="141A28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 balance() const 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std::lock_guard l(m); return balance_;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withdraw(long amt) 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(balance() &gt;= amt) {         // lock #1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std::lock_guard l(m);          // lock #2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balance_ -= amt; return true;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false;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4023360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access to balance_ is properly locked. But the check (lock #1) and the act (lock #2) are two separate critical sections — another thread's withdrawal can land in between them.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5349240" cy="3246120"/>
          </a:xfrm>
          <a:prstGeom prst="roundRect">
            <a:avLst>
              <a:gd name="adj" fmla="val 2535"/>
            </a:avLst>
          </a:prstGeom>
          <a:solidFill>
            <a:srgbClr val="1B2333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1892808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2E2019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8928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8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95160" y="191109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8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37960" y="2468880"/>
            <a:ext cx="4800600" cy="1417320"/>
          </a:xfrm>
          <a:prstGeom prst="rect">
            <a:avLst/>
          </a:prstGeom>
          <a:solidFill>
            <a:srgbClr val="141A28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 balance(&amp;self) -&gt; i64 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*self.balance.lock().unwrap()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 withdraw(&amp;self, amt: i64) -&gt; bool 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self.balance() &gt;= amt {      // lock #1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*self.balance.lock().unwrap() -= amt; // lock #2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true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else { false }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37960" y="4023360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 shape, identical bug. Mutex&lt;i64&gt; guarantees no two threads ever touch the raw i64 at once — it says nothing about whether your check and your act happen atomically together.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5102352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202A40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10235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8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 </a:t>
            </a:r>
            <a:pPr indent="0" marL="0">
              <a:buNone/>
            </a:pPr>
            <a:r>
              <a:rPr lang="en-US" sz="1150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Time-Of-Check-To-Time-Of-Use (TOCTOU) bugs are a named, well-known category precisely because "lock, check, unlock, lock again, act" feels safe and reads safe, in every language that has mutexes.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for Experienced C++ Developers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15568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38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CONDITIONS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fix: one lock, covering the whole decision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2834640"/>
          </a:xfrm>
          <a:prstGeom prst="roundRect">
            <a:avLst>
              <a:gd name="adj" fmla="val 2903"/>
            </a:avLst>
          </a:prstGeom>
          <a:solidFill>
            <a:srgbClr val="1B2333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55648"/>
            <a:ext cx="10607040" cy="2615184"/>
          </a:xfrm>
          <a:prstGeom prst="rect">
            <a:avLst/>
          </a:prstGeom>
          <a:solidFill>
            <a:srgbClr val="141A28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 withdraw(&amp;self, amount: i64) -&gt; bool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mut balance = self.balance.lock().unwrap();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*balance &gt;= amount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*balance -= amount;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true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else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false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4617720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202A40"/>
          </a:solidFill>
          <a:ln w="12700">
            <a:solidFill>
              <a:srgbClr val="58C2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4736592"/>
            <a:ext cx="10607040" cy="1453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58C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works:  </a:t>
            </a:r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check and the mutation now happen under a single MutexGuard — no other thread can observe or modify balance anywhere in between. The C++ fix is the same shape: one lock_guard spanning both the read and the write.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for Experienced C++ Developers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15568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38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CONDITIONS THAT COMPILE JUST FINE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hazards worth knowing the names of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full examples — good discussion prompts if the conversation goes here.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21992"/>
            <a:ext cx="11064240" cy="1237488"/>
          </a:xfrm>
          <a:prstGeom prst="roundRect">
            <a:avLst>
              <a:gd name="adj" fmla="val 5172"/>
            </a:avLst>
          </a:prstGeom>
          <a:solidFill>
            <a:srgbClr val="1B2333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740152"/>
            <a:ext cx="201168" cy="201168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221992"/>
            <a:ext cx="10241280" cy="1237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ordering pitfalls: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Ordering::Relaxed where a signal is supposed to "publish" other writes needs Ordering::Release/Acquire instead — compiles fine, may even pass tests on x86, and can fail on architectures with weaker memory models.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569208"/>
            <a:ext cx="11064240" cy="1237488"/>
          </a:xfrm>
          <a:prstGeom prst="roundRect">
            <a:avLst>
              <a:gd name="adj" fmla="val 5172"/>
            </a:avLst>
          </a:prstGeom>
          <a:solidFill>
            <a:srgbClr val="1B2333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087368"/>
            <a:ext cx="201168" cy="201168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3569208"/>
            <a:ext cx="10241280" cy="1237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Deadlock via inconsistent lock order: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 A locks (X, then Y); thread B locks (Y, then X). Not a race condition at all — a different, equally real hazard that also compiles without complaint in either language.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916424"/>
            <a:ext cx="11064240" cy="1237488"/>
          </a:xfrm>
          <a:prstGeom prst="roundRect">
            <a:avLst>
              <a:gd name="adj" fmla="val 5172"/>
            </a:avLst>
          </a:prstGeom>
          <a:solidFill>
            <a:srgbClr val="1B2333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5434584"/>
            <a:ext cx="201168" cy="201168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4916424"/>
            <a:ext cx="10241280" cy="1237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Livelock: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threads perpetually yielding to each other to avoid a conflict, making no forward progress — rarer, but a good one to know the name of.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for Experienced C++ Developers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15568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38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E4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CONDITIONS THAT COMPILE JUST FINE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110642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Atomics and mutexes give you safe access to shared memory. They don't give you a correct algorithm for free.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443484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second part was always your job, in C++ and in Rust alike. What changed is that the first part — the part that used to cause segfaults and heisenbugs — is now the compiler's job instead of yours.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for Experienced C++ Developers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38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651760"/>
            <a:ext cx="1371600" cy="1371600"/>
          </a:xfrm>
          <a:prstGeom prst="roundRect">
            <a:avLst>
              <a:gd name="adj" fmla="val 6667"/>
            </a:avLst>
          </a:prstGeom>
          <a:solidFill>
            <a:srgbClr val="202A40"/>
          </a:solidFill>
          <a:ln w="19050">
            <a:solidFill>
              <a:srgbClr val="CE42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65176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8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194560" y="2743200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 Lists: Where Ownership Gets Real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194560" y="347472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famous rite of passage — and what it actually teaches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for Experienced C++ Developers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38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 LISTS: WHERE OWNERSHIP GETS REAL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famous rite of passage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2221992"/>
          </a:xfrm>
          <a:prstGeom prst="roundRect">
            <a:avLst>
              <a:gd name="adj" fmla="val 2881"/>
            </a:avLst>
          </a:prstGeom>
          <a:solidFill>
            <a:srgbClr val="1B2333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610612"/>
            <a:ext cx="201168" cy="201168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600200"/>
            <a:ext cx="10241280" cy="222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"Learn Rust With Entirely Too Many Linked Lists," by Aria Beingessner, is a widely-read, well-regarded tutorial built entirely around this one problem —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worth pointing people to directly if this topic grabs them.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11064240" cy="2221992"/>
          </a:xfrm>
          <a:prstGeom prst="roundRect">
            <a:avLst>
              <a:gd name="adj" fmla="val 2881"/>
            </a:avLst>
          </a:prstGeom>
          <a:solidFill>
            <a:srgbClr val="1B2333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4942332"/>
            <a:ext cx="201168" cy="201168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3931920"/>
            <a:ext cx="10241280" cy="222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reason it takes a whole book: a linked list is one of the simplest possible data structures in C++,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one of the first places Rust's ownership rules genuinely change how you have to think, not just how you spell things.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for Experienced C++ Developers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38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 LISTS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Singly-linked: this part is fine, in both languages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3246120"/>
          </a:xfrm>
          <a:prstGeom prst="roundRect">
            <a:avLst>
              <a:gd name="adj" fmla="val 2535"/>
            </a:avLst>
          </a:prstGeom>
          <a:solidFill>
            <a:srgbClr val="1B2333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92808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22283A"/>
          </a:solidFill>
          <a:ln w="12700">
            <a:solidFill>
              <a:srgbClr val="3E8F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928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E8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C++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80160" y="191109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E8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4800600" cy="1417320"/>
          </a:xfrm>
          <a:prstGeom prst="rect">
            <a:avLst/>
          </a:prstGeom>
          <a:solidFill>
            <a:srgbClr val="141A28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Node 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value;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std::unique_ptr&lt;Node&gt; next;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4023360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direction of ownership — each node exclusively owns the next one. unique_ptr models this directly and correctly.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5349240" cy="3246120"/>
          </a:xfrm>
          <a:prstGeom prst="roundRect">
            <a:avLst>
              <a:gd name="adj" fmla="val 2535"/>
            </a:avLst>
          </a:prstGeom>
          <a:solidFill>
            <a:srgbClr val="1B2333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1892808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2E2019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8928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8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95160" y="191109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8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37960" y="2468880"/>
            <a:ext cx="4800600" cy="1417320"/>
          </a:xfrm>
          <a:prstGeom prst="rect">
            <a:avLst/>
          </a:prstGeom>
          <a:solidFill>
            <a:srgbClr val="141A28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Node 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value: i32,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next: Option&lt;Box&lt;Node&gt;&gt;,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37960" y="4023360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identical shape. Box&lt;Node&gt; is a single-owner heap pointer — exactly the unique_ptr analogue from Day 1's Ownership module, and it works without a fight here.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5102352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202A40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10235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8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 </a:t>
            </a:r>
            <a:pPr indent="0" marL="0">
              <a:buNone/>
            </a:pPr>
            <a:r>
              <a:rPr lang="en-US" sz="1150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pain everyone talks about isn't "linked lists in Rust" — it's specifically the moment a second pointer, going the other direction, enters the picture.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for Experienced C++ Developers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15568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38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 LISTS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Doubly-linked: where the second direction breaks the model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3246120"/>
          </a:xfrm>
          <a:prstGeom prst="roundRect">
            <a:avLst>
              <a:gd name="adj" fmla="val 2535"/>
            </a:avLst>
          </a:prstGeom>
          <a:solidFill>
            <a:srgbClr val="1B2333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92808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22283A"/>
          </a:solidFill>
          <a:ln w="12700">
            <a:solidFill>
              <a:srgbClr val="3E8F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928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E8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C++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80160" y="191109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E8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(CONVENTION)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4800600" cy="1417320"/>
          </a:xfrm>
          <a:prstGeom prst="rect">
            <a:avLst/>
          </a:prstGeom>
          <a:solidFill>
            <a:srgbClr val="141A28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Node 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value;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std::unique_ptr&lt;Node&gt; next;  // owns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Node* prev;                   // does NOT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                               // own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4023360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C++'s idiomatic fix is a convention, not a compiler-enforced rule: forward links own via unique_ptr; the backward link is a raw, non-owning observer pointer you promise never to use after the node is freed.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5349240" cy="3246120"/>
          </a:xfrm>
          <a:prstGeom prst="roundRect">
            <a:avLst>
              <a:gd name="adj" fmla="val 2535"/>
            </a:avLst>
          </a:prstGeom>
          <a:solidFill>
            <a:srgbClr val="1B2333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1892808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2E2019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8928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8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95160" y="191109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8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(NAIVE ATTEMPT)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37960" y="2468880"/>
            <a:ext cx="4800600" cy="1417320"/>
          </a:xfrm>
          <a:prstGeom prst="rect">
            <a:avLst/>
          </a:prstGeom>
          <a:solidFill>
            <a:srgbClr val="141A28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Node 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value: i32,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next: Option&lt;Box&lt;Node&gt;&gt;,   // owns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prev: Option&lt;Box&lt;Node&gt;&gt;,   // ALSO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                             // claims to own — contradiction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37960" y="4023360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Box fields both claiming exclusive ownership of the same node isn't just discouraged — it's not expressible. Box's whole contract is "exactly one owner," and this asks for two.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5102352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202A40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10235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8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 </a:t>
            </a:r>
            <a:pPr indent="0" marL="0">
              <a:buNone/>
            </a:pPr>
            <a:r>
              <a:rPr lang="en-US" sz="1150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lets you paper over the double-ownership problem with a comment and a promise. Rust makes you resolve it — which is exactly why the rest of this section exists.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for Experienced C++ Developers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15568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38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 LISTS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 A: shared ownership, checked at runtime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2468880"/>
          </a:xfrm>
          <a:prstGeom prst="roundRect">
            <a:avLst>
              <a:gd name="adj" fmla="val 3333"/>
            </a:avLst>
          </a:prstGeom>
          <a:solidFill>
            <a:srgbClr val="1B2333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55648"/>
            <a:ext cx="10607040" cy="2249424"/>
          </a:xfrm>
          <a:prstGeom prst="rect">
            <a:avLst/>
          </a:prstGeom>
          <a:solidFill>
            <a:srgbClr val="141A28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Node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value: i32,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next: Option&lt;Rc&lt;RefCell&lt;Node&gt;&gt;&gt;,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prev: Option&lt;Weak&lt;RefCell&lt;Node&gt;&gt;&gt;,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4251960"/>
            <a:ext cx="11064240" cy="2057400"/>
          </a:xfrm>
          <a:prstGeom prst="roundRect">
            <a:avLst>
              <a:gd name="adj" fmla="val 3556"/>
            </a:avLst>
          </a:prstGeom>
          <a:solidFill>
            <a:srgbClr val="202A40"/>
          </a:solidFill>
          <a:ln w="12700">
            <a:solidFill>
              <a:srgbClr val="58C2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4370832"/>
            <a:ext cx="10607040" cy="1819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58C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pieces:  </a:t>
            </a:r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 allows multiple owners, like shared_ptr. RefCell moves the "one mutable XOR many shared" rule from compile time to runtime — violations panic instead of failing to compile. Weak breaks the ownership cycle for the backward link.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for Experienced C++ Developers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15568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38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 LISTS: WHERE OWNERSHIP GETS REAL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Weak backward link isn't a Rust tax — it's the same tax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444752"/>
          </a:xfrm>
          <a:prstGeom prst="roundRect">
            <a:avLst>
              <a:gd name="adj" fmla="val 4430"/>
            </a:avLst>
          </a:prstGeom>
          <a:solidFill>
            <a:srgbClr val="1B2333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221992"/>
            <a:ext cx="201168" cy="201168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600200"/>
            <a:ext cx="1024128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C++ doubly-linked list built with shared_ptr in both directions has exactly the same cycle problem: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shared_ptrs pointing at each other means the reference count never reaches zero, and both nodes leak.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11064240" cy="1444752"/>
          </a:xfrm>
          <a:prstGeom prst="roundRect">
            <a:avLst>
              <a:gd name="adj" fmla="val 4430"/>
            </a:avLst>
          </a:prstGeom>
          <a:solidFill>
            <a:srgbClr val="1B2333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776472"/>
            <a:ext cx="201168" cy="201168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3154680"/>
            <a:ext cx="1024128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idiomatic C++ fix is identical in spirit: weak_ptr for one direction, to break the cycle.  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709160"/>
            <a:ext cx="11064240" cy="1444752"/>
          </a:xfrm>
          <a:prstGeom prst="roundRect">
            <a:avLst>
              <a:gd name="adj" fmla="val 4430"/>
            </a:avLst>
          </a:prstGeom>
          <a:solidFill>
            <a:srgbClr val="1B2333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5330952"/>
            <a:ext cx="201168" cy="201168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4709160"/>
            <a:ext cx="1024128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cost of reference-counted shared ownership applied to a cyclic structure, full stop — not a Rust-specific inconvenience.  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for Experienced C++ Developers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15568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38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 LISTS: WHERE OWNERSHIP GETS REAL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honest costs of Rc&lt;RefCell&lt;_&gt;&gt;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444752"/>
          </a:xfrm>
          <a:prstGeom prst="roundRect">
            <a:avLst>
              <a:gd name="adj" fmla="val 4430"/>
            </a:avLst>
          </a:prstGeom>
          <a:solidFill>
            <a:srgbClr val="1B2333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221992"/>
            <a:ext cx="201168" cy="201168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600200"/>
            <a:ext cx="1024128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borrow checks that can panic —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"already borrowed: BorrowMutError" is a real message you will eventually see, at runtime, in production if you're not careful.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11064240" cy="1444752"/>
          </a:xfrm>
          <a:prstGeom prst="roundRect">
            <a:avLst>
              <a:gd name="adj" fmla="val 4430"/>
            </a:avLst>
          </a:prstGeom>
          <a:solidFill>
            <a:srgbClr val="1B2333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776472"/>
            <a:ext cx="201168" cy="201168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3154680"/>
            <a:ext cx="1024128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 isn't thread-safe by design (it isn't even Send) —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this to multiple threads means switching to Arc&lt;Mutex&lt;_&gt;&gt;, with the associated locking overhead.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709160"/>
            <a:ext cx="11064240" cy="1444752"/>
          </a:xfrm>
          <a:prstGeom prst="roundRect">
            <a:avLst>
              <a:gd name="adj" fmla="val 4430"/>
            </a:avLst>
          </a:prstGeom>
          <a:solidFill>
            <a:srgbClr val="1B2333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5330952"/>
            <a:ext cx="201168" cy="201168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4709160"/>
            <a:ext cx="1024128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heap allocations and pointer-chasing per node,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none of the cache-friendliness a contiguous structure would give you.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for Experienced C++ Developers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15568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38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 LISTS: WHERE OWNERSHIP GETS REAL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 B: unsafe, confined — which is what the standard library does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444752"/>
          </a:xfrm>
          <a:prstGeom prst="roundRect">
            <a:avLst>
              <a:gd name="adj" fmla="val 4430"/>
            </a:avLst>
          </a:prstGeom>
          <a:solidFill>
            <a:srgbClr val="1B2333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221992"/>
            <a:ext cx="201168" cy="201168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600200"/>
            <a:ext cx="1024128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std::collections::LinkedList's own implementation reaches for unsafe raw pointers internally,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exactly the performance and ergonomics reasons the last slide just listed.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11064240" cy="1444752"/>
          </a:xfrm>
          <a:prstGeom prst="roundRect">
            <a:avLst>
              <a:gd name="adj" fmla="val 4430"/>
            </a:avLst>
          </a:prstGeom>
          <a:solidFill>
            <a:srgbClr val="1B2333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776472"/>
            <a:ext cx="201168" cy="201168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3154680"/>
            <a:ext cx="1024128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"confine unsafe to one small module" pattern from Day 2, applied by the standard library itself —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public API is entirely safe; the pointer manipulation happens once, behind it, carefully.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709160"/>
            <a:ext cx="11064240" cy="1444752"/>
          </a:xfrm>
          <a:prstGeom prst="roundRect">
            <a:avLst>
              <a:gd name="adj" fmla="val 4430"/>
            </a:avLst>
          </a:prstGeom>
          <a:solidFill>
            <a:srgbClr val="1B2333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5330952"/>
            <a:ext cx="201168" cy="201168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4709160"/>
            <a:ext cx="1024128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reasonable, honest option — but rarely the first one to reach for yourself, for the same reason most experienced Rust engineers rarely reach for LinkedList at all (see the next slide).  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for Experienced C++ Developers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15568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38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 LISTS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 C: sidestep the problem entirely — arena + indices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2468880"/>
          </a:xfrm>
          <a:prstGeom prst="roundRect">
            <a:avLst>
              <a:gd name="adj" fmla="val 3333"/>
            </a:avLst>
          </a:prstGeom>
          <a:solidFill>
            <a:srgbClr val="1B2333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55648"/>
            <a:ext cx="10607040" cy="2249424"/>
          </a:xfrm>
          <a:prstGeom prst="rect">
            <a:avLst/>
          </a:prstGeom>
          <a:solidFill>
            <a:srgbClr val="141A28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Node { value: i32, next: Option&lt;usize&gt;, prev: Option&lt;usize&gt; }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List { nodes: Vec&lt;Node&gt; }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 "pointer" is just an index: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next_node = &amp;list.nodes[node.next.unwrap()];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4251960"/>
            <a:ext cx="11064240" cy="2057400"/>
          </a:xfrm>
          <a:prstGeom prst="roundRect">
            <a:avLst>
              <a:gd name="adj" fmla="val 3556"/>
            </a:avLst>
          </a:prstGeom>
          <a:solidFill>
            <a:srgbClr val="202A40"/>
          </a:solidFill>
          <a:ln w="12700">
            <a:solidFill>
              <a:srgbClr val="58C2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4370832"/>
            <a:ext cx="10607040" cy="1819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58C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is the idiomatic answer:  </a:t>
            </a:r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usize is Copy, not a reference — the aliasing rules that make direct pointer-based lists hard simply don't apply to it. No Rc, no RefCell, no unsafe. This is the exact pattern behind Lab Day 2's arena allocator, generalized to any linked structure.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for Experienced C++ Developers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15568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38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E4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 LISTS: WHERE OWNERSHIP GETS REAL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110642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lesson isn't "linked lists are impossible in Rust." It's where Rust asks you to change your approach, not just your syntax.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443484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arena-and-indices version is usually both easier to write and faster than the pointer-chasing version you'd have written in C++ — better cache locality, no per-node allocation, no reference counting. Pointer-heavy, cyclic, multiply-owned structures are precisely where that trade pays off.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for Experienced C++ Developers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38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651760"/>
            <a:ext cx="1371600" cy="1371600"/>
          </a:xfrm>
          <a:prstGeom prst="roundRect">
            <a:avLst>
              <a:gd name="adj" fmla="val 6667"/>
            </a:avLst>
          </a:prstGeom>
          <a:solidFill>
            <a:srgbClr val="202A40"/>
          </a:solidFill>
          <a:ln w="19050">
            <a:solidFill>
              <a:srgbClr val="CE42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65176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8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194560" y="2743200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Inheritance-to-Traits Gets Ugly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194560" y="347472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honest, harder half of the story Day 2's Traits module didn't have room for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for Experienced C++ Developers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38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INHERITANCE-TO-TRAITS GETS UGLY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picks up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2221992"/>
          </a:xfrm>
          <a:prstGeom prst="roundRect">
            <a:avLst>
              <a:gd name="adj" fmla="val 2881"/>
            </a:avLst>
          </a:prstGeom>
          <a:solidFill>
            <a:srgbClr val="1B2333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610612"/>
            <a:ext cx="201168" cy="201168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600200"/>
            <a:ext cx="10241280" cy="222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showed that pure interface inheritance — an abstract base class with no data, only pure virtual methods — ports to traits cleanly, often more cleanly than the C++ original.  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11064240" cy="2221992"/>
          </a:xfrm>
          <a:prstGeom prst="roundRect">
            <a:avLst>
              <a:gd name="adj" fmla="val 2881"/>
            </a:avLst>
          </a:prstGeom>
          <a:solidFill>
            <a:srgbClr val="1B2333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4942332"/>
            <a:ext cx="201168" cy="201168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3931920"/>
            <a:ext cx="10241280" cy="222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section is about the other case: a base class that holds shared, mutable state every derived class inherits and touches directly.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case gets measurably uglier, and it's worth seeing exactly why before you hit it mid-port.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for Experienced C++ Developers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38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INHERITANCE VS. TRAITS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C++ shape: shared protected state, for free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3749040"/>
          </a:xfrm>
          <a:prstGeom prst="roundRect">
            <a:avLst>
              <a:gd name="adj" fmla="val 2195"/>
            </a:avLst>
          </a:prstGeom>
          <a:solidFill>
            <a:srgbClr val="1B2333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55648"/>
            <a:ext cx="10607040" cy="3529584"/>
          </a:xfrm>
          <a:prstGeom prst="rect">
            <a:avLst/>
          </a:prstGeom>
          <a:solidFill>
            <a:srgbClr val="141A28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Animal {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protected: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std::string name;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age = 0;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explicit Animal(std::string n) : name(std::move(n)) {}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haveBirthday() { age++; }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getAge() const { return age; }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virtual void speak() const = 0;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Dog : public Animal {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explicit Dog(std::string n) : Animal(std::move(n)) {}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speak() const override { std::cout &lt;&lt; name &lt;&lt; " says Woof!\n"; }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55321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202A40"/>
          </a:solidFill>
          <a:ln w="12700">
            <a:solidFill>
              <a:srgbClr val="E0B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650992"/>
            <a:ext cx="10607040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E0B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convenience:  </a:t>
            </a:r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haveBirthday() and getAge() are written exactly once, on Animal. Every derived class inherits them, and inherits direct access to name and age, as if those fields were its own.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for Experienced C++ Developers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15568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38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INHERITANCE-TO-TRAITS GETS UGLY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direct translation attempt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2221992"/>
          </a:xfrm>
          <a:prstGeom prst="roundRect">
            <a:avLst>
              <a:gd name="adj" fmla="val 2881"/>
            </a:avLst>
          </a:prstGeom>
          <a:solidFill>
            <a:srgbClr val="1B2333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610612"/>
            <a:ext cx="201168" cy="201168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600200"/>
            <a:ext cx="10241280" cy="222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trait Animal with a default method have_birthday(&amp;mut self) { self.age += 1; } —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it doesn't compile. A trait has no fields, so self.age refers to nothing the compiler can see at the trait level.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11064240" cy="2221992"/>
          </a:xfrm>
          <a:prstGeom prst="roundRect">
            <a:avLst>
              <a:gd name="adj" fmla="val 2881"/>
            </a:avLst>
          </a:prstGeom>
          <a:solidFill>
            <a:srgbClr val="1B2333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4942332"/>
            <a:ext cx="201168" cy="201168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3931920"/>
            <a:ext cx="10241280" cy="222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first real surprise for someone porting a C++ hierarchy mechanically: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traits give you shared behavior for free; they never give you shared data for free, under any circumstances.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for Experienced C++ Developers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38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INHERITANCE VS. TRAITS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fix: accessor boilerplate, on every implementor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3291840"/>
          </a:xfrm>
          <a:prstGeom prst="roundRect">
            <a:avLst>
              <a:gd name="adj" fmla="val 2500"/>
            </a:avLst>
          </a:prstGeom>
          <a:solidFill>
            <a:srgbClr val="1B2333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55648"/>
            <a:ext cx="10607040" cy="3072384"/>
          </a:xfrm>
          <a:prstGeom prst="rect">
            <a:avLst/>
          </a:prstGeom>
          <a:solidFill>
            <a:srgbClr val="141A28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trait Animal {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fn age(&amp;self) -&gt; u32;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fn age_mut(&amp;mut self) -&gt; &amp;mut u32;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fn have_birthday(&amp;mut self) { *self.age_mut() += 1; }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fn speak(&amp;self);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Dog { name: String, age: u32 }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 Animal for Dog {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fn age(&amp;self) -&gt; u32 { self.age }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fn age_mut(&amp;mut self) -&gt; &amp;mut u32 { &amp;mut self.age }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fn speak(&amp;self) { println!("{} says Woof!", self.name); }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507492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202A40"/>
          </a:solidFill>
          <a:ln w="12700">
            <a:solidFill>
              <a:srgbClr val="E0B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193792"/>
            <a:ext cx="10607040" cy="996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E0B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out:  </a:t>
            </a:r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implementor writes age() and age_mut() just so the trait's default method has something to reach through. Add a second shared field and a second cross-cutting method, and this boilerplate doubles — for every single type. This is the concrete cost C++ inheritance was hiding from you.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for Experienced C++ Developers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15568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38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INHERITANCE-TO-TRAITS GETS UGLY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composition alternative isn't free either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2221992"/>
          </a:xfrm>
          <a:prstGeom prst="roundRect">
            <a:avLst>
              <a:gd name="adj" fmla="val 2881"/>
            </a:avLst>
          </a:prstGeom>
          <a:solidFill>
            <a:srgbClr val="1B2333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610612"/>
            <a:ext cx="201168" cy="201168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600200"/>
            <a:ext cx="10241280" cy="222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a shared AnimalState { name, age } struct inside every type (struct Dog { base: AnimalState }) avoids the accessor methods,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now every call site writes self.base.age instead of self.age — a different flavor of the same friction, not an escape from it.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11064240" cy="2221992"/>
          </a:xfrm>
          <a:prstGeom prst="roundRect">
            <a:avLst>
              <a:gd name="adj" fmla="val 2881"/>
            </a:avLst>
          </a:prstGeom>
          <a:solidFill>
            <a:srgbClr val="1B2333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4942332"/>
            <a:ext cx="201168" cy="201168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3931920"/>
            <a:ext cx="10241280" cy="222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one place where "favor composition over inheritance" — advice C++ engineers already half-believe —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stops being a style preference and becomes mandatory, whether or not the resulting code is more verbose for this particular shape of problem.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for Experienced C++ Developers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38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INHERITANCE VS. TRAITS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Downcasting: extra machinery, in both languages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3246120"/>
          </a:xfrm>
          <a:prstGeom prst="roundRect">
            <a:avLst>
              <a:gd name="adj" fmla="val 2535"/>
            </a:avLst>
          </a:prstGeom>
          <a:solidFill>
            <a:srgbClr val="1B2333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92808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22283A"/>
          </a:solidFill>
          <a:ln w="12700">
            <a:solidFill>
              <a:srgbClr val="3E8F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928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E8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C++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80160" y="191109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E8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4800600" cy="1417320"/>
          </a:xfrm>
          <a:prstGeom prst="rect">
            <a:avLst/>
          </a:prstGeom>
          <a:solidFill>
            <a:srgbClr val="141A28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Animal* a = get_animal();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(Dog* d = dynamic_cast&lt;Dog*&gt;(a)) 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d-&gt;fetch();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RTTI is available on any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polymorphic type, by default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4023360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dynamic_cast works on any class with a virtual function, as long as RTTI is enabled — no extra opt-in required, but it's also a well-known code smell when it starts showing up often.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5349240" cy="3246120"/>
          </a:xfrm>
          <a:prstGeom prst="roundRect">
            <a:avLst>
              <a:gd name="adj" fmla="val 2535"/>
            </a:avLst>
          </a:prstGeom>
          <a:solidFill>
            <a:srgbClr val="1B2333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1892808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2E2019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8928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8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95160" y="191109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8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37960" y="2468880"/>
            <a:ext cx="4800600" cy="1417320"/>
          </a:xfrm>
          <a:prstGeom prst="rect">
            <a:avLst/>
          </a:prstGeom>
          <a:solidFill>
            <a:srgbClr val="141A28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a: &amp;dyn Animal = get_animal();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let Some(d) = (a as &amp;dyn Any).downcast_ref::&lt;Dog&gt;() 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d.fetch();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requires the trait to opt in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via an Any bound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37960" y="4023360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Downcasting a trait object requires the trait to be usable as dyn Any — an explicit, visible opt-in that C++'s dynamic_cast doesn't ask for.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5102352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202A40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10235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8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 </a:t>
            </a:r>
            <a:pPr indent="0" marL="0">
              <a:buNone/>
            </a:pPr>
            <a:r>
              <a:rPr lang="en-US" sz="1150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Reaching for either one often enough is a signal in both languages: an enum with a match arm per case is usually the design that was actually wanted.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for Experienced C++ Developers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15568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38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INHERITANCE-TO-TRAITS GETS UGLY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place Rust is simpler, not uglier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444752"/>
          </a:xfrm>
          <a:prstGeom prst="roundRect">
            <a:avLst>
              <a:gd name="adj" fmla="val 4430"/>
            </a:avLst>
          </a:prstGeom>
          <a:solidFill>
            <a:srgbClr val="1B2333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221992"/>
            <a:ext cx="201168" cy="201168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600200"/>
            <a:ext cx="1024128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Diamond inheritance — the classic C++ virtual-inheritance headache from two base classes sharing a common ancestor —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structurally cannot happen in Rust.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11064240" cy="1444752"/>
          </a:xfrm>
          <a:prstGeom prst="roundRect">
            <a:avLst>
              <a:gd name="adj" fmla="val 4430"/>
            </a:avLst>
          </a:prstGeom>
          <a:solidFill>
            <a:srgbClr val="1B2333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776472"/>
            <a:ext cx="201168" cy="201168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3154680"/>
            <a:ext cx="1024128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because Rust solved it more elegantly —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there's no data inheritance at all for two paths to a shared ancestor's fields to become ambiguous in the first place. It's a non-problem, not a solved problem.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709160"/>
            <a:ext cx="11064240" cy="1444752"/>
          </a:xfrm>
          <a:prstGeom prst="roundRect">
            <a:avLst>
              <a:gd name="adj" fmla="val 4430"/>
            </a:avLst>
          </a:prstGeom>
          <a:solidFill>
            <a:srgbClr val="1B2333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5330952"/>
            <a:ext cx="201168" cy="201168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4709160"/>
            <a:ext cx="1024128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Worth saying plainly, so this section doesn't read as one-sided: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trade is real in both directions, not just the frustrating one.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for Experienced C++ Developers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15568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38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E4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INHERITANCE-TO-TRAITS GETS UGLY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110642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your hierarchy exists for interface polymorphism, the port is usually a clean win. If it exists for shared mutable state, expect friction.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443484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that friction is often revealing a design that composition would have improved in the C++ version too — C++ just never made you pay the cost upfront the way Rust does.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for Experienced C++ Developers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38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651760"/>
            <a:ext cx="1371600" cy="1371600"/>
          </a:xfrm>
          <a:prstGeom prst="roundRect">
            <a:avLst>
              <a:gd name="adj" fmla="val 6667"/>
            </a:avLst>
          </a:prstGeom>
          <a:solidFill>
            <a:srgbClr val="202A40"/>
          </a:solidFill>
          <a:ln w="19050">
            <a:solidFill>
              <a:srgbClr val="CE42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65176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8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194560" y="2743200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Rust Ecosystem: "Standard" Libraries That Aren't in std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194560" y="347472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Rust project of any size is self-contained — knowing the map, and its footguns, is part of the job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for Experienced C++ Developers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38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RUST ECOSYSTEM: "STANDARD" LIBRARIES THAT AREN'T IN STD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Rust's std is small on purpose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444752"/>
          </a:xfrm>
          <a:prstGeom prst="roundRect">
            <a:avLst>
              <a:gd name="adj" fmla="val 4430"/>
            </a:avLst>
          </a:prstGeom>
          <a:solidFill>
            <a:srgbClr val="1B2333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221992"/>
            <a:ext cx="201168" cy="201168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600200"/>
            <a:ext cx="1024128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striking amount of "surely this is in the standard library" functionality — JSON, logging, CLI parsing, random numbers, an async runtime, an HTTP client — deliberately isn't.  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11064240" cy="1444752"/>
          </a:xfrm>
          <a:prstGeom prst="roundRect">
            <a:avLst>
              <a:gd name="adj" fmla="val 4430"/>
            </a:avLst>
          </a:prstGeom>
          <a:solidFill>
            <a:srgbClr val="1B2333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776472"/>
            <a:ext cx="201168" cy="201168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3154680"/>
            <a:ext cx="1024128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lives on crates.io instead, with the ecosystem converging on a de facto "standard" choice by convention and community consensus, not by language mandate.  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709160"/>
            <a:ext cx="11064240" cy="1444752"/>
          </a:xfrm>
          <a:prstGeom prst="roundRect">
            <a:avLst>
              <a:gd name="adj" fmla="val 4430"/>
            </a:avLst>
          </a:prstGeom>
          <a:solidFill>
            <a:srgbClr val="1B2333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5330952"/>
            <a:ext cx="201168" cy="201168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4709160"/>
            <a:ext cx="1024128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practical consequence: any real Rust project depends on external crates —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there's no small-utility escape hatch the way a tiny C++ tool might get away with pure std. Choosing and using those crates well is part of the job, not an edge case.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for Experienced C++ Developers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15568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/ 38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RUST ECOSYSTEM: "STANDARD" LIBRARIES THAT AREN'T IN STD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map: common needs, and where they actually live</a:t>
            </a:r>
            <a:endParaRPr lang="en-US" sz="28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840480"/>
                <a:gridCol w="42062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880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880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C++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880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Rust ("the" crate)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DEF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JSON / serialization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DEFF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nlohmann::json, Boost.Serialization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4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serde + serde_json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DEF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 numbers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DEFF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&lt;random&gt; — in std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4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rand — not in std, by design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DEF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 argument parsing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DEFF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Boost.ProgramOptions, cxxopts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4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clap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DEF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Logging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DEFF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spdlog, glog, Boost.Log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4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log, or tracing for structured spans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DEF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Async runtime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DEFF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 std runtime; Boost.Asio, hand-rolled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4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tokio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DEF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Regex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DEFF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&lt;regex&gt; — in std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4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regex — semi-official, not in std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DEF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 client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DEFF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libcurl, cpp-httplib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4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reqwest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DEF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 types with context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DEFF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std::error_code / system_error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4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thiserror (libraries) + anyhow (apps)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for Experienced C++ Developers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/ 38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serde: the closest thing to a universal standard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3246120"/>
          </a:xfrm>
          <a:prstGeom prst="roundRect">
            <a:avLst>
              <a:gd name="adj" fmla="val 2535"/>
            </a:avLst>
          </a:prstGeom>
          <a:solidFill>
            <a:srgbClr val="1B2333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92808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22283A"/>
          </a:solidFill>
          <a:ln w="12700">
            <a:solidFill>
              <a:srgbClr val="3E8F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928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E8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C++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80160" y="191109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E8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(NLOHMANN::JSON)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4800600" cy="1417320"/>
          </a:xfrm>
          <a:prstGeom prst="rect">
            <a:avLst/>
          </a:prstGeom>
          <a:solidFill>
            <a:srgbClr val="141A28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Point { int x, y; };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to_json(json&amp; j, const Point&amp; p) 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 = {{"x", p.x}, {"y", p.y}};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from_json needs its own free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function too, for the round trip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4023360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solid, widely-used library — but round-tripping a type means hand-writing both to_json and from_json as separate free functions.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5349240" cy="3246120"/>
          </a:xfrm>
          <a:prstGeom prst="roundRect">
            <a:avLst>
              <a:gd name="adj" fmla="val 2535"/>
            </a:avLst>
          </a:prstGeom>
          <a:solidFill>
            <a:srgbClr val="1B2333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1892808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2E2019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8928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8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95160" y="191109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8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(SERDE)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37960" y="2468880"/>
            <a:ext cx="4800600" cy="1417320"/>
          </a:xfrm>
          <a:prstGeom prst="rect">
            <a:avLst/>
          </a:prstGeom>
          <a:solidFill>
            <a:srgbClr val="141A28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#[derive(Serialize, Deserialize)]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Point { x: i32, y: i32 }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json = serde_json::to_string(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&amp;Point { x: 1, y: 2 }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)?;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37960" y="4023360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derive generates both directions at once. serde itself is format-agnostic — the same derive works with serde_json, bincode, serde_yaml, and toml interchangeably.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5102352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202A40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10235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8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 </a:t>
            </a:r>
            <a:pPr indent="0" marL="0">
              <a:buNone/>
            </a:pPr>
            <a:r>
              <a:rPr lang="en-US" sz="1150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serde is arguably the single most-depended-upon crate in the entire ecosystem — directly or transitively, almost every nontrivial Rust project touches it.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for Experienced C++ Developers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15568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/ 38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RUST ECOSYSTEM: "STANDARD" LIBRARIES THAT AREN'T IN STD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serde: how to misuse it</a:t>
            </a:r>
            <a:endParaRPr lang="en-US" sz="28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580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880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Pitfall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880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actually happens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DEF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Field names don't match the JSON's casing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4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Silently unpopulated or failed fields — no compile error. Fix: #[serde(rename_all = "camelCase")]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DEF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Reaching for serde_json::Value everywhere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4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Throws away exactly the type safety serde exists to provide — a natural habit coming from a dynamic-by-default JSON library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DEF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Adding a field without #[serde(default)]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4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Breaks deserialization of any previously-saved data that predates the new field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DEF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#[serde(untagged)] enums with overlapping shapes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4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Serde tries each variant in order and keeps the first match — can silently deserialize into the wrong variant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for Experienced C++ Developers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/ 38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tokio: the de facto async runtime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3246120"/>
          </a:xfrm>
          <a:prstGeom prst="roundRect">
            <a:avLst>
              <a:gd name="adj" fmla="val 2535"/>
            </a:avLst>
          </a:prstGeom>
          <a:solidFill>
            <a:srgbClr val="1B2333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92808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22283A"/>
          </a:solidFill>
          <a:ln w="12700">
            <a:solidFill>
              <a:srgbClr val="3E8F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928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E8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C++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80160" y="191109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E8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4800600" cy="1417320"/>
          </a:xfrm>
          <a:prstGeom prst="rect">
            <a:avLst/>
          </a:prstGeom>
          <a:solidFill>
            <a:srgbClr val="141A28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 async runtime ships in std—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Boost.Asio or a hand-rolled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event loop is the common answer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io_context.post([]{ /* callback */ });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4023360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C++20 gave the language coroutines, the same way Rust's async/await is a language feature — neither language ships an executor to actually run them.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5349240" cy="3246120"/>
          </a:xfrm>
          <a:prstGeom prst="roundRect">
            <a:avLst>
              <a:gd name="adj" fmla="val 2535"/>
            </a:avLst>
          </a:prstGeom>
          <a:solidFill>
            <a:srgbClr val="1B2333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1892808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2E2019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8928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8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95160" y="191109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8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37960" y="2468880"/>
            <a:ext cx="4800600" cy="1417320"/>
          </a:xfrm>
          <a:prstGeom prst="rect">
            <a:avLst/>
          </a:prstGeom>
          <a:solidFill>
            <a:srgbClr val="141A28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#[tokio::main]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fn main() 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result = fetch_data().await;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println!("{:?}", result);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37960" y="4023360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tokio isn't in std, for the same reason async/await itself doesn't mandate one (Day 2's Async module) — but it's overwhelmingly the ecosystem's chosen answer.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5102352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202A40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10235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8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 </a:t>
            </a:r>
            <a:pPr indent="0" marL="0">
              <a:buNone/>
            </a:pPr>
            <a:r>
              <a:rPr lang="en-US" sz="1150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same "language feature, no runtime" split from Day 2 — just seen here from the ecosystem side instead of the language side.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for Experienced C++ Developers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15568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/ 38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RUST ECOSYSTEM: "STANDARD" LIBRARIES THAT AREN'T IN STD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tokio: how to misuse 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444752"/>
          </a:xfrm>
          <a:prstGeom prst="roundRect">
            <a:avLst>
              <a:gd name="adj" fmla="val 4430"/>
            </a:avLst>
          </a:prstGeom>
          <a:solidFill>
            <a:srgbClr val="1B2333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221992"/>
            <a:ext cx="201168" cy="201168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600200"/>
            <a:ext cx="1024128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Blocking the runtime: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synchronous call — std::thread::sleep, a CPU-bound loop, std::fs::read — inside an async fn stalls that whole worker thread, starving every other task scheduled on it. Compiles fine; degrades only under load. Fix: tokio::task::spawn_blocking, or the async equivalents (tokio::time::sleep, tokio::fs).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11064240" cy="1444752"/>
          </a:xfrm>
          <a:prstGeom prst="roundRect">
            <a:avLst>
              <a:gd name="adj" fmla="val 4430"/>
            </a:avLst>
          </a:prstGeom>
          <a:solidFill>
            <a:srgbClr val="1B2333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776472"/>
            <a:ext cx="201168" cy="201168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3154680"/>
            <a:ext cx="1024128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Mixing runtime-specific types: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tokio::sync::Mutex or TcpStream used under a different executor typically panics at runtime ("there is no reactor running") — compiles fine, fails only once actually polled.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709160"/>
            <a:ext cx="11064240" cy="1444752"/>
          </a:xfrm>
          <a:prstGeom prst="roundRect">
            <a:avLst>
              <a:gd name="adj" fmla="val 4430"/>
            </a:avLst>
          </a:prstGeom>
          <a:solidFill>
            <a:srgbClr val="1B2333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5330952"/>
            <a:ext cx="201168" cy="201168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4709160"/>
            <a:ext cx="1024128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silent unawaited future: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calling an async fn without .await-ing or spawning the result does nothing at all — the exact "silent iterator" trap from Day 1's Practice Problems module, one level up.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for Experienced C++ Developers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15568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/ 38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RUST ECOSYSTEM: "STANDARD" LIBRARIES THAT AREN'T IN STD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broader lesson: dependency hygiene, not just crate-specific footguns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822960"/>
          </a:xfrm>
          <a:prstGeom prst="roundRect">
            <a:avLst>
              <a:gd name="adj" fmla="val 7778"/>
            </a:avLst>
          </a:prstGeom>
          <a:solidFill>
            <a:srgbClr val="1B2333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11096"/>
            <a:ext cx="201168" cy="201168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60020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"Standard" here means community consensus, not a language guarantee —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crate can be abandoned. Check last-publish date and issue activity before depending on something load-bearing.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532888"/>
            <a:ext cx="11064240" cy="822960"/>
          </a:xfrm>
          <a:prstGeom prst="roundRect">
            <a:avLst>
              <a:gd name="adj" fmla="val 7778"/>
            </a:avLst>
          </a:prstGeom>
          <a:solidFill>
            <a:srgbClr val="1B2333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843784"/>
            <a:ext cx="201168" cy="201168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2532888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Semver is convention plus tooling (cargo-semver-checks), not compiler-enforced —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legitimately broken patch release can happen. Cargo.lock protects an existing build; it doesn't protect the next cargo update.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465576"/>
            <a:ext cx="11064240" cy="822960"/>
          </a:xfrm>
          <a:prstGeom prst="roundRect">
            <a:avLst>
              <a:gd name="adj" fmla="val 7778"/>
            </a:avLst>
          </a:prstGeom>
          <a:solidFill>
            <a:srgbClr val="1B2333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776472"/>
            <a:ext cx="201168" cy="201168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3465576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MSRV (Minimum Supported Rust Version) mismatches: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crate can require a newer compiler than your pinned toolchain, breaking your build the moment you add it.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398264"/>
            <a:ext cx="11064240" cy="822960"/>
          </a:xfrm>
          <a:prstGeom prst="roundRect">
            <a:avLst>
              <a:gd name="adj" fmla="val 7778"/>
            </a:avLst>
          </a:prstGeom>
          <a:solidFill>
            <a:srgbClr val="1B2333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4709160"/>
            <a:ext cx="201168" cy="201168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4398264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bloat: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convenience crate can pull in dozens of transitive dependencies — cargo tree and cargo audit are the practical tools for seeing what you actually shipped.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330952"/>
            <a:ext cx="11064240" cy="822960"/>
          </a:xfrm>
          <a:prstGeom prst="roundRect">
            <a:avLst>
              <a:gd name="adj" fmla="val 7778"/>
            </a:avLst>
          </a:prstGeom>
          <a:solidFill>
            <a:srgbClr val="1B2333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5641848"/>
            <a:ext cx="201168" cy="201168"/>
          </a:xfrm>
          <a:prstGeom prst="roundRect">
            <a:avLst>
              <a:gd name="adj" fmla="val 227273"/>
            </a:avLst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5330952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than one "standard" often coexists: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vs. tracing, tokio vs. async-std, anyhow vs. eyre. Unlike std::vector, there isn't always exactly one blessed answer.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for Experienced C++ Developers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15568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/ 38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E4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RUST ECOSYSTEM: "STANDARD" LIBRARIES THAT AREN'T IN STD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110642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ED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Rust project is never really self-contained — and that's a fine trade, as long as you treat it as one.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443484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ecosystem's de facto standards are excellent, battle-tested, and worth using. But "battle-tested" is a judgment you make about a specific crate, a specific maintainer, and a specific version — not a property the compiler checks for you. That judgment is now part of the job in a way it wasn't when std, or a couple of well-known libraries, quietly covered everything.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for Experienced C++ Developers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/ 38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2026-09-01T10:25:28Z</dcterms:created>
  <dcterms:modified xsi:type="dcterms:W3CDTF">2026-09-01T10:25:28Z</dcterms:modified>
</cp:coreProperties>
</file>