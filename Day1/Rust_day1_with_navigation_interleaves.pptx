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Lst>
  <p:notesMasterIdLst>
    <p:notesMasterId r:id="rId6"/>
  </p:notesMasterIdLst>
  <p:sldIdLst>
    <p:sldId id="256" r:id="rId7"/>
    <p:sldId id="257" r:id="rId8"/>
    <p:sldId id="258" r:id="rId9"/>
    <p:sldId id="259" r:id="rId10"/>
    <p:sldId id="260" r:id="rId11"/>
    <p:sldId id="448" r:id="rId200"/>
    <p:sldId id="261" r:id="rId12"/>
    <p:sldId id="262" r:id="rId13"/>
    <p:sldId id="263" r:id="rId14"/>
    <p:sldId id="264" r:id="rId15"/>
    <p:sldId id="265" r:id="rId16"/>
    <p:sldId id="449" r:id="rId201"/>
    <p:sldId id="266" r:id="rId17"/>
    <p:sldId id="267" r:id="rId18"/>
    <p:sldId id="268" r:id="rId19"/>
    <p:sldId id="269" r:id="rId20"/>
    <p:sldId id="270" r:id="rId21"/>
    <p:sldId id="271" r:id="rId22"/>
    <p:sldId id="272" r:id="rId23"/>
    <p:sldId id="273" r:id="rId24"/>
    <p:sldId id="274" r:id="rId25"/>
    <p:sldId id="275" r:id="rId26"/>
    <p:sldId id="276" r:id="rId27"/>
    <p:sldId id="450" r:id="rId202"/>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451" r:id="rId203"/>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452" r:id="rId204"/>
    <p:sldId id="314" r:id="rId65"/>
    <p:sldId id="315" r:id="rId66"/>
    <p:sldId id="316" r:id="rId67"/>
    <p:sldId id="317" r:id="rId68"/>
    <p:sldId id="318" r:id="rId69"/>
    <p:sldId id="319" r:id="rId70"/>
    <p:sldId id="320" r:id="rId71"/>
    <p:sldId id="321" r:id="rId72"/>
    <p:sldId id="322" r:id="rId73"/>
    <p:sldId id="453" r:id="rId205"/>
    <p:sldId id="323" r:id="rId74"/>
    <p:sldId id="324" r:id="rId75"/>
    <p:sldId id="325" r:id="rId76"/>
    <p:sldId id="326" r:id="rId77"/>
    <p:sldId id="327" r:id="rId78"/>
    <p:sldId id="328" r:id="rId79"/>
    <p:sldId id="329" r:id="rId80"/>
    <p:sldId id="330" r:id="rId81"/>
    <p:sldId id="331" r:id="rId82"/>
    <p:sldId id="454" r:id="rId206"/>
    <p:sldId id="332" r:id="rId83"/>
    <p:sldId id="333" r:id="rId84"/>
    <p:sldId id="334" r:id="rId85"/>
    <p:sldId id="335" r:id="rId86"/>
    <p:sldId id="336" r:id="rId87"/>
    <p:sldId id="337" r:id="rId88"/>
    <p:sldId id="338" r:id="rId89"/>
    <p:sldId id="339" r:id="rId90"/>
    <p:sldId id="340" r:id="rId91"/>
    <p:sldId id="455" r:id="rId207"/>
    <p:sldId id="341" r:id="rId92"/>
    <p:sldId id="342" r:id="rId93"/>
    <p:sldId id="343" r:id="rId94"/>
    <p:sldId id="344" r:id="rId95"/>
    <p:sldId id="345" r:id="rId96"/>
    <p:sldId id="346" r:id="rId97"/>
    <p:sldId id="347" r:id="rId98"/>
    <p:sldId id="348" r:id="rId99"/>
    <p:sldId id="456" r:id="rId208"/>
    <p:sldId id="349" r:id="rId100"/>
    <p:sldId id="350" r:id="rId101"/>
    <p:sldId id="351" r:id="rId102"/>
    <p:sldId id="352" r:id="rId103"/>
    <p:sldId id="353" r:id="rId104"/>
    <p:sldId id="354" r:id="rId105"/>
    <p:sldId id="355" r:id="rId106"/>
    <p:sldId id="356" r:id="rId107"/>
    <p:sldId id="457" r:id="rId209"/>
    <p:sldId id="357" r:id="rId108"/>
    <p:sldId id="358" r:id="rId109"/>
    <p:sldId id="359" r:id="rId110"/>
    <p:sldId id="360" r:id="rId111"/>
    <p:sldId id="361" r:id="rId112"/>
    <p:sldId id="362" r:id="rId113"/>
    <p:sldId id="458" r:id="rId210"/>
    <p:sldId id="363" r:id="rId114"/>
    <p:sldId id="364" r:id="rId115"/>
    <p:sldId id="365" r:id="rId116"/>
    <p:sldId id="366" r:id="rId117"/>
    <p:sldId id="367" r:id="rId118"/>
    <p:sldId id="368" r:id="rId119"/>
    <p:sldId id="459" r:id="rId211"/>
    <p:sldId id="369" r:id="rId120"/>
    <p:sldId id="370" r:id="rId121"/>
    <p:sldId id="371" r:id="rId122"/>
    <p:sldId id="372" r:id="rId123"/>
    <p:sldId id="460" r:id="rId212"/>
    <p:sldId id="373" r:id="rId124"/>
    <p:sldId id="374" r:id="rId125"/>
    <p:sldId id="375" r:id="rId126"/>
    <p:sldId id="376" r:id="rId127"/>
    <p:sldId id="377" r:id="rId128"/>
    <p:sldId id="378" r:id="rId129"/>
    <p:sldId id="379" r:id="rId130"/>
    <p:sldId id="380" r:id="rId131"/>
    <p:sldId id="461" r:id="rId213"/>
    <p:sldId id="381" r:id="rId132"/>
    <p:sldId id="382" r:id="rId133"/>
    <p:sldId id="383" r:id="rId134"/>
    <p:sldId id="384" r:id="rId135"/>
    <p:sldId id="385" r:id="rId136"/>
    <p:sldId id="386" r:id="rId137"/>
    <p:sldId id="462" r:id="rId214"/>
    <p:sldId id="387" r:id="rId138"/>
    <p:sldId id="388" r:id="rId139"/>
    <p:sldId id="389" r:id="rId140"/>
    <p:sldId id="390" r:id="rId141"/>
    <p:sldId id="391" r:id="rId142"/>
    <p:sldId id="392" r:id="rId143"/>
    <p:sldId id="393" r:id="rId144"/>
    <p:sldId id="463" r:id="rId215"/>
    <p:sldId id="394" r:id="rId145"/>
    <p:sldId id="395" r:id="rId146"/>
    <p:sldId id="464" r:id="rId21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65" r:id="rId217"/>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66" r:id="rId218"/>
    <p:sldId id="441" r:id="rId192"/>
    <p:sldId id="442" r:id="rId193"/>
    <p:sldId id="443" r:id="rId194"/>
    <p:sldId id="444" r:id="rId195"/>
    <p:sldId id="445" r:id="rId196"/>
    <p:sldId id="446" r:id="rId197"/>
    <p:sldId id="447" r:id="rId198"/>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presProps" Target="presProps.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 name="PlaceHolder 1"/>
          <p:cNvSpPr>
            <a:spLocks noGrp="1"/>
          </p:cNvSpPr>
          <p:nvPr>
            <p:ph type="sldImg"/>
          </p:nvPr>
        </p:nvSpPr>
        <p:spPr>
          <a:xfrm>
            <a:off x="-30323520" y="926640"/>
            <a:ext cx="30323520" cy="12960"/>
          </a:xfrm>
          <a:prstGeom prst="rect">
            <a:avLst/>
          </a:prstGeom>
          <a:noFill/>
          <a:ln w="0">
            <a:noFill/>
          </a:ln>
        </p:spPr>
        <p:txBody>
          <a:bodyPr lIns="0" rIns="0" tIns="0" bIns="0" anchor="ctr">
            <a:noAutofit/>
          </a:bodyPr>
          <a:p>
            <a:r>
              <a:rPr b="0" lang="en-US" sz="2280" spc="-1" strike="noStrike">
                <a:solidFill>
                  <a:schemeClr val="accent1">
                    <a:lumOff val="-32670"/>
                  </a:schemeClr>
                </a:solidFill>
                <a:latin typeface="Graphik Light"/>
              </a:rPr>
              <a:t>Click to move the slide</a:t>
            </a:r>
            <a:endParaRPr b="0" lang="en-US" sz="2280" spc="-1" strike="noStrike">
              <a:solidFill>
                <a:schemeClr val="accent1">
                  <a:lumOff val="-32670"/>
                </a:schemeClr>
              </a:solidFill>
              <a:latin typeface="Graphik Light"/>
            </a:endParaRPr>
          </a:p>
        </p:txBody>
      </p:sp>
      <p:sp>
        <p:nvSpPr>
          <p:cNvPr id="15" name="PlaceHolder 2"/>
          <p:cNvSpPr>
            <a:spLocks noGrp="1"/>
          </p:cNvSpPr>
          <p:nvPr>
            <p:ph type="body"/>
          </p:nvPr>
        </p:nvSpPr>
        <p:spPr>
          <a:xfrm>
            <a:off x="685800" y="5790960"/>
            <a:ext cx="5486040" cy="5486040"/>
          </a:xfrm>
          <a:prstGeom prst="rect">
            <a:avLst/>
          </a:prstGeom>
          <a:noFill/>
          <a:ln w="0">
            <a:noFill/>
          </a:ln>
        </p:spPr>
        <p:txBody>
          <a:bodyPr lIns="0" rIns="0" tIns="0" bIns="0" anchor="t">
            <a:noAutofit/>
          </a:bodyPr>
          <a:p>
            <a:pPr marL="216000" indent="-216000">
              <a:buNone/>
            </a:pPr>
            <a:r>
              <a:rPr b="0" lang="en-US" sz="3200" spc="-1" strike="noStrike">
                <a:solidFill>
                  <a:srgbClr val="000000"/>
                </a:solidFill>
                <a:latin typeface="Arial"/>
              </a:rPr>
              <a:t>Click to edit the notes format</a:t>
            </a:r>
            <a:endParaRPr b="0" lang="en-US" sz="3200" spc="-1" strike="noStrike">
              <a:solidFill>
                <a:srgbClr val="000000"/>
              </a:solidFill>
              <a:latin typeface="Arial"/>
            </a:endParaRPr>
          </a:p>
        </p:txBody>
      </p:sp>
      <p:sp>
        <p:nvSpPr>
          <p:cNvPr id="16" name="PlaceHolder 3"/>
          <p:cNvSpPr>
            <a:spLocks noGrp="1"/>
          </p:cNvSpPr>
          <p:nvPr>
            <p:ph type="hdr"/>
          </p:nvPr>
        </p:nvSpPr>
        <p:spPr>
          <a:xfrm>
            <a:off x="0" y="0"/>
            <a:ext cx="2976120" cy="60912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17" name="PlaceHolder 4"/>
          <p:cNvSpPr>
            <a:spLocks noGrp="1"/>
          </p:cNvSpPr>
          <p:nvPr>
            <p:ph type="dt" idx="3"/>
          </p:nvPr>
        </p:nvSpPr>
        <p:spPr>
          <a:xfrm>
            <a:off x="3881520" y="0"/>
            <a:ext cx="2976120" cy="60912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8" name="PlaceHolder 5"/>
          <p:cNvSpPr>
            <a:spLocks noGrp="1"/>
          </p:cNvSpPr>
          <p:nvPr>
            <p:ph type="ftr" idx="4"/>
          </p:nvPr>
        </p:nvSpPr>
        <p:spPr>
          <a:xfrm>
            <a:off x="0" y="11582280"/>
            <a:ext cx="2976120" cy="60912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9" name="PlaceHolder 6"/>
          <p:cNvSpPr>
            <a:spLocks noGrp="1"/>
          </p:cNvSpPr>
          <p:nvPr>
            <p:ph type="sldNum" idx="5"/>
          </p:nvPr>
        </p:nvSpPr>
        <p:spPr>
          <a:xfrm>
            <a:off x="3881520" y="11582280"/>
            <a:ext cx="2976120" cy="60912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1C7A3887-7B60-483E-A59F-0AC5C35A7450}"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slide" Target="../slides/slide64.xml"/><Relationship Id="rId2"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slide" Target="../slides/slide65.xml"/><Relationship Id="rId2"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slide" Target="../slides/slide66.xml"/><Relationship Id="rId2"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slide" Target="../slides/slide67.xml"/><Relationship Id="rId2"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slide" Target="../slides/slide68.xml"/><Relationship Id="rId2"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slide" Target="../slides/slide69.xml"/><Relationship Id="rId2"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slide" Target="../slides/slide71.xml"/><Relationship Id="rId2"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slide" Target="../slides/slide72.xml"/><Relationship Id="rId2"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slide" Target="../slides/slide73.xml"/><Relationship Id="rId2"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slide" Target="../slides/slide74.xml"/><Relationship Id="rId2"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slide" Target="../slides/slide75.xml"/><Relationship Id="rId2"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slide" Target="../slides/slide76.xml"/><Relationship Id="rId2"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slide" Target="../slides/slide77.xml"/><Relationship Id="rId2"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slide" Target="../slides/slide78.xml"/><Relationship Id="rId2"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slide" Target="../slides/slide79.xml"/><Relationship Id="rId2"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slide" Target="../slides/slide80.xml"/><Relationship Id="rId2"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slide" Target="../slides/slide81.xml"/><Relationship Id="rId2"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slide" Target="../slides/slide82.xml"/><Relationship Id="rId2"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slide" Target="../slides/slide83.xml"/><Relationship Id="rId2"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slide" Target="../slides/slide84.xml"/><Relationship Id="rId2"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slide" Target="../slides/slide85.xml"/><Relationship Id="rId2"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slide" Target="../slides/slide86.xml"/><Relationship Id="rId2"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slide" Target="../slides/slide87.xml"/><Relationship Id="rId2"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slide" Target="../slides/slide88.xml"/><Relationship Id="rId2"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slide" Target="../slides/slide89.xml"/><Relationship Id="rId2"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slide" Target="../slides/slide90.xml"/><Relationship Id="rId2"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slide" Target="../slides/slide91.xml"/><Relationship Id="rId2"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slide" Target="../slides/slide92.xml"/><Relationship Id="rId2"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slide" Target="../slides/slide93.xml"/><Relationship Id="rId2"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slide" Target="../slides/slide94.xml"/><Relationship Id="rId2"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slide" Target="../slides/slide95.xml"/><Relationship Id="rId2"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slide" Target="../slides/slide96.xml"/><Relationship Id="rId2"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slide" Target="../slides/slide97.xml"/><Relationship Id="rId2"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slide" Target="../slides/slide98.xml"/><Relationship Id="rId2"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slide" Target="../slides/slide99.xml"/><Relationship Id="rId2"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slide" Target="../slides/slide100.xml"/><Relationship Id="rId2"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slide" Target="../slides/slide101.xml"/><Relationship Id="rId2"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slide" Target="../slides/slide102.xml"/><Relationship Id="rId2"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slide" Target="../slides/slide103.xml"/><Relationship Id="rId2"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slide" Target="../slides/slide104.xml"/><Relationship Id="rId2"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slide" Target="../slides/slide105.xml"/><Relationship Id="rId2"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slide" Target="../slides/slide106.xml"/><Relationship Id="rId2"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slide" Target="../slides/slide107.xml"/><Relationship Id="rId2"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slide" Target="../slides/slide108.xml"/><Relationship Id="rId2"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slide" Target="../slides/slide109.xml"/><Relationship Id="rId2"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slide" Target="../slides/slide110.xml"/><Relationship Id="rId2"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slide" Target="../slides/slide111.xml"/><Relationship Id="rId2"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slide" Target="../slides/slide112.xml"/><Relationship Id="rId2"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slide" Target="../slides/slide113.xml"/><Relationship Id="rId2"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slide" Target="../slides/slide114.xml"/><Relationship Id="rId2"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slide" Target="../slides/slide115.xml"/><Relationship Id="rId2"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slide" Target="../slides/slide116.xml"/><Relationship Id="rId2"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slide" Target="../slides/slide117.xml"/><Relationship Id="rId2"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slide" Target="../slides/slide118.xml"/><Relationship Id="rId2"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slide" Target="../slides/slide119.xml"/><Relationship Id="rId2"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slide" Target="../slides/slide120.xml"/><Relationship Id="rId2"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slide" Target="../slides/slide121.xml"/><Relationship Id="rId2"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slide" Target="../slides/slide122.xml"/><Relationship Id="rId2"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slide" Target="../slides/slide123.xml"/><Relationship Id="rId2"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slide" Target="../slides/slide124.xml"/><Relationship Id="rId2"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slide" Target="../slides/slide125.xml"/><Relationship Id="rId2"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slide" Target="../slides/slide126.xml"/><Relationship Id="rId2"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slide" Target="../slides/slide127.xml"/><Relationship Id="rId2"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slide" Target="../slides/slide128.xml"/><Relationship Id="rId2"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slide" Target="../slides/slide129.xml"/><Relationship Id="rId2"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slide" Target="../slides/slide130.xml"/><Relationship Id="rId2"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slide" Target="../slides/slide131.xml"/><Relationship Id="rId2"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slide" Target="../slides/slide132.xml"/><Relationship Id="rId2"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slide" Target="../slides/slide133.xml"/><Relationship Id="rId2"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slide" Target="../slides/slide134.xml"/><Relationship Id="rId2"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slide" Target="../slides/slide135.xml"/><Relationship Id="rId2"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slide" Target="../slides/slide136.xml"/><Relationship Id="rId2"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slide" Target="../slides/slide137.xml"/><Relationship Id="rId2"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slide" Target="../slides/slide138.xml"/><Relationship Id="rId2"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slide" Target="../slides/slide139.xml"/><Relationship Id="rId2"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slide" Target="../slides/slide140.xml"/><Relationship Id="rId2"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slide" Target="../slides/slide141.xml"/><Relationship Id="rId2"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slide" Target="../slides/slide142.xml"/><Relationship Id="rId2"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slide" Target="../slides/slide143.xml"/><Relationship Id="rId2"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slide" Target="../slides/slide144.xml"/><Relationship Id="rId2"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slide" Target="../slides/slide145.xml"/><Relationship Id="rId2"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slide" Target="../slides/slide146.xml"/><Relationship Id="rId2"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slide" Target="../slides/slide147.xml"/><Relationship Id="rId2"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slide" Target="../slides/slide148.xml"/><Relationship Id="rId2"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slide" Target="../slides/slide149.xml"/><Relationship Id="rId2"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slide" Target="../slides/slide150.xml"/><Relationship Id="rId2"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slide" Target="../slides/slide151.xml"/><Relationship Id="rId2"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slide" Target="../slides/slide152.xml"/><Relationship Id="rId2"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slide" Target="../slides/slide153.xml"/><Relationship Id="rId2"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slide" Target="../slides/slide154.xml"/><Relationship Id="rId2"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slide" Target="../slides/slide155.xml"/><Relationship Id="rId2"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slide" Target="../slides/slide156.xml"/><Relationship Id="rId2"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slide" Target="../slides/slide157.xml"/><Relationship Id="rId2"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slide" Target="../slides/slide158.xml"/><Relationship Id="rId2"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slide" Target="../slides/slide159.xml"/><Relationship Id="rId2"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slide" Target="../slides/slide160.xml"/><Relationship Id="rId2"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slide" Target="../slides/slide161.xml"/><Relationship Id="rId2"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slide" Target="../slides/slide162.xml"/><Relationship Id="rId2"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slide" Target="../slides/slide163.xml"/><Relationship Id="rId2"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slide" Target="../slides/slide164.xml"/><Relationship Id="rId2"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slide" Target="../slides/slide165.xml"/><Relationship Id="rId2"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slide" Target="../slides/slide166.xml"/><Relationship Id="rId2"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slide" Target="../slides/slide167.xml"/><Relationship Id="rId2"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slide" Target="../slides/slide168.xml"/><Relationship Id="rId2"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slide" Target="../slides/slide169.xml"/><Relationship Id="rId2"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slide" Target="../slides/slide170.xml"/><Relationship Id="rId2"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slide" Target="../slides/slide171.xml"/><Relationship Id="rId2"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slide" Target="../slides/slide172.xml"/><Relationship Id="rId2"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slide" Target="../slides/slide173.xml"/><Relationship Id="rId2"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slide" Target="../slides/slide174.xml"/><Relationship Id="rId2"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slide" Target="../slides/slide175.xml"/><Relationship Id="rId2"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slide" Target="../slides/slide176.xml"/><Relationship Id="rId2"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slide" Target="../slides/slide177.xml"/><Relationship Id="rId2"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slide" Target="../slides/slide178.xml"/><Relationship Id="rId2"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slide" Target="../slides/slide179.xml"/><Relationship Id="rId2"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slide" Target="../slides/slide180.xml"/><Relationship Id="rId2"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slide" Target="../slides/slide181.xml"/><Relationship Id="rId2"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slide" Target="../slides/slide182.xml"/><Relationship Id="rId2"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slide" Target="../slides/slide183.xml"/><Relationship Id="rId2"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slide" Target="../slides/slide184.xml"/><Relationship Id="rId2"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slide" Target="../slides/slide185.xml"/><Relationship Id="rId2"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slide" Target="../slides/slide186.xml"/><Relationship Id="rId2"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slide" Target="../slides/slide187.xml"/><Relationship Id="rId2"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slide" Target="../slides/slide188.xml"/><Relationship Id="rId2"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slide" Target="../slides/slide189.xml"/><Relationship Id="rId2"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slide" Target="../slides/slide190.xml"/><Relationship Id="rId2"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slide" Target="../slides/slide191.xml"/><Relationship Id="rId2"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slide" Target="../slides/slide192.xml"/><Relationship Id="rId2" Type="http://schemas.openxmlformats.org/officeDocument/2006/relationships/notesMaster" Target="../notesMasters/notesMaster1.xml"/></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05" name="PlaceHolder 1"/>
          <p:cNvSpPr>
            <a:spLocks noGrp="1"/>
          </p:cNvSpPr>
          <p:nvPr>
            <p:ph type="sldImg"/>
          </p:nvPr>
        </p:nvSpPr>
        <p:spPr>
          <a:xfrm>
            <a:off x="685800" y="1143000"/>
            <a:ext cx="5484960" cy="3084840"/>
          </a:xfrm>
          <a:prstGeom prst="rect">
            <a:avLst/>
          </a:prstGeom>
          <a:ln w="0">
            <a:noFill/>
          </a:ln>
        </p:spPr>
      </p:sp>
      <p:sp>
        <p:nvSpPr>
          <p:cNvPr id="2706"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07" name="PlaceHolder 3"/>
          <p:cNvSpPr>
            <a:spLocks noGrp="1"/>
          </p:cNvSpPr>
          <p:nvPr>
            <p:ph type="sldNum" idx="6"/>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88C5D83E-18BB-46D7-A0DC-4136D2AEC0D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08" name="PlaceHolder 1"/>
          <p:cNvSpPr>
            <a:spLocks noGrp="1"/>
          </p:cNvSpPr>
          <p:nvPr>
            <p:ph type="sldImg"/>
          </p:nvPr>
        </p:nvSpPr>
        <p:spPr>
          <a:xfrm>
            <a:off x="685800" y="1143000"/>
            <a:ext cx="5484960" cy="3084840"/>
          </a:xfrm>
          <a:prstGeom prst="rect">
            <a:avLst/>
          </a:prstGeom>
          <a:ln w="0">
            <a:noFill/>
          </a:ln>
        </p:spPr>
      </p:sp>
      <p:sp>
        <p:nvSpPr>
          <p:cNvPr id="2709"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10" name="PlaceHolder 3"/>
          <p:cNvSpPr>
            <a:spLocks noGrp="1"/>
          </p:cNvSpPr>
          <p:nvPr>
            <p:ph type="sldNum" idx="7"/>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F299CFE-981A-4D5A-8173-02E9A64EBE3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1" name="PlaceHolder 1"/>
          <p:cNvSpPr>
            <a:spLocks noGrp="1"/>
          </p:cNvSpPr>
          <p:nvPr>
            <p:ph type="sldImg"/>
          </p:nvPr>
        </p:nvSpPr>
        <p:spPr>
          <a:xfrm>
            <a:off x="685800" y="1143000"/>
            <a:ext cx="5484960" cy="3084840"/>
          </a:xfrm>
          <a:prstGeom prst="rect">
            <a:avLst/>
          </a:prstGeom>
          <a:ln w="0">
            <a:noFill/>
          </a:ln>
        </p:spPr>
      </p:sp>
      <p:sp>
        <p:nvSpPr>
          <p:cNvPr id="2712"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13" name="PlaceHolder 3"/>
          <p:cNvSpPr>
            <a:spLocks noGrp="1"/>
          </p:cNvSpPr>
          <p:nvPr>
            <p:ph type="sldNum" idx="8"/>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749038A2-250D-401E-9A9B-EF52AF44DFE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4" name="PlaceHolder 1"/>
          <p:cNvSpPr>
            <a:spLocks noGrp="1"/>
          </p:cNvSpPr>
          <p:nvPr>
            <p:ph type="sldImg"/>
          </p:nvPr>
        </p:nvSpPr>
        <p:spPr>
          <a:xfrm>
            <a:off x="685800" y="1143000"/>
            <a:ext cx="5484960" cy="3084840"/>
          </a:xfrm>
          <a:prstGeom prst="rect">
            <a:avLst/>
          </a:prstGeom>
          <a:ln w="0">
            <a:noFill/>
          </a:ln>
        </p:spPr>
      </p:sp>
      <p:sp>
        <p:nvSpPr>
          <p:cNvPr id="2715"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16" name="PlaceHolder 3"/>
          <p:cNvSpPr>
            <a:spLocks noGrp="1"/>
          </p:cNvSpPr>
          <p:nvPr>
            <p:ph type="sldNum" idx="9"/>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EFF6732B-D724-4B5E-A62A-A84A145DF9D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7" name="PlaceHolder 1"/>
          <p:cNvSpPr>
            <a:spLocks noGrp="1"/>
          </p:cNvSpPr>
          <p:nvPr>
            <p:ph type="sldImg"/>
          </p:nvPr>
        </p:nvSpPr>
        <p:spPr>
          <a:xfrm>
            <a:off x="685800" y="1143000"/>
            <a:ext cx="5484960" cy="3084840"/>
          </a:xfrm>
          <a:prstGeom prst="rect">
            <a:avLst/>
          </a:prstGeom>
          <a:ln w="0">
            <a:noFill/>
          </a:ln>
        </p:spPr>
      </p:sp>
      <p:sp>
        <p:nvSpPr>
          <p:cNvPr id="2718"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19" name="PlaceHolder 3"/>
          <p:cNvSpPr>
            <a:spLocks noGrp="1"/>
          </p:cNvSpPr>
          <p:nvPr>
            <p:ph type="sldNum" idx="10"/>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DEA8B9DE-3480-4D99-9163-5642BCA4E23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0" name="PlaceHolder 1"/>
          <p:cNvSpPr>
            <a:spLocks noGrp="1"/>
          </p:cNvSpPr>
          <p:nvPr>
            <p:ph type="sldImg"/>
          </p:nvPr>
        </p:nvSpPr>
        <p:spPr>
          <a:xfrm>
            <a:off x="685800" y="1143000"/>
            <a:ext cx="5484960" cy="3084840"/>
          </a:xfrm>
          <a:prstGeom prst="rect">
            <a:avLst/>
          </a:prstGeom>
          <a:ln w="0">
            <a:noFill/>
          </a:ln>
        </p:spPr>
      </p:sp>
      <p:sp>
        <p:nvSpPr>
          <p:cNvPr id="2721"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22" name="PlaceHolder 3"/>
          <p:cNvSpPr>
            <a:spLocks noGrp="1"/>
          </p:cNvSpPr>
          <p:nvPr>
            <p:ph type="sldNum" idx="11"/>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6BAF62CB-A85C-487E-8389-A74F783641E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3" name="PlaceHolder 1"/>
          <p:cNvSpPr>
            <a:spLocks noGrp="1"/>
          </p:cNvSpPr>
          <p:nvPr>
            <p:ph type="sldImg"/>
          </p:nvPr>
        </p:nvSpPr>
        <p:spPr>
          <a:xfrm>
            <a:off x="685800" y="1143000"/>
            <a:ext cx="5484960" cy="3084840"/>
          </a:xfrm>
          <a:prstGeom prst="rect">
            <a:avLst/>
          </a:prstGeom>
          <a:ln w="0">
            <a:noFill/>
          </a:ln>
        </p:spPr>
      </p:sp>
      <p:sp>
        <p:nvSpPr>
          <p:cNvPr id="2724"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25" name="PlaceHolder 3"/>
          <p:cNvSpPr>
            <a:spLocks noGrp="1"/>
          </p:cNvSpPr>
          <p:nvPr>
            <p:ph type="sldNum" idx="12"/>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D571E228-5307-48DB-8653-E45B0F0ADF3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6" name="PlaceHolder 1"/>
          <p:cNvSpPr>
            <a:spLocks noGrp="1"/>
          </p:cNvSpPr>
          <p:nvPr>
            <p:ph type="sldImg"/>
          </p:nvPr>
        </p:nvSpPr>
        <p:spPr>
          <a:xfrm>
            <a:off x="685800" y="1143000"/>
            <a:ext cx="5484960" cy="3084840"/>
          </a:xfrm>
          <a:prstGeom prst="rect">
            <a:avLst/>
          </a:prstGeom>
          <a:ln w="0">
            <a:noFill/>
          </a:ln>
        </p:spPr>
      </p:sp>
      <p:sp>
        <p:nvSpPr>
          <p:cNvPr id="2727"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28" name="PlaceHolder 3"/>
          <p:cNvSpPr>
            <a:spLocks noGrp="1"/>
          </p:cNvSpPr>
          <p:nvPr>
            <p:ph type="sldNum" idx="13"/>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4D78C673-CC23-4548-B3A1-31FFDCE042C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9" name="PlaceHolder 1"/>
          <p:cNvSpPr>
            <a:spLocks noGrp="1"/>
          </p:cNvSpPr>
          <p:nvPr>
            <p:ph type="sldImg"/>
          </p:nvPr>
        </p:nvSpPr>
        <p:spPr>
          <a:xfrm>
            <a:off x="685800" y="1143000"/>
            <a:ext cx="5484960" cy="3084840"/>
          </a:xfrm>
          <a:prstGeom prst="rect">
            <a:avLst/>
          </a:prstGeom>
          <a:ln w="0">
            <a:noFill/>
          </a:ln>
        </p:spPr>
      </p:sp>
      <p:sp>
        <p:nvSpPr>
          <p:cNvPr id="2730"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31" name="PlaceHolder 3"/>
          <p:cNvSpPr>
            <a:spLocks noGrp="1"/>
          </p:cNvSpPr>
          <p:nvPr>
            <p:ph type="sldNum" idx="14"/>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2297194B-DF3D-4C2D-82D6-9437010A6DA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2" name="PlaceHolder 1"/>
          <p:cNvSpPr>
            <a:spLocks noGrp="1"/>
          </p:cNvSpPr>
          <p:nvPr>
            <p:ph type="sldImg"/>
          </p:nvPr>
        </p:nvSpPr>
        <p:spPr>
          <a:xfrm>
            <a:off x="685800" y="1143000"/>
            <a:ext cx="5484960" cy="3084840"/>
          </a:xfrm>
          <a:prstGeom prst="rect">
            <a:avLst/>
          </a:prstGeom>
          <a:ln w="0">
            <a:noFill/>
          </a:ln>
        </p:spPr>
      </p:sp>
      <p:sp>
        <p:nvSpPr>
          <p:cNvPr id="2733"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34" name="PlaceHolder 3"/>
          <p:cNvSpPr>
            <a:spLocks noGrp="1"/>
          </p:cNvSpPr>
          <p:nvPr>
            <p:ph type="sldNum" idx="15"/>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B05468BE-3F85-45E5-97D9-2D0B4C87532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5" name="PlaceHolder 1"/>
          <p:cNvSpPr>
            <a:spLocks noGrp="1"/>
          </p:cNvSpPr>
          <p:nvPr>
            <p:ph type="sldImg"/>
          </p:nvPr>
        </p:nvSpPr>
        <p:spPr>
          <a:xfrm>
            <a:off x="685800" y="1143000"/>
            <a:ext cx="5484960" cy="3084840"/>
          </a:xfrm>
          <a:prstGeom prst="rect">
            <a:avLst/>
          </a:prstGeom>
          <a:ln w="0">
            <a:noFill/>
          </a:ln>
        </p:spPr>
      </p:sp>
      <p:sp>
        <p:nvSpPr>
          <p:cNvPr id="2736"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37" name="PlaceHolder 3"/>
          <p:cNvSpPr>
            <a:spLocks noGrp="1"/>
          </p:cNvSpPr>
          <p:nvPr>
            <p:ph type="sldNum" idx="16"/>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E7394A36-330F-4060-8D3A-12B70F002E3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8" name="PlaceHolder 1"/>
          <p:cNvSpPr>
            <a:spLocks noGrp="1"/>
          </p:cNvSpPr>
          <p:nvPr>
            <p:ph type="sldImg"/>
          </p:nvPr>
        </p:nvSpPr>
        <p:spPr>
          <a:xfrm>
            <a:off x="685800" y="1143000"/>
            <a:ext cx="5484960" cy="3084840"/>
          </a:xfrm>
          <a:prstGeom prst="rect">
            <a:avLst/>
          </a:prstGeom>
          <a:ln w="0">
            <a:noFill/>
          </a:ln>
        </p:spPr>
      </p:sp>
      <p:sp>
        <p:nvSpPr>
          <p:cNvPr id="2739"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40" name="PlaceHolder 3"/>
          <p:cNvSpPr>
            <a:spLocks noGrp="1"/>
          </p:cNvSpPr>
          <p:nvPr>
            <p:ph type="sldNum" idx="17"/>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C2DC1B5-28E7-4D77-846C-61963B36BF7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1" name="PlaceHolder 1"/>
          <p:cNvSpPr>
            <a:spLocks noGrp="1"/>
          </p:cNvSpPr>
          <p:nvPr>
            <p:ph type="sldImg"/>
          </p:nvPr>
        </p:nvSpPr>
        <p:spPr>
          <a:xfrm>
            <a:off x="685800" y="1143000"/>
            <a:ext cx="5484960" cy="3084840"/>
          </a:xfrm>
          <a:prstGeom prst="rect">
            <a:avLst/>
          </a:prstGeom>
          <a:ln w="0">
            <a:noFill/>
          </a:ln>
        </p:spPr>
      </p:sp>
      <p:sp>
        <p:nvSpPr>
          <p:cNvPr id="2742"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43" name="PlaceHolder 3"/>
          <p:cNvSpPr>
            <a:spLocks noGrp="1"/>
          </p:cNvSpPr>
          <p:nvPr>
            <p:ph type="sldNum" idx="18"/>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A8B4B70-00B0-4DBB-A21E-87A6F33BF7B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4" name="PlaceHolder 1"/>
          <p:cNvSpPr>
            <a:spLocks noGrp="1"/>
          </p:cNvSpPr>
          <p:nvPr>
            <p:ph type="sldImg"/>
          </p:nvPr>
        </p:nvSpPr>
        <p:spPr>
          <a:xfrm>
            <a:off x="685800" y="1143000"/>
            <a:ext cx="5484960" cy="3084840"/>
          </a:xfrm>
          <a:prstGeom prst="rect">
            <a:avLst/>
          </a:prstGeom>
          <a:ln w="0">
            <a:noFill/>
          </a:ln>
        </p:spPr>
      </p:sp>
      <p:sp>
        <p:nvSpPr>
          <p:cNvPr id="2745"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46" name="PlaceHolder 3"/>
          <p:cNvSpPr>
            <a:spLocks noGrp="1"/>
          </p:cNvSpPr>
          <p:nvPr>
            <p:ph type="sldNum" idx="19"/>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4944B29-0BF6-43F1-AE5C-52B590FF298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7" name="PlaceHolder 1"/>
          <p:cNvSpPr>
            <a:spLocks noGrp="1"/>
          </p:cNvSpPr>
          <p:nvPr>
            <p:ph type="sldImg"/>
          </p:nvPr>
        </p:nvSpPr>
        <p:spPr>
          <a:xfrm>
            <a:off x="685800" y="1143000"/>
            <a:ext cx="5484960" cy="3084840"/>
          </a:xfrm>
          <a:prstGeom prst="rect">
            <a:avLst/>
          </a:prstGeom>
          <a:ln w="0">
            <a:noFill/>
          </a:ln>
        </p:spPr>
      </p:sp>
      <p:sp>
        <p:nvSpPr>
          <p:cNvPr id="2748"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49" name="PlaceHolder 3"/>
          <p:cNvSpPr>
            <a:spLocks noGrp="1"/>
          </p:cNvSpPr>
          <p:nvPr>
            <p:ph type="sldNum" idx="20"/>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B897D5CB-A0E8-432A-9C9D-CF73A056EBF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0" name="PlaceHolder 1"/>
          <p:cNvSpPr>
            <a:spLocks noGrp="1"/>
          </p:cNvSpPr>
          <p:nvPr>
            <p:ph type="sldImg"/>
          </p:nvPr>
        </p:nvSpPr>
        <p:spPr>
          <a:xfrm>
            <a:off x="685800" y="1143000"/>
            <a:ext cx="5484960" cy="3084840"/>
          </a:xfrm>
          <a:prstGeom prst="rect">
            <a:avLst/>
          </a:prstGeom>
          <a:ln w="0">
            <a:noFill/>
          </a:ln>
        </p:spPr>
      </p:sp>
      <p:sp>
        <p:nvSpPr>
          <p:cNvPr id="2751"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52" name="PlaceHolder 3"/>
          <p:cNvSpPr>
            <a:spLocks noGrp="1"/>
          </p:cNvSpPr>
          <p:nvPr>
            <p:ph type="sldNum" idx="21"/>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2B1DFF5D-36D5-456B-A10F-7209337C12A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3" name="PlaceHolder 1"/>
          <p:cNvSpPr>
            <a:spLocks noGrp="1"/>
          </p:cNvSpPr>
          <p:nvPr>
            <p:ph type="sldImg"/>
          </p:nvPr>
        </p:nvSpPr>
        <p:spPr>
          <a:xfrm>
            <a:off x="685800" y="1143000"/>
            <a:ext cx="5484960" cy="3084840"/>
          </a:xfrm>
          <a:prstGeom prst="rect">
            <a:avLst/>
          </a:prstGeom>
          <a:ln w="0">
            <a:noFill/>
          </a:ln>
        </p:spPr>
      </p:sp>
      <p:sp>
        <p:nvSpPr>
          <p:cNvPr id="2754"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55" name="PlaceHolder 3"/>
          <p:cNvSpPr>
            <a:spLocks noGrp="1"/>
          </p:cNvSpPr>
          <p:nvPr>
            <p:ph type="sldNum" idx="22"/>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3BFE145-6A80-4466-ACB4-958F0C6E025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6" name="PlaceHolder 1"/>
          <p:cNvSpPr>
            <a:spLocks noGrp="1"/>
          </p:cNvSpPr>
          <p:nvPr>
            <p:ph type="sldImg"/>
          </p:nvPr>
        </p:nvSpPr>
        <p:spPr>
          <a:xfrm>
            <a:off x="685800" y="1143000"/>
            <a:ext cx="5484960" cy="3084840"/>
          </a:xfrm>
          <a:prstGeom prst="rect">
            <a:avLst/>
          </a:prstGeom>
          <a:ln w="0">
            <a:noFill/>
          </a:ln>
        </p:spPr>
      </p:sp>
      <p:sp>
        <p:nvSpPr>
          <p:cNvPr id="2757"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58" name="PlaceHolder 3"/>
          <p:cNvSpPr>
            <a:spLocks noGrp="1"/>
          </p:cNvSpPr>
          <p:nvPr>
            <p:ph type="sldNum" idx="23"/>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8B05F853-2464-44C3-A0D4-591884C5033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9" name="PlaceHolder 1"/>
          <p:cNvSpPr>
            <a:spLocks noGrp="1"/>
          </p:cNvSpPr>
          <p:nvPr>
            <p:ph type="sldImg"/>
          </p:nvPr>
        </p:nvSpPr>
        <p:spPr>
          <a:xfrm>
            <a:off x="685800" y="1143000"/>
            <a:ext cx="5484960" cy="3084840"/>
          </a:xfrm>
          <a:prstGeom prst="rect">
            <a:avLst/>
          </a:prstGeom>
          <a:ln w="0">
            <a:noFill/>
          </a:ln>
        </p:spPr>
      </p:sp>
      <p:sp>
        <p:nvSpPr>
          <p:cNvPr id="2760"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61" name="PlaceHolder 3"/>
          <p:cNvSpPr>
            <a:spLocks noGrp="1"/>
          </p:cNvSpPr>
          <p:nvPr>
            <p:ph type="sldNum" idx="24"/>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D1A785B-D757-4C11-9EA0-577BD16BABE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2" name="PlaceHolder 1"/>
          <p:cNvSpPr>
            <a:spLocks noGrp="1"/>
          </p:cNvSpPr>
          <p:nvPr>
            <p:ph type="sldImg"/>
          </p:nvPr>
        </p:nvSpPr>
        <p:spPr>
          <a:xfrm>
            <a:off x="685800" y="1143000"/>
            <a:ext cx="5484960" cy="3084840"/>
          </a:xfrm>
          <a:prstGeom prst="rect">
            <a:avLst/>
          </a:prstGeom>
          <a:ln w="0">
            <a:noFill/>
          </a:ln>
        </p:spPr>
      </p:sp>
      <p:sp>
        <p:nvSpPr>
          <p:cNvPr id="2763"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64" name="PlaceHolder 3"/>
          <p:cNvSpPr>
            <a:spLocks noGrp="1"/>
          </p:cNvSpPr>
          <p:nvPr>
            <p:ph type="sldNum" idx="25"/>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F4840E77-F150-45D9-8938-EA6A13F5577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5" name="PlaceHolder 1"/>
          <p:cNvSpPr>
            <a:spLocks noGrp="1"/>
          </p:cNvSpPr>
          <p:nvPr>
            <p:ph type="sldImg"/>
          </p:nvPr>
        </p:nvSpPr>
        <p:spPr>
          <a:xfrm>
            <a:off x="685800" y="1143000"/>
            <a:ext cx="5484960" cy="3084840"/>
          </a:xfrm>
          <a:prstGeom prst="rect">
            <a:avLst/>
          </a:prstGeom>
          <a:ln w="0">
            <a:noFill/>
          </a:ln>
        </p:spPr>
      </p:sp>
      <p:sp>
        <p:nvSpPr>
          <p:cNvPr id="2766"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67" name="PlaceHolder 3"/>
          <p:cNvSpPr>
            <a:spLocks noGrp="1"/>
          </p:cNvSpPr>
          <p:nvPr>
            <p:ph type="sldNum" idx="26"/>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8AE16F3B-EB4C-49A3-959F-A9DE3FAA14C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8" name="PlaceHolder 1"/>
          <p:cNvSpPr>
            <a:spLocks noGrp="1"/>
          </p:cNvSpPr>
          <p:nvPr>
            <p:ph type="sldImg"/>
          </p:nvPr>
        </p:nvSpPr>
        <p:spPr>
          <a:xfrm>
            <a:off x="685800" y="1143000"/>
            <a:ext cx="5484960" cy="3084840"/>
          </a:xfrm>
          <a:prstGeom prst="rect">
            <a:avLst/>
          </a:prstGeom>
          <a:ln w="0">
            <a:noFill/>
          </a:ln>
        </p:spPr>
      </p:sp>
      <p:sp>
        <p:nvSpPr>
          <p:cNvPr id="2769"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70" name="PlaceHolder 3"/>
          <p:cNvSpPr>
            <a:spLocks noGrp="1"/>
          </p:cNvSpPr>
          <p:nvPr>
            <p:ph type="sldNum" idx="27"/>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57857F5-3B81-4EDD-BE44-89BB350DB02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1" name="PlaceHolder 1"/>
          <p:cNvSpPr>
            <a:spLocks noGrp="1"/>
          </p:cNvSpPr>
          <p:nvPr>
            <p:ph type="sldImg"/>
          </p:nvPr>
        </p:nvSpPr>
        <p:spPr>
          <a:xfrm>
            <a:off x="685800" y="1143000"/>
            <a:ext cx="5484960" cy="3084840"/>
          </a:xfrm>
          <a:prstGeom prst="rect">
            <a:avLst/>
          </a:prstGeom>
          <a:ln w="0">
            <a:noFill/>
          </a:ln>
        </p:spPr>
      </p:sp>
      <p:sp>
        <p:nvSpPr>
          <p:cNvPr id="2772"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73" name="PlaceHolder 3"/>
          <p:cNvSpPr>
            <a:spLocks noGrp="1"/>
          </p:cNvSpPr>
          <p:nvPr>
            <p:ph type="sldNum" idx="28"/>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F6DC9D5-F12E-471C-8AC5-E5D000C9080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4" name="PlaceHolder 1"/>
          <p:cNvSpPr>
            <a:spLocks noGrp="1"/>
          </p:cNvSpPr>
          <p:nvPr>
            <p:ph type="sldImg"/>
          </p:nvPr>
        </p:nvSpPr>
        <p:spPr>
          <a:xfrm>
            <a:off x="685800" y="1143000"/>
            <a:ext cx="5484960" cy="3084840"/>
          </a:xfrm>
          <a:prstGeom prst="rect">
            <a:avLst/>
          </a:prstGeom>
          <a:ln w="0">
            <a:noFill/>
          </a:ln>
        </p:spPr>
      </p:sp>
      <p:sp>
        <p:nvSpPr>
          <p:cNvPr id="2775"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76" name="PlaceHolder 3"/>
          <p:cNvSpPr>
            <a:spLocks noGrp="1"/>
          </p:cNvSpPr>
          <p:nvPr>
            <p:ph type="sldNum" idx="29"/>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D39F4F1-5472-4A03-A9D5-A3A5FDE2373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7" name="PlaceHolder 1"/>
          <p:cNvSpPr>
            <a:spLocks noGrp="1"/>
          </p:cNvSpPr>
          <p:nvPr>
            <p:ph type="sldImg"/>
          </p:nvPr>
        </p:nvSpPr>
        <p:spPr>
          <a:xfrm>
            <a:off x="685800" y="1143000"/>
            <a:ext cx="5484960" cy="3084840"/>
          </a:xfrm>
          <a:prstGeom prst="rect">
            <a:avLst/>
          </a:prstGeom>
          <a:ln w="0">
            <a:noFill/>
          </a:ln>
        </p:spPr>
      </p:sp>
      <p:sp>
        <p:nvSpPr>
          <p:cNvPr id="2778"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79" name="PlaceHolder 3"/>
          <p:cNvSpPr>
            <a:spLocks noGrp="1"/>
          </p:cNvSpPr>
          <p:nvPr>
            <p:ph type="sldNum" idx="30"/>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3B7C745-ED19-4470-B7BF-F3F807CDF60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0" name="PlaceHolder 1"/>
          <p:cNvSpPr>
            <a:spLocks noGrp="1"/>
          </p:cNvSpPr>
          <p:nvPr>
            <p:ph type="sldImg"/>
          </p:nvPr>
        </p:nvSpPr>
        <p:spPr>
          <a:xfrm>
            <a:off x="685800" y="1143000"/>
            <a:ext cx="5484960" cy="3084840"/>
          </a:xfrm>
          <a:prstGeom prst="rect">
            <a:avLst/>
          </a:prstGeom>
          <a:ln w="0">
            <a:noFill/>
          </a:ln>
        </p:spPr>
      </p:sp>
      <p:sp>
        <p:nvSpPr>
          <p:cNvPr id="2781"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82" name="PlaceHolder 3"/>
          <p:cNvSpPr>
            <a:spLocks noGrp="1"/>
          </p:cNvSpPr>
          <p:nvPr>
            <p:ph type="sldNum" idx="31"/>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6645F4F-07D7-43EB-8333-39F37606F8E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3" name="PlaceHolder 1"/>
          <p:cNvSpPr>
            <a:spLocks noGrp="1"/>
          </p:cNvSpPr>
          <p:nvPr>
            <p:ph type="sldImg"/>
          </p:nvPr>
        </p:nvSpPr>
        <p:spPr>
          <a:xfrm>
            <a:off x="685800" y="1143000"/>
            <a:ext cx="5484960" cy="3084840"/>
          </a:xfrm>
          <a:prstGeom prst="rect">
            <a:avLst/>
          </a:prstGeom>
          <a:ln w="0">
            <a:noFill/>
          </a:ln>
        </p:spPr>
      </p:sp>
      <p:sp>
        <p:nvSpPr>
          <p:cNvPr id="2784"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85" name="PlaceHolder 3"/>
          <p:cNvSpPr>
            <a:spLocks noGrp="1"/>
          </p:cNvSpPr>
          <p:nvPr>
            <p:ph type="sldNum" idx="32"/>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8792FB1B-FF60-4540-B82E-7A69E5478C5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6" name="PlaceHolder 1"/>
          <p:cNvSpPr>
            <a:spLocks noGrp="1"/>
          </p:cNvSpPr>
          <p:nvPr>
            <p:ph type="sldImg"/>
          </p:nvPr>
        </p:nvSpPr>
        <p:spPr>
          <a:xfrm>
            <a:off x="685800" y="1143000"/>
            <a:ext cx="5484960" cy="3084840"/>
          </a:xfrm>
          <a:prstGeom prst="rect">
            <a:avLst/>
          </a:prstGeom>
          <a:ln w="0">
            <a:noFill/>
          </a:ln>
        </p:spPr>
      </p:sp>
      <p:sp>
        <p:nvSpPr>
          <p:cNvPr id="2787"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88" name="PlaceHolder 3"/>
          <p:cNvSpPr>
            <a:spLocks noGrp="1"/>
          </p:cNvSpPr>
          <p:nvPr>
            <p:ph type="sldNum" idx="33"/>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1E251AF-199E-4967-9D54-9B28D5F5196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9" name="PlaceHolder 1"/>
          <p:cNvSpPr>
            <a:spLocks noGrp="1"/>
          </p:cNvSpPr>
          <p:nvPr>
            <p:ph type="sldImg"/>
          </p:nvPr>
        </p:nvSpPr>
        <p:spPr>
          <a:xfrm>
            <a:off x="685800" y="1143000"/>
            <a:ext cx="5484960" cy="3084840"/>
          </a:xfrm>
          <a:prstGeom prst="rect">
            <a:avLst/>
          </a:prstGeom>
          <a:ln w="0">
            <a:noFill/>
          </a:ln>
        </p:spPr>
      </p:sp>
      <p:sp>
        <p:nvSpPr>
          <p:cNvPr id="2790"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91" name="PlaceHolder 3"/>
          <p:cNvSpPr>
            <a:spLocks noGrp="1"/>
          </p:cNvSpPr>
          <p:nvPr>
            <p:ph type="sldNum" idx="34"/>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B85A27CF-9BB2-4624-B62D-9EC4343F563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92" name="PlaceHolder 1"/>
          <p:cNvSpPr>
            <a:spLocks noGrp="1"/>
          </p:cNvSpPr>
          <p:nvPr>
            <p:ph type="sldImg"/>
          </p:nvPr>
        </p:nvSpPr>
        <p:spPr>
          <a:xfrm>
            <a:off x="685800" y="1143000"/>
            <a:ext cx="5484960" cy="3084840"/>
          </a:xfrm>
          <a:prstGeom prst="rect">
            <a:avLst/>
          </a:prstGeom>
          <a:ln w="0">
            <a:noFill/>
          </a:ln>
        </p:spPr>
      </p:sp>
      <p:sp>
        <p:nvSpPr>
          <p:cNvPr id="2793"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94" name="PlaceHolder 3"/>
          <p:cNvSpPr>
            <a:spLocks noGrp="1"/>
          </p:cNvSpPr>
          <p:nvPr>
            <p:ph type="sldNum" idx="35"/>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59A5430-A953-4651-84CB-B65E3FFD1F8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95" name="PlaceHolder 1"/>
          <p:cNvSpPr>
            <a:spLocks noGrp="1"/>
          </p:cNvSpPr>
          <p:nvPr>
            <p:ph type="sldImg"/>
          </p:nvPr>
        </p:nvSpPr>
        <p:spPr>
          <a:xfrm>
            <a:off x="685800" y="1143000"/>
            <a:ext cx="5484960" cy="3084840"/>
          </a:xfrm>
          <a:prstGeom prst="rect">
            <a:avLst/>
          </a:prstGeom>
          <a:ln w="0">
            <a:noFill/>
          </a:ln>
        </p:spPr>
      </p:sp>
      <p:sp>
        <p:nvSpPr>
          <p:cNvPr id="2796"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97" name="PlaceHolder 3"/>
          <p:cNvSpPr>
            <a:spLocks noGrp="1"/>
          </p:cNvSpPr>
          <p:nvPr>
            <p:ph type="sldNum" idx="36"/>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72329B7B-F170-4966-B667-E033A0EF1DC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98" name="PlaceHolder 1"/>
          <p:cNvSpPr>
            <a:spLocks noGrp="1"/>
          </p:cNvSpPr>
          <p:nvPr>
            <p:ph type="sldImg"/>
          </p:nvPr>
        </p:nvSpPr>
        <p:spPr>
          <a:xfrm>
            <a:off x="685800" y="1143000"/>
            <a:ext cx="5484960" cy="3084840"/>
          </a:xfrm>
          <a:prstGeom prst="rect">
            <a:avLst/>
          </a:prstGeom>
          <a:ln w="0">
            <a:noFill/>
          </a:ln>
        </p:spPr>
      </p:sp>
      <p:sp>
        <p:nvSpPr>
          <p:cNvPr id="2799"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00" name="PlaceHolder 3"/>
          <p:cNvSpPr>
            <a:spLocks noGrp="1"/>
          </p:cNvSpPr>
          <p:nvPr>
            <p:ph type="sldNum" idx="37"/>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CCAC9268-3408-4673-9670-89DF5B2AE5F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1" name="PlaceHolder 1"/>
          <p:cNvSpPr>
            <a:spLocks noGrp="1"/>
          </p:cNvSpPr>
          <p:nvPr>
            <p:ph type="sldImg"/>
          </p:nvPr>
        </p:nvSpPr>
        <p:spPr>
          <a:xfrm>
            <a:off x="685800" y="1143000"/>
            <a:ext cx="5484960" cy="3084840"/>
          </a:xfrm>
          <a:prstGeom prst="rect">
            <a:avLst/>
          </a:prstGeom>
          <a:ln w="0">
            <a:noFill/>
          </a:ln>
        </p:spPr>
      </p:sp>
      <p:sp>
        <p:nvSpPr>
          <p:cNvPr id="2802"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03" name="PlaceHolder 3"/>
          <p:cNvSpPr>
            <a:spLocks noGrp="1"/>
          </p:cNvSpPr>
          <p:nvPr>
            <p:ph type="sldNum" idx="38"/>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F2BCC73A-D075-488B-B1E2-95C78A053C7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4" name="PlaceHolder 1"/>
          <p:cNvSpPr>
            <a:spLocks noGrp="1"/>
          </p:cNvSpPr>
          <p:nvPr>
            <p:ph type="sldImg"/>
          </p:nvPr>
        </p:nvSpPr>
        <p:spPr>
          <a:xfrm>
            <a:off x="685800" y="1143000"/>
            <a:ext cx="5484960" cy="3084840"/>
          </a:xfrm>
          <a:prstGeom prst="rect">
            <a:avLst/>
          </a:prstGeom>
          <a:ln w="0">
            <a:noFill/>
          </a:ln>
        </p:spPr>
      </p:sp>
      <p:sp>
        <p:nvSpPr>
          <p:cNvPr id="2805"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06" name="PlaceHolder 3"/>
          <p:cNvSpPr>
            <a:spLocks noGrp="1"/>
          </p:cNvSpPr>
          <p:nvPr>
            <p:ph type="sldNum" idx="39"/>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DE8D3723-CF2D-40EE-A557-1EF50D5B7A5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7" name="PlaceHolder 1"/>
          <p:cNvSpPr>
            <a:spLocks noGrp="1"/>
          </p:cNvSpPr>
          <p:nvPr>
            <p:ph type="sldImg"/>
          </p:nvPr>
        </p:nvSpPr>
        <p:spPr>
          <a:xfrm>
            <a:off x="685800" y="1143000"/>
            <a:ext cx="5484960" cy="3084840"/>
          </a:xfrm>
          <a:prstGeom prst="rect">
            <a:avLst/>
          </a:prstGeom>
          <a:ln w="0">
            <a:noFill/>
          </a:ln>
        </p:spPr>
      </p:sp>
      <p:sp>
        <p:nvSpPr>
          <p:cNvPr id="2808"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09" name="PlaceHolder 3"/>
          <p:cNvSpPr>
            <a:spLocks noGrp="1"/>
          </p:cNvSpPr>
          <p:nvPr>
            <p:ph type="sldNum" idx="40"/>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D913BF26-93EC-4785-AB8B-289D06AF092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0" name="PlaceHolder 1"/>
          <p:cNvSpPr>
            <a:spLocks noGrp="1"/>
          </p:cNvSpPr>
          <p:nvPr>
            <p:ph type="sldImg"/>
          </p:nvPr>
        </p:nvSpPr>
        <p:spPr>
          <a:xfrm>
            <a:off x="685800" y="1143000"/>
            <a:ext cx="5484960" cy="3084840"/>
          </a:xfrm>
          <a:prstGeom prst="rect">
            <a:avLst/>
          </a:prstGeom>
          <a:ln w="0">
            <a:noFill/>
          </a:ln>
        </p:spPr>
      </p:sp>
      <p:sp>
        <p:nvSpPr>
          <p:cNvPr id="2811"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12" name="PlaceHolder 3"/>
          <p:cNvSpPr>
            <a:spLocks noGrp="1"/>
          </p:cNvSpPr>
          <p:nvPr>
            <p:ph type="sldNum" idx="41"/>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DB117155-4F06-4084-AD71-5B9FC41DCFB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3" name="PlaceHolder 1"/>
          <p:cNvSpPr>
            <a:spLocks noGrp="1"/>
          </p:cNvSpPr>
          <p:nvPr>
            <p:ph type="sldImg"/>
          </p:nvPr>
        </p:nvSpPr>
        <p:spPr>
          <a:xfrm>
            <a:off x="685800" y="1143000"/>
            <a:ext cx="5484960" cy="3084840"/>
          </a:xfrm>
          <a:prstGeom prst="rect">
            <a:avLst/>
          </a:prstGeom>
          <a:ln w="0">
            <a:noFill/>
          </a:ln>
        </p:spPr>
      </p:sp>
      <p:sp>
        <p:nvSpPr>
          <p:cNvPr id="2814"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15" name="PlaceHolder 3"/>
          <p:cNvSpPr>
            <a:spLocks noGrp="1"/>
          </p:cNvSpPr>
          <p:nvPr>
            <p:ph type="sldNum" idx="42"/>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03A1877B-9B18-4C20-AF0C-6263115C578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6" name="PlaceHolder 1"/>
          <p:cNvSpPr>
            <a:spLocks noGrp="1"/>
          </p:cNvSpPr>
          <p:nvPr>
            <p:ph type="sldImg"/>
          </p:nvPr>
        </p:nvSpPr>
        <p:spPr>
          <a:xfrm>
            <a:off x="685800" y="1143000"/>
            <a:ext cx="5484960" cy="3084840"/>
          </a:xfrm>
          <a:prstGeom prst="rect">
            <a:avLst/>
          </a:prstGeom>
          <a:ln w="0">
            <a:noFill/>
          </a:ln>
        </p:spPr>
      </p:sp>
      <p:sp>
        <p:nvSpPr>
          <p:cNvPr id="2817"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18" name="PlaceHolder 3"/>
          <p:cNvSpPr>
            <a:spLocks noGrp="1"/>
          </p:cNvSpPr>
          <p:nvPr>
            <p:ph type="sldNum" idx="43"/>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5330A223-51AE-4DB8-BBA1-960877E605F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9" name="PlaceHolder 1"/>
          <p:cNvSpPr>
            <a:spLocks noGrp="1"/>
          </p:cNvSpPr>
          <p:nvPr>
            <p:ph type="sldImg"/>
          </p:nvPr>
        </p:nvSpPr>
        <p:spPr>
          <a:xfrm>
            <a:off x="685800" y="1143000"/>
            <a:ext cx="5484960" cy="3084840"/>
          </a:xfrm>
          <a:prstGeom prst="rect">
            <a:avLst/>
          </a:prstGeom>
          <a:ln w="0">
            <a:noFill/>
          </a:ln>
        </p:spPr>
      </p:sp>
      <p:sp>
        <p:nvSpPr>
          <p:cNvPr id="2820"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21" name="PlaceHolder 3"/>
          <p:cNvSpPr>
            <a:spLocks noGrp="1"/>
          </p:cNvSpPr>
          <p:nvPr>
            <p:ph type="sldNum" idx="44"/>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2DB7DF51-8FD0-4423-8761-2AF1E3F2B93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2" name="PlaceHolder 1"/>
          <p:cNvSpPr>
            <a:spLocks noGrp="1"/>
          </p:cNvSpPr>
          <p:nvPr>
            <p:ph type="sldImg"/>
          </p:nvPr>
        </p:nvSpPr>
        <p:spPr>
          <a:xfrm>
            <a:off x="685800" y="1143000"/>
            <a:ext cx="5484960" cy="3084840"/>
          </a:xfrm>
          <a:prstGeom prst="rect">
            <a:avLst/>
          </a:prstGeom>
          <a:ln w="0">
            <a:noFill/>
          </a:ln>
        </p:spPr>
      </p:sp>
      <p:sp>
        <p:nvSpPr>
          <p:cNvPr id="2823"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24" name="PlaceHolder 3"/>
          <p:cNvSpPr>
            <a:spLocks noGrp="1"/>
          </p:cNvSpPr>
          <p:nvPr>
            <p:ph type="sldNum" idx="45"/>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43882088-EF16-43CE-8555-F9E670B3A58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5" name="PlaceHolder 1"/>
          <p:cNvSpPr>
            <a:spLocks noGrp="1"/>
          </p:cNvSpPr>
          <p:nvPr>
            <p:ph type="sldImg"/>
          </p:nvPr>
        </p:nvSpPr>
        <p:spPr>
          <a:xfrm>
            <a:off x="685800" y="1143000"/>
            <a:ext cx="5484960" cy="3084840"/>
          </a:xfrm>
          <a:prstGeom prst="rect">
            <a:avLst/>
          </a:prstGeom>
          <a:ln w="0">
            <a:noFill/>
          </a:ln>
        </p:spPr>
      </p:sp>
      <p:sp>
        <p:nvSpPr>
          <p:cNvPr id="2826"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27" name="PlaceHolder 3"/>
          <p:cNvSpPr>
            <a:spLocks noGrp="1"/>
          </p:cNvSpPr>
          <p:nvPr>
            <p:ph type="sldNum" idx="46"/>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EDBBF1B0-FA6B-4016-B8E0-728EC0ECE73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8" name="PlaceHolder 1"/>
          <p:cNvSpPr>
            <a:spLocks noGrp="1"/>
          </p:cNvSpPr>
          <p:nvPr>
            <p:ph type="sldImg"/>
          </p:nvPr>
        </p:nvSpPr>
        <p:spPr>
          <a:xfrm>
            <a:off x="685800" y="1143000"/>
            <a:ext cx="5484960" cy="3084840"/>
          </a:xfrm>
          <a:prstGeom prst="rect">
            <a:avLst/>
          </a:prstGeom>
          <a:ln w="0">
            <a:noFill/>
          </a:ln>
        </p:spPr>
      </p:sp>
      <p:sp>
        <p:nvSpPr>
          <p:cNvPr id="2829"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30" name="PlaceHolder 3"/>
          <p:cNvSpPr>
            <a:spLocks noGrp="1"/>
          </p:cNvSpPr>
          <p:nvPr>
            <p:ph type="sldNum" idx="47"/>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D4C481C8-8D45-4B24-B18A-C15203104D1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1" name="PlaceHolder 1"/>
          <p:cNvSpPr>
            <a:spLocks noGrp="1"/>
          </p:cNvSpPr>
          <p:nvPr>
            <p:ph type="sldImg"/>
          </p:nvPr>
        </p:nvSpPr>
        <p:spPr>
          <a:xfrm>
            <a:off x="685800" y="1143000"/>
            <a:ext cx="5484960" cy="3084840"/>
          </a:xfrm>
          <a:prstGeom prst="rect">
            <a:avLst/>
          </a:prstGeom>
          <a:ln w="0">
            <a:noFill/>
          </a:ln>
        </p:spPr>
      </p:sp>
      <p:sp>
        <p:nvSpPr>
          <p:cNvPr id="2832"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33" name="PlaceHolder 3"/>
          <p:cNvSpPr>
            <a:spLocks noGrp="1"/>
          </p:cNvSpPr>
          <p:nvPr>
            <p:ph type="sldNum" idx="48"/>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664C9EE3-5CD7-4D49-860D-D03EE47C6D7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4" name="PlaceHolder 1"/>
          <p:cNvSpPr>
            <a:spLocks noGrp="1"/>
          </p:cNvSpPr>
          <p:nvPr>
            <p:ph type="sldImg"/>
          </p:nvPr>
        </p:nvSpPr>
        <p:spPr>
          <a:xfrm>
            <a:off x="685800" y="1143000"/>
            <a:ext cx="5484960" cy="3084840"/>
          </a:xfrm>
          <a:prstGeom prst="rect">
            <a:avLst/>
          </a:prstGeom>
          <a:ln w="0">
            <a:noFill/>
          </a:ln>
        </p:spPr>
      </p:sp>
      <p:sp>
        <p:nvSpPr>
          <p:cNvPr id="2835"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36" name="PlaceHolder 3"/>
          <p:cNvSpPr>
            <a:spLocks noGrp="1"/>
          </p:cNvSpPr>
          <p:nvPr>
            <p:ph type="sldNum" idx="49"/>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8C5A45CE-176D-4D35-8C7B-08285A81CE0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7" name="PlaceHolder 1"/>
          <p:cNvSpPr>
            <a:spLocks noGrp="1"/>
          </p:cNvSpPr>
          <p:nvPr>
            <p:ph type="sldImg"/>
          </p:nvPr>
        </p:nvSpPr>
        <p:spPr>
          <a:xfrm>
            <a:off x="685800" y="1143000"/>
            <a:ext cx="5484960" cy="3084840"/>
          </a:xfrm>
          <a:prstGeom prst="rect">
            <a:avLst/>
          </a:prstGeom>
          <a:ln w="0">
            <a:noFill/>
          </a:ln>
        </p:spPr>
      </p:sp>
      <p:sp>
        <p:nvSpPr>
          <p:cNvPr id="2838"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39" name="PlaceHolder 3"/>
          <p:cNvSpPr>
            <a:spLocks noGrp="1"/>
          </p:cNvSpPr>
          <p:nvPr>
            <p:ph type="sldNum" idx="50"/>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5536A54D-8D08-43FB-81CF-A97251556FF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0" name="PlaceHolder 1"/>
          <p:cNvSpPr>
            <a:spLocks noGrp="1"/>
          </p:cNvSpPr>
          <p:nvPr>
            <p:ph type="sldImg"/>
          </p:nvPr>
        </p:nvSpPr>
        <p:spPr>
          <a:xfrm>
            <a:off x="685800" y="1143000"/>
            <a:ext cx="5484960" cy="3084840"/>
          </a:xfrm>
          <a:prstGeom prst="rect">
            <a:avLst/>
          </a:prstGeom>
          <a:ln w="0">
            <a:noFill/>
          </a:ln>
        </p:spPr>
      </p:sp>
      <p:sp>
        <p:nvSpPr>
          <p:cNvPr id="2841"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42" name="PlaceHolder 3"/>
          <p:cNvSpPr>
            <a:spLocks noGrp="1"/>
          </p:cNvSpPr>
          <p:nvPr>
            <p:ph type="sldNum" idx="51"/>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95576AB-05E4-44AA-80AE-571B188DB3B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3" name="PlaceHolder 1"/>
          <p:cNvSpPr>
            <a:spLocks noGrp="1"/>
          </p:cNvSpPr>
          <p:nvPr>
            <p:ph type="sldImg"/>
          </p:nvPr>
        </p:nvSpPr>
        <p:spPr>
          <a:xfrm>
            <a:off x="685800" y="1143000"/>
            <a:ext cx="5484960" cy="3084840"/>
          </a:xfrm>
          <a:prstGeom prst="rect">
            <a:avLst/>
          </a:prstGeom>
          <a:ln w="0">
            <a:noFill/>
          </a:ln>
        </p:spPr>
      </p:sp>
      <p:sp>
        <p:nvSpPr>
          <p:cNvPr id="2844"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45" name="PlaceHolder 3"/>
          <p:cNvSpPr>
            <a:spLocks noGrp="1"/>
          </p:cNvSpPr>
          <p:nvPr>
            <p:ph type="sldNum" idx="52"/>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818B7F7-311F-4689-B160-0603A889F53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6" name="PlaceHolder 1"/>
          <p:cNvSpPr>
            <a:spLocks noGrp="1"/>
          </p:cNvSpPr>
          <p:nvPr>
            <p:ph type="sldImg"/>
          </p:nvPr>
        </p:nvSpPr>
        <p:spPr>
          <a:xfrm>
            <a:off x="685800" y="1143000"/>
            <a:ext cx="5484960" cy="3084840"/>
          </a:xfrm>
          <a:prstGeom prst="rect">
            <a:avLst/>
          </a:prstGeom>
          <a:ln w="0">
            <a:noFill/>
          </a:ln>
        </p:spPr>
      </p:sp>
      <p:sp>
        <p:nvSpPr>
          <p:cNvPr id="2847"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48" name="PlaceHolder 3"/>
          <p:cNvSpPr>
            <a:spLocks noGrp="1"/>
          </p:cNvSpPr>
          <p:nvPr>
            <p:ph type="sldNum" idx="53"/>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3D36461-8FE1-49B5-B18E-456B25A74DA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9" name="PlaceHolder 1"/>
          <p:cNvSpPr>
            <a:spLocks noGrp="1"/>
          </p:cNvSpPr>
          <p:nvPr>
            <p:ph type="sldImg"/>
          </p:nvPr>
        </p:nvSpPr>
        <p:spPr>
          <a:xfrm>
            <a:off x="685800" y="1143000"/>
            <a:ext cx="5484960" cy="3084840"/>
          </a:xfrm>
          <a:prstGeom prst="rect">
            <a:avLst/>
          </a:prstGeom>
          <a:ln w="0">
            <a:noFill/>
          </a:ln>
        </p:spPr>
      </p:sp>
      <p:sp>
        <p:nvSpPr>
          <p:cNvPr id="2850"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51" name="PlaceHolder 3"/>
          <p:cNvSpPr>
            <a:spLocks noGrp="1"/>
          </p:cNvSpPr>
          <p:nvPr>
            <p:ph type="sldNum" idx="54"/>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59B77C2-02C9-46B7-880B-18604E89696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2" name="PlaceHolder 1"/>
          <p:cNvSpPr>
            <a:spLocks noGrp="1"/>
          </p:cNvSpPr>
          <p:nvPr>
            <p:ph type="sldImg"/>
          </p:nvPr>
        </p:nvSpPr>
        <p:spPr>
          <a:xfrm>
            <a:off x="685800" y="1143000"/>
            <a:ext cx="5484960" cy="3084840"/>
          </a:xfrm>
          <a:prstGeom prst="rect">
            <a:avLst/>
          </a:prstGeom>
          <a:ln w="0">
            <a:noFill/>
          </a:ln>
        </p:spPr>
      </p:sp>
      <p:sp>
        <p:nvSpPr>
          <p:cNvPr id="2853"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54" name="PlaceHolder 3"/>
          <p:cNvSpPr>
            <a:spLocks noGrp="1"/>
          </p:cNvSpPr>
          <p:nvPr>
            <p:ph type="sldNum" idx="55"/>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7B059721-D5D5-437D-B6C3-3F60EC27D29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5" name="PlaceHolder 1"/>
          <p:cNvSpPr>
            <a:spLocks noGrp="1"/>
          </p:cNvSpPr>
          <p:nvPr>
            <p:ph type="sldImg"/>
          </p:nvPr>
        </p:nvSpPr>
        <p:spPr>
          <a:xfrm>
            <a:off x="685800" y="1143000"/>
            <a:ext cx="5484960" cy="3084840"/>
          </a:xfrm>
          <a:prstGeom prst="rect">
            <a:avLst/>
          </a:prstGeom>
          <a:ln w="0">
            <a:noFill/>
          </a:ln>
        </p:spPr>
      </p:sp>
      <p:sp>
        <p:nvSpPr>
          <p:cNvPr id="2856"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57" name="PlaceHolder 3"/>
          <p:cNvSpPr>
            <a:spLocks noGrp="1"/>
          </p:cNvSpPr>
          <p:nvPr>
            <p:ph type="sldNum" idx="56"/>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2472AE3A-DE16-4BFE-8D64-C8A71973E64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8" name="PlaceHolder 1"/>
          <p:cNvSpPr>
            <a:spLocks noGrp="1"/>
          </p:cNvSpPr>
          <p:nvPr>
            <p:ph type="sldImg"/>
          </p:nvPr>
        </p:nvSpPr>
        <p:spPr>
          <a:xfrm>
            <a:off x="685800" y="1143000"/>
            <a:ext cx="5484960" cy="3084840"/>
          </a:xfrm>
          <a:prstGeom prst="rect">
            <a:avLst/>
          </a:prstGeom>
          <a:ln w="0">
            <a:noFill/>
          </a:ln>
        </p:spPr>
      </p:sp>
      <p:sp>
        <p:nvSpPr>
          <p:cNvPr id="2859"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60" name="PlaceHolder 3"/>
          <p:cNvSpPr>
            <a:spLocks noGrp="1"/>
          </p:cNvSpPr>
          <p:nvPr>
            <p:ph type="sldNum" idx="57"/>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1F365E0-9978-403B-B534-BA6D464A647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1" name="PlaceHolder 1"/>
          <p:cNvSpPr>
            <a:spLocks noGrp="1"/>
          </p:cNvSpPr>
          <p:nvPr>
            <p:ph type="sldImg"/>
          </p:nvPr>
        </p:nvSpPr>
        <p:spPr>
          <a:xfrm>
            <a:off x="685800" y="1143000"/>
            <a:ext cx="5484960" cy="3084840"/>
          </a:xfrm>
          <a:prstGeom prst="rect">
            <a:avLst/>
          </a:prstGeom>
          <a:ln w="0">
            <a:noFill/>
          </a:ln>
        </p:spPr>
      </p:sp>
      <p:sp>
        <p:nvSpPr>
          <p:cNvPr id="2862"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63" name="PlaceHolder 3"/>
          <p:cNvSpPr>
            <a:spLocks noGrp="1"/>
          </p:cNvSpPr>
          <p:nvPr>
            <p:ph type="sldNum" idx="58"/>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42465B8-29BD-4362-BD47-ADFE91E4A43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4" name="PlaceHolder 1"/>
          <p:cNvSpPr>
            <a:spLocks noGrp="1"/>
          </p:cNvSpPr>
          <p:nvPr>
            <p:ph type="sldImg"/>
          </p:nvPr>
        </p:nvSpPr>
        <p:spPr>
          <a:xfrm>
            <a:off x="685800" y="1143000"/>
            <a:ext cx="5484960" cy="3084840"/>
          </a:xfrm>
          <a:prstGeom prst="rect">
            <a:avLst/>
          </a:prstGeom>
          <a:ln w="0">
            <a:noFill/>
          </a:ln>
        </p:spPr>
      </p:sp>
      <p:sp>
        <p:nvSpPr>
          <p:cNvPr id="2865"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66" name="PlaceHolder 3"/>
          <p:cNvSpPr>
            <a:spLocks noGrp="1"/>
          </p:cNvSpPr>
          <p:nvPr>
            <p:ph type="sldNum" idx="59"/>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0DABCB05-38E1-40AB-A61A-7D103149A7E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7" name="PlaceHolder 1"/>
          <p:cNvSpPr>
            <a:spLocks noGrp="1"/>
          </p:cNvSpPr>
          <p:nvPr>
            <p:ph type="sldImg"/>
          </p:nvPr>
        </p:nvSpPr>
        <p:spPr>
          <a:xfrm>
            <a:off x="685800" y="1143000"/>
            <a:ext cx="5484960" cy="3084840"/>
          </a:xfrm>
          <a:prstGeom prst="rect">
            <a:avLst/>
          </a:prstGeom>
          <a:ln w="0">
            <a:noFill/>
          </a:ln>
        </p:spPr>
      </p:sp>
      <p:sp>
        <p:nvSpPr>
          <p:cNvPr id="2868"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69" name="PlaceHolder 3"/>
          <p:cNvSpPr>
            <a:spLocks noGrp="1"/>
          </p:cNvSpPr>
          <p:nvPr>
            <p:ph type="sldNum" idx="60"/>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F63A31AB-FCC1-4644-9E74-51440ABE47F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0" name="PlaceHolder 1"/>
          <p:cNvSpPr>
            <a:spLocks noGrp="1"/>
          </p:cNvSpPr>
          <p:nvPr>
            <p:ph type="sldImg"/>
          </p:nvPr>
        </p:nvSpPr>
        <p:spPr>
          <a:xfrm>
            <a:off x="685800" y="1143000"/>
            <a:ext cx="5484960" cy="3084840"/>
          </a:xfrm>
          <a:prstGeom prst="rect">
            <a:avLst/>
          </a:prstGeom>
          <a:ln w="0">
            <a:noFill/>
          </a:ln>
        </p:spPr>
      </p:sp>
      <p:sp>
        <p:nvSpPr>
          <p:cNvPr id="2871"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72" name="PlaceHolder 3"/>
          <p:cNvSpPr>
            <a:spLocks noGrp="1"/>
          </p:cNvSpPr>
          <p:nvPr>
            <p:ph type="sldNum" idx="61"/>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BA39A31B-42FC-49AE-B624-122123020C5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3" name="PlaceHolder 1"/>
          <p:cNvSpPr>
            <a:spLocks noGrp="1"/>
          </p:cNvSpPr>
          <p:nvPr>
            <p:ph type="sldImg"/>
          </p:nvPr>
        </p:nvSpPr>
        <p:spPr>
          <a:xfrm>
            <a:off x="685800" y="1143000"/>
            <a:ext cx="5484960" cy="3084840"/>
          </a:xfrm>
          <a:prstGeom prst="rect">
            <a:avLst/>
          </a:prstGeom>
          <a:ln w="0">
            <a:noFill/>
          </a:ln>
        </p:spPr>
      </p:sp>
      <p:sp>
        <p:nvSpPr>
          <p:cNvPr id="2874"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75" name="PlaceHolder 3"/>
          <p:cNvSpPr>
            <a:spLocks noGrp="1"/>
          </p:cNvSpPr>
          <p:nvPr>
            <p:ph type="sldNum" idx="62"/>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9493431-4115-4DD5-B2EC-1E1905AC130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6" name="PlaceHolder 1"/>
          <p:cNvSpPr>
            <a:spLocks noGrp="1"/>
          </p:cNvSpPr>
          <p:nvPr>
            <p:ph type="sldImg"/>
          </p:nvPr>
        </p:nvSpPr>
        <p:spPr>
          <a:xfrm>
            <a:off x="685800" y="1143000"/>
            <a:ext cx="5484960" cy="3084840"/>
          </a:xfrm>
          <a:prstGeom prst="rect">
            <a:avLst/>
          </a:prstGeom>
          <a:ln w="0">
            <a:noFill/>
          </a:ln>
        </p:spPr>
      </p:sp>
      <p:sp>
        <p:nvSpPr>
          <p:cNvPr id="2877"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78" name="PlaceHolder 3"/>
          <p:cNvSpPr>
            <a:spLocks noGrp="1"/>
          </p:cNvSpPr>
          <p:nvPr>
            <p:ph type="sldNum" idx="63"/>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2B350837-238D-4C2C-8407-71BB1B6ADB2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9" name="PlaceHolder 1"/>
          <p:cNvSpPr>
            <a:spLocks noGrp="1"/>
          </p:cNvSpPr>
          <p:nvPr>
            <p:ph type="sldImg"/>
          </p:nvPr>
        </p:nvSpPr>
        <p:spPr>
          <a:xfrm>
            <a:off x="685800" y="1143000"/>
            <a:ext cx="5484960" cy="3084840"/>
          </a:xfrm>
          <a:prstGeom prst="rect">
            <a:avLst/>
          </a:prstGeom>
          <a:ln w="0">
            <a:noFill/>
          </a:ln>
        </p:spPr>
      </p:sp>
      <p:sp>
        <p:nvSpPr>
          <p:cNvPr id="2880"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81" name="PlaceHolder 3"/>
          <p:cNvSpPr>
            <a:spLocks noGrp="1"/>
          </p:cNvSpPr>
          <p:nvPr>
            <p:ph type="sldNum" idx="64"/>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6C54E8B5-9ABE-4F27-9BCA-8149C33B2D3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2" name="PlaceHolder 1"/>
          <p:cNvSpPr>
            <a:spLocks noGrp="1"/>
          </p:cNvSpPr>
          <p:nvPr>
            <p:ph type="sldImg"/>
          </p:nvPr>
        </p:nvSpPr>
        <p:spPr>
          <a:xfrm>
            <a:off x="685800" y="1143000"/>
            <a:ext cx="5484960" cy="3084840"/>
          </a:xfrm>
          <a:prstGeom prst="rect">
            <a:avLst/>
          </a:prstGeom>
          <a:ln w="0">
            <a:noFill/>
          </a:ln>
        </p:spPr>
      </p:sp>
      <p:sp>
        <p:nvSpPr>
          <p:cNvPr id="2883"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84" name="PlaceHolder 3"/>
          <p:cNvSpPr>
            <a:spLocks noGrp="1"/>
          </p:cNvSpPr>
          <p:nvPr>
            <p:ph type="sldNum" idx="65"/>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D8D5316-F2BC-4BCF-9673-E642773A22D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5" name="PlaceHolder 1"/>
          <p:cNvSpPr>
            <a:spLocks noGrp="1"/>
          </p:cNvSpPr>
          <p:nvPr>
            <p:ph type="sldImg"/>
          </p:nvPr>
        </p:nvSpPr>
        <p:spPr>
          <a:xfrm>
            <a:off x="685800" y="1143000"/>
            <a:ext cx="5484960" cy="3084840"/>
          </a:xfrm>
          <a:prstGeom prst="rect">
            <a:avLst/>
          </a:prstGeom>
          <a:ln w="0">
            <a:noFill/>
          </a:ln>
        </p:spPr>
      </p:sp>
      <p:sp>
        <p:nvSpPr>
          <p:cNvPr id="2886"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87" name="PlaceHolder 3"/>
          <p:cNvSpPr>
            <a:spLocks noGrp="1"/>
          </p:cNvSpPr>
          <p:nvPr>
            <p:ph type="sldNum" idx="66"/>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08BB0B1B-182A-40D1-A04B-B17CB6CB0D0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8" name="PlaceHolder 1"/>
          <p:cNvSpPr>
            <a:spLocks noGrp="1"/>
          </p:cNvSpPr>
          <p:nvPr>
            <p:ph type="sldImg"/>
          </p:nvPr>
        </p:nvSpPr>
        <p:spPr>
          <a:xfrm>
            <a:off x="685800" y="1143000"/>
            <a:ext cx="5484960" cy="3084840"/>
          </a:xfrm>
          <a:prstGeom prst="rect">
            <a:avLst/>
          </a:prstGeom>
          <a:ln w="0">
            <a:noFill/>
          </a:ln>
        </p:spPr>
      </p:sp>
      <p:sp>
        <p:nvSpPr>
          <p:cNvPr id="2889"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90" name="PlaceHolder 3"/>
          <p:cNvSpPr>
            <a:spLocks noGrp="1"/>
          </p:cNvSpPr>
          <p:nvPr>
            <p:ph type="sldNum" idx="67"/>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898AB24D-0D8B-4FC4-BF5C-5777BB51AE2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1" name="PlaceHolder 1"/>
          <p:cNvSpPr>
            <a:spLocks noGrp="1"/>
          </p:cNvSpPr>
          <p:nvPr>
            <p:ph type="sldImg"/>
          </p:nvPr>
        </p:nvSpPr>
        <p:spPr>
          <a:xfrm>
            <a:off x="685800" y="1143000"/>
            <a:ext cx="5484960" cy="3084840"/>
          </a:xfrm>
          <a:prstGeom prst="rect">
            <a:avLst/>
          </a:prstGeom>
          <a:ln w="0">
            <a:noFill/>
          </a:ln>
        </p:spPr>
      </p:sp>
      <p:sp>
        <p:nvSpPr>
          <p:cNvPr id="2892"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93" name="PlaceHolder 3"/>
          <p:cNvSpPr>
            <a:spLocks noGrp="1"/>
          </p:cNvSpPr>
          <p:nvPr>
            <p:ph type="sldNum" idx="68"/>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FF36712C-C284-4A85-95D8-434CA3E5C86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4" name="PlaceHolder 1"/>
          <p:cNvSpPr>
            <a:spLocks noGrp="1"/>
          </p:cNvSpPr>
          <p:nvPr>
            <p:ph type="sldImg"/>
          </p:nvPr>
        </p:nvSpPr>
        <p:spPr>
          <a:xfrm>
            <a:off x="685800" y="1143000"/>
            <a:ext cx="5484960" cy="3084840"/>
          </a:xfrm>
          <a:prstGeom prst="rect">
            <a:avLst/>
          </a:prstGeom>
          <a:ln w="0">
            <a:noFill/>
          </a:ln>
        </p:spPr>
      </p:sp>
      <p:sp>
        <p:nvSpPr>
          <p:cNvPr id="2895"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96" name="PlaceHolder 3"/>
          <p:cNvSpPr>
            <a:spLocks noGrp="1"/>
          </p:cNvSpPr>
          <p:nvPr>
            <p:ph type="sldNum" idx="69"/>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FECEC86-DBCA-481D-83B6-665FDB6B781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7" name="PlaceHolder 1"/>
          <p:cNvSpPr>
            <a:spLocks noGrp="1"/>
          </p:cNvSpPr>
          <p:nvPr>
            <p:ph type="sldImg"/>
          </p:nvPr>
        </p:nvSpPr>
        <p:spPr>
          <a:xfrm>
            <a:off x="685800" y="1143000"/>
            <a:ext cx="5484960" cy="3084840"/>
          </a:xfrm>
          <a:prstGeom prst="rect">
            <a:avLst/>
          </a:prstGeom>
          <a:ln w="0">
            <a:noFill/>
          </a:ln>
        </p:spPr>
      </p:sp>
      <p:sp>
        <p:nvSpPr>
          <p:cNvPr id="2898"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99" name="PlaceHolder 3"/>
          <p:cNvSpPr>
            <a:spLocks noGrp="1"/>
          </p:cNvSpPr>
          <p:nvPr>
            <p:ph type="sldNum" idx="70"/>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09F12A57-1DD6-4D6C-961D-23268FF5F38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0" name="PlaceHolder 1"/>
          <p:cNvSpPr>
            <a:spLocks noGrp="1"/>
          </p:cNvSpPr>
          <p:nvPr>
            <p:ph type="sldImg"/>
          </p:nvPr>
        </p:nvSpPr>
        <p:spPr>
          <a:xfrm>
            <a:off x="685800" y="1143000"/>
            <a:ext cx="5484960" cy="3084840"/>
          </a:xfrm>
          <a:prstGeom prst="rect">
            <a:avLst/>
          </a:prstGeom>
          <a:ln w="0">
            <a:noFill/>
          </a:ln>
        </p:spPr>
      </p:sp>
      <p:sp>
        <p:nvSpPr>
          <p:cNvPr id="2901"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02" name="PlaceHolder 3"/>
          <p:cNvSpPr>
            <a:spLocks noGrp="1"/>
          </p:cNvSpPr>
          <p:nvPr>
            <p:ph type="sldNum" idx="71"/>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23F54608-6F34-4BD3-892D-D8E97F1E852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3" name="PlaceHolder 1"/>
          <p:cNvSpPr>
            <a:spLocks noGrp="1"/>
          </p:cNvSpPr>
          <p:nvPr>
            <p:ph type="sldImg"/>
          </p:nvPr>
        </p:nvSpPr>
        <p:spPr>
          <a:xfrm>
            <a:off x="685800" y="1143000"/>
            <a:ext cx="5484960" cy="3084840"/>
          </a:xfrm>
          <a:prstGeom prst="rect">
            <a:avLst/>
          </a:prstGeom>
          <a:ln w="0">
            <a:noFill/>
          </a:ln>
        </p:spPr>
      </p:sp>
      <p:sp>
        <p:nvSpPr>
          <p:cNvPr id="2904"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05" name="PlaceHolder 3"/>
          <p:cNvSpPr>
            <a:spLocks noGrp="1"/>
          </p:cNvSpPr>
          <p:nvPr>
            <p:ph type="sldNum" idx="72"/>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AFB2F07-6824-4D82-A4DD-CC67F43C4C6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6" name="PlaceHolder 1"/>
          <p:cNvSpPr>
            <a:spLocks noGrp="1"/>
          </p:cNvSpPr>
          <p:nvPr>
            <p:ph type="sldImg"/>
          </p:nvPr>
        </p:nvSpPr>
        <p:spPr>
          <a:xfrm>
            <a:off x="685800" y="1143000"/>
            <a:ext cx="5484960" cy="3084840"/>
          </a:xfrm>
          <a:prstGeom prst="rect">
            <a:avLst/>
          </a:prstGeom>
          <a:ln w="0">
            <a:noFill/>
          </a:ln>
        </p:spPr>
      </p:sp>
      <p:sp>
        <p:nvSpPr>
          <p:cNvPr id="2907"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08" name="PlaceHolder 3"/>
          <p:cNvSpPr>
            <a:spLocks noGrp="1"/>
          </p:cNvSpPr>
          <p:nvPr>
            <p:ph type="sldNum" idx="73"/>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CE0B65FA-5C58-4845-A67D-52B25F0BA41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9" name="PlaceHolder 1"/>
          <p:cNvSpPr>
            <a:spLocks noGrp="1"/>
          </p:cNvSpPr>
          <p:nvPr>
            <p:ph type="sldImg"/>
          </p:nvPr>
        </p:nvSpPr>
        <p:spPr>
          <a:xfrm>
            <a:off x="685800" y="1143000"/>
            <a:ext cx="5484960" cy="3084840"/>
          </a:xfrm>
          <a:prstGeom prst="rect">
            <a:avLst/>
          </a:prstGeom>
          <a:ln w="0">
            <a:noFill/>
          </a:ln>
        </p:spPr>
      </p:sp>
      <p:sp>
        <p:nvSpPr>
          <p:cNvPr id="2910"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11" name="PlaceHolder 3"/>
          <p:cNvSpPr>
            <a:spLocks noGrp="1"/>
          </p:cNvSpPr>
          <p:nvPr>
            <p:ph type="sldNum" idx="74"/>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ED4D7E36-ABFE-463D-BF26-90C1BEC1685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2" name="PlaceHolder 1"/>
          <p:cNvSpPr>
            <a:spLocks noGrp="1"/>
          </p:cNvSpPr>
          <p:nvPr>
            <p:ph type="sldImg"/>
          </p:nvPr>
        </p:nvSpPr>
        <p:spPr>
          <a:xfrm>
            <a:off x="685800" y="1143000"/>
            <a:ext cx="5484960" cy="3084840"/>
          </a:xfrm>
          <a:prstGeom prst="rect">
            <a:avLst/>
          </a:prstGeom>
          <a:ln w="0">
            <a:noFill/>
          </a:ln>
        </p:spPr>
      </p:sp>
      <p:sp>
        <p:nvSpPr>
          <p:cNvPr id="2913"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14" name="PlaceHolder 3"/>
          <p:cNvSpPr>
            <a:spLocks noGrp="1"/>
          </p:cNvSpPr>
          <p:nvPr>
            <p:ph type="sldNum" idx="75"/>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D336BFA-C88D-4B38-B413-2F8A2A68A61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5" name="PlaceHolder 1"/>
          <p:cNvSpPr>
            <a:spLocks noGrp="1"/>
          </p:cNvSpPr>
          <p:nvPr>
            <p:ph type="sldImg"/>
          </p:nvPr>
        </p:nvSpPr>
        <p:spPr>
          <a:xfrm>
            <a:off x="685800" y="1143000"/>
            <a:ext cx="5484960" cy="3084840"/>
          </a:xfrm>
          <a:prstGeom prst="rect">
            <a:avLst/>
          </a:prstGeom>
          <a:ln w="0">
            <a:noFill/>
          </a:ln>
        </p:spPr>
      </p:sp>
      <p:sp>
        <p:nvSpPr>
          <p:cNvPr id="2916"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17" name="PlaceHolder 3"/>
          <p:cNvSpPr>
            <a:spLocks noGrp="1"/>
          </p:cNvSpPr>
          <p:nvPr>
            <p:ph type="sldNum" idx="76"/>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FBDE31BD-2CD7-4D74-B046-4AA6DA7E149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8" name="PlaceHolder 1"/>
          <p:cNvSpPr>
            <a:spLocks noGrp="1"/>
          </p:cNvSpPr>
          <p:nvPr>
            <p:ph type="sldImg"/>
          </p:nvPr>
        </p:nvSpPr>
        <p:spPr>
          <a:xfrm>
            <a:off x="685800" y="1143000"/>
            <a:ext cx="5484960" cy="3084840"/>
          </a:xfrm>
          <a:prstGeom prst="rect">
            <a:avLst/>
          </a:prstGeom>
          <a:ln w="0">
            <a:noFill/>
          </a:ln>
        </p:spPr>
      </p:sp>
      <p:sp>
        <p:nvSpPr>
          <p:cNvPr id="2919"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20" name="PlaceHolder 3"/>
          <p:cNvSpPr>
            <a:spLocks noGrp="1"/>
          </p:cNvSpPr>
          <p:nvPr>
            <p:ph type="sldNum" idx="77"/>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5D14644A-3E5B-4AB4-B7D7-99DC2BA60C1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1" name="PlaceHolder 1"/>
          <p:cNvSpPr>
            <a:spLocks noGrp="1"/>
          </p:cNvSpPr>
          <p:nvPr>
            <p:ph type="sldImg"/>
          </p:nvPr>
        </p:nvSpPr>
        <p:spPr>
          <a:xfrm>
            <a:off x="685800" y="1143000"/>
            <a:ext cx="5484960" cy="3084840"/>
          </a:xfrm>
          <a:prstGeom prst="rect">
            <a:avLst/>
          </a:prstGeom>
          <a:ln w="0">
            <a:noFill/>
          </a:ln>
        </p:spPr>
      </p:sp>
      <p:sp>
        <p:nvSpPr>
          <p:cNvPr id="2922"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23" name="PlaceHolder 3"/>
          <p:cNvSpPr>
            <a:spLocks noGrp="1"/>
          </p:cNvSpPr>
          <p:nvPr>
            <p:ph type="sldNum" idx="78"/>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BC647960-61EA-40B1-A920-144B1B9F2D4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4" name="PlaceHolder 1"/>
          <p:cNvSpPr>
            <a:spLocks noGrp="1"/>
          </p:cNvSpPr>
          <p:nvPr>
            <p:ph type="sldImg"/>
          </p:nvPr>
        </p:nvSpPr>
        <p:spPr>
          <a:xfrm>
            <a:off x="685800" y="1143000"/>
            <a:ext cx="5484960" cy="3084840"/>
          </a:xfrm>
          <a:prstGeom prst="rect">
            <a:avLst/>
          </a:prstGeom>
          <a:ln w="0">
            <a:noFill/>
          </a:ln>
        </p:spPr>
      </p:sp>
      <p:sp>
        <p:nvSpPr>
          <p:cNvPr id="2925"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26" name="PlaceHolder 3"/>
          <p:cNvSpPr>
            <a:spLocks noGrp="1"/>
          </p:cNvSpPr>
          <p:nvPr>
            <p:ph type="sldNum" idx="79"/>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20F50FE-631D-440B-B7E6-6FB86EA620C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7" name="PlaceHolder 1"/>
          <p:cNvSpPr>
            <a:spLocks noGrp="1"/>
          </p:cNvSpPr>
          <p:nvPr>
            <p:ph type="sldImg"/>
          </p:nvPr>
        </p:nvSpPr>
        <p:spPr>
          <a:xfrm>
            <a:off x="685800" y="1143000"/>
            <a:ext cx="5484960" cy="3084840"/>
          </a:xfrm>
          <a:prstGeom prst="rect">
            <a:avLst/>
          </a:prstGeom>
          <a:ln w="0">
            <a:noFill/>
          </a:ln>
        </p:spPr>
      </p:sp>
      <p:sp>
        <p:nvSpPr>
          <p:cNvPr id="2928"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29" name="PlaceHolder 3"/>
          <p:cNvSpPr>
            <a:spLocks noGrp="1"/>
          </p:cNvSpPr>
          <p:nvPr>
            <p:ph type="sldNum" idx="80"/>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7AF1BDF-11C1-4E17-A1E2-847036DAB68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0" name="PlaceHolder 1"/>
          <p:cNvSpPr>
            <a:spLocks noGrp="1"/>
          </p:cNvSpPr>
          <p:nvPr>
            <p:ph type="sldImg"/>
          </p:nvPr>
        </p:nvSpPr>
        <p:spPr>
          <a:xfrm>
            <a:off x="685800" y="1143000"/>
            <a:ext cx="5484960" cy="3084840"/>
          </a:xfrm>
          <a:prstGeom prst="rect">
            <a:avLst/>
          </a:prstGeom>
          <a:ln w="0">
            <a:noFill/>
          </a:ln>
        </p:spPr>
      </p:sp>
      <p:sp>
        <p:nvSpPr>
          <p:cNvPr id="2931"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32" name="PlaceHolder 3"/>
          <p:cNvSpPr>
            <a:spLocks noGrp="1"/>
          </p:cNvSpPr>
          <p:nvPr>
            <p:ph type="sldNum" idx="81"/>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859D83BE-9ED5-4D4A-90FC-E1FA9BE55F4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3" name="PlaceHolder 1"/>
          <p:cNvSpPr>
            <a:spLocks noGrp="1"/>
          </p:cNvSpPr>
          <p:nvPr>
            <p:ph type="sldImg"/>
          </p:nvPr>
        </p:nvSpPr>
        <p:spPr>
          <a:xfrm>
            <a:off x="685800" y="1143000"/>
            <a:ext cx="5484960" cy="3084840"/>
          </a:xfrm>
          <a:prstGeom prst="rect">
            <a:avLst/>
          </a:prstGeom>
          <a:ln w="0">
            <a:noFill/>
          </a:ln>
        </p:spPr>
      </p:sp>
      <p:sp>
        <p:nvSpPr>
          <p:cNvPr id="2934"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35" name="PlaceHolder 3"/>
          <p:cNvSpPr>
            <a:spLocks noGrp="1"/>
          </p:cNvSpPr>
          <p:nvPr>
            <p:ph type="sldNum" idx="82"/>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C48EC1CC-B255-443E-B08D-8E24F6AD770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6" name="PlaceHolder 1"/>
          <p:cNvSpPr>
            <a:spLocks noGrp="1"/>
          </p:cNvSpPr>
          <p:nvPr>
            <p:ph type="sldImg"/>
          </p:nvPr>
        </p:nvSpPr>
        <p:spPr>
          <a:xfrm>
            <a:off x="685800" y="1143000"/>
            <a:ext cx="5484960" cy="3084840"/>
          </a:xfrm>
          <a:prstGeom prst="rect">
            <a:avLst/>
          </a:prstGeom>
          <a:ln w="0">
            <a:noFill/>
          </a:ln>
        </p:spPr>
      </p:sp>
      <p:sp>
        <p:nvSpPr>
          <p:cNvPr id="2937"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38" name="PlaceHolder 3"/>
          <p:cNvSpPr>
            <a:spLocks noGrp="1"/>
          </p:cNvSpPr>
          <p:nvPr>
            <p:ph type="sldNum" idx="83"/>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51B77EC3-0D7C-4BE1-983D-7D275606CCD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9" name="PlaceHolder 1"/>
          <p:cNvSpPr>
            <a:spLocks noGrp="1"/>
          </p:cNvSpPr>
          <p:nvPr>
            <p:ph type="sldImg"/>
          </p:nvPr>
        </p:nvSpPr>
        <p:spPr>
          <a:xfrm>
            <a:off x="685800" y="1143000"/>
            <a:ext cx="5484960" cy="3084840"/>
          </a:xfrm>
          <a:prstGeom prst="rect">
            <a:avLst/>
          </a:prstGeom>
          <a:ln w="0">
            <a:noFill/>
          </a:ln>
        </p:spPr>
      </p:sp>
      <p:sp>
        <p:nvSpPr>
          <p:cNvPr id="2940"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41" name="PlaceHolder 3"/>
          <p:cNvSpPr>
            <a:spLocks noGrp="1"/>
          </p:cNvSpPr>
          <p:nvPr>
            <p:ph type="sldNum" idx="84"/>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5D9C41C4-B2F9-4ECC-A83F-2D348F4CF2B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2" name="PlaceHolder 1"/>
          <p:cNvSpPr>
            <a:spLocks noGrp="1"/>
          </p:cNvSpPr>
          <p:nvPr>
            <p:ph type="sldImg"/>
          </p:nvPr>
        </p:nvSpPr>
        <p:spPr>
          <a:xfrm>
            <a:off x="685800" y="1143000"/>
            <a:ext cx="5484960" cy="3084840"/>
          </a:xfrm>
          <a:prstGeom prst="rect">
            <a:avLst/>
          </a:prstGeom>
          <a:ln w="0">
            <a:noFill/>
          </a:ln>
        </p:spPr>
      </p:sp>
      <p:sp>
        <p:nvSpPr>
          <p:cNvPr id="2943"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44" name="PlaceHolder 3"/>
          <p:cNvSpPr>
            <a:spLocks noGrp="1"/>
          </p:cNvSpPr>
          <p:nvPr>
            <p:ph type="sldNum" idx="85"/>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FA7F7295-9265-4021-BA14-A7BA7304CF5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5" name="PlaceHolder 1"/>
          <p:cNvSpPr>
            <a:spLocks noGrp="1"/>
          </p:cNvSpPr>
          <p:nvPr>
            <p:ph type="sldImg"/>
          </p:nvPr>
        </p:nvSpPr>
        <p:spPr>
          <a:xfrm>
            <a:off x="685800" y="1143000"/>
            <a:ext cx="5484960" cy="3084840"/>
          </a:xfrm>
          <a:prstGeom prst="rect">
            <a:avLst/>
          </a:prstGeom>
          <a:ln w="0">
            <a:noFill/>
          </a:ln>
        </p:spPr>
      </p:sp>
      <p:sp>
        <p:nvSpPr>
          <p:cNvPr id="2946"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47" name="PlaceHolder 3"/>
          <p:cNvSpPr>
            <a:spLocks noGrp="1"/>
          </p:cNvSpPr>
          <p:nvPr>
            <p:ph type="sldNum" idx="86"/>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5DA890B4-0BC2-42F2-9FB0-CF89367E815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8" name="PlaceHolder 1"/>
          <p:cNvSpPr>
            <a:spLocks noGrp="1"/>
          </p:cNvSpPr>
          <p:nvPr>
            <p:ph type="sldImg"/>
          </p:nvPr>
        </p:nvSpPr>
        <p:spPr>
          <a:xfrm>
            <a:off x="685800" y="1143000"/>
            <a:ext cx="5484960" cy="3084840"/>
          </a:xfrm>
          <a:prstGeom prst="rect">
            <a:avLst/>
          </a:prstGeom>
          <a:ln w="0">
            <a:noFill/>
          </a:ln>
        </p:spPr>
      </p:sp>
      <p:sp>
        <p:nvSpPr>
          <p:cNvPr id="2949"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50" name="PlaceHolder 3"/>
          <p:cNvSpPr>
            <a:spLocks noGrp="1"/>
          </p:cNvSpPr>
          <p:nvPr>
            <p:ph type="sldNum" idx="87"/>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C1E28C6F-FE8C-4545-A715-63A33FB7202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1" name="PlaceHolder 1"/>
          <p:cNvSpPr>
            <a:spLocks noGrp="1"/>
          </p:cNvSpPr>
          <p:nvPr>
            <p:ph type="sldImg"/>
          </p:nvPr>
        </p:nvSpPr>
        <p:spPr>
          <a:xfrm>
            <a:off x="685800" y="1143000"/>
            <a:ext cx="5484960" cy="3084840"/>
          </a:xfrm>
          <a:prstGeom prst="rect">
            <a:avLst/>
          </a:prstGeom>
          <a:ln w="0">
            <a:noFill/>
          </a:ln>
        </p:spPr>
      </p:sp>
      <p:sp>
        <p:nvSpPr>
          <p:cNvPr id="2952"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53" name="PlaceHolder 3"/>
          <p:cNvSpPr>
            <a:spLocks noGrp="1"/>
          </p:cNvSpPr>
          <p:nvPr>
            <p:ph type="sldNum" idx="88"/>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D84D54C-7C63-4FE2-88C0-91E83D8E8C2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4" name="PlaceHolder 1"/>
          <p:cNvSpPr>
            <a:spLocks noGrp="1"/>
          </p:cNvSpPr>
          <p:nvPr>
            <p:ph type="sldImg"/>
          </p:nvPr>
        </p:nvSpPr>
        <p:spPr>
          <a:xfrm>
            <a:off x="685800" y="1143000"/>
            <a:ext cx="5484960" cy="3084840"/>
          </a:xfrm>
          <a:prstGeom prst="rect">
            <a:avLst/>
          </a:prstGeom>
          <a:ln w="0">
            <a:noFill/>
          </a:ln>
        </p:spPr>
      </p:sp>
      <p:sp>
        <p:nvSpPr>
          <p:cNvPr id="2955"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56" name="PlaceHolder 3"/>
          <p:cNvSpPr>
            <a:spLocks noGrp="1"/>
          </p:cNvSpPr>
          <p:nvPr>
            <p:ph type="sldNum" idx="89"/>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D9EFA513-8A70-496B-8CBC-FA4447A2973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7" name="PlaceHolder 1"/>
          <p:cNvSpPr>
            <a:spLocks noGrp="1"/>
          </p:cNvSpPr>
          <p:nvPr>
            <p:ph type="sldImg"/>
          </p:nvPr>
        </p:nvSpPr>
        <p:spPr>
          <a:xfrm>
            <a:off x="685800" y="1143000"/>
            <a:ext cx="5484960" cy="3084840"/>
          </a:xfrm>
          <a:prstGeom prst="rect">
            <a:avLst/>
          </a:prstGeom>
          <a:ln w="0">
            <a:noFill/>
          </a:ln>
        </p:spPr>
      </p:sp>
      <p:sp>
        <p:nvSpPr>
          <p:cNvPr id="2958"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59" name="PlaceHolder 3"/>
          <p:cNvSpPr>
            <a:spLocks noGrp="1"/>
          </p:cNvSpPr>
          <p:nvPr>
            <p:ph type="sldNum" idx="90"/>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B6B477D-4CC8-478D-A9F9-923DAADE7CD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0" name="PlaceHolder 1"/>
          <p:cNvSpPr>
            <a:spLocks noGrp="1"/>
          </p:cNvSpPr>
          <p:nvPr>
            <p:ph type="sldImg"/>
          </p:nvPr>
        </p:nvSpPr>
        <p:spPr>
          <a:xfrm>
            <a:off x="685800" y="1143000"/>
            <a:ext cx="5484960" cy="3084840"/>
          </a:xfrm>
          <a:prstGeom prst="rect">
            <a:avLst/>
          </a:prstGeom>
          <a:ln w="0">
            <a:noFill/>
          </a:ln>
        </p:spPr>
      </p:sp>
      <p:sp>
        <p:nvSpPr>
          <p:cNvPr id="2961"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62" name="PlaceHolder 3"/>
          <p:cNvSpPr>
            <a:spLocks noGrp="1"/>
          </p:cNvSpPr>
          <p:nvPr>
            <p:ph type="sldNum" idx="91"/>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58AF9EF-E38F-40D8-9C2C-15FD00D491A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3" name="PlaceHolder 1"/>
          <p:cNvSpPr>
            <a:spLocks noGrp="1"/>
          </p:cNvSpPr>
          <p:nvPr>
            <p:ph type="sldImg"/>
          </p:nvPr>
        </p:nvSpPr>
        <p:spPr>
          <a:xfrm>
            <a:off x="685800" y="1143000"/>
            <a:ext cx="5484960" cy="3084840"/>
          </a:xfrm>
          <a:prstGeom prst="rect">
            <a:avLst/>
          </a:prstGeom>
          <a:ln w="0">
            <a:noFill/>
          </a:ln>
        </p:spPr>
      </p:sp>
      <p:sp>
        <p:nvSpPr>
          <p:cNvPr id="2964"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65" name="PlaceHolder 3"/>
          <p:cNvSpPr>
            <a:spLocks noGrp="1"/>
          </p:cNvSpPr>
          <p:nvPr>
            <p:ph type="sldNum" idx="92"/>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AED053B-8913-41C8-9A27-EF4F04622D1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6" name="PlaceHolder 1"/>
          <p:cNvSpPr>
            <a:spLocks noGrp="1"/>
          </p:cNvSpPr>
          <p:nvPr>
            <p:ph type="sldImg"/>
          </p:nvPr>
        </p:nvSpPr>
        <p:spPr>
          <a:xfrm>
            <a:off x="685800" y="1143000"/>
            <a:ext cx="5484960" cy="3084840"/>
          </a:xfrm>
          <a:prstGeom prst="rect">
            <a:avLst/>
          </a:prstGeom>
          <a:ln w="0">
            <a:noFill/>
          </a:ln>
        </p:spPr>
      </p:sp>
      <p:sp>
        <p:nvSpPr>
          <p:cNvPr id="2967"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68" name="PlaceHolder 3"/>
          <p:cNvSpPr>
            <a:spLocks noGrp="1"/>
          </p:cNvSpPr>
          <p:nvPr>
            <p:ph type="sldNum" idx="93"/>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BDEDD1D5-30DA-4015-B920-BADF1D2EDAD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9" name="PlaceHolder 1"/>
          <p:cNvSpPr>
            <a:spLocks noGrp="1"/>
          </p:cNvSpPr>
          <p:nvPr>
            <p:ph type="sldImg"/>
          </p:nvPr>
        </p:nvSpPr>
        <p:spPr>
          <a:xfrm>
            <a:off x="685800" y="1143000"/>
            <a:ext cx="5484960" cy="3084840"/>
          </a:xfrm>
          <a:prstGeom prst="rect">
            <a:avLst/>
          </a:prstGeom>
          <a:ln w="0">
            <a:noFill/>
          </a:ln>
        </p:spPr>
      </p:sp>
      <p:sp>
        <p:nvSpPr>
          <p:cNvPr id="2970"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71" name="PlaceHolder 3"/>
          <p:cNvSpPr>
            <a:spLocks noGrp="1"/>
          </p:cNvSpPr>
          <p:nvPr>
            <p:ph type="sldNum" idx="94"/>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D98452B2-D207-4DDF-82A3-D18A577DE41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2" name="PlaceHolder 1"/>
          <p:cNvSpPr>
            <a:spLocks noGrp="1"/>
          </p:cNvSpPr>
          <p:nvPr>
            <p:ph type="sldImg"/>
          </p:nvPr>
        </p:nvSpPr>
        <p:spPr>
          <a:xfrm>
            <a:off x="685800" y="1143000"/>
            <a:ext cx="5484960" cy="3084840"/>
          </a:xfrm>
          <a:prstGeom prst="rect">
            <a:avLst/>
          </a:prstGeom>
          <a:ln w="0">
            <a:noFill/>
          </a:ln>
        </p:spPr>
      </p:sp>
      <p:sp>
        <p:nvSpPr>
          <p:cNvPr id="2973"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74" name="PlaceHolder 3"/>
          <p:cNvSpPr>
            <a:spLocks noGrp="1"/>
          </p:cNvSpPr>
          <p:nvPr>
            <p:ph type="sldNum" idx="95"/>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4E1E163-45F3-4BB3-9AB1-F6394B3B135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5" name="PlaceHolder 1"/>
          <p:cNvSpPr>
            <a:spLocks noGrp="1"/>
          </p:cNvSpPr>
          <p:nvPr>
            <p:ph type="sldImg"/>
          </p:nvPr>
        </p:nvSpPr>
        <p:spPr>
          <a:xfrm>
            <a:off x="685800" y="1143000"/>
            <a:ext cx="5484960" cy="3084840"/>
          </a:xfrm>
          <a:prstGeom prst="rect">
            <a:avLst/>
          </a:prstGeom>
          <a:ln w="0">
            <a:noFill/>
          </a:ln>
        </p:spPr>
      </p:sp>
      <p:sp>
        <p:nvSpPr>
          <p:cNvPr id="2976"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77" name="PlaceHolder 3"/>
          <p:cNvSpPr>
            <a:spLocks noGrp="1"/>
          </p:cNvSpPr>
          <p:nvPr>
            <p:ph type="sldNum" idx="96"/>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342765C-111A-4A76-827A-01D91E3EC7B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8" name="PlaceHolder 1"/>
          <p:cNvSpPr>
            <a:spLocks noGrp="1"/>
          </p:cNvSpPr>
          <p:nvPr>
            <p:ph type="sldImg"/>
          </p:nvPr>
        </p:nvSpPr>
        <p:spPr>
          <a:xfrm>
            <a:off x="685800" y="1143000"/>
            <a:ext cx="5484960" cy="3084840"/>
          </a:xfrm>
          <a:prstGeom prst="rect">
            <a:avLst/>
          </a:prstGeom>
          <a:ln w="0">
            <a:noFill/>
          </a:ln>
        </p:spPr>
      </p:sp>
      <p:sp>
        <p:nvSpPr>
          <p:cNvPr id="2979"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80" name="PlaceHolder 3"/>
          <p:cNvSpPr>
            <a:spLocks noGrp="1"/>
          </p:cNvSpPr>
          <p:nvPr>
            <p:ph type="sldNum" idx="97"/>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B8955673-BC49-4FC3-8149-2C5F0E53E4B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1" name="PlaceHolder 1"/>
          <p:cNvSpPr>
            <a:spLocks noGrp="1"/>
          </p:cNvSpPr>
          <p:nvPr>
            <p:ph type="sldImg"/>
          </p:nvPr>
        </p:nvSpPr>
        <p:spPr>
          <a:xfrm>
            <a:off x="685800" y="1143000"/>
            <a:ext cx="5484960" cy="3084840"/>
          </a:xfrm>
          <a:prstGeom prst="rect">
            <a:avLst/>
          </a:prstGeom>
          <a:ln w="0">
            <a:noFill/>
          </a:ln>
        </p:spPr>
      </p:sp>
      <p:sp>
        <p:nvSpPr>
          <p:cNvPr id="2982"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83" name="PlaceHolder 3"/>
          <p:cNvSpPr>
            <a:spLocks noGrp="1"/>
          </p:cNvSpPr>
          <p:nvPr>
            <p:ph type="sldNum" idx="98"/>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77A8A168-5D56-4F45-A40E-A98D3721F2B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4" name="PlaceHolder 1"/>
          <p:cNvSpPr>
            <a:spLocks noGrp="1"/>
          </p:cNvSpPr>
          <p:nvPr>
            <p:ph type="sldImg"/>
          </p:nvPr>
        </p:nvSpPr>
        <p:spPr>
          <a:xfrm>
            <a:off x="685800" y="1143000"/>
            <a:ext cx="5484960" cy="3084840"/>
          </a:xfrm>
          <a:prstGeom prst="rect">
            <a:avLst/>
          </a:prstGeom>
          <a:ln w="0">
            <a:noFill/>
          </a:ln>
        </p:spPr>
      </p:sp>
      <p:sp>
        <p:nvSpPr>
          <p:cNvPr id="2985"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86" name="PlaceHolder 3"/>
          <p:cNvSpPr>
            <a:spLocks noGrp="1"/>
          </p:cNvSpPr>
          <p:nvPr>
            <p:ph type="sldNum" idx="99"/>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A809EE3-C2CB-40EA-83FA-F37FD7C96DB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7" name="PlaceHolder 1"/>
          <p:cNvSpPr>
            <a:spLocks noGrp="1"/>
          </p:cNvSpPr>
          <p:nvPr>
            <p:ph type="sldImg"/>
          </p:nvPr>
        </p:nvSpPr>
        <p:spPr>
          <a:xfrm>
            <a:off x="685800" y="1143000"/>
            <a:ext cx="5484960" cy="3084840"/>
          </a:xfrm>
          <a:prstGeom prst="rect">
            <a:avLst/>
          </a:prstGeom>
          <a:ln w="0">
            <a:noFill/>
          </a:ln>
        </p:spPr>
      </p:sp>
      <p:sp>
        <p:nvSpPr>
          <p:cNvPr id="2988"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89" name="PlaceHolder 3"/>
          <p:cNvSpPr>
            <a:spLocks noGrp="1"/>
          </p:cNvSpPr>
          <p:nvPr>
            <p:ph type="sldNum" idx="100"/>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29CE834-4233-410F-81C2-2208742F389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0" name="PlaceHolder 1"/>
          <p:cNvSpPr>
            <a:spLocks noGrp="1"/>
          </p:cNvSpPr>
          <p:nvPr>
            <p:ph type="sldImg"/>
          </p:nvPr>
        </p:nvSpPr>
        <p:spPr>
          <a:xfrm>
            <a:off x="685800" y="1143000"/>
            <a:ext cx="5484960" cy="3084840"/>
          </a:xfrm>
          <a:prstGeom prst="rect">
            <a:avLst/>
          </a:prstGeom>
          <a:ln w="0">
            <a:noFill/>
          </a:ln>
        </p:spPr>
      </p:sp>
      <p:sp>
        <p:nvSpPr>
          <p:cNvPr id="2991"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92" name="PlaceHolder 3"/>
          <p:cNvSpPr>
            <a:spLocks noGrp="1"/>
          </p:cNvSpPr>
          <p:nvPr>
            <p:ph type="sldNum" idx="101"/>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58297C53-2D76-4A71-9BFD-7AA2E5F1E0E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3" name="PlaceHolder 1"/>
          <p:cNvSpPr>
            <a:spLocks noGrp="1"/>
          </p:cNvSpPr>
          <p:nvPr>
            <p:ph type="sldImg"/>
          </p:nvPr>
        </p:nvSpPr>
        <p:spPr>
          <a:xfrm>
            <a:off x="685800" y="1143000"/>
            <a:ext cx="5484960" cy="3084840"/>
          </a:xfrm>
          <a:prstGeom prst="rect">
            <a:avLst/>
          </a:prstGeom>
          <a:ln w="0">
            <a:noFill/>
          </a:ln>
        </p:spPr>
      </p:sp>
      <p:sp>
        <p:nvSpPr>
          <p:cNvPr id="2994"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95" name="PlaceHolder 3"/>
          <p:cNvSpPr>
            <a:spLocks noGrp="1"/>
          </p:cNvSpPr>
          <p:nvPr>
            <p:ph type="sldNum" idx="102"/>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C2D8541E-9A28-48D3-9855-EAF44B3E0D9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6" name="PlaceHolder 1"/>
          <p:cNvSpPr>
            <a:spLocks noGrp="1"/>
          </p:cNvSpPr>
          <p:nvPr>
            <p:ph type="sldImg"/>
          </p:nvPr>
        </p:nvSpPr>
        <p:spPr>
          <a:xfrm>
            <a:off x="685800" y="1143000"/>
            <a:ext cx="5484960" cy="3084840"/>
          </a:xfrm>
          <a:prstGeom prst="rect">
            <a:avLst/>
          </a:prstGeom>
          <a:ln w="0">
            <a:noFill/>
          </a:ln>
        </p:spPr>
      </p:sp>
      <p:sp>
        <p:nvSpPr>
          <p:cNvPr id="2997"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98" name="PlaceHolder 3"/>
          <p:cNvSpPr>
            <a:spLocks noGrp="1"/>
          </p:cNvSpPr>
          <p:nvPr>
            <p:ph type="sldNum" idx="103"/>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1C74409-2142-499A-AE13-058998C51CB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9" name="PlaceHolder 1"/>
          <p:cNvSpPr>
            <a:spLocks noGrp="1"/>
          </p:cNvSpPr>
          <p:nvPr>
            <p:ph type="sldImg"/>
          </p:nvPr>
        </p:nvSpPr>
        <p:spPr>
          <a:xfrm>
            <a:off x="685800" y="1143000"/>
            <a:ext cx="5484960" cy="3084840"/>
          </a:xfrm>
          <a:prstGeom prst="rect">
            <a:avLst/>
          </a:prstGeom>
          <a:ln w="0">
            <a:noFill/>
          </a:ln>
        </p:spPr>
      </p:sp>
      <p:sp>
        <p:nvSpPr>
          <p:cNvPr id="3000"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01" name="PlaceHolder 3"/>
          <p:cNvSpPr>
            <a:spLocks noGrp="1"/>
          </p:cNvSpPr>
          <p:nvPr>
            <p:ph type="sldNum" idx="104"/>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0768B1D6-8F06-4E70-AD1D-9DA0AB50471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2" name="PlaceHolder 1"/>
          <p:cNvSpPr>
            <a:spLocks noGrp="1"/>
          </p:cNvSpPr>
          <p:nvPr>
            <p:ph type="sldImg"/>
          </p:nvPr>
        </p:nvSpPr>
        <p:spPr>
          <a:xfrm>
            <a:off x="685800" y="1143000"/>
            <a:ext cx="5484960" cy="3084840"/>
          </a:xfrm>
          <a:prstGeom prst="rect">
            <a:avLst/>
          </a:prstGeom>
          <a:ln w="0">
            <a:noFill/>
          </a:ln>
        </p:spPr>
      </p:sp>
      <p:sp>
        <p:nvSpPr>
          <p:cNvPr id="3003"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04" name="PlaceHolder 3"/>
          <p:cNvSpPr>
            <a:spLocks noGrp="1"/>
          </p:cNvSpPr>
          <p:nvPr>
            <p:ph type="sldNum" idx="105"/>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EB18CE16-A4CF-4EB8-ABAA-45D38E2B387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5" name="PlaceHolder 1"/>
          <p:cNvSpPr>
            <a:spLocks noGrp="1"/>
          </p:cNvSpPr>
          <p:nvPr>
            <p:ph type="sldImg"/>
          </p:nvPr>
        </p:nvSpPr>
        <p:spPr>
          <a:xfrm>
            <a:off x="685800" y="1143000"/>
            <a:ext cx="5484960" cy="3084840"/>
          </a:xfrm>
          <a:prstGeom prst="rect">
            <a:avLst/>
          </a:prstGeom>
          <a:ln w="0">
            <a:noFill/>
          </a:ln>
        </p:spPr>
      </p:sp>
      <p:sp>
        <p:nvSpPr>
          <p:cNvPr id="3006"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07" name="PlaceHolder 3"/>
          <p:cNvSpPr>
            <a:spLocks noGrp="1"/>
          </p:cNvSpPr>
          <p:nvPr>
            <p:ph type="sldNum" idx="106"/>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ECECB95-F327-48D6-90A4-5710219555D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8" name="PlaceHolder 1"/>
          <p:cNvSpPr>
            <a:spLocks noGrp="1"/>
          </p:cNvSpPr>
          <p:nvPr>
            <p:ph type="sldImg"/>
          </p:nvPr>
        </p:nvSpPr>
        <p:spPr>
          <a:xfrm>
            <a:off x="685800" y="1143000"/>
            <a:ext cx="5484960" cy="3084840"/>
          </a:xfrm>
          <a:prstGeom prst="rect">
            <a:avLst/>
          </a:prstGeom>
          <a:ln w="0">
            <a:noFill/>
          </a:ln>
        </p:spPr>
      </p:sp>
      <p:sp>
        <p:nvSpPr>
          <p:cNvPr id="3009"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10" name="PlaceHolder 3"/>
          <p:cNvSpPr>
            <a:spLocks noGrp="1"/>
          </p:cNvSpPr>
          <p:nvPr>
            <p:ph type="sldNum" idx="107"/>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527FAD8-5E11-4647-B536-DFE033FBE8E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1" name="PlaceHolder 1"/>
          <p:cNvSpPr>
            <a:spLocks noGrp="1"/>
          </p:cNvSpPr>
          <p:nvPr>
            <p:ph type="sldImg"/>
          </p:nvPr>
        </p:nvSpPr>
        <p:spPr>
          <a:xfrm>
            <a:off x="685800" y="1143000"/>
            <a:ext cx="5484960" cy="3084840"/>
          </a:xfrm>
          <a:prstGeom prst="rect">
            <a:avLst/>
          </a:prstGeom>
          <a:ln w="0">
            <a:noFill/>
          </a:ln>
        </p:spPr>
      </p:sp>
      <p:sp>
        <p:nvSpPr>
          <p:cNvPr id="3012"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13" name="PlaceHolder 3"/>
          <p:cNvSpPr>
            <a:spLocks noGrp="1"/>
          </p:cNvSpPr>
          <p:nvPr>
            <p:ph type="sldNum" idx="108"/>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28EA178-FB0E-4023-BE34-C2272AB675A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4" name="PlaceHolder 1"/>
          <p:cNvSpPr>
            <a:spLocks noGrp="1"/>
          </p:cNvSpPr>
          <p:nvPr>
            <p:ph type="sldImg"/>
          </p:nvPr>
        </p:nvSpPr>
        <p:spPr>
          <a:xfrm>
            <a:off x="685800" y="1143000"/>
            <a:ext cx="5484960" cy="3084840"/>
          </a:xfrm>
          <a:prstGeom prst="rect">
            <a:avLst/>
          </a:prstGeom>
          <a:ln w="0">
            <a:noFill/>
          </a:ln>
        </p:spPr>
      </p:sp>
      <p:sp>
        <p:nvSpPr>
          <p:cNvPr id="3015"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16" name="PlaceHolder 3"/>
          <p:cNvSpPr>
            <a:spLocks noGrp="1"/>
          </p:cNvSpPr>
          <p:nvPr>
            <p:ph type="sldNum" idx="109"/>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7639DBC-6E6F-48EE-B132-D98B4CC9906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7" name="PlaceHolder 1"/>
          <p:cNvSpPr>
            <a:spLocks noGrp="1"/>
          </p:cNvSpPr>
          <p:nvPr>
            <p:ph type="sldImg"/>
          </p:nvPr>
        </p:nvSpPr>
        <p:spPr>
          <a:xfrm>
            <a:off x="685800" y="1143000"/>
            <a:ext cx="5484960" cy="3084840"/>
          </a:xfrm>
          <a:prstGeom prst="rect">
            <a:avLst/>
          </a:prstGeom>
          <a:ln w="0">
            <a:noFill/>
          </a:ln>
        </p:spPr>
      </p:sp>
      <p:sp>
        <p:nvSpPr>
          <p:cNvPr id="3018"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19" name="PlaceHolder 3"/>
          <p:cNvSpPr>
            <a:spLocks noGrp="1"/>
          </p:cNvSpPr>
          <p:nvPr>
            <p:ph type="sldNum" idx="110"/>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E45B0C34-E217-4FE6-8840-7993D4991A9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0" name="PlaceHolder 1"/>
          <p:cNvSpPr>
            <a:spLocks noGrp="1"/>
          </p:cNvSpPr>
          <p:nvPr>
            <p:ph type="sldImg"/>
          </p:nvPr>
        </p:nvSpPr>
        <p:spPr>
          <a:xfrm>
            <a:off x="685800" y="1143000"/>
            <a:ext cx="5484960" cy="3084840"/>
          </a:xfrm>
          <a:prstGeom prst="rect">
            <a:avLst/>
          </a:prstGeom>
          <a:ln w="0">
            <a:noFill/>
          </a:ln>
        </p:spPr>
      </p:sp>
      <p:sp>
        <p:nvSpPr>
          <p:cNvPr id="3021"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22" name="PlaceHolder 3"/>
          <p:cNvSpPr>
            <a:spLocks noGrp="1"/>
          </p:cNvSpPr>
          <p:nvPr>
            <p:ph type="sldNum" idx="111"/>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766726CC-20DA-4DEB-BD73-68653F2F8AC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3" name="PlaceHolder 1"/>
          <p:cNvSpPr>
            <a:spLocks noGrp="1"/>
          </p:cNvSpPr>
          <p:nvPr>
            <p:ph type="sldImg"/>
          </p:nvPr>
        </p:nvSpPr>
        <p:spPr>
          <a:xfrm>
            <a:off x="685800" y="1143000"/>
            <a:ext cx="5484960" cy="3084840"/>
          </a:xfrm>
          <a:prstGeom prst="rect">
            <a:avLst/>
          </a:prstGeom>
          <a:ln w="0">
            <a:noFill/>
          </a:ln>
        </p:spPr>
      </p:sp>
      <p:sp>
        <p:nvSpPr>
          <p:cNvPr id="3024"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25" name="PlaceHolder 3"/>
          <p:cNvSpPr>
            <a:spLocks noGrp="1"/>
          </p:cNvSpPr>
          <p:nvPr>
            <p:ph type="sldNum" idx="112"/>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BB0E1F2A-1DE0-4C5C-8D20-40A171869B5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6" name="PlaceHolder 1"/>
          <p:cNvSpPr>
            <a:spLocks noGrp="1"/>
          </p:cNvSpPr>
          <p:nvPr>
            <p:ph type="sldImg"/>
          </p:nvPr>
        </p:nvSpPr>
        <p:spPr>
          <a:xfrm>
            <a:off x="685800" y="1143000"/>
            <a:ext cx="5484960" cy="3084840"/>
          </a:xfrm>
          <a:prstGeom prst="rect">
            <a:avLst/>
          </a:prstGeom>
          <a:ln w="0">
            <a:noFill/>
          </a:ln>
        </p:spPr>
      </p:sp>
      <p:sp>
        <p:nvSpPr>
          <p:cNvPr id="3027"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28" name="PlaceHolder 3"/>
          <p:cNvSpPr>
            <a:spLocks noGrp="1"/>
          </p:cNvSpPr>
          <p:nvPr>
            <p:ph type="sldNum" idx="113"/>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B99F9CD5-BDD4-41B7-AB85-C1F08359729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9" name="PlaceHolder 1"/>
          <p:cNvSpPr>
            <a:spLocks noGrp="1"/>
          </p:cNvSpPr>
          <p:nvPr>
            <p:ph type="sldImg"/>
          </p:nvPr>
        </p:nvSpPr>
        <p:spPr>
          <a:xfrm>
            <a:off x="685800" y="1143000"/>
            <a:ext cx="5484960" cy="3084840"/>
          </a:xfrm>
          <a:prstGeom prst="rect">
            <a:avLst/>
          </a:prstGeom>
          <a:ln w="0">
            <a:noFill/>
          </a:ln>
        </p:spPr>
      </p:sp>
      <p:sp>
        <p:nvSpPr>
          <p:cNvPr id="3030"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31" name="PlaceHolder 3"/>
          <p:cNvSpPr>
            <a:spLocks noGrp="1"/>
          </p:cNvSpPr>
          <p:nvPr>
            <p:ph type="sldNum" idx="114"/>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7F546423-781C-438D-A7E3-55F26D39402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2" name="PlaceHolder 1"/>
          <p:cNvSpPr>
            <a:spLocks noGrp="1"/>
          </p:cNvSpPr>
          <p:nvPr>
            <p:ph type="sldImg"/>
          </p:nvPr>
        </p:nvSpPr>
        <p:spPr>
          <a:xfrm>
            <a:off x="685800" y="1143000"/>
            <a:ext cx="5484960" cy="3084840"/>
          </a:xfrm>
          <a:prstGeom prst="rect">
            <a:avLst/>
          </a:prstGeom>
          <a:ln w="0">
            <a:noFill/>
          </a:ln>
        </p:spPr>
      </p:sp>
      <p:sp>
        <p:nvSpPr>
          <p:cNvPr id="3033"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34" name="PlaceHolder 3"/>
          <p:cNvSpPr>
            <a:spLocks noGrp="1"/>
          </p:cNvSpPr>
          <p:nvPr>
            <p:ph type="sldNum" idx="115"/>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8AE4985-8BB3-4AC6-A5C7-9F2D7D5D596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5" name="PlaceHolder 1"/>
          <p:cNvSpPr>
            <a:spLocks noGrp="1"/>
          </p:cNvSpPr>
          <p:nvPr>
            <p:ph type="sldImg"/>
          </p:nvPr>
        </p:nvSpPr>
        <p:spPr>
          <a:xfrm>
            <a:off x="685800" y="1143000"/>
            <a:ext cx="5484960" cy="3084840"/>
          </a:xfrm>
          <a:prstGeom prst="rect">
            <a:avLst/>
          </a:prstGeom>
          <a:ln w="0">
            <a:noFill/>
          </a:ln>
        </p:spPr>
      </p:sp>
      <p:sp>
        <p:nvSpPr>
          <p:cNvPr id="3036"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37" name="PlaceHolder 3"/>
          <p:cNvSpPr>
            <a:spLocks noGrp="1"/>
          </p:cNvSpPr>
          <p:nvPr>
            <p:ph type="sldNum" idx="116"/>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79868C30-4413-4DF9-A672-3672ABD625A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8" name="PlaceHolder 1"/>
          <p:cNvSpPr>
            <a:spLocks noGrp="1"/>
          </p:cNvSpPr>
          <p:nvPr>
            <p:ph type="sldImg"/>
          </p:nvPr>
        </p:nvSpPr>
        <p:spPr>
          <a:xfrm>
            <a:off x="685800" y="1143000"/>
            <a:ext cx="5484960" cy="3084840"/>
          </a:xfrm>
          <a:prstGeom prst="rect">
            <a:avLst/>
          </a:prstGeom>
          <a:ln w="0">
            <a:noFill/>
          </a:ln>
        </p:spPr>
      </p:sp>
      <p:sp>
        <p:nvSpPr>
          <p:cNvPr id="3039"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40" name="PlaceHolder 3"/>
          <p:cNvSpPr>
            <a:spLocks noGrp="1"/>
          </p:cNvSpPr>
          <p:nvPr>
            <p:ph type="sldNum" idx="117"/>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B4FBFE3F-683A-4B47-8F2B-F6A5B0211AB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1" name="PlaceHolder 1"/>
          <p:cNvSpPr>
            <a:spLocks noGrp="1"/>
          </p:cNvSpPr>
          <p:nvPr>
            <p:ph type="sldImg"/>
          </p:nvPr>
        </p:nvSpPr>
        <p:spPr>
          <a:xfrm>
            <a:off x="685800" y="1143000"/>
            <a:ext cx="5484960" cy="3084840"/>
          </a:xfrm>
          <a:prstGeom prst="rect">
            <a:avLst/>
          </a:prstGeom>
          <a:ln w="0">
            <a:noFill/>
          </a:ln>
        </p:spPr>
      </p:sp>
      <p:sp>
        <p:nvSpPr>
          <p:cNvPr id="3042"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43" name="PlaceHolder 3"/>
          <p:cNvSpPr>
            <a:spLocks noGrp="1"/>
          </p:cNvSpPr>
          <p:nvPr>
            <p:ph type="sldNum" idx="118"/>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58F20865-4025-418B-9655-9AFF905F7D5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4" name="PlaceHolder 1"/>
          <p:cNvSpPr>
            <a:spLocks noGrp="1"/>
          </p:cNvSpPr>
          <p:nvPr>
            <p:ph type="sldImg"/>
          </p:nvPr>
        </p:nvSpPr>
        <p:spPr>
          <a:xfrm>
            <a:off x="685800" y="1143000"/>
            <a:ext cx="5484960" cy="3084840"/>
          </a:xfrm>
          <a:prstGeom prst="rect">
            <a:avLst/>
          </a:prstGeom>
          <a:ln w="0">
            <a:noFill/>
          </a:ln>
        </p:spPr>
      </p:sp>
      <p:sp>
        <p:nvSpPr>
          <p:cNvPr id="3045"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46" name="PlaceHolder 3"/>
          <p:cNvSpPr>
            <a:spLocks noGrp="1"/>
          </p:cNvSpPr>
          <p:nvPr>
            <p:ph type="sldNum" idx="119"/>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6EF1BFA-1FE6-4C29-8523-BB3072B24C9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7" name="PlaceHolder 1"/>
          <p:cNvSpPr>
            <a:spLocks noGrp="1"/>
          </p:cNvSpPr>
          <p:nvPr>
            <p:ph type="sldImg"/>
          </p:nvPr>
        </p:nvSpPr>
        <p:spPr>
          <a:xfrm>
            <a:off x="685800" y="1143000"/>
            <a:ext cx="5484960" cy="3084840"/>
          </a:xfrm>
          <a:prstGeom prst="rect">
            <a:avLst/>
          </a:prstGeom>
          <a:ln w="0">
            <a:noFill/>
          </a:ln>
        </p:spPr>
      </p:sp>
      <p:sp>
        <p:nvSpPr>
          <p:cNvPr id="3048"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49" name="PlaceHolder 3"/>
          <p:cNvSpPr>
            <a:spLocks noGrp="1"/>
          </p:cNvSpPr>
          <p:nvPr>
            <p:ph type="sldNum" idx="120"/>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B2F7AE45-DB7A-4227-8A40-6F99EBCF9B7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0" name="PlaceHolder 1"/>
          <p:cNvSpPr>
            <a:spLocks noGrp="1"/>
          </p:cNvSpPr>
          <p:nvPr>
            <p:ph type="sldImg"/>
          </p:nvPr>
        </p:nvSpPr>
        <p:spPr>
          <a:xfrm>
            <a:off x="685800" y="1143000"/>
            <a:ext cx="5484960" cy="3084840"/>
          </a:xfrm>
          <a:prstGeom prst="rect">
            <a:avLst/>
          </a:prstGeom>
          <a:ln w="0">
            <a:noFill/>
          </a:ln>
        </p:spPr>
      </p:sp>
      <p:sp>
        <p:nvSpPr>
          <p:cNvPr id="3051"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52" name="PlaceHolder 3"/>
          <p:cNvSpPr>
            <a:spLocks noGrp="1"/>
          </p:cNvSpPr>
          <p:nvPr>
            <p:ph type="sldNum" idx="121"/>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C709BEA8-93E5-4F19-9AB0-C698AEAEBA1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3" name="PlaceHolder 1"/>
          <p:cNvSpPr>
            <a:spLocks noGrp="1"/>
          </p:cNvSpPr>
          <p:nvPr>
            <p:ph type="sldImg"/>
          </p:nvPr>
        </p:nvSpPr>
        <p:spPr>
          <a:xfrm>
            <a:off x="685800" y="1143000"/>
            <a:ext cx="5484960" cy="3084840"/>
          </a:xfrm>
          <a:prstGeom prst="rect">
            <a:avLst/>
          </a:prstGeom>
          <a:ln w="0">
            <a:noFill/>
          </a:ln>
        </p:spPr>
      </p:sp>
      <p:sp>
        <p:nvSpPr>
          <p:cNvPr id="3054"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55" name="PlaceHolder 3"/>
          <p:cNvSpPr>
            <a:spLocks noGrp="1"/>
          </p:cNvSpPr>
          <p:nvPr>
            <p:ph type="sldNum" idx="122"/>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2D5B793B-1579-48AB-BF58-09FA9212771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6" name="PlaceHolder 1"/>
          <p:cNvSpPr>
            <a:spLocks noGrp="1"/>
          </p:cNvSpPr>
          <p:nvPr>
            <p:ph type="sldImg"/>
          </p:nvPr>
        </p:nvSpPr>
        <p:spPr>
          <a:xfrm>
            <a:off x="685800" y="1143000"/>
            <a:ext cx="5484960" cy="3084840"/>
          </a:xfrm>
          <a:prstGeom prst="rect">
            <a:avLst/>
          </a:prstGeom>
          <a:ln w="0">
            <a:noFill/>
          </a:ln>
        </p:spPr>
      </p:sp>
      <p:sp>
        <p:nvSpPr>
          <p:cNvPr id="3057"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58" name="PlaceHolder 3"/>
          <p:cNvSpPr>
            <a:spLocks noGrp="1"/>
          </p:cNvSpPr>
          <p:nvPr>
            <p:ph type="sldNum" idx="123"/>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BBAA5FA6-411A-46E9-A512-ADDF6BB71F6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9" name="PlaceHolder 1"/>
          <p:cNvSpPr>
            <a:spLocks noGrp="1"/>
          </p:cNvSpPr>
          <p:nvPr>
            <p:ph type="sldImg"/>
          </p:nvPr>
        </p:nvSpPr>
        <p:spPr>
          <a:xfrm>
            <a:off x="685800" y="1143000"/>
            <a:ext cx="5484960" cy="3084840"/>
          </a:xfrm>
          <a:prstGeom prst="rect">
            <a:avLst/>
          </a:prstGeom>
          <a:ln w="0">
            <a:noFill/>
          </a:ln>
        </p:spPr>
      </p:sp>
      <p:sp>
        <p:nvSpPr>
          <p:cNvPr id="3060"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61" name="PlaceHolder 3"/>
          <p:cNvSpPr>
            <a:spLocks noGrp="1"/>
          </p:cNvSpPr>
          <p:nvPr>
            <p:ph type="sldNum" idx="124"/>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2D98D48A-C4CE-4C02-857F-C3E71B047D8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2" name="PlaceHolder 1"/>
          <p:cNvSpPr>
            <a:spLocks noGrp="1"/>
          </p:cNvSpPr>
          <p:nvPr>
            <p:ph type="sldImg"/>
          </p:nvPr>
        </p:nvSpPr>
        <p:spPr>
          <a:xfrm>
            <a:off x="685800" y="1143000"/>
            <a:ext cx="5484960" cy="3084840"/>
          </a:xfrm>
          <a:prstGeom prst="rect">
            <a:avLst/>
          </a:prstGeom>
          <a:ln w="0">
            <a:noFill/>
          </a:ln>
        </p:spPr>
      </p:sp>
      <p:sp>
        <p:nvSpPr>
          <p:cNvPr id="3063"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64" name="PlaceHolder 3"/>
          <p:cNvSpPr>
            <a:spLocks noGrp="1"/>
          </p:cNvSpPr>
          <p:nvPr>
            <p:ph type="sldNum" idx="125"/>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0B585DD4-55D0-4B7B-A754-BD0DA6A8353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5" name="PlaceHolder 1"/>
          <p:cNvSpPr>
            <a:spLocks noGrp="1"/>
          </p:cNvSpPr>
          <p:nvPr>
            <p:ph type="sldImg"/>
          </p:nvPr>
        </p:nvSpPr>
        <p:spPr>
          <a:xfrm>
            <a:off x="685800" y="1143000"/>
            <a:ext cx="5484960" cy="3084840"/>
          </a:xfrm>
          <a:prstGeom prst="rect">
            <a:avLst/>
          </a:prstGeom>
          <a:ln w="0">
            <a:noFill/>
          </a:ln>
        </p:spPr>
      </p:sp>
      <p:sp>
        <p:nvSpPr>
          <p:cNvPr id="3066"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67" name="PlaceHolder 3"/>
          <p:cNvSpPr>
            <a:spLocks noGrp="1"/>
          </p:cNvSpPr>
          <p:nvPr>
            <p:ph type="sldNum" idx="126"/>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2FF9B406-B5B2-416C-8C64-2682F8F2B2F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8" name="PlaceHolder 1"/>
          <p:cNvSpPr>
            <a:spLocks noGrp="1"/>
          </p:cNvSpPr>
          <p:nvPr>
            <p:ph type="sldImg"/>
          </p:nvPr>
        </p:nvSpPr>
        <p:spPr>
          <a:xfrm>
            <a:off x="685800" y="1143000"/>
            <a:ext cx="5484960" cy="3084840"/>
          </a:xfrm>
          <a:prstGeom prst="rect">
            <a:avLst/>
          </a:prstGeom>
          <a:ln w="0">
            <a:noFill/>
          </a:ln>
        </p:spPr>
      </p:sp>
      <p:sp>
        <p:nvSpPr>
          <p:cNvPr id="3069"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70" name="PlaceHolder 3"/>
          <p:cNvSpPr>
            <a:spLocks noGrp="1"/>
          </p:cNvSpPr>
          <p:nvPr>
            <p:ph type="sldNum" idx="127"/>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125E92F-3D80-4110-AFBE-9BF12BA0F2B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71" name="PlaceHolder 1"/>
          <p:cNvSpPr>
            <a:spLocks noGrp="1"/>
          </p:cNvSpPr>
          <p:nvPr>
            <p:ph type="sldImg"/>
          </p:nvPr>
        </p:nvSpPr>
        <p:spPr>
          <a:xfrm>
            <a:off x="685800" y="1143000"/>
            <a:ext cx="5484960" cy="3084840"/>
          </a:xfrm>
          <a:prstGeom prst="rect">
            <a:avLst/>
          </a:prstGeom>
          <a:ln w="0">
            <a:noFill/>
          </a:ln>
        </p:spPr>
      </p:sp>
      <p:sp>
        <p:nvSpPr>
          <p:cNvPr id="3072"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73" name="PlaceHolder 3"/>
          <p:cNvSpPr>
            <a:spLocks noGrp="1"/>
          </p:cNvSpPr>
          <p:nvPr>
            <p:ph type="sldNum" idx="128"/>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480AD731-8B7D-4FC5-B259-E24F5745B46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74" name="PlaceHolder 1"/>
          <p:cNvSpPr>
            <a:spLocks noGrp="1"/>
          </p:cNvSpPr>
          <p:nvPr>
            <p:ph type="sldImg"/>
          </p:nvPr>
        </p:nvSpPr>
        <p:spPr>
          <a:xfrm>
            <a:off x="685800" y="1143000"/>
            <a:ext cx="5484960" cy="3084840"/>
          </a:xfrm>
          <a:prstGeom prst="rect">
            <a:avLst/>
          </a:prstGeom>
          <a:ln w="0">
            <a:noFill/>
          </a:ln>
        </p:spPr>
      </p:sp>
      <p:sp>
        <p:nvSpPr>
          <p:cNvPr id="3075"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76" name="PlaceHolder 3"/>
          <p:cNvSpPr>
            <a:spLocks noGrp="1"/>
          </p:cNvSpPr>
          <p:nvPr>
            <p:ph type="sldNum" idx="129"/>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895610B-4EB0-4EA1-BBCF-188304B2AAF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77" name="PlaceHolder 1"/>
          <p:cNvSpPr>
            <a:spLocks noGrp="1"/>
          </p:cNvSpPr>
          <p:nvPr>
            <p:ph type="sldImg"/>
          </p:nvPr>
        </p:nvSpPr>
        <p:spPr>
          <a:xfrm>
            <a:off x="685800" y="1143000"/>
            <a:ext cx="5484960" cy="3084840"/>
          </a:xfrm>
          <a:prstGeom prst="rect">
            <a:avLst/>
          </a:prstGeom>
          <a:ln w="0">
            <a:noFill/>
          </a:ln>
        </p:spPr>
      </p:sp>
      <p:sp>
        <p:nvSpPr>
          <p:cNvPr id="3078"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79" name="PlaceHolder 3"/>
          <p:cNvSpPr>
            <a:spLocks noGrp="1"/>
          </p:cNvSpPr>
          <p:nvPr>
            <p:ph type="sldNum" idx="130"/>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DB590849-09C4-48B5-9623-606C8715800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0" name="PlaceHolder 1"/>
          <p:cNvSpPr>
            <a:spLocks noGrp="1"/>
          </p:cNvSpPr>
          <p:nvPr>
            <p:ph type="sldImg"/>
          </p:nvPr>
        </p:nvSpPr>
        <p:spPr>
          <a:xfrm>
            <a:off x="685800" y="1143000"/>
            <a:ext cx="5484960" cy="3084840"/>
          </a:xfrm>
          <a:prstGeom prst="rect">
            <a:avLst/>
          </a:prstGeom>
          <a:ln w="0">
            <a:noFill/>
          </a:ln>
        </p:spPr>
      </p:sp>
      <p:sp>
        <p:nvSpPr>
          <p:cNvPr id="3081"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82" name="PlaceHolder 3"/>
          <p:cNvSpPr>
            <a:spLocks noGrp="1"/>
          </p:cNvSpPr>
          <p:nvPr>
            <p:ph type="sldNum" idx="131"/>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F54BCB3D-2C0E-4F84-B14E-2F0BA587D88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3" name="PlaceHolder 1"/>
          <p:cNvSpPr>
            <a:spLocks noGrp="1"/>
          </p:cNvSpPr>
          <p:nvPr>
            <p:ph type="sldImg"/>
          </p:nvPr>
        </p:nvSpPr>
        <p:spPr>
          <a:xfrm>
            <a:off x="685800" y="1143000"/>
            <a:ext cx="5484960" cy="3084840"/>
          </a:xfrm>
          <a:prstGeom prst="rect">
            <a:avLst/>
          </a:prstGeom>
          <a:ln w="0">
            <a:noFill/>
          </a:ln>
        </p:spPr>
      </p:sp>
      <p:sp>
        <p:nvSpPr>
          <p:cNvPr id="3084"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85" name="PlaceHolder 3"/>
          <p:cNvSpPr>
            <a:spLocks noGrp="1"/>
          </p:cNvSpPr>
          <p:nvPr>
            <p:ph type="sldNum" idx="132"/>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C03EAFC5-BAC3-491E-978D-8EC3DE0FE02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6" name="PlaceHolder 1"/>
          <p:cNvSpPr>
            <a:spLocks noGrp="1"/>
          </p:cNvSpPr>
          <p:nvPr>
            <p:ph type="sldImg"/>
          </p:nvPr>
        </p:nvSpPr>
        <p:spPr>
          <a:xfrm>
            <a:off x="685800" y="1143000"/>
            <a:ext cx="5484960" cy="3084840"/>
          </a:xfrm>
          <a:prstGeom prst="rect">
            <a:avLst/>
          </a:prstGeom>
          <a:ln w="0">
            <a:noFill/>
          </a:ln>
        </p:spPr>
      </p:sp>
      <p:sp>
        <p:nvSpPr>
          <p:cNvPr id="3087"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88" name="PlaceHolder 3"/>
          <p:cNvSpPr>
            <a:spLocks noGrp="1"/>
          </p:cNvSpPr>
          <p:nvPr>
            <p:ph type="sldNum" idx="133"/>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348D452-48D0-42F9-8BCE-190213D8CA9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9" name="PlaceHolder 1"/>
          <p:cNvSpPr>
            <a:spLocks noGrp="1"/>
          </p:cNvSpPr>
          <p:nvPr>
            <p:ph type="sldImg"/>
          </p:nvPr>
        </p:nvSpPr>
        <p:spPr>
          <a:xfrm>
            <a:off x="685800" y="1143000"/>
            <a:ext cx="5484960" cy="3084840"/>
          </a:xfrm>
          <a:prstGeom prst="rect">
            <a:avLst/>
          </a:prstGeom>
          <a:ln w="0">
            <a:noFill/>
          </a:ln>
        </p:spPr>
      </p:sp>
      <p:sp>
        <p:nvSpPr>
          <p:cNvPr id="3090"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91" name="PlaceHolder 3"/>
          <p:cNvSpPr>
            <a:spLocks noGrp="1"/>
          </p:cNvSpPr>
          <p:nvPr>
            <p:ph type="sldNum" idx="134"/>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7150902-B4BA-4404-89EF-43672FE960C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2" name="PlaceHolder 1"/>
          <p:cNvSpPr>
            <a:spLocks noGrp="1"/>
          </p:cNvSpPr>
          <p:nvPr>
            <p:ph type="sldImg"/>
          </p:nvPr>
        </p:nvSpPr>
        <p:spPr>
          <a:xfrm>
            <a:off x="685800" y="1143000"/>
            <a:ext cx="5484960" cy="3084840"/>
          </a:xfrm>
          <a:prstGeom prst="rect">
            <a:avLst/>
          </a:prstGeom>
          <a:ln w="0">
            <a:noFill/>
          </a:ln>
        </p:spPr>
      </p:sp>
      <p:sp>
        <p:nvSpPr>
          <p:cNvPr id="3093"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94" name="PlaceHolder 3"/>
          <p:cNvSpPr>
            <a:spLocks noGrp="1"/>
          </p:cNvSpPr>
          <p:nvPr>
            <p:ph type="sldNum" idx="135"/>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00FBFCF9-D6AE-4AF7-B7A3-AB594C1AF57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5" name="PlaceHolder 1"/>
          <p:cNvSpPr>
            <a:spLocks noGrp="1"/>
          </p:cNvSpPr>
          <p:nvPr>
            <p:ph type="sldImg"/>
          </p:nvPr>
        </p:nvSpPr>
        <p:spPr>
          <a:xfrm>
            <a:off x="685800" y="1143000"/>
            <a:ext cx="5484960" cy="3084840"/>
          </a:xfrm>
          <a:prstGeom prst="rect">
            <a:avLst/>
          </a:prstGeom>
          <a:ln w="0">
            <a:noFill/>
          </a:ln>
        </p:spPr>
      </p:sp>
      <p:sp>
        <p:nvSpPr>
          <p:cNvPr id="3096"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97" name="PlaceHolder 3"/>
          <p:cNvSpPr>
            <a:spLocks noGrp="1"/>
          </p:cNvSpPr>
          <p:nvPr>
            <p:ph type="sldNum" idx="136"/>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8597DB9F-26EA-4F78-B736-35B7A3DBAF3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8" name="PlaceHolder 1"/>
          <p:cNvSpPr>
            <a:spLocks noGrp="1"/>
          </p:cNvSpPr>
          <p:nvPr>
            <p:ph type="sldImg"/>
          </p:nvPr>
        </p:nvSpPr>
        <p:spPr>
          <a:xfrm>
            <a:off x="685800" y="1143000"/>
            <a:ext cx="5484960" cy="3084840"/>
          </a:xfrm>
          <a:prstGeom prst="rect">
            <a:avLst/>
          </a:prstGeom>
          <a:ln w="0">
            <a:noFill/>
          </a:ln>
        </p:spPr>
      </p:sp>
      <p:sp>
        <p:nvSpPr>
          <p:cNvPr id="3099"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00" name="PlaceHolder 3"/>
          <p:cNvSpPr>
            <a:spLocks noGrp="1"/>
          </p:cNvSpPr>
          <p:nvPr>
            <p:ph type="sldNum" idx="137"/>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3E82998-457D-4ACD-BD07-AECD152F0F1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1" name="PlaceHolder 1"/>
          <p:cNvSpPr>
            <a:spLocks noGrp="1"/>
          </p:cNvSpPr>
          <p:nvPr>
            <p:ph type="sldImg"/>
          </p:nvPr>
        </p:nvSpPr>
        <p:spPr>
          <a:xfrm>
            <a:off x="685800" y="1143000"/>
            <a:ext cx="5484960" cy="3084840"/>
          </a:xfrm>
          <a:prstGeom prst="rect">
            <a:avLst/>
          </a:prstGeom>
          <a:ln w="0">
            <a:noFill/>
          </a:ln>
        </p:spPr>
      </p:sp>
      <p:sp>
        <p:nvSpPr>
          <p:cNvPr id="3102"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03" name="PlaceHolder 3"/>
          <p:cNvSpPr>
            <a:spLocks noGrp="1"/>
          </p:cNvSpPr>
          <p:nvPr>
            <p:ph type="sldNum" idx="138"/>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8C2CEFF5-40B1-41A6-8A29-40FC6579ACA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4" name="PlaceHolder 1"/>
          <p:cNvSpPr>
            <a:spLocks noGrp="1"/>
          </p:cNvSpPr>
          <p:nvPr>
            <p:ph type="sldImg"/>
          </p:nvPr>
        </p:nvSpPr>
        <p:spPr>
          <a:xfrm>
            <a:off x="685800" y="1143000"/>
            <a:ext cx="5484960" cy="3084840"/>
          </a:xfrm>
          <a:prstGeom prst="rect">
            <a:avLst/>
          </a:prstGeom>
          <a:ln w="0">
            <a:noFill/>
          </a:ln>
        </p:spPr>
      </p:sp>
      <p:sp>
        <p:nvSpPr>
          <p:cNvPr id="3105"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06" name="PlaceHolder 3"/>
          <p:cNvSpPr>
            <a:spLocks noGrp="1"/>
          </p:cNvSpPr>
          <p:nvPr>
            <p:ph type="sldNum" idx="139"/>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F8DA9B5-5047-43C1-BF3B-637016A96D0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7" name="PlaceHolder 1"/>
          <p:cNvSpPr>
            <a:spLocks noGrp="1"/>
          </p:cNvSpPr>
          <p:nvPr>
            <p:ph type="sldImg"/>
          </p:nvPr>
        </p:nvSpPr>
        <p:spPr>
          <a:xfrm>
            <a:off x="685800" y="1143000"/>
            <a:ext cx="5484960" cy="3084840"/>
          </a:xfrm>
          <a:prstGeom prst="rect">
            <a:avLst/>
          </a:prstGeom>
          <a:ln w="0">
            <a:noFill/>
          </a:ln>
        </p:spPr>
      </p:sp>
      <p:sp>
        <p:nvSpPr>
          <p:cNvPr id="3108"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09" name="PlaceHolder 3"/>
          <p:cNvSpPr>
            <a:spLocks noGrp="1"/>
          </p:cNvSpPr>
          <p:nvPr>
            <p:ph type="sldNum" idx="140"/>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C62A3B41-5326-4941-8C4B-BE125261354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0" name="PlaceHolder 1"/>
          <p:cNvSpPr>
            <a:spLocks noGrp="1"/>
          </p:cNvSpPr>
          <p:nvPr>
            <p:ph type="sldImg"/>
          </p:nvPr>
        </p:nvSpPr>
        <p:spPr>
          <a:xfrm>
            <a:off x="685800" y="1143000"/>
            <a:ext cx="5484960" cy="3084840"/>
          </a:xfrm>
          <a:prstGeom prst="rect">
            <a:avLst/>
          </a:prstGeom>
          <a:ln w="0">
            <a:noFill/>
          </a:ln>
        </p:spPr>
      </p:sp>
      <p:sp>
        <p:nvSpPr>
          <p:cNvPr id="3111"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12" name="PlaceHolder 3"/>
          <p:cNvSpPr>
            <a:spLocks noGrp="1"/>
          </p:cNvSpPr>
          <p:nvPr>
            <p:ph type="sldNum" idx="141"/>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8367494-517D-410F-8D7E-932411556F8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3" name="PlaceHolder 1"/>
          <p:cNvSpPr>
            <a:spLocks noGrp="1"/>
          </p:cNvSpPr>
          <p:nvPr>
            <p:ph type="sldImg"/>
          </p:nvPr>
        </p:nvSpPr>
        <p:spPr>
          <a:xfrm>
            <a:off x="685800" y="1143000"/>
            <a:ext cx="5484960" cy="3084840"/>
          </a:xfrm>
          <a:prstGeom prst="rect">
            <a:avLst/>
          </a:prstGeom>
          <a:ln w="0">
            <a:noFill/>
          </a:ln>
        </p:spPr>
      </p:sp>
      <p:sp>
        <p:nvSpPr>
          <p:cNvPr id="3114"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15" name="PlaceHolder 3"/>
          <p:cNvSpPr>
            <a:spLocks noGrp="1"/>
          </p:cNvSpPr>
          <p:nvPr>
            <p:ph type="sldNum" idx="142"/>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9E7F6DF-49B5-4C87-97D5-83D3F64DE68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6" name="PlaceHolder 1"/>
          <p:cNvSpPr>
            <a:spLocks noGrp="1"/>
          </p:cNvSpPr>
          <p:nvPr>
            <p:ph type="sldImg"/>
          </p:nvPr>
        </p:nvSpPr>
        <p:spPr>
          <a:xfrm>
            <a:off x="685800" y="1143000"/>
            <a:ext cx="5484960" cy="3084840"/>
          </a:xfrm>
          <a:prstGeom prst="rect">
            <a:avLst/>
          </a:prstGeom>
          <a:ln w="0">
            <a:noFill/>
          </a:ln>
        </p:spPr>
      </p:sp>
      <p:sp>
        <p:nvSpPr>
          <p:cNvPr id="3117"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18" name="PlaceHolder 3"/>
          <p:cNvSpPr>
            <a:spLocks noGrp="1"/>
          </p:cNvSpPr>
          <p:nvPr>
            <p:ph type="sldNum" idx="143"/>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89340E23-57F2-427E-8D96-DE25CB7E775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9" name="PlaceHolder 1"/>
          <p:cNvSpPr>
            <a:spLocks noGrp="1"/>
          </p:cNvSpPr>
          <p:nvPr>
            <p:ph type="sldImg"/>
          </p:nvPr>
        </p:nvSpPr>
        <p:spPr>
          <a:xfrm>
            <a:off x="685800" y="1143000"/>
            <a:ext cx="5484960" cy="3084840"/>
          </a:xfrm>
          <a:prstGeom prst="rect">
            <a:avLst/>
          </a:prstGeom>
          <a:ln w="0">
            <a:noFill/>
          </a:ln>
        </p:spPr>
      </p:sp>
      <p:sp>
        <p:nvSpPr>
          <p:cNvPr id="3120"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21" name="PlaceHolder 3"/>
          <p:cNvSpPr>
            <a:spLocks noGrp="1"/>
          </p:cNvSpPr>
          <p:nvPr>
            <p:ph type="sldNum" idx="144"/>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F50F963D-A211-4C4E-896D-353C67E6A87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2" name="PlaceHolder 1"/>
          <p:cNvSpPr>
            <a:spLocks noGrp="1"/>
          </p:cNvSpPr>
          <p:nvPr>
            <p:ph type="sldImg"/>
          </p:nvPr>
        </p:nvSpPr>
        <p:spPr>
          <a:xfrm>
            <a:off x="685800" y="1143000"/>
            <a:ext cx="5484960" cy="3084840"/>
          </a:xfrm>
          <a:prstGeom prst="rect">
            <a:avLst/>
          </a:prstGeom>
          <a:ln w="0">
            <a:noFill/>
          </a:ln>
        </p:spPr>
      </p:sp>
      <p:sp>
        <p:nvSpPr>
          <p:cNvPr id="3123"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24" name="PlaceHolder 3"/>
          <p:cNvSpPr>
            <a:spLocks noGrp="1"/>
          </p:cNvSpPr>
          <p:nvPr>
            <p:ph type="sldNum" idx="145"/>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6DB1E7D8-E3A5-4DD4-B2F3-29A2C4E9A7C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5" name="PlaceHolder 1"/>
          <p:cNvSpPr>
            <a:spLocks noGrp="1"/>
          </p:cNvSpPr>
          <p:nvPr>
            <p:ph type="sldImg"/>
          </p:nvPr>
        </p:nvSpPr>
        <p:spPr>
          <a:xfrm>
            <a:off x="685800" y="1143000"/>
            <a:ext cx="5484960" cy="3084840"/>
          </a:xfrm>
          <a:prstGeom prst="rect">
            <a:avLst/>
          </a:prstGeom>
          <a:ln w="0">
            <a:noFill/>
          </a:ln>
        </p:spPr>
      </p:sp>
      <p:sp>
        <p:nvSpPr>
          <p:cNvPr id="3126"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27" name="PlaceHolder 3"/>
          <p:cNvSpPr>
            <a:spLocks noGrp="1"/>
          </p:cNvSpPr>
          <p:nvPr>
            <p:ph type="sldNum" idx="146"/>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74449698-5DA5-45CD-8391-6273E74F867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8" name="PlaceHolder 1"/>
          <p:cNvSpPr>
            <a:spLocks noGrp="1"/>
          </p:cNvSpPr>
          <p:nvPr>
            <p:ph type="sldImg"/>
          </p:nvPr>
        </p:nvSpPr>
        <p:spPr>
          <a:xfrm>
            <a:off x="685800" y="1143000"/>
            <a:ext cx="5484960" cy="3084840"/>
          </a:xfrm>
          <a:prstGeom prst="rect">
            <a:avLst/>
          </a:prstGeom>
          <a:ln w="0">
            <a:noFill/>
          </a:ln>
        </p:spPr>
      </p:sp>
      <p:sp>
        <p:nvSpPr>
          <p:cNvPr id="3129"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30" name="PlaceHolder 3"/>
          <p:cNvSpPr>
            <a:spLocks noGrp="1"/>
          </p:cNvSpPr>
          <p:nvPr>
            <p:ph type="sldNum" idx="147"/>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8716768E-94A9-4767-B981-81503CCC743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31" name="PlaceHolder 1"/>
          <p:cNvSpPr>
            <a:spLocks noGrp="1"/>
          </p:cNvSpPr>
          <p:nvPr>
            <p:ph type="sldImg"/>
          </p:nvPr>
        </p:nvSpPr>
        <p:spPr>
          <a:xfrm>
            <a:off x="685800" y="1143000"/>
            <a:ext cx="5484960" cy="3084840"/>
          </a:xfrm>
          <a:prstGeom prst="rect">
            <a:avLst/>
          </a:prstGeom>
          <a:ln w="0">
            <a:noFill/>
          </a:ln>
        </p:spPr>
      </p:sp>
      <p:sp>
        <p:nvSpPr>
          <p:cNvPr id="3132"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33" name="PlaceHolder 3"/>
          <p:cNvSpPr>
            <a:spLocks noGrp="1"/>
          </p:cNvSpPr>
          <p:nvPr>
            <p:ph type="sldNum" idx="148"/>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7A3B922-07F9-4331-9772-34F62C0E252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34" name="PlaceHolder 1"/>
          <p:cNvSpPr>
            <a:spLocks noGrp="1"/>
          </p:cNvSpPr>
          <p:nvPr>
            <p:ph type="sldImg"/>
          </p:nvPr>
        </p:nvSpPr>
        <p:spPr>
          <a:xfrm>
            <a:off x="685800" y="1143000"/>
            <a:ext cx="5484960" cy="3084840"/>
          </a:xfrm>
          <a:prstGeom prst="rect">
            <a:avLst/>
          </a:prstGeom>
          <a:ln w="0">
            <a:noFill/>
          </a:ln>
        </p:spPr>
      </p:sp>
      <p:sp>
        <p:nvSpPr>
          <p:cNvPr id="3135"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36" name="PlaceHolder 3"/>
          <p:cNvSpPr>
            <a:spLocks noGrp="1"/>
          </p:cNvSpPr>
          <p:nvPr>
            <p:ph type="sldNum" idx="149"/>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2B0EDB8A-B2B8-486C-A6CF-E174EC18C41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37" name="PlaceHolder 1"/>
          <p:cNvSpPr>
            <a:spLocks noGrp="1"/>
          </p:cNvSpPr>
          <p:nvPr>
            <p:ph type="sldImg"/>
          </p:nvPr>
        </p:nvSpPr>
        <p:spPr>
          <a:xfrm>
            <a:off x="685800" y="1143000"/>
            <a:ext cx="5484960" cy="3084840"/>
          </a:xfrm>
          <a:prstGeom prst="rect">
            <a:avLst/>
          </a:prstGeom>
          <a:ln w="0">
            <a:noFill/>
          </a:ln>
        </p:spPr>
      </p:sp>
      <p:sp>
        <p:nvSpPr>
          <p:cNvPr id="3138"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39" name="PlaceHolder 3"/>
          <p:cNvSpPr>
            <a:spLocks noGrp="1"/>
          </p:cNvSpPr>
          <p:nvPr>
            <p:ph type="sldNum" idx="150"/>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5AD406E-09F0-4B86-B34C-014BE2A17B4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0" name="PlaceHolder 1"/>
          <p:cNvSpPr>
            <a:spLocks noGrp="1"/>
          </p:cNvSpPr>
          <p:nvPr>
            <p:ph type="sldImg"/>
          </p:nvPr>
        </p:nvSpPr>
        <p:spPr>
          <a:xfrm>
            <a:off x="685800" y="1143000"/>
            <a:ext cx="5484960" cy="3084840"/>
          </a:xfrm>
          <a:prstGeom prst="rect">
            <a:avLst/>
          </a:prstGeom>
          <a:ln w="0">
            <a:noFill/>
          </a:ln>
        </p:spPr>
      </p:sp>
      <p:sp>
        <p:nvSpPr>
          <p:cNvPr id="3141"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42" name="PlaceHolder 3"/>
          <p:cNvSpPr>
            <a:spLocks noGrp="1"/>
          </p:cNvSpPr>
          <p:nvPr>
            <p:ph type="sldNum" idx="151"/>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D691E2A-77BB-41F3-8F51-C39EA844673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3" name="PlaceHolder 1"/>
          <p:cNvSpPr>
            <a:spLocks noGrp="1"/>
          </p:cNvSpPr>
          <p:nvPr>
            <p:ph type="sldImg"/>
          </p:nvPr>
        </p:nvSpPr>
        <p:spPr>
          <a:xfrm>
            <a:off x="685800" y="1143000"/>
            <a:ext cx="5484960" cy="3084840"/>
          </a:xfrm>
          <a:prstGeom prst="rect">
            <a:avLst/>
          </a:prstGeom>
          <a:ln w="0">
            <a:noFill/>
          </a:ln>
        </p:spPr>
      </p:sp>
      <p:sp>
        <p:nvSpPr>
          <p:cNvPr id="3144"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45" name="PlaceHolder 3"/>
          <p:cNvSpPr>
            <a:spLocks noGrp="1"/>
          </p:cNvSpPr>
          <p:nvPr>
            <p:ph type="sldNum" idx="152"/>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DC8F8173-B1AB-475D-BD43-ACC5654E042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6" name="PlaceHolder 1"/>
          <p:cNvSpPr>
            <a:spLocks noGrp="1"/>
          </p:cNvSpPr>
          <p:nvPr>
            <p:ph type="sldImg"/>
          </p:nvPr>
        </p:nvSpPr>
        <p:spPr>
          <a:xfrm>
            <a:off x="685800" y="1143000"/>
            <a:ext cx="5484960" cy="3084840"/>
          </a:xfrm>
          <a:prstGeom prst="rect">
            <a:avLst/>
          </a:prstGeom>
          <a:ln w="0">
            <a:noFill/>
          </a:ln>
        </p:spPr>
      </p:sp>
      <p:sp>
        <p:nvSpPr>
          <p:cNvPr id="3147"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48" name="PlaceHolder 3"/>
          <p:cNvSpPr>
            <a:spLocks noGrp="1"/>
          </p:cNvSpPr>
          <p:nvPr>
            <p:ph type="sldNum" idx="153"/>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4E1EDF9A-5476-4C40-9A68-58AC8A7BA11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9" name="PlaceHolder 1"/>
          <p:cNvSpPr>
            <a:spLocks noGrp="1"/>
          </p:cNvSpPr>
          <p:nvPr>
            <p:ph type="sldImg"/>
          </p:nvPr>
        </p:nvSpPr>
        <p:spPr>
          <a:xfrm>
            <a:off x="685800" y="1143000"/>
            <a:ext cx="5484960" cy="3084840"/>
          </a:xfrm>
          <a:prstGeom prst="rect">
            <a:avLst/>
          </a:prstGeom>
          <a:ln w="0">
            <a:noFill/>
          </a:ln>
        </p:spPr>
      </p:sp>
      <p:sp>
        <p:nvSpPr>
          <p:cNvPr id="3150"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51" name="PlaceHolder 3"/>
          <p:cNvSpPr>
            <a:spLocks noGrp="1"/>
          </p:cNvSpPr>
          <p:nvPr>
            <p:ph type="sldNum" idx="154"/>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E21B4EB2-DE06-465A-80D5-DE3CBBDB5AD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52" name="PlaceHolder 1"/>
          <p:cNvSpPr>
            <a:spLocks noGrp="1"/>
          </p:cNvSpPr>
          <p:nvPr>
            <p:ph type="sldImg"/>
          </p:nvPr>
        </p:nvSpPr>
        <p:spPr>
          <a:xfrm>
            <a:off x="685800" y="1143000"/>
            <a:ext cx="5484960" cy="3084840"/>
          </a:xfrm>
          <a:prstGeom prst="rect">
            <a:avLst/>
          </a:prstGeom>
          <a:ln w="0">
            <a:noFill/>
          </a:ln>
        </p:spPr>
      </p:sp>
      <p:sp>
        <p:nvSpPr>
          <p:cNvPr id="3153"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54" name="PlaceHolder 3"/>
          <p:cNvSpPr>
            <a:spLocks noGrp="1"/>
          </p:cNvSpPr>
          <p:nvPr>
            <p:ph type="sldNum" idx="155"/>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32E5692-8D7B-4B43-A350-F0595B22A1B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55" name="PlaceHolder 1"/>
          <p:cNvSpPr>
            <a:spLocks noGrp="1"/>
          </p:cNvSpPr>
          <p:nvPr>
            <p:ph type="sldImg"/>
          </p:nvPr>
        </p:nvSpPr>
        <p:spPr>
          <a:xfrm>
            <a:off x="685800" y="1143000"/>
            <a:ext cx="5484960" cy="3084840"/>
          </a:xfrm>
          <a:prstGeom prst="rect">
            <a:avLst/>
          </a:prstGeom>
          <a:ln w="0">
            <a:noFill/>
          </a:ln>
        </p:spPr>
      </p:sp>
      <p:sp>
        <p:nvSpPr>
          <p:cNvPr id="3156"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57" name="PlaceHolder 3"/>
          <p:cNvSpPr>
            <a:spLocks noGrp="1"/>
          </p:cNvSpPr>
          <p:nvPr>
            <p:ph type="sldNum" idx="156"/>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E7499EC-3E35-4533-93A0-D5C4ED2E930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58" name="PlaceHolder 1"/>
          <p:cNvSpPr>
            <a:spLocks noGrp="1"/>
          </p:cNvSpPr>
          <p:nvPr>
            <p:ph type="sldImg"/>
          </p:nvPr>
        </p:nvSpPr>
        <p:spPr>
          <a:xfrm>
            <a:off x="685800" y="1143000"/>
            <a:ext cx="5484960" cy="3084840"/>
          </a:xfrm>
          <a:prstGeom prst="rect">
            <a:avLst/>
          </a:prstGeom>
          <a:ln w="0">
            <a:noFill/>
          </a:ln>
        </p:spPr>
      </p:sp>
      <p:sp>
        <p:nvSpPr>
          <p:cNvPr id="3159"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60" name="PlaceHolder 3"/>
          <p:cNvSpPr>
            <a:spLocks noGrp="1"/>
          </p:cNvSpPr>
          <p:nvPr>
            <p:ph type="sldNum" idx="157"/>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F15DC3F-603D-4FCB-A1A6-58FF51DDEEB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1" name="PlaceHolder 1"/>
          <p:cNvSpPr>
            <a:spLocks noGrp="1"/>
          </p:cNvSpPr>
          <p:nvPr>
            <p:ph type="sldImg"/>
          </p:nvPr>
        </p:nvSpPr>
        <p:spPr>
          <a:xfrm>
            <a:off x="685800" y="1143000"/>
            <a:ext cx="5484960" cy="3084840"/>
          </a:xfrm>
          <a:prstGeom prst="rect">
            <a:avLst/>
          </a:prstGeom>
          <a:ln w="0">
            <a:noFill/>
          </a:ln>
        </p:spPr>
      </p:sp>
      <p:sp>
        <p:nvSpPr>
          <p:cNvPr id="3162"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63" name="PlaceHolder 3"/>
          <p:cNvSpPr>
            <a:spLocks noGrp="1"/>
          </p:cNvSpPr>
          <p:nvPr>
            <p:ph type="sldNum" idx="158"/>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8211428F-DE55-44E7-90A9-6D0DAF62111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4" name="PlaceHolder 1"/>
          <p:cNvSpPr>
            <a:spLocks noGrp="1"/>
          </p:cNvSpPr>
          <p:nvPr>
            <p:ph type="sldImg"/>
          </p:nvPr>
        </p:nvSpPr>
        <p:spPr>
          <a:xfrm>
            <a:off x="685800" y="1143000"/>
            <a:ext cx="5484960" cy="3084840"/>
          </a:xfrm>
          <a:prstGeom prst="rect">
            <a:avLst/>
          </a:prstGeom>
          <a:ln w="0">
            <a:noFill/>
          </a:ln>
        </p:spPr>
      </p:sp>
      <p:sp>
        <p:nvSpPr>
          <p:cNvPr id="3165"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66" name="PlaceHolder 3"/>
          <p:cNvSpPr>
            <a:spLocks noGrp="1"/>
          </p:cNvSpPr>
          <p:nvPr>
            <p:ph type="sldNum" idx="159"/>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F5562D4-2A7E-46C5-884C-0208396CA34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7" name="PlaceHolder 1"/>
          <p:cNvSpPr>
            <a:spLocks noGrp="1"/>
          </p:cNvSpPr>
          <p:nvPr>
            <p:ph type="sldImg"/>
          </p:nvPr>
        </p:nvSpPr>
        <p:spPr>
          <a:xfrm>
            <a:off x="685800" y="1143000"/>
            <a:ext cx="5484960" cy="3084840"/>
          </a:xfrm>
          <a:prstGeom prst="rect">
            <a:avLst/>
          </a:prstGeom>
          <a:ln w="0">
            <a:noFill/>
          </a:ln>
        </p:spPr>
      </p:sp>
      <p:sp>
        <p:nvSpPr>
          <p:cNvPr id="3168"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69" name="PlaceHolder 3"/>
          <p:cNvSpPr>
            <a:spLocks noGrp="1"/>
          </p:cNvSpPr>
          <p:nvPr>
            <p:ph type="sldNum" idx="160"/>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56839429-EB4F-407C-BA18-E3681EE12D1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0" name="PlaceHolder 1"/>
          <p:cNvSpPr>
            <a:spLocks noGrp="1"/>
          </p:cNvSpPr>
          <p:nvPr>
            <p:ph type="sldImg"/>
          </p:nvPr>
        </p:nvSpPr>
        <p:spPr>
          <a:xfrm>
            <a:off x="685800" y="1143000"/>
            <a:ext cx="5484960" cy="3084840"/>
          </a:xfrm>
          <a:prstGeom prst="rect">
            <a:avLst/>
          </a:prstGeom>
          <a:ln w="0">
            <a:noFill/>
          </a:ln>
        </p:spPr>
      </p:sp>
      <p:sp>
        <p:nvSpPr>
          <p:cNvPr id="3171"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72" name="PlaceHolder 3"/>
          <p:cNvSpPr>
            <a:spLocks noGrp="1"/>
          </p:cNvSpPr>
          <p:nvPr>
            <p:ph type="sldNum" idx="161"/>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65447D69-A3ED-4871-AD85-E5DBE98CCE2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3" name="PlaceHolder 1"/>
          <p:cNvSpPr>
            <a:spLocks noGrp="1"/>
          </p:cNvSpPr>
          <p:nvPr>
            <p:ph type="sldImg"/>
          </p:nvPr>
        </p:nvSpPr>
        <p:spPr>
          <a:xfrm>
            <a:off x="685800" y="1143000"/>
            <a:ext cx="5484960" cy="3084840"/>
          </a:xfrm>
          <a:prstGeom prst="rect">
            <a:avLst/>
          </a:prstGeom>
          <a:ln w="0">
            <a:noFill/>
          </a:ln>
        </p:spPr>
      </p:sp>
      <p:sp>
        <p:nvSpPr>
          <p:cNvPr id="3174"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75" name="PlaceHolder 3"/>
          <p:cNvSpPr>
            <a:spLocks noGrp="1"/>
          </p:cNvSpPr>
          <p:nvPr>
            <p:ph type="sldNum" idx="162"/>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BF0669FA-8690-4DDF-A0B5-ACBB752FB7D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6" name="PlaceHolder 1"/>
          <p:cNvSpPr>
            <a:spLocks noGrp="1"/>
          </p:cNvSpPr>
          <p:nvPr>
            <p:ph type="sldImg"/>
          </p:nvPr>
        </p:nvSpPr>
        <p:spPr>
          <a:xfrm>
            <a:off x="685800" y="1143000"/>
            <a:ext cx="5484960" cy="3084840"/>
          </a:xfrm>
          <a:prstGeom prst="rect">
            <a:avLst/>
          </a:prstGeom>
          <a:ln w="0">
            <a:noFill/>
          </a:ln>
        </p:spPr>
      </p:sp>
      <p:sp>
        <p:nvSpPr>
          <p:cNvPr id="3177"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78" name="PlaceHolder 3"/>
          <p:cNvSpPr>
            <a:spLocks noGrp="1"/>
          </p:cNvSpPr>
          <p:nvPr>
            <p:ph type="sldNum" idx="163"/>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FB96BA3-B4C6-45F2-A361-EF37B400D76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9" name="PlaceHolder 1"/>
          <p:cNvSpPr>
            <a:spLocks noGrp="1"/>
          </p:cNvSpPr>
          <p:nvPr>
            <p:ph type="sldImg"/>
          </p:nvPr>
        </p:nvSpPr>
        <p:spPr>
          <a:xfrm>
            <a:off x="685800" y="1143000"/>
            <a:ext cx="5484960" cy="3084840"/>
          </a:xfrm>
          <a:prstGeom prst="rect">
            <a:avLst/>
          </a:prstGeom>
          <a:ln w="0">
            <a:noFill/>
          </a:ln>
        </p:spPr>
      </p:sp>
      <p:sp>
        <p:nvSpPr>
          <p:cNvPr id="3180"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81" name="PlaceHolder 3"/>
          <p:cNvSpPr>
            <a:spLocks noGrp="1"/>
          </p:cNvSpPr>
          <p:nvPr>
            <p:ph type="sldNum" idx="164"/>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49BACAE-81FE-43F0-A754-7016DBECC91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82" name="PlaceHolder 1"/>
          <p:cNvSpPr>
            <a:spLocks noGrp="1"/>
          </p:cNvSpPr>
          <p:nvPr>
            <p:ph type="sldImg"/>
          </p:nvPr>
        </p:nvSpPr>
        <p:spPr>
          <a:xfrm>
            <a:off x="685800" y="1143000"/>
            <a:ext cx="5484960" cy="3084840"/>
          </a:xfrm>
          <a:prstGeom prst="rect">
            <a:avLst/>
          </a:prstGeom>
          <a:ln w="0">
            <a:noFill/>
          </a:ln>
        </p:spPr>
      </p:sp>
      <p:sp>
        <p:nvSpPr>
          <p:cNvPr id="3183"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84" name="PlaceHolder 3"/>
          <p:cNvSpPr>
            <a:spLocks noGrp="1"/>
          </p:cNvSpPr>
          <p:nvPr>
            <p:ph type="sldNum" idx="165"/>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DCED5B10-722E-41F5-952F-C1B96E32ACB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85" name="PlaceHolder 1"/>
          <p:cNvSpPr>
            <a:spLocks noGrp="1"/>
          </p:cNvSpPr>
          <p:nvPr>
            <p:ph type="sldImg"/>
          </p:nvPr>
        </p:nvSpPr>
        <p:spPr>
          <a:xfrm>
            <a:off x="685800" y="1143000"/>
            <a:ext cx="5485680" cy="3085560"/>
          </a:xfrm>
          <a:prstGeom prst="rect">
            <a:avLst/>
          </a:prstGeom>
          <a:ln w="0">
            <a:noFill/>
          </a:ln>
        </p:spPr>
      </p:sp>
      <p:sp>
        <p:nvSpPr>
          <p:cNvPr id="3186"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87" name="PlaceHolder 3"/>
          <p:cNvSpPr>
            <a:spLocks noGrp="1"/>
          </p:cNvSpPr>
          <p:nvPr>
            <p:ph type="sldNum" idx="166"/>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61E79125-6E1E-42ED-8A77-9559580324C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88" name="PlaceHolder 1"/>
          <p:cNvSpPr>
            <a:spLocks noGrp="1"/>
          </p:cNvSpPr>
          <p:nvPr>
            <p:ph type="sldImg"/>
          </p:nvPr>
        </p:nvSpPr>
        <p:spPr>
          <a:xfrm>
            <a:off x="685800" y="1143000"/>
            <a:ext cx="5485680" cy="3085560"/>
          </a:xfrm>
          <a:prstGeom prst="rect">
            <a:avLst/>
          </a:prstGeom>
          <a:ln w="0">
            <a:noFill/>
          </a:ln>
        </p:spPr>
      </p:sp>
      <p:sp>
        <p:nvSpPr>
          <p:cNvPr id="3189"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90" name="PlaceHolder 3"/>
          <p:cNvSpPr>
            <a:spLocks noGrp="1"/>
          </p:cNvSpPr>
          <p:nvPr>
            <p:ph type="sldNum" idx="167"/>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FE07DC8F-4EAA-4AC7-AC2C-AEA630FB6C3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6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1" name="PlaceHolder 1"/>
          <p:cNvSpPr>
            <a:spLocks noGrp="1"/>
          </p:cNvSpPr>
          <p:nvPr>
            <p:ph type="sldImg"/>
          </p:nvPr>
        </p:nvSpPr>
        <p:spPr>
          <a:xfrm>
            <a:off x="685800" y="1143000"/>
            <a:ext cx="5485680" cy="3085560"/>
          </a:xfrm>
          <a:prstGeom prst="rect">
            <a:avLst/>
          </a:prstGeom>
          <a:ln w="0">
            <a:noFill/>
          </a:ln>
        </p:spPr>
      </p:sp>
      <p:sp>
        <p:nvSpPr>
          <p:cNvPr id="3192"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93" name="PlaceHolder 3"/>
          <p:cNvSpPr>
            <a:spLocks noGrp="1"/>
          </p:cNvSpPr>
          <p:nvPr>
            <p:ph type="sldNum" idx="168"/>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2859FB24-2569-4C6A-B1E9-D8320AB9427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6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4" name="PlaceHolder 1"/>
          <p:cNvSpPr>
            <a:spLocks noGrp="1"/>
          </p:cNvSpPr>
          <p:nvPr>
            <p:ph type="sldImg"/>
          </p:nvPr>
        </p:nvSpPr>
        <p:spPr>
          <a:xfrm>
            <a:off x="685800" y="1143000"/>
            <a:ext cx="5485680" cy="3085560"/>
          </a:xfrm>
          <a:prstGeom prst="rect">
            <a:avLst/>
          </a:prstGeom>
          <a:ln w="0">
            <a:noFill/>
          </a:ln>
        </p:spPr>
      </p:sp>
      <p:sp>
        <p:nvSpPr>
          <p:cNvPr id="3195"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96" name="PlaceHolder 3"/>
          <p:cNvSpPr>
            <a:spLocks noGrp="1"/>
          </p:cNvSpPr>
          <p:nvPr>
            <p:ph type="sldNum" idx="169"/>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80D6179D-169C-495E-A0D2-B1D74763901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7" name="PlaceHolder 1"/>
          <p:cNvSpPr>
            <a:spLocks noGrp="1"/>
          </p:cNvSpPr>
          <p:nvPr>
            <p:ph type="sldImg"/>
          </p:nvPr>
        </p:nvSpPr>
        <p:spPr>
          <a:xfrm>
            <a:off x="685800" y="1143000"/>
            <a:ext cx="5485680" cy="3085560"/>
          </a:xfrm>
          <a:prstGeom prst="rect">
            <a:avLst/>
          </a:prstGeom>
          <a:ln w="0">
            <a:noFill/>
          </a:ln>
        </p:spPr>
      </p:sp>
      <p:sp>
        <p:nvSpPr>
          <p:cNvPr id="3198"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99" name="PlaceHolder 3"/>
          <p:cNvSpPr>
            <a:spLocks noGrp="1"/>
          </p:cNvSpPr>
          <p:nvPr>
            <p:ph type="sldNum" idx="170"/>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089673C-A66A-42B1-AD98-F78CD12DF51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6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0" name="PlaceHolder 1"/>
          <p:cNvSpPr>
            <a:spLocks noGrp="1"/>
          </p:cNvSpPr>
          <p:nvPr>
            <p:ph type="sldImg"/>
          </p:nvPr>
        </p:nvSpPr>
        <p:spPr>
          <a:xfrm>
            <a:off x="685800" y="1143000"/>
            <a:ext cx="5485680" cy="3085560"/>
          </a:xfrm>
          <a:prstGeom prst="rect">
            <a:avLst/>
          </a:prstGeom>
          <a:ln w="0">
            <a:noFill/>
          </a:ln>
        </p:spPr>
      </p:sp>
      <p:sp>
        <p:nvSpPr>
          <p:cNvPr id="3201"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02" name="PlaceHolder 3"/>
          <p:cNvSpPr>
            <a:spLocks noGrp="1"/>
          </p:cNvSpPr>
          <p:nvPr>
            <p:ph type="sldNum" idx="171"/>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18EE8CC-503C-453C-803C-CF34770A252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6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3" name="PlaceHolder 1"/>
          <p:cNvSpPr>
            <a:spLocks noGrp="1"/>
          </p:cNvSpPr>
          <p:nvPr>
            <p:ph type="sldImg"/>
          </p:nvPr>
        </p:nvSpPr>
        <p:spPr>
          <a:xfrm>
            <a:off x="685800" y="1143000"/>
            <a:ext cx="5485680" cy="3085560"/>
          </a:xfrm>
          <a:prstGeom prst="rect">
            <a:avLst/>
          </a:prstGeom>
          <a:ln w="0">
            <a:noFill/>
          </a:ln>
        </p:spPr>
      </p:sp>
      <p:sp>
        <p:nvSpPr>
          <p:cNvPr id="3204"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05" name="PlaceHolder 3"/>
          <p:cNvSpPr>
            <a:spLocks noGrp="1"/>
          </p:cNvSpPr>
          <p:nvPr>
            <p:ph type="sldNum" idx="172"/>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0EE7FA75-7A49-4C0F-AFDE-11571258891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7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6" name="PlaceHolder 1"/>
          <p:cNvSpPr>
            <a:spLocks noGrp="1"/>
          </p:cNvSpPr>
          <p:nvPr>
            <p:ph type="sldImg"/>
          </p:nvPr>
        </p:nvSpPr>
        <p:spPr>
          <a:xfrm>
            <a:off x="685800" y="1143000"/>
            <a:ext cx="5485680" cy="3085560"/>
          </a:xfrm>
          <a:prstGeom prst="rect">
            <a:avLst/>
          </a:prstGeom>
          <a:ln w="0">
            <a:noFill/>
          </a:ln>
        </p:spPr>
      </p:sp>
      <p:sp>
        <p:nvSpPr>
          <p:cNvPr id="3207"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08" name="PlaceHolder 3"/>
          <p:cNvSpPr>
            <a:spLocks noGrp="1"/>
          </p:cNvSpPr>
          <p:nvPr>
            <p:ph type="sldNum" idx="173"/>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F661DA75-2514-4D56-9D1F-9D00821801A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7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9" name="PlaceHolder 1"/>
          <p:cNvSpPr>
            <a:spLocks noGrp="1"/>
          </p:cNvSpPr>
          <p:nvPr>
            <p:ph type="sldImg"/>
          </p:nvPr>
        </p:nvSpPr>
        <p:spPr>
          <a:xfrm>
            <a:off x="685800" y="1143000"/>
            <a:ext cx="5485680" cy="3085560"/>
          </a:xfrm>
          <a:prstGeom prst="rect">
            <a:avLst/>
          </a:prstGeom>
          <a:ln w="0">
            <a:noFill/>
          </a:ln>
        </p:spPr>
      </p:sp>
      <p:sp>
        <p:nvSpPr>
          <p:cNvPr id="3210"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11" name="PlaceHolder 3"/>
          <p:cNvSpPr>
            <a:spLocks noGrp="1"/>
          </p:cNvSpPr>
          <p:nvPr>
            <p:ph type="sldNum" idx="174"/>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6CAB9A1-DD91-4DD6-8850-B0D486BB19E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7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2" name="PlaceHolder 1"/>
          <p:cNvSpPr>
            <a:spLocks noGrp="1"/>
          </p:cNvSpPr>
          <p:nvPr>
            <p:ph type="sldImg"/>
          </p:nvPr>
        </p:nvSpPr>
        <p:spPr>
          <a:xfrm>
            <a:off x="685800" y="1143000"/>
            <a:ext cx="5485680" cy="3085560"/>
          </a:xfrm>
          <a:prstGeom prst="rect">
            <a:avLst/>
          </a:prstGeom>
          <a:ln w="0">
            <a:noFill/>
          </a:ln>
        </p:spPr>
      </p:sp>
      <p:sp>
        <p:nvSpPr>
          <p:cNvPr id="3213"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14" name="PlaceHolder 3"/>
          <p:cNvSpPr>
            <a:spLocks noGrp="1"/>
          </p:cNvSpPr>
          <p:nvPr>
            <p:ph type="sldNum" idx="175"/>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DD3329A9-06B8-4378-AF32-30C19FAC627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7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5" name="PlaceHolder 1"/>
          <p:cNvSpPr>
            <a:spLocks noGrp="1"/>
          </p:cNvSpPr>
          <p:nvPr>
            <p:ph type="sldImg"/>
          </p:nvPr>
        </p:nvSpPr>
        <p:spPr>
          <a:xfrm>
            <a:off x="685800" y="1143000"/>
            <a:ext cx="5485680" cy="3085560"/>
          </a:xfrm>
          <a:prstGeom prst="rect">
            <a:avLst/>
          </a:prstGeom>
          <a:ln w="0">
            <a:noFill/>
          </a:ln>
        </p:spPr>
      </p:sp>
      <p:sp>
        <p:nvSpPr>
          <p:cNvPr id="3216"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17" name="PlaceHolder 3"/>
          <p:cNvSpPr>
            <a:spLocks noGrp="1"/>
          </p:cNvSpPr>
          <p:nvPr>
            <p:ph type="sldNum" idx="176"/>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04B7314D-89FB-4129-950D-B21E7B43A99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7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8" name="PlaceHolder 1"/>
          <p:cNvSpPr>
            <a:spLocks noGrp="1"/>
          </p:cNvSpPr>
          <p:nvPr>
            <p:ph type="sldImg"/>
          </p:nvPr>
        </p:nvSpPr>
        <p:spPr>
          <a:xfrm>
            <a:off x="685800" y="1143000"/>
            <a:ext cx="5485680" cy="3085560"/>
          </a:xfrm>
          <a:prstGeom prst="rect">
            <a:avLst/>
          </a:prstGeom>
          <a:ln w="0">
            <a:noFill/>
          </a:ln>
        </p:spPr>
      </p:sp>
      <p:sp>
        <p:nvSpPr>
          <p:cNvPr id="3219"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20" name="PlaceHolder 3"/>
          <p:cNvSpPr>
            <a:spLocks noGrp="1"/>
          </p:cNvSpPr>
          <p:nvPr>
            <p:ph type="sldNum" idx="177"/>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6612E80-8B32-4CD8-954B-1E6463DE5D5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7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1" name="PlaceHolder 1"/>
          <p:cNvSpPr>
            <a:spLocks noGrp="1"/>
          </p:cNvSpPr>
          <p:nvPr>
            <p:ph type="sldImg"/>
          </p:nvPr>
        </p:nvSpPr>
        <p:spPr>
          <a:xfrm>
            <a:off x="685800" y="1143000"/>
            <a:ext cx="5485680" cy="3085560"/>
          </a:xfrm>
          <a:prstGeom prst="rect">
            <a:avLst/>
          </a:prstGeom>
          <a:ln w="0">
            <a:noFill/>
          </a:ln>
        </p:spPr>
      </p:sp>
      <p:sp>
        <p:nvSpPr>
          <p:cNvPr id="3222"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23" name="PlaceHolder 3"/>
          <p:cNvSpPr>
            <a:spLocks noGrp="1"/>
          </p:cNvSpPr>
          <p:nvPr>
            <p:ph type="sldNum" idx="178"/>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BDF1591-2EDE-4E9F-A8D3-9B67228A794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7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4" name="PlaceHolder 1"/>
          <p:cNvSpPr>
            <a:spLocks noGrp="1"/>
          </p:cNvSpPr>
          <p:nvPr>
            <p:ph type="sldImg"/>
          </p:nvPr>
        </p:nvSpPr>
        <p:spPr>
          <a:xfrm>
            <a:off x="685800" y="1143000"/>
            <a:ext cx="5485680" cy="3085560"/>
          </a:xfrm>
          <a:prstGeom prst="rect">
            <a:avLst/>
          </a:prstGeom>
          <a:ln w="0">
            <a:noFill/>
          </a:ln>
        </p:spPr>
      </p:sp>
      <p:sp>
        <p:nvSpPr>
          <p:cNvPr id="3225"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26" name="PlaceHolder 3"/>
          <p:cNvSpPr>
            <a:spLocks noGrp="1"/>
          </p:cNvSpPr>
          <p:nvPr>
            <p:ph type="sldNum" idx="179"/>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B43599E4-6150-41C6-B6BB-48A2E476674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7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7" name="PlaceHolder 1"/>
          <p:cNvSpPr>
            <a:spLocks noGrp="1"/>
          </p:cNvSpPr>
          <p:nvPr>
            <p:ph type="sldImg"/>
          </p:nvPr>
        </p:nvSpPr>
        <p:spPr>
          <a:xfrm>
            <a:off x="685800" y="1143000"/>
            <a:ext cx="5485680" cy="3085560"/>
          </a:xfrm>
          <a:prstGeom prst="rect">
            <a:avLst/>
          </a:prstGeom>
          <a:ln w="0">
            <a:noFill/>
          </a:ln>
        </p:spPr>
      </p:sp>
      <p:sp>
        <p:nvSpPr>
          <p:cNvPr id="3228"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29" name="PlaceHolder 3"/>
          <p:cNvSpPr>
            <a:spLocks noGrp="1"/>
          </p:cNvSpPr>
          <p:nvPr>
            <p:ph type="sldNum" idx="180"/>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C5CA1A1D-804A-4EE1-8C9E-0C6ADBA6C86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7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0" name="PlaceHolder 1"/>
          <p:cNvSpPr>
            <a:spLocks noGrp="1"/>
          </p:cNvSpPr>
          <p:nvPr>
            <p:ph type="sldImg"/>
          </p:nvPr>
        </p:nvSpPr>
        <p:spPr>
          <a:xfrm>
            <a:off x="685800" y="1143000"/>
            <a:ext cx="5485680" cy="3085560"/>
          </a:xfrm>
          <a:prstGeom prst="rect">
            <a:avLst/>
          </a:prstGeom>
          <a:ln w="0">
            <a:noFill/>
          </a:ln>
        </p:spPr>
      </p:sp>
      <p:sp>
        <p:nvSpPr>
          <p:cNvPr id="3231"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32" name="PlaceHolder 3"/>
          <p:cNvSpPr>
            <a:spLocks noGrp="1"/>
          </p:cNvSpPr>
          <p:nvPr>
            <p:ph type="sldNum" idx="181"/>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F14BF1F2-2BD5-4402-8E05-C0BCCA49229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7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3" name="PlaceHolder 1"/>
          <p:cNvSpPr>
            <a:spLocks noGrp="1"/>
          </p:cNvSpPr>
          <p:nvPr>
            <p:ph type="sldImg"/>
          </p:nvPr>
        </p:nvSpPr>
        <p:spPr>
          <a:xfrm>
            <a:off x="685800" y="1143000"/>
            <a:ext cx="5485680" cy="3085560"/>
          </a:xfrm>
          <a:prstGeom prst="rect">
            <a:avLst/>
          </a:prstGeom>
          <a:ln w="0">
            <a:noFill/>
          </a:ln>
        </p:spPr>
      </p:sp>
      <p:sp>
        <p:nvSpPr>
          <p:cNvPr id="3234"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35" name="PlaceHolder 3"/>
          <p:cNvSpPr>
            <a:spLocks noGrp="1"/>
          </p:cNvSpPr>
          <p:nvPr>
            <p:ph type="sldNum" idx="182"/>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B649CB4C-C677-494B-98A6-6930B03921D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8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6" name="PlaceHolder 1"/>
          <p:cNvSpPr>
            <a:spLocks noGrp="1"/>
          </p:cNvSpPr>
          <p:nvPr>
            <p:ph type="sldImg"/>
          </p:nvPr>
        </p:nvSpPr>
        <p:spPr>
          <a:xfrm>
            <a:off x="685800" y="1143000"/>
            <a:ext cx="5485680" cy="3085560"/>
          </a:xfrm>
          <a:prstGeom prst="rect">
            <a:avLst/>
          </a:prstGeom>
          <a:ln w="0">
            <a:noFill/>
          </a:ln>
        </p:spPr>
      </p:sp>
      <p:sp>
        <p:nvSpPr>
          <p:cNvPr id="3237"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38" name="PlaceHolder 3"/>
          <p:cNvSpPr>
            <a:spLocks noGrp="1"/>
          </p:cNvSpPr>
          <p:nvPr>
            <p:ph type="sldNum" idx="183"/>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F50D99CC-16D2-4073-9FC4-993771D2552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8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9" name="PlaceHolder 1"/>
          <p:cNvSpPr>
            <a:spLocks noGrp="1"/>
          </p:cNvSpPr>
          <p:nvPr>
            <p:ph type="sldImg"/>
          </p:nvPr>
        </p:nvSpPr>
        <p:spPr>
          <a:xfrm>
            <a:off x="685800" y="1143000"/>
            <a:ext cx="5485680" cy="3085560"/>
          </a:xfrm>
          <a:prstGeom prst="rect">
            <a:avLst/>
          </a:prstGeom>
          <a:ln w="0">
            <a:noFill/>
          </a:ln>
        </p:spPr>
      </p:sp>
      <p:sp>
        <p:nvSpPr>
          <p:cNvPr id="3240"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41" name="PlaceHolder 3"/>
          <p:cNvSpPr>
            <a:spLocks noGrp="1"/>
          </p:cNvSpPr>
          <p:nvPr>
            <p:ph type="sldNum" idx="184"/>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F0208551-39A0-4D2E-9CF7-05E723188F4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8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42" name="PlaceHolder 1"/>
          <p:cNvSpPr>
            <a:spLocks noGrp="1"/>
          </p:cNvSpPr>
          <p:nvPr>
            <p:ph type="sldImg"/>
          </p:nvPr>
        </p:nvSpPr>
        <p:spPr>
          <a:xfrm>
            <a:off x="685800" y="1143000"/>
            <a:ext cx="5485680" cy="3085560"/>
          </a:xfrm>
          <a:prstGeom prst="rect">
            <a:avLst/>
          </a:prstGeom>
          <a:ln w="0">
            <a:noFill/>
          </a:ln>
        </p:spPr>
      </p:sp>
      <p:sp>
        <p:nvSpPr>
          <p:cNvPr id="3243"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44" name="PlaceHolder 3"/>
          <p:cNvSpPr>
            <a:spLocks noGrp="1"/>
          </p:cNvSpPr>
          <p:nvPr>
            <p:ph type="sldNum" idx="185"/>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B3CFAF7F-8667-4632-A04A-A401F63B0DA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8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45" name="PlaceHolder 1"/>
          <p:cNvSpPr>
            <a:spLocks noGrp="1"/>
          </p:cNvSpPr>
          <p:nvPr>
            <p:ph type="sldImg"/>
          </p:nvPr>
        </p:nvSpPr>
        <p:spPr>
          <a:xfrm>
            <a:off x="685800" y="1143000"/>
            <a:ext cx="5485680" cy="3085560"/>
          </a:xfrm>
          <a:prstGeom prst="rect">
            <a:avLst/>
          </a:prstGeom>
          <a:ln w="0">
            <a:noFill/>
          </a:ln>
        </p:spPr>
      </p:sp>
      <p:sp>
        <p:nvSpPr>
          <p:cNvPr id="3246"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47" name="PlaceHolder 3"/>
          <p:cNvSpPr>
            <a:spLocks noGrp="1"/>
          </p:cNvSpPr>
          <p:nvPr>
            <p:ph type="sldNum" idx="186"/>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65F2B453-3264-4ECD-88D3-F2FA99260C5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8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48" name="PlaceHolder 1"/>
          <p:cNvSpPr>
            <a:spLocks noGrp="1"/>
          </p:cNvSpPr>
          <p:nvPr>
            <p:ph type="sldImg"/>
          </p:nvPr>
        </p:nvSpPr>
        <p:spPr>
          <a:xfrm>
            <a:off x="685800" y="1143000"/>
            <a:ext cx="5485680" cy="3085560"/>
          </a:xfrm>
          <a:prstGeom prst="rect">
            <a:avLst/>
          </a:prstGeom>
          <a:ln w="0">
            <a:noFill/>
          </a:ln>
        </p:spPr>
      </p:sp>
      <p:sp>
        <p:nvSpPr>
          <p:cNvPr id="3249"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50" name="PlaceHolder 3"/>
          <p:cNvSpPr>
            <a:spLocks noGrp="1"/>
          </p:cNvSpPr>
          <p:nvPr>
            <p:ph type="sldNum" idx="187"/>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A1516B1-8BD7-4A1F-B17D-747942D5398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8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1" name="PlaceHolder 1"/>
          <p:cNvSpPr>
            <a:spLocks noGrp="1"/>
          </p:cNvSpPr>
          <p:nvPr>
            <p:ph type="sldImg"/>
          </p:nvPr>
        </p:nvSpPr>
        <p:spPr>
          <a:xfrm>
            <a:off x="685800" y="1143000"/>
            <a:ext cx="5485680" cy="3085560"/>
          </a:xfrm>
          <a:prstGeom prst="rect">
            <a:avLst/>
          </a:prstGeom>
          <a:ln w="0">
            <a:noFill/>
          </a:ln>
        </p:spPr>
      </p:sp>
      <p:sp>
        <p:nvSpPr>
          <p:cNvPr id="3252"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53" name="PlaceHolder 3"/>
          <p:cNvSpPr>
            <a:spLocks noGrp="1"/>
          </p:cNvSpPr>
          <p:nvPr>
            <p:ph type="sldNum" idx="188"/>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6171FD8C-1371-4C0D-B2D1-3C23A01A6EB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8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4" name="PlaceHolder 1"/>
          <p:cNvSpPr>
            <a:spLocks noGrp="1"/>
          </p:cNvSpPr>
          <p:nvPr>
            <p:ph type="sldImg"/>
          </p:nvPr>
        </p:nvSpPr>
        <p:spPr>
          <a:xfrm>
            <a:off x="685800" y="1143000"/>
            <a:ext cx="5484960" cy="3084840"/>
          </a:xfrm>
          <a:prstGeom prst="rect">
            <a:avLst/>
          </a:prstGeom>
          <a:ln w="0">
            <a:noFill/>
          </a:ln>
        </p:spPr>
      </p:sp>
      <p:sp>
        <p:nvSpPr>
          <p:cNvPr id="3255"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56" name="PlaceHolder 3"/>
          <p:cNvSpPr>
            <a:spLocks noGrp="1"/>
          </p:cNvSpPr>
          <p:nvPr>
            <p:ph type="sldNum" idx="189"/>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BC65DA3-456F-4F5F-A9AA-892A516160D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8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7" name="PlaceHolder 1"/>
          <p:cNvSpPr>
            <a:spLocks noGrp="1"/>
          </p:cNvSpPr>
          <p:nvPr>
            <p:ph type="sldImg"/>
          </p:nvPr>
        </p:nvSpPr>
        <p:spPr>
          <a:xfrm>
            <a:off x="685800" y="1143000"/>
            <a:ext cx="5484960" cy="3084840"/>
          </a:xfrm>
          <a:prstGeom prst="rect">
            <a:avLst/>
          </a:prstGeom>
          <a:ln w="0">
            <a:noFill/>
          </a:ln>
        </p:spPr>
      </p:sp>
      <p:sp>
        <p:nvSpPr>
          <p:cNvPr id="3258"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59" name="PlaceHolder 3"/>
          <p:cNvSpPr>
            <a:spLocks noGrp="1"/>
          </p:cNvSpPr>
          <p:nvPr>
            <p:ph type="sldNum" idx="190"/>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F904F384-EBA0-4256-8530-59F7691F138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8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0" name="PlaceHolder 1"/>
          <p:cNvSpPr>
            <a:spLocks noGrp="1"/>
          </p:cNvSpPr>
          <p:nvPr>
            <p:ph type="sldImg"/>
          </p:nvPr>
        </p:nvSpPr>
        <p:spPr>
          <a:xfrm>
            <a:off x="685800" y="1143000"/>
            <a:ext cx="5484960" cy="3084840"/>
          </a:xfrm>
          <a:prstGeom prst="rect">
            <a:avLst/>
          </a:prstGeom>
          <a:ln w="0">
            <a:noFill/>
          </a:ln>
        </p:spPr>
      </p:sp>
      <p:sp>
        <p:nvSpPr>
          <p:cNvPr id="3261"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62" name="PlaceHolder 3"/>
          <p:cNvSpPr>
            <a:spLocks noGrp="1"/>
          </p:cNvSpPr>
          <p:nvPr>
            <p:ph type="sldNum" idx="191"/>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899B21B4-22EB-49FC-9705-41829C53343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8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3" name="PlaceHolder 1"/>
          <p:cNvSpPr>
            <a:spLocks noGrp="1"/>
          </p:cNvSpPr>
          <p:nvPr>
            <p:ph type="sldImg"/>
          </p:nvPr>
        </p:nvSpPr>
        <p:spPr>
          <a:xfrm>
            <a:off x="685800" y="1143000"/>
            <a:ext cx="5484960" cy="3084840"/>
          </a:xfrm>
          <a:prstGeom prst="rect">
            <a:avLst/>
          </a:prstGeom>
          <a:ln w="0">
            <a:noFill/>
          </a:ln>
        </p:spPr>
      </p:sp>
      <p:sp>
        <p:nvSpPr>
          <p:cNvPr id="3264"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65" name="PlaceHolder 3"/>
          <p:cNvSpPr>
            <a:spLocks noGrp="1"/>
          </p:cNvSpPr>
          <p:nvPr>
            <p:ph type="sldNum" idx="192"/>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CB76B7E-D936-4570-8A09-9FC8ADE868D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9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6" name="PlaceHolder 1"/>
          <p:cNvSpPr>
            <a:spLocks noGrp="1"/>
          </p:cNvSpPr>
          <p:nvPr>
            <p:ph type="sldImg"/>
          </p:nvPr>
        </p:nvSpPr>
        <p:spPr>
          <a:xfrm>
            <a:off x="685800" y="1143000"/>
            <a:ext cx="5484960" cy="3084840"/>
          </a:xfrm>
          <a:prstGeom prst="rect">
            <a:avLst/>
          </a:prstGeom>
          <a:ln w="0">
            <a:noFill/>
          </a:ln>
        </p:spPr>
      </p:sp>
      <p:sp>
        <p:nvSpPr>
          <p:cNvPr id="3267"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68" name="PlaceHolder 3"/>
          <p:cNvSpPr>
            <a:spLocks noGrp="1"/>
          </p:cNvSpPr>
          <p:nvPr>
            <p:ph type="sldNum" idx="193"/>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CF4A6AA-EB91-4FFF-8F12-1973A90B856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9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9" name="PlaceHolder 1"/>
          <p:cNvSpPr>
            <a:spLocks noGrp="1"/>
          </p:cNvSpPr>
          <p:nvPr>
            <p:ph type="sldImg"/>
          </p:nvPr>
        </p:nvSpPr>
        <p:spPr>
          <a:xfrm>
            <a:off x="685800" y="1143000"/>
            <a:ext cx="5484960" cy="3084840"/>
          </a:xfrm>
          <a:prstGeom prst="rect">
            <a:avLst/>
          </a:prstGeom>
          <a:ln w="0">
            <a:noFill/>
          </a:ln>
        </p:spPr>
      </p:sp>
      <p:sp>
        <p:nvSpPr>
          <p:cNvPr id="3270"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71" name="PlaceHolder 3"/>
          <p:cNvSpPr>
            <a:spLocks noGrp="1"/>
          </p:cNvSpPr>
          <p:nvPr>
            <p:ph type="sldNum" idx="194"/>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F023F14B-FABD-459D-A335-7CBB13788C3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9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72" name="PlaceHolder 1"/>
          <p:cNvSpPr>
            <a:spLocks noGrp="1"/>
          </p:cNvSpPr>
          <p:nvPr>
            <p:ph type="sldImg"/>
          </p:nvPr>
        </p:nvSpPr>
        <p:spPr>
          <a:xfrm>
            <a:off x="685800" y="1143000"/>
            <a:ext cx="5484960" cy="3084840"/>
          </a:xfrm>
          <a:prstGeom prst="rect">
            <a:avLst/>
          </a:prstGeom>
          <a:ln w="0">
            <a:noFill/>
          </a:ln>
        </p:spPr>
      </p:sp>
      <p:sp>
        <p:nvSpPr>
          <p:cNvPr id="3273"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74" name="PlaceHolder 3"/>
          <p:cNvSpPr>
            <a:spLocks noGrp="1"/>
          </p:cNvSpPr>
          <p:nvPr>
            <p:ph type="sldNum" idx="195"/>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16336BA-EF42-4F76-B44A-CBDB77A6D30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1"/>
          </p:nvPr>
        </p:nvSpPr>
        <p:spPr/>
        <p:txBody>
          <a:bodyPr/>
          <a:p>
            <a:fld id="{1934995E-07F4-4960-A31C-33C74F1895E0}"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spTree>
      <p:nvGrpSpPr>
        <p:cNvPr id="1" name=""/>
        <p:cNvGrpSpPr/>
        <p:nvPr/>
      </p:nvGrpSpPr>
      <p:grpSpPr>
        <a:xfrm>
          <a:off x="0" y="0"/>
          <a:ext cx="0" cy="0"/>
          <a:chOff x="0" y="0"/>
          <a:chExt cx="0" cy="0"/>
        </a:xfrm>
      </p:grpSpPr>
      <p:sp>
        <p:nvSpPr>
          <p:cNvPr id="1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3"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sldNum" idx="2"/>
          </p:nvPr>
        </p:nvSpPr>
        <p:spPr/>
        <p:txBody>
          <a:bodyPr/>
          <a:p>
            <a:fld id="{515D860B-C4B3-425A-AF92-9482E900E9F1}" type="slidenum">
              <a:t>&lt;#&gt;</a:t>
            </a:fld>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2.png"/><Relationship Id="rId3" Type="http://schemas.openxmlformats.org/officeDocument/2006/relationships/slideLayout" Target="../slideLayouts/slideLayout4.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ffffff"/>
                </a:solidFill>
                <a:latin typeface="Arial"/>
              </a:rPr>
              <a:t>Click to edit the title text format</a:t>
            </a:r>
            <a:endParaRPr b="0" lang="en-US" sz="4400" spc="-1" strike="noStrike">
              <a:solidFill>
                <a:srgbClr val="ffffff"/>
              </a:solidFill>
              <a:latin typeface="Arial"/>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3200" spc="-1" strike="noStrike">
                <a:solidFill>
                  <a:srgbClr val="ffffff"/>
                </a:solidFill>
                <a:latin typeface="Arial"/>
              </a:rPr>
              <a:t>Click to edit the outline text format</a:t>
            </a:r>
            <a:endParaRPr b="0" lang="en-US" sz="3200" spc="-1" strike="noStrike">
              <a:solidFill>
                <a:srgbClr val="ffffff"/>
              </a:solidFill>
              <a:latin typeface="Arial"/>
            </a:endParaRPr>
          </a:p>
          <a:p>
            <a:pPr lvl="1" marL="864000" indent="-324000">
              <a:spcBef>
                <a:spcPts val="1134"/>
              </a:spcBef>
              <a:buClr>
                <a:srgbClr val="ffffff"/>
              </a:buClr>
              <a:buSzPct val="75000"/>
              <a:buFont typeface="Symbol" charset="2"/>
              <a:buChar char=""/>
            </a:pPr>
            <a:r>
              <a:rPr b="0" lang="en-US" sz="2800" spc="-1" strike="noStrike">
                <a:solidFill>
                  <a:srgbClr val="ffffff"/>
                </a:solidFill>
                <a:latin typeface="Arial"/>
              </a:rPr>
              <a:t>Second Outline Level</a:t>
            </a:r>
            <a:endParaRPr b="0" lang="en-US" sz="2800" spc="-1" strike="noStrike">
              <a:solidFill>
                <a:srgbClr val="ffffff"/>
              </a:solidFill>
              <a:latin typeface="Arial"/>
            </a:endParaRPr>
          </a:p>
          <a:p>
            <a:pPr lvl="2" marL="1296000" indent="-288000">
              <a:spcBef>
                <a:spcPts val="850"/>
              </a:spcBef>
              <a:buClr>
                <a:srgbClr val="ffffff"/>
              </a:buClr>
              <a:buSzPct val="45000"/>
              <a:buFont typeface="Wingdings" charset="2"/>
              <a:buChar char=""/>
            </a:pPr>
            <a:r>
              <a:rPr b="0" lang="en-US" sz="2400" spc="-1" strike="noStrike">
                <a:solidFill>
                  <a:srgbClr val="ffffff"/>
                </a:solidFill>
                <a:latin typeface="Arial"/>
              </a:rPr>
              <a:t>Third Outline Level</a:t>
            </a:r>
            <a:endParaRPr b="0" lang="en-US" sz="2400" spc="-1" strike="noStrike">
              <a:solidFill>
                <a:srgbClr val="ffffff"/>
              </a:solidFill>
              <a:latin typeface="Arial"/>
            </a:endParaRPr>
          </a:p>
          <a:p>
            <a:pPr lvl="3" marL="1728000" indent="-216000">
              <a:spcBef>
                <a:spcPts val="567"/>
              </a:spcBef>
              <a:buClr>
                <a:srgbClr val="ffffff"/>
              </a:buClr>
              <a:buSzPct val="75000"/>
              <a:buFont typeface="Symbol" charset="2"/>
              <a:buChar char=""/>
            </a:pPr>
            <a:r>
              <a:rPr b="0" lang="en-US" sz="2000" spc="-1" strike="noStrike">
                <a:solidFill>
                  <a:srgbClr val="ffffff"/>
                </a:solidFill>
                <a:latin typeface="Arial"/>
              </a:rPr>
              <a:t>Fourth Outline Level</a:t>
            </a:r>
            <a:endParaRPr b="0" lang="en-US" sz="2000" spc="-1" strike="noStrike">
              <a:solidFill>
                <a:srgbClr val="ffffff"/>
              </a:solidFill>
              <a:latin typeface="Arial"/>
            </a:endParaRPr>
          </a:p>
          <a:p>
            <a:pPr lvl="4" marL="2160000" indent="-216000">
              <a:spcBef>
                <a:spcPts val="283"/>
              </a:spcBef>
              <a:buClr>
                <a:srgbClr val="ffffff"/>
              </a:buClr>
              <a:buSzPct val="45000"/>
              <a:buFont typeface="Wingdings" charset="2"/>
              <a:buChar char=""/>
            </a:pPr>
            <a:r>
              <a:rPr b="0" lang="en-US" sz="2000" spc="-1" strike="noStrike">
                <a:solidFill>
                  <a:srgbClr val="ffffff"/>
                </a:solidFill>
                <a:latin typeface="Arial"/>
              </a:rPr>
              <a:t>Fifth Outline Level</a:t>
            </a:r>
            <a:endParaRPr b="0" lang="en-US" sz="2000" spc="-1" strike="noStrike">
              <a:solidFill>
                <a:srgbClr val="ffffff"/>
              </a:solidFill>
              <a:latin typeface="Arial"/>
            </a:endParaRPr>
          </a:p>
          <a:p>
            <a:pPr lvl="5" marL="2592000" indent="-216000">
              <a:spcBef>
                <a:spcPts val="283"/>
              </a:spcBef>
              <a:buClr>
                <a:srgbClr val="ffffff"/>
              </a:buClr>
              <a:buSzPct val="45000"/>
              <a:buFont typeface="Wingdings" charset="2"/>
              <a:buChar char=""/>
            </a:pPr>
            <a:r>
              <a:rPr b="0" lang="en-US" sz="2000" spc="-1" strike="noStrike">
                <a:solidFill>
                  <a:srgbClr val="ffffff"/>
                </a:solidFill>
                <a:latin typeface="Arial"/>
              </a:rPr>
              <a:t>Sixth Outline Level</a:t>
            </a:r>
            <a:endParaRPr b="0" lang="en-US" sz="2000" spc="-1" strike="noStrike">
              <a:solidFill>
                <a:srgbClr val="ffffff"/>
              </a:solidFill>
              <a:latin typeface="Arial"/>
            </a:endParaRPr>
          </a:p>
          <a:p>
            <a:pPr lvl="6" marL="3024000" indent="-216000">
              <a:spcBef>
                <a:spcPts val="283"/>
              </a:spcBef>
              <a:buClr>
                <a:srgbClr val="ffffff"/>
              </a:buClr>
              <a:buSzPct val="45000"/>
              <a:buFont typeface="Wingdings" charset="2"/>
              <a:buChar char=""/>
            </a:pPr>
            <a:r>
              <a:rPr b="0" lang="en-US" sz="2000" spc="-1" strike="noStrike">
                <a:solidFill>
                  <a:srgbClr val="ffffff"/>
                </a:solidFill>
                <a:latin typeface="Arial"/>
              </a:rPr>
              <a:t>Seventh Outline Level</a:t>
            </a:r>
            <a:endParaRPr b="0" lang="en-US" sz="2000" spc="-1" strike="noStrike">
              <a:solidFill>
                <a:srgbClr val="ffffff"/>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2" name="PlaceHolder 1"/>
          <p:cNvSpPr>
            <a:spLocks noGrp="1"/>
          </p:cNvSpPr>
          <p:nvPr>
            <p:ph type="body"/>
          </p:nvPr>
        </p:nvSpPr>
        <p:spPr>
          <a:xfrm>
            <a:off x="603000" y="6134400"/>
            <a:ext cx="10985400" cy="330120"/>
          </a:xfrm>
          <a:prstGeom prst="rect">
            <a:avLst/>
          </a:prstGeom>
          <a:noFill/>
          <a:ln w="12600">
            <a:noFill/>
          </a:ln>
        </p:spPr>
        <p:txBody>
          <a:bodyPr lIns="45720" rIns="45720" tIns="45720" bIns="45720" anchor="b">
            <a:noAutofit/>
          </a:bodyPr>
          <a:p>
            <a:pPr indent="0" defTabSz="825480">
              <a:lnSpc>
                <a:spcPct val="100000"/>
              </a:lnSpc>
              <a:buNone/>
              <a:tabLst>
                <a:tab algn="l" pos="0"/>
              </a:tabLst>
            </a:pPr>
            <a:r>
              <a:rPr b="0" lang="en-US" sz="3300" spc="-1" strike="noStrike">
                <a:solidFill>
                  <a:schemeClr val="accent1">
                    <a:lumOff val="-32670"/>
                  </a:schemeClr>
                </a:solidFill>
                <a:latin typeface="Produkt Light"/>
                <a:ea typeface="Produkt Light"/>
              </a:rPr>
              <a:t>Author and Date</a:t>
            </a:r>
            <a:endParaRPr b="0" lang="en-US" sz="3300" spc="-1" strike="noStrike">
              <a:solidFill>
                <a:schemeClr val="accent1">
                  <a:lumOff val="-32670"/>
                </a:schemeClr>
              </a:solidFill>
              <a:latin typeface="Graphik Light"/>
            </a:endParaRPr>
          </a:p>
        </p:txBody>
      </p:sp>
      <p:sp>
        <p:nvSpPr>
          <p:cNvPr id="3" name="PlaceHolder 2"/>
          <p:cNvSpPr>
            <a:spLocks noGrp="1"/>
          </p:cNvSpPr>
          <p:nvPr>
            <p:ph type="body"/>
          </p:nvPr>
        </p:nvSpPr>
        <p:spPr>
          <a:xfrm>
            <a:off x="603000" y="3676680"/>
            <a:ext cx="10985400" cy="1003320"/>
          </a:xfrm>
          <a:prstGeom prst="rect">
            <a:avLst/>
          </a:prstGeom>
          <a:noFill/>
          <a:ln w="12600">
            <a:noFill/>
          </a:ln>
        </p:spPr>
        <p:txBody>
          <a:bodyPr lIns="50760" rIns="50760" tIns="50760" bIns="50760" anchor="t">
            <a:noAutofit/>
          </a:bodyPr>
          <a:p>
            <a:pPr indent="0" defTabSz="825480">
              <a:lnSpc>
                <a:spcPct val="100000"/>
              </a:lnSpc>
              <a:buNone/>
              <a:tabLst>
                <a:tab algn="l" pos="0"/>
              </a:tabLst>
            </a:pPr>
            <a:r>
              <a:rPr b="0" lang="en-US" sz="5500" spc="-1" strike="noStrike">
                <a:solidFill>
                  <a:schemeClr val="accent1">
                    <a:lumOff val="-32670"/>
                  </a:schemeClr>
                </a:solidFill>
                <a:latin typeface="Produkt Extralight"/>
                <a:ea typeface="Produkt Extralight"/>
              </a:rPr>
              <a:t>Presentation Subtitle</a:t>
            </a:r>
            <a:endParaRPr b="0" lang="en-US" sz="5500" spc="-1" strike="noStrike">
              <a:solidFill>
                <a:schemeClr val="accent1">
                  <a:lumOff val="-32670"/>
                </a:schemeClr>
              </a:solidFill>
              <a:latin typeface="Graphik Light"/>
            </a:endParaRPr>
          </a:p>
          <a:p>
            <a:pPr indent="0" defTabSz="825480">
              <a:lnSpc>
                <a:spcPct val="100000"/>
              </a:lnSpc>
              <a:buNone/>
              <a:tabLst>
                <a:tab algn="l" pos="0"/>
              </a:tabLst>
            </a:pPr>
            <a:endParaRPr b="0" lang="en-US" sz="5500" spc="-1" strike="noStrike">
              <a:solidFill>
                <a:schemeClr val="accent1">
                  <a:lumOff val="-32670"/>
                </a:schemeClr>
              </a:solidFill>
              <a:latin typeface="Graphik Light"/>
            </a:endParaRPr>
          </a:p>
          <a:p>
            <a:pPr indent="0" defTabSz="825480">
              <a:lnSpc>
                <a:spcPct val="100000"/>
              </a:lnSpc>
              <a:buNone/>
              <a:tabLst>
                <a:tab algn="l" pos="0"/>
              </a:tabLst>
            </a:pPr>
            <a:endParaRPr b="0" lang="en-US" sz="5500" spc="-1" strike="noStrike">
              <a:solidFill>
                <a:schemeClr val="accent1">
                  <a:lumOff val="-32670"/>
                </a:schemeClr>
              </a:solidFill>
              <a:latin typeface="Graphik Light"/>
            </a:endParaRPr>
          </a:p>
          <a:p>
            <a:pPr indent="0" defTabSz="825480">
              <a:lnSpc>
                <a:spcPct val="100000"/>
              </a:lnSpc>
              <a:buNone/>
              <a:tabLst>
                <a:tab algn="l" pos="0"/>
              </a:tabLst>
            </a:pPr>
            <a:endParaRPr b="0" lang="en-US" sz="5500" spc="-1" strike="noStrike">
              <a:solidFill>
                <a:schemeClr val="accent1">
                  <a:lumOff val="-32670"/>
                </a:schemeClr>
              </a:solidFill>
              <a:latin typeface="Graphik Light"/>
            </a:endParaRPr>
          </a:p>
          <a:p>
            <a:pPr indent="0" defTabSz="825480">
              <a:lnSpc>
                <a:spcPct val="100000"/>
              </a:lnSpc>
              <a:buNone/>
              <a:tabLst>
                <a:tab algn="l" pos="0"/>
              </a:tabLst>
            </a:pPr>
            <a:endParaRPr b="0" lang="en-US" sz="5500" spc="-1" strike="noStrike">
              <a:solidFill>
                <a:schemeClr val="accent1">
                  <a:lumOff val="-32670"/>
                </a:schemeClr>
              </a:solidFill>
              <a:latin typeface="Graphik Light"/>
            </a:endParaRPr>
          </a:p>
        </p:txBody>
      </p:sp>
      <p:sp>
        <p:nvSpPr>
          <p:cNvPr id="4" name="PlaceHolder 3"/>
          <p:cNvSpPr>
            <a:spLocks noGrp="1"/>
          </p:cNvSpPr>
          <p:nvPr>
            <p:ph type="title"/>
          </p:nvPr>
        </p:nvSpPr>
        <p:spPr>
          <a:xfrm>
            <a:off x="603000" y="1307880"/>
            <a:ext cx="10985400" cy="2324160"/>
          </a:xfrm>
          <a:prstGeom prst="rect">
            <a:avLst/>
          </a:prstGeom>
          <a:noFill/>
          <a:ln w="12600">
            <a:noFill/>
          </a:ln>
        </p:spPr>
        <p:txBody>
          <a:bodyPr lIns="50760" rIns="50760" tIns="50760" bIns="50760" anchor="b">
            <a:noAutofit/>
          </a:bodyPr>
          <a:p>
            <a:pPr indent="0" defTabSz="355680">
              <a:lnSpc>
                <a:spcPct val="90000"/>
              </a:lnSpc>
              <a:buNone/>
              <a:tabLst>
                <a:tab algn="l" pos="0"/>
              </a:tabLst>
            </a:pPr>
            <a:r>
              <a:rPr b="0" lang="en-US" sz="12000" spc="-120" strike="noStrike">
                <a:solidFill>
                  <a:schemeClr val="accent1">
                    <a:lumOff val="-32670"/>
                  </a:schemeClr>
                </a:solidFill>
                <a:latin typeface="Produkt Extralight"/>
                <a:ea typeface="Produkt Extralight"/>
              </a:rPr>
              <a:t>Presentation Title</a:t>
            </a:r>
            <a:endParaRPr b="0" lang="en-US" sz="12000" spc="-1" strike="noStrike">
              <a:solidFill>
                <a:schemeClr val="accent1">
                  <a:lumOff val="-32670"/>
                </a:schemeClr>
              </a:solidFill>
              <a:latin typeface="Graphik Light"/>
            </a:endParaRPr>
          </a:p>
        </p:txBody>
      </p:sp>
      <p:sp>
        <p:nvSpPr>
          <p:cNvPr id="5" name="PlaceHolder 4"/>
          <p:cNvSpPr>
            <a:spLocks noGrp="1"/>
          </p:cNvSpPr>
          <p:nvPr>
            <p:ph type="sldNum" idx="1"/>
          </p:nvPr>
        </p:nvSpPr>
        <p:spPr>
          <a:xfrm>
            <a:off x="11779200" y="6230160"/>
            <a:ext cx="194400" cy="214560"/>
          </a:xfrm>
          <a:prstGeom prst="rect">
            <a:avLst/>
          </a:prstGeom>
          <a:noFill/>
          <a:ln w="12600">
            <a:noFill/>
          </a:ln>
        </p:spPr>
        <p:txBody>
          <a:bodyPr lIns="50760" rIns="50760" tIns="50760" bIns="50760" anchor="b">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1152360" y="828720"/>
            <a:ext cx="9887040" cy="644760"/>
          </a:xfrm>
          <a:prstGeom prst="rect">
            <a:avLst/>
          </a:prstGeom>
          <a:noFill/>
          <a:ln w="12600">
            <a:noFill/>
          </a:ln>
        </p:spPr>
        <p:txBody>
          <a:bodyPr lIns="45720" rIns="45720" tIns="45720" bIns="45720" anchor="t">
            <a:noAutofit/>
          </a:bodyPr>
          <a:p>
            <a:pPr indent="0" defTabSz="2438280">
              <a:lnSpc>
                <a:spcPct val="80000"/>
              </a:lnSpc>
              <a:buNone/>
              <a:tabLst>
                <a:tab algn="l" pos="0"/>
              </a:tabLst>
            </a:pPr>
            <a:r>
              <a:rPr b="1" lang="en-US" sz="8000" spc="-160" strike="noStrike">
                <a:solidFill>
                  <a:srgbClr val="000000"/>
                </a:solidFill>
                <a:latin typeface="Helvetica Neue"/>
                <a:ea typeface="Helvetica Neue"/>
              </a:rPr>
              <a:t>Slide Title</a:t>
            </a:r>
            <a:endParaRPr b="0" lang="en-US" sz="8000" spc="-1" strike="noStrike">
              <a:solidFill>
                <a:schemeClr val="accent1">
                  <a:lumOff val="-32670"/>
                </a:schemeClr>
              </a:solidFill>
              <a:latin typeface="Graphik Light"/>
            </a:endParaRPr>
          </a:p>
        </p:txBody>
      </p:sp>
      <p:sp>
        <p:nvSpPr>
          <p:cNvPr id="9" name="PlaceHolder 2"/>
          <p:cNvSpPr>
            <a:spLocks noGrp="1"/>
          </p:cNvSpPr>
          <p:nvPr>
            <p:ph type="body"/>
          </p:nvPr>
        </p:nvSpPr>
        <p:spPr>
          <a:xfrm>
            <a:off x="1152360" y="1410480"/>
            <a:ext cx="9887040" cy="420480"/>
          </a:xfrm>
          <a:prstGeom prst="rect">
            <a:avLst/>
          </a:prstGeom>
          <a:noFill/>
          <a:ln w="12600">
            <a:noFill/>
          </a:ln>
        </p:spPr>
        <p:txBody>
          <a:bodyPr lIns="41040" rIns="41040" tIns="41040" bIns="41040" anchor="t">
            <a:noAutofit/>
          </a:bodyPr>
          <a:p>
            <a:pPr indent="0" defTabSz="800640">
              <a:lnSpc>
                <a:spcPct val="100000"/>
              </a:lnSpc>
              <a:buNone/>
              <a:tabLst>
                <a:tab algn="l" pos="0"/>
              </a:tabLst>
            </a:pPr>
            <a:r>
              <a:rPr b="1" lang="en-US" sz="5050" spc="-1" strike="noStrike">
                <a:solidFill>
                  <a:srgbClr val="000000"/>
                </a:solidFill>
                <a:latin typeface="Helvetica Neue"/>
                <a:ea typeface="Helvetica Neue"/>
              </a:rPr>
              <a:t>Slide Subtitle</a:t>
            </a:r>
            <a:endParaRPr b="0" lang="en-US" sz="5050" spc="-1" strike="noStrike">
              <a:solidFill>
                <a:schemeClr val="accent1">
                  <a:lumOff val="-32670"/>
                </a:schemeClr>
              </a:solidFill>
              <a:latin typeface="Graphik Light"/>
            </a:endParaRPr>
          </a:p>
        </p:txBody>
      </p:sp>
      <p:sp>
        <p:nvSpPr>
          <p:cNvPr id="10" name="PlaceHolder 3"/>
          <p:cNvSpPr>
            <a:spLocks noGrp="1"/>
          </p:cNvSpPr>
          <p:nvPr>
            <p:ph type="body"/>
          </p:nvPr>
        </p:nvSpPr>
        <p:spPr>
          <a:xfrm>
            <a:off x="1152360" y="2254680"/>
            <a:ext cx="9887040" cy="3715200"/>
          </a:xfrm>
          <a:prstGeom prst="rect">
            <a:avLst/>
          </a:prstGeom>
          <a:noFill/>
          <a:ln w="12600">
            <a:noFill/>
          </a:ln>
        </p:spPr>
        <p:txBody>
          <a:bodyPr lIns="45720" rIns="45720" tIns="45720" bIns="45720" anchor="t">
            <a:noAutofit/>
          </a:bodyPr>
          <a:p>
            <a:pPr marL="609480" indent="-609480" defTabSz="2438280">
              <a:lnSpc>
                <a:spcPct val="90000"/>
              </a:lnSpc>
              <a:spcBef>
                <a:spcPts val="4501"/>
              </a:spcBef>
              <a:buClr>
                <a:srgbClr val="000000"/>
              </a:buClr>
              <a:buSzPct val="123000"/>
              <a:buFont typeface="Symbol" charset="2"/>
              <a:buChar char=""/>
            </a:pPr>
            <a:r>
              <a:rPr b="0" lang="en-US" sz="4800" spc="-1" strike="noStrike">
                <a:solidFill>
                  <a:srgbClr val="000000"/>
                </a:solidFill>
                <a:latin typeface="Helvetica Neue"/>
                <a:ea typeface="Helvetica Neue"/>
              </a:rPr>
              <a:t>Slide bullet text</a:t>
            </a:r>
            <a:endParaRPr b="0" lang="en-US" sz="4800" spc="-1" strike="noStrike">
              <a:solidFill>
                <a:schemeClr val="accent1">
                  <a:lumOff val="-32670"/>
                </a:schemeClr>
              </a:solidFill>
              <a:latin typeface="Graphik Light"/>
            </a:endParaRPr>
          </a:p>
          <a:p>
            <a:pPr indent="0" defTabSz="2438280">
              <a:lnSpc>
                <a:spcPct val="90000"/>
              </a:lnSpc>
              <a:spcBef>
                <a:spcPts val="4501"/>
              </a:spcBef>
              <a:buNone/>
            </a:pPr>
            <a:endParaRPr b="0" lang="en-US" sz="4800" spc="-1" strike="noStrike">
              <a:solidFill>
                <a:schemeClr val="accent1">
                  <a:lumOff val="-32670"/>
                </a:schemeClr>
              </a:solidFill>
              <a:latin typeface="Graphik Light"/>
            </a:endParaRPr>
          </a:p>
          <a:p>
            <a:pPr indent="0" defTabSz="2438280">
              <a:lnSpc>
                <a:spcPct val="90000"/>
              </a:lnSpc>
              <a:spcBef>
                <a:spcPts val="4501"/>
              </a:spcBef>
              <a:buNone/>
            </a:pPr>
            <a:endParaRPr b="0" lang="en-US" sz="4800" spc="-1" strike="noStrike">
              <a:solidFill>
                <a:schemeClr val="accent1">
                  <a:lumOff val="-32670"/>
                </a:schemeClr>
              </a:solidFill>
              <a:latin typeface="Graphik Light"/>
            </a:endParaRPr>
          </a:p>
          <a:p>
            <a:pPr indent="0" defTabSz="2438280">
              <a:lnSpc>
                <a:spcPct val="90000"/>
              </a:lnSpc>
              <a:spcBef>
                <a:spcPts val="4501"/>
              </a:spcBef>
              <a:buNone/>
            </a:pPr>
            <a:endParaRPr b="0" lang="en-US" sz="4800" spc="-1" strike="noStrike">
              <a:solidFill>
                <a:schemeClr val="accent1">
                  <a:lumOff val="-32670"/>
                </a:schemeClr>
              </a:solidFill>
              <a:latin typeface="Graphik Light"/>
            </a:endParaRPr>
          </a:p>
          <a:p>
            <a:pPr indent="0" defTabSz="2438280">
              <a:lnSpc>
                <a:spcPct val="90000"/>
              </a:lnSpc>
              <a:spcBef>
                <a:spcPts val="4501"/>
              </a:spcBef>
              <a:buNone/>
            </a:pPr>
            <a:endParaRPr b="0" lang="en-US" sz="4800" spc="-1" strike="noStrike">
              <a:solidFill>
                <a:schemeClr val="accent1">
                  <a:lumOff val="-32670"/>
                </a:schemeClr>
              </a:solidFill>
              <a:latin typeface="Graphik Light"/>
            </a:endParaRPr>
          </a:p>
        </p:txBody>
      </p:sp>
      <p:sp>
        <p:nvSpPr>
          <p:cNvPr id="11" name="PlaceHolder 4"/>
          <p:cNvSpPr>
            <a:spLocks noGrp="1"/>
          </p:cNvSpPr>
          <p:nvPr>
            <p:ph type="sldNum" idx="2"/>
          </p:nvPr>
        </p:nvSpPr>
        <p:spPr>
          <a:xfrm>
            <a:off x="6010560" y="6240600"/>
            <a:ext cx="164880" cy="156960"/>
          </a:xfrm>
          <a:prstGeom prst="rect">
            <a:avLst/>
          </a:prstGeom>
          <a:noFill/>
          <a:ln w="12600">
            <a:noFill/>
          </a:ln>
        </p:spPr>
        <p:txBody>
          <a:bodyPr lIns="45720" rIns="45720" tIns="45720" bIns="45720" anchor="b">
            <a:noAutofit/>
          </a:bodyPr>
          <a:p>
            <a:pPr indent="0">
              <a:buNone/>
            </a:pPr>
            <a:endParaRPr b="0" lang="en-US" sz="16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3"/>
  </p:sldLayoutIdLst>
</p:sldMaster>
</file>

<file path=ppt/slides/_rels/slide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jpeg"/><Relationship Id="rId3"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20" name="PlaceHolder 1"/>
          <p:cNvSpPr>
            <a:spLocks noGrp="1"/>
          </p:cNvSpPr>
          <p:nvPr>
            <p:ph/>
          </p:nvPr>
        </p:nvSpPr>
        <p:spPr>
          <a:xfrm>
            <a:off x="603000" y="6134400"/>
            <a:ext cx="10985400" cy="330120"/>
          </a:xfrm>
          <a:prstGeom prst="rect">
            <a:avLst/>
          </a:prstGeom>
          <a:noFill/>
          <a:ln w="12600">
            <a:noFill/>
          </a:ln>
        </p:spPr>
        <p:txBody>
          <a:bodyPr lIns="45720" rIns="45720" tIns="45720" bIns="45720" anchor="b">
            <a:noAutofit/>
          </a:bodyPr>
          <a:p>
            <a:pPr indent="0" defTabSz="825480">
              <a:lnSpc>
                <a:spcPct val="100000"/>
              </a:lnSpc>
              <a:buNone/>
              <a:tabLst>
                <a:tab algn="l" pos="0"/>
              </a:tabLst>
            </a:pPr>
            <a:r>
              <a:rPr b="0" lang="en-US" sz="3300" spc="-1" strike="noStrike">
                <a:solidFill>
                  <a:schemeClr val="accent4">
                    <a:lumOff val="9850"/>
                  </a:schemeClr>
                </a:solidFill>
                <a:latin typeface="Produkt Light"/>
                <a:ea typeface="Produkt Light"/>
              </a:rPr>
              <a:t>Edward C. Zimmermann, 15 Sept 2026</a:t>
            </a:r>
            <a:endParaRPr b="0" lang="en-US" sz="3300" spc="-1" strike="noStrike">
              <a:solidFill>
                <a:schemeClr val="accent1">
                  <a:lumOff val="-32670"/>
                </a:schemeClr>
              </a:solidFill>
              <a:latin typeface="Graphik Light"/>
            </a:endParaRPr>
          </a:p>
        </p:txBody>
      </p:sp>
      <p:sp>
        <p:nvSpPr>
          <p:cNvPr id="21" name="PlaceHolder 2"/>
          <p:cNvSpPr>
            <a:spLocks noGrp="1"/>
          </p:cNvSpPr>
          <p:nvPr>
            <p:ph type="subTitle"/>
          </p:nvPr>
        </p:nvSpPr>
        <p:spPr>
          <a:xfrm>
            <a:off x="603000" y="3676680"/>
            <a:ext cx="10985400" cy="1003320"/>
          </a:xfrm>
          <a:prstGeom prst="rect">
            <a:avLst/>
          </a:prstGeom>
          <a:noFill/>
          <a:ln w="12600">
            <a:noFill/>
          </a:ln>
        </p:spPr>
        <p:txBody>
          <a:bodyPr lIns="50760" rIns="50760" tIns="50760" bIns="50760" anchor="t">
            <a:noAutofit/>
          </a:bodyPr>
          <a:p>
            <a:pPr indent="0" defTabSz="825480">
              <a:lnSpc>
                <a:spcPct val="100000"/>
              </a:lnSpc>
              <a:buNone/>
              <a:tabLst>
                <a:tab algn="l" pos="0"/>
              </a:tabLst>
            </a:pPr>
            <a:r>
              <a:rPr b="0" lang="en-US" sz="4800" spc="-1" strike="noStrike">
                <a:solidFill>
                  <a:schemeClr val="accent4">
                    <a:lumOff val="9850"/>
                  </a:schemeClr>
                </a:solidFill>
                <a:latin typeface="Produkt Extralight"/>
                <a:ea typeface="Produkt Extralight"/>
              </a:rPr>
              <a:t>Rust for Advanced C++ Developers.</a:t>
            </a:r>
            <a:endParaRPr b="0" lang="en-US" sz="4800" spc="-1" strike="noStrike">
              <a:solidFill>
                <a:srgbClr val="ffffff"/>
              </a:solidFill>
              <a:latin typeface="Arial"/>
            </a:endParaRPr>
          </a:p>
        </p:txBody>
      </p:sp>
      <p:sp>
        <p:nvSpPr>
          <p:cNvPr id="22" name="PlaceHolder 3"/>
          <p:cNvSpPr>
            <a:spLocks noGrp="1"/>
          </p:cNvSpPr>
          <p:nvPr>
            <p:ph type="title"/>
          </p:nvPr>
        </p:nvSpPr>
        <p:spPr>
          <a:xfrm>
            <a:off x="603000" y="1307880"/>
            <a:ext cx="10985400" cy="2324160"/>
          </a:xfrm>
          <a:prstGeom prst="rect">
            <a:avLst/>
          </a:prstGeom>
          <a:noFill/>
          <a:ln w="12600">
            <a:noFill/>
          </a:ln>
        </p:spPr>
        <p:txBody>
          <a:bodyPr lIns="50760" rIns="50760" tIns="50760" bIns="50760" anchor="b">
            <a:noAutofit/>
          </a:bodyPr>
          <a:p>
            <a:pPr indent="0" defTabSz="355680">
              <a:lnSpc>
                <a:spcPct val="90000"/>
              </a:lnSpc>
              <a:buNone/>
              <a:tabLst>
                <a:tab algn="l" pos="0"/>
              </a:tabLst>
            </a:pPr>
            <a:r>
              <a:rPr b="0" lang="en-US" sz="8750" spc="-120" strike="noStrike">
                <a:solidFill>
                  <a:srgbClr val="ffffff"/>
                </a:solidFill>
                <a:latin typeface="Produkt Extralight"/>
                <a:ea typeface="Produkt Extralight"/>
              </a:rPr>
              <a:t>Introduction to Rust</a:t>
            </a:r>
            <a:endParaRPr b="0" lang="en-US" sz="8750" spc="-1" strike="noStrike">
              <a:solidFill>
                <a:schemeClr val="accent1">
                  <a:lumOff val="-32670"/>
                </a:schemeClr>
              </a:solidFill>
              <a:latin typeface="Graphik Light"/>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3" name="Text 0"/>
          <p:cNvSpPr/>
          <p:nvPr/>
        </p:nvSpPr>
        <p:spPr>
          <a:xfrm>
            <a:off x="548640" y="1508760"/>
            <a:ext cx="7313760" cy="10044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5200" spc="-1" strike="noStrike">
                <a:solidFill>
                  <a:srgbClr val="e8804f"/>
                </a:solidFill>
                <a:latin typeface="Arial"/>
                <a:ea typeface="Arial"/>
              </a:rPr>
              <a:t>RUST</a:t>
            </a:r>
            <a:endParaRPr b="0" lang="en-US" sz="5200" spc="-1" strike="noStrike">
              <a:solidFill>
                <a:srgbClr val="ffffff"/>
              </a:solidFill>
              <a:latin typeface="Arial"/>
            </a:endParaRPr>
          </a:p>
        </p:txBody>
      </p:sp>
      <p:sp>
        <p:nvSpPr>
          <p:cNvPr id="24" name="Text 1"/>
          <p:cNvSpPr/>
          <p:nvPr/>
        </p:nvSpPr>
        <p:spPr>
          <a:xfrm>
            <a:off x="548640" y="2286000"/>
            <a:ext cx="9599760" cy="547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2200" spc="-1" strike="noStrike">
                <a:solidFill>
                  <a:srgbClr val="edeff4"/>
                </a:solidFill>
                <a:latin typeface="Arial"/>
                <a:ea typeface="Arial"/>
              </a:rPr>
              <a:t>An Introduction for Experienced C++ Developers</a:t>
            </a:r>
            <a:endParaRPr b="0" lang="en-US" sz="2200" spc="-1" strike="noStrike">
              <a:solidFill>
                <a:srgbClr val="ffffff"/>
              </a:solidFill>
              <a:latin typeface="Arial"/>
            </a:endParaRPr>
          </a:p>
        </p:txBody>
      </p:sp>
      <p:sp>
        <p:nvSpPr>
          <p:cNvPr id="25" name="Text 2"/>
          <p:cNvSpPr/>
          <p:nvPr/>
        </p:nvSpPr>
        <p:spPr>
          <a:xfrm>
            <a:off x="548640" y="2788920"/>
            <a:ext cx="8228160" cy="410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400" spc="-1" strike="noStrike">
                <a:solidFill>
                  <a:srgbClr val="9aa4b8"/>
                </a:solidFill>
                <a:latin typeface="Arial"/>
                <a:ea typeface="Arial"/>
              </a:rPr>
              <a:t>Three-Day Intensive Course — Day 1: Foundations</a:t>
            </a:r>
            <a:endParaRPr b="0" lang="en-US" sz="1400" spc="-1" strike="noStrike">
              <a:solidFill>
                <a:srgbClr val="ffffff"/>
              </a:solidFill>
              <a:latin typeface="Arial"/>
            </a:endParaRPr>
          </a:p>
        </p:txBody>
      </p:sp>
      <p:sp>
        <p:nvSpPr>
          <p:cNvPr id="26" name="Shape 3"/>
          <p:cNvSpPr/>
          <p:nvPr/>
        </p:nvSpPr>
        <p:spPr>
          <a:xfrm>
            <a:off x="548640" y="3657600"/>
            <a:ext cx="11062800" cy="1415880"/>
          </a:xfrm>
          <a:prstGeom prst="roundRect">
            <a:avLst>
              <a:gd name="adj" fmla="val 5161"/>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7" name="Text 4"/>
          <p:cNvSpPr/>
          <p:nvPr/>
        </p:nvSpPr>
        <p:spPr>
          <a:xfrm>
            <a:off x="548640" y="3931920"/>
            <a:ext cx="2211480" cy="8672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150" spc="-1" strike="noStrike">
                <a:solidFill>
                  <a:srgbClr val="edeff4"/>
                </a:solidFill>
                <a:latin typeface="Arial"/>
                <a:ea typeface="Arial"/>
              </a:rPr>
              <a:t>Ownership &amp; Borrowing</a:t>
            </a:r>
            <a:endParaRPr b="0" lang="en-US" sz="1150" spc="-1" strike="noStrike">
              <a:solidFill>
                <a:srgbClr val="ffffff"/>
              </a:solidFill>
              <a:latin typeface="Arial"/>
            </a:endParaRPr>
          </a:p>
        </p:txBody>
      </p:sp>
      <p:sp>
        <p:nvSpPr>
          <p:cNvPr id="28" name="Text 5"/>
          <p:cNvSpPr/>
          <p:nvPr/>
        </p:nvSpPr>
        <p:spPr>
          <a:xfrm>
            <a:off x="2761560" y="3931920"/>
            <a:ext cx="2211480" cy="8672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150" spc="-1" strike="noStrike">
                <a:solidFill>
                  <a:srgbClr val="edeff4"/>
                </a:solidFill>
                <a:latin typeface="Arial"/>
                <a:ea typeface="Arial"/>
              </a:rPr>
              <a:t>Traits &amp; Generics</a:t>
            </a:r>
            <a:endParaRPr b="0" lang="en-US" sz="1150" spc="-1" strike="noStrike">
              <a:solidFill>
                <a:srgbClr val="ffffff"/>
              </a:solidFill>
              <a:latin typeface="Arial"/>
            </a:endParaRPr>
          </a:p>
        </p:txBody>
      </p:sp>
      <p:sp>
        <p:nvSpPr>
          <p:cNvPr id="29" name="Shape 6"/>
          <p:cNvSpPr/>
          <p:nvPr/>
        </p:nvSpPr>
        <p:spPr>
          <a:xfrm>
            <a:off x="2761200" y="3794760"/>
            <a:ext cx="360" cy="1143000"/>
          </a:xfrm>
          <a:prstGeom prst="line">
            <a:avLst/>
          </a:prstGeom>
          <a:ln w="12700">
            <a:solidFill>
              <a:srgbClr val="2b3550"/>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30" name="Text 7"/>
          <p:cNvSpPr/>
          <p:nvPr/>
        </p:nvSpPr>
        <p:spPr>
          <a:xfrm>
            <a:off x="4974480" y="3931920"/>
            <a:ext cx="2211480" cy="8672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150" spc="-1" strike="noStrike">
                <a:solidFill>
                  <a:srgbClr val="edeff4"/>
                </a:solidFill>
                <a:latin typeface="Arial"/>
                <a:ea typeface="Arial"/>
              </a:rPr>
              <a:t>Fearless Concurrency</a:t>
            </a:r>
            <a:endParaRPr b="0" lang="en-US" sz="1150" spc="-1" strike="noStrike">
              <a:solidFill>
                <a:srgbClr val="ffffff"/>
              </a:solidFill>
              <a:latin typeface="Arial"/>
            </a:endParaRPr>
          </a:p>
        </p:txBody>
      </p:sp>
      <p:sp>
        <p:nvSpPr>
          <p:cNvPr id="31" name="Shape 8"/>
          <p:cNvSpPr/>
          <p:nvPr/>
        </p:nvSpPr>
        <p:spPr>
          <a:xfrm>
            <a:off x="4974120" y="3794760"/>
            <a:ext cx="360" cy="1143000"/>
          </a:xfrm>
          <a:prstGeom prst="line">
            <a:avLst/>
          </a:prstGeom>
          <a:ln w="12700">
            <a:solidFill>
              <a:srgbClr val="2b3550"/>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32" name="Text 9"/>
          <p:cNvSpPr/>
          <p:nvPr/>
        </p:nvSpPr>
        <p:spPr>
          <a:xfrm>
            <a:off x="7187040" y="3931920"/>
            <a:ext cx="2211480" cy="8672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150" spc="-1" strike="noStrike">
                <a:solidFill>
                  <a:srgbClr val="edeff4"/>
                </a:solidFill>
                <a:latin typeface="Arial"/>
                <a:ea typeface="Arial"/>
              </a:rPr>
              <a:t>Unsafe &amp; FFI</a:t>
            </a:r>
            <a:endParaRPr b="0" lang="en-US" sz="1150" spc="-1" strike="noStrike">
              <a:solidFill>
                <a:srgbClr val="ffffff"/>
              </a:solidFill>
              <a:latin typeface="Arial"/>
            </a:endParaRPr>
          </a:p>
        </p:txBody>
      </p:sp>
      <p:sp>
        <p:nvSpPr>
          <p:cNvPr id="33" name="Shape 10"/>
          <p:cNvSpPr/>
          <p:nvPr/>
        </p:nvSpPr>
        <p:spPr>
          <a:xfrm>
            <a:off x="7187040" y="3794760"/>
            <a:ext cx="360" cy="1143000"/>
          </a:xfrm>
          <a:prstGeom prst="line">
            <a:avLst/>
          </a:prstGeom>
          <a:ln w="12700">
            <a:solidFill>
              <a:srgbClr val="2b3550"/>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34" name="Text 11"/>
          <p:cNvSpPr/>
          <p:nvPr/>
        </p:nvSpPr>
        <p:spPr>
          <a:xfrm>
            <a:off x="9399960" y="3931920"/>
            <a:ext cx="2211480" cy="8672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50" spc="-1" strike="noStrike">
                <a:solidFill>
                  <a:srgbClr val="e8804f"/>
                </a:solidFill>
                <a:latin typeface="Arial"/>
                <a:ea typeface="Arial"/>
              </a:rPr>
              <a:t>Toward CUDA in Rust</a:t>
            </a:r>
            <a:endParaRPr b="0" lang="en-US" sz="1150" spc="-1" strike="noStrike">
              <a:solidFill>
                <a:srgbClr val="ffffff"/>
              </a:solidFill>
              <a:latin typeface="Arial"/>
            </a:endParaRPr>
          </a:p>
        </p:txBody>
      </p:sp>
      <p:sp>
        <p:nvSpPr>
          <p:cNvPr id="35" name="Shape 12"/>
          <p:cNvSpPr/>
          <p:nvPr/>
        </p:nvSpPr>
        <p:spPr>
          <a:xfrm>
            <a:off x="9399960" y="3794760"/>
            <a:ext cx="360" cy="1143000"/>
          </a:xfrm>
          <a:prstGeom prst="line">
            <a:avLst/>
          </a:prstGeom>
          <a:ln w="12700">
            <a:solidFill>
              <a:srgbClr val="2b3550"/>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36" name="Text 13"/>
          <p:cNvSpPr/>
          <p:nvPr/>
        </p:nvSpPr>
        <p:spPr>
          <a:xfrm>
            <a:off x="548640" y="5349240"/>
            <a:ext cx="10056960" cy="638640"/>
          </a:xfrm>
          <a:prstGeom prst="rect">
            <a:avLst/>
          </a:prstGeom>
          <a:noFill/>
          <a:ln w="0">
            <a:noFill/>
          </a:ln>
        </p:spPr>
        <p:style>
          <a:lnRef idx="0"/>
          <a:fillRef idx="0"/>
          <a:effectRef idx="0"/>
          <a:fontRef idx="minor"/>
        </p:style>
        <p:txBody>
          <a:bodyPr lIns="90000" rIns="90000" tIns="45000" bIns="45000" anchor="ctr">
            <a:noAutofit/>
          </a:bodyPr>
          <a:p>
            <a:pPr defTabSz="914400">
              <a:lnSpc>
                <a:spcPct val="130000"/>
              </a:lnSpc>
              <a:tabLst>
                <a:tab algn="l" pos="0"/>
              </a:tabLst>
            </a:pPr>
            <a:r>
              <a:rPr b="0" lang="en-US" sz="1300" spc="-1" strike="noStrike">
                <a:solidFill>
                  <a:srgbClr val="9aa4b8"/>
                </a:solidFill>
                <a:latin typeface="Arial"/>
                <a:ea typeface="Arial"/>
              </a:rPr>
              <a:t>You already know C++17/20. This deck builds the map from what you know to what's different — and why it's worth learning.</a:t>
            </a:r>
            <a:endParaRPr b="0" lang="en-US" sz="1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1152360" y="741600"/>
            <a:ext cx="9887040" cy="644760"/>
          </a:xfrm>
          <a:prstGeom prst="rect">
            <a:avLst/>
          </a:prstGeom>
          <a:noFill/>
          <a:ln w="12600">
            <a:noFill/>
          </a:ln>
        </p:spPr>
        <p:txBody>
          <a:bodyPr lIns="45720" rIns="45720" tIns="45720" bIns="45720" anchor="t">
            <a:noAutofit/>
          </a:bodyPr>
          <a:p>
            <a:pPr indent="0">
              <a:buNone/>
            </a:pPr>
            <a:r>
              <a:rPr b="0" lang="en-US" sz="2280" spc="-1" strike="noStrike">
                <a:solidFill>
                  <a:schemeClr val="accent1">
                    <a:lumOff val="-32670"/>
                  </a:schemeClr>
                </a:solidFill>
                <a:latin typeface="Graphik Light"/>
              </a:rPr>
              <a:t>Edward C. Zimmermann</a:t>
            </a:r>
            <a:endParaRPr b="0" lang="en-US" sz="2280" spc="-1" strike="noStrike">
              <a:solidFill>
                <a:schemeClr val="accent1">
                  <a:lumOff val="-32670"/>
                </a:schemeClr>
              </a:solidFill>
              <a:latin typeface="Graphik Light"/>
            </a:endParaRPr>
          </a:p>
        </p:txBody>
      </p:sp>
      <p:sp>
        <p:nvSpPr>
          <p:cNvPr id="38" name="PlaceHolder 2"/>
          <p:cNvSpPr>
            <a:spLocks noGrp="1"/>
          </p:cNvSpPr>
          <p:nvPr>
            <p:ph/>
          </p:nvPr>
        </p:nvSpPr>
        <p:spPr>
          <a:xfrm>
            <a:off x="857160" y="1412280"/>
            <a:ext cx="9887040" cy="4302720"/>
          </a:xfrm>
          <a:prstGeom prst="rect">
            <a:avLst/>
          </a:prstGeom>
          <a:noFill/>
          <a:ln w="12600">
            <a:noFill/>
          </a:ln>
        </p:spPr>
        <p:txBody>
          <a:bodyPr lIns="45720" rIns="45720" tIns="45720" bIns="45720" anchor="t">
            <a:noAutofit/>
          </a:bodyPr>
          <a:p>
            <a:pPr indent="0" algn="ctr" defTabSz="808920">
              <a:lnSpc>
                <a:spcPct val="100000"/>
              </a:lnSpc>
              <a:buNone/>
              <a:tabLst>
                <a:tab algn="l" pos="0"/>
              </a:tabLst>
            </a:pPr>
            <a:endParaRPr b="0" lang="en-US" sz="2740" spc="-1" strike="noStrike">
              <a:solidFill>
                <a:schemeClr val="accent1">
                  <a:lumOff val="-32670"/>
                </a:schemeClr>
              </a:solidFill>
              <a:latin typeface="Graphik Light"/>
            </a:endParaRPr>
          </a:p>
          <a:p>
            <a:pPr indent="0" algn="ctr" defTabSz="808920">
              <a:lnSpc>
                <a:spcPct val="100000"/>
              </a:lnSpc>
              <a:buNone/>
              <a:tabLst>
                <a:tab algn="l" pos="0"/>
              </a:tabLst>
            </a:pPr>
            <a:r>
              <a:rPr b="0" lang="en-US" sz="2100" spc="-1" strike="noStrike">
                <a:solidFill>
                  <a:srgbClr val="000000"/>
                </a:solidFill>
                <a:latin typeface="Chalkboard"/>
                <a:ea typeface="Chalkboard"/>
              </a:rPr>
              <a:t>A dominant focus of Ed's R&amp;D over the past 20+ years has been text retrieval, metadata, data mining, knowledge discovery, pattern recognition, NLP and machine learning. He has been a part of many publicaly funded projects, worked with German, EU and UN organizations and collaborated with a number of research institutes and national scientific agencies. His name is also associated with a large number of open source software packages. He has spoken at a number of conferences including several GTCs (NVIDIA’s GPU Conference) as well as FOSDEMs (the largest open source conference in the world)</a:t>
            </a:r>
            <a:r>
              <a:rPr b="0" lang="en-US" sz="2740" spc="-1" strike="noStrike">
                <a:solidFill>
                  <a:srgbClr val="000000"/>
                </a:solidFill>
                <a:latin typeface="Chalkboard"/>
                <a:ea typeface="Chalkboard"/>
              </a:rPr>
              <a:t>. </a:t>
            </a:r>
            <a:endParaRPr b="0" lang="en-US" sz="2740" spc="-1" strike="noStrike">
              <a:solidFill>
                <a:schemeClr val="accent1">
                  <a:lumOff val="-32670"/>
                </a:schemeClr>
              </a:solidFill>
              <a:latin typeface="Graphik Light"/>
            </a:endParaRPr>
          </a:p>
          <a:p>
            <a:pPr indent="0" algn="ctr" defTabSz="808920">
              <a:lnSpc>
                <a:spcPct val="100000"/>
              </a:lnSpc>
              <a:buNone/>
              <a:tabLst>
                <a:tab algn="l" pos="0"/>
              </a:tabLst>
            </a:pPr>
            <a:endParaRPr b="0" lang="en-US" sz="2740" spc="-1" strike="noStrike">
              <a:solidFill>
                <a:schemeClr val="accent1">
                  <a:lumOff val="-32670"/>
                </a:schemeClr>
              </a:solidFill>
              <a:latin typeface="Graphik Light"/>
            </a:endParaRPr>
          </a:p>
          <a:p>
            <a:pPr indent="0" algn="ctr" defTabSz="808920">
              <a:lnSpc>
                <a:spcPct val="100000"/>
              </a:lnSpc>
              <a:buNone/>
              <a:tabLst>
                <a:tab algn="l" pos="0"/>
              </a:tabLst>
            </a:pPr>
            <a:r>
              <a:rPr b="0" lang="en-US" sz="1800" spc="-1" strike="noStrike">
                <a:solidFill>
                  <a:srgbClr val="000000"/>
                </a:solidFill>
                <a:latin typeface="Chalkboard"/>
                <a:ea typeface="Chalkboard"/>
              </a:rPr>
              <a:t>His current projects for the public good have received numerous grants from the European Union (Next Generation Initiative), German research (BMBF, NLnet Foundation, SERI (Swiss State Secretariat for Research and Innovation) as well as the Mercator Foundation (Switzerland).</a:t>
            </a:r>
            <a:endParaRPr b="0" lang="en-US" sz="1800" spc="-1" strike="noStrike">
              <a:solidFill>
                <a:schemeClr val="accent1">
                  <a:lumOff val="-32670"/>
                </a:schemeClr>
              </a:solidFill>
              <a:latin typeface="Graphik Light"/>
            </a:endParaRPr>
          </a:p>
        </p:txBody>
      </p:sp>
      <p:pic>
        <p:nvPicPr>
          <p:cNvPr id="39" name="e0e8a0da1f8de022a0b56a776066f1635812b734c07f91d926a21b781cc2f3de.jpg 1" descr="e0e8a0da1f8de022a0b56a776066f1635812b734c07f91d926a21b781cc2f3de.jpg"/>
          <p:cNvPicPr/>
          <p:nvPr/>
        </p:nvPicPr>
        <p:blipFill>
          <a:blip r:embed="rId2"/>
          <a:stretch/>
        </p:blipFill>
        <p:spPr>
          <a:xfrm>
            <a:off x="10744200" y="228600"/>
            <a:ext cx="1257120" cy="1028520"/>
          </a:xfrm>
          <a:prstGeom prst="rect">
            <a:avLst/>
          </a:prstGeom>
          <a:ln w="12700">
            <a:noFill/>
          </a:ln>
        </p:spPr>
      </p:pic>
    </p:spTree>
  </p:cSld>
  <p:transition spd="med">
    <p:pull dir="r"/>
  </p:transition>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iterate type="el">
                                    <p:tmAbs val="0"/>
                                  </p:iterate>
                                  <p:childTnLst>
                                    <p:set>
                                      <p:cBhvr>
                                        <p:cTn id="6" fill="hold"/>
                                        <p:tgtEl>
                                          <p:spTgt spid="38"/>
                                        </p:tgtEl>
                                        <p:attrNameLst>
                                          <p:attrName>style.visibility</p:attrName>
                                        </p:attrNameLst>
                                      </p:cBhvr>
                                      <p:to>
                                        <p:strVal val="visible"/>
                                      </p:to>
                                    </p:set>
                                  </p:childTnLst>
                                </p:cTn>
                              </p:par>
                              <p:par>
                                <p:cTn id="7" nodeType="withEffect" fill="hold" presetClass="entr" presetID="1">
                                  <p:stCondLst>
                                    <p:cond delay="0"/>
                                  </p:stCondLst>
                                  <p:iterate type="el">
                                    <p:tmAbs val="0"/>
                                  </p:iterate>
                                  <p:childTnLst>
                                    <p:set>
                                      <p:cBhvr>
                                        <p:cTn id="8" fill="hold"/>
                                        <p:tgtEl>
                                          <p:spTgt spid="3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nodeType="clickEffect" fill="hold" presetClass="entr" presetID="1">
                                  <p:stCondLst>
                                    <p:cond delay="0"/>
                                  </p:stCondLst>
                                  <p:iterate type="el">
                                    <p:tmAbs val="0"/>
                                  </p:iterate>
                                  <p:childTnLst>
                                    <p:set>
                                      <p:cBhvr>
                                        <p:cTn id="12" fill="hold"/>
                                        <p:tgtEl>
                                          <p:spTgt spid="38">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nodeType="clickEffect" fill="hold" presetClass="entr" presetID="1">
                                  <p:stCondLst>
                                    <p:cond delay="0"/>
                                  </p:stCondLst>
                                  <p:iterate type="el">
                                    <p:tmAbs val="0"/>
                                  </p:iterate>
                                  <p:childTnLst>
                                    <p:set>
                                      <p:cBhvr>
                                        <p:cTn id="16" fill="hold"/>
                                        <p:tgtEl>
                                          <p:spTgt spid="38">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nodeType="clickEffect" fill="hold" presetClass="entr" presetID="1">
                                  <p:stCondLst>
                                    <p:cond delay="0"/>
                                  </p:stCondLst>
                                  <p:iterate type="el">
                                    <p:tmAbs val="0"/>
                                  </p:iterate>
                                  <p:childTnLst>
                                    <p:set>
                                      <p:cBhvr>
                                        <p:cTn id="20" fill="hold"/>
                                        <p:tgtEl>
                                          <p:spTgt spid="38">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nodeType="clickEffect" fill="hold" presetClass="entr" presetID="1">
                                  <p:stCondLst>
                                    <p:cond delay="0"/>
                                  </p:stCondLst>
                                  <p:iterate type="el">
                                    <p:tmAbs val="0"/>
                                  </p:iterate>
                                  <p:childTnLst>
                                    <p:set>
                                      <p:cBhvr>
                                        <p:cTn id="24" fill="hold"/>
                                        <p:tgtEl>
                                          <p:spTgt spid="38">
                                            <p:txEl>
                                              <p:pRg st="4" end="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40"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COURSE ROADMAP</a:t>
            </a:r>
            <a:endParaRPr b="0" lang="en-US" sz="1300" spc="-1" strike="noStrike">
              <a:solidFill>
                <a:srgbClr val="ffffff"/>
              </a:solidFill>
              <a:latin typeface="Arial"/>
            </a:endParaRPr>
          </a:p>
        </p:txBody>
      </p:sp>
      <p:sp>
        <p:nvSpPr>
          <p:cNvPr id="41"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Three days, ground up to GPU</a:t>
            </a:r>
            <a:endParaRPr b="0" lang="en-US" sz="2800" spc="-1" strike="noStrike">
              <a:solidFill>
                <a:srgbClr val="ffffff"/>
              </a:solidFill>
              <a:latin typeface="Arial"/>
            </a:endParaRPr>
          </a:p>
        </p:txBody>
      </p:sp>
      <p:sp>
        <p:nvSpPr>
          <p:cNvPr id="42" name="Shape 2"/>
          <p:cNvSpPr/>
          <p:nvPr/>
        </p:nvSpPr>
        <p:spPr>
          <a:xfrm>
            <a:off x="548640" y="1691640"/>
            <a:ext cx="3564720" cy="4479120"/>
          </a:xfrm>
          <a:prstGeom prst="roundRect">
            <a:avLst>
              <a:gd name="adj" fmla="val 2308"/>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3" name="Text 3"/>
          <p:cNvSpPr/>
          <p:nvPr/>
        </p:nvSpPr>
        <p:spPr>
          <a:xfrm>
            <a:off x="777240" y="1892880"/>
            <a:ext cx="310752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DAY 1</a:t>
            </a:r>
            <a:endParaRPr b="0" lang="en-US" sz="1300" spc="-1" strike="noStrike">
              <a:solidFill>
                <a:srgbClr val="ffffff"/>
              </a:solidFill>
              <a:latin typeface="Arial"/>
            </a:endParaRPr>
          </a:p>
        </p:txBody>
      </p:sp>
      <p:sp>
        <p:nvSpPr>
          <p:cNvPr id="44" name="Text 4"/>
          <p:cNvSpPr/>
          <p:nvPr/>
        </p:nvSpPr>
        <p:spPr>
          <a:xfrm>
            <a:off x="777240" y="2194560"/>
            <a:ext cx="3107520" cy="501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700" spc="-1" strike="noStrike">
                <a:solidFill>
                  <a:srgbClr val="edeff4"/>
                </a:solidFill>
                <a:latin typeface="Arial"/>
                <a:ea typeface="Arial"/>
              </a:rPr>
              <a:t>Foundations</a:t>
            </a:r>
            <a:endParaRPr b="0" lang="en-US" sz="1700" spc="-1" strike="noStrike">
              <a:solidFill>
                <a:srgbClr val="ffffff"/>
              </a:solidFill>
              <a:latin typeface="Arial"/>
            </a:endParaRPr>
          </a:p>
        </p:txBody>
      </p:sp>
      <p:sp>
        <p:nvSpPr>
          <p:cNvPr id="45" name="Text 5"/>
          <p:cNvSpPr/>
          <p:nvPr/>
        </p:nvSpPr>
        <p:spPr>
          <a:xfrm>
            <a:off x="777240" y="2743200"/>
            <a:ext cx="3107520" cy="3290400"/>
          </a:xfrm>
          <a:prstGeom prst="rect">
            <a:avLst/>
          </a:prstGeom>
          <a:noFill/>
          <a:ln w="0">
            <a:noFill/>
          </a:ln>
        </p:spPr>
        <p:style>
          <a:lnRef idx="0"/>
          <a:fillRef idx="0"/>
          <a:effectRef idx="0"/>
          <a:fontRef idx="minor"/>
        </p:style>
        <p:txBody>
          <a:bodyPr lIns="90000" rIns="90000" tIns="45000" bIns="45000" anchor="t">
            <a:noAutofit/>
          </a:bodyPr>
          <a:p>
            <a:pPr defTabSz="914400">
              <a:lnSpc>
                <a:spcPct val="110000"/>
              </a:lnSpc>
              <a:spcAft>
                <a:spcPts val="400"/>
              </a:spcAft>
              <a:tabLst>
                <a:tab algn="l" pos="0"/>
              </a:tabLst>
            </a:pPr>
            <a:r>
              <a:rPr b="0" lang="en-US" sz="950" spc="-1" strike="noStrike">
                <a:solidFill>
                  <a:srgbClr val="9aa4b8"/>
                </a:solidFill>
                <a:latin typeface="Arial"/>
                <a:ea typeface="Arial"/>
              </a:rPr>
              <a:t>1.  Why Rust (beyond memory safety)</a:t>
            </a:r>
            <a:endParaRPr b="0" lang="en-US" sz="950" spc="-1" strike="noStrike">
              <a:solidFill>
                <a:srgbClr val="ffffff"/>
              </a:solidFill>
              <a:latin typeface="Arial"/>
            </a:endParaRPr>
          </a:p>
          <a:p>
            <a:pPr defTabSz="914400">
              <a:lnSpc>
                <a:spcPct val="110000"/>
              </a:lnSpc>
              <a:spcAft>
                <a:spcPts val="400"/>
              </a:spcAft>
              <a:tabLst>
                <a:tab algn="l" pos="0"/>
              </a:tabLst>
            </a:pPr>
            <a:r>
              <a:rPr b="0" lang="en-US" sz="950" spc="-1" strike="noStrike">
                <a:solidFill>
                  <a:srgbClr val="9aa4b8"/>
                </a:solidFill>
                <a:latin typeface="Arial"/>
                <a:ea typeface="Arial"/>
              </a:rPr>
              <a:t>2.  A brief history of Rust</a:t>
            </a:r>
            <a:endParaRPr b="0" lang="en-US" sz="950" spc="-1" strike="noStrike">
              <a:solidFill>
                <a:srgbClr val="ffffff"/>
              </a:solidFill>
              <a:latin typeface="Arial"/>
            </a:endParaRPr>
          </a:p>
          <a:p>
            <a:pPr defTabSz="914400">
              <a:lnSpc>
                <a:spcPct val="110000"/>
              </a:lnSpc>
              <a:spcAft>
                <a:spcPts val="400"/>
              </a:spcAft>
              <a:tabLst>
                <a:tab algn="l" pos="0"/>
              </a:tabLst>
            </a:pPr>
            <a:r>
              <a:rPr b="0" lang="en-US" sz="950" spc="-1" strike="noStrike">
                <a:solidFill>
                  <a:srgbClr val="9aa4b8"/>
                </a:solidFill>
                <a:latin typeface="Arial"/>
                <a:ea typeface="Arial"/>
              </a:rPr>
              <a:t>3.  Toolchain &amp; project model</a:t>
            </a:r>
            <a:endParaRPr b="0" lang="en-US" sz="950" spc="-1" strike="noStrike">
              <a:solidFill>
                <a:srgbClr val="ffffff"/>
              </a:solidFill>
              <a:latin typeface="Arial"/>
            </a:endParaRPr>
          </a:p>
          <a:p>
            <a:pPr defTabSz="914400">
              <a:lnSpc>
                <a:spcPct val="110000"/>
              </a:lnSpc>
              <a:spcAft>
                <a:spcPts val="400"/>
              </a:spcAft>
              <a:tabLst>
                <a:tab algn="l" pos="0"/>
              </a:tabLst>
            </a:pPr>
            <a:r>
              <a:rPr b="0" lang="en-US" sz="950" spc="-1" strike="noStrike">
                <a:solidFill>
                  <a:srgbClr val="9aa4b8"/>
                </a:solidFill>
                <a:latin typeface="Arial"/>
                <a:ea typeface="Arial"/>
              </a:rPr>
              <a:t>4.  Data types &amp; program elements</a:t>
            </a:r>
            <a:endParaRPr b="0" lang="en-US" sz="950" spc="-1" strike="noStrike">
              <a:solidFill>
                <a:srgbClr val="ffffff"/>
              </a:solidFill>
              <a:latin typeface="Arial"/>
            </a:endParaRPr>
          </a:p>
          <a:p>
            <a:pPr defTabSz="914400">
              <a:lnSpc>
                <a:spcPct val="110000"/>
              </a:lnSpc>
              <a:spcAft>
                <a:spcPts val="400"/>
              </a:spcAft>
              <a:tabLst>
                <a:tab algn="l" pos="0"/>
              </a:tabLst>
            </a:pPr>
            <a:r>
              <a:rPr b="0" lang="en-US" sz="950" spc="-1" strike="noStrike">
                <a:solidFill>
                  <a:srgbClr val="9aa4b8"/>
                </a:solidFill>
                <a:latin typeface="Arial"/>
                <a:ea typeface="Arial"/>
              </a:rPr>
              <a:t>5.  Syntax orientation</a:t>
            </a:r>
            <a:endParaRPr b="0" lang="en-US" sz="950" spc="-1" strike="noStrike">
              <a:solidFill>
                <a:srgbClr val="ffffff"/>
              </a:solidFill>
              <a:latin typeface="Arial"/>
            </a:endParaRPr>
          </a:p>
          <a:p>
            <a:pPr defTabSz="914400">
              <a:lnSpc>
                <a:spcPct val="110000"/>
              </a:lnSpc>
              <a:spcAft>
                <a:spcPts val="400"/>
              </a:spcAft>
              <a:tabLst>
                <a:tab algn="l" pos="0"/>
              </a:tabLst>
            </a:pPr>
            <a:r>
              <a:rPr b="0" lang="en-US" sz="950" spc="-1" strike="noStrike">
                <a:solidFill>
                  <a:srgbClr val="9aa4b8"/>
                </a:solidFill>
                <a:latin typeface="Arial"/>
                <a:ea typeface="Arial"/>
              </a:rPr>
              <a:t>6.  Ownership &amp; move semantics</a:t>
            </a:r>
            <a:endParaRPr b="0" lang="en-US" sz="950" spc="-1" strike="noStrike">
              <a:solidFill>
                <a:srgbClr val="ffffff"/>
              </a:solidFill>
              <a:latin typeface="Arial"/>
            </a:endParaRPr>
          </a:p>
          <a:p>
            <a:pPr defTabSz="914400">
              <a:lnSpc>
                <a:spcPct val="110000"/>
              </a:lnSpc>
              <a:spcAft>
                <a:spcPts val="400"/>
              </a:spcAft>
              <a:tabLst>
                <a:tab algn="l" pos="0"/>
              </a:tabLst>
            </a:pPr>
            <a:r>
              <a:rPr b="0" lang="en-US" sz="950" spc="-1" strike="noStrike">
                <a:solidFill>
                  <a:srgbClr val="9aa4b8"/>
                </a:solidFill>
                <a:latin typeface="Arial"/>
                <a:ea typeface="Arial"/>
              </a:rPr>
              <a:t>7.  Borrowing &amp; lifetimes</a:t>
            </a:r>
            <a:endParaRPr b="0" lang="en-US" sz="950" spc="-1" strike="noStrike">
              <a:solidFill>
                <a:srgbClr val="ffffff"/>
              </a:solidFill>
              <a:latin typeface="Arial"/>
            </a:endParaRPr>
          </a:p>
          <a:p>
            <a:pPr defTabSz="914400">
              <a:lnSpc>
                <a:spcPct val="110000"/>
              </a:lnSpc>
              <a:spcAft>
                <a:spcPts val="400"/>
              </a:spcAft>
              <a:tabLst>
                <a:tab algn="l" pos="0"/>
              </a:tabLst>
            </a:pPr>
            <a:r>
              <a:rPr b="0" lang="en-US" sz="950" spc="-1" strike="noStrike">
                <a:solidFill>
                  <a:srgbClr val="9aa4b8"/>
                </a:solidFill>
                <a:latin typeface="Arial"/>
                <a:ea typeface="Arial"/>
              </a:rPr>
              <a:t>8.  Type system: enums &amp; pattern matching</a:t>
            </a:r>
            <a:endParaRPr b="0" lang="en-US" sz="950" spc="-1" strike="noStrike">
              <a:solidFill>
                <a:srgbClr val="ffffff"/>
              </a:solidFill>
              <a:latin typeface="Arial"/>
            </a:endParaRPr>
          </a:p>
          <a:p>
            <a:pPr defTabSz="914400">
              <a:lnSpc>
                <a:spcPct val="110000"/>
              </a:lnSpc>
              <a:spcAft>
                <a:spcPts val="400"/>
              </a:spcAft>
              <a:tabLst>
                <a:tab algn="l" pos="0"/>
              </a:tabLst>
            </a:pPr>
            <a:r>
              <a:rPr b="0" lang="en-US" sz="950" spc="-1" strike="noStrike">
                <a:solidFill>
                  <a:srgbClr val="9aa4b8"/>
                </a:solidFill>
                <a:latin typeface="Arial"/>
                <a:ea typeface="Arial"/>
              </a:rPr>
              <a:t>9.  Traits &amp; generics</a:t>
            </a:r>
            <a:endParaRPr b="0" lang="en-US" sz="950" spc="-1" strike="noStrike">
              <a:solidFill>
                <a:srgbClr val="ffffff"/>
              </a:solidFill>
              <a:latin typeface="Arial"/>
            </a:endParaRPr>
          </a:p>
          <a:p>
            <a:pPr defTabSz="914400">
              <a:lnSpc>
                <a:spcPct val="110000"/>
              </a:lnSpc>
              <a:spcAft>
                <a:spcPts val="400"/>
              </a:spcAft>
              <a:tabLst>
                <a:tab algn="l" pos="0"/>
              </a:tabLst>
            </a:pPr>
            <a:r>
              <a:rPr b="0" lang="en-US" sz="950" spc="-1" strike="noStrike">
                <a:solidFill>
                  <a:srgbClr val="9aa4b8"/>
                </a:solidFill>
                <a:latin typeface="Arial"/>
                <a:ea typeface="Arial"/>
              </a:rPr>
              <a:t>10.  Error handling</a:t>
            </a:r>
            <a:endParaRPr b="0" lang="en-US" sz="950" spc="-1" strike="noStrike">
              <a:solidFill>
                <a:srgbClr val="ffffff"/>
              </a:solidFill>
              <a:latin typeface="Arial"/>
            </a:endParaRPr>
          </a:p>
          <a:p>
            <a:pPr defTabSz="914400">
              <a:lnSpc>
                <a:spcPct val="110000"/>
              </a:lnSpc>
              <a:spcAft>
                <a:spcPts val="400"/>
              </a:spcAft>
              <a:tabLst>
                <a:tab algn="l" pos="0"/>
              </a:tabLst>
            </a:pPr>
            <a:r>
              <a:rPr b="0" lang="en-US" sz="950" spc="-1" strike="noStrike">
                <a:solidFill>
                  <a:srgbClr val="9aa4b8"/>
                </a:solidFill>
                <a:latin typeface="Arial"/>
                <a:ea typeface="Arial"/>
              </a:rPr>
              <a:t>11.  Collections &amp; iterators</a:t>
            </a:r>
            <a:endParaRPr b="0" lang="en-US" sz="950" spc="-1" strike="noStrike">
              <a:solidFill>
                <a:srgbClr val="ffffff"/>
              </a:solidFill>
              <a:latin typeface="Arial"/>
            </a:endParaRPr>
          </a:p>
          <a:p>
            <a:pPr defTabSz="914400">
              <a:lnSpc>
                <a:spcPct val="110000"/>
              </a:lnSpc>
              <a:spcAft>
                <a:spcPts val="400"/>
              </a:spcAft>
              <a:tabLst>
                <a:tab algn="l" pos="0"/>
              </a:tabLst>
            </a:pPr>
            <a:r>
              <a:rPr b="0" lang="en-US" sz="950" spc="-1" strike="noStrike">
                <a:solidFill>
                  <a:srgbClr val="9aa4b8"/>
                </a:solidFill>
                <a:latin typeface="Arial"/>
                <a:ea typeface="Arial"/>
              </a:rPr>
              <a:t>12.  Modules &amp; visibility</a:t>
            </a:r>
            <a:endParaRPr b="0" lang="en-US" sz="950" spc="-1" strike="noStrike">
              <a:solidFill>
                <a:srgbClr val="ffffff"/>
              </a:solidFill>
              <a:latin typeface="Arial"/>
            </a:endParaRPr>
          </a:p>
          <a:p>
            <a:pPr defTabSz="914400">
              <a:lnSpc>
                <a:spcPct val="110000"/>
              </a:lnSpc>
              <a:spcAft>
                <a:spcPts val="400"/>
              </a:spcAft>
              <a:tabLst>
                <a:tab algn="l" pos="0"/>
              </a:tabLst>
            </a:pPr>
            <a:r>
              <a:rPr b="0" lang="en-US" sz="950" spc="-1" strike="noStrike">
                <a:solidFill>
                  <a:srgbClr val="9aa4b8"/>
                </a:solidFill>
                <a:latin typeface="Arial"/>
                <a:ea typeface="Arial"/>
              </a:rPr>
              <a:t>13.  Concurrency basics</a:t>
            </a:r>
            <a:endParaRPr b="0" lang="en-US" sz="950" spc="-1" strike="noStrike">
              <a:solidFill>
                <a:srgbClr val="ffffff"/>
              </a:solidFill>
              <a:latin typeface="Arial"/>
            </a:endParaRPr>
          </a:p>
          <a:p>
            <a:pPr defTabSz="914400">
              <a:lnSpc>
                <a:spcPct val="110000"/>
              </a:lnSpc>
              <a:spcAft>
                <a:spcPts val="400"/>
              </a:spcAft>
              <a:tabLst>
                <a:tab algn="l" pos="0"/>
              </a:tabLst>
            </a:pPr>
            <a:r>
              <a:rPr b="0" lang="en-US" sz="950" spc="-1" strike="noStrike">
                <a:solidFill>
                  <a:srgbClr val="9aa4b8"/>
                </a:solidFill>
                <a:latin typeface="Arial"/>
                <a:ea typeface="Arial"/>
              </a:rPr>
              <a:t>14.  Unsafe &amp; C++ interop</a:t>
            </a:r>
            <a:endParaRPr b="0" lang="en-US" sz="950" spc="-1" strike="noStrike">
              <a:solidFill>
                <a:srgbClr val="ffffff"/>
              </a:solidFill>
              <a:latin typeface="Arial"/>
            </a:endParaRPr>
          </a:p>
          <a:p>
            <a:pPr defTabSz="914400">
              <a:lnSpc>
                <a:spcPct val="110000"/>
              </a:lnSpc>
              <a:spcAft>
                <a:spcPts val="400"/>
              </a:spcAft>
              <a:tabLst>
                <a:tab algn="l" pos="0"/>
              </a:tabLst>
            </a:pPr>
            <a:r>
              <a:rPr b="0" lang="en-US" sz="950" spc="-1" strike="noStrike">
                <a:solidFill>
                  <a:srgbClr val="9aa4b8"/>
                </a:solidFill>
                <a:latin typeface="Arial"/>
                <a:ea typeface="Arial"/>
              </a:rPr>
              <a:t>15.  Tooling &amp; testing</a:t>
            </a:r>
            <a:endParaRPr b="0" lang="en-US" sz="950" spc="-1" strike="noStrike">
              <a:solidFill>
                <a:srgbClr val="ffffff"/>
              </a:solidFill>
              <a:latin typeface="Arial"/>
            </a:endParaRPr>
          </a:p>
          <a:p>
            <a:pPr defTabSz="914400">
              <a:lnSpc>
                <a:spcPct val="110000"/>
              </a:lnSpc>
              <a:spcAft>
                <a:spcPts val="400"/>
              </a:spcAft>
              <a:tabLst>
                <a:tab algn="l" pos="0"/>
              </a:tabLst>
            </a:pPr>
            <a:r>
              <a:rPr b="0" lang="en-US" sz="950" spc="-1" strike="noStrike">
                <a:solidFill>
                  <a:srgbClr val="9aa4b8"/>
                </a:solidFill>
                <a:latin typeface="Arial"/>
                <a:ea typeface="Arial"/>
              </a:rPr>
              <a:t>16.  Practice problems</a:t>
            </a:r>
            <a:endParaRPr b="0" lang="en-US" sz="950" spc="-1" strike="noStrike">
              <a:solidFill>
                <a:srgbClr val="ffffff"/>
              </a:solidFill>
              <a:latin typeface="Arial"/>
            </a:endParaRPr>
          </a:p>
        </p:txBody>
      </p:sp>
      <p:sp>
        <p:nvSpPr>
          <p:cNvPr id="46" name="Shape 6"/>
          <p:cNvSpPr/>
          <p:nvPr/>
        </p:nvSpPr>
        <p:spPr>
          <a:xfrm>
            <a:off x="4297680" y="1691640"/>
            <a:ext cx="3564720" cy="4479120"/>
          </a:xfrm>
          <a:prstGeom prst="roundRect">
            <a:avLst>
              <a:gd name="adj" fmla="val 2308"/>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7" name="Text 7"/>
          <p:cNvSpPr/>
          <p:nvPr/>
        </p:nvSpPr>
        <p:spPr>
          <a:xfrm>
            <a:off x="4526280" y="1892880"/>
            <a:ext cx="310752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9aa4b8"/>
                </a:solidFill>
                <a:latin typeface="Arial"/>
                <a:ea typeface="Arial"/>
              </a:rPr>
              <a:t>DAY 2</a:t>
            </a:r>
            <a:endParaRPr b="0" lang="en-US" sz="1300" spc="-1" strike="noStrike">
              <a:solidFill>
                <a:srgbClr val="ffffff"/>
              </a:solidFill>
              <a:latin typeface="Arial"/>
            </a:endParaRPr>
          </a:p>
        </p:txBody>
      </p:sp>
      <p:sp>
        <p:nvSpPr>
          <p:cNvPr id="48" name="Text 8"/>
          <p:cNvSpPr/>
          <p:nvPr/>
        </p:nvSpPr>
        <p:spPr>
          <a:xfrm>
            <a:off x="4526280" y="2194560"/>
            <a:ext cx="3107520" cy="501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700" spc="-1" strike="noStrike">
                <a:solidFill>
                  <a:srgbClr val="edeff4"/>
                </a:solidFill>
                <a:latin typeface="Arial"/>
                <a:ea typeface="Arial"/>
              </a:rPr>
              <a:t>Going Deeper</a:t>
            </a:r>
            <a:endParaRPr b="0" lang="en-US" sz="1700" spc="-1" strike="noStrike">
              <a:solidFill>
                <a:srgbClr val="ffffff"/>
              </a:solidFill>
              <a:latin typeface="Arial"/>
            </a:endParaRPr>
          </a:p>
        </p:txBody>
      </p:sp>
      <p:sp>
        <p:nvSpPr>
          <p:cNvPr id="49" name="Text 9"/>
          <p:cNvSpPr/>
          <p:nvPr/>
        </p:nvSpPr>
        <p:spPr>
          <a:xfrm>
            <a:off x="4526280" y="2743200"/>
            <a:ext cx="3107520" cy="3290400"/>
          </a:xfrm>
          <a:prstGeom prst="rect">
            <a:avLst/>
          </a:prstGeom>
          <a:noFill/>
          <a:ln w="0">
            <a:noFill/>
          </a:ln>
        </p:spPr>
        <p:style>
          <a:lnRef idx="0"/>
          <a:fillRef idx="0"/>
          <a:effectRef idx="0"/>
          <a:fontRef idx="minor"/>
        </p:style>
        <p:txBody>
          <a:bodyPr lIns="90000" rIns="90000" tIns="45000" bIns="45000" anchor="t">
            <a:noAutofit/>
          </a:bodyPr>
          <a:p>
            <a:pPr defTabSz="914400">
              <a:lnSpc>
                <a:spcPct val="110000"/>
              </a:lnSpc>
              <a:spcAft>
                <a:spcPts val="901"/>
              </a:spcAft>
              <a:tabLst>
                <a:tab algn="l" pos="0"/>
              </a:tabLst>
            </a:pPr>
            <a:r>
              <a:rPr b="0" lang="en-US" sz="1200" spc="-1" strike="noStrike">
                <a:solidFill>
                  <a:srgbClr val="9aa4b8"/>
                </a:solidFill>
                <a:latin typeface="Arial"/>
                <a:ea typeface="Arial"/>
              </a:rPr>
              <a:t>1.  Advanced traits &amp; trait objects</a:t>
            </a:r>
            <a:endParaRPr b="0" lang="en-US" sz="1200" spc="-1" strike="noStrike">
              <a:solidFill>
                <a:srgbClr val="ffffff"/>
              </a:solidFill>
              <a:latin typeface="Arial"/>
            </a:endParaRPr>
          </a:p>
          <a:p>
            <a:pPr defTabSz="914400">
              <a:lnSpc>
                <a:spcPct val="110000"/>
              </a:lnSpc>
              <a:spcAft>
                <a:spcPts val="901"/>
              </a:spcAft>
              <a:tabLst>
                <a:tab algn="l" pos="0"/>
              </a:tabLst>
            </a:pPr>
            <a:r>
              <a:rPr b="0" lang="en-US" sz="1200" spc="-1" strike="noStrike">
                <a:solidFill>
                  <a:srgbClr val="9aa4b8"/>
                </a:solidFill>
                <a:latin typeface="Arial"/>
                <a:ea typeface="Arial"/>
              </a:rPr>
              <a:t>2.  Async/await in depth</a:t>
            </a:r>
            <a:endParaRPr b="0" lang="en-US" sz="1200" spc="-1" strike="noStrike">
              <a:solidFill>
                <a:srgbClr val="ffffff"/>
              </a:solidFill>
              <a:latin typeface="Arial"/>
            </a:endParaRPr>
          </a:p>
          <a:p>
            <a:pPr defTabSz="914400">
              <a:lnSpc>
                <a:spcPct val="110000"/>
              </a:lnSpc>
              <a:spcAft>
                <a:spcPts val="901"/>
              </a:spcAft>
              <a:tabLst>
                <a:tab algn="l" pos="0"/>
              </a:tabLst>
            </a:pPr>
            <a:r>
              <a:rPr b="0" lang="en-US" sz="1200" spc="-1" strike="noStrike">
                <a:solidFill>
                  <a:srgbClr val="9aa4b8"/>
                </a:solidFill>
                <a:latin typeface="Arial"/>
                <a:ea typeface="Arial"/>
              </a:rPr>
              <a:t>3.  Macros: declarative &amp; procedural</a:t>
            </a:r>
            <a:endParaRPr b="0" lang="en-US" sz="1200" spc="-1" strike="noStrike">
              <a:solidFill>
                <a:srgbClr val="ffffff"/>
              </a:solidFill>
              <a:latin typeface="Arial"/>
            </a:endParaRPr>
          </a:p>
          <a:p>
            <a:pPr defTabSz="914400">
              <a:lnSpc>
                <a:spcPct val="110000"/>
              </a:lnSpc>
              <a:spcAft>
                <a:spcPts val="901"/>
              </a:spcAft>
              <a:tabLst>
                <a:tab algn="l" pos="0"/>
              </a:tabLst>
            </a:pPr>
            <a:r>
              <a:rPr b="0" lang="en-US" sz="1200" spc="-1" strike="noStrike">
                <a:solidFill>
                  <a:srgbClr val="9aa4b8"/>
                </a:solidFill>
                <a:latin typeface="Arial"/>
                <a:ea typeface="Arial"/>
              </a:rPr>
              <a:t>4.  Advanced unsafe &amp; FFI patterns</a:t>
            </a:r>
            <a:endParaRPr b="0" lang="en-US" sz="1200" spc="-1" strike="noStrike">
              <a:solidFill>
                <a:srgbClr val="ffffff"/>
              </a:solidFill>
              <a:latin typeface="Arial"/>
            </a:endParaRPr>
          </a:p>
          <a:p>
            <a:pPr defTabSz="914400">
              <a:lnSpc>
                <a:spcPct val="110000"/>
              </a:lnSpc>
              <a:spcAft>
                <a:spcPts val="901"/>
              </a:spcAft>
              <a:tabLst>
                <a:tab algn="l" pos="0"/>
              </a:tabLst>
            </a:pPr>
            <a:r>
              <a:rPr b="0" lang="en-US" sz="1200" spc="-1" strike="noStrike">
                <a:solidFill>
                  <a:srgbClr val="9aa4b8"/>
                </a:solidFill>
                <a:latin typeface="Arial"/>
                <a:ea typeface="Arial"/>
              </a:rPr>
              <a:t>5.  Performance tuning &amp; profiling</a:t>
            </a:r>
            <a:endParaRPr b="0" lang="en-US" sz="1200" spc="-1" strike="noStrike">
              <a:solidFill>
                <a:srgbClr val="ffffff"/>
              </a:solidFill>
              <a:latin typeface="Arial"/>
            </a:endParaRPr>
          </a:p>
          <a:p>
            <a:pPr defTabSz="914400">
              <a:lnSpc>
                <a:spcPct val="110000"/>
              </a:lnSpc>
              <a:spcAft>
                <a:spcPts val="901"/>
              </a:spcAft>
              <a:tabLst>
                <a:tab algn="l" pos="0"/>
              </a:tabLst>
            </a:pPr>
            <a:r>
              <a:rPr b="0" lang="en-US" sz="1200" spc="-1" strike="noStrike">
                <a:solidFill>
                  <a:srgbClr val="9aa4b8"/>
                </a:solidFill>
                <a:latin typeface="Arial"/>
                <a:ea typeface="Arial"/>
              </a:rPr>
              <a:t>6.  Design patterns in idiomatic Rust</a:t>
            </a:r>
            <a:endParaRPr b="0" lang="en-US" sz="1200" spc="-1" strike="noStrike">
              <a:solidFill>
                <a:srgbClr val="ffffff"/>
              </a:solidFill>
              <a:latin typeface="Arial"/>
            </a:endParaRPr>
          </a:p>
          <a:p>
            <a:pPr defTabSz="914400">
              <a:lnSpc>
                <a:spcPct val="110000"/>
              </a:lnSpc>
              <a:spcAft>
                <a:spcPts val="901"/>
              </a:spcAft>
              <a:tabLst>
                <a:tab algn="l" pos="0"/>
              </a:tabLst>
            </a:pPr>
            <a:r>
              <a:rPr b="0" lang="en-US" sz="1200" spc="-1" strike="noStrike">
                <a:solidFill>
                  <a:srgbClr val="9aa4b8"/>
                </a:solidFill>
                <a:latin typeface="Arial"/>
                <a:ea typeface="Arial"/>
              </a:rPr>
              <a:t>7.  Building &amp; publishing crates</a:t>
            </a:r>
            <a:endParaRPr b="0" lang="en-US" sz="1200" spc="-1" strike="noStrike">
              <a:solidFill>
                <a:srgbClr val="ffffff"/>
              </a:solidFill>
              <a:latin typeface="Arial"/>
            </a:endParaRPr>
          </a:p>
          <a:p>
            <a:pPr defTabSz="914400">
              <a:lnSpc>
                <a:spcPct val="110000"/>
              </a:lnSpc>
              <a:spcAft>
                <a:spcPts val="901"/>
              </a:spcAft>
              <a:tabLst>
                <a:tab algn="l" pos="0"/>
              </a:tabLst>
            </a:pPr>
            <a:r>
              <a:rPr b="0" lang="en-US" sz="1200" spc="-1" strike="noStrike">
                <a:solidFill>
                  <a:srgbClr val="9aa4b8"/>
                </a:solidFill>
                <a:latin typeface="Arial"/>
                <a:ea typeface="Arial"/>
              </a:rPr>
              <a:t>8.  Workshop: porting a C++ module</a:t>
            </a:r>
            <a:endParaRPr b="0" lang="en-US" sz="1200" spc="-1" strike="noStrike">
              <a:solidFill>
                <a:srgbClr val="ffffff"/>
              </a:solidFill>
              <a:latin typeface="Arial"/>
            </a:endParaRPr>
          </a:p>
        </p:txBody>
      </p:sp>
      <p:sp>
        <p:nvSpPr>
          <p:cNvPr id="50" name="Shape 10"/>
          <p:cNvSpPr/>
          <p:nvPr/>
        </p:nvSpPr>
        <p:spPr>
          <a:xfrm>
            <a:off x="8046720" y="1691640"/>
            <a:ext cx="3564720" cy="4479120"/>
          </a:xfrm>
          <a:prstGeom prst="roundRect">
            <a:avLst>
              <a:gd name="adj" fmla="val 2308"/>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1" name="Text 11"/>
          <p:cNvSpPr/>
          <p:nvPr/>
        </p:nvSpPr>
        <p:spPr>
          <a:xfrm>
            <a:off x="8275320" y="1892880"/>
            <a:ext cx="310752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9aa4b8"/>
                </a:solidFill>
                <a:latin typeface="Arial"/>
                <a:ea typeface="Arial"/>
              </a:rPr>
              <a:t>DAY 3</a:t>
            </a:r>
            <a:endParaRPr b="0" lang="en-US" sz="1300" spc="-1" strike="noStrike">
              <a:solidFill>
                <a:srgbClr val="ffffff"/>
              </a:solidFill>
              <a:latin typeface="Arial"/>
            </a:endParaRPr>
          </a:p>
        </p:txBody>
      </p:sp>
      <p:sp>
        <p:nvSpPr>
          <p:cNvPr id="52" name="Text 12"/>
          <p:cNvSpPr/>
          <p:nvPr/>
        </p:nvSpPr>
        <p:spPr>
          <a:xfrm>
            <a:off x="8275320" y="2194560"/>
            <a:ext cx="3107520" cy="501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700" spc="-1" strike="noStrike">
                <a:solidFill>
                  <a:srgbClr val="edeff4"/>
                </a:solidFill>
                <a:latin typeface="Arial"/>
                <a:ea typeface="Arial"/>
              </a:rPr>
              <a:t>Rust on the GPU</a:t>
            </a:r>
            <a:endParaRPr b="0" lang="en-US" sz="1700" spc="-1" strike="noStrike">
              <a:solidFill>
                <a:srgbClr val="ffffff"/>
              </a:solidFill>
              <a:latin typeface="Arial"/>
            </a:endParaRPr>
          </a:p>
        </p:txBody>
      </p:sp>
      <p:sp>
        <p:nvSpPr>
          <p:cNvPr id="53" name="Text 13"/>
          <p:cNvSpPr/>
          <p:nvPr/>
        </p:nvSpPr>
        <p:spPr>
          <a:xfrm>
            <a:off x="8275320" y="2743200"/>
            <a:ext cx="3107520" cy="3290400"/>
          </a:xfrm>
          <a:prstGeom prst="rect">
            <a:avLst/>
          </a:prstGeom>
          <a:noFill/>
          <a:ln w="0">
            <a:noFill/>
          </a:ln>
        </p:spPr>
        <p:style>
          <a:lnRef idx="0"/>
          <a:fillRef idx="0"/>
          <a:effectRef idx="0"/>
          <a:fontRef idx="minor"/>
        </p:style>
        <p:txBody>
          <a:bodyPr lIns="90000" rIns="90000" tIns="45000" bIns="45000" anchor="t">
            <a:noAutofit/>
          </a:bodyPr>
          <a:p>
            <a:pPr defTabSz="914400">
              <a:lnSpc>
                <a:spcPct val="110000"/>
              </a:lnSpc>
              <a:spcAft>
                <a:spcPts val="901"/>
              </a:spcAft>
              <a:tabLst>
                <a:tab algn="l" pos="0"/>
              </a:tabLst>
            </a:pPr>
            <a:r>
              <a:rPr b="0" lang="en-US" sz="1200" spc="-1" strike="noStrike">
                <a:solidFill>
                  <a:srgbClr val="9aa4b8"/>
                </a:solidFill>
                <a:latin typeface="Arial"/>
                <a:ea typeface="Arial"/>
              </a:rPr>
              <a:t>1.  CUDA programming model recap</a:t>
            </a:r>
            <a:endParaRPr b="0" lang="en-US" sz="1200" spc="-1" strike="noStrike">
              <a:solidFill>
                <a:srgbClr val="ffffff"/>
              </a:solidFill>
              <a:latin typeface="Arial"/>
            </a:endParaRPr>
          </a:p>
          <a:p>
            <a:pPr defTabSz="914400">
              <a:lnSpc>
                <a:spcPct val="110000"/>
              </a:lnSpc>
              <a:spcAft>
                <a:spcPts val="901"/>
              </a:spcAft>
              <a:tabLst>
                <a:tab algn="l" pos="0"/>
              </a:tabLst>
            </a:pPr>
            <a:r>
              <a:rPr b="0" lang="en-US" sz="1200" spc="-1" strike="noStrike">
                <a:solidFill>
                  <a:srgbClr val="9aa4b8"/>
                </a:solidFill>
                <a:latin typeface="Arial"/>
                <a:ea typeface="Arial"/>
              </a:rPr>
              <a:t>2.  Rust GPU ecosystem overview</a:t>
            </a:r>
            <a:endParaRPr b="0" lang="en-US" sz="1200" spc="-1" strike="noStrike">
              <a:solidFill>
                <a:srgbClr val="ffffff"/>
              </a:solidFill>
              <a:latin typeface="Arial"/>
            </a:endParaRPr>
          </a:p>
          <a:p>
            <a:pPr defTabSz="914400">
              <a:lnSpc>
                <a:spcPct val="110000"/>
              </a:lnSpc>
              <a:spcAft>
                <a:spcPts val="901"/>
              </a:spcAft>
              <a:tabLst>
                <a:tab algn="l" pos="0"/>
              </a:tabLst>
            </a:pPr>
            <a:r>
              <a:rPr b="0" lang="en-US" sz="1200" spc="-1" strike="noStrike">
                <a:solidFill>
                  <a:srgbClr val="9aa4b8"/>
                </a:solidFill>
                <a:latin typeface="Arial"/>
                <a:ea typeface="Arial"/>
              </a:rPr>
              <a:t>3.  rust-cuda / cudarc / cust</a:t>
            </a:r>
            <a:endParaRPr b="0" lang="en-US" sz="1200" spc="-1" strike="noStrike">
              <a:solidFill>
                <a:srgbClr val="ffffff"/>
              </a:solidFill>
              <a:latin typeface="Arial"/>
            </a:endParaRPr>
          </a:p>
          <a:p>
            <a:pPr defTabSz="914400">
              <a:lnSpc>
                <a:spcPct val="110000"/>
              </a:lnSpc>
              <a:spcAft>
                <a:spcPts val="901"/>
              </a:spcAft>
              <a:tabLst>
                <a:tab algn="l" pos="0"/>
              </a:tabLst>
            </a:pPr>
            <a:r>
              <a:rPr b="0" lang="en-US" sz="1200" spc="-1" strike="noStrike">
                <a:solidFill>
                  <a:srgbClr val="9aa4b8"/>
                </a:solidFill>
                <a:latin typeface="Arial"/>
                <a:ea typeface="Arial"/>
              </a:rPr>
              <a:t>4.  Writing kernels: safety at the boundary</a:t>
            </a:r>
            <a:endParaRPr b="0" lang="en-US" sz="1200" spc="-1" strike="noStrike">
              <a:solidFill>
                <a:srgbClr val="ffffff"/>
              </a:solidFill>
              <a:latin typeface="Arial"/>
            </a:endParaRPr>
          </a:p>
          <a:p>
            <a:pPr defTabSz="914400">
              <a:lnSpc>
                <a:spcPct val="110000"/>
              </a:lnSpc>
              <a:spcAft>
                <a:spcPts val="901"/>
              </a:spcAft>
              <a:tabLst>
                <a:tab algn="l" pos="0"/>
              </a:tabLst>
            </a:pPr>
            <a:r>
              <a:rPr b="0" lang="en-US" sz="1200" spc="-1" strike="noStrike">
                <a:solidFill>
                  <a:srgbClr val="9aa4b8"/>
                </a:solidFill>
                <a:latin typeface="Arial"/>
                <a:ea typeface="Arial"/>
              </a:rPr>
              <a:t>5.  Memory transfer &amp; unified memory in Rust</a:t>
            </a:r>
            <a:endParaRPr b="0" lang="en-US" sz="1200" spc="-1" strike="noStrike">
              <a:solidFill>
                <a:srgbClr val="ffffff"/>
              </a:solidFill>
              <a:latin typeface="Arial"/>
            </a:endParaRPr>
          </a:p>
          <a:p>
            <a:pPr defTabSz="914400">
              <a:lnSpc>
                <a:spcPct val="110000"/>
              </a:lnSpc>
              <a:spcAft>
                <a:spcPts val="901"/>
              </a:spcAft>
              <a:tabLst>
                <a:tab algn="l" pos="0"/>
              </a:tabLst>
            </a:pPr>
            <a:r>
              <a:rPr b="0" lang="en-US" sz="1200" spc="-1" strike="noStrike">
                <a:solidFill>
                  <a:srgbClr val="9aa4b8"/>
                </a:solidFill>
                <a:latin typeface="Arial"/>
                <a:ea typeface="Arial"/>
              </a:rPr>
              <a:t>6.  Interop with existing CUDA C++ code</a:t>
            </a:r>
            <a:endParaRPr b="0" lang="en-US" sz="1200" spc="-1" strike="noStrike">
              <a:solidFill>
                <a:srgbClr val="ffffff"/>
              </a:solidFill>
              <a:latin typeface="Arial"/>
            </a:endParaRPr>
          </a:p>
          <a:p>
            <a:pPr defTabSz="914400">
              <a:lnSpc>
                <a:spcPct val="110000"/>
              </a:lnSpc>
              <a:spcAft>
                <a:spcPts val="901"/>
              </a:spcAft>
              <a:tabLst>
                <a:tab algn="l" pos="0"/>
              </a:tabLst>
            </a:pPr>
            <a:r>
              <a:rPr b="0" lang="en-US" sz="1200" spc="-1" strike="noStrike">
                <a:solidFill>
                  <a:srgbClr val="9aa4b8"/>
                </a:solidFill>
                <a:latin typeface="Arial"/>
                <a:ea typeface="Arial"/>
              </a:rPr>
              <a:t>7.  Benchmarking against native CUDA C++</a:t>
            </a:r>
            <a:endParaRPr b="0" lang="en-US" sz="1200" spc="-1" strike="noStrike">
              <a:solidFill>
                <a:srgbClr val="ffffff"/>
              </a:solidFill>
              <a:latin typeface="Arial"/>
            </a:endParaRPr>
          </a:p>
          <a:p>
            <a:pPr defTabSz="914400">
              <a:lnSpc>
                <a:spcPct val="110000"/>
              </a:lnSpc>
              <a:spcAft>
                <a:spcPts val="901"/>
              </a:spcAft>
              <a:tabLst>
                <a:tab algn="l" pos="0"/>
              </a:tabLst>
            </a:pPr>
            <a:r>
              <a:rPr b="0" lang="en-US" sz="1200" spc="-1" strike="noStrike">
                <a:solidFill>
                  <a:srgbClr val="9aa4b8"/>
                </a:solidFill>
                <a:latin typeface="Arial"/>
                <a:ea typeface="Arial"/>
              </a:rPr>
              <a:t>8.  Capstone: a Rust-hosted CUDA kernel</a:t>
            </a:r>
            <a:endParaRPr b="0" lang="en-US" sz="1200" spc="-1" strike="noStrike">
              <a:solidFill>
                <a:srgbClr val="ffffff"/>
              </a:solidFill>
              <a:latin typeface="Arial"/>
            </a:endParaRPr>
          </a:p>
        </p:txBody>
      </p:sp>
      <p:sp>
        <p:nvSpPr>
          <p:cNvPr id="54" name="Text 14"/>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55" name="Text 15"/>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2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56"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TODAY — DAY 1</a:t>
            </a:r>
            <a:endParaRPr b="0" lang="en-US" sz="1300" spc="-1" strike="noStrike">
              <a:solidFill>
                <a:srgbClr val="ffffff"/>
              </a:solidFill>
              <a:latin typeface="Arial"/>
            </a:endParaRPr>
          </a:p>
        </p:txBody>
      </p:sp>
      <p:sp>
        <p:nvSpPr>
          <p:cNvPr id="57"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What we'll cover today</a:t>
            </a:r>
            <a:endParaRPr b="0" lang="en-US" sz="2800" spc="-1" strike="noStrike">
              <a:solidFill>
                <a:srgbClr val="ffffff"/>
              </a:solidFill>
              <a:latin typeface="Arial"/>
            </a:endParaRPr>
          </a:p>
        </p:txBody>
      </p:sp>
      <p:sp>
        <p:nvSpPr>
          <p:cNvPr id="58" name="Shape 2"/>
          <p:cNvSpPr/>
          <p:nvPr/>
        </p:nvSpPr>
        <p:spPr>
          <a:xfrm>
            <a:off x="548640" y="1691640"/>
            <a:ext cx="5347800" cy="378720"/>
          </a:xfrm>
          <a:prstGeom prst="roundRect">
            <a:avLst>
              <a:gd name="adj" fmla="val 19251"/>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9" name="Text 3"/>
          <p:cNvSpPr/>
          <p:nvPr/>
        </p:nvSpPr>
        <p:spPr>
          <a:xfrm>
            <a:off x="731520" y="1691640"/>
            <a:ext cx="730080" cy="378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e8804f"/>
                </a:solidFill>
                <a:latin typeface="Consolas"/>
                <a:ea typeface="Consolas"/>
              </a:rPr>
              <a:t>01</a:t>
            </a:r>
            <a:endParaRPr b="0" lang="en-US" sz="1400" spc="-1" strike="noStrike">
              <a:solidFill>
                <a:srgbClr val="ffffff"/>
              </a:solidFill>
              <a:latin typeface="Arial"/>
            </a:endParaRPr>
          </a:p>
        </p:txBody>
      </p:sp>
      <p:sp>
        <p:nvSpPr>
          <p:cNvPr id="60" name="Text 4"/>
          <p:cNvSpPr/>
          <p:nvPr/>
        </p:nvSpPr>
        <p:spPr>
          <a:xfrm>
            <a:off x="1463040" y="1728360"/>
            <a:ext cx="4250520" cy="199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pc="-1" strike="noStrike">
                <a:solidFill>
                  <a:srgbClr val="edeff4"/>
                </a:solidFill>
                <a:latin typeface="Arial"/>
                <a:ea typeface="Arial"/>
              </a:rPr>
              <a:t>Why Rust?</a:t>
            </a:r>
            <a:endParaRPr b="0" lang="en-US" sz="1100" spc="-1" strike="noStrike">
              <a:solidFill>
                <a:srgbClr val="ffffff"/>
              </a:solidFill>
              <a:latin typeface="Arial"/>
            </a:endParaRPr>
          </a:p>
        </p:txBody>
      </p:sp>
      <p:sp>
        <p:nvSpPr>
          <p:cNvPr id="61" name="Text 5"/>
          <p:cNvSpPr/>
          <p:nvPr/>
        </p:nvSpPr>
        <p:spPr>
          <a:xfrm>
            <a:off x="1463040" y="1911240"/>
            <a:ext cx="4250520" cy="181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rgbClr val="9aa4b8"/>
                </a:solidFill>
                <a:latin typeface="Arial"/>
                <a:ea typeface="Arial"/>
              </a:rPr>
              <a:t>Beyond memory safety, for C++ veterans</a:t>
            </a:r>
            <a:endParaRPr b="0" lang="en-US" sz="850" spc="-1" strike="noStrike">
              <a:solidFill>
                <a:srgbClr val="ffffff"/>
              </a:solidFill>
              <a:latin typeface="Arial"/>
            </a:endParaRPr>
          </a:p>
        </p:txBody>
      </p:sp>
      <p:sp>
        <p:nvSpPr>
          <p:cNvPr id="62" name="Shape 6"/>
          <p:cNvSpPr/>
          <p:nvPr/>
        </p:nvSpPr>
        <p:spPr>
          <a:xfrm>
            <a:off x="6263640" y="1691640"/>
            <a:ext cx="5347800" cy="378720"/>
          </a:xfrm>
          <a:prstGeom prst="roundRect">
            <a:avLst>
              <a:gd name="adj" fmla="val 19251"/>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3" name="Text 7"/>
          <p:cNvSpPr/>
          <p:nvPr/>
        </p:nvSpPr>
        <p:spPr>
          <a:xfrm>
            <a:off x="6446520" y="1691640"/>
            <a:ext cx="730080" cy="378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e8804f"/>
                </a:solidFill>
                <a:latin typeface="Consolas"/>
                <a:ea typeface="Consolas"/>
              </a:rPr>
              <a:t>02</a:t>
            </a:r>
            <a:endParaRPr b="0" lang="en-US" sz="1400" spc="-1" strike="noStrike">
              <a:solidFill>
                <a:srgbClr val="ffffff"/>
              </a:solidFill>
              <a:latin typeface="Arial"/>
            </a:endParaRPr>
          </a:p>
        </p:txBody>
      </p:sp>
      <p:sp>
        <p:nvSpPr>
          <p:cNvPr id="64" name="Text 8"/>
          <p:cNvSpPr/>
          <p:nvPr/>
        </p:nvSpPr>
        <p:spPr>
          <a:xfrm>
            <a:off x="7178040" y="1728360"/>
            <a:ext cx="4250520" cy="199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pc="-1" strike="noStrike">
                <a:solidFill>
                  <a:srgbClr val="edeff4"/>
                </a:solidFill>
                <a:latin typeface="Arial"/>
                <a:ea typeface="Arial"/>
              </a:rPr>
              <a:t>A Brief History of Rust</a:t>
            </a:r>
            <a:endParaRPr b="0" lang="en-US" sz="1100" spc="-1" strike="noStrike">
              <a:solidFill>
                <a:srgbClr val="ffffff"/>
              </a:solidFill>
              <a:latin typeface="Arial"/>
            </a:endParaRPr>
          </a:p>
        </p:txBody>
      </p:sp>
      <p:sp>
        <p:nvSpPr>
          <p:cNvPr id="65" name="Text 9"/>
          <p:cNvSpPr/>
          <p:nvPr/>
        </p:nvSpPr>
        <p:spPr>
          <a:xfrm>
            <a:off x="7178040" y="1911240"/>
            <a:ext cx="4250520" cy="181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rgbClr val="9aa4b8"/>
                </a:solidFill>
                <a:latin typeface="Arial"/>
                <a:ea typeface="Arial"/>
              </a:rPr>
              <a:t>Mozilla, LLVM, and how we got here</a:t>
            </a:r>
            <a:endParaRPr b="0" lang="en-US" sz="850" spc="-1" strike="noStrike">
              <a:solidFill>
                <a:srgbClr val="ffffff"/>
              </a:solidFill>
              <a:latin typeface="Arial"/>
            </a:endParaRPr>
          </a:p>
        </p:txBody>
      </p:sp>
      <p:sp>
        <p:nvSpPr>
          <p:cNvPr id="66" name="Shape 10"/>
          <p:cNvSpPr/>
          <p:nvPr/>
        </p:nvSpPr>
        <p:spPr>
          <a:xfrm>
            <a:off x="548640" y="2199600"/>
            <a:ext cx="5347800" cy="378720"/>
          </a:xfrm>
          <a:prstGeom prst="roundRect">
            <a:avLst>
              <a:gd name="adj" fmla="val 19251"/>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7" name="Text 11"/>
          <p:cNvSpPr/>
          <p:nvPr/>
        </p:nvSpPr>
        <p:spPr>
          <a:xfrm>
            <a:off x="731520" y="2199600"/>
            <a:ext cx="730080" cy="378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e8804f"/>
                </a:solidFill>
                <a:latin typeface="Consolas"/>
                <a:ea typeface="Consolas"/>
              </a:rPr>
              <a:t>03</a:t>
            </a:r>
            <a:endParaRPr b="0" lang="en-US" sz="1400" spc="-1" strike="noStrike">
              <a:solidFill>
                <a:srgbClr val="ffffff"/>
              </a:solidFill>
              <a:latin typeface="Arial"/>
            </a:endParaRPr>
          </a:p>
        </p:txBody>
      </p:sp>
      <p:sp>
        <p:nvSpPr>
          <p:cNvPr id="68" name="Text 12"/>
          <p:cNvSpPr/>
          <p:nvPr/>
        </p:nvSpPr>
        <p:spPr>
          <a:xfrm>
            <a:off x="1463040" y="2236320"/>
            <a:ext cx="4250520" cy="199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pc="-1" strike="noStrike">
                <a:solidFill>
                  <a:srgbClr val="edeff4"/>
                </a:solidFill>
                <a:latin typeface="Arial"/>
                <a:ea typeface="Arial"/>
              </a:rPr>
              <a:t>Toolchain &amp; Project Model</a:t>
            </a:r>
            <a:endParaRPr b="0" lang="en-US" sz="1100" spc="-1" strike="noStrike">
              <a:solidFill>
                <a:srgbClr val="ffffff"/>
              </a:solidFill>
              <a:latin typeface="Arial"/>
            </a:endParaRPr>
          </a:p>
        </p:txBody>
      </p:sp>
      <p:sp>
        <p:nvSpPr>
          <p:cNvPr id="69" name="Text 13"/>
          <p:cNvSpPr/>
          <p:nvPr/>
        </p:nvSpPr>
        <p:spPr>
          <a:xfrm>
            <a:off x="1463040" y="2419200"/>
            <a:ext cx="4250520" cy="181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rgbClr val="9aa4b8"/>
                </a:solidFill>
                <a:latin typeface="Arial"/>
                <a:ea typeface="Arial"/>
              </a:rPr>
              <a:t>cargo, crates, editions</a:t>
            </a:r>
            <a:endParaRPr b="0" lang="en-US" sz="850" spc="-1" strike="noStrike">
              <a:solidFill>
                <a:srgbClr val="ffffff"/>
              </a:solidFill>
              <a:latin typeface="Arial"/>
            </a:endParaRPr>
          </a:p>
        </p:txBody>
      </p:sp>
      <p:sp>
        <p:nvSpPr>
          <p:cNvPr id="70" name="Shape 14"/>
          <p:cNvSpPr/>
          <p:nvPr/>
        </p:nvSpPr>
        <p:spPr>
          <a:xfrm>
            <a:off x="6263640" y="2199600"/>
            <a:ext cx="5347800" cy="378720"/>
          </a:xfrm>
          <a:prstGeom prst="roundRect">
            <a:avLst>
              <a:gd name="adj" fmla="val 19251"/>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1" name="Text 15"/>
          <p:cNvSpPr/>
          <p:nvPr/>
        </p:nvSpPr>
        <p:spPr>
          <a:xfrm>
            <a:off x="6446520" y="2199600"/>
            <a:ext cx="730080" cy="378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e8804f"/>
                </a:solidFill>
                <a:latin typeface="Consolas"/>
                <a:ea typeface="Consolas"/>
              </a:rPr>
              <a:t>04</a:t>
            </a:r>
            <a:endParaRPr b="0" lang="en-US" sz="1400" spc="-1" strike="noStrike">
              <a:solidFill>
                <a:srgbClr val="ffffff"/>
              </a:solidFill>
              <a:latin typeface="Arial"/>
            </a:endParaRPr>
          </a:p>
        </p:txBody>
      </p:sp>
      <p:sp>
        <p:nvSpPr>
          <p:cNvPr id="72" name="Text 16"/>
          <p:cNvSpPr/>
          <p:nvPr/>
        </p:nvSpPr>
        <p:spPr>
          <a:xfrm>
            <a:off x="7178040" y="2236320"/>
            <a:ext cx="4250520" cy="199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pc="-1" strike="noStrike">
                <a:solidFill>
                  <a:srgbClr val="edeff4"/>
                </a:solidFill>
                <a:latin typeface="Arial"/>
                <a:ea typeface="Arial"/>
              </a:rPr>
              <a:t>Data Types &amp; Program Elements</a:t>
            </a:r>
            <a:endParaRPr b="0" lang="en-US" sz="1100" spc="-1" strike="noStrike">
              <a:solidFill>
                <a:srgbClr val="ffffff"/>
              </a:solidFill>
              <a:latin typeface="Arial"/>
            </a:endParaRPr>
          </a:p>
        </p:txBody>
      </p:sp>
      <p:sp>
        <p:nvSpPr>
          <p:cNvPr id="73" name="Text 17"/>
          <p:cNvSpPr/>
          <p:nvPr/>
        </p:nvSpPr>
        <p:spPr>
          <a:xfrm>
            <a:off x="7178040" y="2419200"/>
            <a:ext cx="4250520" cy="181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rgbClr val="9aa4b8"/>
                </a:solidFill>
                <a:latin typeface="Arial"/>
                <a:ea typeface="Arial"/>
              </a:rPr>
              <a:t>The building blocks, in depth</a:t>
            </a:r>
            <a:endParaRPr b="0" lang="en-US" sz="850" spc="-1" strike="noStrike">
              <a:solidFill>
                <a:srgbClr val="ffffff"/>
              </a:solidFill>
              <a:latin typeface="Arial"/>
            </a:endParaRPr>
          </a:p>
        </p:txBody>
      </p:sp>
      <p:sp>
        <p:nvSpPr>
          <p:cNvPr id="74" name="Shape 18"/>
          <p:cNvSpPr/>
          <p:nvPr/>
        </p:nvSpPr>
        <p:spPr>
          <a:xfrm>
            <a:off x="548640" y="2707560"/>
            <a:ext cx="5347800" cy="378720"/>
          </a:xfrm>
          <a:prstGeom prst="roundRect">
            <a:avLst>
              <a:gd name="adj" fmla="val 19251"/>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5" name="Text 19"/>
          <p:cNvSpPr/>
          <p:nvPr/>
        </p:nvSpPr>
        <p:spPr>
          <a:xfrm>
            <a:off x="731520" y="2707560"/>
            <a:ext cx="730080" cy="378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e8804f"/>
                </a:solidFill>
                <a:latin typeface="Consolas"/>
                <a:ea typeface="Consolas"/>
              </a:rPr>
              <a:t>05</a:t>
            </a:r>
            <a:endParaRPr b="0" lang="en-US" sz="1400" spc="-1" strike="noStrike">
              <a:solidFill>
                <a:srgbClr val="ffffff"/>
              </a:solidFill>
              <a:latin typeface="Arial"/>
            </a:endParaRPr>
          </a:p>
        </p:txBody>
      </p:sp>
      <p:sp>
        <p:nvSpPr>
          <p:cNvPr id="76" name="Text 20"/>
          <p:cNvSpPr/>
          <p:nvPr/>
        </p:nvSpPr>
        <p:spPr>
          <a:xfrm>
            <a:off x="1463040" y="2744280"/>
            <a:ext cx="4250520" cy="199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pc="-1" strike="noStrike">
                <a:solidFill>
                  <a:srgbClr val="edeff4"/>
                </a:solidFill>
                <a:latin typeface="Arial"/>
                <a:ea typeface="Arial"/>
              </a:rPr>
              <a:t>Syntax Orientation</a:t>
            </a:r>
            <a:endParaRPr b="0" lang="en-US" sz="1100" spc="-1" strike="noStrike">
              <a:solidFill>
                <a:srgbClr val="ffffff"/>
              </a:solidFill>
              <a:latin typeface="Arial"/>
            </a:endParaRPr>
          </a:p>
        </p:txBody>
      </p:sp>
      <p:sp>
        <p:nvSpPr>
          <p:cNvPr id="77" name="Text 21"/>
          <p:cNvSpPr/>
          <p:nvPr/>
        </p:nvSpPr>
        <p:spPr>
          <a:xfrm>
            <a:off x="1463040" y="2927160"/>
            <a:ext cx="4250520" cy="181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rgbClr val="9aa4b8"/>
                </a:solidFill>
                <a:latin typeface="Arial"/>
                <a:ea typeface="Arial"/>
              </a:rPr>
              <a:t>A Rosetta stone for C++ eyes</a:t>
            </a:r>
            <a:endParaRPr b="0" lang="en-US" sz="850" spc="-1" strike="noStrike">
              <a:solidFill>
                <a:srgbClr val="ffffff"/>
              </a:solidFill>
              <a:latin typeface="Arial"/>
            </a:endParaRPr>
          </a:p>
        </p:txBody>
      </p:sp>
      <p:sp>
        <p:nvSpPr>
          <p:cNvPr id="78" name="Shape 22"/>
          <p:cNvSpPr/>
          <p:nvPr/>
        </p:nvSpPr>
        <p:spPr>
          <a:xfrm>
            <a:off x="6263640" y="2707560"/>
            <a:ext cx="5347800" cy="378720"/>
          </a:xfrm>
          <a:prstGeom prst="roundRect">
            <a:avLst>
              <a:gd name="adj" fmla="val 19251"/>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9" name="Text 23"/>
          <p:cNvSpPr/>
          <p:nvPr/>
        </p:nvSpPr>
        <p:spPr>
          <a:xfrm>
            <a:off x="6446520" y="2707560"/>
            <a:ext cx="730080" cy="378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e8804f"/>
                </a:solidFill>
                <a:latin typeface="Consolas"/>
                <a:ea typeface="Consolas"/>
              </a:rPr>
              <a:t>06</a:t>
            </a:r>
            <a:endParaRPr b="0" lang="en-US" sz="1400" spc="-1" strike="noStrike">
              <a:solidFill>
                <a:srgbClr val="ffffff"/>
              </a:solidFill>
              <a:latin typeface="Arial"/>
            </a:endParaRPr>
          </a:p>
        </p:txBody>
      </p:sp>
      <p:sp>
        <p:nvSpPr>
          <p:cNvPr id="80" name="Text 24"/>
          <p:cNvSpPr/>
          <p:nvPr/>
        </p:nvSpPr>
        <p:spPr>
          <a:xfrm>
            <a:off x="7178040" y="2744280"/>
            <a:ext cx="4250520" cy="199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pc="-1" strike="noStrike">
                <a:solidFill>
                  <a:srgbClr val="edeff4"/>
                </a:solidFill>
                <a:latin typeface="Arial"/>
                <a:ea typeface="Arial"/>
              </a:rPr>
              <a:t>Ownership &amp; Move Semantics</a:t>
            </a:r>
            <a:endParaRPr b="0" lang="en-US" sz="1100" spc="-1" strike="noStrike">
              <a:solidFill>
                <a:srgbClr val="ffffff"/>
              </a:solidFill>
              <a:latin typeface="Arial"/>
            </a:endParaRPr>
          </a:p>
        </p:txBody>
      </p:sp>
      <p:sp>
        <p:nvSpPr>
          <p:cNvPr id="81" name="Text 25"/>
          <p:cNvSpPr/>
          <p:nvPr/>
        </p:nvSpPr>
        <p:spPr>
          <a:xfrm>
            <a:off x="7178040" y="2927160"/>
            <a:ext cx="4250520" cy="181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rgbClr val="9aa4b8"/>
                </a:solidFill>
                <a:latin typeface="Arial"/>
                <a:ea typeface="Arial"/>
              </a:rPr>
              <a:t>Move-by-default, formalized</a:t>
            </a:r>
            <a:endParaRPr b="0" lang="en-US" sz="850" spc="-1" strike="noStrike">
              <a:solidFill>
                <a:srgbClr val="ffffff"/>
              </a:solidFill>
              <a:latin typeface="Arial"/>
            </a:endParaRPr>
          </a:p>
        </p:txBody>
      </p:sp>
      <p:sp>
        <p:nvSpPr>
          <p:cNvPr id="82" name="Shape 26"/>
          <p:cNvSpPr/>
          <p:nvPr/>
        </p:nvSpPr>
        <p:spPr>
          <a:xfrm>
            <a:off x="548640" y="3215520"/>
            <a:ext cx="5347800" cy="378720"/>
          </a:xfrm>
          <a:prstGeom prst="roundRect">
            <a:avLst>
              <a:gd name="adj" fmla="val 19251"/>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3" name="Text 27"/>
          <p:cNvSpPr/>
          <p:nvPr/>
        </p:nvSpPr>
        <p:spPr>
          <a:xfrm>
            <a:off x="731520" y="3215520"/>
            <a:ext cx="730080" cy="378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e8804f"/>
                </a:solidFill>
                <a:latin typeface="Consolas"/>
                <a:ea typeface="Consolas"/>
              </a:rPr>
              <a:t>07</a:t>
            </a:r>
            <a:endParaRPr b="0" lang="en-US" sz="1400" spc="-1" strike="noStrike">
              <a:solidFill>
                <a:srgbClr val="ffffff"/>
              </a:solidFill>
              <a:latin typeface="Arial"/>
            </a:endParaRPr>
          </a:p>
        </p:txBody>
      </p:sp>
      <p:sp>
        <p:nvSpPr>
          <p:cNvPr id="84" name="Text 28"/>
          <p:cNvSpPr/>
          <p:nvPr/>
        </p:nvSpPr>
        <p:spPr>
          <a:xfrm>
            <a:off x="1463040" y="3252240"/>
            <a:ext cx="4250520" cy="199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pc="-1" strike="noStrike">
                <a:solidFill>
                  <a:srgbClr val="edeff4"/>
                </a:solidFill>
                <a:latin typeface="Arial"/>
                <a:ea typeface="Arial"/>
              </a:rPr>
              <a:t>Borrowing &amp; Lifetimes</a:t>
            </a:r>
            <a:endParaRPr b="0" lang="en-US" sz="1100" spc="-1" strike="noStrike">
              <a:solidFill>
                <a:srgbClr val="ffffff"/>
              </a:solidFill>
              <a:latin typeface="Arial"/>
            </a:endParaRPr>
          </a:p>
        </p:txBody>
      </p:sp>
      <p:sp>
        <p:nvSpPr>
          <p:cNvPr id="85" name="Text 29"/>
          <p:cNvSpPr/>
          <p:nvPr/>
        </p:nvSpPr>
        <p:spPr>
          <a:xfrm>
            <a:off x="1463040" y="3435120"/>
            <a:ext cx="4250520" cy="181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rgbClr val="9aa4b8"/>
                </a:solidFill>
                <a:latin typeface="Arial"/>
                <a:ea typeface="Arial"/>
              </a:rPr>
              <a:t>Aliasing rules, enforced</a:t>
            </a:r>
            <a:endParaRPr b="0" lang="en-US" sz="850" spc="-1" strike="noStrike">
              <a:solidFill>
                <a:srgbClr val="ffffff"/>
              </a:solidFill>
              <a:latin typeface="Arial"/>
            </a:endParaRPr>
          </a:p>
        </p:txBody>
      </p:sp>
      <p:sp>
        <p:nvSpPr>
          <p:cNvPr id="86" name="Shape 30"/>
          <p:cNvSpPr/>
          <p:nvPr/>
        </p:nvSpPr>
        <p:spPr>
          <a:xfrm>
            <a:off x="6263640" y="3215520"/>
            <a:ext cx="5347800" cy="378720"/>
          </a:xfrm>
          <a:prstGeom prst="roundRect">
            <a:avLst>
              <a:gd name="adj" fmla="val 19251"/>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7" name="Text 31"/>
          <p:cNvSpPr/>
          <p:nvPr/>
        </p:nvSpPr>
        <p:spPr>
          <a:xfrm>
            <a:off x="6446520" y="3215520"/>
            <a:ext cx="730080" cy="378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e8804f"/>
                </a:solidFill>
                <a:latin typeface="Consolas"/>
                <a:ea typeface="Consolas"/>
              </a:rPr>
              <a:t>08</a:t>
            </a:r>
            <a:endParaRPr b="0" lang="en-US" sz="1400" spc="-1" strike="noStrike">
              <a:solidFill>
                <a:srgbClr val="ffffff"/>
              </a:solidFill>
              <a:latin typeface="Arial"/>
            </a:endParaRPr>
          </a:p>
        </p:txBody>
      </p:sp>
      <p:sp>
        <p:nvSpPr>
          <p:cNvPr id="88" name="Text 32"/>
          <p:cNvSpPr/>
          <p:nvPr/>
        </p:nvSpPr>
        <p:spPr>
          <a:xfrm>
            <a:off x="7178040" y="3252240"/>
            <a:ext cx="4250520" cy="199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pc="-1" strike="noStrike">
                <a:solidFill>
                  <a:srgbClr val="edeff4"/>
                </a:solidFill>
                <a:latin typeface="Arial"/>
                <a:ea typeface="Arial"/>
              </a:rPr>
              <a:t>Type System</a:t>
            </a:r>
            <a:endParaRPr b="0" lang="en-US" sz="1100" spc="-1" strike="noStrike">
              <a:solidFill>
                <a:srgbClr val="ffffff"/>
              </a:solidFill>
              <a:latin typeface="Arial"/>
            </a:endParaRPr>
          </a:p>
        </p:txBody>
      </p:sp>
      <p:sp>
        <p:nvSpPr>
          <p:cNvPr id="89" name="Text 33"/>
          <p:cNvSpPr/>
          <p:nvPr/>
        </p:nvSpPr>
        <p:spPr>
          <a:xfrm>
            <a:off x="7178040" y="3435120"/>
            <a:ext cx="4250520" cy="181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rgbClr val="9aa4b8"/>
                </a:solidFill>
                <a:latin typeface="Arial"/>
                <a:ea typeface="Arial"/>
              </a:rPr>
              <a:t>Enums, Option, Result, match</a:t>
            </a:r>
            <a:endParaRPr b="0" lang="en-US" sz="850" spc="-1" strike="noStrike">
              <a:solidFill>
                <a:srgbClr val="ffffff"/>
              </a:solidFill>
              <a:latin typeface="Arial"/>
            </a:endParaRPr>
          </a:p>
        </p:txBody>
      </p:sp>
      <p:sp>
        <p:nvSpPr>
          <p:cNvPr id="90" name="Shape 34"/>
          <p:cNvSpPr/>
          <p:nvPr/>
        </p:nvSpPr>
        <p:spPr>
          <a:xfrm>
            <a:off x="548640" y="3723480"/>
            <a:ext cx="5347800" cy="378720"/>
          </a:xfrm>
          <a:prstGeom prst="roundRect">
            <a:avLst>
              <a:gd name="adj" fmla="val 19251"/>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1" name="Text 35"/>
          <p:cNvSpPr/>
          <p:nvPr/>
        </p:nvSpPr>
        <p:spPr>
          <a:xfrm>
            <a:off x="731520" y="3723480"/>
            <a:ext cx="730080" cy="378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e8804f"/>
                </a:solidFill>
                <a:latin typeface="Consolas"/>
                <a:ea typeface="Consolas"/>
              </a:rPr>
              <a:t>09</a:t>
            </a:r>
            <a:endParaRPr b="0" lang="en-US" sz="1400" spc="-1" strike="noStrike">
              <a:solidFill>
                <a:srgbClr val="ffffff"/>
              </a:solidFill>
              <a:latin typeface="Arial"/>
            </a:endParaRPr>
          </a:p>
        </p:txBody>
      </p:sp>
      <p:sp>
        <p:nvSpPr>
          <p:cNvPr id="92" name="Text 36"/>
          <p:cNvSpPr/>
          <p:nvPr/>
        </p:nvSpPr>
        <p:spPr>
          <a:xfrm>
            <a:off x="1463040" y="3760200"/>
            <a:ext cx="4250520" cy="199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pc="-1" strike="noStrike">
                <a:solidFill>
                  <a:srgbClr val="edeff4"/>
                </a:solidFill>
                <a:latin typeface="Arial"/>
                <a:ea typeface="Arial"/>
              </a:rPr>
              <a:t>Traits &amp; Generics</a:t>
            </a:r>
            <a:endParaRPr b="0" lang="en-US" sz="1100" spc="-1" strike="noStrike">
              <a:solidFill>
                <a:srgbClr val="ffffff"/>
              </a:solidFill>
              <a:latin typeface="Arial"/>
            </a:endParaRPr>
          </a:p>
        </p:txBody>
      </p:sp>
      <p:sp>
        <p:nvSpPr>
          <p:cNvPr id="93" name="Text 37"/>
          <p:cNvSpPr/>
          <p:nvPr/>
        </p:nvSpPr>
        <p:spPr>
          <a:xfrm>
            <a:off x="1463040" y="3943080"/>
            <a:ext cx="4250520" cy="181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rgbClr val="9aa4b8"/>
                </a:solidFill>
                <a:latin typeface="Arial"/>
                <a:ea typeface="Arial"/>
              </a:rPr>
              <a:t>Interfaces and templates, reimagined</a:t>
            </a:r>
            <a:endParaRPr b="0" lang="en-US" sz="850" spc="-1" strike="noStrike">
              <a:solidFill>
                <a:srgbClr val="ffffff"/>
              </a:solidFill>
              <a:latin typeface="Arial"/>
            </a:endParaRPr>
          </a:p>
        </p:txBody>
      </p:sp>
      <p:sp>
        <p:nvSpPr>
          <p:cNvPr id="94" name="Shape 38"/>
          <p:cNvSpPr/>
          <p:nvPr/>
        </p:nvSpPr>
        <p:spPr>
          <a:xfrm>
            <a:off x="6263640" y="3723480"/>
            <a:ext cx="5347800" cy="378720"/>
          </a:xfrm>
          <a:prstGeom prst="roundRect">
            <a:avLst>
              <a:gd name="adj" fmla="val 19251"/>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5" name="Text 39"/>
          <p:cNvSpPr/>
          <p:nvPr/>
        </p:nvSpPr>
        <p:spPr>
          <a:xfrm>
            <a:off x="6446520" y="3723480"/>
            <a:ext cx="730080" cy="378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e8804f"/>
                </a:solidFill>
                <a:latin typeface="Consolas"/>
                <a:ea typeface="Consolas"/>
              </a:rPr>
              <a:t>10</a:t>
            </a:r>
            <a:endParaRPr b="0" lang="en-US" sz="1400" spc="-1" strike="noStrike">
              <a:solidFill>
                <a:srgbClr val="ffffff"/>
              </a:solidFill>
              <a:latin typeface="Arial"/>
            </a:endParaRPr>
          </a:p>
        </p:txBody>
      </p:sp>
      <p:sp>
        <p:nvSpPr>
          <p:cNvPr id="96" name="Text 40"/>
          <p:cNvSpPr/>
          <p:nvPr/>
        </p:nvSpPr>
        <p:spPr>
          <a:xfrm>
            <a:off x="7178040" y="3760200"/>
            <a:ext cx="4250520" cy="199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pc="-1" strike="noStrike">
                <a:solidFill>
                  <a:srgbClr val="edeff4"/>
                </a:solidFill>
                <a:latin typeface="Arial"/>
                <a:ea typeface="Arial"/>
              </a:rPr>
              <a:t>Error Handling</a:t>
            </a:r>
            <a:endParaRPr b="0" lang="en-US" sz="1100" spc="-1" strike="noStrike">
              <a:solidFill>
                <a:srgbClr val="ffffff"/>
              </a:solidFill>
              <a:latin typeface="Arial"/>
            </a:endParaRPr>
          </a:p>
        </p:txBody>
      </p:sp>
      <p:sp>
        <p:nvSpPr>
          <p:cNvPr id="97" name="Text 41"/>
          <p:cNvSpPr/>
          <p:nvPr/>
        </p:nvSpPr>
        <p:spPr>
          <a:xfrm>
            <a:off x="7178040" y="3943080"/>
            <a:ext cx="4250520" cy="181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rgbClr val="9aa4b8"/>
                </a:solidFill>
                <a:latin typeface="Arial"/>
                <a:ea typeface="Arial"/>
              </a:rPr>
              <a:t>Result, ?, and panics</a:t>
            </a:r>
            <a:endParaRPr b="0" lang="en-US" sz="850" spc="-1" strike="noStrike">
              <a:solidFill>
                <a:srgbClr val="ffffff"/>
              </a:solidFill>
              <a:latin typeface="Arial"/>
            </a:endParaRPr>
          </a:p>
        </p:txBody>
      </p:sp>
      <p:sp>
        <p:nvSpPr>
          <p:cNvPr id="98" name="Shape 42"/>
          <p:cNvSpPr/>
          <p:nvPr/>
        </p:nvSpPr>
        <p:spPr>
          <a:xfrm>
            <a:off x="548640" y="4231800"/>
            <a:ext cx="5347800" cy="378720"/>
          </a:xfrm>
          <a:prstGeom prst="roundRect">
            <a:avLst>
              <a:gd name="adj" fmla="val 19251"/>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9" name="Text 43"/>
          <p:cNvSpPr/>
          <p:nvPr/>
        </p:nvSpPr>
        <p:spPr>
          <a:xfrm>
            <a:off x="731520" y="4231800"/>
            <a:ext cx="730080" cy="378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e8804f"/>
                </a:solidFill>
                <a:latin typeface="Consolas"/>
                <a:ea typeface="Consolas"/>
              </a:rPr>
              <a:t>11</a:t>
            </a:r>
            <a:endParaRPr b="0" lang="en-US" sz="1400" spc="-1" strike="noStrike">
              <a:solidFill>
                <a:srgbClr val="ffffff"/>
              </a:solidFill>
              <a:latin typeface="Arial"/>
            </a:endParaRPr>
          </a:p>
        </p:txBody>
      </p:sp>
      <p:sp>
        <p:nvSpPr>
          <p:cNvPr id="100" name="Text 44"/>
          <p:cNvSpPr/>
          <p:nvPr/>
        </p:nvSpPr>
        <p:spPr>
          <a:xfrm>
            <a:off x="1463040" y="4268160"/>
            <a:ext cx="4250520" cy="199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pc="-1" strike="noStrike">
                <a:solidFill>
                  <a:srgbClr val="edeff4"/>
                </a:solidFill>
                <a:latin typeface="Arial"/>
                <a:ea typeface="Arial"/>
              </a:rPr>
              <a:t>Collections &amp; Iterators</a:t>
            </a:r>
            <a:endParaRPr b="0" lang="en-US" sz="1100" spc="-1" strike="noStrike">
              <a:solidFill>
                <a:srgbClr val="ffffff"/>
              </a:solidFill>
              <a:latin typeface="Arial"/>
            </a:endParaRPr>
          </a:p>
        </p:txBody>
      </p:sp>
      <p:sp>
        <p:nvSpPr>
          <p:cNvPr id="101" name="Text 45"/>
          <p:cNvSpPr/>
          <p:nvPr/>
        </p:nvSpPr>
        <p:spPr>
          <a:xfrm>
            <a:off x="1463040" y="4451040"/>
            <a:ext cx="4250520" cy="181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rgbClr val="9aa4b8"/>
                </a:solidFill>
                <a:latin typeface="Arial"/>
                <a:ea typeface="Arial"/>
              </a:rPr>
              <a:t>The STL, Rust-flavored</a:t>
            </a:r>
            <a:endParaRPr b="0" lang="en-US" sz="850" spc="-1" strike="noStrike">
              <a:solidFill>
                <a:srgbClr val="ffffff"/>
              </a:solidFill>
              <a:latin typeface="Arial"/>
            </a:endParaRPr>
          </a:p>
        </p:txBody>
      </p:sp>
      <p:sp>
        <p:nvSpPr>
          <p:cNvPr id="102" name="Shape 46"/>
          <p:cNvSpPr/>
          <p:nvPr/>
        </p:nvSpPr>
        <p:spPr>
          <a:xfrm>
            <a:off x="6263640" y="4231800"/>
            <a:ext cx="5347800" cy="378720"/>
          </a:xfrm>
          <a:prstGeom prst="roundRect">
            <a:avLst>
              <a:gd name="adj" fmla="val 19251"/>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3" name="Text 47"/>
          <p:cNvSpPr/>
          <p:nvPr/>
        </p:nvSpPr>
        <p:spPr>
          <a:xfrm>
            <a:off x="6446520" y="4231800"/>
            <a:ext cx="730080" cy="378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e8804f"/>
                </a:solidFill>
                <a:latin typeface="Consolas"/>
                <a:ea typeface="Consolas"/>
              </a:rPr>
              <a:t>12</a:t>
            </a:r>
            <a:endParaRPr b="0" lang="en-US" sz="1400" spc="-1" strike="noStrike">
              <a:solidFill>
                <a:srgbClr val="ffffff"/>
              </a:solidFill>
              <a:latin typeface="Arial"/>
            </a:endParaRPr>
          </a:p>
        </p:txBody>
      </p:sp>
      <p:sp>
        <p:nvSpPr>
          <p:cNvPr id="104" name="Text 48"/>
          <p:cNvSpPr/>
          <p:nvPr/>
        </p:nvSpPr>
        <p:spPr>
          <a:xfrm>
            <a:off x="7178040" y="4268160"/>
            <a:ext cx="4250520" cy="199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pc="-1" strike="noStrike">
                <a:solidFill>
                  <a:srgbClr val="edeff4"/>
                </a:solidFill>
                <a:latin typeface="Arial"/>
                <a:ea typeface="Arial"/>
              </a:rPr>
              <a:t>Modules &amp; Visibility</a:t>
            </a:r>
            <a:endParaRPr b="0" lang="en-US" sz="1100" spc="-1" strike="noStrike">
              <a:solidFill>
                <a:srgbClr val="ffffff"/>
              </a:solidFill>
              <a:latin typeface="Arial"/>
            </a:endParaRPr>
          </a:p>
        </p:txBody>
      </p:sp>
      <p:sp>
        <p:nvSpPr>
          <p:cNvPr id="105" name="Text 49"/>
          <p:cNvSpPr/>
          <p:nvPr/>
        </p:nvSpPr>
        <p:spPr>
          <a:xfrm>
            <a:off x="7178040" y="4451040"/>
            <a:ext cx="4250520" cy="181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rgbClr val="9aa4b8"/>
                </a:solidFill>
                <a:latin typeface="Arial"/>
                <a:ea typeface="Arial"/>
              </a:rPr>
              <a:t>No headers, no ODR</a:t>
            </a:r>
            <a:endParaRPr b="0" lang="en-US" sz="850" spc="-1" strike="noStrike">
              <a:solidFill>
                <a:srgbClr val="ffffff"/>
              </a:solidFill>
              <a:latin typeface="Arial"/>
            </a:endParaRPr>
          </a:p>
        </p:txBody>
      </p:sp>
      <p:sp>
        <p:nvSpPr>
          <p:cNvPr id="106" name="Shape 50"/>
          <p:cNvSpPr/>
          <p:nvPr/>
        </p:nvSpPr>
        <p:spPr>
          <a:xfrm>
            <a:off x="548640" y="4739760"/>
            <a:ext cx="5347800" cy="378720"/>
          </a:xfrm>
          <a:prstGeom prst="roundRect">
            <a:avLst>
              <a:gd name="adj" fmla="val 19251"/>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7" name="Text 51"/>
          <p:cNvSpPr/>
          <p:nvPr/>
        </p:nvSpPr>
        <p:spPr>
          <a:xfrm>
            <a:off x="731520" y="4739760"/>
            <a:ext cx="730080" cy="378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e8804f"/>
                </a:solidFill>
                <a:latin typeface="Consolas"/>
                <a:ea typeface="Consolas"/>
              </a:rPr>
              <a:t>13</a:t>
            </a:r>
            <a:endParaRPr b="0" lang="en-US" sz="1400" spc="-1" strike="noStrike">
              <a:solidFill>
                <a:srgbClr val="ffffff"/>
              </a:solidFill>
              <a:latin typeface="Arial"/>
            </a:endParaRPr>
          </a:p>
        </p:txBody>
      </p:sp>
      <p:sp>
        <p:nvSpPr>
          <p:cNvPr id="108" name="Text 52"/>
          <p:cNvSpPr/>
          <p:nvPr/>
        </p:nvSpPr>
        <p:spPr>
          <a:xfrm>
            <a:off x="1463040" y="4776120"/>
            <a:ext cx="4250520" cy="199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pc="-1" strike="noStrike">
                <a:solidFill>
                  <a:srgbClr val="edeff4"/>
                </a:solidFill>
                <a:latin typeface="Arial"/>
                <a:ea typeface="Arial"/>
              </a:rPr>
              <a:t>Concurrency</a:t>
            </a:r>
            <a:endParaRPr b="0" lang="en-US" sz="1100" spc="-1" strike="noStrike">
              <a:solidFill>
                <a:srgbClr val="ffffff"/>
              </a:solidFill>
              <a:latin typeface="Arial"/>
            </a:endParaRPr>
          </a:p>
        </p:txBody>
      </p:sp>
      <p:sp>
        <p:nvSpPr>
          <p:cNvPr id="109" name="Text 53"/>
          <p:cNvSpPr/>
          <p:nvPr/>
        </p:nvSpPr>
        <p:spPr>
          <a:xfrm>
            <a:off x="1463040" y="4959000"/>
            <a:ext cx="4250520" cy="181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rgbClr val="9aa4b8"/>
                </a:solidFill>
                <a:latin typeface="Arial"/>
                <a:ea typeface="Arial"/>
              </a:rPr>
              <a:t>Fearless, by construction</a:t>
            </a:r>
            <a:endParaRPr b="0" lang="en-US" sz="850" spc="-1" strike="noStrike">
              <a:solidFill>
                <a:srgbClr val="ffffff"/>
              </a:solidFill>
              <a:latin typeface="Arial"/>
            </a:endParaRPr>
          </a:p>
        </p:txBody>
      </p:sp>
      <p:sp>
        <p:nvSpPr>
          <p:cNvPr id="110" name="Shape 54"/>
          <p:cNvSpPr/>
          <p:nvPr/>
        </p:nvSpPr>
        <p:spPr>
          <a:xfrm>
            <a:off x="6263640" y="4739760"/>
            <a:ext cx="5347800" cy="378720"/>
          </a:xfrm>
          <a:prstGeom prst="roundRect">
            <a:avLst>
              <a:gd name="adj" fmla="val 19251"/>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1" name="Text 55"/>
          <p:cNvSpPr/>
          <p:nvPr/>
        </p:nvSpPr>
        <p:spPr>
          <a:xfrm>
            <a:off x="6446520" y="4739760"/>
            <a:ext cx="730080" cy="378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e8804f"/>
                </a:solidFill>
                <a:latin typeface="Consolas"/>
                <a:ea typeface="Consolas"/>
              </a:rPr>
              <a:t>14</a:t>
            </a:r>
            <a:endParaRPr b="0" lang="en-US" sz="1400" spc="-1" strike="noStrike">
              <a:solidFill>
                <a:srgbClr val="ffffff"/>
              </a:solidFill>
              <a:latin typeface="Arial"/>
            </a:endParaRPr>
          </a:p>
        </p:txBody>
      </p:sp>
      <p:sp>
        <p:nvSpPr>
          <p:cNvPr id="112" name="Text 56"/>
          <p:cNvSpPr/>
          <p:nvPr/>
        </p:nvSpPr>
        <p:spPr>
          <a:xfrm>
            <a:off x="7178040" y="4776120"/>
            <a:ext cx="4250520" cy="199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pc="-1" strike="noStrike">
                <a:solidFill>
                  <a:srgbClr val="edeff4"/>
                </a:solidFill>
                <a:latin typeface="Arial"/>
                <a:ea typeface="Arial"/>
              </a:rPr>
              <a:t>Unsafe &amp; C++ Interop</a:t>
            </a:r>
            <a:endParaRPr b="0" lang="en-US" sz="1100" spc="-1" strike="noStrike">
              <a:solidFill>
                <a:srgbClr val="ffffff"/>
              </a:solidFill>
              <a:latin typeface="Arial"/>
            </a:endParaRPr>
          </a:p>
        </p:txBody>
      </p:sp>
      <p:sp>
        <p:nvSpPr>
          <p:cNvPr id="113" name="Text 57"/>
          <p:cNvSpPr/>
          <p:nvPr/>
        </p:nvSpPr>
        <p:spPr>
          <a:xfrm>
            <a:off x="7178040" y="4959000"/>
            <a:ext cx="4250520" cy="181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rgbClr val="9aa4b8"/>
                </a:solidFill>
                <a:latin typeface="Arial"/>
                <a:ea typeface="Arial"/>
              </a:rPr>
              <a:t>Where the two languages meet</a:t>
            </a:r>
            <a:endParaRPr b="0" lang="en-US" sz="850" spc="-1" strike="noStrike">
              <a:solidFill>
                <a:srgbClr val="ffffff"/>
              </a:solidFill>
              <a:latin typeface="Arial"/>
            </a:endParaRPr>
          </a:p>
        </p:txBody>
      </p:sp>
      <p:sp>
        <p:nvSpPr>
          <p:cNvPr id="114" name="Shape 58"/>
          <p:cNvSpPr/>
          <p:nvPr/>
        </p:nvSpPr>
        <p:spPr>
          <a:xfrm>
            <a:off x="548640" y="5247720"/>
            <a:ext cx="5347800" cy="378720"/>
          </a:xfrm>
          <a:prstGeom prst="roundRect">
            <a:avLst>
              <a:gd name="adj" fmla="val 19251"/>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5" name="Text 59"/>
          <p:cNvSpPr/>
          <p:nvPr/>
        </p:nvSpPr>
        <p:spPr>
          <a:xfrm>
            <a:off x="731520" y="5247720"/>
            <a:ext cx="730080" cy="378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e8804f"/>
                </a:solidFill>
                <a:latin typeface="Consolas"/>
                <a:ea typeface="Consolas"/>
              </a:rPr>
              <a:t>15</a:t>
            </a:r>
            <a:endParaRPr b="0" lang="en-US" sz="1400" spc="-1" strike="noStrike">
              <a:solidFill>
                <a:srgbClr val="ffffff"/>
              </a:solidFill>
              <a:latin typeface="Arial"/>
            </a:endParaRPr>
          </a:p>
        </p:txBody>
      </p:sp>
      <p:sp>
        <p:nvSpPr>
          <p:cNvPr id="116" name="Text 60"/>
          <p:cNvSpPr/>
          <p:nvPr/>
        </p:nvSpPr>
        <p:spPr>
          <a:xfrm>
            <a:off x="1463040" y="5284080"/>
            <a:ext cx="4250520" cy="199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pc="-1" strike="noStrike">
                <a:solidFill>
                  <a:srgbClr val="edeff4"/>
                </a:solidFill>
                <a:latin typeface="Arial"/>
                <a:ea typeface="Arial"/>
              </a:rPr>
              <a:t>Tooling &amp; Testing</a:t>
            </a:r>
            <a:endParaRPr b="0" lang="en-US" sz="1100" spc="-1" strike="noStrike">
              <a:solidFill>
                <a:srgbClr val="ffffff"/>
              </a:solidFill>
              <a:latin typeface="Arial"/>
            </a:endParaRPr>
          </a:p>
        </p:txBody>
      </p:sp>
      <p:sp>
        <p:nvSpPr>
          <p:cNvPr id="117" name="Text 61"/>
          <p:cNvSpPr/>
          <p:nvPr/>
        </p:nvSpPr>
        <p:spPr>
          <a:xfrm>
            <a:off x="1463040" y="5466960"/>
            <a:ext cx="4250520" cy="181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rgbClr val="9aa4b8"/>
                </a:solidFill>
                <a:latin typeface="Arial"/>
                <a:ea typeface="Arial"/>
              </a:rPr>
              <a:t>What ships in the box</a:t>
            </a:r>
            <a:endParaRPr b="0" lang="en-US" sz="850" spc="-1" strike="noStrike">
              <a:solidFill>
                <a:srgbClr val="ffffff"/>
              </a:solidFill>
              <a:latin typeface="Arial"/>
            </a:endParaRPr>
          </a:p>
        </p:txBody>
      </p:sp>
      <p:sp>
        <p:nvSpPr>
          <p:cNvPr id="118" name="Shape 62"/>
          <p:cNvSpPr/>
          <p:nvPr/>
        </p:nvSpPr>
        <p:spPr>
          <a:xfrm>
            <a:off x="6263640" y="5247720"/>
            <a:ext cx="5347800" cy="378720"/>
          </a:xfrm>
          <a:prstGeom prst="roundRect">
            <a:avLst>
              <a:gd name="adj" fmla="val 19251"/>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9" name="Text 63"/>
          <p:cNvSpPr/>
          <p:nvPr/>
        </p:nvSpPr>
        <p:spPr>
          <a:xfrm>
            <a:off x="6446520" y="5247720"/>
            <a:ext cx="730080" cy="378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e8804f"/>
                </a:solidFill>
                <a:latin typeface="Consolas"/>
                <a:ea typeface="Consolas"/>
              </a:rPr>
              <a:t>16</a:t>
            </a:r>
            <a:endParaRPr b="0" lang="en-US" sz="1400" spc="-1" strike="noStrike">
              <a:solidFill>
                <a:srgbClr val="ffffff"/>
              </a:solidFill>
              <a:latin typeface="Arial"/>
            </a:endParaRPr>
          </a:p>
        </p:txBody>
      </p:sp>
      <p:sp>
        <p:nvSpPr>
          <p:cNvPr id="120" name="Text 64"/>
          <p:cNvSpPr/>
          <p:nvPr/>
        </p:nvSpPr>
        <p:spPr>
          <a:xfrm>
            <a:off x="7178040" y="5284080"/>
            <a:ext cx="4250520" cy="199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pc="-1" strike="noStrike">
                <a:solidFill>
                  <a:srgbClr val="edeff4"/>
                </a:solidFill>
                <a:latin typeface="Arial"/>
                <a:ea typeface="Arial"/>
              </a:rPr>
              <a:t>Practice Problems</a:t>
            </a:r>
            <a:endParaRPr b="0" lang="en-US" sz="1100" spc="-1" strike="noStrike">
              <a:solidFill>
                <a:srgbClr val="ffffff"/>
              </a:solidFill>
              <a:latin typeface="Arial"/>
            </a:endParaRPr>
          </a:p>
        </p:txBody>
      </p:sp>
      <p:sp>
        <p:nvSpPr>
          <p:cNvPr id="121" name="Text 65"/>
          <p:cNvSpPr/>
          <p:nvPr/>
        </p:nvSpPr>
        <p:spPr>
          <a:xfrm>
            <a:off x="7178040" y="5466960"/>
            <a:ext cx="4250520" cy="181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rgbClr val="9aa4b8"/>
                </a:solidFill>
                <a:latin typeface="Arial"/>
                <a:ea typeface="Arial"/>
              </a:rPr>
              <a:t>Ten problems, a few of them traps</a:t>
            </a:r>
            <a:endParaRPr b="0" lang="en-US" sz="850" spc="-1" strike="noStrike">
              <a:solidFill>
                <a:srgbClr val="ffffff"/>
              </a:solidFill>
              <a:latin typeface="Arial"/>
            </a:endParaRPr>
          </a:p>
        </p:txBody>
      </p:sp>
      <p:sp>
        <p:nvSpPr>
          <p:cNvPr id="122" name="Shape 66"/>
          <p:cNvSpPr/>
          <p:nvPr/>
        </p:nvSpPr>
        <p:spPr>
          <a:xfrm>
            <a:off x="548640" y="5755680"/>
            <a:ext cx="5347800" cy="378720"/>
          </a:xfrm>
          <a:prstGeom prst="roundRect">
            <a:avLst>
              <a:gd name="adj" fmla="val 19251"/>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3" name="Text 67"/>
          <p:cNvSpPr/>
          <p:nvPr/>
        </p:nvSpPr>
        <p:spPr>
          <a:xfrm>
            <a:off x="731520" y="5755680"/>
            <a:ext cx="730080" cy="378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e8804f"/>
                </a:solidFill>
                <a:latin typeface="Consolas"/>
                <a:ea typeface="Consolas"/>
              </a:rPr>
              <a:t>17</a:t>
            </a:r>
            <a:endParaRPr b="0" lang="en-US" sz="1400" spc="-1" strike="noStrike">
              <a:solidFill>
                <a:srgbClr val="ffffff"/>
              </a:solidFill>
              <a:latin typeface="Arial"/>
            </a:endParaRPr>
          </a:p>
        </p:txBody>
      </p:sp>
      <p:sp>
        <p:nvSpPr>
          <p:cNvPr id="124" name="Text 68"/>
          <p:cNvSpPr/>
          <p:nvPr/>
        </p:nvSpPr>
        <p:spPr>
          <a:xfrm>
            <a:off x="1463040" y="5792040"/>
            <a:ext cx="4250520" cy="199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pc="-1" strike="noStrike">
                <a:solidFill>
                  <a:srgbClr val="edeff4"/>
                </a:solidFill>
                <a:latin typeface="Arial"/>
                <a:ea typeface="Arial"/>
              </a:rPr>
              <a:t>Wrap-up &amp; Roadmap</a:t>
            </a:r>
            <a:endParaRPr b="0" lang="en-US" sz="1100" spc="-1" strike="noStrike">
              <a:solidFill>
                <a:srgbClr val="ffffff"/>
              </a:solidFill>
              <a:latin typeface="Arial"/>
            </a:endParaRPr>
          </a:p>
        </p:txBody>
      </p:sp>
      <p:sp>
        <p:nvSpPr>
          <p:cNvPr id="125" name="Text 69"/>
          <p:cNvSpPr/>
          <p:nvPr/>
        </p:nvSpPr>
        <p:spPr>
          <a:xfrm>
            <a:off x="1463040" y="5974920"/>
            <a:ext cx="4250520" cy="181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rgbClr val="9aa4b8"/>
                </a:solidFill>
                <a:latin typeface="Arial"/>
                <a:ea typeface="Arial"/>
              </a:rPr>
              <a:t>Where Days 2 and 3 take us</a:t>
            </a:r>
            <a:endParaRPr b="0" lang="en-US" sz="850" spc="-1" strike="noStrike">
              <a:solidFill>
                <a:srgbClr val="ffffff"/>
              </a:solidFill>
              <a:latin typeface="Arial"/>
            </a:endParaRPr>
          </a:p>
        </p:txBody>
      </p:sp>
      <p:sp>
        <p:nvSpPr>
          <p:cNvPr id="126" name="Text 70"/>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27" name="Text 71"/>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3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28" name="Shape 0"/>
          <p:cNvSpPr/>
          <p:nvPr/>
        </p:nvSpPr>
        <p:spPr>
          <a:xfrm>
            <a:off x="548640" y="2651760"/>
            <a:ext cx="1370160" cy="1370160"/>
          </a:xfrm>
          <a:prstGeom prst="roundRect">
            <a:avLst>
              <a:gd name="adj" fmla="val 6667"/>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9" name="Text 1"/>
          <p:cNvSpPr/>
          <p:nvPr/>
        </p:nvSpPr>
        <p:spPr>
          <a:xfrm>
            <a:off x="548640" y="2651760"/>
            <a:ext cx="1370160" cy="1370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400" spc="-1" strike="noStrike">
                <a:solidFill>
                  <a:srgbClr val="e8804f"/>
                </a:solidFill>
                <a:latin typeface="Consolas"/>
                <a:ea typeface="Consolas"/>
              </a:rPr>
              <a:t>01</a:t>
            </a:r>
            <a:endParaRPr b="0" lang="en-US" sz="3400" spc="-1" strike="noStrike">
              <a:solidFill>
                <a:srgbClr val="ffffff"/>
              </a:solidFill>
              <a:latin typeface="Arial"/>
            </a:endParaRPr>
          </a:p>
        </p:txBody>
      </p:sp>
      <p:sp>
        <p:nvSpPr>
          <p:cNvPr id="130" name="Text 2"/>
          <p:cNvSpPr/>
          <p:nvPr/>
        </p:nvSpPr>
        <p:spPr>
          <a:xfrm>
            <a:off x="2194560" y="2743200"/>
            <a:ext cx="932544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Why Rust? (Beyond Memory Safety)</a:t>
            </a:r>
            <a:endParaRPr b="0" lang="en-US" sz="2800" spc="-1" strike="noStrike">
              <a:solidFill>
                <a:srgbClr val="ffffff"/>
              </a:solidFill>
              <a:latin typeface="Arial"/>
            </a:endParaRPr>
          </a:p>
        </p:txBody>
      </p:sp>
      <p:sp>
        <p:nvSpPr>
          <p:cNvPr id="131" name="Text 3"/>
          <p:cNvSpPr/>
          <p:nvPr/>
        </p:nvSpPr>
        <p:spPr>
          <a:xfrm>
            <a:off x="2194560" y="3474720"/>
            <a:ext cx="8959680" cy="547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50" spc="-1" strike="noStrike">
                <a:solidFill>
                  <a:srgbClr val="9aa4b8"/>
                </a:solidFill>
                <a:latin typeface="Arial"/>
                <a:ea typeface="Arial"/>
              </a:rPr>
              <a:t>You already fight this war in C++ — here's the rest of the argument</a:t>
            </a:r>
            <a:endParaRPr b="0" lang="en-US" sz="1350" spc="-1" strike="noStrike">
              <a:solidFill>
                <a:srgbClr val="ffffff"/>
              </a:solidFill>
              <a:latin typeface="Arial"/>
            </a:endParaRPr>
          </a:p>
        </p:txBody>
      </p:sp>
      <p:sp>
        <p:nvSpPr>
          <p:cNvPr id="132" name="Text 4"/>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33" name="Text 5"/>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4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34"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WHY RUST? (BEYOND MEMORY SAFETY)</a:t>
            </a:r>
            <a:endParaRPr b="0" lang="en-US" sz="1300" spc="-1" strike="noStrike">
              <a:solidFill>
                <a:srgbClr val="ffffff"/>
              </a:solidFill>
              <a:latin typeface="Arial"/>
            </a:endParaRPr>
          </a:p>
        </p:txBody>
      </p:sp>
      <p:sp>
        <p:nvSpPr>
          <p:cNvPr id="135"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pitch you've already heard</a:t>
            </a:r>
            <a:endParaRPr b="0" lang="en-US" sz="2800" spc="-1" strike="noStrike">
              <a:solidFill>
                <a:srgbClr val="ffffff"/>
              </a:solidFill>
              <a:latin typeface="Arial"/>
            </a:endParaRPr>
          </a:p>
        </p:txBody>
      </p:sp>
      <p:sp>
        <p:nvSpPr>
          <p:cNvPr id="136" name="Text 2"/>
          <p:cNvSpPr/>
          <p:nvPr/>
        </p:nvSpPr>
        <p:spPr>
          <a:xfrm>
            <a:off x="548640" y="1600200"/>
            <a:ext cx="11062800" cy="501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i="1" lang="en-US" sz="1300" spc="-1" strike="noStrike">
                <a:solidFill>
                  <a:srgbClr val="9aa4b8"/>
                </a:solidFill>
                <a:latin typeface="Arial"/>
                <a:ea typeface="Arial"/>
              </a:rPr>
              <a:t>"Rust prevents memory-safety bugs." True — but you've heard it a hundred times, and you already have tools for this.</a:t>
            </a:r>
            <a:endParaRPr b="0" lang="en-US" sz="1300" spc="-1" strike="noStrike">
              <a:solidFill>
                <a:srgbClr val="ffffff"/>
              </a:solidFill>
              <a:latin typeface="Arial"/>
            </a:endParaRPr>
          </a:p>
        </p:txBody>
      </p:sp>
      <p:sp>
        <p:nvSpPr>
          <p:cNvPr id="137" name="Shape 3"/>
          <p:cNvSpPr/>
          <p:nvPr/>
        </p:nvSpPr>
        <p:spPr>
          <a:xfrm>
            <a:off x="548640" y="222192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8" name="Shape 4"/>
          <p:cNvSpPr/>
          <p:nvPr/>
        </p:nvSpPr>
        <p:spPr>
          <a:xfrm>
            <a:off x="777240" y="27403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9" name="Text 5"/>
          <p:cNvSpPr/>
          <p:nvPr/>
        </p:nvSpPr>
        <p:spPr>
          <a:xfrm>
            <a:off x="1143000" y="222192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Use-after-free, double-free, buffer overflows:  </a:t>
            </a:r>
            <a:r>
              <a:rPr b="0" lang="en-US" sz="1200" spc="-1" strike="noStrike">
                <a:solidFill>
                  <a:srgbClr val="9aa4b8"/>
                </a:solidFill>
                <a:latin typeface="Arial"/>
                <a:ea typeface="Arial"/>
              </a:rPr>
              <a:t>eliminated in safe Rust at compile time, not caught in CI.</a:t>
            </a:r>
            <a:endParaRPr b="0" lang="en-US" sz="1200" spc="-1" strike="noStrike">
              <a:solidFill>
                <a:srgbClr val="ffffff"/>
              </a:solidFill>
              <a:latin typeface="Arial"/>
            </a:endParaRPr>
          </a:p>
        </p:txBody>
      </p:sp>
      <p:sp>
        <p:nvSpPr>
          <p:cNvPr id="140" name="Shape 6"/>
          <p:cNvSpPr/>
          <p:nvPr/>
        </p:nvSpPr>
        <p:spPr>
          <a:xfrm>
            <a:off x="548640" y="356904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1" name="Shape 7"/>
          <p:cNvSpPr/>
          <p:nvPr/>
        </p:nvSpPr>
        <p:spPr>
          <a:xfrm>
            <a:off x="777240" y="408744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2" name="Text 8"/>
          <p:cNvSpPr/>
          <p:nvPr/>
        </p:nvSpPr>
        <p:spPr>
          <a:xfrm>
            <a:off x="1143000" y="356904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Data races on shared memory:  </a:t>
            </a:r>
            <a:r>
              <a:rPr b="0" lang="en-US" sz="1200" spc="-1" strike="noStrike">
                <a:solidFill>
                  <a:srgbClr val="9aa4b8"/>
                </a:solidFill>
                <a:latin typeface="Arial"/>
                <a:ea typeface="Arial"/>
              </a:rPr>
              <a:t>rejected by the type system, not by discipline or luck.</a:t>
            </a:r>
            <a:endParaRPr b="0" lang="en-US" sz="1200" spc="-1" strike="noStrike">
              <a:solidFill>
                <a:srgbClr val="ffffff"/>
              </a:solidFill>
              <a:latin typeface="Arial"/>
            </a:endParaRPr>
          </a:p>
        </p:txBody>
      </p:sp>
      <p:sp>
        <p:nvSpPr>
          <p:cNvPr id="143" name="Shape 9"/>
          <p:cNvSpPr/>
          <p:nvPr/>
        </p:nvSpPr>
        <p:spPr>
          <a:xfrm>
            <a:off x="548640" y="491652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4" name="Shape 10"/>
          <p:cNvSpPr/>
          <p:nvPr/>
        </p:nvSpPr>
        <p:spPr>
          <a:xfrm>
            <a:off x="777240" y="543456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5" name="Text 11"/>
          <p:cNvSpPr/>
          <p:nvPr/>
        </p:nvSpPr>
        <p:spPr>
          <a:xfrm>
            <a:off x="1143000" y="491652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This talk assumes you already know this pitch.  </a:t>
            </a:r>
            <a:r>
              <a:rPr b="0" lang="en-US" sz="1200" spc="-1" strike="noStrike">
                <a:solidFill>
                  <a:srgbClr val="9aa4b8"/>
                </a:solidFill>
                <a:latin typeface="Arial"/>
                <a:ea typeface="Arial"/>
              </a:rPr>
              <a:t>We're here for the rest of the case.</a:t>
            </a:r>
            <a:endParaRPr b="0" lang="en-US" sz="1200" spc="-1" strike="noStrike">
              <a:solidFill>
                <a:srgbClr val="ffffff"/>
              </a:solidFill>
              <a:latin typeface="Arial"/>
            </a:endParaRPr>
          </a:p>
        </p:txBody>
      </p:sp>
      <p:sp>
        <p:nvSpPr>
          <p:cNvPr id="146" name="Text 12"/>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47" name="Text 13"/>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5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48"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WHY RUST? (BEYOND MEMORY SAFETY)</a:t>
            </a:r>
            <a:endParaRPr b="0" lang="en-US" sz="1300" spc="-1" strike="noStrike">
              <a:solidFill>
                <a:srgbClr val="ffffff"/>
              </a:solidFill>
              <a:latin typeface="Arial"/>
            </a:endParaRPr>
          </a:p>
        </p:txBody>
      </p:sp>
      <p:sp>
        <p:nvSpPr>
          <p:cNvPr id="149"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scale of the problem, in numbers</a:t>
            </a:r>
            <a:endParaRPr b="0" lang="en-US" sz="2800" spc="-1" strike="noStrike">
              <a:solidFill>
                <a:srgbClr val="ffffff"/>
              </a:solidFill>
              <a:latin typeface="Arial"/>
            </a:endParaRPr>
          </a:p>
        </p:txBody>
      </p:sp>
      <p:sp>
        <p:nvSpPr>
          <p:cNvPr id="150" name="Text 2"/>
          <p:cNvSpPr/>
          <p:nvPr/>
        </p:nvSpPr>
        <p:spPr>
          <a:xfrm>
            <a:off x="548640" y="1554480"/>
            <a:ext cx="11062800" cy="455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250" spc="-1" strike="noStrike">
                <a:solidFill>
                  <a:srgbClr val="9aa4b8"/>
                </a:solidFill>
                <a:latin typeface="Arial"/>
                <a:ea typeface="Arial"/>
              </a:rPr>
              <a:t>Independent of how good your C++ team is, the industry-wide base rate is stark.</a:t>
            </a:r>
            <a:endParaRPr b="0" lang="en-US" sz="1250" spc="-1" strike="noStrike">
              <a:solidFill>
                <a:srgbClr val="ffffff"/>
              </a:solidFill>
              <a:latin typeface="Arial"/>
            </a:endParaRPr>
          </a:p>
        </p:txBody>
      </p:sp>
      <p:sp>
        <p:nvSpPr>
          <p:cNvPr id="151" name="Shape 3"/>
          <p:cNvSpPr/>
          <p:nvPr/>
        </p:nvSpPr>
        <p:spPr>
          <a:xfrm>
            <a:off x="548640" y="2286000"/>
            <a:ext cx="3442680" cy="3016080"/>
          </a:xfrm>
          <a:prstGeom prst="roundRect">
            <a:avLst>
              <a:gd name="adj" fmla="val 2727"/>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2" name="Text 4"/>
          <p:cNvSpPr/>
          <p:nvPr/>
        </p:nvSpPr>
        <p:spPr>
          <a:xfrm>
            <a:off x="685800" y="2606040"/>
            <a:ext cx="3168360" cy="1004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4000" spc="-1" strike="noStrike">
                <a:solidFill>
                  <a:srgbClr val="e8804f"/>
                </a:solidFill>
                <a:latin typeface="Arial"/>
                <a:ea typeface="Arial"/>
              </a:rPr>
              <a:t>~70%</a:t>
            </a:r>
            <a:endParaRPr b="0" lang="en-US" sz="4000" spc="-1" strike="noStrike">
              <a:solidFill>
                <a:srgbClr val="ffffff"/>
              </a:solidFill>
              <a:latin typeface="Arial"/>
            </a:endParaRPr>
          </a:p>
        </p:txBody>
      </p:sp>
      <p:sp>
        <p:nvSpPr>
          <p:cNvPr id="153" name="Text 5"/>
          <p:cNvSpPr/>
          <p:nvPr/>
        </p:nvSpPr>
        <p:spPr>
          <a:xfrm>
            <a:off x="777240" y="3657600"/>
            <a:ext cx="2985480" cy="1004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25000"/>
              </a:lnSpc>
              <a:tabLst>
                <a:tab algn="l" pos="0"/>
              </a:tabLst>
            </a:pPr>
            <a:r>
              <a:rPr b="0" lang="en-US" sz="1300" spc="-1" strike="noStrike">
                <a:solidFill>
                  <a:srgbClr val="edeff4"/>
                </a:solidFill>
                <a:latin typeface="Arial"/>
                <a:ea typeface="Arial"/>
              </a:rPr>
              <a:t>of high-severity security vulnerabilities in large C/C++ codebases are memory-safety issues</a:t>
            </a:r>
            <a:endParaRPr b="0" lang="en-US" sz="1300" spc="-1" strike="noStrike">
              <a:solidFill>
                <a:srgbClr val="ffffff"/>
              </a:solidFill>
              <a:latin typeface="Arial"/>
            </a:endParaRPr>
          </a:p>
        </p:txBody>
      </p:sp>
      <p:sp>
        <p:nvSpPr>
          <p:cNvPr id="154" name="Text 6"/>
          <p:cNvSpPr/>
          <p:nvPr/>
        </p:nvSpPr>
        <p:spPr>
          <a:xfrm>
            <a:off x="777240" y="4800600"/>
            <a:ext cx="2985480" cy="410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i="1" lang="en-US" sz="950" spc="-1" strike="noStrike">
                <a:solidFill>
                  <a:srgbClr val="9aa4b8"/>
                </a:solidFill>
                <a:latin typeface="Arial"/>
                <a:ea typeface="Arial"/>
              </a:rPr>
              <a:t>Microsoft Security Response Center, 2019</a:t>
            </a:r>
            <a:endParaRPr b="0" lang="en-US" sz="950" spc="-1" strike="noStrike">
              <a:solidFill>
                <a:srgbClr val="ffffff"/>
              </a:solidFill>
              <a:latin typeface="Arial"/>
            </a:endParaRPr>
          </a:p>
        </p:txBody>
      </p:sp>
      <p:sp>
        <p:nvSpPr>
          <p:cNvPr id="155" name="Shape 7"/>
          <p:cNvSpPr/>
          <p:nvPr/>
        </p:nvSpPr>
        <p:spPr>
          <a:xfrm>
            <a:off x="4358520" y="2286000"/>
            <a:ext cx="3442680" cy="3016080"/>
          </a:xfrm>
          <a:prstGeom prst="roundRect">
            <a:avLst>
              <a:gd name="adj" fmla="val 2727"/>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6" name="Text 8"/>
          <p:cNvSpPr/>
          <p:nvPr/>
        </p:nvSpPr>
        <p:spPr>
          <a:xfrm>
            <a:off x="4495680" y="2606040"/>
            <a:ext cx="3168360" cy="1004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4000" spc="-1" strike="noStrike">
                <a:solidFill>
                  <a:srgbClr val="e8804f"/>
                </a:solidFill>
                <a:latin typeface="Arial"/>
                <a:ea typeface="Arial"/>
              </a:rPr>
              <a:t>~70%</a:t>
            </a:r>
            <a:endParaRPr b="0" lang="en-US" sz="4000" spc="-1" strike="noStrike">
              <a:solidFill>
                <a:srgbClr val="ffffff"/>
              </a:solidFill>
              <a:latin typeface="Arial"/>
            </a:endParaRPr>
          </a:p>
        </p:txBody>
      </p:sp>
      <p:sp>
        <p:nvSpPr>
          <p:cNvPr id="157" name="Text 9"/>
          <p:cNvSpPr/>
          <p:nvPr/>
        </p:nvSpPr>
        <p:spPr>
          <a:xfrm>
            <a:off x="4587120" y="3657600"/>
            <a:ext cx="2985480" cy="1004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25000"/>
              </a:lnSpc>
              <a:tabLst>
                <a:tab algn="l" pos="0"/>
              </a:tabLst>
            </a:pPr>
            <a:r>
              <a:rPr b="0" lang="en-US" sz="1300" spc="-1" strike="noStrike">
                <a:solidFill>
                  <a:srgbClr val="edeff4"/>
                </a:solidFill>
                <a:latin typeface="Arial"/>
                <a:ea typeface="Arial"/>
              </a:rPr>
              <a:t>of Android's memory-safety vulnerabilities traced to C/C++ code, before the shift to Rust in new code</a:t>
            </a:r>
            <a:endParaRPr b="0" lang="en-US" sz="1300" spc="-1" strike="noStrike">
              <a:solidFill>
                <a:srgbClr val="ffffff"/>
              </a:solidFill>
              <a:latin typeface="Arial"/>
            </a:endParaRPr>
          </a:p>
        </p:txBody>
      </p:sp>
      <p:sp>
        <p:nvSpPr>
          <p:cNvPr id="158" name="Text 10"/>
          <p:cNvSpPr/>
          <p:nvPr/>
        </p:nvSpPr>
        <p:spPr>
          <a:xfrm>
            <a:off x="4587120" y="4800600"/>
            <a:ext cx="2985480" cy="410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i="1" lang="en-US" sz="950" spc="-1" strike="noStrike">
                <a:solidFill>
                  <a:srgbClr val="9aa4b8"/>
                </a:solidFill>
                <a:latin typeface="Arial"/>
                <a:ea typeface="Arial"/>
              </a:rPr>
              <a:t>Google Android Security, 2022</a:t>
            </a:r>
            <a:endParaRPr b="0" lang="en-US" sz="950" spc="-1" strike="noStrike">
              <a:solidFill>
                <a:srgbClr val="ffffff"/>
              </a:solidFill>
              <a:latin typeface="Arial"/>
            </a:endParaRPr>
          </a:p>
        </p:txBody>
      </p:sp>
      <p:sp>
        <p:nvSpPr>
          <p:cNvPr id="159" name="Shape 11"/>
          <p:cNvSpPr/>
          <p:nvPr/>
        </p:nvSpPr>
        <p:spPr>
          <a:xfrm>
            <a:off x="8168760" y="2286000"/>
            <a:ext cx="3442680" cy="3016080"/>
          </a:xfrm>
          <a:prstGeom prst="roundRect">
            <a:avLst>
              <a:gd name="adj" fmla="val 2727"/>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0" name="Text 12"/>
          <p:cNvSpPr/>
          <p:nvPr/>
        </p:nvSpPr>
        <p:spPr>
          <a:xfrm>
            <a:off x="8305920" y="2606040"/>
            <a:ext cx="3168360" cy="1004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4000" spc="-1" strike="noStrike">
                <a:solidFill>
                  <a:srgbClr val="e8804f"/>
                </a:solidFill>
                <a:latin typeface="Arial"/>
                <a:ea typeface="Arial"/>
              </a:rPr>
              <a:t>$0</a:t>
            </a:r>
            <a:endParaRPr b="0" lang="en-US" sz="4000" spc="-1" strike="noStrike">
              <a:solidFill>
                <a:srgbClr val="ffffff"/>
              </a:solidFill>
              <a:latin typeface="Arial"/>
            </a:endParaRPr>
          </a:p>
        </p:txBody>
      </p:sp>
      <p:sp>
        <p:nvSpPr>
          <p:cNvPr id="161" name="Text 13"/>
          <p:cNvSpPr/>
          <p:nvPr/>
        </p:nvSpPr>
        <p:spPr>
          <a:xfrm>
            <a:off x="8397360" y="3657600"/>
            <a:ext cx="2985480" cy="1004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25000"/>
              </a:lnSpc>
              <a:tabLst>
                <a:tab algn="l" pos="0"/>
              </a:tabLst>
            </a:pPr>
            <a:r>
              <a:rPr b="0" lang="en-US" sz="1300" spc="-1" strike="noStrike">
                <a:solidFill>
                  <a:srgbClr val="edeff4"/>
                </a:solidFill>
                <a:latin typeface="Arial"/>
                <a:ea typeface="Arial"/>
              </a:rPr>
              <a:t>memory-safety CVEs reported in Android's Rust code to date, across hundreds of thousands of lines</a:t>
            </a:r>
            <a:endParaRPr b="0" lang="en-US" sz="1300" spc="-1" strike="noStrike">
              <a:solidFill>
                <a:srgbClr val="ffffff"/>
              </a:solidFill>
              <a:latin typeface="Arial"/>
            </a:endParaRPr>
          </a:p>
        </p:txBody>
      </p:sp>
      <p:sp>
        <p:nvSpPr>
          <p:cNvPr id="162" name="Text 14"/>
          <p:cNvSpPr/>
          <p:nvPr/>
        </p:nvSpPr>
        <p:spPr>
          <a:xfrm>
            <a:off x="8397360" y="4800600"/>
            <a:ext cx="2985480" cy="410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i="1" lang="en-US" sz="950" spc="-1" strike="noStrike">
                <a:solidFill>
                  <a:srgbClr val="9aa4b8"/>
                </a:solidFill>
                <a:latin typeface="Arial"/>
                <a:ea typeface="Arial"/>
              </a:rPr>
              <a:t>Google Security Blog, 2024</a:t>
            </a:r>
            <a:endParaRPr b="0" lang="en-US" sz="950" spc="-1" strike="noStrike">
              <a:solidFill>
                <a:srgbClr val="ffffff"/>
              </a:solidFill>
              <a:latin typeface="Arial"/>
            </a:endParaRPr>
          </a:p>
        </p:txBody>
      </p:sp>
      <p:sp>
        <p:nvSpPr>
          <p:cNvPr id="163" name="Text 15"/>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64" name="Text 16"/>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6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65"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WHY RUST? (BEYOND MEMORY SAFETY)</a:t>
            </a:r>
            <a:endParaRPr b="0" lang="en-US" sz="1300" spc="-1" strike="noStrike">
              <a:solidFill>
                <a:srgbClr val="ffffff"/>
              </a:solidFill>
              <a:latin typeface="Arial"/>
            </a:endParaRPr>
          </a:p>
        </p:txBody>
      </p:sp>
      <p:sp>
        <p:nvSpPr>
          <p:cNvPr id="166" name="Text 1"/>
          <p:cNvSpPr/>
          <p:nvPr/>
        </p:nvSpPr>
        <p:spPr>
          <a:xfrm>
            <a:off x="457200" y="1188720"/>
            <a:ext cx="1370160" cy="1370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0" spc="-1" strike="noStrike">
                <a:solidFill>
                  <a:srgbClr val="202a40"/>
                </a:solidFill>
                <a:latin typeface="Arial"/>
                <a:ea typeface="Arial"/>
              </a:rPr>
              <a:t>“</a:t>
            </a:r>
            <a:endParaRPr b="0" lang="en-US" sz="9000" spc="-1" strike="noStrike">
              <a:solidFill>
                <a:srgbClr val="ffffff"/>
              </a:solidFill>
              <a:latin typeface="Arial"/>
            </a:endParaRPr>
          </a:p>
        </p:txBody>
      </p:sp>
      <p:sp>
        <p:nvSpPr>
          <p:cNvPr id="167" name="Text 2"/>
          <p:cNvSpPr/>
          <p:nvPr/>
        </p:nvSpPr>
        <p:spPr>
          <a:xfrm>
            <a:off x="1188720" y="2011680"/>
            <a:ext cx="9691200" cy="2193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35000"/>
              </a:lnSpc>
              <a:tabLst>
                <a:tab algn="l" pos="0"/>
              </a:tabLst>
            </a:pPr>
            <a:r>
              <a:rPr b="0" i="1" lang="en-US" sz="2500" spc="-1" strike="noStrike">
                <a:solidFill>
                  <a:srgbClr val="edeff4"/>
                </a:solidFill>
                <a:latin typeface="Arial"/>
                <a:ea typeface="Arial"/>
              </a:rPr>
              <a:t>Rust is one of those things where, if we can adopt it, ... it seems like a good idea, because clearly, the memory safety issues, memory ordering issues, in the kernel are much worse.</a:t>
            </a:r>
            <a:endParaRPr b="0" lang="en-US" sz="2500" spc="-1" strike="noStrike">
              <a:solidFill>
                <a:srgbClr val="ffffff"/>
              </a:solidFill>
              <a:latin typeface="Arial"/>
            </a:endParaRPr>
          </a:p>
        </p:txBody>
      </p:sp>
      <p:sp>
        <p:nvSpPr>
          <p:cNvPr id="168" name="Shape 3"/>
          <p:cNvSpPr/>
          <p:nvPr/>
        </p:nvSpPr>
        <p:spPr>
          <a:xfrm>
            <a:off x="1234440" y="4434840"/>
            <a:ext cx="548640" cy="360"/>
          </a:xfrm>
          <a:prstGeom prst="line">
            <a:avLst/>
          </a:prstGeom>
          <a:ln w="25400">
            <a:solidFill>
              <a:srgbClr val="ce422b"/>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69" name="Text 4"/>
          <p:cNvSpPr/>
          <p:nvPr/>
        </p:nvSpPr>
        <p:spPr>
          <a:xfrm>
            <a:off x="1188720" y="4572000"/>
            <a:ext cx="91425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e8804f"/>
                </a:solidFill>
                <a:latin typeface="Arial"/>
                <a:ea typeface="Arial"/>
              </a:rPr>
              <a:t>Linus Torvalds</a:t>
            </a:r>
            <a:endParaRPr b="0" lang="en-US" sz="1400" spc="-1" strike="noStrike">
              <a:solidFill>
                <a:srgbClr val="ffffff"/>
              </a:solidFill>
              <a:latin typeface="Arial"/>
            </a:endParaRPr>
          </a:p>
        </p:txBody>
      </p:sp>
      <p:sp>
        <p:nvSpPr>
          <p:cNvPr id="170" name="Text 5"/>
          <p:cNvSpPr/>
          <p:nvPr/>
        </p:nvSpPr>
        <p:spPr>
          <a:xfrm>
            <a:off x="1188720" y="4937760"/>
            <a:ext cx="9599760" cy="455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50" spc="-1" strike="noStrike">
                <a:solidFill>
                  <a:srgbClr val="9aa4b8"/>
                </a:solidFill>
                <a:latin typeface="Arial"/>
                <a:ea typeface="Arial"/>
              </a:rPr>
              <a:t>On Rust support merged into the Linux kernel, 2022</a:t>
            </a:r>
            <a:endParaRPr b="0" lang="en-US" sz="1150" spc="-1" strike="noStrike">
              <a:solidFill>
                <a:srgbClr val="ffffff"/>
              </a:solidFill>
              <a:latin typeface="Arial"/>
            </a:endParaRPr>
          </a:p>
        </p:txBody>
      </p:sp>
      <p:sp>
        <p:nvSpPr>
          <p:cNvPr id="171" name="Text 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72" name="Text 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7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73"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WHY RUST? (BEYOND MEMORY SAFETY)</a:t>
            </a:r>
            <a:endParaRPr b="0" lang="en-US" sz="1300" spc="-1" strike="noStrike">
              <a:solidFill>
                <a:srgbClr val="ffffff"/>
              </a:solidFill>
              <a:latin typeface="Arial"/>
            </a:endParaRPr>
          </a:p>
        </p:txBody>
      </p:sp>
      <p:sp>
        <p:nvSpPr>
          <p:cNvPr id="174"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You already do most of this in C++</a:t>
            </a:r>
            <a:endParaRPr b="0" lang="en-US" sz="2800" spc="-1" strike="noStrike">
              <a:solidFill>
                <a:srgbClr val="ffffff"/>
              </a:solidFill>
              <a:latin typeface="Arial"/>
            </a:endParaRPr>
          </a:p>
        </p:txBody>
      </p:sp>
      <p:sp>
        <p:nvSpPr>
          <p:cNvPr id="175" name="Text 2"/>
          <p:cNvSpPr/>
          <p:nvPr/>
        </p:nvSpPr>
        <p:spPr>
          <a:xfrm>
            <a:off x="548640" y="1600200"/>
            <a:ext cx="11062800" cy="501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i="1" lang="en-US" sz="1300" spc="-1" strike="noStrike">
                <a:solidFill>
                  <a:srgbClr val="9aa4b8"/>
                </a:solidFill>
                <a:latin typeface="Arial"/>
                <a:ea typeface="Arial"/>
              </a:rPr>
              <a:t>This is the honest starting point: modern C++ engineers aren't careless.</a:t>
            </a:r>
            <a:endParaRPr b="0" lang="en-US" sz="1300" spc="-1" strike="noStrike">
              <a:solidFill>
                <a:srgbClr val="ffffff"/>
              </a:solidFill>
              <a:latin typeface="Arial"/>
            </a:endParaRPr>
          </a:p>
        </p:txBody>
      </p:sp>
      <p:sp>
        <p:nvSpPr>
          <p:cNvPr id="176" name="Shape 3"/>
          <p:cNvSpPr/>
          <p:nvPr/>
        </p:nvSpPr>
        <p:spPr>
          <a:xfrm>
            <a:off x="548640" y="2221920"/>
            <a:ext cx="11062800" cy="899280"/>
          </a:xfrm>
          <a:prstGeom prst="roundRect">
            <a:avLst>
              <a:gd name="adj" fmla="val 7107"/>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7" name="Shape 4"/>
          <p:cNvSpPr/>
          <p:nvPr/>
        </p:nvSpPr>
        <p:spPr>
          <a:xfrm>
            <a:off x="777240" y="257184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8" name="Text 5"/>
          <p:cNvSpPr/>
          <p:nvPr/>
        </p:nvSpPr>
        <p:spPr>
          <a:xfrm>
            <a:off x="1143000" y="2221920"/>
            <a:ext cx="10239840" cy="899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RAII, smart pointers, move semantics:  </a:t>
            </a:r>
            <a:r>
              <a:rPr b="0" lang="en-US" sz="1200" spc="-1" strike="noStrike">
                <a:solidFill>
                  <a:srgbClr val="9aa4b8"/>
                </a:solidFill>
                <a:latin typeface="Arial"/>
                <a:ea typeface="Arial"/>
              </a:rPr>
              <a:t>you manage lifetime and ownership deliberately, by convention.</a:t>
            </a:r>
            <a:endParaRPr b="0" lang="en-US" sz="1200" spc="-1" strike="noStrike">
              <a:solidFill>
                <a:srgbClr val="ffffff"/>
              </a:solidFill>
              <a:latin typeface="Arial"/>
            </a:endParaRPr>
          </a:p>
        </p:txBody>
      </p:sp>
      <p:sp>
        <p:nvSpPr>
          <p:cNvPr id="179" name="Shape 6"/>
          <p:cNvSpPr/>
          <p:nvPr/>
        </p:nvSpPr>
        <p:spPr>
          <a:xfrm>
            <a:off x="548640" y="3232440"/>
            <a:ext cx="11062800" cy="899280"/>
          </a:xfrm>
          <a:prstGeom prst="roundRect">
            <a:avLst>
              <a:gd name="adj" fmla="val 7107"/>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0" name="Shape 7"/>
          <p:cNvSpPr/>
          <p:nvPr/>
        </p:nvSpPr>
        <p:spPr>
          <a:xfrm>
            <a:off x="777240" y="35820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1" name="Text 8"/>
          <p:cNvSpPr/>
          <p:nvPr/>
        </p:nvSpPr>
        <p:spPr>
          <a:xfrm>
            <a:off x="1143000" y="3232440"/>
            <a:ext cx="10239840" cy="899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Sanitizers (ASan, TSan, UBSan), Valgrind, static analyzers:  </a:t>
            </a:r>
            <a:r>
              <a:rPr b="0" lang="en-US" sz="1200" spc="-1" strike="noStrike">
                <a:solidFill>
                  <a:srgbClr val="9aa4b8"/>
                </a:solidFill>
                <a:latin typeface="Arial"/>
                <a:ea typeface="Arial"/>
              </a:rPr>
              <a:t>you catch what the compiler doesn't.</a:t>
            </a:r>
            <a:endParaRPr b="0" lang="en-US" sz="1200" spc="-1" strike="noStrike">
              <a:solidFill>
                <a:srgbClr val="ffffff"/>
              </a:solidFill>
              <a:latin typeface="Arial"/>
            </a:endParaRPr>
          </a:p>
        </p:txBody>
      </p:sp>
      <p:sp>
        <p:nvSpPr>
          <p:cNvPr id="182" name="Shape 9"/>
          <p:cNvSpPr/>
          <p:nvPr/>
        </p:nvSpPr>
        <p:spPr>
          <a:xfrm>
            <a:off x="548640" y="4242960"/>
            <a:ext cx="11062800" cy="899280"/>
          </a:xfrm>
          <a:prstGeom prst="roundRect">
            <a:avLst>
              <a:gd name="adj" fmla="val 7107"/>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3" name="Shape 10"/>
          <p:cNvSpPr/>
          <p:nvPr/>
        </p:nvSpPr>
        <p:spPr>
          <a:xfrm>
            <a:off x="777240" y="45925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4" name="Text 11"/>
          <p:cNvSpPr/>
          <p:nvPr/>
        </p:nvSpPr>
        <p:spPr>
          <a:xfrm>
            <a:off x="1143000" y="4242960"/>
            <a:ext cx="10239840" cy="899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C++20 concepts, ranges, and modules:  </a:t>
            </a:r>
            <a:r>
              <a:rPr b="0" lang="en-US" sz="1200" spc="-1" strike="noStrike">
                <a:solidFill>
                  <a:srgbClr val="9aa4b8"/>
                </a:solidFill>
                <a:latin typeface="Arial"/>
                <a:ea typeface="Arial"/>
              </a:rPr>
              <a:t>you're already reaching for stronger compile-time guarantees.</a:t>
            </a:r>
            <a:endParaRPr b="0" lang="en-US" sz="1200" spc="-1" strike="noStrike">
              <a:solidFill>
                <a:srgbClr val="ffffff"/>
              </a:solidFill>
              <a:latin typeface="Arial"/>
            </a:endParaRPr>
          </a:p>
        </p:txBody>
      </p:sp>
      <p:sp>
        <p:nvSpPr>
          <p:cNvPr id="185" name="Shape 12"/>
          <p:cNvSpPr/>
          <p:nvPr/>
        </p:nvSpPr>
        <p:spPr>
          <a:xfrm>
            <a:off x="548640" y="5253120"/>
            <a:ext cx="11062800" cy="899280"/>
          </a:xfrm>
          <a:prstGeom prst="roundRect">
            <a:avLst>
              <a:gd name="adj" fmla="val 7107"/>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6" name="Shape 13"/>
          <p:cNvSpPr/>
          <p:nvPr/>
        </p:nvSpPr>
        <p:spPr>
          <a:xfrm>
            <a:off x="777240" y="560304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7" name="Text 14"/>
          <p:cNvSpPr/>
          <p:nvPr/>
        </p:nvSpPr>
        <p:spPr>
          <a:xfrm>
            <a:off x="1143000" y="5253120"/>
            <a:ext cx="10239840" cy="899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So the real question isn't "does C++ have tools?"  </a:t>
            </a:r>
            <a:r>
              <a:rPr b="0" lang="en-US" sz="1200" spc="-1" strike="noStrike">
                <a:solidFill>
                  <a:srgbClr val="9aa4b8"/>
                </a:solidFill>
                <a:latin typeface="Arial"/>
                <a:ea typeface="Arial"/>
              </a:rPr>
              <a:t>It's "where does discipline stop scaling?"</a:t>
            </a:r>
            <a:endParaRPr b="0" lang="en-US" sz="1200" spc="-1" strike="noStrike">
              <a:solidFill>
                <a:srgbClr val="ffffff"/>
              </a:solidFill>
              <a:latin typeface="Arial"/>
            </a:endParaRPr>
          </a:p>
        </p:txBody>
      </p:sp>
      <p:sp>
        <p:nvSpPr>
          <p:cNvPr id="188" name="Text 15"/>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89" name="Text 16"/>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8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90"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WHY RUST?</a:t>
            </a:r>
            <a:endParaRPr b="0" lang="en-US" sz="1300" spc="-1" strike="noStrike">
              <a:solidFill>
                <a:srgbClr val="ffffff"/>
              </a:solidFill>
              <a:latin typeface="Arial"/>
            </a:endParaRPr>
          </a:p>
        </p:txBody>
      </p:sp>
      <p:sp>
        <p:nvSpPr>
          <p:cNvPr id="191"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Where the check happens, not just whether it happens</a:t>
            </a:r>
            <a:endParaRPr b="0" lang="en-US" sz="2800" spc="-1" strike="noStrike">
              <a:solidFill>
                <a:srgbClr val="ffffff"/>
              </a:solidFill>
              <a:latin typeface="Arial"/>
            </a:endParaRPr>
          </a:p>
        </p:txBody>
      </p:sp>
      <p:sp>
        <p:nvSpPr>
          <p:cNvPr id="192"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3"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4"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95"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 + SANITIZERS</a:t>
            </a:r>
            <a:endParaRPr b="0" lang="en-US" sz="1300" spc="-1" strike="noStrike">
              <a:solidFill>
                <a:srgbClr val="ffffff"/>
              </a:solidFill>
              <a:latin typeface="Arial"/>
            </a:endParaRPr>
          </a:p>
        </p:txBody>
      </p:sp>
      <p:sp>
        <p:nvSpPr>
          <p:cNvPr id="196"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 ASan/TSan catch this...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...on a code path you</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actually exercised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runtime, in CI.</a:t>
            </a:r>
            <a:endParaRPr b="0" lang="en-US" sz="1200" spc="-1" strike="noStrike">
              <a:solidFill>
                <a:srgbClr val="ffffff"/>
              </a:solidFill>
              <a:latin typeface="Arial"/>
            </a:endParaRPr>
          </a:p>
        </p:txBody>
      </p:sp>
      <p:sp>
        <p:nvSpPr>
          <p:cNvPr id="197"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Sanitizers are excellent, but they only see the paths your tests execute. An untested branch ships the bug.</a:t>
            </a:r>
            <a:endParaRPr b="0" lang="en-US" sz="1100" spc="-1" strike="noStrike">
              <a:solidFill>
                <a:srgbClr val="ffffff"/>
              </a:solidFill>
              <a:latin typeface="Arial"/>
            </a:endParaRPr>
          </a:p>
        </p:txBody>
      </p:sp>
      <p:sp>
        <p:nvSpPr>
          <p:cNvPr id="198"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9"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0"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201"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202"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 The borrow checker sees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EVERY path, including</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ones no test hits,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before the binary exists.</a:t>
            </a:r>
            <a:endParaRPr b="0" lang="en-US" sz="1200" spc="-1" strike="noStrike">
              <a:solidFill>
                <a:srgbClr val="ffffff"/>
              </a:solidFill>
              <a:latin typeface="Arial"/>
            </a:endParaRPr>
          </a:p>
        </p:txBody>
      </p:sp>
      <p:sp>
        <p:nvSpPr>
          <p:cNvPr id="203"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The analysis is static and exhaustive over the whole function, not just the paths a test suite happens to walk.</a:t>
            </a:r>
            <a:endParaRPr b="0" lang="en-US" sz="1100" spc="-1" strike="noStrike">
              <a:solidFill>
                <a:srgbClr val="ffffff"/>
              </a:solidFill>
              <a:latin typeface="Arial"/>
            </a:endParaRPr>
          </a:p>
        </p:txBody>
      </p:sp>
      <p:sp>
        <p:nvSpPr>
          <p:cNvPr id="204"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5"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Runtime detection is bounded by test coverage; compile-time checking is bounded by nothing but the code itself.</a:t>
            </a:r>
            <a:endParaRPr b="0" lang="en-US" sz="1150" spc="-1" strike="noStrike">
              <a:solidFill>
                <a:srgbClr val="ffffff"/>
              </a:solidFill>
              <a:latin typeface="Arial"/>
            </a:endParaRPr>
          </a:p>
        </p:txBody>
      </p:sp>
      <p:sp>
        <p:nvSpPr>
          <p:cNvPr id="206"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07"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9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08"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WHY RUST? (BEYOND MEMORY SAFETY)</a:t>
            </a:r>
            <a:endParaRPr b="0" lang="en-US" sz="1300" spc="-1" strike="noStrike">
              <a:solidFill>
                <a:srgbClr val="ffffff"/>
              </a:solidFill>
              <a:latin typeface="Arial"/>
            </a:endParaRPr>
          </a:p>
        </p:txBody>
      </p:sp>
      <p:sp>
        <p:nvSpPr>
          <p:cNvPr id="209"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Fearless concurrency: the argument beyond memory safety</a:t>
            </a:r>
            <a:endParaRPr b="0" lang="en-US" sz="2800" spc="-1" strike="noStrike">
              <a:solidFill>
                <a:srgbClr val="ffffff"/>
              </a:solidFill>
              <a:latin typeface="Arial"/>
            </a:endParaRPr>
          </a:p>
        </p:txBody>
      </p:sp>
      <p:sp>
        <p:nvSpPr>
          <p:cNvPr id="210" name="Text 2"/>
          <p:cNvSpPr/>
          <p:nvPr/>
        </p:nvSpPr>
        <p:spPr>
          <a:xfrm>
            <a:off x="548640" y="1600200"/>
            <a:ext cx="11062800" cy="501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i="1" lang="en-US" sz="1300" spc="-1" strike="noStrike">
                <a:solidFill>
                  <a:srgbClr val="9aa4b8"/>
                </a:solidFill>
                <a:latin typeface="Arial"/>
                <a:ea typeface="Arial"/>
              </a:rPr>
              <a:t>This is the case that tends to land hardest with experienced C++ engineers.</a:t>
            </a:r>
            <a:endParaRPr b="0" lang="en-US" sz="1300" spc="-1" strike="noStrike">
              <a:solidFill>
                <a:srgbClr val="ffffff"/>
              </a:solidFill>
              <a:latin typeface="Arial"/>
            </a:endParaRPr>
          </a:p>
        </p:txBody>
      </p:sp>
      <p:sp>
        <p:nvSpPr>
          <p:cNvPr id="211" name="Shape 3"/>
          <p:cNvSpPr/>
          <p:nvPr/>
        </p:nvSpPr>
        <p:spPr>
          <a:xfrm>
            <a:off x="548640" y="222192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2" name="Shape 4"/>
          <p:cNvSpPr/>
          <p:nvPr/>
        </p:nvSpPr>
        <p:spPr>
          <a:xfrm>
            <a:off x="777240" y="27403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3" name="Text 5"/>
          <p:cNvSpPr/>
          <p:nvPr/>
        </p:nvSpPr>
        <p:spPr>
          <a:xfrm>
            <a:off x="1143000" y="222192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shared_ptr does not stop a data race.  </a:t>
            </a:r>
            <a:r>
              <a:rPr b="0" lang="en-US" sz="1200" spc="-1" strike="noStrike">
                <a:solidFill>
                  <a:srgbClr val="9aa4b8"/>
                </a:solidFill>
                <a:latin typeface="Arial"/>
                <a:ea typeface="Arial"/>
              </a:rPr>
              <a:t>Reference counting is thread-safe; the pointee's mutation is not.</a:t>
            </a:r>
            <a:endParaRPr b="0" lang="en-US" sz="1200" spc="-1" strike="noStrike">
              <a:solidFill>
                <a:srgbClr val="ffffff"/>
              </a:solidFill>
              <a:latin typeface="Arial"/>
            </a:endParaRPr>
          </a:p>
        </p:txBody>
      </p:sp>
      <p:sp>
        <p:nvSpPr>
          <p:cNvPr id="214" name="Shape 6"/>
          <p:cNvSpPr/>
          <p:nvPr/>
        </p:nvSpPr>
        <p:spPr>
          <a:xfrm>
            <a:off x="548640" y="356904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5" name="Shape 7"/>
          <p:cNvSpPr/>
          <p:nvPr/>
        </p:nvSpPr>
        <p:spPr>
          <a:xfrm>
            <a:off x="777240" y="408744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6" name="Text 8"/>
          <p:cNvSpPr/>
          <p:nvPr/>
        </p:nvSpPr>
        <p:spPr>
          <a:xfrm>
            <a:off x="1143000" y="356904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A mutex protects data only if every access path remembers to take it.  </a:t>
            </a:r>
            <a:r>
              <a:rPr b="0" lang="en-US" sz="1200" spc="-1" strike="noStrike">
                <a:solidFill>
                  <a:srgbClr val="9aa4b8"/>
                </a:solidFill>
                <a:latin typeface="Arial"/>
                <a:ea typeface="Arial"/>
              </a:rPr>
              <a:t>Nothing enforces that convention.</a:t>
            </a:r>
            <a:endParaRPr b="0" lang="en-US" sz="1200" spc="-1" strike="noStrike">
              <a:solidFill>
                <a:srgbClr val="ffffff"/>
              </a:solidFill>
              <a:latin typeface="Arial"/>
            </a:endParaRPr>
          </a:p>
        </p:txBody>
      </p:sp>
      <p:sp>
        <p:nvSpPr>
          <p:cNvPr id="217" name="Shape 9"/>
          <p:cNvSpPr/>
          <p:nvPr/>
        </p:nvSpPr>
        <p:spPr>
          <a:xfrm>
            <a:off x="548640" y="491652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8" name="Shape 10"/>
          <p:cNvSpPr/>
          <p:nvPr/>
        </p:nvSpPr>
        <p:spPr>
          <a:xfrm>
            <a:off x="777240" y="543456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9" name="Text 11"/>
          <p:cNvSpPr/>
          <p:nvPr/>
        </p:nvSpPr>
        <p:spPr>
          <a:xfrm>
            <a:off x="1143000" y="491652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Rust's Send and Sync traits make thread-safety part of the type,  </a:t>
            </a:r>
            <a:r>
              <a:rPr b="0" lang="en-US" sz="1200" spc="-1" strike="noStrike">
                <a:solidFill>
                  <a:srgbClr val="9aa4b8"/>
                </a:solidFill>
                <a:latin typeface="Arial"/>
                <a:ea typeface="Arial"/>
              </a:rPr>
              <a:t>so "forgot to lock" becomes a compile error, not a 3 a.m. page.</a:t>
            </a:r>
            <a:endParaRPr b="0" lang="en-US" sz="1200" spc="-1" strike="noStrike">
              <a:solidFill>
                <a:srgbClr val="ffffff"/>
              </a:solidFill>
              <a:latin typeface="Arial"/>
            </a:endParaRPr>
          </a:p>
        </p:txBody>
      </p:sp>
      <p:sp>
        <p:nvSpPr>
          <p:cNvPr id="220" name="Text 12"/>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21" name="Text 13"/>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10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2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WHY RUST?</a:t>
            </a:r>
            <a:endParaRPr b="0" lang="en-US" sz="1300" spc="-1" strike="noStrike">
              <a:solidFill>
                <a:srgbClr val="ffffff"/>
              </a:solidFill>
              <a:latin typeface="Arial"/>
            </a:endParaRPr>
          </a:p>
        </p:txBody>
      </p:sp>
      <p:sp>
        <p:nvSpPr>
          <p:cNvPr id="223"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Mutex discipline vs. mutex enforcement</a:t>
            </a:r>
            <a:endParaRPr b="0" lang="en-US" sz="2800" spc="-1" strike="noStrike">
              <a:solidFill>
                <a:srgbClr val="ffffff"/>
              </a:solidFill>
              <a:latin typeface="Arial"/>
            </a:endParaRPr>
          </a:p>
        </p:txBody>
      </p:sp>
      <p:sp>
        <p:nvSpPr>
          <p:cNvPr id="224"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5"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6"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227"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228"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struct State { int val;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State* s = get_shared();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std::mutex m; // easy to</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forget to actually take it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s-&gt;val++;  // race if missed</a:t>
            </a:r>
            <a:endParaRPr b="0" lang="en-US" sz="1200" spc="-1" strike="noStrike">
              <a:solidFill>
                <a:srgbClr val="ffffff"/>
              </a:solidFill>
              <a:latin typeface="Arial"/>
            </a:endParaRPr>
          </a:p>
        </p:txBody>
      </p:sp>
      <p:sp>
        <p:nvSpPr>
          <p:cNvPr id="229"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The mutex and the data it protects are separate entities, connected only by a comment and a habit.</a:t>
            </a:r>
            <a:endParaRPr b="0" lang="en-US" sz="1100" spc="-1" strike="noStrike">
              <a:solidFill>
                <a:srgbClr val="ffffff"/>
              </a:solidFill>
              <a:latin typeface="Arial"/>
            </a:endParaRPr>
          </a:p>
        </p:txBody>
      </p:sp>
      <p:sp>
        <p:nvSpPr>
          <p:cNvPr id="230"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1"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2"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233"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234"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struct State { val: Mutex&lt;i32&gt;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let s = get_shared();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*s.val.lock().unwrap() += 1;</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can't touch val without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locking — no separate step</a:t>
            </a:r>
            <a:endParaRPr b="0" lang="en-US" sz="1200" spc="-1" strike="noStrike">
              <a:solidFill>
                <a:srgbClr val="ffffff"/>
              </a:solidFill>
              <a:latin typeface="Arial"/>
            </a:endParaRPr>
          </a:p>
        </p:txBody>
      </p:sp>
      <p:sp>
        <p:nvSpPr>
          <p:cNvPr id="235"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Mutex&lt;T&gt; owns the data it guards. There is no way to reach the i32 without going through the lock.</a:t>
            </a:r>
            <a:endParaRPr b="0" lang="en-US" sz="1100" spc="-1" strike="noStrike">
              <a:solidFill>
                <a:srgbClr val="ffffff"/>
              </a:solidFill>
              <a:latin typeface="Arial"/>
            </a:endParaRPr>
          </a:p>
        </p:txBody>
      </p:sp>
      <p:sp>
        <p:nvSpPr>
          <p:cNvPr id="236"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7"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Coupling the lock to the data it protects at the type level removes an entire class of forgotten-lock bugs.</a:t>
            </a:r>
            <a:endParaRPr b="0" lang="en-US" sz="1150" spc="-1" strike="noStrike">
              <a:solidFill>
                <a:srgbClr val="ffffff"/>
              </a:solidFill>
              <a:latin typeface="Arial"/>
            </a:endParaRPr>
          </a:p>
        </p:txBody>
      </p:sp>
      <p:sp>
        <p:nvSpPr>
          <p:cNvPr id="238"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39"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11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40"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WHY RUST?</a:t>
            </a:r>
            <a:endParaRPr b="0" lang="en-US" sz="1300" spc="-1" strike="noStrike">
              <a:solidFill>
                <a:srgbClr val="ffffff"/>
              </a:solidFill>
              <a:latin typeface="Arial"/>
            </a:endParaRPr>
          </a:p>
        </p:txBody>
      </p:sp>
      <p:sp>
        <p:nvSpPr>
          <p:cNvPr id="241"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Dependency &amp; build management</a:t>
            </a:r>
            <a:endParaRPr b="0" lang="en-US" sz="2800" spc="-1" strike="noStrike">
              <a:solidFill>
                <a:srgbClr val="ffffff"/>
              </a:solidFill>
              <a:latin typeface="Arial"/>
            </a:endParaRPr>
          </a:p>
        </p:txBody>
      </p:sp>
      <p:sp>
        <p:nvSpPr>
          <p:cNvPr id="242"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3"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4"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245"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CMAKE + VCPKG/CONAN</a:t>
            </a:r>
            <a:endParaRPr b="0" lang="en-US" sz="1300" spc="-1" strike="noStrike">
              <a:solidFill>
                <a:srgbClr val="ffffff"/>
              </a:solidFill>
              <a:latin typeface="Arial"/>
            </a:endParaRPr>
          </a:p>
        </p:txBody>
      </p:sp>
      <p:sp>
        <p:nvSpPr>
          <p:cNvPr id="246"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CMakeLists.txt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vcpkg.json / conanfile.txt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find_package(...)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target_link_libraries(...)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three tools, one graph</a:t>
            </a:r>
            <a:endParaRPr b="0" lang="en-US" sz="1200" spc="-1" strike="noStrike">
              <a:solidFill>
                <a:srgbClr val="ffffff"/>
              </a:solidFill>
              <a:latin typeface="Arial"/>
            </a:endParaRPr>
          </a:p>
        </p:txBody>
      </p:sp>
      <p:sp>
        <p:nvSpPr>
          <p:cNvPr id="247"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A working C++ project routinely juggles a build generator, a package manager, and manual find_package plumbing.</a:t>
            </a:r>
            <a:endParaRPr b="0" lang="en-US" sz="1100" spc="-1" strike="noStrike">
              <a:solidFill>
                <a:srgbClr val="ffffff"/>
              </a:solidFill>
              <a:latin typeface="Arial"/>
            </a:endParaRPr>
          </a:p>
        </p:txBody>
      </p:sp>
      <p:sp>
        <p:nvSpPr>
          <p:cNvPr id="248"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9"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0"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251"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CARGO</a:t>
            </a:r>
            <a:endParaRPr b="0" lang="en-US" sz="1300" spc="-1" strike="noStrike">
              <a:solidFill>
                <a:srgbClr val="ffffff"/>
              </a:solidFill>
              <a:latin typeface="Arial"/>
            </a:endParaRPr>
          </a:p>
        </p:txBody>
      </p:sp>
      <p:sp>
        <p:nvSpPr>
          <p:cNvPr id="252"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[dependencies]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serde = "1.0"</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tokio = { version = "1",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features = ["full"]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cargo build. that's it.</a:t>
            </a:r>
            <a:endParaRPr b="0" lang="en-US" sz="1200" spc="-1" strike="noStrike">
              <a:solidFill>
                <a:srgbClr val="ffffff"/>
              </a:solidFill>
              <a:latin typeface="Arial"/>
            </a:endParaRPr>
          </a:p>
        </p:txBody>
      </p:sp>
      <p:sp>
        <p:nvSpPr>
          <p:cNvPr id="253"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One manifest, one lockfile, one command. The package manager and the build system are the same tool.</a:t>
            </a:r>
            <a:endParaRPr b="0" lang="en-US" sz="1100" spc="-1" strike="noStrike">
              <a:solidFill>
                <a:srgbClr val="ffffff"/>
              </a:solidFill>
              <a:latin typeface="Arial"/>
            </a:endParaRPr>
          </a:p>
        </p:txBody>
      </p:sp>
      <p:sp>
        <p:nvSpPr>
          <p:cNvPr id="254"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5"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Less accidental complexity in the build graph means more engineering time spent on the actual problem.</a:t>
            </a:r>
            <a:endParaRPr b="0" lang="en-US" sz="1150" spc="-1" strike="noStrike">
              <a:solidFill>
                <a:srgbClr val="ffffff"/>
              </a:solidFill>
              <a:latin typeface="Arial"/>
            </a:endParaRPr>
          </a:p>
        </p:txBody>
      </p:sp>
      <p:sp>
        <p:nvSpPr>
          <p:cNvPr id="256"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57"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12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58"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WHY RUST? (BEYOND MEMORY SAFETY)</a:t>
            </a:r>
            <a:endParaRPr b="0" lang="en-US" sz="1300" spc="-1" strike="noStrike">
              <a:solidFill>
                <a:srgbClr val="ffffff"/>
              </a:solidFill>
              <a:latin typeface="Arial"/>
            </a:endParaRPr>
          </a:p>
        </p:txBody>
      </p:sp>
      <p:sp>
        <p:nvSpPr>
          <p:cNvPr id="259"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Supply chain &amp; build reproducibility</a:t>
            </a:r>
            <a:endParaRPr b="0" lang="en-US" sz="2800" spc="-1" strike="noStrike">
              <a:solidFill>
                <a:srgbClr val="ffffff"/>
              </a:solidFill>
              <a:latin typeface="Arial"/>
            </a:endParaRPr>
          </a:p>
        </p:txBody>
      </p:sp>
      <p:sp>
        <p:nvSpPr>
          <p:cNvPr id="260"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1"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2"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Cargo.lock pins the exact dependency graph,  </a:t>
            </a:r>
            <a:r>
              <a:rPr b="0" lang="en-US" sz="1200" spc="-1" strike="noStrike">
                <a:solidFill>
                  <a:srgbClr val="9aa4b8"/>
                </a:solidFill>
                <a:latin typeface="Arial"/>
                <a:ea typeface="Arial"/>
              </a:rPr>
              <a:t>byte-for-byte reproducible across machines and CI runners.</a:t>
            </a:r>
            <a:endParaRPr b="0" lang="en-US" sz="1200" spc="-1" strike="noStrike">
              <a:solidFill>
                <a:srgbClr val="ffffff"/>
              </a:solidFill>
              <a:latin typeface="Arial"/>
            </a:endParaRPr>
          </a:p>
        </p:txBody>
      </p:sp>
      <p:sp>
        <p:nvSpPr>
          <p:cNvPr id="263"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4"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5"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No ODR violations from mismatched header/library versions:  </a:t>
            </a:r>
            <a:r>
              <a:rPr b="0" lang="en-US" sz="1200" spc="-1" strike="noStrike">
                <a:solidFill>
                  <a:srgbClr val="9aa4b8"/>
                </a:solidFill>
                <a:latin typeface="Arial"/>
                <a:ea typeface="Arial"/>
              </a:rPr>
              <a:t>the compiler, not the linker, is the arbiter of correctness.</a:t>
            </a:r>
            <a:endParaRPr b="0" lang="en-US" sz="1200" spc="-1" strike="noStrike">
              <a:solidFill>
                <a:srgbClr val="ffffff"/>
              </a:solidFill>
              <a:latin typeface="Arial"/>
            </a:endParaRPr>
          </a:p>
        </p:txBody>
      </p:sp>
      <p:sp>
        <p:nvSpPr>
          <p:cNvPr id="266"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7"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8"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crates.io enforces immutable published versions,  </a:t>
            </a:r>
            <a:r>
              <a:rPr b="0" lang="en-US" sz="1200" spc="-1" strike="noStrike">
                <a:solidFill>
                  <a:srgbClr val="9aa4b8"/>
                </a:solidFill>
                <a:latin typeface="Arial"/>
                <a:ea typeface="Arial"/>
              </a:rPr>
              <a:t>so "it worked yesterday" failures from a mutated dependency don't happen.</a:t>
            </a:r>
            <a:endParaRPr b="0" lang="en-US" sz="1200" spc="-1" strike="noStrike">
              <a:solidFill>
                <a:srgbClr val="ffffff"/>
              </a:solidFill>
              <a:latin typeface="Arial"/>
            </a:endParaRPr>
          </a:p>
        </p:txBody>
      </p:sp>
      <p:sp>
        <p:nvSpPr>
          <p:cNvPr id="269"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70"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13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71"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WHY RUST?</a:t>
            </a:r>
            <a:endParaRPr b="0" lang="en-US" sz="1300" spc="-1" strike="noStrike">
              <a:solidFill>
                <a:srgbClr val="ffffff"/>
              </a:solidFill>
              <a:latin typeface="Arial"/>
            </a:endParaRPr>
          </a:p>
        </p:txBody>
      </p:sp>
      <p:sp>
        <p:nvSpPr>
          <p:cNvPr id="272"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Macro hygiene</a:t>
            </a:r>
            <a:endParaRPr b="0" lang="en-US" sz="2800" spc="-1" strike="noStrike">
              <a:solidFill>
                <a:srgbClr val="ffffff"/>
              </a:solidFill>
              <a:latin typeface="Arial"/>
            </a:endParaRPr>
          </a:p>
        </p:txBody>
      </p:sp>
      <p:sp>
        <p:nvSpPr>
          <p:cNvPr id="273"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74"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75"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276"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277"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#define MAX(a,b) ((a)&gt;(b)?(a):(b))</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int x = 5;</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MAX(x++, 3); // x incremented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twice — surprise</a:t>
            </a:r>
            <a:endParaRPr b="0" lang="en-US" sz="1200" spc="-1" strike="noStrike">
              <a:solidFill>
                <a:srgbClr val="ffffff"/>
              </a:solidFill>
              <a:latin typeface="Arial"/>
            </a:endParaRPr>
          </a:p>
        </p:txBody>
      </p:sp>
      <p:sp>
        <p:nvSpPr>
          <p:cNvPr id="278"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The preprocessor does blind text substitution before the compiler even sees C++ syntax. Side effects and name capture are landmines.</a:t>
            </a:r>
            <a:endParaRPr b="0" lang="en-US" sz="1100" spc="-1" strike="noStrike">
              <a:solidFill>
                <a:srgbClr val="ffffff"/>
              </a:solidFill>
              <a:latin typeface="Arial"/>
            </a:endParaRPr>
          </a:p>
        </p:txBody>
      </p:sp>
      <p:sp>
        <p:nvSpPr>
          <p:cNvPr id="279"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80"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81"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282"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283"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macro_rules! max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($a:expr, $b:expr) =&gt;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if $a &gt; $b { $a } else { $b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 hygienic: no name capture</a:t>
            </a:r>
            <a:endParaRPr b="0" lang="en-US" sz="1200" spc="-1" strike="noStrike">
              <a:solidFill>
                <a:srgbClr val="ffffff"/>
              </a:solidFill>
              <a:latin typeface="Arial"/>
            </a:endParaRPr>
          </a:p>
        </p:txBody>
      </p:sp>
      <p:sp>
        <p:nvSpPr>
          <p:cNvPr id="284"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Declarative macros operate on the syntax tree with hygiene: a macro's internal names can't accidentally collide with the caller's.</a:t>
            </a:r>
            <a:endParaRPr b="0" lang="en-US" sz="1100" spc="-1" strike="noStrike">
              <a:solidFill>
                <a:srgbClr val="ffffff"/>
              </a:solidFill>
              <a:latin typeface="Arial"/>
            </a:endParaRPr>
          </a:p>
        </p:txBody>
      </p:sp>
      <p:sp>
        <p:nvSpPr>
          <p:cNvPr id="285"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86"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Macro-related bugs in C++ are a well-known tax; Rust's macro system was designed after decades of watching that tax get paid.</a:t>
            </a:r>
            <a:endParaRPr b="0" lang="en-US" sz="1150" spc="-1" strike="noStrike">
              <a:solidFill>
                <a:srgbClr val="ffffff"/>
              </a:solidFill>
              <a:latin typeface="Arial"/>
            </a:endParaRPr>
          </a:p>
        </p:txBody>
      </p:sp>
      <p:sp>
        <p:nvSpPr>
          <p:cNvPr id="287"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88"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14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89"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WHY RUST? (BEYOND MEMORY SAFETY)</a:t>
            </a:r>
            <a:endParaRPr b="0" lang="en-US" sz="1300" spc="-1" strike="noStrike">
              <a:solidFill>
                <a:srgbClr val="ffffff"/>
              </a:solidFill>
              <a:latin typeface="Arial"/>
            </a:endParaRPr>
          </a:p>
        </p:txBody>
      </p:sp>
      <p:sp>
        <p:nvSpPr>
          <p:cNvPr id="290"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Trait coherence vs. overload resolution</a:t>
            </a:r>
            <a:endParaRPr b="0" lang="en-US" sz="2800" spc="-1" strike="noStrike">
              <a:solidFill>
                <a:srgbClr val="ffffff"/>
              </a:solidFill>
              <a:latin typeface="Arial"/>
            </a:endParaRPr>
          </a:p>
        </p:txBody>
      </p:sp>
      <p:sp>
        <p:nvSpPr>
          <p:cNvPr id="291"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92"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93"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C++ overload resolution involves ADL, two-phase lookup, and template deduction interacting;  </a:t>
            </a:r>
            <a:r>
              <a:rPr b="0" lang="en-US" sz="1200" spc="-1" strike="noStrike">
                <a:solidFill>
                  <a:srgbClr val="9aa4b8"/>
                </a:solidFill>
                <a:latin typeface="Arial"/>
                <a:ea typeface="Arial"/>
              </a:rPr>
              <a:t>genuinely one of the hardest parts of the standard to reason about.</a:t>
            </a:r>
            <a:endParaRPr b="0" lang="en-US" sz="1200" spc="-1" strike="noStrike">
              <a:solidFill>
                <a:srgbClr val="ffffff"/>
              </a:solidFill>
              <a:latin typeface="Arial"/>
            </a:endParaRPr>
          </a:p>
        </p:txBody>
      </p:sp>
      <p:sp>
        <p:nvSpPr>
          <p:cNvPr id="294"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95"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96"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Rust's trait coherence rules (the "orphan rule") guarantee  </a:t>
            </a:r>
            <a:r>
              <a:rPr b="0" lang="en-US" sz="1200" spc="-1" strike="noStrike">
                <a:solidFill>
                  <a:srgbClr val="9aa4b8"/>
                </a:solidFill>
                <a:latin typeface="Arial"/>
                <a:ea typeface="Arial"/>
              </a:rPr>
              <a:t>exactly one implementation of a trait for a type can exist, globally, ever.</a:t>
            </a:r>
            <a:endParaRPr b="0" lang="en-US" sz="1200" spc="-1" strike="noStrike">
              <a:solidFill>
                <a:srgbClr val="ffffff"/>
              </a:solidFill>
              <a:latin typeface="Arial"/>
            </a:endParaRPr>
          </a:p>
        </p:txBody>
      </p:sp>
      <p:sp>
        <p:nvSpPr>
          <p:cNvPr id="297"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98"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99"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The result: which code runs for foo(x) is a local, mechanical question,  </a:t>
            </a:r>
            <a:r>
              <a:rPr b="0" lang="en-US" sz="1200" spc="-1" strike="noStrike">
                <a:solidFill>
                  <a:srgbClr val="9aa4b8"/>
                </a:solidFill>
                <a:latin typeface="Arial"/>
                <a:ea typeface="Arial"/>
              </a:rPr>
              <a:t>not one that requires knowing every header transitively included.</a:t>
            </a:r>
            <a:endParaRPr b="0" lang="en-US" sz="1200" spc="-1" strike="noStrike">
              <a:solidFill>
                <a:srgbClr val="ffffff"/>
              </a:solidFill>
              <a:latin typeface="Arial"/>
            </a:endParaRPr>
          </a:p>
        </p:txBody>
      </p:sp>
      <p:sp>
        <p:nvSpPr>
          <p:cNvPr id="300"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301"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15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30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WHY RUST? (BEYOND MEMORY SAFETY)</a:t>
            </a:r>
            <a:endParaRPr b="0" lang="en-US" sz="1300" spc="-1" strike="noStrike">
              <a:solidFill>
                <a:srgbClr val="ffffff"/>
              </a:solidFill>
              <a:latin typeface="Arial"/>
            </a:endParaRPr>
          </a:p>
        </p:txBody>
      </p:sp>
      <p:sp>
        <p:nvSpPr>
          <p:cNvPr id="303"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Industry momentum</a:t>
            </a:r>
            <a:endParaRPr b="0" lang="en-US" sz="2800" spc="-1" strike="noStrike">
              <a:solidFill>
                <a:srgbClr val="ffffff"/>
              </a:solidFill>
              <a:latin typeface="Arial"/>
            </a:endParaRPr>
          </a:p>
        </p:txBody>
      </p:sp>
      <p:sp>
        <p:nvSpPr>
          <p:cNvPr id="304" name="Text 2"/>
          <p:cNvSpPr/>
          <p:nvPr/>
        </p:nvSpPr>
        <p:spPr>
          <a:xfrm>
            <a:off x="548640" y="1600200"/>
            <a:ext cx="11062800" cy="501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i="1" lang="en-US" sz="1300" spc="-1" strike="noStrike">
                <a:solidFill>
                  <a:srgbClr val="9aa4b8"/>
                </a:solidFill>
                <a:latin typeface="Arial"/>
                <a:ea typeface="Arial"/>
              </a:rPr>
              <a:t>This isn't a research language anymore — it's shipping in the places that used to be C++-only.</a:t>
            </a:r>
            <a:endParaRPr b="0" lang="en-US" sz="1300" spc="-1" strike="noStrike">
              <a:solidFill>
                <a:srgbClr val="ffffff"/>
              </a:solidFill>
              <a:latin typeface="Arial"/>
            </a:endParaRPr>
          </a:p>
        </p:txBody>
      </p:sp>
      <p:sp>
        <p:nvSpPr>
          <p:cNvPr id="305" name="Shape 3"/>
          <p:cNvSpPr/>
          <p:nvPr/>
        </p:nvSpPr>
        <p:spPr>
          <a:xfrm>
            <a:off x="548640" y="2221920"/>
            <a:ext cx="11062800" cy="899280"/>
          </a:xfrm>
          <a:prstGeom prst="roundRect">
            <a:avLst>
              <a:gd name="adj" fmla="val 7107"/>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06" name="Shape 4"/>
          <p:cNvSpPr/>
          <p:nvPr/>
        </p:nvSpPr>
        <p:spPr>
          <a:xfrm>
            <a:off x="777240" y="257184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07" name="Text 5"/>
          <p:cNvSpPr/>
          <p:nvPr/>
        </p:nvSpPr>
        <p:spPr>
          <a:xfrm>
            <a:off x="1143000" y="2221920"/>
            <a:ext cx="10239840" cy="899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Linux kernel:  </a:t>
            </a:r>
            <a:r>
              <a:rPr b="0" lang="en-US" sz="1200" spc="-1" strike="noStrike">
                <a:solidFill>
                  <a:srgbClr val="9aa4b8"/>
                </a:solidFill>
                <a:latin typeface="Arial"/>
                <a:ea typeface="Arial"/>
              </a:rPr>
              <a:t>Rust accepted as a second implementation language alongside C, starting 6.1.</a:t>
            </a:r>
            <a:endParaRPr b="0" lang="en-US" sz="1200" spc="-1" strike="noStrike">
              <a:solidFill>
                <a:srgbClr val="ffffff"/>
              </a:solidFill>
              <a:latin typeface="Arial"/>
            </a:endParaRPr>
          </a:p>
        </p:txBody>
      </p:sp>
      <p:sp>
        <p:nvSpPr>
          <p:cNvPr id="308" name="Shape 6"/>
          <p:cNvSpPr/>
          <p:nvPr/>
        </p:nvSpPr>
        <p:spPr>
          <a:xfrm>
            <a:off x="548640" y="3232440"/>
            <a:ext cx="11062800" cy="899280"/>
          </a:xfrm>
          <a:prstGeom prst="roundRect">
            <a:avLst>
              <a:gd name="adj" fmla="val 7107"/>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09" name="Shape 7"/>
          <p:cNvSpPr/>
          <p:nvPr/>
        </p:nvSpPr>
        <p:spPr>
          <a:xfrm>
            <a:off x="777240" y="35820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10" name="Text 8"/>
          <p:cNvSpPr/>
          <p:nvPr/>
        </p:nvSpPr>
        <p:spPr>
          <a:xfrm>
            <a:off x="1143000" y="3232440"/>
            <a:ext cx="10239840" cy="899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Android &amp; ChromeOS:  </a:t>
            </a:r>
            <a:r>
              <a:rPr b="0" lang="en-US" sz="1200" spc="-1" strike="noStrike">
                <a:solidFill>
                  <a:srgbClr val="9aa4b8"/>
                </a:solidFill>
                <a:latin typeface="Arial"/>
                <a:ea typeface="Arial"/>
              </a:rPr>
              <a:t>new native code written in Rust across the OS and platform layers.</a:t>
            </a:r>
            <a:endParaRPr b="0" lang="en-US" sz="1200" spc="-1" strike="noStrike">
              <a:solidFill>
                <a:srgbClr val="ffffff"/>
              </a:solidFill>
              <a:latin typeface="Arial"/>
            </a:endParaRPr>
          </a:p>
        </p:txBody>
      </p:sp>
      <p:sp>
        <p:nvSpPr>
          <p:cNvPr id="311" name="Shape 9"/>
          <p:cNvSpPr/>
          <p:nvPr/>
        </p:nvSpPr>
        <p:spPr>
          <a:xfrm>
            <a:off x="548640" y="4242960"/>
            <a:ext cx="11062800" cy="899280"/>
          </a:xfrm>
          <a:prstGeom prst="roundRect">
            <a:avLst>
              <a:gd name="adj" fmla="val 7107"/>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12" name="Shape 10"/>
          <p:cNvSpPr/>
          <p:nvPr/>
        </p:nvSpPr>
        <p:spPr>
          <a:xfrm>
            <a:off x="777240" y="45925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13" name="Text 11"/>
          <p:cNvSpPr/>
          <p:nvPr/>
        </p:nvSpPr>
        <p:spPr>
          <a:xfrm>
            <a:off x="1143000" y="4242960"/>
            <a:ext cx="10239840" cy="899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AWS, Microsoft Azure, Cloudflare, Discord, Dropbox:  </a:t>
            </a:r>
            <a:r>
              <a:rPr b="0" lang="en-US" sz="1200" spc="-1" strike="noStrike">
                <a:solidFill>
                  <a:srgbClr val="9aa4b8"/>
                </a:solidFill>
                <a:latin typeface="Arial"/>
                <a:ea typeface="Arial"/>
              </a:rPr>
              <a:t>Rust in production for performance-critical infrastructure.</a:t>
            </a:r>
            <a:endParaRPr b="0" lang="en-US" sz="1200" spc="-1" strike="noStrike">
              <a:solidFill>
                <a:srgbClr val="ffffff"/>
              </a:solidFill>
              <a:latin typeface="Arial"/>
            </a:endParaRPr>
          </a:p>
        </p:txBody>
      </p:sp>
      <p:sp>
        <p:nvSpPr>
          <p:cNvPr id="314" name="Shape 12"/>
          <p:cNvSpPr/>
          <p:nvPr/>
        </p:nvSpPr>
        <p:spPr>
          <a:xfrm>
            <a:off x="548640" y="5253120"/>
            <a:ext cx="11062800" cy="899280"/>
          </a:xfrm>
          <a:prstGeom prst="roundRect">
            <a:avLst>
              <a:gd name="adj" fmla="val 7107"/>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15" name="Shape 13"/>
          <p:cNvSpPr/>
          <p:nvPr/>
        </p:nvSpPr>
        <p:spPr>
          <a:xfrm>
            <a:off x="777240" y="560304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16" name="Text 14"/>
          <p:cNvSpPr/>
          <p:nvPr/>
        </p:nvSpPr>
        <p:spPr>
          <a:xfrm>
            <a:off x="1143000" y="5253120"/>
            <a:ext cx="10239840" cy="899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Windows kernel components:  </a:t>
            </a:r>
            <a:r>
              <a:rPr b="0" lang="en-US" sz="1200" spc="-1" strike="noStrike">
                <a:solidFill>
                  <a:srgbClr val="9aa4b8"/>
                </a:solidFill>
                <a:latin typeface="Arial"/>
                <a:ea typeface="Arial"/>
              </a:rPr>
              <a:t>Microsoft has been porting select low-level components to Rust.</a:t>
            </a:r>
            <a:endParaRPr b="0" lang="en-US" sz="1200" spc="-1" strike="noStrike">
              <a:solidFill>
                <a:srgbClr val="ffffff"/>
              </a:solidFill>
              <a:latin typeface="Arial"/>
            </a:endParaRPr>
          </a:p>
        </p:txBody>
      </p:sp>
      <p:sp>
        <p:nvSpPr>
          <p:cNvPr id="317" name="Text 15"/>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318" name="Text 16"/>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16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319"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WHY RUST? (BEYOND MEMORY SAFETY)</a:t>
            </a:r>
            <a:endParaRPr b="0" lang="en-US" sz="1300" spc="-1" strike="noStrike">
              <a:solidFill>
                <a:srgbClr val="ffffff"/>
              </a:solidFill>
              <a:latin typeface="Arial"/>
            </a:endParaRPr>
          </a:p>
        </p:txBody>
      </p:sp>
      <p:sp>
        <p:nvSpPr>
          <p:cNvPr id="320"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Government &amp; industry security guidance</a:t>
            </a:r>
            <a:endParaRPr b="0" lang="en-US" sz="2800" spc="-1" strike="noStrike">
              <a:solidFill>
                <a:srgbClr val="ffffff"/>
              </a:solidFill>
              <a:latin typeface="Arial"/>
            </a:endParaRPr>
          </a:p>
        </p:txBody>
      </p:sp>
      <p:sp>
        <p:nvSpPr>
          <p:cNvPr id="321"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22"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23"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U.S. Office of the National Cyber Director (2024):  </a:t>
            </a:r>
            <a:r>
              <a:rPr b="0" lang="en-US" sz="1200" spc="-1" strike="noStrike">
                <a:solidFill>
                  <a:srgbClr val="9aa4b8"/>
                </a:solidFill>
                <a:latin typeface="Arial"/>
                <a:ea typeface="Arial"/>
              </a:rPr>
              <a:t>urged industry to adopt memory-safe languages, naming Rust explicitly.</a:t>
            </a:r>
            <a:endParaRPr b="0" lang="en-US" sz="1200" spc="-1" strike="noStrike">
              <a:solidFill>
                <a:srgbClr val="ffffff"/>
              </a:solidFill>
              <a:latin typeface="Arial"/>
            </a:endParaRPr>
          </a:p>
        </p:txBody>
      </p:sp>
      <p:sp>
        <p:nvSpPr>
          <p:cNvPr id="324"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25"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26"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NSA Cybersecurity Information Sheet (2022):  </a:t>
            </a:r>
            <a:r>
              <a:rPr b="0" lang="en-US" sz="1200" spc="-1" strike="noStrike">
                <a:solidFill>
                  <a:srgbClr val="9aa4b8"/>
                </a:solidFill>
                <a:latin typeface="Arial"/>
                <a:ea typeface="Arial"/>
              </a:rPr>
              <a:t>recommended memory-safe languages for new development where possible.</a:t>
            </a:r>
            <a:endParaRPr b="0" lang="en-US" sz="1200" spc="-1" strike="noStrike">
              <a:solidFill>
                <a:srgbClr val="ffffff"/>
              </a:solidFill>
              <a:latin typeface="Arial"/>
            </a:endParaRPr>
          </a:p>
        </p:txBody>
      </p:sp>
      <p:sp>
        <p:nvSpPr>
          <p:cNvPr id="327"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28"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29"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This is now a procurement and compliance conversation,  </a:t>
            </a:r>
            <a:r>
              <a:rPr b="0" lang="en-US" sz="1200" spc="-1" strike="noStrike">
                <a:solidFill>
                  <a:srgbClr val="9aa4b8"/>
                </a:solidFill>
                <a:latin typeface="Arial"/>
                <a:ea typeface="Arial"/>
              </a:rPr>
              <a:t>not just an engineering-culture one.</a:t>
            </a:r>
            <a:endParaRPr b="0" lang="en-US" sz="1200" spc="-1" strike="noStrike">
              <a:solidFill>
                <a:srgbClr val="ffffff"/>
              </a:solidFill>
              <a:latin typeface="Arial"/>
            </a:endParaRPr>
          </a:p>
        </p:txBody>
      </p:sp>
      <p:sp>
        <p:nvSpPr>
          <p:cNvPr id="330"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331"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17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33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0b155"/>
                </a:solidFill>
                <a:latin typeface="Arial"/>
                <a:ea typeface="Arial"/>
              </a:rPr>
              <a:t>WHY RUST? (BEYOND MEMORY SAFETY)</a:t>
            </a:r>
            <a:endParaRPr b="0" lang="en-US" sz="1300" spc="-1" strike="noStrike">
              <a:solidFill>
                <a:srgbClr val="ffffff"/>
              </a:solidFill>
              <a:latin typeface="Arial"/>
            </a:endParaRPr>
          </a:p>
        </p:txBody>
      </p:sp>
      <p:sp>
        <p:nvSpPr>
          <p:cNvPr id="333" name="Text 1"/>
          <p:cNvSpPr/>
          <p:nvPr/>
        </p:nvSpPr>
        <p:spPr>
          <a:xfrm>
            <a:off x="548640" y="2194560"/>
            <a:ext cx="11062800" cy="2101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3200" spc="-1" strike="noStrike">
                <a:solidFill>
                  <a:srgbClr val="edeff4"/>
                </a:solidFill>
                <a:latin typeface="Arial"/>
                <a:ea typeface="Arial"/>
              </a:rPr>
              <a:t>Let's be honest about the trade-offs, too.</a:t>
            </a:r>
            <a:endParaRPr b="0" lang="en-US" sz="3200" spc="-1" strike="noStrike">
              <a:solidFill>
                <a:srgbClr val="ffffff"/>
              </a:solidFill>
              <a:latin typeface="Arial"/>
            </a:endParaRPr>
          </a:p>
        </p:txBody>
      </p:sp>
      <p:sp>
        <p:nvSpPr>
          <p:cNvPr id="334" name="Text 2"/>
          <p:cNvSpPr/>
          <p:nvPr/>
        </p:nvSpPr>
        <p:spPr>
          <a:xfrm>
            <a:off x="548640" y="4434840"/>
            <a:ext cx="1033128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30000"/>
              </a:lnSpc>
              <a:tabLst>
                <a:tab algn="l" pos="0"/>
              </a:tabLst>
            </a:pPr>
            <a:r>
              <a:rPr b="0" lang="en-US" sz="1400" spc="-1" strike="noStrike">
                <a:solidFill>
                  <a:srgbClr val="9aa4b8"/>
                </a:solidFill>
                <a:latin typeface="Arial"/>
                <a:ea typeface="Arial"/>
              </a:rPr>
              <a:t>Rust's compile times are typically longer than C++'s for comparable code. The ecosystem is younger in some domains — GPU tooling and some embedded targets included, which is exactly why Day 3 exists. Some C++ idioms (heavy template metaprogramming, certain patterns of intrusive data structures) have no direct equivalent and require rethinking.</a:t>
            </a:r>
            <a:endParaRPr b="0" lang="en-US" sz="1400" spc="-1" strike="noStrike">
              <a:solidFill>
                <a:srgbClr val="ffffff"/>
              </a:solidFill>
              <a:latin typeface="Arial"/>
            </a:endParaRPr>
          </a:p>
        </p:txBody>
      </p:sp>
      <p:sp>
        <p:nvSpPr>
          <p:cNvPr id="335" name="Text 3"/>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336" name="Text 4"/>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18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337"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0b155"/>
                </a:solidFill>
                <a:latin typeface="Arial"/>
                <a:ea typeface="Arial"/>
              </a:rPr>
              <a:t>WHY RUST? (BEYOND MEMORY SAFETY)</a:t>
            </a:r>
            <a:endParaRPr b="0" lang="en-US" sz="1300" spc="-1" strike="noStrike">
              <a:solidFill>
                <a:srgbClr val="ffffff"/>
              </a:solidFill>
              <a:latin typeface="Arial"/>
            </a:endParaRPr>
          </a:p>
        </p:txBody>
      </p:sp>
      <p:sp>
        <p:nvSpPr>
          <p:cNvPr id="338" name="Text 1"/>
          <p:cNvSpPr/>
          <p:nvPr/>
        </p:nvSpPr>
        <p:spPr>
          <a:xfrm>
            <a:off x="548640" y="2194560"/>
            <a:ext cx="11062800" cy="2101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3200" spc="-1" strike="noStrike">
                <a:solidFill>
                  <a:srgbClr val="edeff4"/>
                </a:solidFill>
                <a:latin typeface="Arial"/>
                <a:ea typeface="Arial"/>
              </a:rPr>
              <a:t>When you might not reach for Rust yet.</a:t>
            </a:r>
            <a:endParaRPr b="0" lang="en-US" sz="3200" spc="-1" strike="noStrike">
              <a:solidFill>
                <a:srgbClr val="ffffff"/>
              </a:solidFill>
              <a:latin typeface="Arial"/>
            </a:endParaRPr>
          </a:p>
        </p:txBody>
      </p:sp>
      <p:sp>
        <p:nvSpPr>
          <p:cNvPr id="339" name="Text 2"/>
          <p:cNvSpPr/>
          <p:nvPr/>
        </p:nvSpPr>
        <p:spPr>
          <a:xfrm>
            <a:off x="548640" y="4434840"/>
            <a:ext cx="1033128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30000"/>
              </a:lnSpc>
              <a:tabLst>
                <a:tab algn="l" pos="0"/>
              </a:tabLst>
            </a:pPr>
            <a:r>
              <a:rPr b="0" lang="en-US" sz="1400" spc="-1" strike="noStrike">
                <a:solidFill>
                  <a:srgbClr val="9aa4b8"/>
                </a:solidFill>
                <a:latin typeface="Arial"/>
                <a:ea typeface="Arial"/>
              </a:rPr>
              <a:t>A codebase with decades of stable, well-tested C++ and no active memory-safety incidents may not justify a rewrite — rewrites carry their own risk. A team with zero Rust experience and a hard deadline next month is not the moment to bet the project. Rust is a strong choice for new, long-lived, safety- or concurrency-critical code — not a mandate for every line you'll ever write.</a:t>
            </a:r>
            <a:endParaRPr b="0" lang="en-US" sz="1400" spc="-1" strike="noStrike">
              <a:solidFill>
                <a:srgbClr val="ffffff"/>
              </a:solidFill>
              <a:latin typeface="Arial"/>
            </a:endParaRPr>
          </a:p>
        </p:txBody>
      </p:sp>
      <p:sp>
        <p:nvSpPr>
          <p:cNvPr id="340" name="Text 3"/>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341" name="Text 4"/>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19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342" name="Shape 0"/>
          <p:cNvSpPr/>
          <p:nvPr/>
        </p:nvSpPr>
        <p:spPr>
          <a:xfrm>
            <a:off x="548640" y="2651760"/>
            <a:ext cx="1370160" cy="1370160"/>
          </a:xfrm>
          <a:prstGeom prst="roundRect">
            <a:avLst>
              <a:gd name="adj" fmla="val 6667"/>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43" name="Text 1"/>
          <p:cNvSpPr/>
          <p:nvPr/>
        </p:nvSpPr>
        <p:spPr>
          <a:xfrm>
            <a:off x="548640" y="2651760"/>
            <a:ext cx="1370160" cy="1370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400" spc="-1" strike="noStrike">
                <a:solidFill>
                  <a:srgbClr val="e8804f"/>
                </a:solidFill>
                <a:latin typeface="Consolas"/>
                <a:ea typeface="Consolas"/>
              </a:rPr>
              <a:t>02</a:t>
            </a:r>
            <a:endParaRPr b="0" lang="en-US" sz="3400" spc="-1" strike="noStrike">
              <a:solidFill>
                <a:srgbClr val="ffffff"/>
              </a:solidFill>
              <a:latin typeface="Arial"/>
            </a:endParaRPr>
          </a:p>
        </p:txBody>
      </p:sp>
      <p:sp>
        <p:nvSpPr>
          <p:cNvPr id="344" name="Text 2"/>
          <p:cNvSpPr/>
          <p:nvPr/>
        </p:nvSpPr>
        <p:spPr>
          <a:xfrm>
            <a:off x="2194560" y="2743200"/>
            <a:ext cx="932544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A Brief History of Rust</a:t>
            </a:r>
            <a:endParaRPr b="0" lang="en-US" sz="2800" spc="-1" strike="noStrike">
              <a:solidFill>
                <a:srgbClr val="ffffff"/>
              </a:solidFill>
              <a:latin typeface="Arial"/>
            </a:endParaRPr>
          </a:p>
        </p:txBody>
      </p:sp>
      <p:sp>
        <p:nvSpPr>
          <p:cNvPr id="345" name="Text 3"/>
          <p:cNvSpPr/>
          <p:nvPr/>
        </p:nvSpPr>
        <p:spPr>
          <a:xfrm>
            <a:off x="2194560" y="3474720"/>
            <a:ext cx="8959680" cy="547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50" spc="-1" strike="noStrike">
                <a:solidFill>
                  <a:srgbClr val="9aa4b8"/>
                </a:solidFill>
                <a:latin typeface="Arial"/>
                <a:ea typeface="Arial"/>
              </a:rPr>
              <a:t>Mozilla, LLVM, and two decades of getting here — context for everything that follows</a:t>
            </a:r>
            <a:endParaRPr b="0" lang="en-US" sz="1350" spc="-1" strike="noStrike">
              <a:solidFill>
                <a:srgbClr val="ffffff"/>
              </a:solidFill>
              <a:latin typeface="Arial"/>
            </a:endParaRPr>
          </a:p>
        </p:txBody>
      </p:sp>
      <p:sp>
        <p:nvSpPr>
          <p:cNvPr id="346" name="Text 4"/>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347" name="Text 5"/>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20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348"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A BRIEF HISTORY OF RUST</a:t>
            </a:r>
            <a:endParaRPr b="0" lang="en-US" sz="1300" spc="-1" strike="noStrike">
              <a:solidFill>
                <a:srgbClr val="ffffff"/>
              </a:solidFill>
              <a:latin typeface="Arial"/>
            </a:endParaRPr>
          </a:p>
        </p:txBody>
      </p:sp>
      <p:sp>
        <p:nvSpPr>
          <p:cNvPr id="349"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A broken elevator, and 2006</a:t>
            </a:r>
            <a:endParaRPr b="0" lang="en-US" sz="2800" spc="-1" strike="noStrike">
              <a:solidFill>
                <a:srgbClr val="ffffff"/>
              </a:solidFill>
              <a:latin typeface="Arial"/>
            </a:endParaRPr>
          </a:p>
        </p:txBody>
      </p:sp>
      <p:sp>
        <p:nvSpPr>
          <p:cNvPr id="350"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51"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52"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Graydon Hoare started Rust as a personal side project in 2006, while working as an engineer at Mozilla.  </a:t>
            </a:r>
            <a:r>
              <a:rPr b="0" lang="en-US" sz="1200" spc="-1" strike="noStrike">
                <a:solidFill>
                  <a:srgbClr val="9aa4b8"/>
                </a:solidFill>
                <a:latin typeface="Arial"/>
                <a:ea typeface="Arial"/>
              </a:rPr>
              <a:t>By his own account, part of the spark was mundane and familiar: software crashing in ordinary places, including the elevator in his own apartment building.</a:t>
            </a:r>
            <a:endParaRPr b="0" lang="en-US" sz="1200" spc="-1" strike="noStrike">
              <a:solidFill>
                <a:srgbClr val="ffffff"/>
              </a:solidFill>
              <a:latin typeface="Arial"/>
            </a:endParaRPr>
          </a:p>
        </p:txBody>
      </p:sp>
      <p:sp>
        <p:nvSpPr>
          <p:cNvPr id="353"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54"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55"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The core motivation was dissatisfaction with C++ specifically —  </a:t>
            </a:r>
            <a:r>
              <a:rPr b="0" lang="en-US" sz="1200" spc="-1" strike="noStrike">
                <a:solidFill>
                  <a:srgbClr val="9aa4b8"/>
                </a:solidFill>
                <a:latin typeface="Arial"/>
                <a:ea typeface="Arial"/>
              </a:rPr>
              <a:t>not a desire to invent new theory, but to finally ship decades-old, well-understood research (ownership, region-based memory management, algebraic data types) as a practical, usable systems language.</a:t>
            </a:r>
            <a:endParaRPr b="0" lang="en-US" sz="1200" spc="-1" strike="noStrike">
              <a:solidFill>
                <a:srgbClr val="ffffff"/>
              </a:solidFill>
              <a:latin typeface="Arial"/>
            </a:endParaRPr>
          </a:p>
        </p:txBody>
      </p:sp>
      <p:sp>
        <p:nvSpPr>
          <p:cNvPr id="356"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57"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58"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For its first few years this was genuinely a spare-time project,  </a:t>
            </a:r>
            <a:r>
              <a:rPr b="0" lang="en-US" sz="1200" spc="-1" strike="noStrike">
                <a:solidFill>
                  <a:srgbClr val="9aa4b8"/>
                </a:solidFill>
                <a:latin typeface="Arial"/>
                <a:ea typeface="Arial"/>
              </a:rPr>
              <a:t>shared with almost no one at Mozilla — not yet a company initiative.</a:t>
            </a:r>
            <a:endParaRPr b="0" lang="en-US" sz="1200" spc="-1" strike="noStrike">
              <a:solidFill>
                <a:srgbClr val="ffffff"/>
              </a:solidFill>
              <a:latin typeface="Arial"/>
            </a:endParaRPr>
          </a:p>
        </p:txBody>
      </p:sp>
      <p:sp>
        <p:nvSpPr>
          <p:cNvPr id="359"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360"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21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361"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A BRIEF HISTORY OF RUST</a:t>
            </a:r>
            <a:endParaRPr b="0" lang="en-US" sz="1300" spc="-1" strike="noStrike">
              <a:solidFill>
                <a:srgbClr val="ffffff"/>
              </a:solidFill>
              <a:latin typeface="Arial"/>
            </a:endParaRPr>
          </a:p>
        </p:txBody>
      </p:sp>
      <p:sp>
        <p:nvSpPr>
          <p:cNvPr id="362"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Mozilla adopts the project</a:t>
            </a:r>
            <a:endParaRPr b="0" lang="en-US" sz="2800" spc="-1" strike="noStrike">
              <a:solidFill>
                <a:srgbClr val="ffffff"/>
              </a:solidFill>
              <a:latin typeface="Arial"/>
            </a:endParaRPr>
          </a:p>
        </p:txBody>
      </p:sp>
      <p:sp>
        <p:nvSpPr>
          <p:cNvPr id="363"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64"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65"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In 2009, Mozilla began officially sponsoring Rust's development,  </a:t>
            </a:r>
            <a:r>
              <a:rPr b="0" lang="en-US" sz="1200" spc="-1" strike="noStrike">
                <a:solidFill>
                  <a:srgbClr val="9aa4b8"/>
                </a:solidFill>
                <a:latin typeface="Arial"/>
                <a:ea typeface="Arial"/>
              </a:rPr>
              <a:t>assigning engineers to work on it alongside Hoare.</a:t>
            </a:r>
            <a:endParaRPr b="0" lang="en-US" sz="1200" spc="-1" strike="noStrike">
              <a:solidFill>
                <a:srgbClr val="ffffff"/>
              </a:solidFill>
              <a:latin typeface="Arial"/>
            </a:endParaRPr>
          </a:p>
        </p:txBody>
      </p:sp>
      <p:sp>
        <p:nvSpPr>
          <p:cNvPr id="366"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67"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68"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In July 2010, Hoare gave Rust its first public unveiling at the Mozilla Annual Summit —  </a:t>
            </a:r>
            <a:r>
              <a:rPr b="0" lang="en-US" sz="1200" spc="-1" strike="noStrike">
                <a:solidFill>
                  <a:srgbClr val="9aa4b8"/>
                </a:solidFill>
                <a:latin typeface="Arial"/>
                <a:ea typeface="Arial"/>
              </a:rPr>
              <a:t>opening, reportedly, with a description of "a compiled, concurrent, safe systems programming language" that a small group at Mozilla had gotten interested in.</a:t>
            </a:r>
            <a:endParaRPr b="0" lang="en-US" sz="1200" spc="-1" strike="noStrike">
              <a:solidFill>
                <a:srgbClr val="ffffff"/>
              </a:solidFill>
              <a:latin typeface="Arial"/>
            </a:endParaRPr>
          </a:p>
        </p:txBody>
      </p:sp>
      <p:sp>
        <p:nvSpPr>
          <p:cNvPr id="369"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70"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71"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The motivating use case was concrete, not academic:  </a:t>
            </a:r>
            <a:r>
              <a:rPr b="0" lang="en-US" sz="1200" spc="-1" strike="noStrike">
                <a:solidFill>
                  <a:srgbClr val="9aa4b8"/>
                </a:solidFill>
                <a:latin typeface="Arial"/>
                <a:ea typeface="Arial"/>
              </a:rPr>
              <a:t>Firefox's C++ codebase (specifically its Gecko rendering engine) was a large, security-sensitive target for exactly the memory-safety bugs Rust was designed to rule out.</a:t>
            </a:r>
            <a:endParaRPr b="0" lang="en-US" sz="1200" spc="-1" strike="noStrike">
              <a:solidFill>
                <a:srgbClr val="ffffff"/>
              </a:solidFill>
              <a:latin typeface="Arial"/>
            </a:endParaRPr>
          </a:p>
        </p:txBody>
      </p:sp>
      <p:sp>
        <p:nvSpPr>
          <p:cNvPr id="372"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373"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22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374"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A BRIEF HISTORY OF RUST</a:t>
            </a:r>
            <a:endParaRPr b="0" lang="en-US" sz="1300" spc="-1" strike="noStrike">
              <a:solidFill>
                <a:srgbClr val="ffffff"/>
              </a:solidFill>
              <a:latin typeface="Arial"/>
            </a:endParaRPr>
          </a:p>
        </p:txBody>
      </p:sp>
      <p:sp>
        <p:nvSpPr>
          <p:cNvPr id="375"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Servo: the proving ground</a:t>
            </a:r>
            <a:endParaRPr b="0" lang="en-US" sz="2800" spc="-1" strike="noStrike">
              <a:solidFill>
                <a:srgbClr val="ffffff"/>
              </a:solidFill>
              <a:latin typeface="Arial"/>
            </a:endParaRPr>
          </a:p>
        </p:txBody>
      </p:sp>
      <p:sp>
        <p:nvSpPr>
          <p:cNvPr id="376"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77"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78"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Servo, an experimental browser engine written in Rust, began development in the early 2010s —  </a:t>
            </a:r>
            <a:r>
              <a:rPr b="0" lang="en-US" sz="1200" spc="-1" strike="noStrike">
                <a:solidFill>
                  <a:srgbClr val="9aa4b8"/>
                </a:solidFill>
                <a:latin typeface="Arial"/>
                <a:ea typeface="Arial"/>
              </a:rPr>
              <a:t>the real-world stress test for whether Rust's guarantees held up on a large, genuinely concurrent, security-critical codebase.</a:t>
            </a:r>
            <a:endParaRPr b="0" lang="en-US" sz="1200" spc="-1" strike="noStrike">
              <a:solidFill>
                <a:srgbClr val="ffffff"/>
              </a:solidFill>
              <a:latin typeface="Arial"/>
            </a:endParaRPr>
          </a:p>
        </p:txBody>
      </p:sp>
      <p:sp>
        <p:nvSpPr>
          <p:cNvPr id="379"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80"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81"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Servo's parallel CSS engine, Stylo, eventually graduated from research project to shipping code —  </a:t>
            </a:r>
            <a:r>
              <a:rPr b="0" lang="en-US" sz="1200" spc="-1" strike="noStrike">
                <a:solidFill>
                  <a:srgbClr val="9aa4b8"/>
                </a:solidFill>
                <a:latin typeface="Arial"/>
                <a:ea typeface="Arial"/>
              </a:rPr>
              <a:t>merged into Firefox itself as part of Mozilla's Project Quantum.</a:t>
            </a:r>
            <a:endParaRPr b="0" lang="en-US" sz="1200" spc="-1" strike="noStrike">
              <a:solidFill>
                <a:srgbClr val="ffffff"/>
              </a:solidFill>
              <a:latin typeface="Arial"/>
            </a:endParaRPr>
          </a:p>
        </p:txBody>
      </p:sp>
      <p:sp>
        <p:nvSpPr>
          <p:cNvPr id="382"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83"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84"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This matters for a skeptical audience specifically:  </a:t>
            </a:r>
            <a:r>
              <a:rPr b="0" lang="en-US" sz="1200" spc="-1" strike="noStrike">
                <a:solidFill>
                  <a:srgbClr val="9aa4b8"/>
                </a:solidFill>
                <a:latin typeface="Arial"/>
                <a:ea typeface="Arial"/>
              </a:rPr>
              <a:t>Rust's safety claims weren't validated only in papers or toy benchmarks — they were pressure-tested against a real browser engine, in production, years before 1.0.</a:t>
            </a:r>
            <a:endParaRPr b="0" lang="en-US" sz="1200" spc="-1" strike="noStrike">
              <a:solidFill>
                <a:srgbClr val="ffffff"/>
              </a:solidFill>
              <a:latin typeface="Arial"/>
            </a:endParaRPr>
          </a:p>
        </p:txBody>
      </p:sp>
      <p:sp>
        <p:nvSpPr>
          <p:cNvPr id="385"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386"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23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387"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ce422b"/>
                </a:solidFill>
                <a:latin typeface="Arial"/>
                <a:ea typeface="Arial"/>
              </a:rPr>
              <a:t>A BRIEF HISTORY OF RUST</a:t>
            </a:r>
            <a:endParaRPr b="0" lang="en-US" sz="1300" spc="-1" strike="noStrike">
              <a:solidFill>
                <a:srgbClr val="ffffff"/>
              </a:solidFill>
              <a:latin typeface="Arial"/>
            </a:endParaRPr>
          </a:p>
        </p:txBody>
      </p:sp>
      <p:sp>
        <p:nvSpPr>
          <p:cNvPr id="388" name="Text 1"/>
          <p:cNvSpPr/>
          <p:nvPr/>
        </p:nvSpPr>
        <p:spPr>
          <a:xfrm>
            <a:off x="548640" y="2194560"/>
            <a:ext cx="11062800" cy="2101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3200" spc="-1" strike="noStrike">
                <a:solidFill>
                  <a:srgbClr val="edeff4"/>
                </a:solidFill>
                <a:latin typeface="Arial"/>
                <a:ea typeface="Arial"/>
              </a:rPr>
              <a:t>May 15, 2015: Rust 1.0, and a stability promise.</a:t>
            </a:r>
            <a:endParaRPr b="0" lang="en-US" sz="3200" spc="-1" strike="noStrike">
              <a:solidFill>
                <a:srgbClr val="ffffff"/>
              </a:solidFill>
              <a:latin typeface="Arial"/>
            </a:endParaRPr>
          </a:p>
        </p:txBody>
      </p:sp>
      <p:sp>
        <p:nvSpPr>
          <p:cNvPr id="389" name="Text 2"/>
          <p:cNvSpPr/>
          <p:nvPr/>
        </p:nvSpPr>
        <p:spPr>
          <a:xfrm>
            <a:off x="548640" y="4434840"/>
            <a:ext cx="1033128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30000"/>
              </a:lnSpc>
              <a:tabLst>
                <a:tab algn="l" pos="0"/>
              </a:tabLst>
            </a:pPr>
            <a:r>
              <a:rPr b="0" lang="en-US" sz="1400" spc="-1" strike="noStrike">
                <a:solidFill>
                  <a:srgbClr val="9aa4b8"/>
                </a:solidFill>
                <a:latin typeface="Arial"/>
                <a:ea typeface="Arial"/>
              </a:rPr>
              <a:t>1.0 shipped with an explicit commitment: code that compiles today keeps compiling on every future stable release. That promise is exactly what makes the edition system from the Toolchain module possible — the language can keep evolving without ever breaking the code you write this afternoon.</a:t>
            </a:r>
            <a:endParaRPr b="0" lang="en-US" sz="1400" spc="-1" strike="noStrike">
              <a:solidFill>
                <a:srgbClr val="ffffff"/>
              </a:solidFill>
              <a:latin typeface="Arial"/>
            </a:endParaRPr>
          </a:p>
        </p:txBody>
      </p:sp>
      <p:sp>
        <p:nvSpPr>
          <p:cNvPr id="390" name="Text 3"/>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391" name="Text 4"/>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24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39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HISTORY</a:t>
            </a:r>
            <a:endParaRPr b="0" lang="en-US" sz="1300" spc="-1" strike="noStrike">
              <a:solidFill>
                <a:srgbClr val="ffffff"/>
              </a:solidFill>
              <a:latin typeface="Arial"/>
            </a:endParaRPr>
          </a:p>
        </p:txBody>
      </p:sp>
      <p:sp>
        <p:nvSpPr>
          <p:cNvPr id="393"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What LLVM is, and why rustc is built on it</a:t>
            </a:r>
            <a:endParaRPr b="0" lang="en-US" sz="2800" spc="-1" strike="noStrike">
              <a:solidFill>
                <a:srgbClr val="ffffff"/>
              </a:solidFill>
              <a:latin typeface="Arial"/>
            </a:endParaRPr>
          </a:p>
        </p:txBody>
      </p:sp>
      <p:sp>
        <p:nvSpPr>
          <p:cNvPr id="394"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95"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96"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L</a:t>
            </a:r>
            <a:endParaRPr b="0" lang="en-US" sz="950" spc="-1" strike="noStrike">
              <a:solidFill>
                <a:srgbClr val="ffffff"/>
              </a:solidFill>
              <a:latin typeface="Arial"/>
            </a:endParaRPr>
          </a:p>
        </p:txBody>
      </p:sp>
      <p:sp>
        <p:nvSpPr>
          <p:cNvPr id="397"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WHAT LLVM PROVIDES</a:t>
            </a:r>
            <a:endParaRPr b="0" lang="en-US" sz="1300" spc="-1" strike="noStrike">
              <a:solidFill>
                <a:srgbClr val="ffffff"/>
              </a:solidFill>
              <a:latin typeface="Arial"/>
            </a:endParaRPr>
          </a:p>
        </p:txBody>
      </p:sp>
      <p:sp>
        <p:nvSpPr>
          <p:cNvPr id="398"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 LLVM IR: a typed, low-level,</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target-independent instruction</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set — the shared language every</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LLVM front-end compiles down to</a:t>
            </a:r>
            <a:endParaRPr b="0" lang="en-US" sz="1200" spc="-1" strike="noStrike">
              <a:solidFill>
                <a:srgbClr val="ffffff"/>
              </a:solidFill>
              <a:latin typeface="Arial"/>
            </a:endParaRPr>
          </a:p>
        </p:txBody>
      </p:sp>
      <p:sp>
        <p:nvSpPr>
          <p:cNvPr id="399"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Started in 2000 as Chris Lattner's graduate research at the University of Illinois, released as open source in 2003. LLVM provides a reusable optimizer and code generator that any language's compiler can plug into.</a:t>
            </a:r>
            <a:endParaRPr b="0" lang="en-US" sz="1100" spc="-1" strike="noStrike">
              <a:solidFill>
                <a:srgbClr val="ffffff"/>
              </a:solidFill>
              <a:latin typeface="Arial"/>
            </a:endParaRPr>
          </a:p>
        </p:txBody>
      </p:sp>
      <p:sp>
        <p:nvSpPr>
          <p:cNvPr id="400"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01"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02"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a:t>
            </a:r>
            <a:endParaRPr b="0" lang="en-US" sz="1400" spc="-1" strike="noStrike">
              <a:solidFill>
                <a:srgbClr val="ffffff"/>
              </a:solidFill>
              <a:latin typeface="Arial"/>
            </a:endParaRPr>
          </a:p>
        </p:txBody>
      </p:sp>
      <p:sp>
        <p:nvSpPr>
          <p:cNvPr id="403"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WHO ELSE USES IT</a:t>
            </a:r>
            <a:endParaRPr b="0" lang="en-US" sz="1300" spc="-1" strike="noStrike">
              <a:solidFill>
                <a:srgbClr val="ffffff"/>
              </a:solidFill>
              <a:latin typeface="Arial"/>
            </a:endParaRPr>
          </a:p>
        </p:txBody>
      </p:sp>
      <p:sp>
        <p:nvSpPr>
          <p:cNvPr id="404"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clang (C, C++, Objective-C)</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swift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julia</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rustc</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all compile to the SAME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intermediate representation</a:t>
            </a:r>
            <a:endParaRPr b="0" lang="en-US" sz="1200" spc="-1" strike="noStrike">
              <a:solidFill>
                <a:srgbClr val="ffffff"/>
              </a:solidFill>
              <a:latin typeface="Arial"/>
            </a:endParaRPr>
          </a:p>
        </p:txBody>
      </p:sp>
      <p:sp>
        <p:nvSpPr>
          <p:cNvPr id="405"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Clang (C/C++'s LLVM-based compiler), Swift, Julia, and rustc all lower their source language to LLVM IR and let LLVM's shared optimizer and backend do the rest.</a:t>
            </a:r>
            <a:endParaRPr b="0" lang="en-US" sz="1100" spc="-1" strike="noStrike">
              <a:solidFill>
                <a:srgbClr val="ffffff"/>
              </a:solidFill>
              <a:latin typeface="Arial"/>
            </a:endParaRPr>
          </a:p>
        </p:txBody>
      </p:sp>
      <p:sp>
        <p:nvSpPr>
          <p:cNvPr id="406"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07"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This is a big part of why Rust and modern C++ so often perform comparably: past the front-end, both are frequently handing very similar IR to the identical optimizer and code generator.</a:t>
            </a:r>
            <a:endParaRPr b="0" lang="en-US" sz="1150" spc="-1" strike="noStrike">
              <a:solidFill>
                <a:srgbClr val="ffffff"/>
              </a:solidFill>
              <a:latin typeface="Arial"/>
            </a:endParaRPr>
          </a:p>
        </p:txBody>
      </p:sp>
      <p:sp>
        <p:nvSpPr>
          <p:cNvPr id="408"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409"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25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410"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A BRIEF HISTORY OF RUST</a:t>
            </a:r>
            <a:endParaRPr b="0" lang="en-US" sz="1300" spc="-1" strike="noStrike">
              <a:solidFill>
                <a:srgbClr val="ffffff"/>
              </a:solidFill>
              <a:latin typeface="Arial"/>
            </a:endParaRPr>
          </a:p>
        </p:txBody>
      </p:sp>
      <p:sp>
        <p:nvSpPr>
          <p:cNvPr id="411"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company Rust keeps, on the backend</a:t>
            </a:r>
            <a:endParaRPr b="0" lang="en-US" sz="2800" spc="-1" strike="noStrike">
              <a:solidFill>
                <a:srgbClr val="ffffff"/>
              </a:solidFill>
              <a:latin typeface="Arial"/>
            </a:endParaRPr>
          </a:p>
        </p:txBody>
      </p:sp>
      <p:sp>
        <p:nvSpPr>
          <p:cNvPr id="412"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13"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14"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Every LLVM-based language inherits the same decades of optimization engineering —  </a:t>
            </a:r>
            <a:r>
              <a:rPr b="0" lang="en-US" sz="1200" spc="-1" strike="noStrike">
                <a:solidFill>
                  <a:srgbClr val="9aa4b8"/>
                </a:solidFill>
                <a:latin typeface="Arial"/>
                <a:ea typeface="Arial"/>
              </a:rPr>
              <a:t>instruction scheduling, vectorization, inlining heuristics — without having to reinvent any of it.</a:t>
            </a:r>
            <a:endParaRPr b="0" lang="en-US" sz="1200" spc="-1" strike="noStrike">
              <a:solidFill>
                <a:srgbClr val="ffffff"/>
              </a:solidFill>
              <a:latin typeface="Arial"/>
            </a:endParaRPr>
          </a:p>
        </p:txBody>
      </p:sp>
      <p:sp>
        <p:nvSpPr>
          <p:cNvPr id="415"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16"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17"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It also inherits LLVM's platform reach:  </a:t>
            </a:r>
            <a:r>
              <a:rPr b="0" lang="en-US" sz="1200" spc="-1" strike="noStrike">
                <a:solidFill>
                  <a:srgbClr val="9aa4b8"/>
                </a:solidFill>
                <a:latin typeface="Arial"/>
                <a:ea typeface="Arial"/>
              </a:rPr>
              <a:t>the same infrastructure that lets Clang target ARM, x86, RISC-V, and WebAssembly lets rustc target them too, with comparatively little extra work.</a:t>
            </a:r>
            <a:endParaRPr b="0" lang="en-US" sz="1200" spc="-1" strike="noStrike">
              <a:solidFill>
                <a:srgbClr val="ffffff"/>
              </a:solidFill>
              <a:latin typeface="Arial"/>
            </a:endParaRPr>
          </a:p>
        </p:txBody>
      </p:sp>
      <p:sp>
        <p:nvSpPr>
          <p:cNvPr id="418"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19"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20"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One target worth remembering for Day 3:  </a:t>
            </a:r>
            <a:r>
              <a:rPr b="0" lang="en-US" sz="1200" spc="-1" strike="noStrike">
                <a:solidFill>
                  <a:srgbClr val="9aa4b8"/>
                </a:solidFill>
                <a:latin typeface="Arial"/>
                <a:ea typeface="Arial"/>
              </a:rPr>
              <a:t>nvptx64-nvidia-cuda, the rustc target that lowers Rust to PTX for NVIDIA GPUs, exists precisely because rustc already speaks LLVM's shared language.</a:t>
            </a:r>
            <a:endParaRPr b="0" lang="en-US" sz="1200" spc="-1" strike="noStrike">
              <a:solidFill>
                <a:srgbClr val="ffffff"/>
              </a:solidFill>
              <a:latin typeface="Arial"/>
            </a:endParaRPr>
          </a:p>
        </p:txBody>
      </p:sp>
      <p:sp>
        <p:nvSpPr>
          <p:cNvPr id="421"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422"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26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423"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A BRIEF HISTORY OF RUST</a:t>
            </a:r>
            <a:endParaRPr b="0" lang="en-US" sz="1300" spc="-1" strike="noStrike">
              <a:solidFill>
                <a:srgbClr val="ffffff"/>
              </a:solidFill>
              <a:latin typeface="Arial"/>
            </a:endParaRPr>
          </a:p>
        </p:txBody>
      </p:sp>
      <p:sp>
        <p:nvSpPr>
          <p:cNvPr id="424"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2020: a difficult year</a:t>
            </a:r>
            <a:endParaRPr b="0" lang="en-US" sz="2800" spc="-1" strike="noStrike">
              <a:solidFill>
                <a:srgbClr val="ffffff"/>
              </a:solidFill>
              <a:latin typeface="Arial"/>
            </a:endParaRPr>
          </a:p>
        </p:txBody>
      </p:sp>
      <p:sp>
        <p:nvSpPr>
          <p:cNvPr id="425"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26"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27"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In August 2020, Mozilla laid off roughly 250 employees as part of a broader restructuring,  </a:t>
            </a:r>
            <a:r>
              <a:rPr b="0" lang="en-US" sz="1200" spc="-1" strike="noStrike">
                <a:solidFill>
                  <a:srgbClr val="9aa4b8"/>
                </a:solidFill>
                <a:latin typeface="Arial"/>
                <a:ea typeface="Arial"/>
              </a:rPr>
              <a:t>a move the company attributed in part to the pandemic's impact on its revenue.</a:t>
            </a:r>
            <a:endParaRPr b="0" lang="en-US" sz="1200" spc="-1" strike="noStrike">
              <a:solidFill>
                <a:srgbClr val="ffffff"/>
              </a:solidFill>
              <a:latin typeface="Arial"/>
            </a:endParaRPr>
          </a:p>
        </p:txBody>
      </p:sp>
      <p:sp>
        <p:nvSpPr>
          <p:cNvPr id="428"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29"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30"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The cuts hit the Rust team hard and effectively ended Mozilla's dedicated Servo team —  </a:t>
            </a:r>
            <a:r>
              <a:rPr b="0" lang="en-US" sz="1200" spc="-1" strike="noStrike">
                <a:solidFill>
                  <a:srgbClr val="9aa4b8"/>
                </a:solidFill>
                <a:latin typeface="Arial"/>
                <a:ea typeface="Arial"/>
              </a:rPr>
              <a:t>several of the people affected were active, long-time contributors to the language itself.</a:t>
            </a:r>
            <a:endParaRPr b="0" lang="en-US" sz="1200" spc="-1" strike="noStrike">
              <a:solidFill>
                <a:srgbClr val="ffffff"/>
              </a:solidFill>
              <a:latin typeface="Arial"/>
            </a:endParaRPr>
          </a:p>
        </p:txBody>
      </p:sp>
      <p:sp>
        <p:nvSpPr>
          <p:cNvPr id="431"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32"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33"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This raised a legitimate, practical question for anyone evaluating Rust at the time:  </a:t>
            </a:r>
            <a:r>
              <a:rPr b="0" lang="en-US" sz="1200" spc="-1" strike="noStrike">
                <a:solidFill>
                  <a:srgbClr val="9aa4b8"/>
                </a:solidFill>
                <a:latin typeface="Arial"/>
                <a:ea typeface="Arial"/>
              </a:rPr>
              <a:t>what happens to a systems language whose development has been substantially funded by one company, if that company steps back?</a:t>
            </a:r>
            <a:endParaRPr b="0" lang="en-US" sz="1200" spc="-1" strike="noStrike">
              <a:solidFill>
                <a:srgbClr val="ffffff"/>
              </a:solidFill>
              <a:latin typeface="Arial"/>
            </a:endParaRPr>
          </a:p>
        </p:txBody>
      </p:sp>
      <p:sp>
        <p:nvSpPr>
          <p:cNvPr id="434"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435"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27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436"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A BRIEF HISTORY OF RUST</a:t>
            </a:r>
            <a:endParaRPr b="0" lang="en-US" sz="1300" spc="-1" strike="noStrike">
              <a:solidFill>
                <a:srgbClr val="ffffff"/>
              </a:solidFill>
              <a:latin typeface="Arial"/>
            </a:endParaRPr>
          </a:p>
        </p:txBody>
      </p:sp>
      <p:sp>
        <p:nvSpPr>
          <p:cNvPr id="437"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Rust Foundation</a:t>
            </a:r>
            <a:endParaRPr b="0" lang="en-US" sz="2800" spc="-1" strike="noStrike">
              <a:solidFill>
                <a:srgbClr val="ffffff"/>
              </a:solidFill>
              <a:latin typeface="Arial"/>
            </a:endParaRPr>
          </a:p>
        </p:txBody>
      </p:sp>
      <p:sp>
        <p:nvSpPr>
          <p:cNvPr id="438"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39"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40"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In February 2021, the independent, non-profit Rust Foundation launched —  </a:t>
            </a:r>
            <a:r>
              <a:rPr b="0" lang="en-US" sz="1200" spc="-1" strike="noStrike">
                <a:solidFill>
                  <a:srgbClr val="9aa4b8"/>
                </a:solidFill>
                <a:latin typeface="Arial"/>
                <a:ea typeface="Arial"/>
              </a:rPr>
              <a:t>with AWS, Google, Huawei, Microsoft, and Mozilla as founding Platinum members.</a:t>
            </a:r>
            <a:endParaRPr b="0" lang="en-US" sz="1200" spc="-1" strike="noStrike">
              <a:solidFill>
                <a:srgbClr val="ffffff"/>
              </a:solidFill>
              <a:latin typeface="Arial"/>
            </a:endParaRPr>
          </a:p>
        </p:txBody>
      </p:sp>
      <p:sp>
        <p:nvSpPr>
          <p:cNvPr id="441"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42"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43"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Mozilla transferred the Rust trademark and project infrastructure to the new Foundation,  </a:t>
            </a:r>
            <a:r>
              <a:rPr b="0" lang="en-US" sz="1200" spc="-1" strike="noStrike">
                <a:solidFill>
                  <a:srgbClr val="9aa4b8"/>
                </a:solidFill>
                <a:latin typeface="Arial"/>
                <a:ea typeface="Arial"/>
              </a:rPr>
              <a:t>moving governance from a single corporate sponsor to a multi-company, non-profit structure.</a:t>
            </a:r>
            <a:endParaRPr b="0" lang="en-US" sz="1200" spc="-1" strike="noStrike">
              <a:solidFill>
                <a:srgbClr val="ffffff"/>
              </a:solidFill>
              <a:latin typeface="Arial"/>
            </a:endParaRPr>
          </a:p>
        </p:txBody>
      </p:sp>
      <p:sp>
        <p:nvSpPr>
          <p:cNvPr id="444"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45"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46"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For an audience evaluating adoption risk, this is the concrete answer to the question 2020 raised:  </a:t>
            </a:r>
            <a:r>
              <a:rPr b="0" lang="en-US" sz="1200" spc="-1" strike="noStrike">
                <a:solidFill>
                  <a:srgbClr val="9aa4b8"/>
                </a:solidFill>
                <a:latin typeface="Arial"/>
                <a:ea typeface="Arial"/>
              </a:rPr>
              <a:t>Rust's stewardship no longer depends on any one company's quarterly priorities.</a:t>
            </a:r>
            <a:endParaRPr b="0" lang="en-US" sz="1200" spc="-1" strike="noStrike">
              <a:solidFill>
                <a:srgbClr val="ffffff"/>
              </a:solidFill>
              <a:latin typeface="Arial"/>
            </a:endParaRPr>
          </a:p>
        </p:txBody>
      </p:sp>
      <p:sp>
        <p:nvSpPr>
          <p:cNvPr id="447"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448"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28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449"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HISTORY</a:t>
            </a:r>
            <a:endParaRPr b="0" lang="en-US" sz="1300" spc="-1" strike="noStrike">
              <a:solidFill>
                <a:srgbClr val="ffffff"/>
              </a:solidFill>
              <a:latin typeface="Arial"/>
            </a:endParaRPr>
          </a:p>
        </p:txBody>
      </p:sp>
      <p:sp>
        <p:nvSpPr>
          <p:cNvPr id="450"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Rust vs. C++ (and C): five years of momentum</a:t>
            </a:r>
            <a:endParaRPr b="0" lang="en-US" sz="2800" spc="-1" strike="noStrike">
              <a:solidFill>
                <a:srgbClr val="ffffff"/>
              </a:solidFill>
              <a:latin typeface="Arial"/>
            </a:endParaRPr>
          </a:p>
        </p:txBody>
      </p:sp>
      <p:sp>
        <p:nvSpPr>
          <p:cNvPr id="451" name="Shape 2"/>
          <p:cNvSpPr/>
          <p:nvPr/>
        </p:nvSpPr>
        <p:spPr>
          <a:xfrm>
            <a:off x="548640" y="1645920"/>
            <a:ext cx="11062800" cy="3610440"/>
          </a:xfrm>
          <a:prstGeom prst="roundRect">
            <a:avLst>
              <a:gd name="adj" fmla="val 2278"/>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52" name="Shape 3"/>
          <p:cNvSpPr/>
          <p:nvPr/>
        </p:nvSpPr>
        <p:spPr>
          <a:xfrm>
            <a:off x="914400" y="1847160"/>
            <a:ext cx="144720" cy="144720"/>
          </a:xfrm>
          <a:prstGeom prst="roundRect">
            <a:avLst>
              <a:gd name="adj" fmla="val 312500"/>
            </a:avLst>
          </a:prstGeom>
          <a:solidFill>
            <a:srgbClr val="9aa4b8"/>
          </a:solidFill>
          <a:ln w="12700">
            <a:solidFill>
              <a:srgbClr val="9aa4b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53" name="Text 4"/>
          <p:cNvSpPr/>
          <p:nvPr/>
        </p:nvSpPr>
        <p:spPr>
          <a:xfrm>
            <a:off x="1134000" y="1755720"/>
            <a:ext cx="2010240" cy="327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9aa4b8"/>
                </a:solidFill>
                <a:latin typeface="Arial"/>
                <a:ea typeface="Arial"/>
              </a:rPr>
              <a:t>C</a:t>
            </a:r>
            <a:endParaRPr b="0" lang="en-US" sz="1200" spc="-1" strike="noStrike">
              <a:solidFill>
                <a:srgbClr val="ffffff"/>
              </a:solidFill>
              <a:latin typeface="Arial"/>
            </a:endParaRPr>
          </a:p>
        </p:txBody>
      </p:sp>
      <p:sp>
        <p:nvSpPr>
          <p:cNvPr id="454" name="Shape 5"/>
          <p:cNvSpPr/>
          <p:nvPr/>
        </p:nvSpPr>
        <p:spPr>
          <a:xfrm>
            <a:off x="1764720" y="1847160"/>
            <a:ext cx="144720" cy="144720"/>
          </a:xfrm>
          <a:prstGeom prst="roundRect">
            <a:avLst>
              <a:gd name="adj" fmla="val 312500"/>
            </a:avLst>
          </a:prstGeom>
          <a:solidFill>
            <a:srgbClr val="3e8fe0"/>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55" name="Text 6"/>
          <p:cNvSpPr/>
          <p:nvPr/>
        </p:nvSpPr>
        <p:spPr>
          <a:xfrm>
            <a:off x="1984320" y="1755720"/>
            <a:ext cx="2010240" cy="327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3e8fe0"/>
                </a:solidFill>
                <a:latin typeface="Arial"/>
                <a:ea typeface="Arial"/>
              </a:rPr>
              <a:t>C++</a:t>
            </a:r>
            <a:endParaRPr b="0" lang="en-US" sz="1200" spc="-1" strike="noStrike">
              <a:solidFill>
                <a:srgbClr val="ffffff"/>
              </a:solidFill>
              <a:latin typeface="Arial"/>
            </a:endParaRPr>
          </a:p>
        </p:txBody>
      </p:sp>
      <p:sp>
        <p:nvSpPr>
          <p:cNvPr id="456" name="Shape 7"/>
          <p:cNvSpPr/>
          <p:nvPr/>
        </p:nvSpPr>
        <p:spPr>
          <a:xfrm>
            <a:off x="2871360" y="1847160"/>
            <a:ext cx="144720" cy="144720"/>
          </a:xfrm>
          <a:prstGeom prst="roundRect">
            <a:avLst>
              <a:gd name="adj" fmla="val 312500"/>
            </a:avLst>
          </a:prstGeom>
          <a:solidFill>
            <a:srgbClr val="e8804f"/>
          </a:solidFill>
          <a:ln w="12700">
            <a:solidFill>
              <a:srgbClr val="e8804f"/>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57" name="Text 8"/>
          <p:cNvSpPr/>
          <p:nvPr/>
        </p:nvSpPr>
        <p:spPr>
          <a:xfrm>
            <a:off x="3090600" y="1755720"/>
            <a:ext cx="2010240" cy="327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e8804f"/>
                </a:solidFill>
                <a:latin typeface="Arial"/>
                <a:ea typeface="Arial"/>
              </a:rPr>
              <a:t>Rust</a:t>
            </a:r>
            <a:endParaRPr b="0" lang="en-US" sz="1200" spc="-1" strike="noStrike">
              <a:solidFill>
                <a:srgbClr val="ffffff"/>
              </a:solidFill>
              <a:latin typeface="Arial"/>
            </a:endParaRPr>
          </a:p>
        </p:txBody>
      </p:sp>
      <p:sp>
        <p:nvSpPr>
          <p:cNvPr id="458" name="Shape 9"/>
          <p:cNvSpPr/>
          <p:nvPr/>
        </p:nvSpPr>
        <p:spPr>
          <a:xfrm>
            <a:off x="1234440" y="4754880"/>
            <a:ext cx="10058400" cy="360"/>
          </a:xfrm>
          <a:prstGeom prst="line">
            <a:avLst/>
          </a:prstGeom>
          <a:ln w="9525">
            <a:solidFill>
              <a:srgbClr val="2b3550"/>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459" name="Text 10"/>
          <p:cNvSpPr/>
          <p:nvPr/>
        </p:nvSpPr>
        <p:spPr>
          <a:xfrm>
            <a:off x="667440" y="4645080"/>
            <a:ext cx="474120" cy="21816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950" spc="-1" strike="noStrike">
                <a:solidFill>
                  <a:srgbClr val="9aa4b8"/>
                </a:solidFill>
                <a:latin typeface="Arial"/>
                <a:ea typeface="Arial"/>
              </a:rPr>
              <a:t>0</a:t>
            </a:r>
            <a:endParaRPr b="0" lang="en-US" sz="950" spc="-1" strike="noStrike">
              <a:solidFill>
                <a:srgbClr val="ffffff"/>
              </a:solidFill>
              <a:latin typeface="Arial"/>
            </a:endParaRPr>
          </a:p>
        </p:txBody>
      </p:sp>
      <p:sp>
        <p:nvSpPr>
          <p:cNvPr id="460" name="Shape 11"/>
          <p:cNvSpPr/>
          <p:nvPr/>
        </p:nvSpPr>
        <p:spPr>
          <a:xfrm>
            <a:off x="1234440" y="4149000"/>
            <a:ext cx="10058400" cy="360"/>
          </a:xfrm>
          <a:prstGeom prst="line">
            <a:avLst/>
          </a:prstGeom>
          <a:ln w="15875">
            <a:solidFill>
              <a:srgbClr val="9aa4b8"/>
            </a:solidFill>
            <a:prstDash val="dash"/>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461" name="Text 12"/>
          <p:cNvSpPr/>
          <p:nvPr/>
        </p:nvSpPr>
        <p:spPr>
          <a:xfrm>
            <a:off x="667440" y="4039200"/>
            <a:ext cx="474120" cy="21816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950" spc="-1" strike="noStrike">
                <a:solidFill>
                  <a:srgbClr val="9aa4b8"/>
                </a:solidFill>
                <a:latin typeface="Arial"/>
                <a:ea typeface="Arial"/>
              </a:rPr>
              <a:t>100</a:t>
            </a:r>
            <a:endParaRPr b="0" lang="en-US" sz="950" spc="-1" strike="noStrike">
              <a:solidFill>
                <a:srgbClr val="ffffff"/>
              </a:solidFill>
              <a:latin typeface="Arial"/>
            </a:endParaRPr>
          </a:p>
        </p:txBody>
      </p:sp>
      <p:sp>
        <p:nvSpPr>
          <p:cNvPr id="462" name="Shape 13"/>
          <p:cNvSpPr/>
          <p:nvPr/>
        </p:nvSpPr>
        <p:spPr>
          <a:xfrm>
            <a:off x="1234440" y="3543120"/>
            <a:ext cx="10058400" cy="360"/>
          </a:xfrm>
          <a:prstGeom prst="line">
            <a:avLst/>
          </a:prstGeom>
          <a:ln w="9525">
            <a:solidFill>
              <a:srgbClr val="2b3550"/>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463" name="Text 14"/>
          <p:cNvSpPr/>
          <p:nvPr/>
        </p:nvSpPr>
        <p:spPr>
          <a:xfrm>
            <a:off x="667440" y="3433680"/>
            <a:ext cx="474120" cy="21816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950" spc="-1" strike="noStrike">
                <a:solidFill>
                  <a:srgbClr val="9aa4b8"/>
                </a:solidFill>
                <a:latin typeface="Arial"/>
                <a:ea typeface="Arial"/>
              </a:rPr>
              <a:t>200</a:t>
            </a:r>
            <a:endParaRPr b="0" lang="en-US" sz="950" spc="-1" strike="noStrike">
              <a:solidFill>
                <a:srgbClr val="ffffff"/>
              </a:solidFill>
              <a:latin typeface="Arial"/>
            </a:endParaRPr>
          </a:p>
        </p:txBody>
      </p:sp>
      <p:sp>
        <p:nvSpPr>
          <p:cNvPr id="464" name="Shape 15"/>
          <p:cNvSpPr/>
          <p:nvPr/>
        </p:nvSpPr>
        <p:spPr>
          <a:xfrm>
            <a:off x="1234440" y="2937240"/>
            <a:ext cx="10058400" cy="360"/>
          </a:xfrm>
          <a:prstGeom prst="line">
            <a:avLst/>
          </a:prstGeom>
          <a:ln w="9525">
            <a:solidFill>
              <a:srgbClr val="2b3550"/>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465" name="Text 16"/>
          <p:cNvSpPr/>
          <p:nvPr/>
        </p:nvSpPr>
        <p:spPr>
          <a:xfrm>
            <a:off x="667440" y="2827800"/>
            <a:ext cx="474120" cy="21816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950" spc="-1" strike="noStrike">
                <a:solidFill>
                  <a:srgbClr val="9aa4b8"/>
                </a:solidFill>
                <a:latin typeface="Arial"/>
                <a:ea typeface="Arial"/>
              </a:rPr>
              <a:t>300</a:t>
            </a:r>
            <a:endParaRPr b="0" lang="en-US" sz="950" spc="-1" strike="noStrike">
              <a:solidFill>
                <a:srgbClr val="ffffff"/>
              </a:solidFill>
              <a:latin typeface="Arial"/>
            </a:endParaRPr>
          </a:p>
        </p:txBody>
      </p:sp>
      <p:sp>
        <p:nvSpPr>
          <p:cNvPr id="466" name="Shape 17"/>
          <p:cNvSpPr/>
          <p:nvPr/>
        </p:nvSpPr>
        <p:spPr>
          <a:xfrm>
            <a:off x="1234440" y="2331720"/>
            <a:ext cx="10058400" cy="360"/>
          </a:xfrm>
          <a:prstGeom prst="line">
            <a:avLst/>
          </a:prstGeom>
          <a:ln w="9525">
            <a:solidFill>
              <a:srgbClr val="2b3550"/>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467" name="Text 18"/>
          <p:cNvSpPr/>
          <p:nvPr/>
        </p:nvSpPr>
        <p:spPr>
          <a:xfrm>
            <a:off x="667440" y="2221920"/>
            <a:ext cx="474120" cy="21816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950" spc="-1" strike="noStrike">
                <a:solidFill>
                  <a:srgbClr val="9aa4b8"/>
                </a:solidFill>
                <a:latin typeface="Arial"/>
                <a:ea typeface="Arial"/>
              </a:rPr>
              <a:t>400</a:t>
            </a:r>
            <a:endParaRPr b="0" lang="en-US" sz="950" spc="-1" strike="noStrike">
              <a:solidFill>
                <a:srgbClr val="ffffff"/>
              </a:solidFill>
              <a:latin typeface="Arial"/>
            </a:endParaRPr>
          </a:p>
        </p:txBody>
      </p:sp>
      <p:sp>
        <p:nvSpPr>
          <p:cNvPr id="468" name="Text 19"/>
          <p:cNvSpPr/>
          <p:nvPr/>
        </p:nvSpPr>
        <p:spPr>
          <a:xfrm>
            <a:off x="1371600" y="3856320"/>
            <a:ext cx="2924640" cy="199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900" spc="-1" strike="noStrike">
                <a:solidFill>
                  <a:srgbClr val="9aa4b8"/>
                </a:solidFill>
                <a:latin typeface="Arial"/>
                <a:ea typeface="Arial"/>
              </a:rPr>
              <a:t>2021 baseline (index = 100)</a:t>
            </a:r>
            <a:endParaRPr b="0" lang="en-US" sz="900" spc="-1" strike="noStrike">
              <a:solidFill>
                <a:srgbClr val="ffffff"/>
              </a:solidFill>
              <a:latin typeface="Arial"/>
            </a:endParaRPr>
          </a:p>
        </p:txBody>
      </p:sp>
      <p:sp>
        <p:nvSpPr>
          <p:cNvPr id="469" name="Shape 20"/>
          <p:cNvSpPr/>
          <p:nvPr/>
        </p:nvSpPr>
        <p:spPr>
          <a:xfrm flipV="1">
            <a:off x="1234440" y="4100400"/>
            <a:ext cx="2011680" cy="48600"/>
          </a:xfrm>
          <a:prstGeom prst="line">
            <a:avLst/>
          </a:prstGeom>
          <a:ln w="31750">
            <a:solidFill>
              <a:srgbClr val="9aa4b8"/>
            </a:solidFill>
            <a:round/>
          </a:ln>
        </p:spPr>
        <p:style>
          <a:lnRef idx="0"/>
          <a:fillRef idx="0"/>
          <a:effectRef idx="0"/>
          <a:fontRef idx="minor"/>
        </p:style>
        <p:txBody>
          <a:bodyPr lIns="90000" rIns="90000" tIns="3600" bIns="3600" anchor="t" anchorCtr="1">
            <a:noAutofit/>
          </a:bodyPr>
          <a:p>
            <a:endParaRPr b="0" lang="en-US" sz="1800" spc="-1" strike="noStrike">
              <a:solidFill>
                <a:srgbClr val="ffffff"/>
              </a:solidFill>
              <a:latin typeface="Arial"/>
            </a:endParaRPr>
          </a:p>
        </p:txBody>
      </p:sp>
      <p:sp>
        <p:nvSpPr>
          <p:cNvPr id="470" name="Shape 21"/>
          <p:cNvSpPr/>
          <p:nvPr/>
        </p:nvSpPr>
        <p:spPr>
          <a:xfrm>
            <a:off x="3246120" y="4100400"/>
            <a:ext cx="2011680" cy="133200"/>
          </a:xfrm>
          <a:prstGeom prst="line">
            <a:avLst/>
          </a:prstGeom>
          <a:ln w="31750">
            <a:solidFill>
              <a:srgbClr val="9aa4b8"/>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471" name="Shape 22"/>
          <p:cNvSpPr/>
          <p:nvPr/>
        </p:nvSpPr>
        <p:spPr>
          <a:xfrm>
            <a:off x="5257800" y="4233600"/>
            <a:ext cx="2011680" cy="91080"/>
          </a:xfrm>
          <a:prstGeom prst="line">
            <a:avLst/>
          </a:prstGeom>
          <a:ln w="31750">
            <a:solidFill>
              <a:srgbClr val="9aa4b8"/>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472" name="Shape 23"/>
          <p:cNvSpPr/>
          <p:nvPr/>
        </p:nvSpPr>
        <p:spPr>
          <a:xfrm>
            <a:off x="7269480" y="4324680"/>
            <a:ext cx="2011680" cy="36360"/>
          </a:xfrm>
          <a:prstGeom prst="line">
            <a:avLst/>
          </a:prstGeom>
          <a:ln w="31750">
            <a:solidFill>
              <a:srgbClr val="9aa4b8"/>
            </a:solidFill>
            <a:round/>
          </a:ln>
        </p:spPr>
        <p:style>
          <a:lnRef idx="0"/>
          <a:fillRef idx="0"/>
          <a:effectRef idx="0"/>
          <a:fontRef idx="minor"/>
        </p:style>
        <p:txBody>
          <a:bodyPr lIns="90000" rIns="90000" tIns="-8640" bIns="-8640" anchor="t" anchorCtr="1">
            <a:noAutofit/>
          </a:bodyPr>
          <a:p>
            <a:endParaRPr b="0" lang="en-US" sz="1800" spc="-1" strike="noStrike">
              <a:solidFill>
                <a:srgbClr val="ffffff"/>
              </a:solidFill>
              <a:latin typeface="Arial"/>
            </a:endParaRPr>
          </a:p>
        </p:txBody>
      </p:sp>
      <p:sp>
        <p:nvSpPr>
          <p:cNvPr id="473" name="Shape 24"/>
          <p:cNvSpPr/>
          <p:nvPr/>
        </p:nvSpPr>
        <p:spPr>
          <a:xfrm flipV="1">
            <a:off x="9281160" y="4276080"/>
            <a:ext cx="2011680" cy="84960"/>
          </a:xfrm>
          <a:prstGeom prst="line">
            <a:avLst/>
          </a:prstGeom>
          <a:ln w="31750">
            <a:solidFill>
              <a:srgbClr val="9aa4b8"/>
            </a:solidFill>
            <a:round/>
          </a:ln>
        </p:spPr>
        <p:style>
          <a:lnRef idx="0"/>
          <a:fillRef idx="0"/>
          <a:effectRef idx="0"/>
          <a:fontRef idx="minor"/>
        </p:style>
        <p:txBody>
          <a:bodyPr lIns="90000" rIns="90000" tIns="39960" bIns="39960" anchor="t" anchorCtr="1">
            <a:noAutofit/>
          </a:bodyPr>
          <a:p>
            <a:endParaRPr b="0" lang="en-US" sz="1800" spc="-1" strike="noStrike">
              <a:solidFill>
                <a:srgbClr val="ffffff"/>
              </a:solidFill>
              <a:latin typeface="Arial"/>
            </a:endParaRPr>
          </a:p>
        </p:txBody>
      </p:sp>
      <p:sp>
        <p:nvSpPr>
          <p:cNvPr id="474" name="Shape 25"/>
          <p:cNvSpPr/>
          <p:nvPr/>
        </p:nvSpPr>
        <p:spPr>
          <a:xfrm>
            <a:off x="1188720" y="4103280"/>
            <a:ext cx="90000" cy="90000"/>
          </a:xfrm>
          <a:prstGeom prst="ellipse">
            <a:avLst/>
          </a:prstGeom>
          <a:solidFill>
            <a:srgbClr val="9aa4b8"/>
          </a:solidFill>
          <a:ln w="12700">
            <a:solidFill>
              <a:srgbClr val="0f1420"/>
            </a:solidFill>
            <a:round/>
          </a:ln>
        </p:spPr>
        <p:style>
          <a:lnRef idx="0"/>
          <a:fillRef idx="0"/>
          <a:effectRef idx="0"/>
          <a:fontRef idx="minor"/>
        </p:style>
        <p:txBody>
          <a:bodyPr lIns="90000" rIns="90000" tIns="19440" bIns="19440" anchor="t">
            <a:noAutofit/>
          </a:bodyPr>
          <a:p>
            <a:pPr>
              <a:lnSpc>
                <a:spcPct val="100000"/>
              </a:lnSpc>
            </a:pPr>
            <a:endParaRPr b="0" lang="en-US" sz="1800" spc="-1" strike="noStrike">
              <a:solidFill>
                <a:srgbClr val="000000"/>
              </a:solidFill>
              <a:latin typeface="Arial"/>
            </a:endParaRPr>
          </a:p>
        </p:txBody>
      </p:sp>
      <p:sp>
        <p:nvSpPr>
          <p:cNvPr id="475" name="Shape 26"/>
          <p:cNvSpPr/>
          <p:nvPr/>
        </p:nvSpPr>
        <p:spPr>
          <a:xfrm>
            <a:off x="3200400" y="4055040"/>
            <a:ext cx="90000" cy="90000"/>
          </a:xfrm>
          <a:prstGeom prst="ellipse">
            <a:avLst/>
          </a:prstGeom>
          <a:solidFill>
            <a:srgbClr val="9aa4b8"/>
          </a:solidFill>
          <a:ln w="12700">
            <a:solidFill>
              <a:srgbClr val="0f1420"/>
            </a:solidFill>
            <a:round/>
          </a:ln>
        </p:spPr>
        <p:style>
          <a:lnRef idx="0"/>
          <a:fillRef idx="0"/>
          <a:effectRef idx="0"/>
          <a:fontRef idx="minor"/>
        </p:style>
        <p:txBody>
          <a:bodyPr lIns="90000" rIns="90000" tIns="19440" bIns="19440" anchor="t">
            <a:noAutofit/>
          </a:bodyPr>
          <a:p>
            <a:pPr>
              <a:lnSpc>
                <a:spcPct val="100000"/>
              </a:lnSpc>
            </a:pPr>
            <a:endParaRPr b="0" lang="en-US" sz="1800" spc="-1" strike="noStrike">
              <a:solidFill>
                <a:srgbClr val="000000"/>
              </a:solidFill>
              <a:latin typeface="Arial"/>
            </a:endParaRPr>
          </a:p>
        </p:txBody>
      </p:sp>
      <p:sp>
        <p:nvSpPr>
          <p:cNvPr id="476" name="Shape 27"/>
          <p:cNvSpPr/>
          <p:nvPr/>
        </p:nvSpPr>
        <p:spPr>
          <a:xfrm>
            <a:off x="5212080" y="4188240"/>
            <a:ext cx="90000" cy="90000"/>
          </a:xfrm>
          <a:prstGeom prst="ellipse">
            <a:avLst/>
          </a:prstGeom>
          <a:solidFill>
            <a:srgbClr val="9aa4b8"/>
          </a:solidFill>
          <a:ln w="12700">
            <a:solidFill>
              <a:srgbClr val="0f1420"/>
            </a:solidFill>
            <a:round/>
          </a:ln>
        </p:spPr>
        <p:style>
          <a:lnRef idx="0"/>
          <a:fillRef idx="0"/>
          <a:effectRef idx="0"/>
          <a:fontRef idx="minor"/>
        </p:style>
        <p:txBody>
          <a:bodyPr lIns="90000" rIns="90000" tIns="19440" bIns="19440" anchor="t">
            <a:noAutofit/>
          </a:bodyPr>
          <a:p>
            <a:pPr>
              <a:lnSpc>
                <a:spcPct val="100000"/>
              </a:lnSpc>
            </a:pPr>
            <a:endParaRPr b="0" lang="en-US" sz="1800" spc="-1" strike="noStrike">
              <a:solidFill>
                <a:srgbClr val="000000"/>
              </a:solidFill>
              <a:latin typeface="Arial"/>
            </a:endParaRPr>
          </a:p>
        </p:txBody>
      </p:sp>
      <p:sp>
        <p:nvSpPr>
          <p:cNvPr id="477" name="Shape 28"/>
          <p:cNvSpPr/>
          <p:nvPr/>
        </p:nvSpPr>
        <p:spPr>
          <a:xfrm>
            <a:off x="7223760" y="4278960"/>
            <a:ext cx="90000" cy="90000"/>
          </a:xfrm>
          <a:prstGeom prst="ellipse">
            <a:avLst/>
          </a:prstGeom>
          <a:solidFill>
            <a:srgbClr val="9aa4b8"/>
          </a:solidFill>
          <a:ln w="12700">
            <a:solidFill>
              <a:srgbClr val="0f1420"/>
            </a:solidFill>
            <a:round/>
          </a:ln>
        </p:spPr>
        <p:style>
          <a:lnRef idx="0"/>
          <a:fillRef idx="0"/>
          <a:effectRef idx="0"/>
          <a:fontRef idx="minor"/>
        </p:style>
        <p:txBody>
          <a:bodyPr lIns="90000" rIns="90000" tIns="19440" bIns="19440" anchor="t">
            <a:noAutofit/>
          </a:bodyPr>
          <a:p>
            <a:pPr>
              <a:lnSpc>
                <a:spcPct val="100000"/>
              </a:lnSpc>
            </a:pPr>
            <a:endParaRPr b="0" lang="en-US" sz="1800" spc="-1" strike="noStrike">
              <a:solidFill>
                <a:srgbClr val="000000"/>
              </a:solidFill>
              <a:latin typeface="Arial"/>
            </a:endParaRPr>
          </a:p>
        </p:txBody>
      </p:sp>
      <p:sp>
        <p:nvSpPr>
          <p:cNvPr id="478" name="Shape 29"/>
          <p:cNvSpPr/>
          <p:nvPr/>
        </p:nvSpPr>
        <p:spPr>
          <a:xfrm>
            <a:off x="9235440" y="4315320"/>
            <a:ext cx="90000" cy="90000"/>
          </a:xfrm>
          <a:prstGeom prst="ellipse">
            <a:avLst/>
          </a:prstGeom>
          <a:solidFill>
            <a:srgbClr val="9aa4b8"/>
          </a:solidFill>
          <a:ln w="12700">
            <a:solidFill>
              <a:srgbClr val="0f1420"/>
            </a:solidFill>
            <a:round/>
          </a:ln>
        </p:spPr>
        <p:style>
          <a:lnRef idx="0"/>
          <a:fillRef idx="0"/>
          <a:effectRef idx="0"/>
          <a:fontRef idx="minor"/>
        </p:style>
        <p:txBody>
          <a:bodyPr lIns="90000" rIns="90000" tIns="19440" bIns="19440" anchor="t">
            <a:noAutofit/>
          </a:bodyPr>
          <a:p>
            <a:pPr>
              <a:lnSpc>
                <a:spcPct val="100000"/>
              </a:lnSpc>
            </a:pPr>
            <a:endParaRPr b="0" lang="en-US" sz="1800" spc="-1" strike="noStrike">
              <a:solidFill>
                <a:srgbClr val="000000"/>
              </a:solidFill>
              <a:latin typeface="Arial"/>
            </a:endParaRPr>
          </a:p>
        </p:txBody>
      </p:sp>
      <p:sp>
        <p:nvSpPr>
          <p:cNvPr id="479" name="Shape 30"/>
          <p:cNvSpPr/>
          <p:nvPr/>
        </p:nvSpPr>
        <p:spPr>
          <a:xfrm>
            <a:off x="11247120" y="4230720"/>
            <a:ext cx="90000" cy="90000"/>
          </a:xfrm>
          <a:prstGeom prst="ellipse">
            <a:avLst/>
          </a:prstGeom>
          <a:solidFill>
            <a:srgbClr val="9aa4b8"/>
          </a:solidFill>
          <a:ln w="12700">
            <a:solidFill>
              <a:srgbClr val="0f1420"/>
            </a:solidFill>
            <a:round/>
          </a:ln>
        </p:spPr>
        <p:style>
          <a:lnRef idx="0"/>
          <a:fillRef idx="0"/>
          <a:effectRef idx="0"/>
          <a:fontRef idx="minor"/>
        </p:style>
        <p:txBody>
          <a:bodyPr lIns="90000" rIns="90000" tIns="19440" bIns="19440" anchor="t">
            <a:noAutofit/>
          </a:bodyPr>
          <a:p>
            <a:pPr>
              <a:lnSpc>
                <a:spcPct val="100000"/>
              </a:lnSpc>
            </a:pPr>
            <a:endParaRPr b="0" lang="en-US" sz="1800" spc="-1" strike="noStrike">
              <a:solidFill>
                <a:srgbClr val="000000"/>
              </a:solidFill>
              <a:latin typeface="Arial"/>
            </a:endParaRPr>
          </a:p>
        </p:txBody>
      </p:sp>
      <p:sp>
        <p:nvSpPr>
          <p:cNvPr id="480" name="Text 31"/>
          <p:cNvSpPr/>
          <p:nvPr/>
        </p:nvSpPr>
        <p:spPr>
          <a:xfrm>
            <a:off x="11365920" y="4157280"/>
            <a:ext cx="501480" cy="236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50" spc="-1" strike="noStrike">
                <a:solidFill>
                  <a:srgbClr val="9aa4b8"/>
                </a:solidFill>
                <a:latin typeface="Consolas"/>
                <a:ea typeface="Consolas"/>
              </a:rPr>
              <a:t>79</a:t>
            </a:r>
            <a:endParaRPr b="0" lang="en-US" sz="1050" spc="-1" strike="noStrike">
              <a:solidFill>
                <a:srgbClr val="ffffff"/>
              </a:solidFill>
              <a:latin typeface="Arial"/>
            </a:endParaRPr>
          </a:p>
        </p:txBody>
      </p:sp>
      <p:sp>
        <p:nvSpPr>
          <p:cNvPr id="481" name="Shape 32"/>
          <p:cNvSpPr/>
          <p:nvPr/>
        </p:nvSpPr>
        <p:spPr>
          <a:xfrm>
            <a:off x="1234440" y="4149000"/>
            <a:ext cx="2011680" cy="42480"/>
          </a:xfrm>
          <a:prstGeom prst="line">
            <a:avLst/>
          </a:prstGeom>
          <a:ln w="31750">
            <a:solidFill>
              <a:srgbClr val="3e8fe0"/>
            </a:solidFill>
            <a:round/>
          </a:ln>
        </p:spPr>
        <p:style>
          <a:lnRef idx="0"/>
          <a:fillRef idx="0"/>
          <a:effectRef idx="0"/>
          <a:fontRef idx="minor"/>
        </p:style>
        <p:txBody>
          <a:bodyPr lIns="90000" rIns="90000" tIns="-2520" bIns="-2520" anchor="t" anchorCtr="1">
            <a:noAutofit/>
          </a:bodyPr>
          <a:p>
            <a:endParaRPr b="0" lang="en-US" sz="1800" spc="-1" strike="noStrike">
              <a:solidFill>
                <a:srgbClr val="ffffff"/>
              </a:solidFill>
              <a:latin typeface="Arial"/>
            </a:endParaRPr>
          </a:p>
        </p:txBody>
      </p:sp>
      <p:sp>
        <p:nvSpPr>
          <p:cNvPr id="482" name="Shape 33"/>
          <p:cNvSpPr/>
          <p:nvPr/>
        </p:nvSpPr>
        <p:spPr>
          <a:xfrm flipV="1">
            <a:off x="3246120" y="3876480"/>
            <a:ext cx="2011680" cy="315000"/>
          </a:xfrm>
          <a:prstGeom prst="line">
            <a:avLst/>
          </a:prstGeom>
          <a:ln w="31750">
            <a:solidFill>
              <a:srgbClr val="3e8fe0"/>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483" name="Shape 34"/>
          <p:cNvSpPr/>
          <p:nvPr/>
        </p:nvSpPr>
        <p:spPr>
          <a:xfrm flipV="1">
            <a:off x="5257800" y="3864240"/>
            <a:ext cx="2011680" cy="12240"/>
          </a:xfrm>
          <a:prstGeom prst="line">
            <a:avLst/>
          </a:prstGeom>
          <a:ln w="31750">
            <a:solidFill>
              <a:srgbClr val="3e8fe0"/>
            </a:solidFill>
            <a:round/>
          </a:ln>
        </p:spPr>
        <p:style>
          <a:lnRef idx="0"/>
          <a:fillRef idx="0"/>
          <a:effectRef idx="0"/>
          <a:fontRef idx="minor"/>
        </p:style>
        <p:txBody>
          <a:bodyPr lIns="90000" rIns="90000" tIns="-32760" bIns="-32760" anchor="t" anchorCtr="1">
            <a:noAutofit/>
          </a:bodyPr>
          <a:p>
            <a:endParaRPr b="0" lang="en-US" sz="1800" spc="-1" strike="noStrike">
              <a:solidFill>
                <a:srgbClr val="ffffff"/>
              </a:solidFill>
              <a:latin typeface="Arial"/>
            </a:endParaRPr>
          </a:p>
        </p:txBody>
      </p:sp>
      <p:sp>
        <p:nvSpPr>
          <p:cNvPr id="484" name="Shape 35"/>
          <p:cNvSpPr/>
          <p:nvPr/>
        </p:nvSpPr>
        <p:spPr>
          <a:xfrm>
            <a:off x="7269480" y="3864240"/>
            <a:ext cx="2011680" cy="151560"/>
          </a:xfrm>
          <a:prstGeom prst="line">
            <a:avLst/>
          </a:prstGeom>
          <a:ln w="31750">
            <a:solidFill>
              <a:srgbClr val="3e8fe0"/>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485" name="Shape 36"/>
          <p:cNvSpPr/>
          <p:nvPr/>
        </p:nvSpPr>
        <p:spPr>
          <a:xfrm>
            <a:off x="9281160" y="4015800"/>
            <a:ext cx="2011680" cy="42120"/>
          </a:xfrm>
          <a:prstGeom prst="line">
            <a:avLst/>
          </a:prstGeom>
          <a:ln w="31750">
            <a:solidFill>
              <a:srgbClr val="3e8fe0"/>
            </a:solidFill>
            <a:round/>
          </a:ln>
        </p:spPr>
        <p:style>
          <a:lnRef idx="0"/>
          <a:fillRef idx="0"/>
          <a:effectRef idx="0"/>
          <a:fontRef idx="minor"/>
        </p:style>
        <p:txBody>
          <a:bodyPr lIns="90000" rIns="90000" tIns="-2880" bIns="-2880" anchor="t" anchorCtr="1">
            <a:noAutofit/>
          </a:bodyPr>
          <a:p>
            <a:endParaRPr b="0" lang="en-US" sz="1800" spc="-1" strike="noStrike">
              <a:solidFill>
                <a:srgbClr val="ffffff"/>
              </a:solidFill>
              <a:latin typeface="Arial"/>
            </a:endParaRPr>
          </a:p>
        </p:txBody>
      </p:sp>
      <p:sp>
        <p:nvSpPr>
          <p:cNvPr id="486" name="Shape 37"/>
          <p:cNvSpPr/>
          <p:nvPr/>
        </p:nvSpPr>
        <p:spPr>
          <a:xfrm>
            <a:off x="1188720" y="4103280"/>
            <a:ext cx="90000" cy="90000"/>
          </a:xfrm>
          <a:prstGeom prst="ellipse">
            <a:avLst/>
          </a:prstGeom>
          <a:solidFill>
            <a:srgbClr val="3e8fe0"/>
          </a:solidFill>
          <a:ln w="12700">
            <a:solidFill>
              <a:srgbClr val="0f1420"/>
            </a:solidFill>
            <a:round/>
          </a:ln>
        </p:spPr>
        <p:style>
          <a:lnRef idx="0"/>
          <a:fillRef idx="0"/>
          <a:effectRef idx="0"/>
          <a:fontRef idx="minor"/>
        </p:style>
        <p:txBody>
          <a:bodyPr lIns="90000" rIns="90000" tIns="19440" bIns="19440" anchor="t">
            <a:noAutofit/>
          </a:bodyPr>
          <a:p>
            <a:pPr>
              <a:lnSpc>
                <a:spcPct val="100000"/>
              </a:lnSpc>
            </a:pPr>
            <a:endParaRPr b="0" lang="en-US" sz="1800" spc="-1" strike="noStrike">
              <a:solidFill>
                <a:srgbClr val="ffffff"/>
              </a:solidFill>
              <a:latin typeface="Arial"/>
            </a:endParaRPr>
          </a:p>
        </p:txBody>
      </p:sp>
      <p:sp>
        <p:nvSpPr>
          <p:cNvPr id="487" name="Shape 38"/>
          <p:cNvSpPr/>
          <p:nvPr/>
        </p:nvSpPr>
        <p:spPr>
          <a:xfrm>
            <a:off x="3200400" y="4145760"/>
            <a:ext cx="90000" cy="90000"/>
          </a:xfrm>
          <a:prstGeom prst="ellipse">
            <a:avLst/>
          </a:prstGeom>
          <a:solidFill>
            <a:srgbClr val="3e8fe0"/>
          </a:solidFill>
          <a:ln w="12700">
            <a:solidFill>
              <a:srgbClr val="0f1420"/>
            </a:solidFill>
            <a:round/>
          </a:ln>
        </p:spPr>
        <p:style>
          <a:lnRef idx="0"/>
          <a:fillRef idx="0"/>
          <a:effectRef idx="0"/>
          <a:fontRef idx="minor"/>
        </p:style>
        <p:txBody>
          <a:bodyPr lIns="90000" rIns="90000" tIns="19440" bIns="19440" anchor="t">
            <a:noAutofit/>
          </a:bodyPr>
          <a:p>
            <a:pPr>
              <a:lnSpc>
                <a:spcPct val="100000"/>
              </a:lnSpc>
            </a:pPr>
            <a:endParaRPr b="0" lang="en-US" sz="1800" spc="-1" strike="noStrike">
              <a:solidFill>
                <a:srgbClr val="ffffff"/>
              </a:solidFill>
              <a:latin typeface="Arial"/>
            </a:endParaRPr>
          </a:p>
        </p:txBody>
      </p:sp>
      <p:sp>
        <p:nvSpPr>
          <p:cNvPr id="488" name="Shape 39"/>
          <p:cNvSpPr/>
          <p:nvPr/>
        </p:nvSpPr>
        <p:spPr>
          <a:xfrm>
            <a:off x="5212080" y="3830760"/>
            <a:ext cx="90000" cy="90000"/>
          </a:xfrm>
          <a:prstGeom prst="ellipse">
            <a:avLst/>
          </a:prstGeom>
          <a:solidFill>
            <a:srgbClr val="3e8fe0"/>
          </a:solidFill>
          <a:ln w="12700">
            <a:solidFill>
              <a:srgbClr val="0f1420"/>
            </a:solidFill>
            <a:round/>
          </a:ln>
        </p:spPr>
        <p:style>
          <a:lnRef idx="0"/>
          <a:fillRef idx="0"/>
          <a:effectRef idx="0"/>
          <a:fontRef idx="minor"/>
        </p:style>
        <p:txBody>
          <a:bodyPr lIns="90000" rIns="90000" tIns="19440" bIns="19440" anchor="t">
            <a:noAutofit/>
          </a:bodyPr>
          <a:p>
            <a:pPr>
              <a:lnSpc>
                <a:spcPct val="100000"/>
              </a:lnSpc>
            </a:pPr>
            <a:endParaRPr b="0" lang="en-US" sz="1800" spc="-1" strike="noStrike">
              <a:solidFill>
                <a:srgbClr val="ffffff"/>
              </a:solidFill>
              <a:latin typeface="Arial"/>
            </a:endParaRPr>
          </a:p>
        </p:txBody>
      </p:sp>
      <p:sp>
        <p:nvSpPr>
          <p:cNvPr id="489" name="Shape 40"/>
          <p:cNvSpPr/>
          <p:nvPr/>
        </p:nvSpPr>
        <p:spPr>
          <a:xfrm>
            <a:off x="7223760" y="3818520"/>
            <a:ext cx="90000" cy="90000"/>
          </a:xfrm>
          <a:prstGeom prst="ellipse">
            <a:avLst/>
          </a:prstGeom>
          <a:solidFill>
            <a:srgbClr val="3e8fe0"/>
          </a:solidFill>
          <a:ln w="12700">
            <a:solidFill>
              <a:srgbClr val="0f1420"/>
            </a:solidFill>
            <a:round/>
          </a:ln>
        </p:spPr>
        <p:style>
          <a:lnRef idx="0"/>
          <a:fillRef idx="0"/>
          <a:effectRef idx="0"/>
          <a:fontRef idx="minor"/>
        </p:style>
        <p:txBody>
          <a:bodyPr lIns="90000" rIns="90000" tIns="19440" bIns="19440" anchor="t">
            <a:noAutofit/>
          </a:bodyPr>
          <a:p>
            <a:pPr>
              <a:lnSpc>
                <a:spcPct val="100000"/>
              </a:lnSpc>
            </a:pPr>
            <a:endParaRPr b="0" lang="en-US" sz="1800" spc="-1" strike="noStrike">
              <a:solidFill>
                <a:srgbClr val="ffffff"/>
              </a:solidFill>
              <a:latin typeface="Arial"/>
            </a:endParaRPr>
          </a:p>
        </p:txBody>
      </p:sp>
      <p:sp>
        <p:nvSpPr>
          <p:cNvPr id="490" name="Shape 41"/>
          <p:cNvSpPr/>
          <p:nvPr/>
        </p:nvSpPr>
        <p:spPr>
          <a:xfrm>
            <a:off x="9235440" y="3970080"/>
            <a:ext cx="90000" cy="90000"/>
          </a:xfrm>
          <a:prstGeom prst="ellipse">
            <a:avLst/>
          </a:prstGeom>
          <a:solidFill>
            <a:srgbClr val="3e8fe0"/>
          </a:solidFill>
          <a:ln w="12700">
            <a:solidFill>
              <a:srgbClr val="0f1420"/>
            </a:solidFill>
            <a:round/>
          </a:ln>
        </p:spPr>
        <p:style>
          <a:lnRef idx="0"/>
          <a:fillRef idx="0"/>
          <a:effectRef idx="0"/>
          <a:fontRef idx="minor"/>
        </p:style>
        <p:txBody>
          <a:bodyPr lIns="90000" rIns="90000" tIns="19440" bIns="19440" anchor="t">
            <a:noAutofit/>
          </a:bodyPr>
          <a:p>
            <a:pPr>
              <a:lnSpc>
                <a:spcPct val="100000"/>
              </a:lnSpc>
            </a:pPr>
            <a:endParaRPr b="0" lang="en-US" sz="1800" spc="-1" strike="noStrike">
              <a:solidFill>
                <a:srgbClr val="ffffff"/>
              </a:solidFill>
              <a:latin typeface="Arial"/>
            </a:endParaRPr>
          </a:p>
        </p:txBody>
      </p:sp>
      <p:sp>
        <p:nvSpPr>
          <p:cNvPr id="491" name="Shape 42"/>
          <p:cNvSpPr/>
          <p:nvPr/>
        </p:nvSpPr>
        <p:spPr>
          <a:xfrm>
            <a:off x="11247120" y="4012560"/>
            <a:ext cx="90000" cy="90000"/>
          </a:xfrm>
          <a:prstGeom prst="ellipse">
            <a:avLst/>
          </a:prstGeom>
          <a:solidFill>
            <a:srgbClr val="3e8fe0"/>
          </a:solidFill>
          <a:ln w="12700">
            <a:solidFill>
              <a:srgbClr val="0f1420"/>
            </a:solidFill>
            <a:round/>
          </a:ln>
        </p:spPr>
        <p:style>
          <a:lnRef idx="0"/>
          <a:fillRef idx="0"/>
          <a:effectRef idx="0"/>
          <a:fontRef idx="minor"/>
        </p:style>
        <p:txBody>
          <a:bodyPr lIns="90000" rIns="90000" tIns="19440" bIns="19440" anchor="t">
            <a:noAutofit/>
          </a:bodyPr>
          <a:p>
            <a:pPr>
              <a:lnSpc>
                <a:spcPct val="100000"/>
              </a:lnSpc>
            </a:pPr>
            <a:endParaRPr b="0" lang="en-US" sz="1800" spc="-1" strike="noStrike">
              <a:solidFill>
                <a:srgbClr val="ffffff"/>
              </a:solidFill>
              <a:latin typeface="Arial"/>
            </a:endParaRPr>
          </a:p>
        </p:txBody>
      </p:sp>
      <p:sp>
        <p:nvSpPr>
          <p:cNvPr id="492" name="Text 43"/>
          <p:cNvSpPr/>
          <p:nvPr/>
        </p:nvSpPr>
        <p:spPr>
          <a:xfrm>
            <a:off x="11365920" y="3939480"/>
            <a:ext cx="501480" cy="236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50" spc="-1" strike="noStrike">
                <a:solidFill>
                  <a:srgbClr val="3e8fe0"/>
                </a:solidFill>
                <a:latin typeface="Consolas"/>
                <a:ea typeface="Consolas"/>
              </a:rPr>
              <a:t>115</a:t>
            </a:r>
            <a:endParaRPr b="0" lang="en-US" sz="1050" spc="-1" strike="noStrike">
              <a:solidFill>
                <a:srgbClr val="ffffff"/>
              </a:solidFill>
              <a:latin typeface="Arial"/>
            </a:endParaRPr>
          </a:p>
        </p:txBody>
      </p:sp>
      <p:sp>
        <p:nvSpPr>
          <p:cNvPr id="493" name="Shape 44"/>
          <p:cNvSpPr/>
          <p:nvPr/>
        </p:nvSpPr>
        <p:spPr>
          <a:xfrm flipV="1">
            <a:off x="1234440" y="3845880"/>
            <a:ext cx="2011680" cy="303120"/>
          </a:xfrm>
          <a:prstGeom prst="line">
            <a:avLst/>
          </a:prstGeom>
          <a:ln w="31750">
            <a:solidFill>
              <a:srgbClr val="e8804f"/>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494" name="Shape 45"/>
          <p:cNvSpPr/>
          <p:nvPr/>
        </p:nvSpPr>
        <p:spPr>
          <a:xfrm flipV="1">
            <a:off x="3246120" y="3767400"/>
            <a:ext cx="2011680" cy="78480"/>
          </a:xfrm>
          <a:prstGeom prst="line">
            <a:avLst/>
          </a:prstGeom>
          <a:ln w="31750">
            <a:solidFill>
              <a:srgbClr val="e8804f"/>
            </a:solidFill>
            <a:round/>
          </a:ln>
        </p:spPr>
        <p:style>
          <a:lnRef idx="0"/>
          <a:fillRef idx="0"/>
          <a:effectRef idx="0"/>
          <a:fontRef idx="minor"/>
        </p:style>
        <p:txBody>
          <a:bodyPr lIns="90000" rIns="90000" tIns="33480" bIns="33480" anchor="t" anchorCtr="1">
            <a:noAutofit/>
          </a:bodyPr>
          <a:p>
            <a:endParaRPr b="0" lang="en-US" sz="1800" spc="-1" strike="noStrike">
              <a:solidFill>
                <a:srgbClr val="ffffff"/>
              </a:solidFill>
              <a:latin typeface="Arial"/>
            </a:endParaRPr>
          </a:p>
        </p:txBody>
      </p:sp>
      <p:sp>
        <p:nvSpPr>
          <p:cNvPr id="495" name="Shape 46"/>
          <p:cNvSpPr/>
          <p:nvPr/>
        </p:nvSpPr>
        <p:spPr>
          <a:xfrm flipV="1">
            <a:off x="5257800" y="3464280"/>
            <a:ext cx="2011680" cy="303120"/>
          </a:xfrm>
          <a:prstGeom prst="line">
            <a:avLst/>
          </a:prstGeom>
          <a:ln w="31750">
            <a:solidFill>
              <a:srgbClr val="e8804f"/>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496" name="Shape 47"/>
          <p:cNvSpPr/>
          <p:nvPr/>
        </p:nvSpPr>
        <p:spPr>
          <a:xfrm flipV="1">
            <a:off x="7269480" y="3028320"/>
            <a:ext cx="2011680" cy="435960"/>
          </a:xfrm>
          <a:prstGeom prst="line">
            <a:avLst/>
          </a:prstGeom>
          <a:ln w="31750">
            <a:solidFill>
              <a:srgbClr val="e8804f"/>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497" name="Shape 48"/>
          <p:cNvSpPr/>
          <p:nvPr/>
        </p:nvSpPr>
        <p:spPr>
          <a:xfrm flipV="1">
            <a:off x="9281160" y="2555640"/>
            <a:ext cx="2011680" cy="472680"/>
          </a:xfrm>
          <a:prstGeom prst="line">
            <a:avLst/>
          </a:prstGeom>
          <a:ln w="31750">
            <a:solidFill>
              <a:srgbClr val="e8804f"/>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498" name="Shape 49"/>
          <p:cNvSpPr/>
          <p:nvPr/>
        </p:nvSpPr>
        <p:spPr>
          <a:xfrm>
            <a:off x="1188720" y="4103280"/>
            <a:ext cx="90000" cy="90000"/>
          </a:xfrm>
          <a:prstGeom prst="ellipse">
            <a:avLst/>
          </a:prstGeom>
          <a:solidFill>
            <a:srgbClr val="e8804f"/>
          </a:solidFill>
          <a:ln w="12700">
            <a:solidFill>
              <a:srgbClr val="0f1420"/>
            </a:solidFill>
            <a:round/>
          </a:ln>
        </p:spPr>
        <p:style>
          <a:lnRef idx="0"/>
          <a:fillRef idx="0"/>
          <a:effectRef idx="0"/>
          <a:fontRef idx="minor"/>
        </p:style>
        <p:txBody>
          <a:bodyPr lIns="90000" rIns="90000" tIns="19440" bIns="19440" anchor="t">
            <a:noAutofit/>
          </a:bodyPr>
          <a:p>
            <a:pPr>
              <a:lnSpc>
                <a:spcPct val="100000"/>
              </a:lnSpc>
            </a:pPr>
            <a:endParaRPr b="0" lang="en-US" sz="1800" spc="-1" strike="noStrike">
              <a:solidFill>
                <a:srgbClr val="ffffff"/>
              </a:solidFill>
              <a:latin typeface="Arial"/>
            </a:endParaRPr>
          </a:p>
        </p:txBody>
      </p:sp>
      <p:sp>
        <p:nvSpPr>
          <p:cNvPr id="499" name="Shape 50"/>
          <p:cNvSpPr/>
          <p:nvPr/>
        </p:nvSpPr>
        <p:spPr>
          <a:xfrm>
            <a:off x="3200400" y="3800520"/>
            <a:ext cx="90000" cy="90000"/>
          </a:xfrm>
          <a:prstGeom prst="ellipse">
            <a:avLst/>
          </a:prstGeom>
          <a:solidFill>
            <a:srgbClr val="e8804f"/>
          </a:solidFill>
          <a:ln w="12700">
            <a:solidFill>
              <a:srgbClr val="0f1420"/>
            </a:solidFill>
            <a:round/>
          </a:ln>
        </p:spPr>
        <p:style>
          <a:lnRef idx="0"/>
          <a:fillRef idx="0"/>
          <a:effectRef idx="0"/>
          <a:fontRef idx="minor"/>
        </p:style>
        <p:txBody>
          <a:bodyPr lIns="90000" rIns="90000" tIns="19440" bIns="19440" anchor="t">
            <a:noAutofit/>
          </a:bodyPr>
          <a:p>
            <a:pPr>
              <a:lnSpc>
                <a:spcPct val="100000"/>
              </a:lnSpc>
            </a:pPr>
            <a:endParaRPr b="0" lang="en-US" sz="1800" spc="-1" strike="noStrike">
              <a:solidFill>
                <a:srgbClr val="ffffff"/>
              </a:solidFill>
              <a:latin typeface="Arial"/>
            </a:endParaRPr>
          </a:p>
        </p:txBody>
      </p:sp>
      <p:sp>
        <p:nvSpPr>
          <p:cNvPr id="500" name="Shape 51"/>
          <p:cNvSpPr/>
          <p:nvPr/>
        </p:nvSpPr>
        <p:spPr>
          <a:xfrm>
            <a:off x="5212080" y="3721680"/>
            <a:ext cx="90000" cy="90000"/>
          </a:xfrm>
          <a:prstGeom prst="ellipse">
            <a:avLst/>
          </a:prstGeom>
          <a:solidFill>
            <a:srgbClr val="e8804f"/>
          </a:solidFill>
          <a:ln w="12700">
            <a:solidFill>
              <a:srgbClr val="0f1420"/>
            </a:solidFill>
            <a:round/>
          </a:ln>
        </p:spPr>
        <p:style>
          <a:lnRef idx="0"/>
          <a:fillRef idx="0"/>
          <a:effectRef idx="0"/>
          <a:fontRef idx="minor"/>
        </p:style>
        <p:txBody>
          <a:bodyPr lIns="90000" rIns="90000" tIns="19440" bIns="19440" anchor="t">
            <a:noAutofit/>
          </a:bodyPr>
          <a:p>
            <a:pPr>
              <a:lnSpc>
                <a:spcPct val="100000"/>
              </a:lnSpc>
            </a:pPr>
            <a:endParaRPr b="0" lang="en-US" sz="1800" spc="-1" strike="noStrike">
              <a:solidFill>
                <a:srgbClr val="ffffff"/>
              </a:solidFill>
              <a:latin typeface="Arial"/>
            </a:endParaRPr>
          </a:p>
        </p:txBody>
      </p:sp>
      <p:sp>
        <p:nvSpPr>
          <p:cNvPr id="501" name="Shape 52"/>
          <p:cNvSpPr/>
          <p:nvPr/>
        </p:nvSpPr>
        <p:spPr>
          <a:xfrm>
            <a:off x="7223760" y="3418920"/>
            <a:ext cx="90000" cy="90000"/>
          </a:xfrm>
          <a:prstGeom prst="ellipse">
            <a:avLst/>
          </a:prstGeom>
          <a:solidFill>
            <a:srgbClr val="e8804f"/>
          </a:solidFill>
          <a:ln w="12700">
            <a:solidFill>
              <a:srgbClr val="0f1420"/>
            </a:solidFill>
            <a:round/>
          </a:ln>
        </p:spPr>
        <p:style>
          <a:lnRef idx="0"/>
          <a:fillRef idx="0"/>
          <a:effectRef idx="0"/>
          <a:fontRef idx="minor"/>
        </p:style>
        <p:txBody>
          <a:bodyPr lIns="90000" rIns="90000" tIns="19440" bIns="19440" anchor="t">
            <a:noAutofit/>
          </a:bodyPr>
          <a:p>
            <a:pPr>
              <a:lnSpc>
                <a:spcPct val="100000"/>
              </a:lnSpc>
            </a:pPr>
            <a:endParaRPr b="0" lang="en-US" sz="1800" spc="-1" strike="noStrike">
              <a:solidFill>
                <a:srgbClr val="ffffff"/>
              </a:solidFill>
              <a:latin typeface="Arial"/>
            </a:endParaRPr>
          </a:p>
        </p:txBody>
      </p:sp>
      <p:sp>
        <p:nvSpPr>
          <p:cNvPr id="502" name="Shape 53"/>
          <p:cNvSpPr/>
          <p:nvPr/>
        </p:nvSpPr>
        <p:spPr>
          <a:xfrm>
            <a:off x="9235440" y="2982600"/>
            <a:ext cx="90000" cy="90000"/>
          </a:xfrm>
          <a:prstGeom prst="ellipse">
            <a:avLst/>
          </a:prstGeom>
          <a:solidFill>
            <a:srgbClr val="e8804f"/>
          </a:solidFill>
          <a:ln w="12700">
            <a:solidFill>
              <a:srgbClr val="0f1420"/>
            </a:solidFill>
            <a:round/>
          </a:ln>
        </p:spPr>
        <p:style>
          <a:lnRef idx="0"/>
          <a:fillRef idx="0"/>
          <a:effectRef idx="0"/>
          <a:fontRef idx="minor"/>
        </p:style>
        <p:txBody>
          <a:bodyPr lIns="90000" rIns="90000" tIns="19440" bIns="19440" anchor="t">
            <a:noAutofit/>
          </a:bodyPr>
          <a:p>
            <a:pPr>
              <a:lnSpc>
                <a:spcPct val="100000"/>
              </a:lnSpc>
            </a:pPr>
            <a:endParaRPr b="0" lang="en-US" sz="1800" spc="-1" strike="noStrike">
              <a:solidFill>
                <a:srgbClr val="ffffff"/>
              </a:solidFill>
              <a:latin typeface="Arial"/>
            </a:endParaRPr>
          </a:p>
        </p:txBody>
      </p:sp>
      <p:sp>
        <p:nvSpPr>
          <p:cNvPr id="503" name="Shape 54"/>
          <p:cNvSpPr/>
          <p:nvPr/>
        </p:nvSpPr>
        <p:spPr>
          <a:xfrm>
            <a:off x="11247120" y="2510280"/>
            <a:ext cx="90000" cy="90000"/>
          </a:xfrm>
          <a:prstGeom prst="ellipse">
            <a:avLst/>
          </a:prstGeom>
          <a:solidFill>
            <a:srgbClr val="e8804f"/>
          </a:solidFill>
          <a:ln w="12700">
            <a:solidFill>
              <a:srgbClr val="0f1420"/>
            </a:solidFill>
            <a:round/>
          </a:ln>
        </p:spPr>
        <p:style>
          <a:lnRef idx="0"/>
          <a:fillRef idx="0"/>
          <a:effectRef idx="0"/>
          <a:fontRef idx="minor"/>
        </p:style>
        <p:txBody>
          <a:bodyPr lIns="90000" rIns="90000" tIns="19440" bIns="19440" anchor="t">
            <a:noAutofit/>
          </a:bodyPr>
          <a:p>
            <a:pPr>
              <a:lnSpc>
                <a:spcPct val="100000"/>
              </a:lnSpc>
            </a:pPr>
            <a:endParaRPr b="0" lang="en-US" sz="1800" spc="-1" strike="noStrike">
              <a:solidFill>
                <a:srgbClr val="ffffff"/>
              </a:solidFill>
              <a:latin typeface="Arial"/>
            </a:endParaRPr>
          </a:p>
        </p:txBody>
      </p:sp>
      <p:sp>
        <p:nvSpPr>
          <p:cNvPr id="504" name="Text 55"/>
          <p:cNvSpPr/>
          <p:nvPr/>
        </p:nvSpPr>
        <p:spPr>
          <a:xfrm>
            <a:off x="11365920" y="2436840"/>
            <a:ext cx="501480" cy="236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50" spc="-1" strike="noStrike">
                <a:solidFill>
                  <a:srgbClr val="e8804f"/>
                </a:solidFill>
                <a:latin typeface="Consolas"/>
                <a:ea typeface="Consolas"/>
              </a:rPr>
              <a:t>363</a:t>
            </a:r>
            <a:endParaRPr b="0" lang="en-US" sz="1050" spc="-1" strike="noStrike">
              <a:solidFill>
                <a:srgbClr val="ffffff"/>
              </a:solidFill>
              <a:latin typeface="Arial"/>
            </a:endParaRPr>
          </a:p>
        </p:txBody>
      </p:sp>
      <p:sp>
        <p:nvSpPr>
          <p:cNvPr id="505" name="Text 56"/>
          <p:cNvSpPr/>
          <p:nvPr/>
        </p:nvSpPr>
        <p:spPr>
          <a:xfrm>
            <a:off x="868680" y="4846320"/>
            <a:ext cx="730080" cy="2545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50" spc="-1" strike="noStrike">
                <a:solidFill>
                  <a:srgbClr val="edeff4"/>
                </a:solidFill>
                <a:latin typeface="Arial"/>
                <a:ea typeface="Arial"/>
              </a:rPr>
              <a:t>2021</a:t>
            </a:r>
            <a:endParaRPr b="0" lang="en-US" sz="1050" spc="-1" strike="noStrike">
              <a:solidFill>
                <a:srgbClr val="ffffff"/>
              </a:solidFill>
              <a:latin typeface="Arial"/>
            </a:endParaRPr>
          </a:p>
        </p:txBody>
      </p:sp>
      <p:sp>
        <p:nvSpPr>
          <p:cNvPr id="506" name="Text 57"/>
          <p:cNvSpPr/>
          <p:nvPr/>
        </p:nvSpPr>
        <p:spPr>
          <a:xfrm>
            <a:off x="2880360" y="4846320"/>
            <a:ext cx="730080" cy="2545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50" spc="-1" strike="noStrike">
                <a:solidFill>
                  <a:srgbClr val="edeff4"/>
                </a:solidFill>
                <a:latin typeface="Arial"/>
                <a:ea typeface="Arial"/>
              </a:rPr>
              <a:t>2022</a:t>
            </a:r>
            <a:endParaRPr b="0" lang="en-US" sz="1050" spc="-1" strike="noStrike">
              <a:solidFill>
                <a:srgbClr val="ffffff"/>
              </a:solidFill>
              <a:latin typeface="Arial"/>
            </a:endParaRPr>
          </a:p>
        </p:txBody>
      </p:sp>
      <p:sp>
        <p:nvSpPr>
          <p:cNvPr id="507" name="Text 58"/>
          <p:cNvSpPr/>
          <p:nvPr/>
        </p:nvSpPr>
        <p:spPr>
          <a:xfrm>
            <a:off x="4892040" y="4846320"/>
            <a:ext cx="730080" cy="2545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50" spc="-1" strike="noStrike">
                <a:solidFill>
                  <a:srgbClr val="edeff4"/>
                </a:solidFill>
                <a:latin typeface="Arial"/>
                <a:ea typeface="Arial"/>
              </a:rPr>
              <a:t>2023</a:t>
            </a:r>
            <a:endParaRPr b="0" lang="en-US" sz="1050" spc="-1" strike="noStrike">
              <a:solidFill>
                <a:srgbClr val="ffffff"/>
              </a:solidFill>
              <a:latin typeface="Arial"/>
            </a:endParaRPr>
          </a:p>
        </p:txBody>
      </p:sp>
      <p:sp>
        <p:nvSpPr>
          <p:cNvPr id="508" name="Text 59"/>
          <p:cNvSpPr/>
          <p:nvPr/>
        </p:nvSpPr>
        <p:spPr>
          <a:xfrm>
            <a:off x="6903720" y="4846320"/>
            <a:ext cx="730080" cy="2545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50" spc="-1" strike="noStrike">
                <a:solidFill>
                  <a:srgbClr val="edeff4"/>
                </a:solidFill>
                <a:latin typeface="Arial"/>
                <a:ea typeface="Arial"/>
              </a:rPr>
              <a:t>2024</a:t>
            </a:r>
            <a:endParaRPr b="0" lang="en-US" sz="1050" spc="-1" strike="noStrike">
              <a:solidFill>
                <a:srgbClr val="ffffff"/>
              </a:solidFill>
              <a:latin typeface="Arial"/>
            </a:endParaRPr>
          </a:p>
        </p:txBody>
      </p:sp>
      <p:sp>
        <p:nvSpPr>
          <p:cNvPr id="509" name="Text 60"/>
          <p:cNvSpPr/>
          <p:nvPr/>
        </p:nvSpPr>
        <p:spPr>
          <a:xfrm>
            <a:off x="8915400" y="4846320"/>
            <a:ext cx="730080" cy="2545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50" spc="-1" strike="noStrike">
                <a:solidFill>
                  <a:srgbClr val="edeff4"/>
                </a:solidFill>
                <a:latin typeface="Arial"/>
                <a:ea typeface="Arial"/>
              </a:rPr>
              <a:t>2025</a:t>
            </a:r>
            <a:endParaRPr b="0" lang="en-US" sz="1050" spc="-1" strike="noStrike">
              <a:solidFill>
                <a:srgbClr val="ffffff"/>
              </a:solidFill>
              <a:latin typeface="Arial"/>
            </a:endParaRPr>
          </a:p>
        </p:txBody>
      </p:sp>
      <p:sp>
        <p:nvSpPr>
          <p:cNvPr id="510" name="Text 61"/>
          <p:cNvSpPr/>
          <p:nvPr/>
        </p:nvSpPr>
        <p:spPr>
          <a:xfrm>
            <a:off x="10927080" y="4846320"/>
            <a:ext cx="730080" cy="2545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50" spc="-1" strike="noStrike">
                <a:solidFill>
                  <a:srgbClr val="edeff4"/>
                </a:solidFill>
                <a:latin typeface="Arial"/>
                <a:ea typeface="Arial"/>
              </a:rPr>
              <a:t>2026</a:t>
            </a:r>
            <a:endParaRPr b="0" lang="en-US" sz="1050" spc="-1" strike="noStrike">
              <a:solidFill>
                <a:srgbClr val="ffffff"/>
              </a:solidFill>
              <a:latin typeface="Arial"/>
            </a:endParaRPr>
          </a:p>
        </p:txBody>
      </p:sp>
      <p:sp>
        <p:nvSpPr>
          <p:cNvPr id="511" name="Shape 62"/>
          <p:cNvSpPr/>
          <p:nvPr/>
        </p:nvSpPr>
        <p:spPr>
          <a:xfrm>
            <a:off x="548640" y="5394960"/>
            <a:ext cx="11062800" cy="912960"/>
          </a:xfrm>
          <a:prstGeom prst="roundRect">
            <a:avLst>
              <a:gd name="adj" fmla="val 8000"/>
            </a:avLst>
          </a:prstGeom>
          <a:solidFill>
            <a:srgbClr val="202a40"/>
          </a:solidFill>
          <a:ln w="12700">
            <a:solidFill>
              <a:srgbClr val="e0b155"/>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12" name="Text 63"/>
          <p:cNvSpPr/>
          <p:nvPr/>
        </p:nvSpPr>
        <p:spPr>
          <a:xfrm>
            <a:off x="777240" y="5486400"/>
            <a:ext cx="10605600" cy="730080"/>
          </a:xfrm>
          <a:prstGeom prst="rect">
            <a:avLst/>
          </a:prstGeom>
          <a:noFill/>
          <a:ln w="0">
            <a:noFill/>
          </a:ln>
        </p:spPr>
        <p:style>
          <a:lnRef idx="0"/>
          <a:fillRef idx="0"/>
          <a:effectRef idx="0"/>
          <a:fontRef idx="minor"/>
        </p:style>
        <p:txBody>
          <a:bodyPr lIns="90000" rIns="90000" tIns="45000" bIns="45000" anchor="t">
            <a:noAutofit/>
          </a:bodyPr>
          <a:p>
            <a:pPr defTabSz="914400">
              <a:lnSpc>
                <a:spcPct val="122000"/>
              </a:lnSpc>
              <a:tabLst>
                <a:tab algn="l" pos="0"/>
              </a:tabLst>
            </a:pPr>
            <a:r>
              <a:rPr b="1" lang="en-US" sz="1100" spc="-1" strike="noStrike">
                <a:solidFill>
                  <a:srgbClr val="e0b155"/>
                </a:solidFill>
                <a:latin typeface="Arial"/>
                <a:ea typeface="Arial"/>
              </a:rPr>
              <a:t>Source:  </a:t>
            </a:r>
            <a:r>
              <a:rPr b="0" lang="en-US" sz="1100" spc="-1" strike="noStrike">
                <a:solidFill>
                  <a:srgbClr val="edeff4"/>
                </a:solidFill>
                <a:latin typeface="Arial"/>
                <a:ea typeface="Arial"/>
              </a:rPr>
              <a:t>TIOBE Index (tiobe.com), approximate yearly snapshots, each language indexed to its own 2021 rating = 100 — this chart shows relative growth trajectory, not current market size. In absolute terms, C++ and C's TIOBE share are still roughly 6–10x larger than Rust's as of 2026. TIOBE measures search-engine mentions as a proxy for skilled-engineer availability, not lines of code shipped — treat the trend as the signal, not the decimal points.</a:t>
            </a:r>
            <a:endParaRPr b="0" lang="en-US" sz="1100" spc="-1" strike="noStrike">
              <a:solidFill>
                <a:srgbClr val="ffffff"/>
              </a:solidFill>
              <a:latin typeface="Arial"/>
            </a:endParaRPr>
          </a:p>
        </p:txBody>
      </p:sp>
      <p:sp>
        <p:nvSpPr>
          <p:cNvPr id="513" name="Text 64"/>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514" name="Text 65"/>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29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515"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A BRIEF HISTORY OF RUST</a:t>
            </a:r>
            <a:endParaRPr b="0" lang="en-US" sz="1300" spc="-1" strike="noStrike">
              <a:solidFill>
                <a:srgbClr val="ffffff"/>
              </a:solidFill>
              <a:latin typeface="Arial"/>
            </a:endParaRPr>
          </a:p>
        </p:txBody>
      </p:sp>
      <p:sp>
        <p:nvSpPr>
          <p:cNvPr id="516"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Where the name comes from</a:t>
            </a:r>
            <a:endParaRPr b="0" lang="en-US" sz="2800" spc="-1" strike="noStrike">
              <a:solidFill>
                <a:srgbClr val="ffffff"/>
              </a:solidFill>
              <a:latin typeface="Arial"/>
            </a:endParaRPr>
          </a:p>
        </p:txBody>
      </p:sp>
      <p:sp>
        <p:nvSpPr>
          <p:cNvPr id="517" name="Text 2"/>
          <p:cNvSpPr/>
          <p:nvPr/>
        </p:nvSpPr>
        <p:spPr>
          <a:xfrm>
            <a:off x="548640" y="1600200"/>
            <a:ext cx="11062800" cy="501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i="1" lang="en-US" sz="1300" spc="-1" strike="noStrike">
                <a:solidFill>
                  <a:srgbClr val="9aa4b8"/>
                </a:solidFill>
                <a:latin typeface="Arial"/>
                <a:ea typeface="Arial"/>
              </a:rPr>
              <a:t>A little trivia, lightly held.</a:t>
            </a:r>
            <a:endParaRPr b="0" lang="en-US" sz="1300" spc="-1" strike="noStrike">
              <a:solidFill>
                <a:srgbClr val="ffffff"/>
              </a:solidFill>
              <a:latin typeface="Arial"/>
            </a:endParaRPr>
          </a:p>
        </p:txBody>
      </p:sp>
      <p:sp>
        <p:nvSpPr>
          <p:cNvPr id="518" name="Shape 3"/>
          <p:cNvSpPr/>
          <p:nvPr/>
        </p:nvSpPr>
        <p:spPr>
          <a:xfrm>
            <a:off x="548640" y="2221920"/>
            <a:ext cx="11062800" cy="1909800"/>
          </a:xfrm>
          <a:prstGeom prst="roundRect">
            <a:avLst>
              <a:gd name="adj" fmla="val 3349"/>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19" name="Shape 4"/>
          <p:cNvSpPr/>
          <p:nvPr/>
        </p:nvSpPr>
        <p:spPr>
          <a:xfrm>
            <a:off x="777240" y="3076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20" name="Text 5"/>
          <p:cNvSpPr/>
          <p:nvPr/>
        </p:nvSpPr>
        <p:spPr>
          <a:xfrm>
            <a:off x="1143000" y="2221920"/>
            <a:ext cx="10239840" cy="1909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Rust is named after the rust fungi — by Hoare's own account, partly just because he liked how the word sounded.  </a:t>
            </a:r>
            <a:endParaRPr b="0" lang="en-US" sz="1250" spc="-1" strike="noStrike">
              <a:solidFill>
                <a:srgbClr val="ffffff"/>
              </a:solidFill>
              <a:latin typeface="Arial"/>
            </a:endParaRPr>
          </a:p>
        </p:txBody>
      </p:sp>
      <p:sp>
        <p:nvSpPr>
          <p:cNvPr id="521" name="Shape 6"/>
          <p:cNvSpPr/>
          <p:nvPr/>
        </p:nvSpPr>
        <p:spPr>
          <a:xfrm>
            <a:off x="548640" y="4242960"/>
            <a:ext cx="11062800" cy="1909800"/>
          </a:xfrm>
          <a:prstGeom prst="roundRect">
            <a:avLst>
              <a:gd name="adj" fmla="val 3349"/>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22" name="Shape 7"/>
          <p:cNvSpPr/>
          <p:nvPr/>
        </p:nvSpPr>
        <p:spPr>
          <a:xfrm>
            <a:off x="777240" y="509796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23" name="Text 8"/>
          <p:cNvSpPr/>
          <p:nvPr/>
        </p:nvSpPr>
        <p:spPr>
          <a:xfrm>
            <a:off x="1143000" y="4242960"/>
            <a:ext cx="10239840" cy="1909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The fungus connection gets a retroactive flourish in the community anyway:  </a:t>
            </a:r>
            <a:r>
              <a:rPr b="0" lang="en-US" sz="1200" spc="-1" strike="noStrike">
                <a:solidFill>
                  <a:srgbClr val="9aa4b8"/>
                </a:solidFill>
                <a:latin typeface="Arial"/>
                <a:ea typeface="Arial"/>
              </a:rPr>
              <a:t>rust fungi are notably resilient, which people enjoy reading as a metaphor for the language's robustness guarantees. Take it as folklore, not etymology.</a:t>
            </a:r>
            <a:endParaRPr b="0" lang="en-US" sz="1200" spc="-1" strike="noStrike">
              <a:solidFill>
                <a:srgbClr val="ffffff"/>
              </a:solidFill>
              <a:latin typeface="Arial"/>
            </a:endParaRPr>
          </a:p>
        </p:txBody>
      </p:sp>
      <p:sp>
        <p:nvSpPr>
          <p:cNvPr id="524" name="Text 9"/>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525" name="Text 10"/>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30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526"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ce422b"/>
                </a:solidFill>
                <a:latin typeface="Arial"/>
                <a:ea typeface="Arial"/>
              </a:rPr>
              <a:t>A BRIEF HISTORY OF RUST</a:t>
            </a:r>
            <a:endParaRPr b="0" lang="en-US" sz="1300" spc="-1" strike="noStrike">
              <a:solidFill>
                <a:srgbClr val="ffffff"/>
              </a:solidFill>
              <a:latin typeface="Arial"/>
            </a:endParaRPr>
          </a:p>
        </p:txBody>
      </p:sp>
      <p:sp>
        <p:nvSpPr>
          <p:cNvPr id="527" name="Text 1"/>
          <p:cNvSpPr/>
          <p:nvPr/>
        </p:nvSpPr>
        <p:spPr>
          <a:xfrm>
            <a:off x="548640" y="2194560"/>
            <a:ext cx="11062800" cy="2101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3200" spc="-1" strike="noStrike">
                <a:solidFill>
                  <a:srgbClr val="edeff4"/>
                </a:solidFill>
                <a:latin typeface="Arial"/>
                <a:ea typeface="Arial"/>
              </a:rPr>
              <a:t>The arc, in one line: this isn't a fad that got lucky.</a:t>
            </a:r>
            <a:endParaRPr b="0" lang="en-US" sz="3200" spc="-1" strike="noStrike">
              <a:solidFill>
                <a:srgbClr val="ffffff"/>
              </a:solidFill>
              <a:latin typeface="Arial"/>
            </a:endParaRPr>
          </a:p>
        </p:txBody>
      </p:sp>
      <p:sp>
        <p:nvSpPr>
          <p:cNvPr id="528" name="Text 2"/>
          <p:cNvSpPr/>
          <p:nvPr/>
        </p:nvSpPr>
        <p:spPr>
          <a:xfrm>
            <a:off x="548640" y="4434840"/>
            <a:ext cx="1033128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30000"/>
              </a:lnSpc>
              <a:tabLst>
                <a:tab algn="l" pos="0"/>
              </a:tabLst>
            </a:pPr>
            <a:r>
              <a:rPr b="0" lang="en-US" sz="1400" spc="-1" strike="noStrike">
                <a:solidFill>
                  <a:srgbClr val="9aa4b8"/>
                </a:solidFill>
                <a:latin typeface="Arial"/>
                <a:ea typeface="Arial"/>
              </a:rPr>
              <a:t>Two decades of research pedigree, a decade of production pressure-testing inside a real browser engine, a mature shared compiler backend, and a governance structure that survived its founding sponsor stepping back — that's the institutional and technical track record underneath everything else this course covers.</a:t>
            </a:r>
            <a:endParaRPr b="0" lang="en-US" sz="1400" spc="-1" strike="noStrike">
              <a:solidFill>
                <a:srgbClr val="ffffff"/>
              </a:solidFill>
              <a:latin typeface="Arial"/>
            </a:endParaRPr>
          </a:p>
        </p:txBody>
      </p:sp>
      <p:sp>
        <p:nvSpPr>
          <p:cNvPr id="529" name="Text 3"/>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530" name="Text 4"/>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31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531" name="Shape 0"/>
          <p:cNvSpPr/>
          <p:nvPr/>
        </p:nvSpPr>
        <p:spPr>
          <a:xfrm>
            <a:off x="548640" y="2651760"/>
            <a:ext cx="1370160" cy="1370160"/>
          </a:xfrm>
          <a:prstGeom prst="roundRect">
            <a:avLst>
              <a:gd name="adj" fmla="val 6667"/>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32" name="Text 1"/>
          <p:cNvSpPr/>
          <p:nvPr/>
        </p:nvSpPr>
        <p:spPr>
          <a:xfrm>
            <a:off x="548640" y="2651760"/>
            <a:ext cx="1370160" cy="1370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400" spc="-1" strike="noStrike">
                <a:solidFill>
                  <a:srgbClr val="e8804f"/>
                </a:solidFill>
                <a:latin typeface="Consolas"/>
                <a:ea typeface="Consolas"/>
              </a:rPr>
              <a:t>03</a:t>
            </a:r>
            <a:endParaRPr b="0" lang="en-US" sz="3400" spc="-1" strike="noStrike">
              <a:solidFill>
                <a:srgbClr val="ffffff"/>
              </a:solidFill>
              <a:latin typeface="Arial"/>
            </a:endParaRPr>
          </a:p>
        </p:txBody>
      </p:sp>
      <p:sp>
        <p:nvSpPr>
          <p:cNvPr id="533" name="Text 2"/>
          <p:cNvSpPr/>
          <p:nvPr/>
        </p:nvSpPr>
        <p:spPr>
          <a:xfrm>
            <a:off x="2194560" y="2743200"/>
            <a:ext cx="932544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Toolchain &amp; Project Model</a:t>
            </a:r>
            <a:endParaRPr b="0" lang="en-US" sz="2800" spc="-1" strike="noStrike">
              <a:solidFill>
                <a:srgbClr val="ffffff"/>
              </a:solidFill>
              <a:latin typeface="Arial"/>
            </a:endParaRPr>
          </a:p>
        </p:txBody>
      </p:sp>
      <p:sp>
        <p:nvSpPr>
          <p:cNvPr id="534" name="Text 3"/>
          <p:cNvSpPr/>
          <p:nvPr/>
        </p:nvSpPr>
        <p:spPr>
          <a:xfrm>
            <a:off x="2194560" y="3474720"/>
            <a:ext cx="8959680" cy="547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50" spc="-1" strike="noStrike">
                <a:solidFill>
                  <a:srgbClr val="9aa4b8"/>
                </a:solidFill>
                <a:latin typeface="Arial"/>
                <a:ea typeface="Arial"/>
              </a:rPr>
              <a:t>rustc, cargo, rustup, and the shape of a project</a:t>
            </a:r>
            <a:endParaRPr b="0" lang="en-US" sz="1350" spc="-1" strike="noStrike">
              <a:solidFill>
                <a:srgbClr val="ffffff"/>
              </a:solidFill>
              <a:latin typeface="Arial"/>
            </a:endParaRPr>
          </a:p>
        </p:txBody>
      </p:sp>
      <p:sp>
        <p:nvSpPr>
          <p:cNvPr id="535" name="Text 4"/>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536" name="Text 5"/>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32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537"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TOOLCHAIN &amp; PROJECT MODEL</a:t>
            </a:r>
            <a:endParaRPr b="0" lang="en-US" sz="1300" spc="-1" strike="noStrike">
              <a:solidFill>
                <a:srgbClr val="ffffff"/>
              </a:solidFill>
              <a:latin typeface="Arial"/>
            </a:endParaRPr>
          </a:p>
        </p:txBody>
      </p:sp>
      <p:sp>
        <p:nvSpPr>
          <p:cNvPr id="538"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three tools you'll type every day</a:t>
            </a:r>
            <a:endParaRPr b="0" lang="en-US" sz="2800" spc="-1" strike="noStrike">
              <a:solidFill>
                <a:srgbClr val="ffffff"/>
              </a:solidFill>
              <a:latin typeface="Arial"/>
            </a:endParaRPr>
          </a:p>
        </p:txBody>
      </p:sp>
      <p:sp>
        <p:nvSpPr>
          <p:cNvPr id="539"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40"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41"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rustup:  </a:t>
            </a:r>
            <a:r>
              <a:rPr b="0" lang="en-US" sz="1200" spc="-1" strike="noStrike">
                <a:solidFill>
                  <a:srgbClr val="9aa4b8"/>
                </a:solidFill>
                <a:latin typeface="Arial"/>
                <a:ea typeface="Arial"/>
              </a:rPr>
              <a:t>toolchain manager — installs and switches Rust versions and cross-compilation targets.</a:t>
            </a:r>
            <a:endParaRPr b="0" lang="en-US" sz="1200" spc="-1" strike="noStrike">
              <a:solidFill>
                <a:srgbClr val="ffffff"/>
              </a:solidFill>
              <a:latin typeface="Arial"/>
            </a:endParaRPr>
          </a:p>
        </p:txBody>
      </p:sp>
      <p:sp>
        <p:nvSpPr>
          <p:cNvPr id="542"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43"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44"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cargo:  </a:t>
            </a:r>
            <a:r>
              <a:rPr b="0" lang="en-US" sz="1200" spc="-1" strike="noStrike">
                <a:solidFill>
                  <a:srgbClr val="9aa4b8"/>
                </a:solidFill>
                <a:latin typeface="Arial"/>
                <a:ea typeface="Arial"/>
              </a:rPr>
              <a:t>build system, package manager, test runner, and formatter front-end, all in one.</a:t>
            </a:r>
            <a:endParaRPr b="0" lang="en-US" sz="1200" spc="-1" strike="noStrike">
              <a:solidFill>
                <a:srgbClr val="ffffff"/>
              </a:solidFill>
              <a:latin typeface="Arial"/>
            </a:endParaRPr>
          </a:p>
        </p:txBody>
      </p:sp>
      <p:sp>
        <p:nvSpPr>
          <p:cNvPr id="545"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46"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47"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rustc:  </a:t>
            </a:r>
            <a:r>
              <a:rPr b="0" lang="en-US" sz="1200" spc="-1" strike="noStrike">
                <a:solidFill>
                  <a:srgbClr val="9aa4b8"/>
                </a:solidFill>
                <a:latin typeface="Arial"/>
                <a:ea typeface="Arial"/>
              </a:rPr>
              <a:t>the compiler itself — you'll rarely invoke it directly once cargo is set up.</a:t>
            </a:r>
            <a:endParaRPr b="0" lang="en-US" sz="1200" spc="-1" strike="noStrike">
              <a:solidFill>
                <a:srgbClr val="ffffff"/>
              </a:solidFill>
              <a:latin typeface="Arial"/>
            </a:endParaRPr>
          </a:p>
        </p:txBody>
      </p:sp>
      <p:sp>
        <p:nvSpPr>
          <p:cNvPr id="548"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549"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33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550"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TOOLCHAIN</a:t>
            </a:r>
            <a:endParaRPr b="0" lang="en-US" sz="1300" spc="-1" strike="noStrike">
              <a:solidFill>
                <a:srgbClr val="ffffff"/>
              </a:solidFill>
              <a:latin typeface="Arial"/>
            </a:endParaRPr>
          </a:p>
        </p:txBody>
      </p:sp>
      <p:sp>
        <p:nvSpPr>
          <p:cNvPr id="551"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Compiling a single file</a:t>
            </a:r>
            <a:endParaRPr b="0" lang="en-US" sz="2800" spc="-1" strike="noStrike">
              <a:solidFill>
                <a:srgbClr val="ffffff"/>
              </a:solidFill>
              <a:latin typeface="Arial"/>
            </a:endParaRPr>
          </a:p>
        </p:txBody>
      </p:sp>
      <p:sp>
        <p:nvSpPr>
          <p:cNvPr id="552"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53"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54"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555"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G++ / CLANG++</a:t>
            </a:r>
            <a:endParaRPr b="0" lang="en-US" sz="1300" spc="-1" strike="noStrike">
              <a:solidFill>
                <a:srgbClr val="ffffff"/>
              </a:solidFill>
              <a:latin typeface="Arial"/>
            </a:endParaRPr>
          </a:p>
        </p:txBody>
      </p:sp>
      <p:sp>
        <p:nvSpPr>
          <p:cNvPr id="556"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g++ -std=c++20 -O2 -Wall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-I include/ main.cpp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-o app -lpthread</a:t>
            </a:r>
            <a:endParaRPr b="0" lang="en-US" sz="1200" spc="-1" strike="noStrike">
              <a:solidFill>
                <a:srgbClr val="ffffff"/>
              </a:solidFill>
              <a:latin typeface="Arial"/>
            </a:endParaRPr>
          </a:p>
        </p:txBody>
      </p:sp>
      <p:sp>
        <p:nvSpPr>
          <p:cNvPr id="557"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Flags for standard version, optimization, warnings, include paths, and libraries are all assembled by hand or by a build script.</a:t>
            </a:r>
            <a:endParaRPr b="0" lang="en-US" sz="1100" spc="-1" strike="noStrike">
              <a:solidFill>
                <a:srgbClr val="ffffff"/>
              </a:solidFill>
              <a:latin typeface="Arial"/>
            </a:endParaRPr>
          </a:p>
        </p:txBody>
      </p:sp>
      <p:sp>
        <p:nvSpPr>
          <p:cNvPr id="558"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59"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60"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561"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CARGO</a:t>
            </a:r>
            <a:endParaRPr b="0" lang="en-US" sz="1300" spc="-1" strike="noStrike">
              <a:solidFill>
                <a:srgbClr val="ffffff"/>
              </a:solidFill>
              <a:latin typeface="Arial"/>
            </a:endParaRPr>
          </a:p>
        </p:txBody>
      </p:sp>
      <p:sp>
        <p:nvSpPr>
          <p:cNvPr id="562"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cargo build --release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cargo run</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edition, optimization</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level, and deps come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from Cargo.toml</a:t>
            </a:r>
            <a:endParaRPr b="0" lang="en-US" sz="1200" spc="-1" strike="noStrike">
              <a:solidFill>
                <a:srgbClr val="ffffff"/>
              </a:solidFill>
              <a:latin typeface="Arial"/>
            </a:endParaRPr>
          </a:p>
        </p:txBody>
      </p:sp>
      <p:sp>
        <p:nvSpPr>
          <p:cNvPr id="563"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Project configuration lives in one manifest file; the command line stays the same regardless of project size.</a:t>
            </a:r>
            <a:endParaRPr b="0" lang="en-US" sz="1100" spc="-1" strike="noStrike">
              <a:solidFill>
                <a:srgbClr val="ffffff"/>
              </a:solidFill>
              <a:latin typeface="Arial"/>
            </a:endParaRPr>
          </a:p>
        </p:txBody>
      </p:sp>
      <p:sp>
        <p:nvSpPr>
          <p:cNvPr id="564"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65"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Moving configuration out of ad-hoc flags and into a declarative manifest makes builds reproducible across machines.</a:t>
            </a:r>
            <a:endParaRPr b="0" lang="en-US" sz="1150" spc="-1" strike="noStrike">
              <a:solidFill>
                <a:srgbClr val="ffffff"/>
              </a:solidFill>
              <a:latin typeface="Arial"/>
            </a:endParaRPr>
          </a:p>
        </p:txBody>
      </p:sp>
      <p:sp>
        <p:nvSpPr>
          <p:cNvPr id="566"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567"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34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568"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TOOLCHAIN</a:t>
            </a:r>
            <a:endParaRPr b="0" lang="en-US" sz="1300" spc="-1" strike="noStrike">
              <a:solidFill>
                <a:srgbClr val="ffffff"/>
              </a:solidFill>
              <a:latin typeface="Arial"/>
            </a:endParaRPr>
          </a:p>
        </p:txBody>
      </p:sp>
      <p:sp>
        <p:nvSpPr>
          <p:cNvPr id="569"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Project &amp; dependency manifest</a:t>
            </a:r>
            <a:endParaRPr b="0" lang="en-US" sz="2800" spc="-1" strike="noStrike">
              <a:solidFill>
                <a:srgbClr val="ffffff"/>
              </a:solidFill>
              <a:latin typeface="Arial"/>
            </a:endParaRPr>
          </a:p>
        </p:txBody>
      </p:sp>
      <p:sp>
        <p:nvSpPr>
          <p:cNvPr id="570"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71"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72"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573"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CMAKELISTS.TXT</a:t>
            </a:r>
            <a:endParaRPr b="0" lang="en-US" sz="1300" spc="-1" strike="noStrike">
              <a:solidFill>
                <a:srgbClr val="ffffff"/>
              </a:solidFill>
              <a:latin typeface="Arial"/>
            </a:endParaRPr>
          </a:p>
        </p:txBody>
      </p:sp>
      <p:sp>
        <p:nvSpPr>
          <p:cNvPr id="574"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add_executable(app main.cpp)</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target_link_libraries(app</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PRIVATE fmt::fmt)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find_package(fmt REQUIRED)</a:t>
            </a:r>
            <a:endParaRPr b="0" lang="en-US" sz="1200" spc="-1" strike="noStrike">
              <a:solidFill>
                <a:srgbClr val="ffffff"/>
              </a:solidFill>
              <a:latin typeface="Arial"/>
            </a:endParaRPr>
          </a:p>
        </p:txBody>
      </p:sp>
      <p:sp>
        <p:nvSpPr>
          <p:cNvPr id="575"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Declares targets and links libraries that must already be findable — typically via a separate package manager.</a:t>
            </a:r>
            <a:endParaRPr b="0" lang="en-US" sz="1100" spc="-1" strike="noStrike">
              <a:solidFill>
                <a:srgbClr val="ffffff"/>
              </a:solidFill>
              <a:latin typeface="Arial"/>
            </a:endParaRPr>
          </a:p>
        </p:txBody>
      </p:sp>
      <p:sp>
        <p:nvSpPr>
          <p:cNvPr id="576"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77"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78"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579"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CARGO.TOML</a:t>
            </a:r>
            <a:endParaRPr b="0" lang="en-US" sz="1300" spc="-1" strike="noStrike">
              <a:solidFill>
                <a:srgbClr val="ffffff"/>
              </a:solidFill>
              <a:latin typeface="Arial"/>
            </a:endParaRPr>
          </a:p>
        </p:txBody>
      </p:sp>
      <p:sp>
        <p:nvSpPr>
          <p:cNvPr id="580"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[package]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name = "app"</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edition = "2021"</a:t>
            </a:r>
            <a:endParaRPr b="0" lang="en-US" sz="1200" spc="-1" strike="noStrike">
              <a:solidFill>
                <a:srgbClr val="ffffff"/>
              </a:solidFill>
              <a:latin typeface="Arial"/>
            </a:endParaRPr>
          </a:p>
          <a:p>
            <a:pPr defTabSz="914400">
              <a:lnSpc>
                <a:spcPct val="120000"/>
              </a:lnSpc>
              <a:tabLst>
                <a:tab algn="l" pos="0"/>
              </a:tabLst>
            </a:pP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[dependencies]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fmt = "1.0"</a:t>
            </a:r>
            <a:endParaRPr b="0" lang="en-US" sz="1200" spc="-1" strike="noStrike">
              <a:solidFill>
                <a:srgbClr val="ffffff"/>
              </a:solidFill>
              <a:latin typeface="Arial"/>
            </a:endParaRPr>
          </a:p>
        </p:txBody>
      </p:sp>
      <p:sp>
        <p:nvSpPr>
          <p:cNvPr id="581"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One file declares the package, its edition, and its dependencies. Cargo fetches, builds, and links them automatically.</a:t>
            </a:r>
            <a:endParaRPr b="0" lang="en-US" sz="1100" spc="-1" strike="noStrike">
              <a:solidFill>
                <a:srgbClr val="ffffff"/>
              </a:solidFill>
              <a:latin typeface="Arial"/>
            </a:endParaRPr>
          </a:p>
        </p:txBody>
      </p:sp>
      <p:sp>
        <p:nvSpPr>
          <p:cNvPr id="582"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83"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The dependency resolver and the build tool are the same program, so there's no drift between "what's declared" and "what's built".</a:t>
            </a:r>
            <a:endParaRPr b="0" lang="en-US" sz="1150" spc="-1" strike="noStrike">
              <a:solidFill>
                <a:srgbClr val="ffffff"/>
              </a:solidFill>
              <a:latin typeface="Arial"/>
            </a:endParaRPr>
          </a:p>
        </p:txBody>
      </p:sp>
      <p:sp>
        <p:nvSpPr>
          <p:cNvPr id="584"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585"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35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586"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TOOLCHAIN &amp; PROJECT MODEL</a:t>
            </a:r>
            <a:endParaRPr b="0" lang="en-US" sz="1300" spc="-1" strike="noStrike">
              <a:solidFill>
                <a:srgbClr val="ffffff"/>
              </a:solidFill>
              <a:latin typeface="Arial"/>
            </a:endParaRPr>
          </a:p>
        </p:txBody>
      </p:sp>
      <p:sp>
        <p:nvSpPr>
          <p:cNvPr id="587"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Crates and workspaces</a:t>
            </a:r>
            <a:endParaRPr b="0" lang="en-US" sz="2800" spc="-1" strike="noStrike">
              <a:solidFill>
                <a:srgbClr val="ffffff"/>
              </a:solidFill>
              <a:latin typeface="Arial"/>
            </a:endParaRPr>
          </a:p>
        </p:txBody>
      </p:sp>
      <p:sp>
        <p:nvSpPr>
          <p:cNvPr id="588"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89"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90"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A crate is Rust's unit of compilation —  </a:t>
            </a:r>
            <a:r>
              <a:rPr b="0" lang="en-US" sz="1200" spc="-1" strike="noStrike">
                <a:solidFill>
                  <a:srgbClr val="9aa4b8"/>
                </a:solidFill>
                <a:latin typeface="Arial"/>
                <a:ea typeface="Arial"/>
              </a:rPr>
              <a:t>roughly analogous to a static/shared library or a standalone executable target.</a:t>
            </a:r>
            <a:endParaRPr b="0" lang="en-US" sz="1200" spc="-1" strike="noStrike">
              <a:solidFill>
                <a:srgbClr val="ffffff"/>
              </a:solidFill>
              <a:latin typeface="Arial"/>
            </a:endParaRPr>
          </a:p>
        </p:txBody>
      </p:sp>
      <p:sp>
        <p:nvSpPr>
          <p:cNvPr id="591"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92"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93"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A workspace groups multiple crates that share one Cargo.lock,  </a:t>
            </a:r>
            <a:r>
              <a:rPr b="0" lang="en-US" sz="1200" spc="-1" strike="noStrike">
                <a:solidFill>
                  <a:srgbClr val="9aa4b8"/>
                </a:solidFill>
                <a:latin typeface="Arial"/>
                <a:ea typeface="Arial"/>
              </a:rPr>
              <a:t>similar to a multi-target CMake super-project.</a:t>
            </a:r>
            <a:endParaRPr b="0" lang="en-US" sz="1200" spc="-1" strike="noStrike">
              <a:solidFill>
                <a:srgbClr val="ffffff"/>
              </a:solidFill>
              <a:latin typeface="Arial"/>
            </a:endParaRPr>
          </a:p>
        </p:txBody>
      </p:sp>
      <p:sp>
        <p:nvSpPr>
          <p:cNvPr id="594"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95"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96"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Binary crates (src/main.rs) and library crates (src/lib.rs)  </a:t>
            </a:r>
            <a:r>
              <a:rPr b="0" lang="en-US" sz="1200" spc="-1" strike="noStrike">
                <a:solidFill>
                  <a:srgbClr val="9aa4b8"/>
                </a:solidFill>
                <a:latin typeface="Arial"/>
                <a:ea typeface="Arial"/>
              </a:rPr>
              <a:t>can coexist in one package, much like an app that also exposes a library.</a:t>
            </a:r>
            <a:endParaRPr b="0" lang="en-US" sz="1200" spc="-1" strike="noStrike">
              <a:solidFill>
                <a:srgbClr val="ffffff"/>
              </a:solidFill>
              <a:latin typeface="Arial"/>
            </a:endParaRPr>
          </a:p>
        </p:txBody>
      </p:sp>
      <p:sp>
        <p:nvSpPr>
          <p:cNvPr id="597"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598"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36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599"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TOOLCHAIN</a:t>
            </a:r>
            <a:endParaRPr b="0" lang="en-US" sz="1300" spc="-1" strike="noStrike">
              <a:solidFill>
                <a:srgbClr val="ffffff"/>
              </a:solidFill>
              <a:latin typeface="Arial"/>
            </a:endParaRPr>
          </a:p>
        </p:txBody>
      </p:sp>
      <p:sp>
        <p:nvSpPr>
          <p:cNvPr id="600"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Library types</a:t>
            </a:r>
            <a:endParaRPr b="0" lang="en-US" sz="2800" spc="-1" strike="noStrike">
              <a:solidFill>
                <a:srgbClr val="ffffff"/>
              </a:solidFill>
              <a:latin typeface="Arial"/>
            </a:endParaRPr>
          </a:p>
        </p:txBody>
      </p:sp>
      <p:sp>
        <p:nvSpPr>
          <p:cNvPr id="601"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02"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03"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604"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605"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add_library(mylib STATIC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add_library(mylib SHARED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 / .lib vs .so / .dll,</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chosen at build-system level</a:t>
            </a:r>
            <a:endParaRPr b="0" lang="en-US" sz="1200" spc="-1" strike="noStrike">
              <a:solidFill>
                <a:srgbClr val="ffffff"/>
              </a:solidFill>
              <a:latin typeface="Arial"/>
            </a:endParaRPr>
          </a:p>
        </p:txBody>
      </p:sp>
      <p:sp>
        <p:nvSpPr>
          <p:cNvPr id="606"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Static vs. dynamic linking is a build-system decision, with ABI stability concerns especially for shared libraries.</a:t>
            </a:r>
            <a:endParaRPr b="0" lang="en-US" sz="1100" spc="-1" strike="noStrike">
              <a:solidFill>
                <a:srgbClr val="ffffff"/>
              </a:solidFill>
              <a:latin typeface="Arial"/>
            </a:endParaRPr>
          </a:p>
        </p:txBody>
      </p:sp>
      <p:sp>
        <p:nvSpPr>
          <p:cNvPr id="607"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08"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09"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610"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611"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[lib]</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crate-type = ["rlib"]   // default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or "cdylib", "staticlib",</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"dylib" for FFI/C interop</a:t>
            </a:r>
            <a:endParaRPr b="0" lang="en-US" sz="1200" spc="-1" strike="noStrike">
              <a:solidFill>
                <a:srgbClr val="ffffff"/>
              </a:solidFill>
              <a:latin typeface="Arial"/>
            </a:endParaRPr>
          </a:p>
        </p:txBody>
      </p:sp>
      <p:sp>
        <p:nvSpPr>
          <p:cNvPr id="612"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crate-type in Cargo.toml selects the output kind. "rlib" is Rust-only; "cdylib"/"staticlib" produce C-ABI-compatible artifacts.</a:t>
            </a:r>
            <a:endParaRPr b="0" lang="en-US" sz="1100" spc="-1" strike="noStrike">
              <a:solidFill>
                <a:srgbClr val="ffffff"/>
              </a:solidFill>
              <a:latin typeface="Arial"/>
            </a:endParaRPr>
          </a:p>
        </p:txBody>
      </p:sp>
      <p:sp>
        <p:nvSpPr>
          <p:cNvPr id="613"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14"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Rust's default rlib format carries rich type metadata for fast, safe Rust-to-Rust linking; C-ABI types are opt-in for interop.</a:t>
            </a:r>
            <a:endParaRPr b="0" lang="en-US" sz="1150" spc="-1" strike="noStrike">
              <a:solidFill>
                <a:srgbClr val="ffffff"/>
              </a:solidFill>
              <a:latin typeface="Arial"/>
            </a:endParaRPr>
          </a:p>
        </p:txBody>
      </p:sp>
      <p:sp>
        <p:nvSpPr>
          <p:cNvPr id="615"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616"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37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617"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TOOLCHAIN &amp; PROJECT MODEL</a:t>
            </a:r>
            <a:endParaRPr b="0" lang="en-US" sz="1300" spc="-1" strike="noStrike">
              <a:solidFill>
                <a:srgbClr val="ffffff"/>
              </a:solidFill>
              <a:latin typeface="Arial"/>
            </a:endParaRPr>
          </a:p>
        </p:txBody>
      </p:sp>
      <p:sp>
        <p:nvSpPr>
          <p:cNvPr id="618"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Cargo command cheat sheet</a:t>
            </a:r>
            <a:endParaRPr b="0" lang="en-US" sz="2800" spc="-1" strike="noStrike">
              <a:solidFill>
                <a:srgbClr val="ffffff"/>
              </a:solidFill>
              <a:latin typeface="Arial"/>
            </a:endParaRPr>
          </a:p>
        </p:txBody>
      </p:sp>
      <p:graphicFrame>
        <p:nvGraphicFramePr>
          <p:cNvPr id="619" name="Table 0"/>
          <p:cNvGraphicFramePr/>
          <p:nvPr/>
        </p:nvGraphicFramePr>
        <p:xfrm>
          <a:off x="548640" y="1691640"/>
          <a:ext cx="11063880" cy="4114800"/>
        </p:xfrm>
        <a:graphic>
          <a:graphicData uri="http://schemas.openxmlformats.org/drawingml/2006/table">
            <a:tbl>
              <a:tblPr/>
              <a:tblGrid>
                <a:gridCol w="3840480"/>
                <a:gridCol w="7223760"/>
              </a:tblGrid>
              <a:tr h="457200">
                <a:tc>
                  <a:txBody>
                    <a:bodyPr lIns="126720" rIns="126720" anchor="ctr">
                      <a:noAutofit/>
                    </a:bodyPr>
                    <a:p>
                      <a:pPr defTabSz="914400">
                        <a:lnSpc>
                          <a:spcPct val="100000"/>
                        </a:lnSpc>
                        <a:tabLst>
                          <a:tab algn="l" pos="0"/>
                        </a:tabLst>
                      </a:pPr>
                      <a:r>
                        <a:rPr b="1" lang="en-US" sz="1250" spc="-1" strike="noStrike">
                          <a:solidFill>
                            <a:srgbClr val="e8804f"/>
                          </a:solidFill>
                          <a:latin typeface="Arial"/>
                          <a:ea typeface="Arial"/>
                        </a:rPr>
                        <a:t>Command</a:t>
                      </a:r>
                      <a:endParaRPr b="0" lang="en-US" sz="12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202a40"/>
                    </a:solidFill>
                  </a:tcPr>
                </a:tc>
                <a:tc>
                  <a:txBody>
                    <a:bodyPr lIns="126720" rIns="126720" anchor="ctr">
                      <a:noAutofit/>
                    </a:bodyPr>
                    <a:p>
                      <a:pPr defTabSz="914400">
                        <a:lnSpc>
                          <a:spcPct val="100000"/>
                        </a:lnSpc>
                        <a:tabLst>
                          <a:tab algn="l" pos="0"/>
                        </a:tabLst>
                      </a:pPr>
                      <a:r>
                        <a:rPr b="1" lang="en-US" sz="1250" spc="-1" strike="noStrike">
                          <a:solidFill>
                            <a:srgbClr val="e8804f"/>
                          </a:solidFill>
                          <a:latin typeface="Arial"/>
                          <a:ea typeface="Arial"/>
                        </a:rPr>
                        <a:t>What it does</a:t>
                      </a:r>
                      <a:endParaRPr b="0" lang="en-US" sz="12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202a40"/>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cargo new &lt;name&gt;</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Scaffold a new binary or library package</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cargo build</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Compile the current package and its dependencies</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cargo run</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Build (if needed) and execute the binary</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cargo test</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Run unit, integration, and doc tests</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cargo check</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Type-check without producing a binary — fast feedback loop</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cargo clippy</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Run the linter for idiomatic-Rust suggestions</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cargo fmt</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Auto-format the entire codebase to a canonical style</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cargo doc --open</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Build and view API documentation from doc comments</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bl>
          </a:graphicData>
        </a:graphic>
      </p:graphicFrame>
      <p:sp>
        <p:nvSpPr>
          <p:cNvPr id="620" name="Text 2"/>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621" name="Text 3"/>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38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62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TOOLCHAIN &amp; PROJECT MODEL</a:t>
            </a:r>
            <a:endParaRPr b="0" lang="en-US" sz="1300" spc="-1" strike="noStrike">
              <a:solidFill>
                <a:srgbClr val="ffffff"/>
              </a:solidFill>
              <a:latin typeface="Arial"/>
            </a:endParaRPr>
          </a:p>
        </p:txBody>
      </p:sp>
      <p:sp>
        <p:nvSpPr>
          <p:cNvPr id="623"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Editions: Rust's answer to language-version churn</a:t>
            </a:r>
            <a:endParaRPr b="0" lang="en-US" sz="2800" spc="-1" strike="noStrike">
              <a:solidFill>
                <a:srgbClr val="ffffff"/>
              </a:solidFill>
              <a:latin typeface="Arial"/>
            </a:endParaRPr>
          </a:p>
        </p:txBody>
      </p:sp>
      <p:sp>
        <p:nvSpPr>
          <p:cNvPr id="624"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25"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26"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Editions (2015, 2018, 2021, 2024) let the language evolve  </a:t>
            </a:r>
            <a:r>
              <a:rPr b="0" lang="en-US" sz="1200" spc="-1" strike="noStrike">
                <a:solidFill>
                  <a:srgbClr val="9aa4b8"/>
                </a:solidFill>
                <a:latin typeface="Arial"/>
                <a:ea typeface="Arial"/>
              </a:rPr>
              <a:t>syntax and defaults without breaking existing crates.</a:t>
            </a:r>
            <a:endParaRPr b="0" lang="en-US" sz="1200" spc="-1" strike="noStrike">
              <a:solidFill>
                <a:srgbClr val="ffffff"/>
              </a:solidFill>
              <a:latin typeface="Arial"/>
            </a:endParaRPr>
          </a:p>
        </p:txBody>
      </p:sp>
      <p:sp>
        <p:nvSpPr>
          <p:cNvPr id="627"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28"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29"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Crates on different editions link together seamlessly in one build;  </a:t>
            </a:r>
            <a:r>
              <a:rPr b="0" lang="en-US" sz="1200" spc="-1" strike="noStrike">
                <a:solidFill>
                  <a:srgbClr val="9aa4b8"/>
                </a:solidFill>
                <a:latin typeface="Arial"/>
                <a:ea typeface="Arial"/>
              </a:rPr>
              <a:t>the edition is a per-crate compiler setting, not an ecosystem fork.</a:t>
            </a:r>
            <a:endParaRPr b="0" lang="en-US" sz="1200" spc="-1" strike="noStrike">
              <a:solidFill>
                <a:srgbClr val="ffffff"/>
              </a:solidFill>
              <a:latin typeface="Arial"/>
            </a:endParaRPr>
          </a:p>
        </p:txBody>
      </p:sp>
      <p:sp>
        <p:nvSpPr>
          <p:cNvPr id="630"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31"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32"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Contrast with -std=c++17 vs -std=c++20:  </a:t>
            </a:r>
            <a:r>
              <a:rPr b="0" lang="en-US" sz="1200" spc="-1" strike="noStrike">
                <a:solidFill>
                  <a:srgbClr val="9aa4b8"/>
                </a:solidFill>
                <a:latin typeface="Arial"/>
                <a:ea typeface="Arial"/>
              </a:rPr>
              <a:t>similar idea, but Rust editions guarantee old code keeps compiling forever, by design.</a:t>
            </a:r>
            <a:endParaRPr b="0" lang="en-US" sz="1200" spc="-1" strike="noStrike">
              <a:solidFill>
                <a:srgbClr val="ffffff"/>
              </a:solidFill>
              <a:latin typeface="Arial"/>
            </a:endParaRPr>
          </a:p>
        </p:txBody>
      </p:sp>
      <p:sp>
        <p:nvSpPr>
          <p:cNvPr id="633"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634"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39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635" name="Shape 0"/>
          <p:cNvSpPr/>
          <p:nvPr/>
        </p:nvSpPr>
        <p:spPr>
          <a:xfrm>
            <a:off x="548640" y="2651760"/>
            <a:ext cx="1370160" cy="1370160"/>
          </a:xfrm>
          <a:prstGeom prst="roundRect">
            <a:avLst>
              <a:gd name="adj" fmla="val 6667"/>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36" name="Text 1"/>
          <p:cNvSpPr/>
          <p:nvPr/>
        </p:nvSpPr>
        <p:spPr>
          <a:xfrm>
            <a:off x="548640" y="2651760"/>
            <a:ext cx="1370160" cy="1370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400" spc="-1" strike="noStrike">
                <a:solidFill>
                  <a:srgbClr val="e8804f"/>
                </a:solidFill>
                <a:latin typeface="Consolas"/>
                <a:ea typeface="Consolas"/>
              </a:rPr>
              <a:t>04</a:t>
            </a:r>
            <a:endParaRPr b="0" lang="en-US" sz="3400" spc="-1" strike="noStrike">
              <a:solidFill>
                <a:srgbClr val="ffffff"/>
              </a:solidFill>
              <a:latin typeface="Arial"/>
            </a:endParaRPr>
          </a:p>
        </p:txBody>
      </p:sp>
      <p:sp>
        <p:nvSpPr>
          <p:cNvPr id="637" name="Text 2"/>
          <p:cNvSpPr/>
          <p:nvPr/>
        </p:nvSpPr>
        <p:spPr>
          <a:xfrm>
            <a:off x="2194560" y="2743200"/>
            <a:ext cx="932544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Data Types &amp; Program Elements</a:t>
            </a:r>
            <a:endParaRPr b="0" lang="en-US" sz="2800" spc="-1" strike="noStrike">
              <a:solidFill>
                <a:srgbClr val="ffffff"/>
              </a:solidFill>
              <a:latin typeface="Arial"/>
            </a:endParaRPr>
          </a:p>
        </p:txBody>
      </p:sp>
      <p:sp>
        <p:nvSpPr>
          <p:cNvPr id="638" name="Text 3"/>
          <p:cNvSpPr/>
          <p:nvPr/>
        </p:nvSpPr>
        <p:spPr>
          <a:xfrm>
            <a:off x="2194560" y="3474720"/>
            <a:ext cx="8959680" cy="547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50" spc="-1" strike="noStrike">
                <a:solidFill>
                  <a:srgbClr val="9aa4b8"/>
                </a:solidFill>
                <a:latin typeface="Arial"/>
                <a:ea typeface="Arial"/>
              </a:rPr>
              <a:t>Slowing down on the building blocks before the syntax tour speeds back up</a:t>
            </a:r>
            <a:endParaRPr b="0" lang="en-US" sz="1350" spc="-1" strike="noStrike">
              <a:solidFill>
                <a:srgbClr val="ffffff"/>
              </a:solidFill>
              <a:latin typeface="Arial"/>
            </a:endParaRPr>
          </a:p>
        </p:txBody>
      </p:sp>
      <p:sp>
        <p:nvSpPr>
          <p:cNvPr id="639" name="Text 4"/>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640" name="Text 5"/>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40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641"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DATA TYPES &amp; PROGRAM ELEMENTS</a:t>
            </a:r>
            <a:endParaRPr b="0" lang="en-US" sz="1300" spc="-1" strike="noStrike">
              <a:solidFill>
                <a:srgbClr val="ffffff"/>
              </a:solidFill>
              <a:latin typeface="Arial"/>
            </a:endParaRPr>
          </a:p>
        </p:txBody>
      </p:sp>
      <p:sp>
        <p:nvSpPr>
          <p:cNvPr id="642"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Why this module exists</a:t>
            </a:r>
            <a:endParaRPr b="0" lang="en-US" sz="2800" spc="-1" strike="noStrike">
              <a:solidFill>
                <a:srgbClr val="ffffff"/>
              </a:solidFill>
              <a:latin typeface="Arial"/>
            </a:endParaRPr>
          </a:p>
        </p:txBody>
      </p:sp>
      <p:sp>
        <p:nvSpPr>
          <p:cNvPr id="643"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44"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45"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The Syntax Rosetta stone coming up next is a fast side-by-side recap —  </a:t>
            </a:r>
            <a:r>
              <a:rPr b="0" lang="en-US" sz="1200" spc="-1" strike="noStrike">
                <a:solidFill>
                  <a:srgbClr val="9aa4b8"/>
                </a:solidFill>
                <a:latin typeface="Arial"/>
                <a:ea typeface="Arial"/>
              </a:rPr>
              <a:t>this module is the depth underneath it, for the pieces that deserve more than one line in a table.</a:t>
            </a:r>
            <a:endParaRPr b="0" lang="en-US" sz="1200" spc="-1" strike="noStrike">
              <a:solidFill>
                <a:srgbClr val="ffffff"/>
              </a:solidFill>
              <a:latin typeface="Arial"/>
            </a:endParaRPr>
          </a:p>
        </p:txBody>
      </p:sp>
      <p:sp>
        <p:nvSpPr>
          <p:cNvPr id="646"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47"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48"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Some of Rust's building blocks look familiar and behave differently in ways that matter,  </a:t>
            </a:r>
            <a:r>
              <a:rPr b="0" lang="en-US" sz="1200" spc="-1" strike="noStrike">
                <a:solidFill>
                  <a:srgbClr val="9aa4b8"/>
                </a:solidFill>
                <a:latin typeface="Arial"/>
                <a:ea typeface="Arial"/>
              </a:rPr>
              <a:t>variable scope and shadowing chief among them.</a:t>
            </a:r>
            <a:endParaRPr b="0" lang="en-US" sz="1200" spc="-1" strike="noStrike">
              <a:solidFill>
                <a:srgbClr val="ffffff"/>
              </a:solidFill>
              <a:latin typeface="Arial"/>
            </a:endParaRPr>
          </a:p>
        </p:txBody>
      </p:sp>
      <p:sp>
        <p:nvSpPr>
          <p:cNvPr id="649"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50"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51"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Everything here is vocabulary the rest of today, and the rest of the course, assumes.  </a:t>
            </a:r>
            <a:endParaRPr b="0" lang="en-US" sz="1250" spc="-1" strike="noStrike">
              <a:solidFill>
                <a:srgbClr val="ffffff"/>
              </a:solidFill>
              <a:latin typeface="Arial"/>
            </a:endParaRPr>
          </a:p>
        </p:txBody>
      </p:sp>
      <p:sp>
        <p:nvSpPr>
          <p:cNvPr id="652"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653"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41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654"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DATA TYPES</a:t>
            </a:r>
            <a:endParaRPr b="0" lang="en-US" sz="1300" spc="-1" strike="noStrike">
              <a:solidFill>
                <a:srgbClr val="ffffff"/>
              </a:solidFill>
              <a:latin typeface="Arial"/>
            </a:endParaRPr>
          </a:p>
        </p:txBody>
      </p:sp>
      <p:sp>
        <p:nvSpPr>
          <p:cNvPr id="655"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Integer types: fixed width vs. implementation-defined</a:t>
            </a:r>
            <a:endParaRPr b="0" lang="en-US" sz="2800" spc="-1" strike="noStrike">
              <a:solidFill>
                <a:srgbClr val="ffffff"/>
              </a:solidFill>
              <a:latin typeface="Arial"/>
            </a:endParaRPr>
          </a:p>
        </p:txBody>
      </p:sp>
      <p:sp>
        <p:nvSpPr>
          <p:cNvPr id="656"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57"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58"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659"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660"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int x;        // at least 16 bits,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typically 32 — platform-defined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long y;       // at least 32 bits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size_t n;     // unsigned, platform width</a:t>
            </a:r>
            <a:endParaRPr b="0" lang="en-US" sz="1200" spc="-1" strike="noStrike">
              <a:solidFill>
                <a:srgbClr val="ffffff"/>
              </a:solidFill>
              <a:latin typeface="Arial"/>
            </a:endParaRPr>
          </a:p>
        </p:txBody>
      </p:sp>
      <p:sp>
        <p:nvSpPr>
          <p:cNvPr id="661"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int, long, and friends have minimum guaranteed widths, but their actual size is implementation-defined — "int is 32 bits" is a common assumption, not a guarantee.</a:t>
            </a:r>
            <a:endParaRPr b="0" lang="en-US" sz="1100" spc="-1" strike="noStrike">
              <a:solidFill>
                <a:srgbClr val="ffffff"/>
              </a:solidFill>
              <a:latin typeface="Arial"/>
            </a:endParaRPr>
          </a:p>
        </p:txBody>
      </p:sp>
      <p:sp>
        <p:nvSpPr>
          <p:cNvPr id="662"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63"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64"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665"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666"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let x: i32 = 5;      // always exactly</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32 bits, everywhere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let n: usize = 5;    // pointer-width,</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for indexing/sizes</a:t>
            </a:r>
            <a:endParaRPr b="0" lang="en-US" sz="1200" spc="-1" strike="noStrike">
              <a:solidFill>
                <a:srgbClr val="ffffff"/>
              </a:solidFill>
              <a:latin typeface="Arial"/>
            </a:endParaRPr>
          </a:p>
        </p:txBody>
      </p:sp>
      <p:sp>
        <p:nvSpPr>
          <p:cNvPr id="667"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Every integer type names its exact width in the type itself. i32 is 32 bits on every platform Rust supports — full stop, no asterisk.</a:t>
            </a:r>
            <a:endParaRPr b="0" lang="en-US" sz="1100" spc="-1" strike="noStrike">
              <a:solidFill>
                <a:srgbClr val="ffffff"/>
              </a:solidFill>
              <a:latin typeface="Arial"/>
            </a:endParaRPr>
          </a:p>
        </p:txBody>
      </p:sp>
      <p:sp>
        <p:nvSpPr>
          <p:cNvPr id="668"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69"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Portability bugs from assuming a specific int width become structurally impossible — the type tells you the width, with no "depends on the platform" caveat.</a:t>
            </a:r>
            <a:endParaRPr b="0" lang="en-US" sz="1150" spc="-1" strike="noStrike">
              <a:solidFill>
                <a:srgbClr val="ffffff"/>
              </a:solidFill>
              <a:latin typeface="Arial"/>
            </a:endParaRPr>
          </a:p>
        </p:txBody>
      </p:sp>
      <p:sp>
        <p:nvSpPr>
          <p:cNvPr id="670"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671"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42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67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DATA TYPES &amp; PROGRAM ELEMENTS</a:t>
            </a:r>
            <a:endParaRPr b="0" lang="en-US" sz="1300" spc="-1" strike="noStrike">
              <a:solidFill>
                <a:srgbClr val="ffffff"/>
              </a:solidFill>
              <a:latin typeface="Arial"/>
            </a:endParaRPr>
          </a:p>
        </p:txBody>
      </p:sp>
      <p:sp>
        <p:nvSpPr>
          <p:cNvPr id="673"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integer and floating-point type menu</a:t>
            </a:r>
            <a:endParaRPr b="0" lang="en-US" sz="2800" spc="-1" strike="noStrike">
              <a:solidFill>
                <a:srgbClr val="ffffff"/>
              </a:solidFill>
              <a:latin typeface="Arial"/>
            </a:endParaRPr>
          </a:p>
        </p:txBody>
      </p:sp>
      <p:graphicFrame>
        <p:nvGraphicFramePr>
          <p:cNvPr id="674" name="Table 0"/>
          <p:cNvGraphicFramePr/>
          <p:nvPr/>
        </p:nvGraphicFramePr>
        <p:xfrm>
          <a:off x="548640" y="1691640"/>
          <a:ext cx="11063880" cy="2743200"/>
        </p:xfrm>
        <a:graphic>
          <a:graphicData uri="http://schemas.openxmlformats.org/drawingml/2006/table">
            <a:tbl>
              <a:tblPr/>
              <a:tblGrid>
                <a:gridCol w="2743200"/>
                <a:gridCol w="4114800"/>
                <a:gridCol w="4206240"/>
              </a:tblGrid>
              <a:tr h="457200">
                <a:tc>
                  <a:txBody>
                    <a:bodyPr lIns="126720" rIns="126720" anchor="ctr">
                      <a:noAutofit/>
                    </a:bodyPr>
                    <a:p>
                      <a:pPr defTabSz="914400">
                        <a:lnSpc>
                          <a:spcPct val="100000"/>
                        </a:lnSpc>
                        <a:tabLst>
                          <a:tab algn="l" pos="0"/>
                        </a:tabLst>
                      </a:pPr>
                      <a:r>
                        <a:rPr b="1" lang="en-US" sz="1250" spc="-1" strike="noStrike">
                          <a:solidFill>
                            <a:srgbClr val="e8804f"/>
                          </a:solidFill>
                          <a:latin typeface="Arial"/>
                          <a:ea typeface="Arial"/>
                        </a:rPr>
                        <a:t>Category</a:t>
                      </a:r>
                      <a:endParaRPr b="0" lang="en-US" sz="12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202a40"/>
                    </a:solidFill>
                  </a:tcPr>
                </a:tc>
                <a:tc>
                  <a:txBody>
                    <a:bodyPr lIns="126720" rIns="126720" anchor="ctr">
                      <a:noAutofit/>
                    </a:bodyPr>
                    <a:p>
                      <a:pPr defTabSz="914400">
                        <a:lnSpc>
                          <a:spcPct val="100000"/>
                        </a:lnSpc>
                        <a:tabLst>
                          <a:tab algn="l" pos="0"/>
                        </a:tabLst>
                      </a:pPr>
                      <a:r>
                        <a:rPr b="1" lang="en-US" sz="1250" spc="-1" strike="noStrike">
                          <a:solidFill>
                            <a:srgbClr val="e8804f"/>
                          </a:solidFill>
                          <a:latin typeface="Arial"/>
                          <a:ea typeface="Arial"/>
                        </a:rPr>
                        <a:t>Rust types</a:t>
                      </a:r>
                      <a:endParaRPr b="0" lang="en-US" sz="12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202a40"/>
                    </a:solidFill>
                  </a:tcPr>
                </a:tc>
                <a:tc>
                  <a:txBody>
                    <a:bodyPr lIns="126720" rIns="126720" anchor="ctr">
                      <a:noAutofit/>
                    </a:bodyPr>
                    <a:p>
                      <a:pPr defTabSz="914400">
                        <a:lnSpc>
                          <a:spcPct val="100000"/>
                        </a:lnSpc>
                        <a:tabLst>
                          <a:tab algn="l" pos="0"/>
                        </a:tabLst>
                      </a:pPr>
                      <a:r>
                        <a:rPr b="1" lang="en-US" sz="1250" spc="-1" strike="noStrike">
                          <a:solidFill>
                            <a:srgbClr val="e8804f"/>
                          </a:solidFill>
                          <a:latin typeface="Arial"/>
                          <a:ea typeface="Arial"/>
                        </a:rPr>
                        <a:t>C++ equivalent-ish</a:t>
                      </a:r>
                      <a:endParaRPr b="0" lang="en-US" sz="12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202a40"/>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Arial"/>
                          <a:ea typeface="Arial"/>
                        </a:rPr>
                        <a:t>Signed integers</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i8, i16, i32, i64, i128</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Consolas"/>
                          <a:ea typeface="Consolas"/>
                        </a:rPr>
                        <a:t>int8_t, int16_t, int32_t, int64_t</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Arial"/>
                          <a:ea typeface="Arial"/>
                        </a:rPr>
                        <a:t>Unsigned integers</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u8, u16, u32, u64, u128</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Consolas"/>
                          <a:ea typeface="Consolas"/>
                        </a:rPr>
                        <a:t>uint8_t, uint16_t, uint32_t, uint64_t</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Arial"/>
                          <a:ea typeface="Arial"/>
                        </a:rPr>
                        <a:t>Pointer-sized</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isize, usize</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Consolas"/>
                          <a:ea typeface="Consolas"/>
                        </a:rPr>
                        <a:t>ptrdiff_t, size_t</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Arial"/>
                          <a:ea typeface="Arial"/>
                        </a:rPr>
                        <a:t>Floating point</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f32, f64</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Consolas"/>
                          <a:ea typeface="Consolas"/>
                        </a:rPr>
                        <a:t>float, double</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Arial"/>
                          <a:ea typeface="Arial"/>
                        </a:rPr>
                        <a:t>Boolean</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bool (exactly 1 byte, only 0/1)</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Consolas"/>
                          <a:ea typeface="Consolas"/>
                        </a:rPr>
                        <a:t>bool (size unspecified by the standard)</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bl>
          </a:graphicData>
        </a:graphic>
      </p:graphicFrame>
      <p:sp>
        <p:nvSpPr>
          <p:cNvPr id="675" name="Text 2"/>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676" name="Text 3"/>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43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677"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DATA TYPES</a:t>
            </a:r>
            <a:endParaRPr b="0" lang="en-US" sz="1300" spc="-1" strike="noStrike">
              <a:solidFill>
                <a:srgbClr val="ffffff"/>
              </a:solidFill>
              <a:latin typeface="Arial"/>
            </a:endParaRPr>
          </a:p>
        </p:txBody>
      </p:sp>
      <p:sp>
        <p:nvSpPr>
          <p:cNvPr id="678"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char: a very different guarantee</a:t>
            </a:r>
            <a:endParaRPr b="0" lang="en-US" sz="2800" spc="-1" strike="noStrike">
              <a:solidFill>
                <a:srgbClr val="ffffff"/>
              </a:solidFill>
              <a:latin typeface="Arial"/>
            </a:endParaRPr>
          </a:p>
        </p:txBody>
      </p:sp>
      <p:sp>
        <p:nvSpPr>
          <p:cNvPr id="679"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80"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81"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682"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683"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char c = 'A';</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1 byte, effectively a small</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integer — not guaranteed to be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 valid text character at all</a:t>
            </a:r>
            <a:endParaRPr b="0" lang="en-US" sz="1200" spc="-1" strike="noStrike">
              <a:solidFill>
                <a:srgbClr val="ffffff"/>
              </a:solidFill>
              <a:latin typeface="Arial"/>
            </a:endParaRPr>
          </a:p>
        </p:txBody>
      </p:sp>
      <p:sp>
        <p:nvSpPr>
          <p:cNvPr id="684"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C++ char is a 1-byte integer type. It's used for text by convention, but nothing enforces that its value is a meaningful character, let alone Unicode.</a:t>
            </a:r>
            <a:endParaRPr b="0" lang="en-US" sz="1100" spc="-1" strike="noStrike">
              <a:solidFill>
                <a:srgbClr val="ffffff"/>
              </a:solidFill>
              <a:latin typeface="Arial"/>
            </a:endParaRPr>
          </a:p>
        </p:txBody>
      </p:sp>
      <p:sp>
        <p:nvSpPr>
          <p:cNvPr id="685"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86"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87"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688"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689"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let c: char = 'A';</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let e: char = '\u{1F980}'; // a crab</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always 4 bytes, always a valid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Unicode scalar value</a:t>
            </a:r>
            <a:endParaRPr b="0" lang="en-US" sz="1200" spc="-1" strike="noStrike">
              <a:solidFill>
                <a:srgbClr val="ffffff"/>
              </a:solidFill>
              <a:latin typeface="Arial"/>
            </a:endParaRPr>
          </a:p>
        </p:txBody>
      </p:sp>
      <p:sp>
        <p:nvSpPr>
          <p:cNvPr id="690"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Rust's char is always a valid Unicode scalar value, always 4 bytes wide, and the compiler guarantees it — you cannot construct an invalid char in safe Rust.</a:t>
            </a:r>
            <a:endParaRPr b="0" lang="en-US" sz="1100" spc="-1" strike="noStrike">
              <a:solidFill>
                <a:srgbClr val="ffffff"/>
              </a:solidFill>
              <a:latin typeface="Arial"/>
            </a:endParaRPr>
          </a:p>
        </p:txBody>
      </p:sp>
      <p:sp>
        <p:nvSpPr>
          <p:cNvPr id="691"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92"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The one-byte-character habit from C++ doesn't transfer directly — a Rust char is a wide, always-valid Unicode codepoint, not a byte. But that 4-byte width describes the char type alone, not how text is stored — see the next slide.</a:t>
            </a:r>
            <a:endParaRPr b="0" lang="en-US" sz="1150" spc="-1" strike="noStrike">
              <a:solidFill>
                <a:srgbClr val="ffffff"/>
              </a:solidFill>
              <a:latin typeface="Arial"/>
            </a:endParaRPr>
          </a:p>
        </p:txBody>
      </p:sp>
      <p:sp>
        <p:nvSpPr>
          <p:cNvPr id="693"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694"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44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695"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DATA TYPES &amp; PROGRAM ELEMENTS</a:t>
            </a:r>
            <a:endParaRPr b="0" lang="en-US" sz="1300" spc="-1" strike="noStrike">
              <a:solidFill>
                <a:srgbClr val="ffffff"/>
              </a:solidFill>
              <a:latin typeface="Arial"/>
            </a:endParaRPr>
          </a:p>
        </p:txBody>
      </p:sp>
      <p:sp>
        <p:nvSpPr>
          <p:cNvPr id="696"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char's 4 bytes vs. UTF-8's variable width — not a contradiction</a:t>
            </a:r>
            <a:endParaRPr b="0" lang="en-US" sz="2800" spc="-1" strike="noStrike">
              <a:solidFill>
                <a:srgbClr val="ffffff"/>
              </a:solidFill>
              <a:latin typeface="Arial"/>
            </a:endParaRPr>
          </a:p>
        </p:txBody>
      </p:sp>
      <p:sp>
        <p:nvSpPr>
          <p:cNvPr id="697" name="Text 2"/>
          <p:cNvSpPr/>
          <p:nvPr/>
        </p:nvSpPr>
        <p:spPr>
          <a:xfrm>
            <a:off x="548640" y="1600200"/>
            <a:ext cx="11062800" cy="501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i="1" lang="en-US" sz="1300" spc="-1" strike="noStrike">
                <a:solidFill>
                  <a:srgbClr val="9aa4b8"/>
                </a:solidFill>
                <a:latin typeface="Arial"/>
                <a:ea typeface="Arial"/>
              </a:rPr>
              <a:t>This is the exact subtlety worth pausing on before it causes confusion three slides from now.</a:t>
            </a:r>
            <a:endParaRPr b="0" lang="en-US" sz="1300" spc="-1" strike="noStrike">
              <a:solidFill>
                <a:srgbClr val="ffffff"/>
              </a:solidFill>
              <a:latin typeface="Arial"/>
            </a:endParaRPr>
          </a:p>
        </p:txBody>
      </p:sp>
      <p:sp>
        <p:nvSpPr>
          <p:cNvPr id="698" name="Shape 3"/>
          <p:cNvSpPr/>
          <p:nvPr/>
        </p:nvSpPr>
        <p:spPr>
          <a:xfrm>
            <a:off x="548640" y="222192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99" name="Shape 4"/>
          <p:cNvSpPr/>
          <p:nvPr/>
        </p:nvSpPr>
        <p:spPr>
          <a:xfrm>
            <a:off x="777240" y="27403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00" name="Text 5"/>
          <p:cNvSpPr/>
          <p:nvPr/>
        </p:nvSpPr>
        <p:spPr>
          <a:xfrm>
            <a:off x="1143000" y="222192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A standalone char is always 4 bytes —  </a:t>
            </a:r>
            <a:r>
              <a:rPr b="0" lang="en-US" sz="1200" spc="-1" strike="noStrike">
                <a:solidFill>
                  <a:srgbClr val="9aa4b8"/>
                </a:solidFill>
                <a:latin typeface="Arial"/>
                <a:ea typeface="Arial"/>
              </a:rPr>
              <a:t>that's a property of the type itself, in isolation, independent of any string.</a:t>
            </a:r>
            <a:endParaRPr b="0" lang="en-US" sz="1200" spc="-1" strike="noStrike">
              <a:solidFill>
                <a:srgbClr val="ffffff"/>
              </a:solidFill>
              <a:latin typeface="Arial"/>
            </a:endParaRPr>
          </a:p>
        </p:txBody>
      </p:sp>
      <p:sp>
        <p:nvSpPr>
          <p:cNvPr id="701" name="Shape 6"/>
          <p:cNvSpPr/>
          <p:nvPr/>
        </p:nvSpPr>
        <p:spPr>
          <a:xfrm>
            <a:off x="548640" y="356904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02" name="Shape 7"/>
          <p:cNvSpPr/>
          <p:nvPr/>
        </p:nvSpPr>
        <p:spPr>
          <a:xfrm>
            <a:off x="777240" y="408744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03" name="Text 8"/>
          <p:cNvSpPr/>
          <p:nvPr/>
        </p:nvSpPr>
        <p:spPr>
          <a:xfrm>
            <a:off x="1143000" y="356904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Text inside a String or &amp;str is UTF-8 encoded, which is variable-width:  </a:t>
            </a:r>
            <a:r>
              <a:rPr b="0" lang="en-US" sz="1200" spc="-1" strike="noStrike">
                <a:solidFill>
                  <a:srgbClr val="9aa4b8"/>
                </a:solidFill>
                <a:latin typeface="Arial"/>
                <a:ea typeface="Arial"/>
              </a:rPr>
              <a:t>each character occupies 1 to 4 bytes depending on its codepoint — not a fixed 4-byte slot per character. A String is a UTF-8 byte buffer, not an array of chars.</a:t>
            </a:r>
            <a:endParaRPr b="0" lang="en-US" sz="1200" spc="-1" strike="noStrike">
              <a:solidFill>
                <a:srgbClr val="ffffff"/>
              </a:solidFill>
              <a:latin typeface="Arial"/>
            </a:endParaRPr>
          </a:p>
        </p:txBody>
      </p:sp>
      <p:sp>
        <p:nvSpPr>
          <p:cNvPr id="704" name="Shape 9"/>
          <p:cNvSpPr/>
          <p:nvPr/>
        </p:nvSpPr>
        <p:spPr>
          <a:xfrm>
            <a:off x="548640" y="491652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05" name="Shape 10"/>
          <p:cNvSpPr/>
          <p:nvPr/>
        </p:nvSpPr>
        <p:spPr>
          <a:xfrm>
            <a:off x="777240" y="543456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06" name="Text 11"/>
          <p:cNvSpPr/>
          <p:nvPr/>
        </p:nvSpPr>
        <p:spPr>
          <a:xfrm>
            <a:off x="1143000" y="491652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This is exactly why Rust won't let you index a String with s[3] —  </a:t>
            </a:r>
            <a:r>
              <a:rPr b="0" lang="en-US" sz="1200" spc="-1" strike="noStrike">
                <a:solidFill>
                  <a:srgbClr val="9aa4b8"/>
                </a:solidFill>
                <a:latin typeface="Arial"/>
                <a:ea typeface="Arial"/>
              </a:rPr>
              <a:t>byte position and "3rd character" stop being the same number the moment the string holds anything outside ASCII, so the compiler refuses to let you conflate them.</a:t>
            </a:r>
            <a:endParaRPr b="0" lang="en-US" sz="1200" spc="-1" strike="noStrike">
              <a:solidFill>
                <a:srgbClr val="ffffff"/>
              </a:solidFill>
              <a:latin typeface="Arial"/>
            </a:endParaRPr>
          </a:p>
        </p:txBody>
      </p:sp>
      <p:sp>
        <p:nvSpPr>
          <p:cNvPr id="707" name="Text 12"/>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708" name="Text 13"/>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45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709"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DATA TYPES &amp; PROGRAM ELEMENTS</a:t>
            </a:r>
            <a:endParaRPr b="0" lang="en-US" sz="1300" spc="-1" strike="noStrike">
              <a:solidFill>
                <a:srgbClr val="ffffff"/>
              </a:solidFill>
              <a:latin typeface="Arial"/>
            </a:endParaRPr>
          </a:p>
        </p:txBody>
      </p:sp>
      <p:sp>
        <p:nvSpPr>
          <p:cNvPr id="710"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Compound types, briefly</a:t>
            </a:r>
            <a:endParaRPr b="0" lang="en-US" sz="2800" spc="-1" strike="noStrike">
              <a:solidFill>
                <a:srgbClr val="ffffff"/>
              </a:solidFill>
              <a:latin typeface="Arial"/>
            </a:endParaRPr>
          </a:p>
        </p:txBody>
      </p:sp>
      <p:sp>
        <p:nvSpPr>
          <p:cNvPr id="711"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12"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13"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Tuples — (i32, f64, bool) — are a genuine language feature, directly pattern-destructurable:  </a:t>
            </a:r>
            <a:r>
              <a:rPr b="0" lang="en-US" sz="1200" spc="-1" strike="noStrike">
                <a:solidFill>
                  <a:srgbClr val="9aa4b8"/>
                </a:solidFill>
                <a:latin typeface="Arial"/>
                <a:ea typeface="Arial"/>
              </a:rPr>
              <a:t>no std::tuple, no get&lt;0&gt;(), no std::tie.</a:t>
            </a:r>
            <a:endParaRPr b="0" lang="en-US" sz="1200" spc="-1" strike="noStrike">
              <a:solidFill>
                <a:srgbClr val="ffffff"/>
              </a:solidFill>
              <a:latin typeface="Arial"/>
            </a:endParaRPr>
          </a:p>
        </p:txBody>
      </p:sp>
      <p:sp>
        <p:nvSpPr>
          <p:cNvPr id="714"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15"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16"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Fixed-size arrays [T; N] carry their length in the type itself, checked at compile time —  </a:t>
            </a:r>
            <a:r>
              <a:rPr b="0" lang="en-US" sz="1200" spc="-1" strike="noStrike">
                <a:solidFill>
                  <a:srgbClr val="9aa4b8"/>
                </a:solidFill>
                <a:latin typeface="Arial"/>
                <a:ea typeface="Arial"/>
              </a:rPr>
              <a:t>closer in spirit to std::array than to a raw C array.</a:t>
            </a:r>
            <a:endParaRPr b="0" lang="en-US" sz="1200" spc="-1" strike="noStrike">
              <a:solidFill>
                <a:srgbClr val="ffffff"/>
              </a:solidFill>
              <a:latin typeface="Arial"/>
            </a:endParaRPr>
          </a:p>
        </p:txBody>
      </p:sp>
      <p:sp>
        <p:nvSpPr>
          <p:cNvPr id="717"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18"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19"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Both support direct destructuring with the same pattern syntax used everywhere else in the language:  </a:t>
            </a:r>
            <a:r>
              <a:rPr b="0" lang="en-US" sz="1200" spc="-1" strike="noStrike">
                <a:solidFill>
                  <a:srgbClr val="9aa4b8"/>
                </a:solidFill>
                <a:latin typeface="Arial"/>
                <a:ea typeface="Arial"/>
              </a:rPr>
              <a:t>let (a, b, c) = tuple;.</a:t>
            </a:r>
            <a:endParaRPr b="0" lang="en-US" sz="1200" spc="-1" strike="noStrike">
              <a:solidFill>
                <a:srgbClr val="ffffff"/>
              </a:solidFill>
              <a:latin typeface="Arial"/>
            </a:endParaRPr>
          </a:p>
        </p:txBody>
      </p:sp>
      <p:sp>
        <p:nvSpPr>
          <p:cNvPr id="720"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721"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46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72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DATA TYPES</a:t>
            </a:r>
            <a:endParaRPr b="0" lang="en-US" sz="1300" spc="-1" strike="noStrike">
              <a:solidFill>
                <a:srgbClr val="ffffff"/>
              </a:solidFill>
              <a:latin typeface="Arial"/>
            </a:endParaRPr>
          </a:p>
        </p:txBody>
      </p:sp>
      <p:sp>
        <p:nvSpPr>
          <p:cNvPr id="723"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Fixed-size arrays</a:t>
            </a:r>
            <a:endParaRPr b="0" lang="en-US" sz="2800" spc="-1" strike="noStrike">
              <a:solidFill>
                <a:srgbClr val="ffffff"/>
              </a:solidFill>
              <a:latin typeface="Arial"/>
            </a:endParaRPr>
          </a:p>
        </p:txBody>
      </p:sp>
      <p:sp>
        <p:nvSpPr>
          <p:cNvPr id="724"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25"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26"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727"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728"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int arr[5] = {1,2,3,4,5};</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std::array&lt;int,5&gt; arr2 = {1,2,3,4,5};</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raw array decays to a pointer</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 function boundary;</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std::array does not</a:t>
            </a:r>
            <a:endParaRPr b="0" lang="en-US" sz="1200" spc="-1" strike="noStrike">
              <a:solidFill>
                <a:srgbClr val="ffffff"/>
              </a:solidFill>
              <a:latin typeface="Arial"/>
            </a:endParaRPr>
          </a:p>
        </p:txBody>
      </p:sp>
      <p:sp>
        <p:nvSpPr>
          <p:cNvPr id="729"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A raw C-style array silently decays to a pointer when passed to a function, losing its size — a well-known source of bugs that std::array (C++11) exists to fix.</a:t>
            </a:r>
            <a:endParaRPr b="0" lang="en-US" sz="1100" spc="-1" strike="noStrike">
              <a:solidFill>
                <a:srgbClr val="ffffff"/>
              </a:solidFill>
              <a:latin typeface="Arial"/>
            </a:endParaRPr>
          </a:p>
        </p:txBody>
      </p:sp>
      <p:sp>
        <p:nvSpPr>
          <p:cNvPr id="730"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31"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32"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733"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734"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let arr: [i32; 5] = [1,2,3,4,5];</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arr.len(); // always 5, always known</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arrays never decay to a raw</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pointer implicitly, anywhere</a:t>
            </a:r>
            <a:endParaRPr b="0" lang="en-US" sz="1200" spc="-1" strike="noStrike">
              <a:solidFill>
                <a:srgbClr val="ffffff"/>
              </a:solidFill>
              <a:latin typeface="Arial"/>
            </a:endParaRPr>
          </a:p>
        </p:txBody>
      </p:sp>
      <p:sp>
        <p:nvSpPr>
          <p:cNvPr id="735"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An array's length is part of its type and is never lost, whether you pass it by value, by reference, or across a function boundary.</a:t>
            </a:r>
            <a:endParaRPr b="0" lang="en-US" sz="1100" spc="-1" strike="noStrike">
              <a:solidFill>
                <a:srgbClr val="ffffff"/>
              </a:solidFill>
              <a:latin typeface="Arial"/>
            </a:endParaRPr>
          </a:p>
        </p:txBody>
      </p:sp>
      <p:sp>
        <p:nvSpPr>
          <p:cNvPr id="736"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37"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Rust only has the std::array-shaped array — the array-decay footgun that std::array was invented to work around simply isn't an option to begin with.</a:t>
            </a:r>
            <a:endParaRPr b="0" lang="en-US" sz="1150" spc="-1" strike="noStrike">
              <a:solidFill>
                <a:srgbClr val="ffffff"/>
              </a:solidFill>
              <a:latin typeface="Arial"/>
            </a:endParaRPr>
          </a:p>
        </p:txBody>
      </p:sp>
      <p:sp>
        <p:nvSpPr>
          <p:cNvPr id="738"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739"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47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740"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DATA TYPES</a:t>
            </a:r>
            <a:endParaRPr b="0" lang="en-US" sz="1300" spc="-1" strike="noStrike">
              <a:solidFill>
                <a:srgbClr val="ffffff"/>
              </a:solidFill>
              <a:latin typeface="Arial"/>
            </a:endParaRPr>
          </a:p>
        </p:txBody>
      </p:sp>
      <p:sp>
        <p:nvSpPr>
          <p:cNvPr id="741"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Slices: a genuinely new concept</a:t>
            </a:r>
            <a:endParaRPr b="0" lang="en-US" sz="2800" spc="-1" strike="noStrike">
              <a:solidFill>
                <a:srgbClr val="ffffff"/>
              </a:solidFill>
              <a:latin typeface="Arial"/>
            </a:endParaRPr>
          </a:p>
        </p:txBody>
      </p:sp>
      <p:sp>
        <p:nvSpPr>
          <p:cNvPr id="742"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43"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44"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745"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746"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void process(int* data, size_t len);</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or, C++20:</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void process(std::span&lt;int&gt; data);</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span is recent, and opt-in</a:t>
            </a:r>
            <a:endParaRPr b="0" lang="en-US" sz="1200" spc="-1" strike="noStrike">
              <a:solidFill>
                <a:srgbClr val="ffffff"/>
              </a:solidFill>
              <a:latin typeface="Arial"/>
            </a:endParaRPr>
          </a:p>
        </p:txBody>
      </p:sp>
      <p:sp>
        <p:nvSpPr>
          <p:cNvPr id="747"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C++ has historically passed a pointer and a length as two separate arguments; std::span (C++20) finally bundles them, but it's a recently-added, opt-in type.</a:t>
            </a:r>
            <a:endParaRPr b="0" lang="en-US" sz="1100" spc="-1" strike="noStrike">
              <a:solidFill>
                <a:srgbClr val="ffffff"/>
              </a:solidFill>
              <a:latin typeface="Arial"/>
            </a:endParaRPr>
          </a:p>
        </p:txBody>
      </p:sp>
      <p:sp>
        <p:nvSpPr>
          <p:cNvPr id="748"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49"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50"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751"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752"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fn process(data: &amp;[i32]) { ...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 slice is ALWAYS a pointer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length, bundled together — the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default way to borrow a sequence</a:t>
            </a:r>
            <a:endParaRPr b="0" lang="en-US" sz="1200" spc="-1" strike="noStrike">
              <a:solidFill>
                <a:srgbClr val="ffffff"/>
              </a:solidFill>
              <a:latin typeface="Arial"/>
            </a:endParaRPr>
          </a:p>
        </p:txBody>
      </p:sp>
      <p:sp>
        <p:nvSpPr>
          <p:cNvPr id="753"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&amp;[T] is a "fat pointer": address plus length. It's the idiomatic, default way to reference any borrowed sequence — Vec, array, and slice all coerce to it.</a:t>
            </a:r>
            <a:endParaRPr b="0" lang="en-US" sz="1100" spc="-1" strike="noStrike">
              <a:solidFill>
                <a:srgbClr val="ffffff"/>
              </a:solidFill>
              <a:latin typeface="Arial"/>
            </a:endParaRPr>
          </a:p>
        </p:txBody>
      </p:sp>
      <p:sp>
        <p:nvSpPr>
          <p:cNvPr id="754"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55"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What C++20 added as an opt-in library type has been Rust's default, idiomatic way to reference a sequence since version 1.0 — bounds travel with the reference.</a:t>
            </a:r>
            <a:endParaRPr b="0" lang="en-US" sz="1150" spc="-1" strike="noStrike">
              <a:solidFill>
                <a:srgbClr val="ffffff"/>
              </a:solidFill>
              <a:latin typeface="Arial"/>
            </a:endParaRPr>
          </a:p>
        </p:txBody>
      </p:sp>
      <p:sp>
        <p:nvSpPr>
          <p:cNvPr id="756"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757"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48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758"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DATA TYPES</a:t>
            </a:r>
            <a:endParaRPr b="0" lang="en-US" sz="1300" spc="-1" strike="noStrike">
              <a:solidFill>
                <a:srgbClr val="ffffff"/>
              </a:solidFill>
              <a:latin typeface="Arial"/>
            </a:endParaRPr>
          </a:p>
        </p:txBody>
      </p:sp>
      <p:sp>
        <p:nvSpPr>
          <p:cNvPr id="759"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String types, in full</a:t>
            </a:r>
            <a:endParaRPr b="0" lang="en-US" sz="2800" spc="-1" strike="noStrike">
              <a:solidFill>
                <a:srgbClr val="ffffff"/>
              </a:solidFill>
              <a:latin typeface="Arial"/>
            </a:endParaRPr>
          </a:p>
        </p:txBody>
      </p:sp>
      <p:sp>
        <p:nvSpPr>
          <p:cNvPr id="760"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61"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62"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763"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764"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std::string s = "owned";     // owned,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heap buffer</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const char* p = "literal";    // static,</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null-terminated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std::string_view v = s;        // borrowed,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non-owning view</a:t>
            </a:r>
            <a:endParaRPr b="0" lang="en-US" sz="1200" spc="-1" strike="noStrike">
              <a:solidFill>
                <a:srgbClr val="ffffff"/>
              </a:solidFill>
              <a:latin typeface="Arial"/>
            </a:endParaRPr>
          </a:p>
        </p:txBody>
      </p:sp>
      <p:sp>
        <p:nvSpPr>
          <p:cNvPr id="765"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Three overlapping ways to refer to text, each with a different ownership and lifetime story — string_view is the newest, added only in C++17.</a:t>
            </a:r>
            <a:endParaRPr b="0" lang="en-US" sz="1100" spc="-1" strike="noStrike">
              <a:solidFill>
                <a:srgbClr val="ffffff"/>
              </a:solidFill>
              <a:latin typeface="Arial"/>
            </a:endParaRPr>
          </a:p>
        </p:txBody>
      </p:sp>
      <p:sp>
        <p:nvSpPr>
          <p:cNvPr id="766"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67"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68"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769"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770"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let s: String = String::from("owned");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owned, growable, heap-allocated,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guaranteed valid UTF-8</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let r: &amp;str = &amp;s; // borrowed view,</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also guaranteed UTF-8</a:t>
            </a:r>
            <a:endParaRPr b="0" lang="en-US" sz="1200" spc="-1" strike="noStrike">
              <a:solidFill>
                <a:srgbClr val="ffffff"/>
              </a:solidFill>
              <a:latin typeface="Arial"/>
            </a:endParaRPr>
          </a:p>
        </p:txBody>
      </p:sp>
      <p:sp>
        <p:nvSpPr>
          <p:cNvPr id="771"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Exactly two types: String (owned) and &amp;str (borrowed view) — both guaranteed to hold valid UTF-8 at all times, checked at construction.</a:t>
            </a:r>
            <a:endParaRPr b="0" lang="en-US" sz="1100" spc="-1" strike="noStrike">
              <a:solidFill>
                <a:srgbClr val="ffffff"/>
              </a:solidFill>
              <a:latin typeface="Arial"/>
            </a:endParaRPr>
          </a:p>
        </p:txBody>
      </p:sp>
      <p:sp>
        <p:nvSpPr>
          <p:cNvPr id="772"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73"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Fewer types, plus a guarantee C++ doesn't make: a Rust string can never contain invalid UTF-8, so "is this actually valid text" is never a question you have to ask.</a:t>
            </a:r>
            <a:endParaRPr b="0" lang="en-US" sz="1150" spc="-1" strike="noStrike">
              <a:solidFill>
                <a:srgbClr val="ffffff"/>
              </a:solidFill>
              <a:latin typeface="Arial"/>
            </a:endParaRPr>
          </a:p>
        </p:txBody>
      </p:sp>
      <p:sp>
        <p:nvSpPr>
          <p:cNvPr id="774"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775"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49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776"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DATA TYPES &amp; PROGRAM ELEMENTS</a:t>
            </a:r>
            <a:endParaRPr b="0" lang="en-US" sz="1300" spc="-1" strike="noStrike">
              <a:solidFill>
                <a:srgbClr val="ffffff"/>
              </a:solidFill>
              <a:latin typeface="Arial"/>
            </a:endParaRPr>
          </a:p>
        </p:txBody>
      </p:sp>
      <p:sp>
        <p:nvSpPr>
          <p:cNvPr id="777"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Variable scope: the part that's genuinely different</a:t>
            </a:r>
            <a:endParaRPr b="0" lang="en-US" sz="2800" spc="-1" strike="noStrike">
              <a:solidFill>
                <a:srgbClr val="ffffff"/>
              </a:solidFill>
              <a:latin typeface="Arial"/>
            </a:endParaRPr>
          </a:p>
        </p:txBody>
      </p:sp>
      <p:sp>
        <p:nvSpPr>
          <p:cNvPr id="778" name="Text 2"/>
          <p:cNvSpPr/>
          <p:nvPr/>
        </p:nvSpPr>
        <p:spPr>
          <a:xfrm>
            <a:off x="548640" y="1600200"/>
            <a:ext cx="11062800" cy="501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i="1" lang="en-US" sz="1300" spc="-1" strike="noStrike">
                <a:solidFill>
                  <a:srgbClr val="9aa4b8"/>
                </a:solidFill>
                <a:latin typeface="Arial"/>
                <a:ea typeface="Arial"/>
              </a:rPr>
              <a:t>Worth slowing down on — scope rules look familiar, but include one feature C++ doesn't have.</a:t>
            </a:r>
            <a:endParaRPr b="0" lang="en-US" sz="1300" spc="-1" strike="noStrike">
              <a:solidFill>
                <a:srgbClr val="ffffff"/>
              </a:solidFill>
              <a:latin typeface="Arial"/>
            </a:endParaRPr>
          </a:p>
        </p:txBody>
      </p:sp>
      <p:sp>
        <p:nvSpPr>
          <p:cNvPr id="779" name="Shape 3"/>
          <p:cNvSpPr/>
          <p:nvPr/>
        </p:nvSpPr>
        <p:spPr>
          <a:xfrm>
            <a:off x="548640" y="2221920"/>
            <a:ext cx="11062800" cy="1909800"/>
          </a:xfrm>
          <a:prstGeom prst="roundRect">
            <a:avLst>
              <a:gd name="adj" fmla="val 3349"/>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80" name="Shape 4"/>
          <p:cNvSpPr/>
          <p:nvPr/>
        </p:nvSpPr>
        <p:spPr>
          <a:xfrm>
            <a:off x="777240" y="3076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81" name="Text 5"/>
          <p:cNvSpPr/>
          <p:nvPr/>
        </p:nvSpPr>
        <p:spPr>
          <a:xfrm>
            <a:off x="1143000" y="2221920"/>
            <a:ext cx="10239840" cy="1909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Block scope and drop order both work the way you'd expect from C++:  </a:t>
            </a:r>
            <a:r>
              <a:rPr b="0" lang="en-US" sz="1200" spc="-1" strike="noStrike">
                <a:solidFill>
                  <a:srgbClr val="9aa4b8"/>
                </a:solidFill>
                <a:latin typeface="Arial"/>
                <a:ea typeface="Arial"/>
              </a:rPr>
              <a:t>a binding is valid from its let to the end of its enclosing {} block, and values drop in reverse declaration order.</a:t>
            </a:r>
            <a:endParaRPr b="0" lang="en-US" sz="1200" spc="-1" strike="noStrike">
              <a:solidFill>
                <a:srgbClr val="ffffff"/>
              </a:solidFill>
              <a:latin typeface="Arial"/>
            </a:endParaRPr>
          </a:p>
        </p:txBody>
      </p:sp>
      <p:sp>
        <p:nvSpPr>
          <p:cNvPr id="782" name="Shape 6"/>
          <p:cNvSpPr/>
          <p:nvPr/>
        </p:nvSpPr>
        <p:spPr>
          <a:xfrm>
            <a:off x="548640" y="4242960"/>
            <a:ext cx="11062800" cy="1909800"/>
          </a:xfrm>
          <a:prstGeom prst="roundRect">
            <a:avLst>
              <a:gd name="adj" fmla="val 3349"/>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83" name="Shape 7"/>
          <p:cNvSpPr/>
          <p:nvPr/>
        </p:nvSpPr>
        <p:spPr>
          <a:xfrm>
            <a:off x="777240" y="509796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84" name="Text 8"/>
          <p:cNvSpPr/>
          <p:nvPr/>
        </p:nvSpPr>
        <p:spPr>
          <a:xfrm>
            <a:off x="1143000" y="4242960"/>
            <a:ext cx="10239840" cy="1909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What's different is shadowing:  </a:t>
            </a:r>
            <a:r>
              <a:rPr b="0" lang="en-US" sz="1200" spc="-1" strike="noStrike">
                <a:solidFill>
                  <a:srgbClr val="9aa4b8"/>
                </a:solidFill>
                <a:latin typeface="Arial"/>
                <a:ea typeface="Arial"/>
              </a:rPr>
              <a:t>Rust lets you declare a new binding with the same name in the same scope, and it is not an error.</a:t>
            </a:r>
            <a:endParaRPr b="0" lang="en-US" sz="1200" spc="-1" strike="noStrike">
              <a:solidFill>
                <a:srgbClr val="ffffff"/>
              </a:solidFill>
              <a:latin typeface="Arial"/>
            </a:endParaRPr>
          </a:p>
        </p:txBody>
      </p:sp>
      <p:sp>
        <p:nvSpPr>
          <p:cNvPr id="785" name="Text 9"/>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786" name="Text 10"/>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50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787"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DATA TYPES</a:t>
            </a:r>
            <a:endParaRPr b="0" lang="en-US" sz="1300" spc="-1" strike="noStrike">
              <a:solidFill>
                <a:srgbClr val="ffffff"/>
              </a:solidFill>
              <a:latin typeface="Arial"/>
            </a:endParaRPr>
          </a:p>
        </p:txBody>
      </p:sp>
      <p:sp>
        <p:nvSpPr>
          <p:cNvPr id="788"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Shadowing: a feature, not a bug</a:t>
            </a:r>
            <a:endParaRPr b="0" lang="en-US" sz="2800" spc="-1" strike="noStrike">
              <a:solidFill>
                <a:srgbClr val="ffffff"/>
              </a:solidFill>
              <a:latin typeface="Arial"/>
            </a:endParaRPr>
          </a:p>
        </p:txBody>
      </p:sp>
      <p:sp>
        <p:nvSpPr>
          <p:cNvPr id="789"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90"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91"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792"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793"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int x = 5;</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int x = x + 1; // error:</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redefinition of 'x'</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int x = 10; } // only works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in a NESTED scope</a:t>
            </a:r>
            <a:endParaRPr b="0" lang="en-US" sz="1200" spc="-1" strike="noStrike">
              <a:solidFill>
                <a:srgbClr val="ffffff"/>
              </a:solidFill>
              <a:latin typeface="Arial"/>
            </a:endParaRPr>
          </a:p>
        </p:txBody>
      </p:sp>
      <p:sp>
        <p:nvSpPr>
          <p:cNvPr id="794"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C++ forbids redeclaring a name in the same scope. Reusing a name for a transformed value requires either a new name or a nested block.</a:t>
            </a:r>
            <a:endParaRPr b="0" lang="en-US" sz="1100" spc="-1" strike="noStrike">
              <a:solidFill>
                <a:srgbClr val="ffffff"/>
              </a:solidFill>
              <a:latin typeface="Arial"/>
            </a:endParaRPr>
          </a:p>
        </p:txBody>
      </p:sp>
      <p:sp>
        <p:nvSpPr>
          <p:cNvPr id="795"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96"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97"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798"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799"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let x = 5;</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let x = x + 1;         // fine — a NEW</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binding, same scope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let x = x.to_string(); // even a change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of type is fine</a:t>
            </a:r>
            <a:endParaRPr b="0" lang="en-US" sz="1200" spc="-1" strike="noStrike">
              <a:solidFill>
                <a:srgbClr val="ffffff"/>
              </a:solidFill>
              <a:latin typeface="Arial"/>
            </a:endParaRPr>
          </a:p>
        </p:txBody>
      </p:sp>
      <p:sp>
        <p:nvSpPr>
          <p:cNvPr id="800"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Each let introduces a genuinely new binding that shadows the previous one — including a change of type — without needing a nested block or a new name.</a:t>
            </a:r>
            <a:endParaRPr b="0" lang="en-US" sz="1100" spc="-1" strike="noStrike">
              <a:solidFill>
                <a:srgbClr val="ffffff"/>
              </a:solidFill>
              <a:latin typeface="Arial"/>
            </a:endParaRPr>
          </a:p>
        </p:txBody>
      </p:sp>
      <p:sp>
        <p:nvSpPr>
          <p:cNvPr id="801"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02"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Shadowing is the idiomatic way to express a sequence of transformations on a value without inventing x2, x_str, and so on, or reaching for mut unnecessarily.</a:t>
            </a:r>
            <a:endParaRPr b="0" lang="en-US" sz="1150" spc="-1" strike="noStrike">
              <a:solidFill>
                <a:srgbClr val="ffffff"/>
              </a:solidFill>
              <a:latin typeface="Arial"/>
            </a:endParaRPr>
          </a:p>
        </p:txBody>
      </p:sp>
      <p:sp>
        <p:nvSpPr>
          <p:cNvPr id="803"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804"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51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805"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DATA TYPES</a:t>
            </a:r>
            <a:endParaRPr b="0" lang="en-US" sz="1300" spc="-1" strike="noStrike">
              <a:solidFill>
                <a:srgbClr val="ffffff"/>
              </a:solidFill>
              <a:latin typeface="Arial"/>
            </a:endParaRPr>
          </a:p>
        </p:txBody>
      </p:sp>
      <p:sp>
        <p:nvSpPr>
          <p:cNvPr id="806"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const and static vs. const/constexpr/static</a:t>
            </a:r>
            <a:endParaRPr b="0" lang="en-US" sz="2800" spc="-1" strike="noStrike">
              <a:solidFill>
                <a:srgbClr val="ffffff"/>
              </a:solidFill>
              <a:latin typeface="Arial"/>
            </a:endParaRPr>
          </a:p>
        </p:txBody>
      </p:sp>
      <p:sp>
        <p:nvSpPr>
          <p:cNvPr id="807"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08"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09"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810"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811"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const int MAX = 100;       // typed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constant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constexpr int MAX2 = 100;  // compile-time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constant (C++11)</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static int counter = 0;     // one shared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instance</a:t>
            </a:r>
            <a:endParaRPr b="0" lang="en-US" sz="1200" spc="-1" strike="noStrike">
              <a:solidFill>
                <a:srgbClr val="ffffff"/>
              </a:solidFill>
              <a:latin typeface="Arial"/>
            </a:endParaRPr>
          </a:p>
        </p:txBody>
      </p:sp>
      <p:sp>
        <p:nvSpPr>
          <p:cNvPr id="812"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Three overlapping keywords, added at different points in the language's history, with subtly different guarantees about when evaluation actually happens.</a:t>
            </a:r>
            <a:endParaRPr b="0" lang="en-US" sz="1100" spc="-1" strike="noStrike">
              <a:solidFill>
                <a:srgbClr val="ffffff"/>
              </a:solidFill>
              <a:latin typeface="Arial"/>
            </a:endParaRPr>
          </a:p>
        </p:txBody>
      </p:sp>
      <p:sp>
        <p:nvSpPr>
          <p:cNvPr id="813"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14"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15"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816"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817"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const MAX: i32 = 100;</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always inlined at every use site;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no memory address at all</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static COUNTER: i32 = 0;</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one fixed memory address,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for the whole program</a:t>
            </a:r>
            <a:endParaRPr b="0" lang="en-US" sz="1200" spc="-1" strike="noStrike">
              <a:solidFill>
                <a:srgbClr val="ffffff"/>
              </a:solidFill>
              <a:latin typeface="Arial"/>
            </a:endParaRPr>
          </a:p>
        </p:txBody>
      </p:sp>
      <p:sp>
        <p:nvSpPr>
          <p:cNvPr id="818"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Exactly two keywords with a clean split: const is always a compile-time-substituted value; static is always one fixed address — no third, in-between option.</a:t>
            </a:r>
            <a:endParaRPr b="0" lang="en-US" sz="1100" spc="-1" strike="noStrike">
              <a:solidFill>
                <a:srgbClr val="ffffff"/>
              </a:solidFill>
              <a:latin typeface="Arial"/>
            </a:endParaRPr>
          </a:p>
        </p:txBody>
      </p:sp>
      <p:sp>
        <p:nvSpPr>
          <p:cNvPr id="819"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20"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Rust's two-way split maps roughly onto C++'s constexpr (const) and static (static), without a separate plain const keyword also in the mix to reason about.</a:t>
            </a:r>
            <a:endParaRPr b="0" lang="en-US" sz="1150" spc="-1" strike="noStrike">
              <a:solidFill>
                <a:srgbClr val="ffffff"/>
              </a:solidFill>
              <a:latin typeface="Arial"/>
            </a:endParaRPr>
          </a:p>
        </p:txBody>
      </p:sp>
      <p:sp>
        <p:nvSpPr>
          <p:cNvPr id="821"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822"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52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823"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DATA TYPES &amp; PROGRAM ELEMENTS</a:t>
            </a:r>
            <a:endParaRPr b="0" lang="en-US" sz="1300" spc="-1" strike="noStrike">
              <a:solidFill>
                <a:srgbClr val="ffffff"/>
              </a:solidFill>
              <a:latin typeface="Arial"/>
            </a:endParaRPr>
          </a:p>
        </p:txBody>
      </p:sp>
      <p:sp>
        <p:nvSpPr>
          <p:cNvPr id="824"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Type inference, a little deeper</a:t>
            </a:r>
            <a:endParaRPr b="0" lang="en-US" sz="2800" spc="-1" strike="noStrike">
              <a:solidFill>
                <a:srgbClr val="ffffff"/>
              </a:solidFill>
              <a:latin typeface="Arial"/>
            </a:endParaRPr>
          </a:p>
        </p:txBody>
      </p:sp>
      <p:sp>
        <p:nvSpPr>
          <p:cNvPr id="825"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26"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27"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Integer literals default to i32 and float literals default to f64 when nothing else constrains them —  </a:t>
            </a:r>
            <a:r>
              <a:rPr b="0" lang="en-US" sz="1200" spc="-1" strike="noStrike">
                <a:solidFill>
                  <a:srgbClr val="9aa4b8"/>
                </a:solidFill>
                <a:latin typeface="Arial"/>
                <a:ea typeface="Arial"/>
              </a:rPr>
              <a:t>the same role int and double play as C++'s implicit "default" numeric types.</a:t>
            </a:r>
            <a:endParaRPr b="0" lang="en-US" sz="1200" spc="-1" strike="noStrike">
              <a:solidFill>
                <a:srgbClr val="ffffff"/>
              </a:solidFill>
              <a:latin typeface="Arial"/>
            </a:endParaRPr>
          </a:p>
        </p:txBody>
      </p:sp>
      <p:sp>
        <p:nvSpPr>
          <p:cNvPr id="828"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29"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30"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The turbofish, ::&lt;T&gt;, disambiguates when inference genuinely can't decide:  </a:t>
            </a:r>
            <a:r>
              <a:rPr b="0" lang="en-US" sz="1200" spc="-1" strike="noStrike">
                <a:solidFill>
                  <a:srgbClr val="9aa4b8"/>
                </a:solidFill>
                <a:latin typeface="Arial"/>
                <a:ea typeface="Arial"/>
              </a:rPr>
              <a:t>"42".parse::&lt;i32&gt;() — rare in practice, but useful to recognize on sight.</a:t>
            </a:r>
            <a:endParaRPr b="0" lang="en-US" sz="1200" spc="-1" strike="noStrike">
              <a:solidFill>
                <a:srgbClr val="ffffff"/>
              </a:solidFill>
              <a:latin typeface="Arial"/>
            </a:endParaRPr>
          </a:p>
        </p:txBody>
      </p:sp>
      <p:sp>
        <p:nvSpPr>
          <p:cNvPr id="831"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32"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33"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Inference is local to a function body — Rust deliberately does not infer across function signatures,  </a:t>
            </a:r>
            <a:r>
              <a:rPr b="0" lang="en-US" sz="1200" spc="-1" strike="noStrike">
                <a:solidFill>
                  <a:srgbClr val="9aa4b8"/>
                </a:solidFill>
                <a:latin typeface="Arial"/>
                <a:ea typeface="Arial"/>
              </a:rPr>
              <a:t>so every function's parameter and return types stay explicit and self-documenting.</a:t>
            </a:r>
            <a:endParaRPr b="0" lang="en-US" sz="1200" spc="-1" strike="noStrike">
              <a:solidFill>
                <a:srgbClr val="ffffff"/>
              </a:solidFill>
              <a:latin typeface="Arial"/>
            </a:endParaRPr>
          </a:p>
        </p:txBody>
      </p:sp>
      <p:sp>
        <p:nvSpPr>
          <p:cNvPr id="834"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835"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53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836"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DATA TYPES</a:t>
            </a:r>
            <a:endParaRPr b="0" lang="en-US" sz="1300" spc="-1" strike="noStrike">
              <a:solidFill>
                <a:srgbClr val="ffffff"/>
              </a:solidFill>
              <a:latin typeface="Arial"/>
            </a:endParaRPr>
          </a:p>
        </p:txBody>
      </p:sp>
      <p:sp>
        <p:nvSpPr>
          <p:cNvPr id="837"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unit type () vs. void</a:t>
            </a:r>
            <a:endParaRPr b="0" lang="en-US" sz="2800" spc="-1" strike="noStrike">
              <a:solidFill>
                <a:srgbClr val="ffffff"/>
              </a:solidFill>
              <a:latin typeface="Arial"/>
            </a:endParaRPr>
          </a:p>
        </p:txBody>
      </p:sp>
      <p:sp>
        <p:nvSpPr>
          <p:cNvPr id="838"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39"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40"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841"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842"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void log(std::string msg)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returns nothing — void is not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a real type; you cannot have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a variable of type void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843"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void means "no value" in a way that isn't a first-class type — you can't store a void in a variable or hold one in a container.</a:t>
            </a:r>
            <a:endParaRPr b="0" lang="en-US" sz="1100" spc="-1" strike="noStrike">
              <a:solidFill>
                <a:srgbClr val="ffffff"/>
              </a:solidFill>
              <a:latin typeface="Arial"/>
            </a:endParaRPr>
          </a:p>
        </p:txBody>
      </p:sp>
      <p:sp>
        <p:nvSpPr>
          <p:cNvPr id="844"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45"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46"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847"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848"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fn log(msg: String) -&gt; ()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 is a real, zero-sized type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 "the empty tuple" — and it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IS the default return type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849"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 is an ordinary type with exactly one value, also written (). Every function implicitly returns () unless another type is specified; -&gt; () is usually omitted.</a:t>
            </a:r>
            <a:endParaRPr b="0" lang="en-US" sz="1100" spc="-1" strike="noStrike">
              <a:solidFill>
                <a:srgbClr val="ffffff"/>
              </a:solidFill>
              <a:latin typeface="Arial"/>
            </a:endParaRPr>
          </a:p>
        </p:txBody>
      </p:sp>
      <p:sp>
        <p:nvSpPr>
          <p:cNvPr id="850"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51"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Because () is a real type, generic code can treat "a function that returns nothing" uniformly with one that returns a value — no special-casing required.</a:t>
            </a:r>
            <a:endParaRPr b="0" lang="en-US" sz="1150" spc="-1" strike="noStrike">
              <a:solidFill>
                <a:srgbClr val="ffffff"/>
              </a:solidFill>
              <a:latin typeface="Arial"/>
            </a:endParaRPr>
          </a:p>
        </p:txBody>
      </p:sp>
      <p:sp>
        <p:nvSpPr>
          <p:cNvPr id="852"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853"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54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854"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DATA TYPES &amp; PROGRAM ELEMENTS</a:t>
            </a:r>
            <a:endParaRPr b="0" lang="en-US" sz="1300" spc="-1" strike="noStrike">
              <a:solidFill>
                <a:srgbClr val="ffffff"/>
              </a:solidFill>
              <a:latin typeface="Arial"/>
            </a:endParaRPr>
          </a:p>
        </p:txBody>
      </p:sp>
      <p:sp>
        <p:nvSpPr>
          <p:cNvPr id="855"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never type: !</a:t>
            </a:r>
            <a:endParaRPr b="0" lang="en-US" sz="2800" spc="-1" strike="noStrike">
              <a:solidFill>
                <a:srgbClr val="ffffff"/>
              </a:solidFill>
              <a:latin typeface="Arial"/>
            </a:endParaRPr>
          </a:p>
        </p:txBody>
      </p:sp>
      <p:sp>
        <p:nvSpPr>
          <p:cNvPr id="856"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57"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58"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 is the type of an expression that never produces a value at all —  </a:t>
            </a:r>
            <a:r>
              <a:rPr b="0" lang="en-US" sz="1200" spc="-1" strike="noStrike">
                <a:solidFill>
                  <a:srgbClr val="9aa4b8"/>
                </a:solidFill>
                <a:latin typeface="Arial"/>
                <a:ea typeface="Arial"/>
              </a:rPr>
              <a:t>a panic!(), a std::process::exit() call, or an infinite loop with no break.</a:t>
            </a:r>
            <a:endParaRPr b="0" lang="en-US" sz="1200" spc="-1" strike="noStrike">
              <a:solidFill>
                <a:srgbClr val="ffffff"/>
              </a:solidFill>
              <a:latin typeface="Arial"/>
            </a:endParaRPr>
          </a:p>
        </p:txBody>
      </p:sp>
      <p:sp>
        <p:nvSpPr>
          <p:cNvPr id="859"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60"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61"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The closest C++ equivalent is the [[noreturn]] attribute —  </a:t>
            </a:r>
            <a:r>
              <a:rPr b="0" lang="en-US" sz="1200" spc="-1" strike="noStrike">
                <a:solidFill>
                  <a:srgbClr val="9aa4b8"/>
                </a:solidFill>
                <a:latin typeface="Arial"/>
                <a:ea typeface="Arial"/>
              </a:rPr>
              <a:t>a hint to the compiler and the reader, but not a real type C++'s type system reasons about directly.</a:t>
            </a:r>
            <a:endParaRPr b="0" lang="en-US" sz="1200" spc="-1" strike="noStrike">
              <a:solidFill>
                <a:srgbClr val="ffffff"/>
              </a:solidFill>
              <a:latin typeface="Arial"/>
            </a:endParaRPr>
          </a:p>
        </p:txBody>
      </p:sp>
      <p:sp>
        <p:nvSpPr>
          <p:cNvPr id="862"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63"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64"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Because ! coerces to any other type, a match arm that panics type-checks fine against arms that return a real value —  </a:t>
            </a:r>
            <a:r>
              <a:rPr b="0" lang="en-US" sz="1200" spc="-1" strike="noStrike">
                <a:solidFill>
                  <a:srgbClr val="9aa4b8"/>
                </a:solidFill>
                <a:latin typeface="Arial"/>
                <a:ea typeface="Arial"/>
              </a:rPr>
              <a:t>a small but genuinely useful piece of type-system plumbing you'll see again today.</a:t>
            </a:r>
            <a:endParaRPr b="0" lang="en-US" sz="1200" spc="-1" strike="noStrike">
              <a:solidFill>
                <a:srgbClr val="ffffff"/>
              </a:solidFill>
              <a:latin typeface="Arial"/>
            </a:endParaRPr>
          </a:p>
        </p:txBody>
      </p:sp>
      <p:sp>
        <p:nvSpPr>
          <p:cNvPr id="865"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866"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55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867"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ce422b"/>
                </a:solidFill>
                <a:latin typeface="Arial"/>
                <a:ea typeface="Arial"/>
              </a:rPr>
              <a:t>DATA TYPES &amp; PROGRAM ELEMENTS</a:t>
            </a:r>
            <a:endParaRPr b="0" lang="en-US" sz="1300" spc="-1" strike="noStrike">
              <a:solidFill>
                <a:srgbClr val="ffffff"/>
              </a:solidFill>
              <a:latin typeface="Arial"/>
            </a:endParaRPr>
          </a:p>
        </p:txBody>
      </p:sp>
      <p:sp>
        <p:nvSpPr>
          <p:cNvPr id="868" name="Text 1"/>
          <p:cNvSpPr/>
          <p:nvPr/>
        </p:nvSpPr>
        <p:spPr>
          <a:xfrm>
            <a:off x="548640" y="2194560"/>
            <a:ext cx="11062800" cy="2101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3200" spc="-1" strike="noStrike">
                <a:solidFill>
                  <a:srgbClr val="edeff4"/>
                </a:solidFill>
                <a:latin typeface="Arial"/>
                <a:ea typeface="Arial"/>
              </a:rPr>
              <a:t>None of this is exotic — it's the vocabulary the rest of today is written in.</a:t>
            </a:r>
            <a:endParaRPr b="0" lang="en-US" sz="3200" spc="-1" strike="noStrike">
              <a:solidFill>
                <a:srgbClr val="ffffff"/>
              </a:solidFill>
              <a:latin typeface="Arial"/>
            </a:endParaRPr>
          </a:p>
        </p:txBody>
      </p:sp>
      <p:sp>
        <p:nvSpPr>
          <p:cNvPr id="869" name="Text 2"/>
          <p:cNvSpPr/>
          <p:nvPr/>
        </p:nvSpPr>
        <p:spPr>
          <a:xfrm>
            <a:off x="548640" y="4434840"/>
            <a:ext cx="1033128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30000"/>
              </a:lnSpc>
              <a:tabLst>
                <a:tab algn="l" pos="0"/>
              </a:tabLst>
            </a:pPr>
            <a:r>
              <a:rPr b="0" lang="en-US" sz="1400" spc="-1" strike="noStrike">
                <a:solidFill>
                  <a:srgbClr val="9aa4b8"/>
                </a:solidFill>
                <a:latin typeface="Arial"/>
                <a:ea typeface="Arial"/>
              </a:rPr>
              <a:t>Fixed-width integers, always-valid UTF-8 strings, shadowing, and a real unit type will each show up again, unremarked, for the rest of the course. Better to meet them once, deliberately, than to reverse-engineer them from context three modules from now.</a:t>
            </a:r>
            <a:endParaRPr b="0" lang="en-US" sz="1400" spc="-1" strike="noStrike">
              <a:solidFill>
                <a:srgbClr val="ffffff"/>
              </a:solidFill>
              <a:latin typeface="Arial"/>
            </a:endParaRPr>
          </a:p>
        </p:txBody>
      </p:sp>
      <p:sp>
        <p:nvSpPr>
          <p:cNvPr id="870" name="Text 3"/>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871" name="Text 4"/>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56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872" name="Shape 0"/>
          <p:cNvSpPr/>
          <p:nvPr/>
        </p:nvSpPr>
        <p:spPr>
          <a:xfrm>
            <a:off x="548640" y="2651760"/>
            <a:ext cx="1370160" cy="1370160"/>
          </a:xfrm>
          <a:prstGeom prst="roundRect">
            <a:avLst>
              <a:gd name="adj" fmla="val 6667"/>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73" name="Text 1"/>
          <p:cNvSpPr/>
          <p:nvPr/>
        </p:nvSpPr>
        <p:spPr>
          <a:xfrm>
            <a:off x="548640" y="2651760"/>
            <a:ext cx="1370160" cy="1370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400" spc="-1" strike="noStrike">
                <a:solidFill>
                  <a:srgbClr val="e8804f"/>
                </a:solidFill>
                <a:latin typeface="Consolas"/>
                <a:ea typeface="Consolas"/>
              </a:rPr>
              <a:t>05</a:t>
            </a:r>
            <a:endParaRPr b="0" lang="en-US" sz="3400" spc="-1" strike="noStrike">
              <a:solidFill>
                <a:srgbClr val="ffffff"/>
              </a:solidFill>
              <a:latin typeface="Arial"/>
            </a:endParaRPr>
          </a:p>
        </p:txBody>
      </p:sp>
      <p:sp>
        <p:nvSpPr>
          <p:cNvPr id="874" name="Text 2"/>
          <p:cNvSpPr/>
          <p:nvPr/>
        </p:nvSpPr>
        <p:spPr>
          <a:xfrm>
            <a:off x="2194560" y="2743200"/>
            <a:ext cx="932544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Syntax Orientation</a:t>
            </a:r>
            <a:endParaRPr b="0" lang="en-US" sz="2800" spc="-1" strike="noStrike">
              <a:solidFill>
                <a:srgbClr val="ffffff"/>
              </a:solidFill>
              <a:latin typeface="Arial"/>
            </a:endParaRPr>
          </a:p>
        </p:txBody>
      </p:sp>
      <p:sp>
        <p:nvSpPr>
          <p:cNvPr id="875" name="Text 3"/>
          <p:cNvSpPr/>
          <p:nvPr/>
        </p:nvSpPr>
        <p:spPr>
          <a:xfrm>
            <a:off x="2194560" y="3474720"/>
            <a:ext cx="8959680" cy="547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50" spc="-1" strike="noStrike">
                <a:solidFill>
                  <a:srgbClr val="9aa4b8"/>
                </a:solidFill>
                <a:latin typeface="Arial"/>
                <a:ea typeface="Arial"/>
              </a:rPr>
              <a:t>A Rosetta stone — mapping what you already know onto new spelling</a:t>
            </a:r>
            <a:endParaRPr b="0" lang="en-US" sz="1350" spc="-1" strike="noStrike">
              <a:solidFill>
                <a:srgbClr val="ffffff"/>
              </a:solidFill>
              <a:latin typeface="Arial"/>
            </a:endParaRPr>
          </a:p>
        </p:txBody>
      </p:sp>
      <p:sp>
        <p:nvSpPr>
          <p:cNvPr id="876" name="Text 4"/>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877" name="Text 5"/>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57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878"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SYNTAX ORIENTATION</a:t>
            </a:r>
            <a:endParaRPr b="0" lang="en-US" sz="1300" spc="-1" strike="noStrike">
              <a:solidFill>
                <a:srgbClr val="ffffff"/>
              </a:solidFill>
              <a:latin typeface="Arial"/>
            </a:endParaRPr>
          </a:p>
        </p:txBody>
      </p:sp>
      <p:sp>
        <p:nvSpPr>
          <p:cNvPr id="879"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Syntax Rosetta stone, part 1</a:t>
            </a:r>
            <a:endParaRPr b="0" lang="en-US" sz="2800" spc="-1" strike="noStrike">
              <a:solidFill>
                <a:srgbClr val="ffffff"/>
              </a:solidFill>
              <a:latin typeface="Arial"/>
            </a:endParaRPr>
          </a:p>
        </p:txBody>
      </p:sp>
      <p:graphicFrame>
        <p:nvGraphicFramePr>
          <p:cNvPr id="880" name="Table 0"/>
          <p:cNvGraphicFramePr/>
          <p:nvPr/>
        </p:nvGraphicFramePr>
        <p:xfrm>
          <a:off x="548640" y="1691640"/>
          <a:ext cx="11063880" cy="3200400"/>
        </p:xfrm>
        <a:graphic>
          <a:graphicData uri="http://schemas.openxmlformats.org/drawingml/2006/table">
            <a:tbl>
              <a:tblPr/>
              <a:tblGrid>
                <a:gridCol w="3840480"/>
                <a:gridCol w="3840480"/>
                <a:gridCol w="3383280"/>
              </a:tblGrid>
              <a:tr h="457200">
                <a:tc>
                  <a:txBody>
                    <a:bodyPr lIns="126720" rIns="126720" anchor="ctr">
                      <a:noAutofit/>
                    </a:bodyPr>
                    <a:p>
                      <a:pPr defTabSz="914400">
                        <a:lnSpc>
                          <a:spcPct val="100000"/>
                        </a:lnSpc>
                        <a:tabLst>
                          <a:tab algn="l" pos="0"/>
                        </a:tabLst>
                      </a:pPr>
                      <a:r>
                        <a:rPr b="1" lang="en-US" sz="1250" spc="-1" strike="noStrike">
                          <a:solidFill>
                            <a:srgbClr val="e8804f"/>
                          </a:solidFill>
                          <a:latin typeface="Arial"/>
                          <a:ea typeface="Arial"/>
                        </a:rPr>
                        <a:t>C++</a:t>
                      </a:r>
                      <a:endParaRPr b="0" lang="en-US" sz="12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202a40"/>
                    </a:solidFill>
                  </a:tcPr>
                </a:tc>
                <a:tc>
                  <a:txBody>
                    <a:bodyPr lIns="126720" rIns="126720" anchor="ctr">
                      <a:noAutofit/>
                    </a:bodyPr>
                    <a:p>
                      <a:pPr defTabSz="914400">
                        <a:lnSpc>
                          <a:spcPct val="100000"/>
                        </a:lnSpc>
                        <a:tabLst>
                          <a:tab algn="l" pos="0"/>
                        </a:tabLst>
                      </a:pPr>
                      <a:r>
                        <a:rPr b="1" lang="en-US" sz="1250" spc="-1" strike="noStrike">
                          <a:solidFill>
                            <a:srgbClr val="e8804f"/>
                          </a:solidFill>
                          <a:latin typeface="Arial"/>
                          <a:ea typeface="Arial"/>
                        </a:rPr>
                        <a:t>Rust</a:t>
                      </a:r>
                      <a:endParaRPr b="0" lang="en-US" sz="12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202a40"/>
                    </a:solidFill>
                  </a:tcPr>
                </a:tc>
                <a:tc>
                  <a:txBody>
                    <a:bodyPr lIns="126720" rIns="126720" anchor="ctr">
                      <a:noAutofit/>
                    </a:bodyPr>
                    <a:p>
                      <a:pPr defTabSz="914400">
                        <a:lnSpc>
                          <a:spcPct val="100000"/>
                        </a:lnSpc>
                        <a:tabLst>
                          <a:tab algn="l" pos="0"/>
                        </a:tabLst>
                      </a:pPr>
                      <a:r>
                        <a:rPr b="1" lang="en-US" sz="1250" spc="-1" strike="noStrike">
                          <a:solidFill>
                            <a:srgbClr val="e8804f"/>
                          </a:solidFill>
                          <a:latin typeface="Arial"/>
                          <a:ea typeface="Arial"/>
                        </a:rPr>
                        <a:t>Note</a:t>
                      </a:r>
                      <a:endParaRPr b="0" lang="en-US" sz="12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202a40"/>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int x = 5;</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let x: i32 = 5;</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Rust infers types — the annotation is usually optional</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const int x = 5;</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let x = 5;</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Bindings are immutable by default in Rust, the reverse of C++</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int x; x = 5;</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let mut x = 5;</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Mutability is an explicit, opt-in keyword</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void f(int x) {}</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fn f(x: i32) {}</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fn replaces the return-type-first C-style signature</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int f() { return 5; }</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fn f() -&gt; i32 { 5 }</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The final expression (no semicolon) is the return value</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auto x = expr;</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let x = expr;</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Type inference is pervasive, not an opt-in keyword</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bl>
          </a:graphicData>
        </a:graphic>
      </p:graphicFrame>
      <p:sp>
        <p:nvSpPr>
          <p:cNvPr id="881" name="Text 2"/>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882" name="Text 3"/>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58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883"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SYNTAX ORIENTATION</a:t>
            </a:r>
            <a:endParaRPr b="0" lang="en-US" sz="1300" spc="-1" strike="noStrike">
              <a:solidFill>
                <a:srgbClr val="ffffff"/>
              </a:solidFill>
              <a:latin typeface="Arial"/>
            </a:endParaRPr>
          </a:p>
        </p:txBody>
      </p:sp>
      <p:sp>
        <p:nvSpPr>
          <p:cNvPr id="884"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Syntax Rosetta stone, part 2</a:t>
            </a:r>
            <a:endParaRPr b="0" lang="en-US" sz="2800" spc="-1" strike="noStrike">
              <a:solidFill>
                <a:srgbClr val="ffffff"/>
              </a:solidFill>
              <a:latin typeface="Arial"/>
            </a:endParaRPr>
          </a:p>
        </p:txBody>
      </p:sp>
      <p:graphicFrame>
        <p:nvGraphicFramePr>
          <p:cNvPr id="885" name="Table 0"/>
          <p:cNvGraphicFramePr/>
          <p:nvPr/>
        </p:nvGraphicFramePr>
        <p:xfrm>
          <a:off x="548640" y="1691640"/>
          <a:ext cx="11063880" cy="3200400"/>
        </p:xfrm>
        <a:graphic>
          <a:graphicData uri="http://schemas.openxmlformats.org/drawingml/2006/table">
            <a:tbl>
              <a:tblPr/>
              <a:tblGrid>
                <a:gridCol w="3840480"/>
                <a:gridCol w="3840480"/>
                <a:gridCol w="3383280"/>
              </a:tblGrid>
              <a:tr h="457200">
                <a:tc>
                  <a:txBody>
                    <a:bodyPr lIns="126720" rIns="126720" anchor="ctr">
                      <a:noAutofit/>
                    </a:bodyPr>
                    <a:p>
                      <a:pPr defTabSz="914400">
                        <a:lnSpc>
                          <a:spcPct val="100000"/>
                        </a:lnSpc>
                        <a:tabLst>
                          <a:tab algn="l" pos="0"/>
                        </a:tabLst>
                      </a:pPr>
                      <a:r>
                        <a:rPr b="1" lang="en-US" sz="1250" spc="-1" strike="noStrike">
                          <a:solidFill>
                            <a:srgbClr val="e8804f"/>
                          </a:solidFill>
                          <a:latin typeface="Arial"/>
                          <a:ea typeface="Arial"/>
                        </a:rPr>
                        <a:t>C++</a:t>
                      </a:r>
                      <a:endParaRPr b="0" lang="en-US" sz="12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202a40"/>
                    </a:solidFill>
                  </a:tcPr>
                </a:tc>
                <a:tc>
                  <a:txBody>
                    <a:bodyPr lIns="126720" rIns="126720" anchor="ctr">
                      <a:noAutofit/>
                    </a:bodyPr>
                    <a:p>
                      <a:pPr defTabSz="914400">
                        <a:lnSpc>
                          <a:spcPct val="100000"/>
                        </a:lnSpc>
                        <a:tabLst>
                          <a:tab algn="l" pos="0"/>
                        </a:tabLst>
                      </a:pPr>
                      <a:r>
                        <a:rPr b="1" lang="en-US" sz="1250" spc="-1" strike="noStrike">
                          <a:solidFill>
                            <a:srgbClr val="e8804f"/>
                          </a:solidFill>
                          <a:latin typeface="Arial"/>
                          <a:ea typeface="Arial"/>
                        </a:rPr>
                        <a:t>Rust</a:t>
                      </a:r>
                      <a:endParaRPr b="0" lang="en-US" sz="12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202a40"/>
                    </a:solidFill>
                  </a:tcPr>
                </a:tc>
                <a:tc>
                  <a:txBody>
                    <a:bodyPr lIns="126720" rIns="126720" anchor="ctr">
                      <a:noAutofit/>
                    </a:bodyPr>
                    <a:p>
                      <a:pPr defTabSz="914400">
                        <a:lnSpc>
                          <a:spcPct val="100000"/>
                        </a:lnSpc>
                        <a:tabLst>
                          <a:tab algn="l" pos="0"/>
                        </a:tabLst>
                      </a:pPr>
                      <a:r>
                        <a:rPr b="1" lang="en-US" sz="1250" spc="-1" strike="noStrike">
                          <a:solidFill>
                            <a:srgbClr val="e8804f"/>
                          </a:solidFill>
                          <a:latin typeface="Arial"/>
                          <a:ea typeface="Arial"/>
                        </a:rPr>
                        <a:t>Note</a:t>
                      </a:r>
                      <a:endParaRPr b="0" lang="en-US" sz="12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202a40"/>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struct P { int x, y; };</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struct P { x: i32, y: i32 }</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No trailing semicolon after the closing brace in Rust</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class Shape { virtual ... };</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trait Shape { fn area(&amp;self) -&gt; f64; }</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Traits replace abstract base classes for interfaces</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std::unique_ptr&lt;T&gt;</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Box&lt;T&gt;</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Single-owner heap allocation</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std::shared_ptr&lt;T&gt;</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Rc&lt;T&gt; / Arc&lt;T&gt;</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Rc for single-thread, Arc for cross-thread ref counting</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std::vector&lt;T&gt;</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Vec&lt;T&gt;</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Growable contiguous array</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std::optional&lt;T&gt;</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Option&lt;T&gt;</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Same idea; Option predates optional and inspired it</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bl>
          </a:graphicData>
        </a:graphic>
      </p:graphicFrame>
      <p:sp>
        <p:nvSpPr>
          <p:cNvPr id="886" name="Text 2"/>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887" name="Text 3"/>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59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888"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SYNTAX</a:t>
            </a:r>
            <a:endParaRPr b="0" lang="en-US" sz="1300" spc="-1" strike="noStrike">
              <a:solidFill>
                <a:srgbClr val="ffffff"/>
              </a:solidFill>
              <a:latin typeface="Arial"/>
            </a:endParaRPr>
          </a:p>
        </p:txBody>
      </p:sp>
      <p:sp>
        <p:nvSpPr>
          <p:cNvPr id="889"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Function definitions</a:t>
            </a:r>
            <a:endParaRPr b="0" lang="en-US" sz="2800" spc="-1" strike="noStrike">
              <a:solidFill>
                <a:srgbClr val="ffffff"/>
              </a:solidFill>
              <a:latin typeface="Arial"/>
            </a:endParaRPr>
          </a:p>
        </p:txBody>
      </p:sp>
      <p:sp>
        <p:nvSpPr>
          <p:cNvPr id="890"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91"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92"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893"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894"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int add(int a, int b)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return a + b;</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895"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Return type precedes the name; a semicolon-terminated return statement ends the function.</a:t>
            </a:r>
            <a:endParaRPr b="0" lang="en-US" sz="1100" spc="-1" strike="noStrike">
              <a:solidFill>
                <a:srgbClr val="ffffff"/>
              </a:solidFill>
              <a:latin typeface="Arial"/>
            </a:endParaRPr>
          </a:p>
        </p:txBody>
      </p:sp>
      <p:sp>
        <p:nvSpPr>
          <p:cNvPr id="896"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97"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98"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899"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900"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fn add(a: i32, b: i32) -&gt; i32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a + b</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901"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fn precedes the name; the arrow introduces the return type; the trailing expression (no semicolon) is returned.</a:t>
            </a:r>
            <a:endParaRPr b="0" lang="en-US" sz="1100" spc="-1" strike="noStrike">
              <a:solidFill>
                <a:srgbClr val="ffffff"/>
              </a:solidFill>
              <a:latin typeface="Arial"/>
            </a:endParaRPr>
          </a:p>
        </p:txBody>
      </p:sp>
      <p:sp>
        <p:nvSpPr>
          <p:cNvPr id="902"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03"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Expression-oriented syntax means most functions have no explicit return statement at all — the last value just is the result.</a:t>
            </a:r>
            <a:endParaRPr b="0" lang="en-US" sz="1150" spc="-1" strike="noStrike">
              <a:solidFill>
                <a:srgbClr val="ffffff"/>
              </a:solidFill>
              <a:latin typeface="Arial"/>
            </a:endParaRPr>
          </a:p>
        </p:txBody>
      </p:sp>
      <p:sp>
        <p:nvSpPr>
          <p:cNvPr id="904"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905"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60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906"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SYNTAX</a:t>
            </a:r>
            <a:endParaRPr b="0" lang="en-US" sz="1300" spc="-1" strike="noStrike">
              <a:solidFill>
                <a:srgbClr val="ffffff"/>
              </a:solidFill>
              <a:latin typeface="Arial"/>
            </a:endParaRPr>
          </a:p>
        </p:txBody>
      </p:sp>
      <p:sp>
        <p:nvSpPr>
          <p:cNvPr id="907"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Variables and mutability</a:t>
            </a:r>
            <a:endParaRPr b="0" lang="en-US" sz="2800" spc="-1" strike="noStrike">
              <a:solidFill>
                <a:srgbClr val="ffffff"/>
              </a:solidFill>
              <a:latin typeface="Arial"/>
            </a:endParaRPr>
          </a:p>
        </p:txBody>
      </p:sp>
      <p:sp>
        <p:nvSpPr>
          <p:cNvPr id="908"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09"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10"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911"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912"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int x = 5;      // mutable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const int y = 5; // immutable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mutable is the default</a:t>
            </a:r>
            <a:endParaRPr b="0" lang="en-US" sz="1200" spc="-1" strike="noStrike">
              <a:solidFill>
                <a:srgbClr val="ffffff"/>
              </a:solidFill>
              <a:latin typeface="Arial"/>
            </a:endParaRPr>
          </a:p>
        </p:txBody>
      </p:sp>
      <p:sp>
        <p:nvSpPr>
          <p:cNvPr id="913"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You opt into immutability with const; leaving it off is the path of least resistance, and most variables end up mutable.</a:t>
            </a:r>
            <a:endParaRPr b="0" lang="en-US" sz="1100" spc="-1" strike="noStrike">
              <a:solidFill>
                <a:srgbClr val="ffffff"/>
              </a:solidFill>
              <a:latin typeface="Arial"/>
            </a:endParaRPr>
          </a:p>
        </p:txBody>
      </p:sp>
      <p:sp>
        <p:nvSpPr>
          <p:cNvPr id="914"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15"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16"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917"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918"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let x = 5;       // immutable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let mut y = 5;   // mutable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immutable is the default</a:t>
            </a:r>
            <a:endParaRPr b="0" lang="en-US" sz="1200" spc="-1" strike="noStrike">
              <a:solidFill>
                <a:srgbClr val="ffffff"/>
              </a:solidFill>
              <a:latin typeface="Arial"/>
            </a:endParaRPr>
          </a:p>
        </p:txBody>
      </p:sp>
      <p:sp>
        <p:nvSpPr>
          <p:cNvPr id="919"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You opt into mutability with mut; the default matches how most variables are actually used — assigned once, then read.</a:t>
            </a:r>
            <a:endParaRPr b="0" lang="en-US" sz="1100" spc="-1" strike="noStrike">
              <a:solidFill>
                <a:srgbClr val="ffffff"/>
              </a:solidFill>
              <a:latin typeface="Arial"/>
            </a:endParaRPr>
          </a:p>
        </p:txBody>
      </p:sp>
      <p:sp>
        <p:nvSpPr>
          <p:cNvPr id="920"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21"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Flipping the default nudges code toward the shape it usually should have, and makes every mutation visually explicit at the call site.</a:t>
            </a:r>
            <a:endParaRPr b="0" lang="en-US" sz="1150" spc="-1" strike="noStrike">
              <a:solidFill>
                <a:srgbClr val="ffffff"/>
              </a:solidFill>
              <a:latin typeface="Arial"/>
            </a:endParaRPr>
          </a:p>
        </p:txBody>
      </p:sp>
      <p:sp>
        <p:nvSpPr>
          <p:cNvPr id="922"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923"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61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924"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SYNTAX</a:t>
            </a:r>
            <a:endParaRPr b="0" lang="en-US" sz="1300" spc="-1" strike="noStrike">
              <a:solidFill>
                <a:srgbClr val="ffffff"/>
              </a:solidFill>
              <a:latin typeface="Arial"/>
            </a:endParaRPr>
          </a:p>
        </p:txBody>
      </p:sp>
      <p:sp>
        <p:nvSpPr>
          <p:cNvPr id="925"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Control flow as expressions</a:t>
            </a:r>
            <a:endParaRPr b="0" lang="en-US" sz="2800" spc="-1" strike="noStrike">
              <a:solidFill>
                <a:srgbClr val="ffffff"/>
              </a:solidFill>
              <a:latin typeface="Arial"/>
            </a:endParaRPr>
          </a:p>
        </p:txBody>
      </p:sp>
      <p:sp>
        <p:nvSpPr>
          <p:cNvPr id="926"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27"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28"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929"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930"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int x;</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if (cond) { x = 1;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else { x = 2;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if is a statement, not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 value-producing expression</a:t>
            </a:r>
            <a:endParaRPr b="0" lang="en-US" sz="1200" spc="-1" strike="noStrike">
              <a:solidFill>
                <a:srgbClr val="ffffff"/>
              </a:solidFill>
              <a:latin typeface="Arial"/>
            </a:endParaRPr>
          </a:p>
        </p:txBody>
      </p:sp>
      <p:sp>
        <p:nvSpPr>
          <p:cNvPr id="931"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if/else and switch are statements. Producing a value from them requires a temporary variable assigned in each branch.</a:t>
            </a:r>
            <a:endParaRPr b="0" lang="en-US" sz="1100" spc="-1" strike="noStrike">
              <a:solidFill>
                <a:srgbClr val="ffffff"/>
              </a:solidFill>
              <a:latin typeface="Arial"/>
            </a:endParaRPr>
          </a:p>
        </p:txBody>
      </p:sp>
      <p:sp>
        <p:nvSpPr>
          <p:cNvPr id="932"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33"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34"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935"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936"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let x = if cond { 1 } else { 2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if is an expression:</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it evaluates to a value</a:t>
            </a:r>
            <a:endParaRPr b="0" lang="en-US" sz="1200" spc="-1" strike="noStrike">
              <a:solidFill>
                <a:srgbClr val="ffffff"/>
              </a:solidFill>
              <a:latin typeface="Arial"/>
            </a:endParaRPr>
          </a:p>
        </p:txBody>
      </p:sp>
      <p:sp>
        <p:nvSpPr>
          <p:cNvPr id="937"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if, match, loop, and blocks are all expressions that can produce a value directly — no temporary variable needed.</a:t>
            </a:r>
            <a:endParaRPr b="0" lang="en-US" sz="1100" spc="-1" strike="noStrike">
              <a:solidFill>
                <a:srgbClr val="ffffff"/>
              </a:solidFill>
              <a:latin typeface="Arial"/>
            </a:endParaRPr>
          </a:p>
        </p:txBody>
      </p:sp>
      <p:sp>
        <p:nvSpPr>
          <p:cNvPr id="938"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39"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Expression-oriented control flow removes a whole category of "declared but not always assigned" bugs and reduces boilerplate.</a:t>
            </a:r>
            <a:endParaRPr b="0" lang="en-US" sz="1150" spc="-1" strike="noStrike">
              <a:solidFill>
                <a:srgbClr val="ffffff"/>
              </a:solidFill>
              <a:latin typeface="Arial"/>
            </a:endParaRPr>
          </a:p>
        </p:txBody>
      </p:sp>
      <p:sp>
        <p:nvSpPr>
          <p:cNvPr id="940"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941"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62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94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SYNTAX</a:t>
            </a:r>
            <a:endParaRPr b="0" lang="en-US" sz="1300" spc="-1" strike="noStrike">
              <a:solidFill>
                <a:srgbClr val="ffffff"/>
              </a:solidFill>
              <a:latin typeface="Arial"/>
            </a:endParaRPr>
          </a:p>
        </p:txBody>
      </p:sp>
      <p:sp>
        <p:nvSpPr>
          <p:cNvPr id="943"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Loops</a:t>
            </a:r>
            <a:endParaRPr b="0" lang="en-US" sz="2800" spc="-1" strike="noStrike">
              <a:solidFill>
                <a:srgbClr val="ffffff"/>
              </a:solidFill>
              <a:latin typeface="Arial"/>
            </a:endParaRPr>
          </a:p>
        </p:txBody>
      </p:sp>
      <p:sp>
        <p:nvSpPr>
          <p:cNvPr id="944"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45"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46"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947"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948"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for (int i = 0; i &lt; 10; ++i)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while (cond)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for (auto&amp; x : container) {}</a:t>
            </a:r>
            <a:endParaRPr b="0" lang="en-US" sz="1200" spc="-1" strike="noStrike">
              <a:solidFill>
                <a:srgbClr val="ffffff"/>
              </a:solidFill>
              <a:latin typeface="Arial"/>
            </a:endParaRPr>
          </a:p>
        </p:txBody>
      </p:sp>
      <p:sp>
        <p:nvSpPr>
          <p:cNvPr id="949"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Three loop forms: C-style counted, condition-checked, and range-based — each with its own syntax.</a:t>
            </a:r>
            <a:endParaRPr b="0" lang="en-US" sz="1100" spc="-1" strike="noStrike">
              <a:solidFill>
                <a:srgbClr val="ffffff"/>
              </a:solidFill>
              <a:latin typeface="Arial"/>
            </a:endParaRPr>
          </a:p>
        </p:txBody>
      </p:sp>
      <p:sp>
        <p:nvSpPr>
          <p:cNvPr id="950"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51"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52"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953"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954"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for i in 0..10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while cond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for x in &amp;container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loop { break; } // infinite,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explicit exit</a:t>
            </a:r>
            <a:endParaRPr b="0" lang="en-US" sz="1200" spc="-1" strike="noStrike">
              <a:solidFill>
                <a:srgbClr val="ffffff"/>
              </a:solidFill>
              <a:latin typeface="Arial"/>
            </a:endParaRPr>
          </a:p>
        </p:txBody>
      </p:sp>
      <p:sp>
        <p:nvSpPr>
          <p:cNvPr id="955"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for always iterates a range or an iterator; loop is the explicit infinite-loop form; there's no C-style three-clause for.</a:t>
            </a:r>
            <a:endParaRPr b="0" lang="en-US" sz="1100" spc="-1" strike="noStrike">
              <a:solidFill>
                <a:srgbClr val="ffffff"/>
              </a:solidFill>
              <a:latin typeface="Arial"/>
            </a:endParaRPr>
          </a:p>
        </p:txBody>
      </p:sp>
      <p:sp>
        <p:nvSpPr>
          <p:cNvPr id="956"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57"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Removing the C-style for loop removes off-by-one errors from hand-written index arithmetic — the iterator does the counting.</a:t>
            </a:r>
            <a:endParaRPr b="0" lang="en-US" sz="1150" spc="-1" strike="noStrike">
              <a:solidFill>
                <a:srgbClr val="ffffff"/>
              </a:solidFill>
              <a:latin typeface="Arial"/>
            </a:endParaRPr>
          </a:p>
        </p:txBody>
      </p:sp>
      <p:sp>
        <p:nvSpPr>
          <p:cNvPr id="958"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959"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63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960"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SYNTAX</a:t>
            </a:r>
            <a:endParaRPr b="0" lang="en-US" sz="1300" spc="-1" strike="noStrike">
              <a:solidFill>
                <a:srgbClr val="ffffff"/>
              </a:solidFill>
              <a:latin typeface="Arial"/>
            </a:endParaRPr>
          </a:p>
        </p:txBody>
      </p:sp>
      <p:sp>
        <p:nvSpPr>
          <p:cNvPr id="961"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Structs and methods</a:t>
            </a:r>
            <a:endParaRPr b="0" lang="en-US" sz="2800" spc="-1" strike="noStrike">
              <a:solidFill>
                <a:srgbClr val="ffffff"/>
              </a:solidFill>
              <a:latin typeface="Arial"/>
            </a:endParaRPr>
          </a:p>
        </p:txBody>
      </p:sp>
      <p:sp>
        <p:nvSpPr>
          <p:cNvPr id="962"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63"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64"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965"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966"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class Point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public:</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int x, y;</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int dist() { return x*x+y*y;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967"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Data and methods are declared together inside the class body, with access specifiers controlling visibility per-member.</a:t>
            </a:r>
            <a:endParaRPr b="0" lang="en-US" sz="1100" spc="-1" strike="noStrike">
              <a:solidFill>
                <a:srgbClr val="ffffff"/>
              </a:solidFill>
              <a:latin typeface="Arial"/>
            </a:endParaRPr>
          </a:p>
        </p:txBody>
      </p:sp>
      <p:sp>
        <p:nvSpPr>
          <p:cNvPr id="968"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69"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70"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971"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972"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struct Point { x: i32, y: i32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impl Point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fn dist(&amp;self) -&gt; i32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self.x * self.x + self.y * self.y</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973"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Data (struct) and behavior (impl block) are declared separately. Multiple impl blocks for the same type are allowed and common.</a:t>
            </a:r>
            <a:endParaRPr b="0" lang="en-US" sz="1100" spc="-1" strike="noStrike">
              <a:solidFill>
                <a:srgbClr val="ffffff"/>
              </a:solidFill>
              <a:latin typeface="Arial"/>
            </a:endParaRPr>
          </a:p>
        </p:txBody>
      </p:sp>
      <p:sp>
        <p:nvSpPr>
          <p:cNvPr id="974"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75"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Separating data layout from behavior makes it trivial to add methods to a type from a different module — no reopening the class.</a:t>
            </a:r>
            <a:endParaRPr b="0" lang="en-US" sz="1150" spc="-1" strike="noStrike">
              <a:solidFill>
                <a:srgbClr val="ffffff"/>
              </a:solidFill>
              <a:latin typeface="Arial"/>
            </a:endParaRPr>
          </a:p>
        </p:txBody>
      </p:sp>
      <p:sp>
        <p:nvSpPr>
          <p:cNvPr id="976"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977"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64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978"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SYNTAX</a:t>
            </a:r>
            <a:endParaRPr b="0" lang="en-US" sz="1300" spc="-1" strike="noStrike">
              <a:solidFill>
                <a:srgbClr val="ffffff"/>
              </a:solidFill>
              <a:latin typeface="Arial"/>
            </a:endParaRPr>
          </a:p>
        </p:txBody>
      </p:sp>
      <p:sp>
        <p:nvSpPr>
          <p:cNvPr id="979"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Enums are real sum types</a:t>
            </a:r>
            <a:endParaRPr b="0" lang="en-US" sz="2800" spc="-1" strike="noStrike">
              <a:solidFill>
                <a:srgbClr val="ffffff"/>
              </a:solidFill>
              <a:latin typeface="Arial"/>
            </a:endParaRPr>
          </a:p>
        </p:txBody>
      </p:sp>
      <p:sp>
        <p:nvSpPr>
          <p:cNvPr id="980"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81"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82"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983"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984"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enum class Shape { Circle, Square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values carry no data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 separate struct/union</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is needed to attach fields</a:t>
            </a:r>
            <a:endParaRPr b="0" lang="en-US" sz="1200" spc="-1" strike="noStrike">
              <a:solidFill>
                <a:srgbClr val="ffffff"/>
              </a:solidFill>
              <a:latin typeface="Arial"/>
            </a:endParaRPr>
          </a:p>
        </p:txBody>
      </p:sp>
      <p:sp>
        <p:nvSpPr>
          <p:cNvPr id="985"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A C++ enum is just a set of named integers. Attaching different data per variant needs std::variant or a hand-rolled tagged union.</a:t>
            </a:r>
            <a:endParaRPr b="0" lang="en-US" sz="1100" spc="-1" strike="noStrike">
              <a:solidFill>
                <a:srgbClr val="ffffff"/>
              </a:solidFill>
              <a:latin typeface="Arial"/>
            </a:endParaRPr>
          </a:p>
        </p:txBody>
      </p:sp>
      <p:sp>
        <p:nvSpPr>
          <p:cNvPr id="986"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87"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88"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989"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990"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enum Shape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Circle { radius: f64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Square { side: f64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each variant carries its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own data, natively</a:t>
            </a:r>
            <a:endParaRPr b="0" lang="en-US" sz="1200" spc="-1" strike="noStrike">
              <a:solidFill>
                <a:srgbClr val="ffffff"/>
              </a:solidFill>
              <a:latin typeface="Arial"/>
            </a:endParaRPr>
          </a:p>
        </p:txBody>
      </p:sp>
      <p:sp>
        <p:nvSpPr>
          <p:cNvPr id="991"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Each enum variant can carry its own distinct fields directly — no external tag, no union, no separate discriminant to manage.</a:t>
            </a:r>
            <a:endParaRPr b="0" lang="en-US" sz="1100" spc="-1" strike="noStrike">
              <a:solidFill>
                <a:srgbClr val="ffffff"/>
              </a:solidFill>
              <a:latin typeface="Arial"/>
            </a:endParaRPr>
          </a:p>
        </p:txBody>
      </p:sp>
      <p:sp>
        <p:nvSpPr>
          <p:cNvPr id="992"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93"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This is the single biggest syntax-level mental shift: Rust enums are what std::variant wants to be, built into the language.</a:t>
            </a:r>
            <a:endParaRPr b="0" lang="en-US" sz="1150" spc="-1" strike="noStrike">
              <a:solidFill>
                <a:srgbClr val="ffffff"/>
              </a:solidFill>
              <a:latin typeface="Arial"/>
            </a:endParaRPr>
          </a:p>
        </p:txBody>
      </p:sp>
      <p:sp>
        <p:nvSpPr>
          <p:cNvPr id="994"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995"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65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996" name="Shape 0"/>
          <p:cNvSpPr/>
          <p:nvPr/>
        </p:nvSpPr>
        <p:spPr>
          <a:xfrm>
            <a:off x="548640" y="2651760"/>
            <a:ext cx="1370160" cy="1370160"/>
          </a:xfrm>
          <a:prstGeom prst="roundRect">
            <a:avLst>
              <a:gd name="adj" fmla="val 6667"/>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97" name="Text 1"/>
          <p:cNvSpPr/>
          <p:nvPr/>
        </p:nvSpPr>
        <p:spPr>
          <a:xfrm>
            <a:off x="548640" y="2651760"/>
            <a:ext cx="1370160" cy="1370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400" spc="-1" strike="noStrike">
                <a:solidFill>
                  <a:srgbClr val="e8804f"/>
                </a:solidFill>
                <a:latin typeface="Consolas"/>
                <a:ea typeface="Consolas"/>
              </a:rPr>
              <a:t>06</a:t>
            </a:r>
            <a:endParaRPr b="0" lang="en-US" sz="3400" spc="-1" strike="noStrike">
              <a:solidFill>
                <a:srgbClr val="ffffff"/>
              </a:solidFill>
              <a:latin typeface="Arial"/>
            </a:endParaRPr>
          </a:p>
        </p:txBody>
      </p:sp>
      <p:sp>
        <p:nvSpPr>
          <p:cNvPr id="998" name="Text 2"/>
          <p:cNvSpPr/>
          <p:nvPr/>
        </p:nvSpPr>
        <p:spPr>
          <a:xfrm>
            <a:off x="2194560" y="2743200"/>
            <a:ext cx="932544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Ownership &amp; Move Semantics</a:t>
            </a:r>
            <a:endParaRPr b="0" lang="en-US" sz="2800" spc="-1" strike="noStrike">
              <a:solidFill>
                <a:srgbClr val="ffffff"/>
              </a:solidFill>
              <a:latin typeface="Arial"/>
            </a:endParaRPr>
          </a:p>
        </p:txBody>
      </p:sp>
      <p:sp>
        <p:nvSpPr>
          <p:cNvPr id="999" name="Text 3"/>
          <p:cNvSpPr/>
          <p:nvPr/>
        </p:nvSpPr>
        <p:spPr>
          <a:xfrm>
            <a:off x="2194560" y="3474720"/>
            <a:ext cx="8959680" cy="547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50" spc="-1" strike="noStrike">
                <a:solidFill>
                  <a:srgbClr val="9aa4b8"/>
                </a:solidFill>
                <a:latin typeface="Arial"/>
                <a:ea typeface="Arial"/>
              </a:rPr>
              <a:t>You've had move semantics since C++11 — now they're the default, and enforced</a:t>
            </a:r>
            <a:endParaRPr b="0" lang="en-US" sz="1350" spc="-1" strike="noStrike">
              <a:solidFill>
                <a:srgbClr val="ffffff"/>
              </a:solidFill>
              <a:latin typeface="Arial"/>
            </a:endParaRPr>
          </a:p>
        </p:txBody>
      </p:sp>
      <p:sp>
        <p:nvSpPr>
          <p:cNvPr id="1000" name="Text 4"/>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001" name="Text 5"/>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66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00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OWNERSHIP &amp; MOVE SEMANTICS</a:t>
            </a:r>
            <a:endParaRPr b="0" lang="en-US" sz="1300" spc="-1" strike="noStrike">
              <a:solidFill>
                <a:srgbClr val="ffffff"/>
              </a:solidFill>
              <a:latin typeface="Arial"/>
            </a:endParaRPr>
          </a:p>
        </p:txBody>
      </p:sp>
      <p:sp>
        <p:nvSpPr>
          <p:cNvPr id="1003"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Quick recap: move semantics in C++11 and later</a:t>
            </a:r>
            <a:endParaRPr b="0" lang="en-US" sz="2800" spc="-1" strike="noStrike">
              <a:solidFill>
                <a:srgbClr val="ffffff"/>
              </a:solidFill>
              <a:latin typeface="Arial"/>
            </a:endParaRPr>
          </a:p>
        </p:txBody>
      </p:sp>
      <p:sp>
        <p:nvSpPr>
          <p:cNvPr id="1004"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05"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06"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std::move casts an lvalue to an rvalue reference,  </a:t>
            </a:r>
            <a:r>
              <a:rPr b="0" lang="en-US" sz="1200" spc="-1" strike="noStrike">
                <a:solidFill>
                  <a:srgbClr val="9aa4b8"/>
                </a:solidFill>
                <a:latin typeface="Arial"/>
                <a:ea typeface="Arial"/>
              </a:rPr>
              <a:t>signaling "you may cannibalize this object's resources."</a:t>
            </a:r>
            <a:endParaRPr b="0" lang="en-US" sz="1200" spc="-1" strike="noStrike">
              <a:solidFill>
                <a:srgbClr val="ffffff"/>
              </a:solidFill>
              <a:latin typeface="Arial"/>
            </a:endParaRPr>
          </a:p>
        </p:txBody>
      </p:sp>
      <p:sp>
        <p:nvSpPr>
          <p:cNvPr id="1007"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08"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09"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The moved-from object is left in a valid but unspecified state —  </a:t>
            </a:r>
            <a:r>
              <a:rPr b="0" lang="en-US" sz="1200" spc="-1" strike="noStrike">
                <a:solidFill>
                  <a:srgbClr val="9aa4b8"/>
                </a:solidFill>
                <a:latin typeface="Arial"/>
                <a:ea typeface="Arial"/>
              </a:rPr>
              <a:t>using it afterward compiles fine and is a well-known bug source.</a:t>
            </a:r>
            <a:endParaRPr b="0" lang="en-US" sz="1200" spc="-1" strike="noStrike">
              <a:solidFill>
                <a:srgbClr val="ffffff"/>
              </a:solidFill>
              <a:latin typeface="Arial"/>
            </a:endParaRPr>
          </a:p>
        </p:txBody>
      </p:sp>
      <p:sp>
        <p:nvSpPr>
          <p:cNvPr id="1010"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11"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12"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Move constructors and move-assignment operators are opt-in  </a:t>
            </a:r>
            <a:r>
              <a:rPr b="0" lang="en-US" sz="1200" spc="-1" strike="noStrike">
                <a:solidFill>
                  <a:srgbClr val="9aa4b8"/>
                </a:solidFill>
                <a:latin typeface="Arial"/>
                <a:ea typeface="Arial"/>
              </a:rPr>
              <a:t>(or compiler-generated under specific, easy-to-violate conditions).</a:t>
            </a:r>
            <a:endParaRPr b="0" lang="en-US" sz="1200" spc="-1" strike="noStrike">
              <a:solidFill>
                <a:srgbClr val="ffffff"/>
              </a:solidFill>
              <a:latin typeface="Arial"/>
            </a:endParaRPr>
          </a:p>
        </p:txBody>
      </p:sp>
      <p:sp>
        <p:nvSpPr>
          <p:cNvPr id="1013"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014"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67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015"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OWNERSHIP</a:t>
            </a:r>
            <a:endParaRPr b="0" lang="en-US" sz="1300" spc="-1" strike="noStrike">
              <a:solidFill>
                <a:srgbClr val="ffffff"/>
              </a:solidFill>
              <a:latin typeface="Arial"/>
            </a:endParaRPr>
          </a:p>
        </p:txBody>
      </p:sp>
      <p:sp>
        <p:nvSpPr>
          <p:cNvPr id="1016"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Using a value after it's moved</a:t>
            </a:r>
            <a:endParaRPr b="0" lang="en-US" sz="2800" spc="-1" strike="noStrike">
              <a:solidFill>
                <a:srgbClr val="ffffff"/>
              </a:solidFill>
              <a:latin typeface="Arial"/>
            </a:endParaRPr>
          </a:p>
        </p:txBody>
      </p:sp>
      <p:sp>
        <p:nvSpPr>
          <p:cNvPr id="1017"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18"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19"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020"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021"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std::vector&lt;int&gt; a = {1,2,3};</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std::vector&lt;int&gt; b = std::move(a);</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a.push_back(4); // compiles!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 is valid-but-unspecified</a:t>
            </a:r>
            <a:endParaRPr b="0" lang="en-US" sz="1200" spc="-1" strike="noStrike">
              <a:solidFill>
                <a:srgbClr val="ffffff"/>
              </a:solidFill>
              <a:latin typeface="Arial"/>
            </a:endParaRPr>
          </a:p>
        </p:txBody>
      </p:sp>
      <p:sp>
        <p:nvSpPr>
          <p:cNvPr id="1022"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Nothing stops you from touching a moved-from object. It's usually empty for std::vector, but that's a convention, not a guarantee the compiler enforces generally.</a:t>
            </a:r>
            <a:endParaRPr b="0" lang="en-US" sz="1100" spc="-1" strike="noStrike">
              <a:solidFill>
                <a:srgbClr val="ffffff"/>
              </a:solidFill>
              <a:latin typeface="Arial"/>
            </a:endParaRPr>
          </a:p>
        </p:txBody>
      </p:sp>
      <p:sp>
        <p:nvSpPr>
          <p:cNvPr id="1023"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24"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25"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026"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027"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let a = vec![1, 2, 3];</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let b = a; // move, not copy</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a.push(4);</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error: value borrowed after move</a:t>
            </a:r>
            <a:endParaRPr b="0" lang="en-US" sz="1200" spc="-1" strike="noStrike">
              <a:solidFill>
                <a:srgbClr val="ffffff"/>
              </a:solidFill>
              <a:latin typeface="Arial"/>
            </a:endParaRPr>
          </a:p>
        </p:txBody>
      </p:sp>
      <p:sp>
        <p:nvSpPr>
          <p:cNvPr id="1028"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After a move, the old binding is deactivated by the compiler. Using it is a compile error, not a latent runtime bug.</a:t>
            </a:r>
            <a:endParaRPr b="0" lang="en-US" sz="1100" spc="-1" strike="noStrike">
              <a:solidFill>
                <a:srgbClr val="ffffff"/>
              </a:solidFill>
              <a:latin typeface="Arial"/>
            </a:endParaRPr>
          </a:p>
        </p:txBody>
      </p:sp>
      <p:sp>
        <p:nvSpPr>
          <p:cNvPr id="1029"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30"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Move-then-use is a real, recurring C++ bug class. Rust makes it a compile error instead of unspecified behavior.</a:t>
            </a:r>
            <a:endParaRPr b="0" lang="en-US" sz="1150" spc="-1" strike="noStrike">
              <a:solidFill>
                <a:srgbClr val="ffffff"/>
              </a:solidFill>
              <a:latin typeface="Arial"/>
            </a:endParaRPr>
          </a:p>
        </p:txBody>
      </p:sp>
      <p:sp>
        <p:nvSpPr>
          <p:cNvPr id="1031"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032"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68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033"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OWNERSHIP</a:t>
            </a:r>
            <a:endParaRPr b="0" lang="en-US" sz="1300" spc="-1" strike="noStrike">
              <a:solidFill>
                <a:srgbClr val="ffffff"/>
              </a:solidFill>
              <a:latin typeface="Arial"/>
            </a:endParaRPr>
          </a:p>
        </p:txBody>
      </p:sp>
      <p:sp>
        <p:nvSpPr>
          <p:cNvPr id="1034"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Destructor ordering and RAII</a:t>
            </a:r>
            <a:endParaRPr b="0" lang="en-US" sz="2800" spc="-1" strike="noStrike">
              <a:solidFill>
                <a:srgbClr val="ffffff"/>
              </a:solidFill>
              <a:latin typeface="Arial"/>
            </a:endParaRPr>
          </a:p>
        </p:txBody>
      </p:sp>
      <p:sp>
        <p:nvSpPr>
          <p:cNvPr id="1035"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36"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37"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038"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039"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class File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public:</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~File() { fclose(handle);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private: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FILE* handle;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destructor runs at scope exit</a:t>
            </a:r>
            <a:endParaRPr b="0" lang="en-US" sz="1200" spc="-1" strike="noStrike">
              <a:solidFill>
                <a:srgbClr val="ffffff"/>
              </a:solidFill>
              <a:latin typeface="Arial"/>
            </a:endParaRPr>
          </a:p>
        </p:txBody>
      </p:sp>
      <p:sp>
        <p:nvSpPr>
          <p:cNvPr id="1040"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RAII ties cleanup to scope exit via the destructor — a pattern you already rely on constantly, and it works well.</a:t>
            </a:r>
            <a:endParaRPr b="0" lang="en-US" sz="1100" spc="-1" strike="noStrike">
              <a:solidFill>
                <a:srgbClr val="ffffff"/>
              </a:solidFill>
              <a:latin typeface="Arial"/>
            </a:endParaRPr>
          </a:p>
        </p:txBody>
      </p:sp>
      <p:sp>
        <p:nvSpPr>
          <p:cNvPr id="1041"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42"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43"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044"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045"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struct File { handle: *mut FILE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impl Drop for File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fn drop(&amp;mut self)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unsafe { fclose(self.handle);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1046"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The Drop trait is Rust's destructor. The mechanism is the same idea as RAII — this is one of the most direct one-to-one mappings.</a:t>
            </a:r>
            <a:endParaRPr b="0" lang="en-US" sz="1100" spc="-1" strike="noStrike">
              <a:solidFill>
                <a:srgbClr val="ffffff"/>
              </a:solidFill>
              <a:latin typeface="Arial"/>
            </a:endParaRPr>
          </a:p>
        </p:txBody>
      </p:sp>
      <p:sp>
        <p:nvSpPr>
          <p:cNvPr id="1047"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48"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If you're fluent in RAII, you already understand Drop conceptually — the syntax differs, the discipline transfers completely.</a:t>
            </a:r>
            <a:endParaRPr b="0" lang="en-US" sz="1150" spc="-1" strike="noStrike">
              <a:solidFill>
                <a:srgbClr val="ffffff"/>
              </a:solidFill>
              <a:latin typeface="Arial"/>
            </a:endParaRPr>
          </a:p>
        </p:txBody>
      </p:sp>
      <p:sp>
        <p:nvSpPr>
          <p:cNvPr id="1049"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050"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69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051"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OWNERSHIP</a:t>
            </a:r>
            <a:endParaRPr b="0" lang="en-US" sz="1300" spc="-1" strike="noStrike">
              <a:solidFill>
                <a:srgbClr val="ffffff"/>
              </a:solidFill>
              <a:latin typeface="Arial"/>
            </a:endParaRPr>
          </a:p>
        </p:txBody>
      </p:sp>
      <p:sp>
        <p:nvSpPr>
          <p:cNvPr id="1052"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Implicit copies vs. move-by-default</a:t>
            </a:r>
            <a:endParaRPr b="0" lang="en-US" sz="2800" spc="-1" strike="noStrike">
              <a:solidFill>
                <a:srgbClr val="ffffff"/>
              </a:solidFill>
              <a:latin typeface="Arial"/>
            </a:endParaRPr>
          </a:p>
        </p:txBody>
      </p:sp>
      <p:sp>
        <p:nvSpPr>
          <p:cNvPr id="1053"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54"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55"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056"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057"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std::vector&lt;int&gt; a = {1,2,3};</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std::vector&lt;int&gt; b = a;</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copy ctor runs silently</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 O(n) allocation, easy to miss</a:t>
            </a:r>
            <a:endParaRPr b="0" lang="en-US" sz="1200" spc="-1" strike="noStrike">
              <a:solidFill>
                <a:srgbClr val="ffffff"/>
              </a:solidFill>
              <a:latin typeface="Arial"/>
            </a:endParaRPr>
          </a:p>
        </p:txBody>
      </p:sp>
      <p:sp>
        <p:nvSpPr>
          <p:cNvPr id="1058"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Passing or assigning by value invokes the copy constructor unless you remember std::move. It's easy to introduce accidental deep copies.</a:t>
            </a:r>
            <a:endParaRPr b="0" lang="en-US" sz="1100" spc="-1" strike="noStrike">
              <a:solidFill>
                <a:srgbClr val="ffffff"/>
              </a:solidFill>
              <a:latin typeface="Arial"/>
            </a:endParaRPr>
          </a:p>
        </p:txBody>
      </p:sp>
      <p:sp>
        <p:nvSpPr>
          <p:cNvPr id="1059"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60"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61"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062"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063"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let a = vec![1, 2, 3];</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let b = a.clone(); // explicit,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visible, intentional</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let c = a; // error: a was moved</a:t>
            </a:r>
            <a:endParaRPr b="0" lang="en-US" sz="1200" spc="-1" strike="noStrike">
              <a:solidFill>
                <a:srgbClr val="ffffff"/>
              </a:solidFill>
              <a:latin typeface="Arial"/>
            </a:endParaRPr>
          </a:p>
        </p:txBody>
      </p:sp>
      <p:sp>
        <p:nvSpPr>
          <p:cNvPr id="1064"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Assignment moves by default for non-Copy types. A deep copy requires an explicit, visible .clone() call — you can grep for it.</a:t>
            </a:r>
            <a:endParaRPr b="0" lang="en-US" sz="1100" spc="-1" strike="noStrike">
              <a:solidFill>
                <a:srgbClr val="ffffff"/>
              </a:solidFill>
              <a:latin typeface="Arial"/>
            </a:endParaRPr>
          </a:p>
        </p:txBody>
      </p:sp>
      <p:sp>
        <p:nvSpPr>
          <p:cNvPr id="1065"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66"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Making the expensive operation the one that requires an extra keystroke, instead of the cheap one, changes what code review actually catches.</a:t>
            </a:r>
            <a:endParaRPr b="0" lang="en-US" sz="1150" spc="-1" strike="noStrike">
              <a:solidFill>
                <a:srgbClr val="ffffff"/>
              </a:solidFill>
              <a:latin typeface="Arial"/>
            </a:endParaRPr>
          </a:p>
        </p:txBody>
      </p:sp>
      <p:sp>
        <p:nvSpPr>
          <p:cNvPr id="1067"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068"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70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069"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OWNERSHIP &amp; MOVE SEMANTICS</a:t>
            </a:r>
            <a:endParaRPr b="0" lang="en-US" sz="1300" spc="-1" strike="noStrike">
              <a:solidFill>
                <a:srgbClr val="ffffff"/>
              </a:solidFill>
              <a:latin typeface="Arial"/>
            </a:endParaRPr>
          </a:p>
        </p:txBody>
      </p:sp>
      <p:sp>
        <p:nvSpPr>
          <p:cNvPr id="1070"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ownership rules, stated plainly</a:t>
            </a:r>
            <a:endParaRPr b="0" lang="en-US" sz="2800" spc="-1" strike="noStrike">
              <a:solidFill>
                <a:srgbClr val="ffffff"/>
              </a:solidFill>
              <a:latin typeface="Arial"/>
            </a:endParaRPr>
          </a:p>
        </p:txBody>
      </p:sp>
      <p:sp>
        <p:nvSpPr>
          <p:cNvPr id="1071"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72"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73"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Every value has exactly one owner at a time.  </a:t>
            </a:r>
            <a:endParaRPr b="0" lang="en-US" sz="1250" spc="-1" strike="noStrike">
              <a:solidFill>
                <a:srgbClr val="ffffff"/>
              </a:solidFill>
              <a:latin typeface="Arial"/>
            </a:endParaRPr>
          </a:p>
        </p:txBody>
      </p:sp>
      <p:sp>
        <p:nvSpPr>
          <p:cNvPr id="1074"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75"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76"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When the owner goes out of scope, the value is dropped.  </a:t>
            </a:r>
            <a:endParaRPr b="0" lang="en-US" sz="1250" spc="-1" strike="noStrike">
              <a:solidFill>
                <a:srgbClr val="ffffff"/>
              </a:solidFill>
              <a:latin typeface="Arial"/>
            </a:endParaRPr>
          </a:p>
        </p:txBody>
      </p:sp>
      <p:sp>
        <p:nvSpPr>
          <p:cNvPr id="1077"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78"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79"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Assigning or passing a value by default transfers (moves) ownership,  </a:t>
            </a:r>
            <a:r>
              <a:rPr b="0" lang="en-US" sz="1200" spc="-1" strike="noStrike">
                <a:solidFill>
                  <a:srgbClr val="9aa4b8"/>
                </a:solidFill>
                <a:latin typeface="Arial"/>
                <a:ea typeface="Arial"/>
              </a:rPr>
              <a:t>unless the type implements Copy (small, stack-only types like integers).</a:t>
            </a:r>
            <a:endParaRPr b="0" lang="en-US" sz="1200" spc="-1" strike="noStrike">
              <a:solidFill>
                <a:srgbClr val="ffffff"/>
              </a:solidFill>
              <a:latin typeface="Arial"/>
            </a:endParaRPr>
          </a:p>
        </p:txBody>
      </p:sp>
      <p:sp>
        <p:nvSpPr>
          <p:cNvPr id="1080"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081"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71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08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OWNERSHIP</a:t>
            </a:r>
            <a:endParaRPr b="0" lang="en-US" sz="1300" spc="-1" strike="noStrike">
              <a:solidFill>
                <a:srgbClr val="ffffff"/>
              </a:solidFill>
              <a:latin typeface="Arial"/>
            </a:endParaRPr>
          </a:p>
        </p:txBody>
      </p:sp>
      <p:sp>
        <p:nvSpPr>
          <p:cNvPr id="1083"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unique_ptr and Box</a:t>
            </a:r>
            <a:endParaRPr b="0" lang="en-US" sz="2800" spc="-1" strike="noStrike">
              <a:solidFill>
                <a:srgbClr val="ffffff"/>
              </a:solidFill>
              <a:latin typeface="Arial"/>
            </a:endParaRPr>
          </a:p>
        </p:txBody>
      </p:sp>
      <p:sp>
        <p:nvSpPr>
          <p:cNvPr id="1084"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85"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86"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087"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088"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std::unique_ptr&lt;Widget&gt; p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std::make_unique&lt;Widget&gt;();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single owner, moves transfer it,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not copyable</a:t>
            </a:r>
            <a:endParaRPr b="0" lang="en-US" sz="1200" spc="-1" strike="noStrike">
              <a:solidFill>
                <a:srgbClr val="ffffff"/>
              </a:solidFill>
              <a:latin typeface="Arial"/>
            </a:endParaRPr>
          </a:p>
        </p:txBody>
      </p:sp>
      <p:sp>
        <p:nvSpPr>
          <p:cNvPr id="1089"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unique_ptr is C++'s single-ownership smart pointer — move-only, deterministic destruction. You already use this idiom.</a:t>
            </a:r>
            <a:endParaRPr b="0" lang="en-US" sz="1100" spc="-1" strike="noStrike">
              <a:solidFill>
                <a:srgbClr val="ffffff"/>
              </a:solidFill>
              <a:latin typeface="Arial"/>
            </a:endParaRPr>
          </a:p>
        </p:txBody>
      </p:sp>
      <p:sp>
        <p:nvSpPr>
          <p:cNvPr id="1090"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91"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92"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093"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094"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let p: Box&lt;Widget&gt; = Box::new(</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Widget::new()</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single owner, moves transfer it,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not Copy</a:t>
            </a:r>
            <a:endParaRPr b="0" lang="en-US" sz="1200" spc="-1" strike="noStrike">
              <a:solidFill>
                <a:srgbClr val="ffffff"/>
              </a:solidFill>
              <a:latin typeface="Arial"/>
            </a:endParaRPr>
          </a:p>
        </p:txBody>
      </p:sp>
      <p:sp>
        <p:nvSpPr>
          <p:cNvPr id="1095"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Box&lt;T&gt; is the direct analogue: heap allocation with single ownership. The compiler enforces the move-only part for you.</a:t>
            </a:r>
            <a:endParaRPr b="0" lang="en-US" sz="1100" spc="-1" strike="noStrike">
              <a:solidFill>
                <a:srgbClr val="ffffff"/>
              </a:solidFill>
              <a:latin typeface="Arial"/>
            </a:endParaRPr>
          </a:p>
        </p:txBody>
      </p:sp>
      <p:sp>
        <p:nvSpPr>
          <p:cNvPr id="1096"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97"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This is close to a direct port — if your codebase already uses unique_ptr correctly, Box&lt;T&gt; will feel immediately familiar.</a:t>
            </a:r>
            <a:endParaRPr b="0" lang="en-US" sz="1150" spc="-1" strike="noStrike">
              <a:solidFill>
                <a:srgbClr val="ffffff"/>
              </a:solidFill>
              <a:latin typeface="Arial"/>
            </a:endParaRPr>
          </a:p>
        </p:txBody>
      </p:sp>
      <p:sp>
        <p:nvSpPr>
          <p:cNvPr id="1098"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099"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72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100"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OWNERSHIP</a:t>
            </a:r>
            <a:endParaRPr b="0" lang="en-US" sz="1300" spc="-1" strike="noStrike">
              <a:solidFill>
                <a:srgbClr val="ffffff"/>
              </a:solidFill>
              <a:latin typeface="Arial"/>
            </a:endParaRPr>
          </a:p>
        </p:txBody>
      </p:sp>
      <p:sp>
        <p:nvSpPr>
          <p:cNvPr id="1101"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shared_ptr, weak_ptr, and their Rust counterparts</a:t>
            </a:r>
            <a:endParaRPr b="0" lang="en-US" sz="2800" spc="-1" strike="noStrike">
              <a:solidFill>
                <a:srgbClr val="ffffff"/>
              </a:solidFill>
              <a:latin typeface="Arial"/>
            </a:endParaRPr>
          </a:p>
        </p:txBody>
      </p:sp>
      <p:sp>
        <p:nvSpPr>
          <p:cNvPr id="1102"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03"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04"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105"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106"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auto p = std::make_shared&lt;T&gt;();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std::weak_ptr&lt;T&gt; w = p;</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thread-safe refcount, but the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pointee's mutation is NOT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automatically synchronized</a:t>
            </a:r>
            <a:endParaRPr b="0" lang="en-US" sz="1200" spc="-1" strike="noStrike">
              <a:solidFill>
                <a:srgbClr val="ffffff"/>
              </a:solidFill>
              <a:latin typeface="Arial"/>
            </a:endParaRPr>
          </a:p>
        </p:txBody>
      </p:sp>
      <p:sp>
        <p:nvSpPr>
          <p:cNvPr id="1107"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shared_ptr's atomic refcount is thread-safe; reading or writing *p from multiple threads still needs its own synchronization.</a:t>
            </a:r>
            <a:endParaRPr b="0" lang="en-US" sz="1100" spc="-1" strike="noStrike">
              <a:solidFill>
                <a:srgbClr val="ffffff"/>
              </a:solidFill>
              <a:latin typeface="Arial"/>
            </a:endParaRPr>
          </a:p>
        </p:txBody>
      </p:sp>
      <p:sp>
        <p:nvSpPr>
          <p:cNvPr id="1108"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09"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10"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111"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112"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let p = Rc::new(v);       // single-thread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let p = Arc::new(v);      // cross-thread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let w = Arc::downgrade(&amp;p); // weak</a:t>
            </a:r>
            <a:endParaRPr b="0" lang="en-US" sz="1200" spc="-1" strike="noStrike">
              <a:solidFill>
                <a:srgbClr val="ffffff"/>
              </a:solidFill>
              <a:latin typeface="Arial"/>
            </a:endParaRPr>
          </a:p>
        </p:txBody>
      </p:sp>
      <p:sp>
        <p:nvSpPr>
          <p:cNvPr id="1113"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Rc is single-threaded-only (enforced — it isn't even Send); Arc is the atomic, thread-safe version. The type tells you which you have.</a:t>
            </a:r>
            <a:endParaRPr b="0" lang="en-US" sz="1100" spc="-1" strike="noStrike">
              <a:solidFill>
                <a:srgbClr val="ffffff"/>
              </a:solidFill>
              <a:latin typeface="Arial"/>
            </a:endParaRPr>
          </a:p>
        </p:txBody>
      </p:sp>
      <p:sp>
        <p:nvSpPr>
          <p:cNvPr id="1114"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15"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Rust splits shared_ptr into two types so the compiler — not a code comment — tells you whether cross-thread sharing is safe.</a:t>
            </a:r>
            <a:endParaRPr b="0" lang="en-US" sz="1150" spc="-1" strike="noStrike">
              <a:solidFill>
                <a:srgbClr val="ffffff"/>
              </a:solidFill>
              <a:latin typeface="Arial"/>
            </a:endParaRPr>
          </a:p>
        </p:txBody>
      </p:sp>
      <p:sp>
        <p:nvSpPr>
          <p:cNvPr id="1116"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117"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73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118"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OWNERSHIP</a:t>
            </a:r>
            <a:endParaRPr b="0" lang="en-US" sz="1300" spc="-1" strike="noStrike">
              <a:solidFill>
                <a:srgbClr val="ffffff"/>
              </a:solidFill>
              <a:latin typeface="Arial"/>
            </a:endParaRPr>
          </a:p>
        </p:txBody>
      </p:sp>
      <p:sp>
        <p:nvSpPr>
          <p:cNvPr id="1119"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Custom cleanup logic</a:t>
            </a:r>
            <a:endParaRPr b="0" lang="en-US" sz="2800" spc="-1" strike="noStrike">
              <a:solidFill>
                <a:srgbClr val="ffffff"/>
              </a:solidFill>
              <a:latin typeface="Arial"/>
            </a:endParaRPr>
          </a:p>
        </p:txBody>
      </p:sp>
      <p:sp>
        <p:nvSpPr>
          <p:cNvPr id="1120"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21"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22"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123"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124"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std::unique_ptr&lt;FILE, decltype(&amp;fclose)&gt;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f(fopen(path, "r"), &amp;fclose);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custom deleter, verbose syntax</a:t>
            </a:r>
            <a:endParaRPr b="0" lang="en-US" sz="1200" spc="-1" strike="noStrike">
              <a:solidFill>
                <a:srgbClr val="ffffff"/>
              </a:solidFill>
              <a:latin typeface="Arial"/>
            </a:endParaRPr>
          </a:p>
        </p:txBody>
      </p:sp>
      <p:sp>
        <p:nvSpPr>
          <p:cNvPr id="1125"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Attaching custom cleanup to a smart pointer means specifying a deleter type and passing a matching callable — workable but verbose.</a:t>
            </a:r>
            <a:endParaRPr b="0" lang="en-US" sz="1100" spc="-1" strike="noStrike">
              <a:solidFill>
                <a:srgbClr val="ffffff"/>
              </a:solidFill>
              <a:latin typeface="Arial"/>
            </a:endParaRPr>
          </a:p>
        </p:txBody>
      </p:sp>
      <p:sp>
        <p:nvSpPr>
          <p:cNvPr id="1126"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27"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28"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129"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130"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struct MyFile(*mut FILE);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impl Drop for MyFile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fn drop(&amp;mut self)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unsafe { fclose(self.0);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1131"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Any type can implement Drop directly — no wrapper type or template parameter needed for custom cleanup logic.</a:t>
            </a:r>
            <a:endParaRPr b="0" lang="en-US" sz="1100" spc="-1" strike="noStrike">
              <a:solidFill>
                <a:srgbClr val="ffffff"/>
              </a:solidFill>
              <a:latin typeface="Arial"/>
            </a:endParaRPr>
          </a:p>
        </p:txBody>
      </p:sp>
      <p:sp>
        <p:nvSpPr>
          <p:cNvPr id="1132"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33"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Custom destruction logic is a first-class, ordinary feature of every type, not a special case bolted onto a smart-pointer template.</a:t>
            </a:r>
            <a:endParaRPr b="0" lang="en-US" sz="1150" spc="-1" strike="noStrike">
              <a:solidFill>
                <a:srgbClr val="ffffff"/>
              </a:solidFill>
              <a:latin typeface="Arial"/>
            </a:endParaRPr>
          </a:p>
        </p:txBody>
      </p:sp>
      <p:sp>
        <p:nvSpPr>
          <p:cNvPr id="1134"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135"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74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136" name="Shape 0"/>
          <p:cNvSpPr/>
          <p:nvPr/>
        </p:nvSpPr>
        <p:spPr>
          <a:xfrm>
            <a:off x="548640" y="2651760"/>
            <a:ext cx="1370160" cy="1370160"/>
          </a:xfrm>
          <a:prstGeom prst="roundRect">
            <a:avLst>
              <a:gd name="adj" fmla="val 6667"/>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37" name="Text 1"/>
          <p:cNvSpPr/>
          <p:nvPr/>
        </p:nvSpPr>
        <p:spPr>
          <a:xfrm>
            <a:off x="548640" y="2651760"/>
            <a:ext cx="1370160" cy="1370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400" spc="-1" strike="noStrike">
                <a:solidFill>
                  <a:srgbClr val="e8804f"/>
                </a:solidFill>
                <a:latin typeface="Consolas"/>
                <a:ea typeface="Consolas"/>
              </a:rPr>
              <a:t>07</a:t>
            </a:r>
            <a:endParaRPr b="0" lang="en-US" sz="3400" spc="-1" strike="noStrike">
              <a:solidFill>
                <a:srgbClr val="ffffff"/>
              </a:solidFill>
              <a:latin typeface="Arial"/>
            </a:endParaRPr>
          </a:p>
        </p:txBody>
      </p:sp>
      <p:sp>
        <p:nvSpPr>
          <p:cNvPr id="1138" name="Text 2"/>
          <p:cNvSpPr/>
          <p:nvPr/>
        </p:nvSpPr>
        <p:spPr>
          <a:xfrm>
            <a:off x="2194560" y="2743200"/>
            <a:ext cx="932544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Borrowing &amp; Lifetimes</a:t>
            </a:r>
            <a:endParaRPr b="0" lang="en-US" sz="2800" spc="-1" strike="noStrike">
              <a:solidFill>
                <a:srgbClr val="ffffff"/>
              </a:solidFill>
              <a:latin typeface="Arial"/>
            </a:endParaRPr>
          </a:p>
        </p:txBody>
      </p:sp>
      <p:sp>
        <p:nvSpPr>
          <p:cNvPr id="1139" name="Text 3"/>
          <p:cNvSpPr/>
          <p:nvPr/>
        </p:nvSpPr>
        <p:spPr>
          <a:xfrm>
            <a:off x="2194560" y="3474720"/>
            <a:ext cx="8959680" cy="547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50" spc="-1" strike="noStrike">
                <a:solidFill>
                  <a:srgbClr val="9aa4b8"/>
                </a:solidFill>
                <a:latin typeface="Arial"/>
                <a:ea typeface="Arial"/>
              </a:rPr>
              <a:t>References, formalized: the rule your code review already tries to enforce</a:t>
            </a:r>
            <a:endParaRPr b="0" lang="en-US" sz="1350" spc="-1" strike="noStrike">
              <a:solidFill>
                <a:srgbClr val="ffffff"/>
              </a:solidFill>
              <a:latin typeface="Arial"/>
            </a:endParaRPr>
          </a:p>
        </p:txBody>
      </p:sp>
      <p:sp>
        <p:nvSpPr>
          <p:cNvPr id="1140" name="Text 4"/>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141" name="Text 5"/>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75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14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BORROWING</a:t>
            </a:r>
            <a:endParaRPr b="0" lang="en-US" sz="1300" spc="-1" strike="noStrike">
              <a:solidFill>
                <a:srgbClr val="ffffff"/>
              </a:solidFill>
              <a:latin typeface="Arial"/>
            </a:endParaRPr>
          </a:p>
        </p:txBody>
      </p:sp>
      <p:sp>
        <p:nvSpPr>
          <p:cNvPr id="1143"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Reference and iterator invalidation</a:t>
            </a:r>
            <a:endParaRPr b="0" lang="en-US" sz="2800" spc="-1" strike="noStrike">
              <a:solidFill>
                <a:srgbClr val="ffffff"/>
              </a:solidFill>
              <a:latin typeface="Arial"/>
            </a:endParaRPr>
          </a:p>
        </p:txBody>
      </p:sp>
      <p:sp>
        <p:nvSpPr>
          <p:cNvPr id="1144"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45"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46"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147"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148"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std::vector&lt;int&gt; v = {1,2,3};</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int&amp; first = v[0];</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v.push_back(4); // may reallocate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use(first);        // UB, maybe</a:t>
            </a:r>
            <a:endParaRPr b="0" lang="en-US" sz="1200" spc="-1" strike="noStrike">
              <a:solidFill>
                <a:srgbClr val="ffffff"/>
              </a:solidFill>
              <a:latin typeface="Arial"/>
            </a:endParaRPr>
          </a:p>
        </p:txBody>
      </p:sp>
      <p:sp>
        <p:nvSpPr>
          <p:cNvPr id="1149"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A reference or iterator into a container silently dangles if the container reallocates. The compiler has no way to know or warn you.</a:t>
            </a:r>
            <a:endParaRPr b="0" lang="en-US" sz="1100" spc="-1" strike="noStrike">
              <a:solidFill>
                <a:srgbClr val="ffffff"/>
              </a:solidFill>
              <a:latin typeface="Arial"/>
            </a:endParaRPr>
          </a:p>
        </p:txBody>
      </p:sp>
      <p:sp>
        <p:nvSpPr>
          <p:cNvPr id="1150"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51"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52"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153"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154"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let mut v = vec![1, 2, 3];</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let first = &amp;v[0];</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v.push(4);</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error: cannot borrow v as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mutable while borrowed</a:t>
            </a:r>
            <a:endParaRPr b="0" lang="en-US" sz="1200" spc="-1" strike="noStrike">
              <a:solidFill>
                <a:srgbClr val="ffffff"/>
              </a:solidFill>
              <a:latin typeface="Arial"/>
            </a:endParaRPr>
          </a:p>
        </p:txBody>
      </p:sp>
      <p:sp>
        <p:nvSpPr>
          <p:cNvPr id="1155"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The borrow checker tracks that first borrows from v and refuses the mutating push while that borrow is still alive.</a:t>
            </a:r>
            <a:endParaRPr b="0" lang="en-US" sz="1100" spc="-1" strike="noStrike">
              <a:solidFill>
                <a:srgbClr val="ffffff"/>
              </a:solidFill>
              <a:latin typeface="Arial"/>
            </a:endParaRPr>
          </a:p>
        </p:txBody>
      </p:sp>
      <p:sp>
        <p:nvSpPr>
          <p:cNvPr id="1156"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57"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This exact bug — iterator/reference invalidation — is one of the most common real-world C++ memory bugs. Rust rejects it by construction.</a:t>
            </a:r>
            <a:endParaRPr b="0" lang="en-US" sz="1150" spc="-1" strike="noStrike">
              <a:solidFill>
                <a:srgbClr val="ffffff"/>
              </a:solidFill>
              <a:latin typeface="Arial"/>
            </a:endParaRPr>
          </a:p>
        </p:txBody>
      </p:sp>
      <p:sp>
        <p:nvSpPr>
          <p:cNvPr id="1158"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159"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76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160"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BORROWING &amp; LIFETIMES</a:t>
            </a:r>
            <a:endParaRPr b="0" lang="en-US" sz="1300" spc="-1" strike="noStrike">
              <a:solidFill>
                <a:srgbClr val="ffffff"/>
              </a:solidFill>
              <a:latin typeface="Arial"/>
            </a:endParaRPr>
          </a:p>
        </p:txBody>
      </p:sp>
      <p:sp>
        <p:nvSpPr>
          <p:cNvPr id="1161"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borrowing rules, stated plainly</a:t>
            </a:r>
            <a:endParaRPr b="0" lang="en-US" sz="2800" spc="-1" strike="noStrike">
              <a:solidFill>
                <a:srgbClr val="ffffff"/>
              </a:solidFill>
              <a:latin typeface="Arial"/>
            </a:endParaRPr>
          </a:p>
        </p:txBody>
      </p:sp>
      <p:sp>
        <p:nvSpPr>
          <p:cNvPr id="1162" name="Text 2"/>
          <p:cNvSpPr/>
          <p:nvPr/>
        </p:nvSpPr>
        <p:spPr>
          <a:xfrm>
            <a:off x="548640" y="1600200"/>
            <a:ext cx="11062800" cy="501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i="1" lang="en-US" sz="1300" spc="-1" strike="noStrike">
                <a:solidFill>
                  <a:srgbClr val="9aa4b8"/>
                </a:solidFill>
                <a:latin typeface="Arial"/>
                <a:ea typeface="Arial"/>
              </a:rPr>
              <a:t>For any single value, at any single point in the code:</a:t>
            </a:r>
            <a:endParaRPr b="0" lang="en-US" sz="1300" spc="-1" strike="noStrike">
              <a:solidFill>
                <a:srgbClr val="ffffff"/>
              </a:solidFill>
              <a:latin typeface="Arial"/>
            </a:endParaRPr>
          </a:p>
        </p:txBody>
      </p:sp>
      <p:sp>
        <p:nvSpPr>
          <p:cNvPr id="1163" name="Shape 3"/>
          <p:cNvSpPr/>
          <p:nvPr/>
        </p:nvSpPr>
        <p:spPr>
          <a:xfrm>
            <a:off x="548640" y="222192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64" name="Shape 4"/>
          <p:cNvSpPr/>
          <p:nvPr/>
        </p:nvSpPr>
        <p:spPr>
          <a:xfrm>
            <a:off x="777240" y="27403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65" name="Text 5"/>
          <p:cNvSpPr/>
          <p:nvPr/>
        </p:nvSpPr>
        <p:spPr>
          <a:xfrm>
            <a:off x="1143000" y="222192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Any number of shared (read-only) references, OR  </a:t>
            </a:r>
            <a:endParaRPr b="0" lang="en-US" sz="1250" spc="-1" strike="noStrike">
              <a:solidFill>
                <a:srgbClr val="ffffff"/>
              </a:solidFill>
              <a:latin typeface="Arial"/>
            </a:endParaRPr>
          </a:p>
        </p:txBody>
      </p:sp>
      <p:sp>
        <p:nvSpPr>
          <p:cNvPr id="1166" name="Shape 6"/>
          <p:cNvSpPr/>
          <p:nvPr/>
        </p:nvSpPr>
        <p:spPr>
          <a:xfrm>
            <a:off x="548640" y="356904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67" name="Shape 7"/>
          <p:cNvSpPr/>
          <p:nvPr/>
        </p:nvSpPr>
        <p:spPr>
          <a:xfrm>
            <a:off x="777240" y="408744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68" name="Text 8"/>
          <p:cNvSpPr/>
          <p:nvPr/>
        </p:nvSpPr>
        <p:spPr>
          <a:xfrm>
            <a:off x="1143000" y="356904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Exactly one mutable (read-write) reference —  </a:t>
            </a:r>
            <a:r>
              <a:rPr b="0" lang="en-US" sz="1200" spc="-1" strike="noStrike">
                <a:solidFill>
                  <a:srgbClr val="9aa4b8"/>
                </a:solidFill>
                <a:latin typeface="Arial"/>
                <a:ea typeface="Arial"/>
              </a:rPr>
              <a:t>never both kinds at the same time.</a:t>
            </a:r>
            <a:endParaRPr b="0" lang="en-US" sz="1200" spc="-1" strike="noStrike">
              <a:solidFill>
                <a:srgbClr val="ffffff"/>
              </a:solidFill>
              <a:latin typeface="Arial"/>
            </a:endParaRPr>
          </a:p>
        </p:txBody>
      </p:sp>
      <p:sp>
        <p:nvSpPr>
          <p:cNvPr id="1169" name="Shape 9"/>
          <p:cNvSpPr/>
          <p:nvPr/>
        </p:nvSpPr>
        <p:spPr>
          <a:xfrm>
            <a:off x="548640" y="491652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70" name="Shape 10"/>
          <p:cNvSpPr/>
          <p:nvPr/>
        </p:nvSpPr>
        <p:spPr>
          <a:xfrm>
            <a:off x="777240" y="543456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71" name="Text 11"/>
          <p:cNvSpPr/>
          <p:nvPr/>
        </p:nvSpPr>
        <p:spPr>
          <a:xfrm>
            <a:off x="1143000" y="491652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This is "shared XOR mutable", and it's checked at compile time,  </a:t>
            </a:r>
            <a:r>
              <a:rPr b="0" lang="en-US" sz="1200" spc="-1" strike="noStrike">
                <a:solidFill>
                  <a:srgbClr val="9aa4b8"/>
                </a:solidFill>
                <a:latin typeface="Arial"/>
                <a:ea typeface="Arial"/>
              </a:rPr>
              <a:t>with zero runtime cost — it doesn't exist in the compiled binary.</a:t>
            </a:r>
            <a:endParaRPr b="0" lang="en-US" sz="1200" spc="-1" strike="noStrike">
              <a:solidFill>
                <a:srgbClr val="ffffff"/>
              </a:solidFill>
              <a:latin typeface="Arial"/>
            </a:endParaRPr>
          </a:p>
        </p:txBody>
      </p:sp>
      <p:sp>
        <p:nvSpPr>
          <p:cNvPr id="1172" name="Text 12"/>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173" name="Text 13"/>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77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174"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BORROWING</a:t>
            </a:r>
            <a:endParaRPr b="0" lang="en-US" sz="1300" spc="-1" strike="noStrike">
              <a:solidFill>
                <a:srgbClr val="ffffff"/>
              </a:solidFill>
              <a:latin typeface="Arial"/>
            </a:endParaRPr>
          </a:p>
        </p:txBody>
      </p:sp>
      <p:sp>
        <p:nvSpPr>
          <p:cNvPr id="1175"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Reference syntax, side by side</a:t>
            </a:r>
            <a:endParaRPr b="0" lang="en-US" sz="2800" spc="-1" strike="noStrike">
              <a:solidFill>
                <a:srgbClr val="ffffff"/>
              </a:solidFill>
              <a:latin typeface="Arial"/>
            </a:endParaRPr>
          </a:p>
        </p:txBody>
      </p:sp>
      <p:sp>
        <p:nvSpPr>
          <p:cNvPr id="1176"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77"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78"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179"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180"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void read(const Widget&amp; w);</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void write(Widget&amp; w);</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const-ness is the only signal</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of read vs. write intent</a:t>
            </a:r>
            <a:endParaRPr b="0" lang="en-US" sz="1200" spc="-1" strike="noStrike">
              <a:solidFill>
                <a:srgbClr val="ffffff"/>
              </a:solidFill>
              <a:latin typeface="Arial"/>
            </a:endParaRPr>
          </a:p>
        </p:txBody>
      </p:sp>
      <p:sp>
        <p:nvSpPr>
          <p:cNvPr id="1181"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const&amp; and &amp; look almost identical; the compiler enforces const-correctness, but nothing stops two mutable &amp; aliases from coexisting.</a:t>
            </a:r>
            <a:endParaRPr b="0" lang="en-US" sz="1100" spc="-1" strike="noStrike">
              <a:solidFill>
                <a:srgbClr val="ffffff"/>
              </a:solidFill>
              <a:latin typeface="Arial"/>
            </a:endParaRPr>
          </a:p>
        </p:txBody>
      </p:sp>
      <p:sp>
        <p:nvSpPr>
          <p:cNvPr id="1182"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83"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84"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185"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186"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fn read(w: &amp;Widget)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fn write(w: &amp;mut Widget)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&amp;T and &amp;mut T are genuinely</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different types</a:t>
            </a:r>
            <a:endParaRPr b="0" lang="en-US" sz="1200" spc="-1" strike="noStrike">
              <a:solidFill>
                <a:srgbClr val="ffffff"/>
              </a:solidFill>
              <a:latin typeface="Arial"/>
            </a:endParaRPr>
          </a:p>
        </p:txBody>
      </p:sp>
      <p:sp>
        <p:nvSpPr>
          <p:cNvPr id="1187"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&amp;T (shared) and &amp;mut T (exclusive) are distinct types with different rules, and the compiler prevents two &amp;mut T to the same data.</a:t>
            </a:r>
            <a:endParaRPr b="0" lang="en-US" sz="1100" spc="-1" strike="noStrike">
              <a:solidFill>
                <a:srgbClr val="ffffff"/>
              </a:solidFill>
              <a:latin typeface="Arial"/>
            </a:endParaRPr>
          </a:p>
        </p:txBody>
      </p:sp>
      <p:sp>
        <p:nvSpPr>
          <p:cNvPr id="1188"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89"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C++'s const&amp; doesn't prevent aliasing, only prevents that one reference from writing. Rust's &amp;mut is guaranteed exclusive.</a:t>
            </a:r>
            <a:endParaRPr b="0" lang="en-US" sz="1150" spc="-1" strike="noStrike">
              <a:solidFill>
                <a:srgbClr val="ffffff"/>
              </a:solidFill>
              <a:latin typeface="Arial"/>
            </a:endParaRPr>
          </a:p>
        </p:txBody>
      </p:sp>
      <p:sp>
        <p:nvSpPr>
          <p:cNvPr id="1190"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191"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78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19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BORROWING &amp; LIFETIMES</a:t>
            </a:r>
            <a:endParaRPr b="0" lang="en-US" sz="1300" spc="-1" strike="noStrike">
              <a:solidFill>
                <a:srgbClr val="ffffff"/>
              </a:solidFill>
              <a:latin typeface="Arial"/>
            </a:endParaRPr>
          </a:p>
        </p:txBody>
      </p:sp>
      <p:sp>
        <p:nvSpPr>
          <p:cNvPr id="1193"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Lifetime elision: you won't write lifetimes most of the time</a:t>
            </a:r>
            <a:endParaRPr b="0" lang="en-US" sz="2800" spc="-1" strike="noStrike">
              <a:solidFill>
                <a:srgbClr val="ffffff"/>
              </a:solidFill>
              <a:latin typeface="Arial"/>
            </a:endParaRPr>
          </a:p>
        </p:txBody>
      </p:sp>
      <p:sp>
        <p:nvSpPr>
          <p:cNvPr id="1194"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95"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96"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A 'lifetime is a compile-time-only label  </a:t>
            </a:r>
            <a:r>
              <a:rPr b="0" lang="en-US" sz="1200" spc="-1" strike="noStrike">
                <a:solidFill>
                  <a:srgbClr val="9aa4b8"/>
                </a:solidFill>
                <a:latin typeface="Arial"/>
                <a:ea typeface="Arial"/>
              </a:rPr>
              <a:t>describing how long a reference is guaranteed to remain valid.</a:t>
            </a:r>
            <a:endParaRPr b="0" lang="en-US" sz="1200" spc="-1" strike="noStrike">
              <a:solidFill>
                <a:srgbClr val="ffffff"/>
              </a:solidFill>
              <a:latin typeface="Arial"/>
            </a:endParaRPr>
          </a:p>
        </p:txBody>
      </p:sp>
      <p:sp>
        <p:nvSpPr>
          <p:cNvPr id="1197"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98"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99"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The compiler infers lifetimes in the overwhelming majority of function signatures  </a:t>
            </a:r>
            <a:r>
              <a:rPr b="0" lang="en-US" sz="1200" spc="-1" strike="noStrike">
                <a:solidFill>
                  <a:srgbClr val="9aa4b8"/>
                </a:solidFill>
                <a:latin typeface="Arial"/>
                <a:ea typeface="Arial"/>
              </a:rPr>
              <a:t>via a small set of elision rules — you never see them.</a:t>
            </a:r>
            <a:endParaRPr b="0" lang="en-US" sz="1200" spc="-1" strike="noStrike">
              <a:solidFill>
                <a:srgbClr val="ffffff"/>
              </a:solidFill>
              <a:latin typeface="Arial"/>
            </a:endParaRPr>
          </a:p>
        </p:txBody>
      </p:sp>
      <p:sp>
        <p:nvSpPr>
          <p:cNvPr id="1200"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01"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02"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Explicit lifetime annotations only appear  </a:t>
            </a:r>
            <a:r>
              <a:rPr b="0" lang="en-US" sz="1200" spc="-1" strike="noStrike">
                <a:solidFill>
                  <a:srgbClr val="9aa4b8"/>
                </a:solidFill>
                <a:latin typeface="Arial"/>
                <a:ea typeface="Arial"/>
              </a:rPr>
              <a:t>when a function returns a reference whose origin is genuinely ambiguous.</a:t>
            </a:r>
            <a:endParaRPr b="0" lang="en-US" sz="1200" spc="-1" strike="noStrike">
              <a:solidFill>
                <a:srgbClr val="ffffff"/>
              </a:solidFill>
              <a:latin typeface="Arial"/>
            </a:endParaRPr>
          </a:p>
        </p:txBody>
      </p:sp>
      <p:sp>
        <p:nvSpPr>
          <p:cNvPr id="1203"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204"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79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205"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BORROWING</a:t>
            </a:r>
            <a:endParaRPr b="0" lang="en-US" sz="1300" spc="-1" strike="noStrike">
              <a:solidFill>
                <a:srgbClr val="ffffff"/>
              </a:solidFill>
              <a:latin typeface="Arial"/>
            </a:endParaRPr>
          </a:p>
        </p:txBody>
      </p:sp>
      <p:sp>
        <p:nvSpPr>
          <p:cNvPr id="1206"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Returning a dangling reference</a:t>
            </a:r>
            <a:endParaRPr b="0" lang="en-US" sz="2800" spc="-1" strike="noStrike">
              <a:solidFill>
                <a:srgbClr val="ffffff"/>
              </a:solidFill>
              <a:latin typeface="Arial"/>
            </a:endParaRPr>
          </a:p>
        </p:txBody>
      </p:sp>
      <p:sp>
        <p:nvSpPr>
          <p:cNvPr id="1207"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08"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09"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210"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211"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const std::string&amp; first_word(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const std::string&amp; s)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static std::string w = s.substr(0,1);</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return w; // works, but fragile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1212"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Returning a reference to something with a shorter lifetime than the caller expects compiles cleanly and fails at runtime, unpredictably.</a:t>
            </a:r>
            <a:endParaRPr b="0" lang="en-US" sz="1100" spc="-1" strike="noStrike">
              <a:solidFill>
                <a:srgbClr val="ffffff"/>
              </a:solidFill>
              <a:latin typeface="Arial"/>
            </a:endParaRPr>
          </a:p>
        </p:txBody>
      </p:sp>
      <p:sp>
        <p:nvSpPr>
          <p:cNvPr id="1213"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14"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15"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216"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217"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fn first_word(s: &amp;str) -&gt; &amp;str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&amp;s[0..1]</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return type borrows from the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input — elided lifetime</a:t>
            </a:r>
            <a:endParaRPr b="0" lang="en-US" sz="1200" spc="-1" strike="noStrike">
              <a:solidFill>
                <a:srgbClr val="ffffff"/>
              </a:solidFill>
              <a:latin typeface="Arial"/>
            </a:endParaRPr>
          </a:p>
        </p:txBody>
      </p:sp>
      <p:sp>
        <p:nvSpPr>
          <p:cNvPr id="1218"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The elided lifetime says: the returned reference lives exactly as long as the input reference. Any violation is a compile error.</a:t>
            </a:r>
            <a:endParaRPr b="0" lang="en-US" sz="1100" spc="-1" strike="noStrike">
              <a:solidFill>
                <a:srgbClr val="ffffff"/>
              </a:solidFill>
              <a:latin typeface="Arial"/>
            </a:endParaRPr>
          </a:p>
        </p:txBody>
      </p:sp>
      <p:sp>
        <p:nvSpPr>
          <p:cNvPr id="1219"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20"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Lifetimes turn "how long is this reference valid?" from a question you answer by reading documentation into one the compiler answers for you.</a:t>
            </a:r>
            <a:endParaRPr b="0" lang="en-US" sz="1150" spc="-1" strike="noStrike">
              <a:solidFill>
                <a:srgbClr val="ffffff"/>
              </a:solidFill>
              <a:latin typeface="Arial"/>
            </a:endParaRPr>
          </a:p>
        </p:txBody>
      </p:sp>
      <p:sp>
        <p:nvSpPr>
          <p:cNvPr id="1221"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222"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80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223"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BORROWING &amp; LIFETIMES</a:t>
            </a:r>
            <a:endParaRPr b="0" lang="en-US" sz="1300" spc="-1" strike="noStrike">
              <a:solidFill>
                <a:srgbClr val="ffffff"/>
              </a:solidFill>
              <a:latin typeface="Arial"/>
            </a:endParaRPr>
          </a:p>
        </p:txBody>
      </p:sp>
      <p:sp>
        <p:nvSpPr>
          <p:cNvPr id="1224"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Lifetimes in structs that hold references</a:t>
            </a:r>
            <a:endParaRPr b="0" lang="en-US" sz="2800" spc="-1" strike="noStrike">
              <a:solidFill>
                <a:srgbClr val="ffffff"/>
              </a:solidFill>
              <a:latin typeface="Arial"/>
            </a:endParaRPr>
          </a:p>
        </p:txBody>
      </p:sp>
      <p:sp>
        <p:nvSpPr>
          <p:cNvPr id="1225"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26"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27"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A struct that stores a reference must be annotated  </a:t>
            </a:r>
            <a:r>
              <a:rPr b="0" lang="en-US" sz="1200" spc="-1" strike="noStrike">
                <a:solidFill>
                  <a:srgbClr val="9aa4b8"/>
                </a:solidFill>
                <a:latin typeface="Arial"/>
                <a:ea typeface="Arial"/>
              </a:rPr>
              <a:t>with a lifetime parameter, e.g. struct Parser&lt;'a&gt; { input: &amp;'a str }.</a:t>
            </a:r>
            <a:endParaRPr b="0" lang="en-US" sz="1200" spc="-1" strike="noStrike">
              <a:solidFill>
                <a:srgbClr val="ffffff"/>
              </a:solidFill>
              <a:latin typeface="Arial"/>
            </a:endParaRPr>
          </a:p>
        </p:txBody>
      </p:sp>
      <p:sp>
        <p:nvSpPr>
          <p:cNvPr id="1228"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29"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30"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This makes explicit what C++ leaves implicit:  </a:t>
            </a:r>
            <a:r>
              <a:rPr b="0" lang="en-US" sz="1200" spc="-1" strike="noStrike">
                <a:solidFill>
                  <a:srgbClr val="9aa4b8"/>
                </a:solidFill>
                <a:latin typeface="Arial"/>
                <a:ea typeface="Arial"/>
              </a:rPr>
              <a:t>the struct cannot outlive the data it refers to.</a:t>
            </a:r>
            <a:endParaRPr b="0" lang="en-US" sz="1200" spc="-1" strike="noStrike">
              <a:solidFill>
                <a:srgbClr val="ffffff"/>
              </a:solidFill>
              <a:latin typeface="Arial"/>
            </a:endParaRPr>
          </a:p>
        </p:txBody>
      </p:sp>
      <p:sp>
        <p:nvSpPr>
          <p:cNvPr id="1231"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32"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33"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In practice, many structs simply own their data instead  </a:t>
            </a:r>
            <a:r>
              <a:rPr b="0" lang="en-US" sz="1200" spc="-1" strike="noStrike">
                <a:solidFill>
                  <a:srgbClr val="9aa4b8"/>
                </a:solidFill>
                <a:latin typeface="Arial"/>
                <a:ea typeface="Arial"/>
              </a:rPr>
              <a:t>(String rather than &amp;str) to sidestep lifetime parameters entirely — a common, idiomatic choice.</a:t>
            </a:r>
            <a:endParaRPr b="0" lang="en-US" sz="1200" spc="-1" strike="noStrike">
              <a:solidFill>
                <a:srgbClr val="ffffff"/>
              </a:solidFill>
              <a:latin typeface="Arial"/>
            </a:endParaRPr>
          </a:p>
        </p:txBody>
      </p:sp>
      <p:sp>
        <p:nvSpPr>
          <p:cNvPr id="1234"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235"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81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236"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BORROWING</a:t>
            </a:r>
            <a:endParaRPr b="0" lang="en-US" sz="1300" spc="-1" strike="noStrike">
              <a:solidFill>
                <a:srgbClr val="ffffff"/>
              </a:solidFill>
              <a:latin typeface="Arial"/>
            </a:endParaRPr>
          </a:p>
        </p:txBody>
      </p:sp>
      <p:sp>
        <p:nvSpPr>
          <p:cNvPr id="1237"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A struct holding a reference</a:t>
            </a:r>
            <a:endParaRPr b="0" lang="en-US" sz="2800" spc="-1" strike="noStrike">
              <a:solidFill>
                <a:srgbClr val="ffffff"/>
              </a:solidFill>
              <a:latin typeface="Arial"/>
            </a:endParaRPr>
          </a:p>
        </p:txBody>
      </p:sp>
      <p:sp>
        <p:nvSpPr>
          <p:cNvPr id="1238"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39"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40"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241"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242"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struct Parser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const std::string&amp; input;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nothing stops 'input' from</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outliving the referenced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string — silent dangling ref</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1243"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A reference member is a ticking clock: if the referenced object is destroyed first, every use of the struct is undefined behavior.</a:t>
            </a:r>
            <a:endParaRPr b="0" lang="en-US" sz="1100" spc="-1" strike="noStrike">
              <a:solidFill>
                <a:srgbClr val="ffffff"/>
              </a:solidFill>
              <a:latin typeface="Arial"/>
            </a:endParaRPr>
          </a:p>
        </p:txBody>
      </p:sp>
      <p:sp>
        <p:nvSpPr>
          <p:cNvPr id="1244"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45"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46"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247"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248"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struct Parser&lt;'a&gt;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input: &amp;'a str,</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the compiler refuses to compile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any Parser that could outlive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its 'input'</a:t>
            </a:r>
            <a:endParaRPr b="0" lang="en-US" sz="1200" spc="-1" strike="noStrike">
              <a:solidFill>
                <a:srgbClr val="ffffff"/>
              </a:solidFill>
              <a:latin typeface="Arial"/>
            </a:endParaRPr>
          </a:p>
        </p:txBody>
      </p:sp>
      <p:sp>
        <p:nvSpPr>
          <p:cNvPr id="1249"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The lifetime parameter 'a ties the struct's validity to the referenced string's validity, and the compiler enforces the relationship everywhere.</a:t>
            </a:r>
            <a:endParaRPr b="0" lang="en-US" sz="1100" spc="-1" strike="noStrike">
              <a:solidFill>
                <a:srgbClr val="ffffff"/>
              </a:solidFill>
              <a:latin typeface="Arial"/>
            </a:endParaRPr>
          </a:p>
        </p:txBody>
      </p:sp>
      <p:sp>
        <p:nvSpPr>
          <p:cNvPr id="1250"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51"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The exact hazard C++ leaves to programmer memory — "does this struct outlive its reference?" — becomes machine-checked.</a:t>
            </a:r>
            <a:endParaRPr b="0" lang="en-US" sz="1150" spc="-1" strike="noStrike">
              <a:solidFill>
                <a:srgbClr val="ffffff"/>
              </a:solidFill>
              <a:latin typeface="Arial"/>
            </a:endParaRPr>
          </a:p>
        </p:txBody>
      </p:sp>
      <p:sp>
        <p:nvSpPr>
          <p:cNvPr id="1252"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253"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82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254"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ce422b"/>
                </a:solidFill>
                <a:latin typeface="Arial"/>
                <a:ea typeface="Arial"/>
              </a:rPr>
              <a:t>BORROWING &amp; LIFETIMES</a:t>
            </a:r>
            <a:endParaRPr b="0" lang="en-US" sz="1300" spc="-1" strike="noStrike">
              <a:solidFill>
                <a:srgbClr val="ffffff"/>
              </a:solidFill>
              <a:latin typeface="Arial"/>
            </a:endParaRPr>
          </a:p>
        </p:txBody>
      </p:sp>
      <p:sp>
        <p:nvSpPr>
          <p:cNvPr id="1255" name="Text 1"/>
          <p:cNvSpPr/>
          <p:nvPr/>
        </p:nvSpPr>
        <p:spPr>
          <a:xfrm>
            <a:off x="548640" y="2194560"/>
            <a:ext cx="11062800" cy="2101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3200" spc="-1" strike="noStrike">
                <a:solidFill>
                  <a:srgbClr val="edeff4"/>
                </a:solidFill>
                <a:latin typeface="Arial"/>
                <a:ea typeface="Arial"/>
              </a:rPr>
              <a:t>The borrow checker is a pair programmer, not a nanny.</a:t>
            </a:r>
            <a:endParaRPr b="0" lang="en-US" sz="3200" spc="-1" strike="noStrike">
              <a:solidFill>
                <a:srgbClr val="ffffff"/>
              </a:solidFill>
              <a:latin typeface="Arial"/>
            </a:endParaRPr>
          </a:p>
        </p:txBody>
      </p:sp>
      <p:sp>
        <p:nvSpPr>
          <p:cNvPr id="1256" name="Text 2"/>
          <p:cNvSpPr/>
          <p:nvPr/>
        </p:nvSpPr>
        <p:spPr>
          <a:xfrm>
            <a:off x="548640" y="4434840"/>
            <a:ext cx="1033128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30000"/>
              </a:lnSpc>
              <a:tabLst>
                <a:tab algn="l" pos="0"/>
              </a:tabLst>
            </a:pPr>
            <a:r>
              <a:rPr b="0" lang="en-US" sz="1400" spc="-1" strike="noStrike">
                <a:solidFill>
                  <a:srgbClr val="9aa4b8"/>
                </a:solidFill>
                <a:latin typeface="Arial"/>
                <a:ea typeface="Arial"/>
              </a:rPr>
              <a:t>Every rejection it gives you is a real bug it just found — usually one that would otherwise surface as a segfault, a data race, or a heisenbug three months from now, in production, at 2 a.m. The friction is real; it's also front-loaded.</a:t>
            </a:r>
            <a:endParaRPr b="0" lang="en-US" sz="1400" spc="-1" strike="noStrike">
              <a:solidFill>
                <a:srgbClr val="ffffff"/>
              </a:solidFill>
              <a:latin typeface="Arial"/>
            </a:endParaRPr>
          </a:p>
        </p:txBody>
      </p:sp>
      <p:sp>
        <p:nvSpPr>
          <p:cNvPr id="1257" name="Text 3"/>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258" name="Text 4"/>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83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259" name="Shape 0"/>
          <p:cNvSpPr/>
          <p:nvPr/>
        </p:nvSpPr>
        <p:spPr>
          <a:xfrm>
            <a:off x="548640" y="2651760"/>
            <a:ext cx="1370160" cy="1370160"/>
          </a:xfrm>
          <a:prstGeom prst="roundRect">
            <a:avLst>
              <a:gd name="adj" fmla="val 6667"/>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60" name="Text 1"/>
          <p:cNvSpPr/>
          <p:nvPr/>
        </p:nvSpPr>
        <p:spPr>
          <a:xfrm>
            <a:off x="548640" y="2651760"/>
            <a:ext cx="1370160" cy="1370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400" spc="-1" strike="noStrike">
                <a:solidFill>
                  <a:srgbClr val="e8804f"/>
                </a:solidFill>
                <a:latin typeface="Consolas"/>
                <a:ea typeface="Consolas"/>
              </a:rPr>
              <a:t>08</a:t>
            </a:r>
            <a:endParaRPr b="0" lang="en-US" sz="3400" spc="-1" strike="noStrike">
              <a:solidFill>
                <a:srgbClr val="ffffff"/>
              </a:solidFill>
              <a:latin typeface="Arial"/>
            </a:endParaRPr>
          </a:p>
        </p:txBody>
      </p:sp>
      <p:sp>
        <p:nvSpPr>
          <p:cNvPr id="1261" name="Text 2"/>
          <p:cNvSpPr/>
          <p:nvPr/>
        </p:nvSpPr>
        <p:spPr>
          <a:xfrm>
            <a:off x="2194560" y="2743200"/>
            <a:ext cx="932544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Type System: Enums, Option, Result, Match</a:t>
            </a:r>
            <a:endParaRPr b="0" lang="en-US" sz="2800" spc="-1" strike="noStrike">
              <a:solidFill>
                <a:srgbClr val="ffffff"/>
              </a:solidFill>
              <a:latin typeface="Arial"/>
            </a:endParaRPr>
          </a:p>
        </p:txBody>
      </p:sp>
      <p:sp>
        <p:nvSpPr>
          <p:cNvPr id="1262" name="Text 3"/>
          <p:cNvSpPr/>
          <p:nvPr/>
        </p:nvSpPr>
        <p:spPr>
          <a:xfrm>
            <a:off x="2194560" y="3474720"/>
            <a:ext cx="8959680" cy="547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50" spc="-1" strike="noStrike">
                <a:solidFill>
                  <a:srgbClr val="9aa4b8"/>
                </a:solidFill>
                <a:latin typeface="Arial"/>
                <a:ea typeface="Arial"/>
              </a:rPr>
              <a:t>Sum types done properly, and what they buy you</a:t>
            </a:r>
            <a:endParaRPr b="0" lang="en-US" sz="1350" spc="-1" strike="noStrike">
              <a:solidFill>
                <a:srgbClr val="ffffff"/>
              </a:solidFill>
              <a:latin typeface="Arial"/>
            </a:endParaRPr>
          </a:p>
        </p:txBody>
      </p:sp>
      <p:sp>
        <p:nvSpPr>
          <p:cNvPr id="1263" name="Text 4"/>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264" name="Text 5"/>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84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265"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TYPE SYSTEM</a:t>
            </a:r>
            <a:endParaRPr b="0" lang="en-US" sz="1300" spc="-1" strike="noStrike">
              <a:solidFill>
                <a:srgbClr val="ffffff"/>
              </a:solidFill>
              <a:latin typeface="Arial"/>
            </a:endParaRPr>
          </a:p>
        </p:txBody>
      </p:sp>
      <p:sp>
        <p:nvSpPr>
          <p:cNvPr id="1266"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Null pointers vs. Option&lt;T&gt;</a:t>
            </a:r>
            <a:endParaRPr b="0" lang="en-US" sz="2800" spc="-1" strike="noStrike">
              <a:solidFill>
                <a:srgbClr val="ffffff"/>
              </a:solidFill>
              <a:latin typeface="Arial"/>
            </a:endParaRPr>
          </a:p>
        </p:txBody>
      </p:sp>
      <p:sp>
        <p:nvSpPr>
          <p:cNvPr id="1267"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68"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69"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270"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271"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Widget* find(int id);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Widget* w = find(42);</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w-&gt;doThing(); // crashes if</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find() returned null</a:t>
            </a:r>
            <a:endParaRPr b="0" lang="en-US" sz="1200" spc="-1" strike="noStrike">
              <a:solidFill>
                <a:srgbClr val="ffffff"/>
              </a:solidFill>
              <a:latin typeface="Arial"/>
            </a:endParaRPr>
          </a:p>
        </p:txBody>
      </p:sp>
      <p:sp>
        <p:nvSpPr>
          <p:cNvPr id="1272"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Nothing in the type Widget* distinguishes "definitely a widget" from "maybe null." The type system can't help you remember to check.</a:t>
            </a:r>
            <a:endParaRPr b="0" lang="en-US" sz="1100" spc="-1" strike="noStrike">
              <a:solidFill>
                <a:srgbClr val="ffffff"/>
              </a:solidFill>
              <a:latin typeface="Arial"/>
            </a:endParaRPr>
          </a:p>
        </p:txBody>
      </p:sp>
      <p:sp>
        <p:nvSpPr>
          <p:cNvPr id="1273"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74"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75"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276"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277"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fn find(id: i32) -&gt; Option&lt;Widget&gt;;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match find(42)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Some(w) =&gt; w.do_thing(),</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None =&gt; handle_missing(),</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1278"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Option&lt;Widget&gt; makes absence part of the type. You cannot call a method on the inner value without first handling the None case.</a:t>
            </a:r>
            <a:endParaRPr b="0" lang="en-US" sz="1100" spc="-1" strike="noStrike">
              <a:solidFill>
                <a:srgbClr val="ffffff"/>
              </a:solidFill>
              <a:latin typeface="Arial"/>
            </a:endParaRPr>
          </a:p>
        </p:txBody>
      </p:sp>
      <p:sp>
        <p:nvSpPr>
          <p:cNvPr id="1279"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80"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This is Option&lt;T&gt; doing the same job std::optional does — but match forces you to handle both cases, where optional's operator* doesn't.</a:t>
            </a:r>
            <a:endParaRPr b="0" lang="en-US" sz="1150" spc="-1" strike="noStrike">
              <a:solidFill>
                <a:srgbClr val="ffffff"/>
              </a:solidFill>
              <a:latin typeface="Arial"/>
            </a:endParaRPr>
          </a:p>
        </p:txBody>
      </p:sp>
      <p:sp>
        <p:nvSpPr>
          <p:cNvPr id="1281"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282"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85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283"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TYPE SYSTEM</a:t>
            </a:r>
            <a:endParaRPr b="0" lang="en-US" sz="1300" spc="-1" strike="noStrike">
              <a:solidFill>
                <a:srgbClr val="ffffff"/>
              </a:solidFill>
              <a:latin typeface="Arial"/>
            </a:endParaRPr>
          </a:p>
        </p:txBody>
      </p:sp>
      <p:sp>
        <p:nvSpPr>
          <p:cNvPr id="1284"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std::optional vs. Option, in practice</a:t>
            </a:r>
            <a:endParaRPr b="0" lang="en-US" sz="2800" spc="-1" strike="noStrike">
              <a:solidFill>
                <a:srgbClr val="ffffff"/>
              </a:solidFill>
              <a:latin typeface="Arial"/>
            </a:endParaRPr>
          </a:p>
        </p:txBody>
      </p:sp>
      <p:sp>
        <p:nvSpPr>
          <p:cNvPr id="1285"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86"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87"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288"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289"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std::optional&lt;int&gt; o = maybe();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int x = *o; // UB if empty!</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if (o.has_value()) { ...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checking is opt-in, not enforced</a:t>
            </a:r>
            <a:endParaRPr b="0" lang="en-US" sz="1200" spc="-1" strike="noStrike">
              <a:solidFill>
                <a:srgbClr val="ffffff"/>
              </a:solidFill>
              <a:latin typeface="Arial"/>
            </a:endParaRPr>
          </a:p>
        </p:txBody>
      </p:sp>
      <p:sp>
        <p:nvSpPr>
          <p:cNvPr id="1290"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std::optional gives you the tool, but dereferencing an empty optional is undefined behavior — the check is your responsibility to remember.</a:t>
            </a:r>
            <a:endParaRPr b="0" lang="en-US" sz="1100" spc="-1" strike="noStrike">
              <a:solidFill>
                <a:srgbClr val="ffffff"/>
              </a:solidFill>
              <a:latin typeface="Arial"/>
            </a:endParaRPr>
          </a:p>
        </p:txBody>
      </p:sp>
      <p:sp>
        <p:nvSpPr>
          <p:cNvPr id="1291"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92"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93"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294"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295"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let o: Option&lt;i32&gt; = maybe();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let x = o.unwrap(); // panics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loudly if None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if let Some(x) = o { ... }</a:t>
            </a:r>
            <a:endParaRPr b="0" lang="en-US" sz="1200" spc="-1" strike="noStrike">
              <a:solidFill>
                <a:srgbClr val="ffffff"/>
              </a:solidFill>
              <a:latin typeface="Arial"/>
            </a:endParaRPr>
          </a:p>
        </p:txBody>
      </p:sp>
      <p:sp>
        <p:nvSpPr>
          <p:cNvPr id="1296"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There's no way to get the inner value without going through a method that either panics explicitly or forces you to branch on Some/None.</a:t>
            </a:r>
            <a:endParaRPr b="0" lang="en-US" sz="1100" spc="-1" strike="noStrike">
              <a:solidFill>
                <a:srgbClr val="ffffff"/>
              </a:solidFill>
              <a:latin typeface="Arial"/>
            </a:endParaRPr>
          </a:p>
        </p:txBody>
      </p:sp>
      <p:sp>
        <p:nvSpPr>
          <p:cNvPr id="1297"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98"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Both languages have the concept; Rust's version makes skipping the check either impossible or, if you choose unwrap(), loud and visible.</a:t>
            </a:r>
            <a:endParaRPr b="0" lang="en-US" sz="1150" spc="-1" strike="noStrike">
              <a:solidFill>
                <a:srgbClr val="ffffff"/>
              </a:solidFill>
              <a:latin typeface="Arial"/>
            </a:endParaRPr>
          </a:p>
        </p:txBody>
      </p:sp>
      <p:sp>
        <p:nvSpPr>
          <p:cNvPr id="1299"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300"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86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301"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TYPE SYSTEM</a:t>
            </a:r>
            <a:endParaRPr b="0" lang="en-US" sz="1300" spc="-1" strike="noStrike">
              <a:solidFill>
                <a:srgbClr val="ffffff"/>
              </a:solidFill>
              <a:latin typeface="Arial"/>
            </a:endParaRPr>
          </a:p>
        </p:txBody>
      </p:sp>
      <p:sp>
        <p:nvSpPr>
          <p:cNvPr id="1302"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Exceptions vs. Result&lt;T, E&gt;</a:t>
            </a:r>
            <a:endParaRPr b="0" lang="en-US" sz="2800" spc="-1" strike="noStrike">
              <a:solidFill>
                <a:srgbClr val="ffffff"/>
              </a:solidFill>
              <a:latin typeface="Arial"/>
            </a:endParaRPr>
          </a:p>
        </p:txBody>
      </p:sp>
      <p:sp>
        <p:nvSpPr>
          <p:cNvPr id="1303"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04"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05"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306"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307"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int parse(std::string s)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if (invalid(s)) throw</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std::invalid_argument("bad");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return std::stoi(s);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caller may not know it can throw</a:t>
            </a:r>
            <a:endParaRPr b="0" lang="en-US" sz="1200" spc="-1" strike="noStrike">
              <a:solidFill>
                <a:srgbClr val="ffffff"/>
              </a:solidFill>
              <a:latin typeface="Arial"/>
            </a:endParaRPr>
          </a:p>
        </p:txBody>
      </p:sp>
      <p:sp>
        <p:nvSpPr>
          <p:cNvPr id="1308"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A function's signature doesn't say what it can throw. Finding out requires reading the implementation, or every callee's implementation.</a:t>
            </a:r>
            <a:endParaRPr b="0" lang="en-US" sz="1100" spc="-1" strike="noStrike">
              <a:solidFill>
                <a:srgbClr val="ffffff"/>
              </a:solidFill>
              <a:latin typeface="Arial"/>
            </a:endParaRPr>
          </a:p>
        </p:txBody>
      </p:sp>
      <p:sp>
        <p:nvSpPr>
          <p:cNvPr id="1309"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10"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11"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312"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313"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fn parse(s: &amp;str) -&gt; Result&lt;i32, Error&gt;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if invalid(s)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return Err(Error::Invalid);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Ok(s.parse()?)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1314"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The return type documents every way the function can fail. A caller sees Result&lt;i32, Error&gt; and knows exactly what to handle.</a:t>
            </a:r>
            <a:endParaRPr b="0" lang="en-US" sz="1100" spc="-1" strike="noStrike">
              <a:solidFill>
                <a:srgbClr val="ffffff"/>
              </a:solidFill>
              <a:latin typeface="Arial"/>
            </a:endParaRPr>
          </a:p>
        </p:txBody>
      </p:sp>
      <p:sp>
        <p:nvSpPr>
          <p:cNvPr id="1315"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16"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Errors become data in the type signature instead of invisible control-flow paths that propagate silently through the call stack.</a:t>
            </a:r>
            <a:endParaRPr b="0" lang="en-US" sz="1150" spc="-1" strike="noStrike">
              <a:solidFill>
                <a:srgbClr val="ffffff"/>
              </a:solidFill>
              <a:latin typeface="Arial"/>
            </a:endParaRPr>
          </a:p>
        </p:txBody>
      </p:sp>
      <p:sp>
        <p:nvSpPr>
          <p:cNvPr id="1317"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318"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87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319"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TYPE SYSTEM</a:t>
            </a:r>
            <a:endParaRPr b="0" lang="en-US" sz="1300" spc="-1" strike="noStrike">
              <a:solidFill>
                <a:srgbClr val="ffffff"/>
              </a:solidFill>
              <a:latin typeface="Arial"/>
            </a:endParaRPr>
          </a:p>
        </p:txBody>
      </p:sp>
      <p:sp>
        <p:nvSpPr>
          <p:cNvPr id="1320"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std::variant + std::visit vs. enum + match</a:t>
            </a:r>
            <a:endParaRPr b="0" lang="en-US" sz="2800" spc="-1" strike="noStrike">
              <a:solidFill>
                <a:srgbClr val="ffffff"/>
              </a:solidFill>
              <a:latin typeface="Arial"/>
            </a:endParaRPr>
          </a:p>
        </p:txBody>
      </p:sp>
      <p:sp>
        <p:nvSpPr>
          <p:cNvPr id="1321"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22"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23"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324"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325"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std::variant&lt;int, std::string&gt; v;</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std::visit([](auto&amp;&amp; x)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must handle every</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alternative, or it won't compile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v);</a:t>
            </a:r>
            <a:endParaRPr b="0" lang="en-US" sz="1200" spc="-1" strike="noStrike">
              <a:solidFill>
                <a:srgbClr val="ffffff"/>
              </a:solidFill>
              <a:latin typeface="Arial"/>
            </a:endParaRPr>
          </a:p>
        </p:txBody>
      </p:sp>
      <p:sp>
        <p:nvSpPr>
          <p:cNvPr id="1326"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std::visit does enforce exhaustiveness for the visitor — C++17 got quite close to Rust here, though the syntax is heavier.</a:t>
            </a:r>
            <a:endParaRPr b="0" lang="en-US" sz="1100" spc="-1" strike="noStrike">
              <a:solidFill>
                <a:srgbClr val="ffffff"/>
              </a:solidFill>
              <a:latin typeface="Arial"/>
            </a:endParaRPr>
          </a:p>
        </p:txBody>
      </p:sp>
      <p:sp>
        <p:nvSpPr>
          <p:cNvPr id="1327"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28"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29"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330"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331"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enum Value { Int(i32), Text(String)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match v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Value::Int(n) =&gt;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Value::Text(s) =&gt;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 compiler enforces exhaustiveness</a:t>
            </a:r>
            <a:endParaRPr b="0" lang="en-US" sz="1200" spc="-1" strike="noStrike">
              <a:solidFill>
                <a:srgbClr val="ffffff"/>
              </a:solidFill>
              <a:latin typeface="Arial"/>
            </a:endParaRPr>
          </a:p>
        </p:txBody>
      </p:sp>
      <p:sp>
        <p:nvSpPr>
          <p:cNvPr id="1332"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match on an enum requires every variant to be handled (or an explicit wildcard), with concise, native syntax for both declaring and matching.</a:t>
            </a:r>
            <a:endParaRPr b="0" lang="en-US" sz="1100" spc="-1" strike="noStrike">
              <a:solidFill>
                <a:srgbClr val="ffffff"/>
              </a:solidFill>
              <a:latin typeface="Arial"/>
            </a:endParaRPr>
          </a:p>
        </p:txBody>
      </p:sp>
      <p:sp>
        <p:nvSpPr>
          <p:cNvPr id="1333"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34"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The underlying guarantee — exhaustiveness — genuinely exists in modern C++ too. Rust's version is native syntax rather than a library idiom.</a:t>
            </a:r>
            <a:endParaRPr b="0" lang="en-US" sz="1150" spc="-1" strike="noStrike">
              <a:solidFill>
                <a:srgbClr val="ffffff"/>
              </a:solidFill>
              <a:latin typeface="Arial"/>
            </a:endParaRPr>
          </a:p>
        </p:txBody>
      </p:sp>
      <p:sp>
        <p:nvSpPr>
          <p:cNvPr id="1335"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336"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88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337"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TYPE SYSTEM: ENUMS, OPTION, RESULT, MATCH</a:t>
            </a:r>
            <a:endParaRPr b="0" lang="en-US" sz="1300" spc="-1" strike="noStrike">
              <a:solidFill>
                <a:srgbClr val="ffffff"/>
              </a:solidFill>
              <a:latin typeface="Arial"/>
            </a:endParaRPr>
          </a:p>
        </p:txBody>
      </p:sp>
      <p:sp>
        <p:nvSpPr>
          <p:cNvPr id="1338"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Exhaustiveness checking, generally</a:t>
            </a:r>
            <a:endParaRPr b="0" lang="en-US" sz="2800" spc="-1" strike="noStrike">
              <a:solidFill>
                <a:srgbClr val="ffffff"/>
              </a:solidFill>
              <a:latin typeface="Arial"/>
            </a:endParaRPr>
          </a:p>
        </p:txBody>
      </p:sp>
      <p:sp>
        <p:nvSpPr>
          <p:cNvPr id="1339"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40"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41"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Every match on an enum must cover every variant,  </a:t>
            </a:r>
            <a:r>
              <a:rPr b="0" lang="en-US" sz="1200" spc="-1" strike="noStrike">
                <a:solidFill>
                  <a:srgbClr val="9aa4b8"/>
                </a:solidFill>
                <a:latin typeface="Arial"/>
                <a:ea typeface="Arial"/>
              </a:rPr>
              <a:t>or the compiler refuses to build.</a:t>
            </a:r>
            <a:endParaRPr b="0" lang="en-US" sz="1200" spc="-1" strike="noStrike">
              <a:solidFill>
                <a:srgbClr val="ffffff"/>
              </a:solidFill>
              <a:latin typeface="Arial"/>
            </a:endParaRPr>
          </a:p>
        </p:txBody>
      </p:sp>
      <p:sp>
        <p:nvSpPr>
          <p:cNvPr id="1342"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43"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44"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Add a new variant later, and every match expression that needs updating  </a:t>
            </a:r>
            <a:r>
              <a:rPr b="0" lang="en-US" sz="1200" spc="-1" strike="noStrike">
                <a:solidFill>
                  <a:srgbClr val="9aa4b8"/>
                </a:solidFill>
                <a:latin typeface="Arial"/>
                <a:ea typeface="Arial"/>
              </a:rPr>
              <a:t>becomes a compile error at exactly the right call sites — nothing is silently skipped.</a:t>
            </a:r>
            <a:endParaRPr b="0" lang="en-US" sz="1200" spc="-1" strike="noStrike">
              <a:solidFill>
                <a:srgbClr val="ffffff"/>
              </a:solidFill>
              <a:latin typeface="Arial"/>
            </a:endParaRPr>
          </a:p>
        </p:txBody>
      </p:sp>
      <p:sp>
        <p:nvSpPr>
          <p:cNvPr id="1345"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46"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47"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This turns "did I update every switch statement?"  </a:t>
            </a:r>
            <a:r>
              <a:rPr b="0" lang="en-US" sz="1200" spc="-1" strike="noStrike">
                <a:solidFill>
                  <a:srgbClr val="9aa4b8"/>
                </a:solidFill>
                <a:latin typeface="Arial"/>
                <a:ea typeface="Arial"/>
              </a:rPr>
              <a:t>from a manual audit into an automated one.</a:t>
            </a:r>
            <a:endParaRPr b="0" lang="en-US" sz="1200" spc="-1" strike="noStrike">
              <a:solidFill>
                <a:srgbClr val="ffffff"/>
              </a:solidFill>
              <a:latin typeface="Arial"/>
            </a:endParaRPr>
          </a:p>
        </p:txBody>
      </p:sp>
      <p:sp>
        <p:nvSpPr>
          <p:cNvPr id="1348"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349"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89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350"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TYPE SYSTEM</a:t>
            </a:r>
            <a:endParaRPr b="0" lang="en-US" sz="1300" spc="-1" strike="noStrike">
              <a:solidFill>
                <a:srgbClr val="ffffff"/>
              </a:solidFill>
              <a:latin typeface="Arial"/>
            </a:endParaRPr>
          </a:p>
        </p:txBody>
      </p:sp>
      <p:sp>
        <p:nvSpPr>
          <p:cNvPr id="1351"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switch fallthrough vs. match</a:t>
            </a:r>
            <a:endParaRPr b="0" lang="en-US" sz="2800" spc="-1" strike="noStrike">
              <a:solidFill>
                <a:srgbClr val="ffffff"/>
              </a:solidFill>
              <a:latin typeface="Arial"/>
            </a:endParaRPr>
          </a:p>
        </p:txBody>
      </p:sp>
      <p:sp>
        <p:nvSpPr>
          <p:cNvPr id="1352"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53"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54"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355"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356"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switch (state)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case A: doA();</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case B: doB(); break;</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missing break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silent fallthrough into B</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1357"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Forgetting a break causes silent fallthrough into the next case — a decades-old, still-common source of subtle bugs.</a:t>
            </a:r>
            <a:endParaRPr b="0" lang="en-US" sz="1100" spc="-1" strike="noStrike">
              <a:solidFill>
                <a:srgbClr val="ffffff"/>
              </a:solidFill>
              <a:latin typeface="Arial"/>
            </a:endParaRPr>
          </a:p>
        </p:txBody>
      </p:sp>
      <p:sp>
        <p:nvSpPr>
          <p:cNvPr id="1358"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59"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60"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361"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362"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match state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State::A =&gt; do_a(),</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State::B =&gt; do_b(),</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no fallthrough exists;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each arm is independent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1363"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There is no fallthrough behavior in match at all — each arm runs its own code and nothing else, with no keyword needed to stop it.</a:t>
            </a:r>
            <a:endParaRPr b="0" lang="en-US" sz="1100" spc="-1" strike="noStrike">
              <a:solidFill>
                <a:srgbClr val="ffffff"/>
              </a:solidFill>
              <a:latin typeface="Arial"/>
            </a:endParaRPr>
          </a:p>
        </p:txBody>
      </p:sp>
      <p:sp>
        <p:nvSpPr>
          <p:cNvPr id="1364"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65"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An entire, well-known bug class (the missing break) is structurally impossible because the feature that causes it doesn't exist.</a:t>
            </a:r>
            <a:endParaRPr b="0" lang="en-US" sz="1150" spc="-1" strike="noStrike">
              <a:solidFill>
                <a:srgbClr val="ffffff"/>
              </a:solidFill>
              <a:latin typeface="Arial"/>
            </a:endParaRPr>
          </a:p>
        </p:txBody>
      </p:sp>
      <p:sp>
        <p:nvSpPr>
          <p:cNvPr id="1366"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367"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90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368"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TYPE SYSTEM: ENUMS, OPTION, RESULT, MATCH</a:t>
            </a:r>
            <a:endParaRPr b="0" lang="en-US" sz="1300" spc="-1" strike="noStrike">
              <a:solidFill>
                <a:srgbClr val="ffffff"/>
              </a:solidFill>
              <a:latin typeface="Arial"/>
            </a:endParaRPr>
          </a:p>
        </p:txBody>
      </p:sp>
      <p:sp>
        <p:nvSpPr>
          <p:cNvPr id="1369"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Pattern matching goes further than switch</a:t>
            </a:r>
            <a:endParaRPr b="0" lang="en-US" sz="2800" spc="-1" strike="noStrike">
              <a:solidFill>
                <a:srgbClr val="ffffff"/>
              </a:solidFill>
              <a:latin typeface="Arial"/>
            </a:endParaRPr>
          </a:p>
        </p:txBody>
      </p:sp>
      <p:sp>
        <p:nvSpPr>
          <p:cNvPr id="1370"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71"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72"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Destructuring:  </a:t>
            </a:r>
            <a:r>
              <a:rPr b="0" lang="en-US" sz="1200" spc="-1" strike="noStrike">
                <a:solidFill>
                  <a:srgbClr val="9aa4b8"/>
                </a:solidFill>
                <a:latin typeface="Arial"/>
                <a:ea typeface="Arial"/>
              </a:rPr>
              <a:t>match Point { x, y } directly pulls fields out of a struct or enum variant.</a:t>
            </a:r>
            <a:endParaRPr b="0" lang="en-US" sz="1200" spc="-1" strike="noStrike">
              <a:solidFill>
                <a:srgbClr val="ffffff"/>
              </a:solidFill>
              <a:latin typeface="Arial"/>
            </a:endParaRPr>
          </a:p>
        </p:txBody>
      </p:sp>
      <p:sp>
        <p:nvSpPr>
          <p:cNvPr id="1373"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74"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75"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Guards:  </a:t>
            </a:r>
            <a:r>
              <a:rPr b="0" lang="en-US" sz="1200" spc="-1" strike="noStrike">
                <a:solidFill>
                  <a:srgbClr val="9aa4b8"/>
                </a:solidFill>
                <a:latin typeface="Arial"/>
                <a:ea typeface="Arial"/>
              </a:rPr>
              <a:t>match n { x if x &gt; 0 =&gt; ..., _ =&gt; ... } adds arbitrary boolean conditions to an arm.</a:t>
            </a:r>
            <a:endParaRPr b="0" lang="en-US" sz="1200" spc="-1" strike="noStrike">
              <a:solidFill>
                <a:srgbClr val="ffffff"/>
              </a:solidFill>
              <a:latin typeface="Arial"/>
            </a:endParaRPr>
          </a:p>
        </p:txBody>
      </p:sp>
      <p:sp>
        <p:nvSpPr>
          <p:cNvPr id="1376"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77"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78"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Bindings with @:  </a:t>
            </a:r>
            <a:r>
              <a:rPr b="0" lang="en-US" sz="1200" spc="-1" strike="noStrike">
                <a:solidFill>
                  <a:srgbClr val="9aa4b8"/>
                </a:solidFill>
                <a:latin typeface="Arial"/>
                <a:ea typeface="Arial"/>
              </a:rPr>
              <a:t>match n { x @ 1..=5 =&gt; ... } captures a value while also checking a range.</a:t>
            </a:r>
            <a:endParaRPr b="0" lang="en-US" sz="1200" spc="-1" strike="noStrike">
              <a:solidFill>
                <a:srgbClr val="ffffff"/>
              </a:solidFill>
              <a:latin typeface="Arial"/>
            </a:endParaRPr>
          </a:p>
        </p:txBody>
      </p:sp>
      <p:sp>
        <p:nvSpPr>
          <p:cNvPr id="1379"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380"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91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381" name="Shape 0"/>
          <p:cNvSpPr/>
          <p:nvPr/>
        </p:nvSpPr>
        <p:spPr>
          <a:xfrm>
            <a:off x="548640" y="2651760"/>
            <a:ext cx="1370160" cy="1370160"/>
          </a:xfrm>
          <a:prstGeom prst="roundRect">
            <a:avLst>
              <a:gd name="adj" fmla="val 6667"/>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82" name="Text 1"/>
          <p:cNvSpPr/>
          <p:nvPr/>
        </p:nvSpPr>
        <p:spPr>
          <a:xfrm>
            <a:off x="548640" y="2651760"/>
            <a:ext cx="1370160" cy="1370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400" spc="-1" strike="noStrike">
                <a:solidFill>
                  <a:srgbClr val="e8804f"/>
                </a:solidFill>
                <a:latin typeface="Consolas"/>
                <a:ea typeface="Consolas"/>
              </a:rPr>
              <a:t>09</a:t>
            </a:r>
            <a:endParaRPr b="0" lang="en-US" sz="3400" spc="-1" strike="noStrike">
              <a:solidFill>
                <a:srgbClr val="ffffff"/>
              </a:solidFill>
              <a:latin typeface="Arial"/>
            </a:endParaRPr>
          </a:p>
        </p:txBody>
      </p:sp>
      <p:sp>
        <p:nvSpPr>
          <p:cNvPr id="1383" name="Text 2"/>
          <p:cNvSpPr/>
          <p:nvPr/>
        </p:nvSpPr>
        <p:spPr>
          <a:xfrm>
            <a:off x="2194560" y="2743200"/>
            <a:ext cx="932544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Traits &amp; Generics</a:t>
            </a:r>
            <a:endParaRPr b="0" lang="en-US" sz="2800" spc="-1" strike="noStrike">
              <a:solidFill>
                <a:srgbClr val="ffffff"/>
              </a:solidFill>
              <a:latin typeface="Arial"/>
            </a:endParaRPr>
          </a:p>
        </p:txBody>
      </p:sp>
      <p:sp>
        <p:nvSpPr>
          <p:cNvPr id="1384" name="Text 3"/>
          <p:cNvSpPr/>
          <p:nvPr/>
        </p:nvSpPr>
        <p:spPr>
          <a:xfrm>
            <a:off x="2194560" y="3474720"/>
            <a:ext cx="8959680" cy="547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50" spc="-1" strike="noStrike">
                <a:solidFill>
                  <a:srgbClr val="9aa4b8"/>
                </a:solidFill>
                <a:latin typeface="Arial"/>
                <a:ea typeface="Arial"/>
              </a:rPr>
              <a:t>Interfaces and templates, reconsidered from first principles</a:t>
            </a:r>
            <a:endParaRPr b="0" lang="en-US" sz="1350" spc="-1" strike="noStrike">
              <a:solidFill>
                <a:srgbClr val="ffffff"/>
              </a:solidFill>
              <a:latin typeface="Arial"/>
            </a:endParaRPr>
          </a:p>
        </p:txBody>
      </p:sp>
      <p:sp>
        <p:nvSpPr>
          <p:cNvPr id="1385" name="Text 4"/>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386" name="Text 5"/>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92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387"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TRAITS &amp; GENERICS</a:t>
            </a:r>
            <a:endParaRPr b="0" lang="en-US" sz="1300" spc="-1" strike="noStrike">
              <a:solidFill>
                <a:srgbClr val="ffffff"/>
              </a:solidFill>
              <a:latin typeface="Arial"/>
            </a:endParaRPr>
          </a:p>
        </p:txBody>
      </p:sp>
      <p:sp>
        <p:nvSpPr>
          <p:cNvPr id="1388"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Abstract base classes vs. traits</a:t>
            </a:r>
            <a:endParaRPr b="0" lang="en-US" sz="2800" spc="-1" strike="noStrike">
              <a:solidFill>
                <a:srgbClr val="ffffff"/>
              </a:solidFill>
              <a:latin typeface="Arial"/>
            </a:endParaRPr>
          </a:p>
        </p:txBody>
      </p:sp>
      <p:sp>
        <p:nvSpPr>
          <p:cNvPr id="1389"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90"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91"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392"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393"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class Shape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public:</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virtual double area() const = 0;</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virtual ~Shape() = default;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1394"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Interfaces are expressed as classes with pure virtual functions. Every implementer must inherit from the base class.</a:t>
            </a:r>
            <a:endParaRPr b="0" lang="en-US" sz="1100" spc="-1" strike="noStrike">
              <a:solidFill>
                <a:srgbClr val="ffffff"/>
              </a:solidFill>
              <a:latin typeface="Arial"/>
            </a:endParaRPr>
          </a:p>
        </p:txBody>
      </p:sp>
      <p:sp>
        <p:nvSpPr>
          <p:cNvPr id="1395"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96"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97"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398"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399"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trait Shape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fn area(&amp;self) -&gt; f64;</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impl Shape for Circle { ...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no inheritance relationship</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needed — impl anywhere</a:t>
            </a:r>
            <a:endParaRPr b="0" lang="en-US" sz="1200" spc="-1" strike="noStrike">
              <a:solidFill>
                <a:srgbClr val="ffffff"/>
              </a:solidFill>
              <a:latin typeface="Arial"/>
            </a:endParaRPr>
          </a:p>
        </p:txBody>
      </p:sp>
      <p:sp>
        <p:nvSpPr>
          <p:cNvPr id="1400"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A trait can be implemented for any type, including ones you don't own (subject to coherence rules) — no base-class relationship required.</a:t>
            </a:r>
            <a:endParaRPr b="0" lang="en-US" sz="1100" spc="-1" strike="noStrike">
              <a:solidFill>
                <a:srgbClr val="ffffff"/>
              </a:solidFill>
              <a:latin typeface="Arial"/>
            </a:endParaRPr>
          </a:p>
        </p:txBody>
      </p:sp>
      <p:sp>
        <p:nvSpPr>
          <p:cNvPr id="1401"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02"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Traits decouple "what interface does this satisfy" from "what is this type's inheritance hierarchy" — you can add behavior after the fact.</a:t>
            </a:r>
            <a:endParaRPr b="0" lang="en-US" sz="1150" spc="-1" strike="noStrike">
              <a:solidFill>
                <a:srgbClr val="ffffff"/>
              </a:solidFill>
              <a:latin typeface="Arial"/>
            </a:endParaRPr>
          </a:p>
        </p:txBody>
      </p:sp>
      <p:sp>
        <p:nvSpPr>
          <p:cNvPr id="1403"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404"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93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405"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TRAITS &amp; GENERICS</a:t>
            </a:r>
            <a:endParaRPr b="0" lang="en-US" sz="1300" spc="-1" strike="noStrike">
              <a:solidFill>
                <a:srgbClr val="ffffff"/>
              </a:solidFill>
              <a:latin typeface="Arial"/>
            </a:endParaRPr>
          </a:p>
        </p:txBody>
      </p:sp>
      <p:sp>
        <p:nvSpPr>
          <p:cNvPr id="1406"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Templates + SFINAE vs. generics + trait bounds</a:t>
            </a:r>
            <a:endParaRPr b="0" lang="en-US" sz="2800" spc="-1" strike="noStrike">
              <a:solidFill>
                <a:srgbClr val="ffffff"/>
              </a:solidFill>
              <a:latin typeface="Arial"/>
            </a:endParaRPr>
          </a:p>
        </p:txBody>
      </p:sp>
      <p:sp>
        <p:nvSpPr>
          <p:cNvPr id="1407"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08"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09"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410"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411"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template&lt;typename T&gt;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auto sum(T a, T b) -&gt;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decltype(a + b) { return a + b;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constraints are implicit,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errors surface at instantiation</a:t>
            </a:r>
            <a:endParaRPr b="0" lang="en-US" sz="1200" spc="-1" strike="noStrike">
              <a:solidFill>
                <a:srgbClr val="ffffff"/>
              </a:solidFill>
              <a:latin typeface="Arial"/>
            </a:endParaRPr>
          </a:p>
        </p:txBody>
      </p:sp>
      <p:sp>
        <p:nvSpPr>
          <p:cNvPr id="1412"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Before concepts, constraining a template relied on SFINAE tricks; error messages pointed at the instantiation site, often pages long.</a:t>
            </a:r>
            <a:endParaRPr b="0" lang="en-US" sz="1100" spc="-1" strike="noStrike">
              <a:solidFill>
                <a:srgbClr val="ffffff"/>
              </a:solidFill>
              <a:latin typeface="Arial"/>
            </a:endParaRPr>
          </a:p>
        </p:txBody>
      </p:sp>
      <p:sp>
        <p:nvSpPr>
          <p:cNvPr id="1413"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14"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15"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416"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417"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fn sum&lt;T: std::ops::Add&lt;Output = T&gt;&gt;(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a: T, b: 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-&gt; T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a + b</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1418"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The trait bound T: Add is checked at the definition site. The compiler verifies the function is valid for any T satisfying it, immediately.</a:t>
            </a:r>
            <a:endParaRPr b="0" lang="en-US" sz="1100" spc="-1" strike="noStrike">
              <a:solidFill>
                <a:srgbClr val="ffffff"/>
              </a:solidFill>
              <a:latin typeface="Arial"/>
            </a:endParaRPr>
          </a:p>
        </p:txBody>
      </p:sp>
      <p:sp>
        <p:nvSpPr>
          <p:cNvPr id="1419"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20"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Generic functions are checked once, at their own definition, rather than re-verified (and re-erroring) at every call site.</a:t>
            </a:r>
            <a:endParaRPr b="0" lang="en-US" sz="1150" spc="-1" strike="noStrike">
              <a:solidFill>
                <a:srgbClr val="ffffff"/>
              </a:solidFill>
              <a:latin typeface="Arial"/>
            </a:endParaRPr>
          </a:p>
        </p:txBody>
      </p:sp>
      <p:sp>
        <p:nvSpPr>
          <p:cNvPr id="1421"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422"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94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423"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TRAITS &amp; GENERICS</a:t>
            </a:r>
            <a:endParaRPr b="0" lang="en-US" sz="1300" spc="-1" strike="noStrike">
              <a:solidFill>
                <a:srgbClr val="ffffff"/>
              </a:solidFill>
              <a:latin typeface="Arial"/>
            </a:endParaRPr>
          </a:p>
        </p:txBody>
      </p:sp>
      <p:sp>
        <p:nvSpPr>
          <p:cNvPr id="1424"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C++20 concepts vs. trait bounds — genuinely similar</a:t>
            </a:r>
            <a:endParaRPr b="0" lang="en-US" sz="2800" spc="-1" strike="noStrike">
              <a:solidFill>
                <a:srgbClr val="ffffff"/>
              </a:solidFill>
              <a:latin typeface="Arial"/>
            </a:endParaRPr>
          </a:p>
        </p:txBody>
      </p:sp>
      <p:sp>
        <p:nvSpPr>
          <p:cNvPr id="1425"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26"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27"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428"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C++20</a:t>
            </a:r>
            <a:endParaRPr b="0" lang="en-US" sz="1300" spc="-1" strike="noStrike">
              <a:solidFill>
                <a:srgbClr val="ffffff"/>
              </a:solidFill>
              <a:latin typeface="Arial"/>
            </a:endParaRPr>
          </a:p>
        </p:txBody>
      </p:sp>
      <p:sp>
        <p:nvSpPr>
          <p:cNvPr id="1429"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template&lt;typename T&gt;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concept Addable = requires(T a, T b)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a + b } -&gt; std::same_as&lt;T&gt;;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template&lt;Addable T&gt; T sum(T a, T b);</a:t>
            </a:r>
            <a:endParaRPr b="0" lang="en-US" sz="1200" spc="-1" strike="noStrike">
              <a:solidFill>
                <a:srgbClr val="ffffff"/>
              </a:solidFill>
              <a:latin typeface="Arial"/>
            </a:endParaRPr>
          </a:p>
        </p:txBody>
      </p:sp>
      <p:sp>
        <p:nvSpPr>
          <p:cNvPr id="1430"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C++20 concepts bring exactly this idea to C++: named, checked constraints with clear error messages at the definition site.</a:t>
            </a:r>
            <a:endParaRPr b="0" lang="en-US" sz="1100" spc="-1" strike="noStrike">
              <a:solidFill>
                <a:srgbClr val="ffffff"/>
              </a:solidFill>
              <a:latin typeface="Arial"/>
            </a:endParaRPr>
          </a:p>
        </p:txBody>
      </p:sp>
      <p:sp>
        <p:nvSpPr>
          <p:cNvPr id="1431"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32"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33"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434"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435"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fn sum&lt;T: Add&lt;Output = T&gt;&gt;(a: T, b: T) -&gt; 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 + b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same concept, arrived at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independently, years earlier</a:t>
            </a:r>
            <a:endParaRPr b="0" lang="en-US" sz="1200" spc="-1" strike="noStrike">
              <a:solidFill>
                <a:srgbClr val="ffffff"/>
              </a:solidFill>
              <a:latin typeface="Arial"/>
            </a:endParaRPr>
          </a:p>
        </p:txBody>
      </p:sp>
      <p:sp>
        <p:nvSpPr>
          <p:cNvPr id="1436"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Rust's trait bounds predate concepts by years and were part of the design from the start, rather than a later addition to the language.</a:t>
            </a:r>
            <a:endParaRPr b="0" lang="en-US" sz="1100" spc="-1" strike="noStrike">
              <a:solidFill>
                <a:srgbClr val="ffffff"/>
              </a:solidFill>
              <a:latin typeface="Arial"/>
            </a:endParaRPr>
          </a:p>
        </p:txBody>
      </p:sp>
      <p:sp>
        <p:nvSpPr>
          <p:cNvPr id="1437"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38"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This is one honest case where C++ has largely caught up. If your team already uses C++20 concepts well, this transition will feel natural.</a:t>
            </a:r>
            <a:endParaRPr b="0" lang="en-US" sz="1150" spc="-1" strike="noStrike">
              <a:solidFill>
                <a:srgbClr val="ffffff"/>
              </a:solidFill>
              <a:latin typeface="Arial"/>
            </a:endParaRPr>
          </a:p>
        </p:txBody>
      </p:sp>
      <p:sp>
        <p:nvSpPr>
          <p:cNvPr id="1439"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440"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95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441"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TRAITS &amp; GENERICS</a:t>
            </a:r>
            <a:endParaRPr b="0" lang="en-US" sz="1300" spc="-1" strike="noStrike">
              <a:solidFill>
                <a:srgbClr val="ffffff"/>
              </a:solidFill>
              <a:latin typeface="Arial"/>
            </a:endParaRPr>
          </a:p>
        </p:txBody>
      </p:sp>
      <p:sp>
        <p:nvSpPr>
          <p:cNvPr id="1442"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Template specialization vs. per-type impl blocks</a:t>
            </a:r>
            <a:endParaRPr b="0" lang="en-US" sz="2800" spc="-1" strike="noStrike">
              <a:solidFill>
                <a:srgbClr val="ffffff"/>
              </a:solidFill>
              <a:latin typeface="Arial"/>
            </a:endParaRPr>
          </a:p>
        </p:txBody>
      </p:sp>
      <p:sp>
        <p:nvSpPr>
          <p:cNvPr id="1443"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44"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45"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446"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447"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template&lt;typename T&gt; struct Printer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static void go(T v) { std::cout&lt;&lt;v;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template&lt;&gt; struct Printer&lt;bool&gt;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static void go(bool v) { ... } // full spec.</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1448"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Full specialization is standard; partial specialization is supported but limited and sometimes surprising in its resolution order.</a:t>
            </a:r>
            <a:endParaRPr b="0" lang="en-US" sz="1100" spc="-1" strike="noStrike">
              <a:solidFill>
                <a:srgbClr val="ffffff"/>
              </a:solidFill>
              <a:latin typeface="Arial"/>
            </a:endParaRPr>
          </a:p>
        </p:txBody>
      </p:sp>
      <p:sp>
        <p:nvSpPr>
          <p:cNvPr id="1449"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50"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51"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452"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453"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trait Print { fn go(&amp;self);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impl Print for bool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fn go(&amp;self) { ...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one impl per (trait, type) pair,</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no partial specialization</a:t>
            </a:r>
            <a:endParaRPr b="0" lang="en-US" sz="1200" spc="-1" strike="noStrike">
              <a:solidFill>
                <a:srgbClr val="ffffff"/>
              </a:solidFill>
              <a:latin typeface="Arial"/>
            </a:endParaRPr>
          </a:p>
        </p:txBody>
      </p:sp>
      <p:sp>
        <p:nvSpPr>
          <p:cNvPr id="1454"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You implement a trait once per concrete type. There's no specialization ordering to reason about — exactly one applicable impl exists.</a:t>
            </a:r>
            <a:endParaRPr b="0" lang="en-US" sz="1100" spc="-1" strike="noStrike">
              <a:solidFill>
                <a:srgbClr val="ffffff"/>
              </a:solidFill>
              <a:latin typeface="Arial"/>
            </a:endParaRPr>
          </a:p>
        </p:txBody>
      </p:sp>
      <p:sp>
        <p:nvSpPr>
          <p:cNvPr id="1455"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56"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Trading specialization's flexibility for a simpler mental model: which impl runs is never ambiguous or order-dependent.</a:t>
            </a:r>
            <a:endParaRPr b="0" lang="en-US" sz="1150" spc="-1" strike="noStrike">
              <a:solidFill>
                <a:srgbClr val="ffffff"/>
              </a:solidFill>
              <a:latin typeface="Arial"/>
            </a:endParaRPr>
          </a:p>
        </p:txBody>
      </p:sp>
      <p:sp>
        <p:nvSpPr>
          <p:cNvPr id="1457"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458"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96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459"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TRAITS &amp; GENERICS</a:t>
            </a:r>
            <a:endParaRPr b="0" lang="en-US" sz="1300" spc="-1" strike="noStrike">
              <a:solidFill>
                <a:srgbClr val="ffffff"/>
              </a:solidFill>
              <a:latin typeface="Arial"/>
            </a:endParaRPr>
          </a:p>
        </p:txBody>
      </p:sp>
      <p:sp>
        <p:nvSpPr>
          <p:cNvPr id="1460"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Trait objects: dynamic dispatch, explicitly</a:t>
            </a:r>
            <a:endParaRPr b="0" lang="en-US" sz="2800" spc="-1" strike="noStrike">
              <a:solidFill>
                <a:srgbClr val="ffffff"/>
              </a:solidFill>
              <a:latin typeface="Arial"/>
            </a:endParaRPr>
          </a:p>
        </p:txBody>
      </p:sp>
      <p:sp>
        <p:nvSpPr>
          <p:cNvPr id="1461"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62"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63"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dyn Trait behind a reference or Box (e.g. Box&lt;dyn Shape&gt;)  </a:t>
            </a:r>
            <a:r>
              <a:rPr b="0" lang="en-US" sz="1200" spc="-1" strike="noStrike">
                <a:solidFill>
                  <a:srgbClr val="9aa4b8"/>
                </a:solidFill>
                <a:latin typeface="Arial"/>
                <a:ea typeface="Arial"/>
              </a:rPr>
              <a:t>gives you a vtable-based dynamic dispatch, just like a C++ virtual call.</a:t>
            </a:r>
            <a:endParaRPr b="0" lang="en-US" sz="1200" spc="-1" strike="noStrike">
              <a:solidFill>
                <a:srgbClr val="ffffff"/>
              </a:solidFill>
              <a:latin typeface="Arial"/>
            </a:endParaRPr>
          </a:p>
        </p:txBody>
      </p:sp>
      <p:sp>
        <p:nvSpPr>
          <p:cNvPr id="1464"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65"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66"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The distinction between static dispatch (generics, monomorphized, zero-cost)  </a:t>
            </a:r>
            <a:r>
              <a:rPr b="0" lang="en-US" sz="1200" spc="-1" strike="noStrike">
                <a:solidFill>
                  <a:srgbClr val="9aa4b8"/>
                </a:solidFill>
                <a:latin typeface="Arial"/>
                <a:ea typeface="Arial"/>
              </a:rPr>
              <a:t>and dynamic dispatch (dyn, one vtable indirection) is explicit in the type.</a:t>
            </a:r>
            <a:endParaRPr b="0" lang="en-US" sz="1200" spc="-1" strike="noStrike">
              <a:solidFill>
                <a:srgbClr val="ffffff"/>
              </a:solidFill>
              <a:latin typeface="Arial"/>
            </a:endParaRPr>
          </a:p>
        </p:txBody>
      </p:sp>
      <p:sp>
        <p:nvSpPr>
          <p:cNvPr id="1467"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68"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69"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You choose per call site, rather than every virtual method paying the indirection  </a:t>
            </a:r>
            <a:r>
              <a:rPr b="0" lang="en-US" sz="1200" spc="-1" strike="noStrike">
                <a:solidFill>
                  <a:srgbClr val="9aa4b8"/>
                </a:solidFill>
                <a:latin typeface="Arial"/>
                <a:ea typeface="Arial"/>
              </a:rPr>
              <a:t>whether you need it or not.</a:t>
            </a:r>
            <a:endParaRPr b="0" lang="en-US" sz="1200" spc="-1" strike="noStrike">
              <a:solidFill>
                <a:srgbClr val="ffffff"/>
              </a:solidFill>
              <a:latin typeface="Arial"/>
            </a:endParaRPr>
          </a:p>
        </p:txBody>
      </p:sp>
      <p:sp>
        <p:nvSpPr>
          <p:cNvPr id="1470"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471"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97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47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TRAITS &amp; GENERICS</a:t>
            </a:r>
            <a:endParaRPr b="0" lang="en-US" sz="1300" spc="-1" strike="noStrike">
              <a:solidFill>
                <a:srgbClr val="ffffff"/>
              </a:solidFill>
              <a:latin typeface="Arial"/>
            </a:endParaRPr>
          </a:p>
        </p:txBody>
      </p:sp>
      <p:sp>
        <p:nvSpPr>
          <p:cNvPr id="1473"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CRTP vs. default trait methods</a:t>
            </a:r>
            <a:endParaRPr b="0" lang="en-US" sz="2800" spc="-1" strike="noStrike">
              <a:solidFill>
                <a:srgbClr val="ffffff"/>
              </a:solidFill>
              <a:latin typeface="Arial"/>
            </a:endParaRPr>
          </a:p>
        </p:txBody>
      </p:sp>
      <p:sp>
        <p:nvSpPr>
          <p:cNvPr id="1474"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75"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76"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477"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478"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template&lt;typename Derived&gt;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class Base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public:</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void interface()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static_cast&lt;Derived*&gt;(this)-&gt;impl();</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1479"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The Curiously Recurring Template Pattern fakes static polymorphism through inheritance — clever, but notoriously hard to read for newcomers.</a:t>
            </a:r>
            <a:endParaRPr b="0" lang="en-US" sz="1100" spc="-1" strike="noStrike">
              <a:solidFill>
                <a:srgbClr val="ffffff"/>
              </a:solidFill>
              <a:latin typeface="Arial"/>
            </a:endParaRPr>
          </a:p>
        </p:txBody>
      </p:sp>
      <p:sp>
        <p:nvSpPr>
          <p:cNvPr id="1480"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81"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82"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483"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484"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trait Interface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fn impl_(&amp;self);</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fn interface(&amp;self) { self.impl_();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default method calling a</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required one — no CRTP needed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1485"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A trait's default method can call another (required) method on the same trait directly — the same capability CRTP works around, natively.</a:t>
            </a:r>
            <a:endParaRPr b="0" lang="en-US" sz="1100" spc="-1" strike="noStrike">
              <a:solidFill>
                <a:srgbClr val="ffffff"/>
              </a:solidFill>
              <a:latin typeface="Arial"/>
            </a:endParaRPr>
          </a:p>
        </p:txBody>
      </p:sp>
      <p:sp>
        <p:nvSpPr>
          <p:cNvPr id="1486"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87"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What takes a template trick to express in C++ is a first-class, readable language feature in Rust.</a:t>
            </a:r>
            <a:endParaRPr b="0" lang="en-US" sz="1150" spc="-1" strike="noStrike">
              <a:solidFill>
                <a:srgbClr val="ffffff"/>
              </a:solidFill>
              <a:latin typeface="Arial"/>
            </a:endParaRPr>
          </a:p>
        </p:txBody>
      </p:sp>
      <p:sp>
        <p:nvSpPr>
          <p:cNvPr id="1488"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489"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98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490"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TRAITS &amp; GENERICS</a:t>
            </a:r>
            <a:endParaRPr b="0" lang="en-US" sz="1300" spc="-1" strike="noStrike">
              <a:solidFill>
                <a:srgbClr val="ffffff"/>
              </a:solidFill>
              <a:latin typeface="Arial"/>
            </a:endParaRPr>
          </a:p>
        </p:txBody>
      </p:sp>
      <p:sp>
        <p:nvSpPr>
          <p:cNvPr id="1491"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Derive macros vs. hand-written boilerplate</a:t>
            </a:r>
            <a:endParaRPr b="0" lang="en-US" sz="2800" spc="-1" strike="noStrike">
              <a:solidFill>
                <a:srgbClr val="ffffff"/>
              </a:solidFill>
              <a:latin typeface="Arial"/>
            </a:endParaRPr>
          </a:p>
        </p:txBody>
      </p:sp>
      <p:sp>
        <p:nvSpPr>
          <p:cNvPr id="1492"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93"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94"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#[derive(Debug, Clone, PartialEq, Hash)]  </a:t>
            </a:r>
            <a:r>
              <a:rPr b="0" lang="en-US" sz="1200" spc="-1" strike="noStrike">
                <a:solidFill>
                  <a:srgbClr val="9aa4b8"/>
                </a:solidFill>
                <a:latin typeface="Arial"/>
                <a:ea typeface="Arial"/>
              </a:rPr>
              <a:t>generates those trait implementations automatically from the struct's fields.</a:t>
            </a:r>
            <a:endParaRPr b="0" lang="en-US" sz="1200" spc="-1" strike="noStrike">
              <a:solidFill>
                <a:srgbClr val="ffffff"/>
              </a:solidFill>
              <a:latin typeface="Arial"/>
            </a:endParaRPr>
          </a:p>
        </p:txBody>
      </p:sp>
      <p:sp>
        <p:nvSpPr>
          <p:cNvPr id="1495"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96"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97"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Compare to hand-writing operator&lt;&lt;, a copy constructor, operator==, and a hash specialization  </a:t>
            </a:r>
            <a:r>
              <a:rPr b="0" lang="en-US" sz="1200" spc="-1" strike="noStrike">
                <a:solidFill>
                  <a:srgbClr val="9aa4b8"/>
                </a:solidFill>
                <a:latin typeface="Arial"/>
                <a:ea typeface="Arial"/>
              </a:rPr>
              <a:t>for every struct in a C++ codebase.</a:t>
            </a:r>
            <a:endParaRPr b="0" lang="en-US" sz="1200" spc="-1" strike="noStrike">
              <a:solidFill>
                <a:srgbClr val="ffffff"/>
              </a:solidFill>
              <a:latin typeface="Arial"/>
            </a:endParaRPr>
          </a:p>
        </p:txBody>
      </p:sp>
      <p:sp>
        <p:nvSpPr>
          <p:cNvPr id="1498"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99"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00"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Because it's a macro over the AST, the generated code is exactly as correct as the fields say it should be  </a:t>
            </a:r>
            <a:r>
              <a:rPr b="0" lang="en-US" sz="1200" spc="-1" strike="noStrike">
                <a:solidFill>
                  <a:srgbClr val="9aa4b8"/>
                </a:solidFill>
                <a:latin typeface="Arial"/>
                <a:ea typeface="Arial"/>
              </a:rPr>
              <a:t>— no risk of a stale, hand-maintained operator== drifting from the struct's actual fields.</a:t>
            </a:r>
            <a:endParaRPr b="0" lang="en-US" sz="1200" spc="-1" strike="noStrike">
              <a:solidFill>
                <a:srgbClr val="ffffff"/>
              </a:solidFill>
              <a:latin typeface="Arial"/>
            </a:endParaRPr>
          </a:p>
        </p:txBody>
      </p:sp>
      <p:sp>
        <p:nvSpPr>
          <p:cNvPr id="1501"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502"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99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503" name="Shape 0"/>
          <p:cNvSpPr/>
          <p:nvPr/>
        </p:nvSpPr>
        <p:spPr>
          <a:xfrm>
            <a:off x="548640" y="2651760"/>
            <a:ext cx="1370160" cy="1370160"/>
          </a:xfrm>
          <a:prstGeom prst="roundRect">
            <a:avLst>
              <a:gd name="adj" fmla="val 6667"/>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04" name="Text 1"/>
          <p:cNvSpPr/>
          <p:nvPr/>
        </p:nvSpPr>
        <p:spPr>
          <a:xfrm>
            <a:off x="548640" y="2651760"/>
            <a:ext cx="1370160" cy="1370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400" spc="-1" strike="noStrike">
                <a:solidFill>
                  <a:srgbClr val="e8804f"/>
                </a:solidFill>
                <a:latin typeface="Consolas"/>
                <a:ea typeface="Consolas"/>
              </a:rPr>
              <a:t>10</a:t>
            </a:r>
            <a:endParaRPr b="0" lang="en-US" sz="3400" spc="-1" strike="noStrike">
              <a:solidFill>
                <a:srgbClr val="ffffff"/>
              </a:solidFill>
              <a:latin typeface="Arial"/>
            </a:endParaRPr>
          </a:p>
        </p:txBody>
      </p:sp>
      <p:sp>
        <p:nvSpPr>
          <p:cNvPr id="1505" name="Text 2"/>
          <p:cNvSpPr/>
          <p:nvPr/>
        </p:nvSpPr>
        <p:spPr>
          <a:xfrm>
            <a:off x="2194560" y="2743200"/>
            <a:ext cx="932544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Error Handling</a:t>
            </a:r>
            <a:endParaRPr b="0" lang="en-US" sz="2800" spc="-1" strike="noStrike">
              <a:solidFill>
                <a:srgbClr val="ffffff"/>
              </a:solidFill>
              <a:latin typeface="Arial"/>
            </a:endParaRPr>
          </a:p>
        </p:txBody>
      </p:sp>
      <p:sp>
        <p:nvSpPr>
          <p:cNvPr id="1506" name="Text 3"/>
          <p:cNvSpPr/>
          <p:nvPr/>
        </p:nvSpPr>
        <p:spPr>
          <a:xfrm>
            <a:off x="2194560" y="3474720"/>
            <a:ext cx="8959680" cy="547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50" spc="-1" strike="noStrike">
                <a:solidFill>
                  <a:srgbClr val="9aa4b8"/>
                </a:solidFill>
                <a:latin typeface="Arial"/>
                <a:ea typeface="Arial"/>
              </a:rPr>
              <a:t>Result, the ? operator, and when panicking is the right call</a:t>
            </a:r>
            <a:endParaRPr b="0" lang="en-US" sz="1350" spc="-1" strike="noStrike">
              <a:solidFill>
                <a:srgbClr val="ffffff"/>
              </a:solidFill>
              <a:latin typeface="Arial"/>
            </a:endParaRPr>
          </a:p>
        </p:txBody>
      </p:sp>
      <p:sp>
        <p:nvSpPr>
          <p:cNvPr id="1507" name="Text 4"/>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508" name="Text 5"/>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100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509"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ERROR HANDLING</a:t>
            </a:r>
            <a:endParaRPr b="0" lang="en-US" sz="1300" spc="-1" strike="noStrike">
              <a:solidFill>
                <a:srgbClr val="ffffff"/>
              </a:solidFill>
              <a:latin typeface="Arial"/>
            </a:endParaRPr>
          </a:p>
        </p:txBody>
      </p:sp>
      <p:sp>
        <p:nvSpPr>
          <p:cNvPr id="1510"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Exception hierarchies vs. error enums</a:t>
            </a:r>
            <a:endParaRPr b="0" lang="en-US" sz="2800" spc="-1" strike="noStrike">
              <a:solidFill>
                <a:srgbClr val="ffffff"/>
              </a:solidFill>
              <a:latin typeface="Arial"/>
            </a:endParaRPr>
          </a:p>
        </p:txBody>
      </p:sp>
      <p:sp>
        <p:nvSpPr>
          <p:cNvPr id="1511"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12"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13"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514"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515"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class NetworkError : public</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std::runtime_error { ...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class TimeoutError : public</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NetworkError { ...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catch(const std::exception&amp;)</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catches everything, maybe too much</a:t>
            </a:r>
            <a:endParaRPr b="0" lang="en-US" sz="1200" spc="-1" strike="noStrike">
              <a:solidFill>
                <a:srgbClr val="ffffff"/>
              </a:solidFill>
              <a:latin typeface="Arial"/>
            </a:endParaRPr>
          </a:p>
        </p:txBody>
      </p:sp>
      <p:sp>
        <p:nvSpPr>
          <p:cNvPr id="1516"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Exception hierarchies let you catch broadly or narrowly, but catch(...) or catch(const std::exception&amp;) can silently swallow more than intended.</a:t>
            </a:r>
            <a:endParaRPr b="0" lang="en-US" sz="1100" spc="-1" strike="noStrike">
              <a:solidFill>
                <a:srgbClr val="ffffff"/>
              </a:solidFill>
              <a:latin typeface="Arial"/>
            </a:endParaRPr>
          </a:p>
        </p:txBody>
      </p:sp>
      <p:sp>
        <p:nvSpPr>
          <p:cNvPr id="1517"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18"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19"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520"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521"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enum NetworkError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Timeout,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ConnectionRefused,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DnsFailure(String),</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match forces you to consider</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each case, or explicitly ignore</a:t>
            </a:r>
            <a:endParaRPr b="0" lang="en-US" sz="1200" spc="-1" strike="noStrike">
              <a:solidFill>
                <a:srgbClr val="ffffff"/>
              </a:solidFill>
              <a:latin typeface="Arial"/>
            </a:endParaRPr>
          </a:p>
        </p:txBody>
      </p:sp>
      <p:sp>
        <p:nvSpPr>
          <p:cNvPr id="1522"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An error enum lists every failure mode as a closed set. Handling it via match either covers every case or explicitly opts into a wildcard.</a:t>
            </a:r>
            <a:endParaRPr b="0" lang="en-US" sz="1100" spc="-1" strike="noStrike">
              <a:solidFill>
                <a:srgbClr val="ffffff"/>
              </a:solidFill>
              <a:latin typeface="Arial"/>
            </a:endParaRPr>
          </a:p>
        </p:txBody>
      </p:sp>
      <p:sp>
        <p:nvSpPr>
          <p:cNvPr id="1523"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24"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A closed enum of error variants is easier to reason about exhaustively than an open-ended class hierarchy that any code can extend.</a:t>
            </a:r>
            <a:endParaRPr b="0" lang="en-US" sz="1150" spc="-1" strike="noStrike">
              <a:solidFill>
                <a:srgbClr val="ffffff"/>
              </a:solidFill>
              <a:latin typeface="Arial"/>
            </a:endParaRPr>
          </a:p>
        </p:txBody>
      </p:sp>
      <p:sp>
        <p:nvSpPr>
          <p:cNvPr id="1525"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526"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101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527"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ERROR HANDLING</a:t>
            </a:r>
            <a:endParaRPr b="0" lang="en-US" sz="1300" spc="-1" strike="noStrike">
              <a:solidFill>
                <a:srgbClr val="ffffff"/>
              </a:solidFill>
              <a:latin typeface="Arial"/>
            </a:endParaRPr>
          </a:p>
        </p:txBody>
      </p:sp>
      <p:sp>
        <p:nvSpPr>
          <p:cNvPr id="1528"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noexcept vs. the Result signature</a:t>
            </a:r>
            <a:endParaRPr b="0" lang="en-US" sz="2800" spc="-1" strike="noStrike">
              <a:solidFill>
                <a:srgbClr val="ffffff"/>
              </a:solidFill>
              <a:latin typeface="Arial"/>
            </a:endParaRPr>
          </a:p>
        </p:txBody>
      </p:sp>
      <p:sp>
        <p:nvSpPr>
          <p:cNvPr id="1529"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30"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31"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532"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533"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void save(std::string path) noexcept;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noexcept is a promise — violating</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it calls std::terminate,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often far from the actual bug</a:t>
            </a:r>
            <a:endParaRPr b="0" lang="en-US" sz="1200" spc="-1" strike="noStrike">
              <a:solidFill>
                <a:srgbClr val="ffffff"/>
              </a:solidFill>
              <a:latin typeface="Arial"/>
            </a:endParaRPr>
          </a:p>
        </p:txBody>
      </p:sp>
      <p:sp>
        <p:nvSpPr>
          <p:cNvPr id="1534"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noexcept documents intent but isn't verified by the compiler at the call sites of everything it calls — a violation is a runtime crash.</a:t>
            </a:r>
            <a:endParaRPr b="0" lang="en-US" sz="1100" spc="-1" strike="noStrike">
              <a:solidFill>
                <a:srgbClr val="ffffff"/>
              </a:solidFill>
              <a:latin typeface="Arial"/>
            </a:endParaRPr>
          </a:p>
        </p:txBody>
      </p:sp>
      <p:sp>
        <p:nvSpPr>
          <p:cNvPr id="1535"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36"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37"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538"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539"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fn save(path: &amp;str) -&gt; Result&lt;(), Error&gt;;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the signature is verified: every</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call to a fallible function inside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must be explicitly handled</a:t>
            </a:r>
            <a:endParaRPr b="0" lang="en-US" sz="1200" spc="-1" strike="noStrike">
              <a:solidFill>
                <a:srgbClr val="ffffff"/>
              </a:solidFill>
              <a:latin typeface="Arial"/>
            </a:endParaRPr>
          </a:p>
        </p:txBody>
      </p:sp>
      <p:sp>
        <p:nvSpPr>
          <p:cNvPr id="1540"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The Result in the return type isn't a promise — it's enforced. Every fallible call inside the function must be handled or propagated.</a:t>
            </a:r>
            <a:endParaRPr b="0" lang="en-US" sz="1100" spc="-1" strike="noStrike">
              <a:solidFill>
                <a:srgbClr val="ffffff"/>
              </a:solidFill>
              <a:latin typeface="Arial"/>
            </a:endParaRPr>
          </a:p>
        </p:txBody>
      </p:sp>
      <p:sp>
        <p:nvSpPr>
          <p:cNvPr id="1541"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42"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Rust doesn't have an equivalent to noexcept as an unenforced promise, because Result makes fallibility a checked part of the signature.</a:t>
            </a:r>
            <a:endParaRPr b="0" lang="en-US" sz="1150" spc="-1" strike="noStrike">
              <a:solidFill>
                <a:srgbClr val="ffffff"/>
              </a:solidFill>
              <a:latin typeface="Arial"/>
            </a:endParaRPr>
          </a:p>
        </p:txBody>
      </p:sp>
      <p:sp>
        <p:nvSpPr>
          <p:cNvPr id="1543"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544"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102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545"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ERROR HANDLING</a:t>
            </a:r>
            <a:endParaRPr b="0" lang="en-US" sz="1300" spc="-1" strike="noStrike">
              <a:solidFill>
                <a:srgbClr val="ffffff"/>
              </a:solidFill>
              <a:latin typeface="Arial"/>
            </a:endParaRPr>
          </a:p>
        </p:txBody>
      </p:sp>
      <p:sp>
        <p:nvSpPr>
          <p:cNvPr id="1546"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 operator: propagation without boilerplate</a:t>
            </a:r>
            <a:endParaRPr b="0" lang="en-US" sz="2800" spc="-1" strike="noStrike">
              <a:solidFill>
                <a:srgbClr val="ffffff"/>
              </a:solidFill>
              <a:latin typeface="Arial"/>
            </a:endParaRPr>
          </a:p>
        </p:txBody>
      </p:sp>
      <p:sp>
        <p:nvSpPr>
          <p:cNvPr id="1547"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48"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49"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let x = might_fail()?;  </a:t>
            </a:r>
            <a:r>
              <a:rPr b="0" lang="en-US" sz="1200" spc="-1" strike="noStrike">
                <a:solidFill>
                  <a:srgbClr val="9aa4b8"/>
                </a:solidFill>
                <a:latin typeface="Arial"/>
                <a:ea typeface="Arial"/>
              </a:rPr>
              <a:t>runs might_fail(); on Err, it returns early from the current function with that error.</a:t>
            </a:r>
            <a:endParaRPr b="0" lang="en-US" sz="1200" spc="-1" strike="noStrike">
              <a:solidFill>
                <a:srgbClr val="ffffff"/>
              </a:solidFill>
              <a:latin typeface="Arial"/>
            </a:endParaRPr>
          </a:p>
        </p:txBody>
      </p:sp>
      <p:sp>
        <p:nvSpPr>
          <p:cNvPr id="1550"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51"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52"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This replaces the C++ pattern of catching an exception just to rethrow it,  </a:t>
            </a:r>
            <a:r>
              <a:rPr b="0" lang="en-US" sz="1200" spc="-1" strike="noStrike">
                <a:solidFill>
                  <a:srgbClr val="9aa4b8"/>
                </a:solidFill>
                <a:latin typeface="Arial"/>
                <a:ea typeface="Arial"/>
              </a:rPr>
              <a:t>or manually checking and forwarding an error code at every call site.</a:t>
            </a:r>
            <a:endParaRPr b="0" lang="en-US" sz="1200" spc="-1" strike="noStrike">
              <a:solidFill>
                <a:srgbClr val="ffffff"/>
              </a:solidFill>
              <a:latin typeface="Arial"/>
            </a:endParaRPr>
          </a:p>
        </p:txBody>
      </p:sp>
      <p:sp>
        <p:nvSpPr>
          <p:cNvPr id="1553"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54"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55"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 composes cleanly with the From trait for automatic error-type conversion,  </a:t>
            </a:r>
            <a:r>
              <a:rPr b="0" lang="en-US" sz="1200" spc="-1" strike="noStrike">
                <a:solidFill>
                  <a:srgbClr val="9aa4b8"/>
                </a:solidFill>
                <a:latin typeface="Arial"/>
                <a:ea typeface="Arial"/>
              </a:rPr>
              <a:t>similar to how exception types convert via inheritance when caught by a base-class reference.</a:t>
            </a:r>
            <a:endParaRPr b="0" lang="en-US" sz="1200" spc="-1" strike="noStrike">
              <a:solidFill>
                <a:srgbClr val="ffffff"/>
              </a:solidFill>
              <a:latin typeface="Arial"/>
            </a:endParaRPr>
          </a:p>
        </p:txBody>
      </p:sp>
      <p:sp>
        <p:nvSpPr>
          <p:cNvPr id="1556"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557"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103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558"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ERROR HANDLING</a:t>
            </a:r>
            <a:endParaRPr b="0" lang="en-US" sz="1300" spc="-1" strike="noStrike">
              <a:solidFill>
                <a:srgbClr val="ffffff"/>
              </a:solidFill>
              <a:latin typeface="Arial"/>
            </a:endParaRPr>
          </a:p>
        </p:txBody>
      </p:sp>
      <p:sp>
        <p:nvSpPr>
          <p:cNvPr id="1559"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Unrecoverable errors: panic vs. abort/terminate</a:t>
            </a:r>
            <a:endParaRPr b="0" lang="en-US" sz="2800" spc="-1" strike="noStrike">
              <a:solidFill>
                <a:srgbClr val="ffffff"/>
              </a:solidFill>
              <a:latin typeface="Arial"/>
            </a:endParaRPr>
          </a:p>
        </p:txBody>
      </p:sp>
      <p:sp>
        <p:nvSpPr>
          <p:cNvPr id="1560"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61"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62"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563"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564"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assert(invariant_holds());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disabled in release builds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(NDEBUG) unless you're careful</a:t>
            </a:r>
            <a:endParaRPr b="0" lang="en-US" sz="1200" spc="-1" strike="noStrike">
              <a:solidFill>
                <a:srgbClr val="ffffff"/>
              </a:solidFill>
              <a:latin typeface="Arial"/>
            </a:endParaRPr>
          </a:p>
        </p:txBody>
      </p:sp>
      <p:sp>
        <p:nvSpPr>
          <p:cNvPr id="1565"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assert is commonly compiled out in release builds, meaning the safety net you tested against may not exist in production.</a:t>
            </a:r>
            <a:endParaRPr b="0" lang="en-US" sz="1100" spc="-1" strike="noStrike">
              <a:solidFill>
                <a:srgbClr val="ffffff"/>
              </a:solidFill>
              <a:latin typeface="Arial"/>
            </a:endParaRPr>
          </a:p>
        </p:txBody>
      </p:sp>
      <p:sp>
        <p:nvSpPr>
          <p:cNvPr id="1566"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67"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68"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569"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570"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assert!(invariant_holds());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debug_assert!(expensive_check());</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assert! always runs;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debug_assert! is opt-out only</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in debug builds</a:t>
            </a:r>
            <a:endParaRPr b="0" lang="en-US" sz="1200" spc="-1" strike="noStrike">
              <a:solidFill>
                <a:srgbClr val="ffffff"/>
              </a:solidFill>
              <a:latin typeface="Arial"/>
            </a:endParaRPr>
          </a:p>
        </p:txBody>
      </p:sp>
      <p:sp>
        <p:nvSpPr>
          <p:cNvPr id="1571"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assert! is never compiled away. debug_assert! is the opt-in-to-removal version, making the release-mode behavior a deliberate choice.</a:t>
            </a:r>
            <a:endParaRPr b="0" lang="en-US" sz="1100" spc="-1" strike="noStrike">
              <a:solidFill>
                <a:srgbClr val="ffffff"/>
              </a:solidFill>
              <a:latin typeface="Arial"/>
            </a:endParaRPr>
          </a:p>
        </p:txBody>
      </p:sp>
      <p:sp>
        <p:nvSpPr>
          <p:cNvPr id="1572"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73"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The safety-check-that-silently-vanishes-in-release problem is inverted: the default assert always fires; disabling it is the explicit choice.</a:t>
            </a:r>
            <a:endParaRPr b="0" lang="en-US" sz="1150" spc="-1" strike="noStrike">
              <a:solidFill>
                <a:srgbClr val="ffffff"/>
              </a:solidFill>
              <a:latin typeface="Arial"/>
            </a:endParaRPr>
          </a:p>
        </p:txBody>
      </p:sp>
      <p:sp>
        <p:nvSpPr>
          <p:cNvPr id="1574"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575"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104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576"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ERROR HANDLING</a:t>
            </a:r>
            <a:endParaRPr b="0" lang="en-US" sz="1300" spc="-1" strike="noStrike">
              <a:solidFill>
                <a:srgbClr val="ffffff"/>
              </a:solidFill>
              <a:latin typeface="Arial"/>
            </a:endParaRPr>
          </a:p>
        </p:txBody>
      </p:sp>
      <p:sp>
        <p:nvSpPr>
          <p:cNvPr id="1577"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ecosystem: anyhow and thiserror</a:t>
            </a:r>
            <a:endParaRPr b="0" lang="en-US" sz="2800" spc="-1" strike="noStrike">
              <a:solidFill>
                <a:srgbClr val="ffffff"/>
              </a:solidFill>
              <a:latin typeface="Arial"/>
            </a:endParaRPr>
          </a:p>
        </p:txBody>
      </p:sp>
      <p:sp>
        <p:nvSpPr>
          <p:cNvPr id="1578"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79"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80"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thiserror:  </a:t>
            </a:r>
            <a:r>
              <a:rPr b="0" lang="en-US" sz="1200" spc="-1" strike="noStrike">
                <a:solidFill>
                  <a:srgbClr val="9aa4b8"/>
                </a:solidFill>
                <a:latin typeface="Arial"/>
                <a:ea typeface="Arial"/>
              </a:rPr>
              <a:t>a derive macro for defining your own error enums with minimal boilerplate — for library code.</a:t>
            </a:r>
            <a:endParaRPr b="0" lang="en-US" sz="1200" spc="-1" strike="noStrike">
              <a:solidFill>
                <a:srgbClr val="ffffff"/>
              </a:solidFill>
              <a:latin typeface="Arial"/>
            </a:endParaRPr>
          </a:p>
        </p:txBody>
      </p:sp>
      <p:sp>
        <p:nvSpPr>
          <p:cNvPr id="1581"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82"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83"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anyhow:  </a:t>
            </a:r>
            <a:r>
              <a:rPr b="0" lang="en-US" sz="1200" spc="-1" strike="noStrike">
                <a:solidFill>
                  <a:srgbClr val="9aa4b8"/>
                </a:solidFill>
                <a:latin typeface="Arial"/>
                <a:ea typeface="Arial"/>
              </a:rPr>
              <a:t>a single, ergonomic catch-all error type for application code that doesn't need to distinguish error variants precisely.</a:t>
            </a:r>
            <a:endParaRPr b="0" lang="en-US" sz="1200" spc="-1" strike="noStrike">
              <a:solidFill>
                <a:srgbClr val="ffffff"/>
              </a:solidFill>
              <a:latin typeface="Arial"/>
            </a:endParaRPr>
          </a:p>
        </p:txBody>
      </p:sp>
      <p:sp>
        <p:nvSpPr>
          <p:cNvPr id="1584"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85"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86"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The standard library gives you the mechanism (Result, ?);  </a:t>
            </a:r>
            <a:r>
              <a:rPr b="0" lang="en-US" sz="1200" spc="-1" strike="noStrike">
                <a:solidFill>
                  <a:srgbClr val="9aa4b8"/>
                </a:solidFill>
                <a:latin typeface="Arial"/>
                <a:ea typeface="Arial"/>
              </a:rPr>
              <a:t>these crates are the community's answer to "what error type do I actually use."</a:t>
            </a:r>
            <a:endParaRPr b="0" lang="en-US" sz="1200" spc="-1" strike="noStrike">
              <a:solidFill>
                <a:srgbClr val="ffffff"/>
              </a:solidFill>
              <a:latin typeface="Arial"/>
            </a:endParaRPr>
          </a:p>
        </p:txBody>
      </p:sp>
      <p:sp>
        <p:nvSpPr>
          <p:cNvPr id="1587"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588"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105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589" name="Shape 0"/>
          <p:cNvSpPr/>
          <p:nvPr/>
        </p:nvSpPr>
        <p:spPr>
          <a:xfrm>
            <a:off x="548640" y="2651760"/>
            <a:ext cx="1370160" cy="1370160"/>
          </a:xfrm>
          <a:prstGeom prst="roundRect">
            <a:avLst>
              <a:gd name="adj" fmla="val 6667"/>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90" name="Text 1"/>
          <p:cNvSpPr/>
          <p:nvPr/>
        </p:nvSpPr>
        <p:spPr>
          <a:xfrm>
            <a:off x="548640" y="2651760"/>
            <a:ext cx="1370160" cy="1370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400" spc="-1" strike="noStrike">
                <a:solidFill>
                  <a:srgbClr val="e8804f"/>
                </a:solidFill>
                <a:latin typeface="Consolas"/>
                <a:ea typeface="Consolas"/>
              </a:rPr>
              <a:t>11</a:t>
            </a:r>
            <a:endParaRPr b="0" lang="en-US" sz="3400" spc="-1" strike="noStrike">
              <a:solidFill>
                <a:srgbClr val="ffffff"/>
              </a:solidFill>
              <a:latin typeface="Arial"/>
            </a:endParaRPr>
          </a:p>
        </p:txBody>
      </p:sp>
      <p:sp>
        <p:nvSpPr>
          <p:cNvPr id="1591" name="Text 2"/>
          <p:cNvSpPr/>
          <p:nvPr/>
        </p:nvSpPr>
        <p:spPr>
          <a:xfrm>
            <a:off x="2194560" y="2743200"/>
            <a:ext cx="932544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Collections &amp; Iterators</a:t>
            </a:r>
            <a:endParaRPr b="0" lang="en-US" sz="2800" spc="-1" strike="noStrike">
              <a:solidFill>
                <a:srgbClr val="ffffff"/>
              </a:solidFill>
              <a:latin typeface="Arial"/>
            </a:endParaRPr>
          </a:p>
        </p:txBody>
      </p:sp>
      <p:sp>
        <p:nvSpPr>
          <p:cNvPr id="1592" name="Text 3"/>
          <p:cNvSpPr/>
          <p:nvPr/>
        </p:nvSpPr>
        <p:spPr>
          <a:xfrm>
            <a:off x="2194560" y="3474720"/>
            <a:ext cx="8959680" cy="547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50" spc="-1" strike="noStrike">
                <a:solidFill>
                  <a:srgbClr val="9aa4b8"/>
                </a:solidFill>
                <a:latin typeface="Arial"/>
                <a:ea typeface="Arial"/>
              </a:rPr>
              <a:t>The STL, reshaped around ownership and zero-cost iteration</a:t>
            </a:r>
            <a:endParaRPr b="0" lang="en-US" sz="1350" spc="-1" strike="noStrike">
              <a:solidFill>
                <a:srgbClr val="ffffff"/>
              </a:solidFill>
              <a:latin typeface="Arial"/>
            </a:endParaRPr>
          </a:p>
        </p:txBody>
      </p:sp>
      <p:sp>
        <p:nvSpPr>
          <p:cNvPr id="1593" name="Text 4"/>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594" name="Text 5"/>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106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595"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COLLECTIONS</a:t>
            </a:r>
            <a:endParaRPr b="0" lang="en-US" sz="1300" spc="-1" strike="noStrike">
              <a:solidFill>
                <a:srgbClr val="ffffff"/>
              </a:solidFill>
              <a:latin typeface="Arial"/>
            </a:endParaRPr>
          </a:p>
        </p:txBody>
      </p:sp>
      <p:sp>
        <p:nvSpPr>
          <p:cNvPr id="1596"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std::vector vs. Vec&lt;T&gt;</a:t>
            </a:r>
            <a:endParaRPr b="0" lang="en-US" sz="2800" spc="-1" strike="noStrike">
              <a:solidFill>
                <a:srgbClr val="ffffff"/>
              </a:solidFill>
              <a:latin typeface="Arial"/>
            </a:endParaRPr>
          </a:p>
        </p:txBody>
      </p:sp>
      <p:sp>
        <p:nvSpPr>
          <p:cNvPr id="1597"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98"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99"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600"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601"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std::vector&lt;int&gt; v;</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v.push_back(1);</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v.reserve(100);</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for (auto&amp; x : v) { x *= 2; }</a:t>
            </a:r>
            <a:endParaRPr b="0" lang="en-US" sz="1200" spc="-1" strike="noStrike">
              <a:solidFill>
                <a:srgbClr val="ffffff"/>
              </a:solidFill>
              <a:latin typeface="Arial"/>
            </a:endParaRPr>
          </a:p>
        </p:txBody>
      </p:sp>
      <p:sp>
        <p:nvSpPr>
          <p:cNvPr id="1602"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A growable, contiguous, heap-allocated array. You already know this type intimately — the API surface below is deliberately close.</a:t>
            </a:r>
            <a:endParaRPr b="0" lang="en-US" sz="1100" spc="-1" strike="noStrike">
              <a:solidFill>
                <a:srgbClr val="ffffff"/>
              </a:solidFill>
              <a:latin typeface="Arial"/>
            </a:endParaRPr>
          </a:p>
        </p:txBody>
      </p:sp>
      <p:sp>
        <p:nvSpPr>
          <p:cNvPr id="1603"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04"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05"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606"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607"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let mut v: Vec&lt;i32&gt; = Vec::new();</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v.push(1);</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v.reserve(100);</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for x in v.iter_mut() { *x *= 2; }</a:t>
            </a:r>
            <a:endParaRPr b="0" lang="en-US" sz="1200" spc="-1" strike="noStrike">
              <a:solidFill>
                <a:srgbClr val="ffffff"/>
              </a:solidFill>
              <a:latin typeface="Arial"/>
            </a:endParaRPr>
          </a:p>
        </p:txBody>
      </p:sp>
      <p:sp>
        <p:nvSpPr>
          <p:cNvPr id="1608"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Vec&lt;T&gt; is the direct analogue: growable, contiguous, heap-allocated. push, reserve, and iteration map almost one-to-one.</a:t>
            </a:r>
            <a:endParaRPr b="0" lang="en-US" sz="1100" spc="-1" strike="noStrike">
              <a:solidFill>
                <a:srgbClr val="ffffff"/>
              </a:solidFill>
              <a:latin typeface="Arial"/>
            </a:endParaRPr>
          </a:p>
        </p:txBody>
      </p:sp>
      <p:sp>
        <p:nvSpPr>
          <p:cNvPr id="1609"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10"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This is one of the smoothest transitions in the whole language — Vec&lt;T&gt; behaves the way you'd expect std::vector to, plus borrow checking.</a:t>
            </a:r>
            <a:endParaRPr b="0" lang="en-US" sz="1150" spc="-1" strike="noStrike">
              <a:solidFill>
                <a:srgbClr val="ffffff"/>
              </a:solidFill>
              <a:latin typeface="Arial"/>
            </a:endParaRPr>
          </a:p>
        </p:txBody>
      </p:sp>
      <p:sp>
        <p:nvSpPr>
          <p:cNvPr id="1611"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612"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107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613"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COLLECTIONS</a:t>
            </a:r>
            <a:endParaRPr b="0" lang="en-US" sz="1300" spc="-1" strike="noStrike">
              <a:solidFill>
                <a:srgbClr val="ffffff"/>
              </a:solidFill>
              <a:latin typeface="Arial"/>
            </a:endParaRPr>
          </a:p>
        </p:txBody>
      </p:sp>
      <p:sp>
        <p:nvSpPr>
          <p:cNvPr id="1614"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Maps: ordered and unordered</a:t>
            </a:r>
            <a:endParaRPr b="0" lang="en-US" sz="2800" spc="-1" strike="noStrike">
              <a:solidFill>
                <a:srgbClr val="ffffff"/>
              </a:solidFill>
              <a:latin typeface="Arial"/>
            </a:endParaRPr>
          </a:p>
        </p:txBody>
      </p:sp>
      <p:sp>
        <p:nvSpPr>
          <p:cNvPr id="1615"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16"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17"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618"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619"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std::map&lt;std::string, int&gt; m;</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std::unordered_map&lt;std::string, int&gt; u;</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m["a"] = 1;</a:t>
            </a:r>
            <a:endParaRPr b="0" lang="en-US" sz="1200" spc="-1" strike="noStrike">
              <a:solidFill>
                <a:srgbClr val="ffffff"/>
              </a:solidFill>
              <a:latin typeface="Arial"/>
            </a:endParaRPr>
          </a:p>
        </p:txBody>
      </p:sp>
      <p:sp>
        <p:nvSpPr>
          <p:cNvPr id="1620"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std::map is a sorted tree (typically red-black); std::unordered_map is hash-based. Both are standard, well-understood containers.</a:t>
            </a:r>
            <a:endParaRPr b="0" lang="en-US" sz="1100" spc="-1" strike="noStrike">
              <a:solidFill>
                <a:srgbClr val="ffffff"/>
              </a:solidFill>
              <a:latin typeface="Arial"/>
            </a:endParaRPr>
          </a:p>
        </p:txBody>
      </p:sp>
      <p:sp>
        <p:nvSpPr>
          <p:cNvPr id="1621"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22"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23"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624"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625"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let mut m: BTreeMap&lt;String, i32&gt;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BTreeMap::new();</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let mut u: HashMap&lt;String, i32&gt;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HashMap::new();</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m.insert("a".to_string(), 1);</a:t>
            </a:r>
            <a:endParaRPr b="0" lang="en-US" sz="1200" spc="-1" strike="noStrike">
              <a:solidFill>
                <a:srgbClr val="ffffff"/>
              </a:solidFill>
              <a:latin typeface="Arial"/>
            </a:endParaRPr>
          </a:p>
        </p:txBody>
      </p:sp>
      <p:sp>
        <p:nvSpPr>
          <p:cNvPr id="1626"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BTreeMap mirrors std::map's sorted-order behavior; HashMap mirrors unordered_map. Insertion uses .insert() rather than operator[] for new keys.</a:t>
            </a:r>
            <a:endParaRPr b="0" lang="en-US" sz="1100" spc="-1" strike="noStrike">
              <a:solidFill>
                <a:srgbClr val="ffffff"/>
              </a:solidFill>
              <a:latin typeface="Arial"/>
            </a:endParaRPr>
          </a:p>
        </p:txBody>
      </p:sp>
      <p:sp>
        <p:nvSpPr>
          <p:cNvPr id="1627"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28"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The mental model transfers directly — pick BTreeMap when you need ordering, HashMap when you don't, exactly as you would in C++.</a:t>
            </a:r>
            <a:endParaRPr b="0" lang="en-US" sz="1150" spc="-1" strike="noStrike">
              <a:solidFill>
                <a:srgbClr val="ffffff"/>
              </a:solidFill>
              <a:latin typeface="Arial"/>
            </a:endParaRPr>
          </a:p>
        </p:txBody>
      </p:sp>
      <p:sp>
        <p:nvSpPr>
          <p:cNvPr id="1629"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630"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108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631"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COLLECTIONS</a:t>
            </a:r>
            <a:endParaRPr b="0" lang="en-US" sz="1300" spc="-1" strike="noStrike">
              <a:solidFill>
                <a:srgbClr val="ffffff"/>
              </a:solidFill>
              <a:latin typeface="Arial"/>
            </a:endParaRPr>
          </a:p>
        </p:txBody>
      </p:sp>
      <p:sp>
        <p:nvSpPr>
          <p:cNvPr id="1632"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&lt;algorithm&gt; vs. iterator adapters</a:t>
            </a:r>
            <a:endParaRPr b="0" lang="en-US" sz="2800" spc="-1" strike="noStrike">
              <a:solidFill>
                <a:srgbClr val="ffffff"/>
              </a:solidFill>
              <a:latin typeface="Arial"/>
            </a:endParaRPr>
          </a:p>
        </p:txBody>
      </p:sp>
      <p:sp>
        <p:nvSpPr>
          <p:cNvPr id="1633"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34"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35"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636"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637"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std::vector&lt;int&gt; out;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std::copy_if(v.begin(), v.end(),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std::back_inserter(out),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[](int x){ return x % 2 == 0; });</a:t>
            </a:r>
            <a:endParaRPr b="0" lang="en-US" sz="1200" spc="-1" strike="noStrike">
              <a:solidFill>
                <a:srgbClr val="ffffff"/>
              </a:solidFill>
              <a:latin typeface="Arial"/>
            </a:endParaRPr>
          </a:p>
        </p:txBody>
      </p:sp>
      <p:sp>
        <p:nvSpPr>
          <p:cNvPr id="1638"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The &lt;algorithm&gt; header's functions take iterator pairs and are powerful, but the begin()/end() plumbing adds visual noise to every call.</a:t>
            </a:r>
            <a:endParaRPr b="0" lang="en-US" sz="1100" spc="-1" strike="noStrike">
              <a:solidFill>
                <a:srgbClr val="ffffff"/>
              </a:solidFill>
              <a:latin typeface="Arial"/>
            </a:endParaRPr>
          </a:p>
        </p:txBody>
      </p:sp>
      <p:sp>
        <p:nvSpPr>
          <p:cNvPr id="1639"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40"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41"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642"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643"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let out: Vec&lt;i32&gt; = v.iter()</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.filter(|&amp;&amp;x| x % 2 == 0)</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.copied()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.collect();</a:t>
            </a:r>
            <a:endParaRPr b="0" lang="en-US" sz="1200" spc="-1" strike="noStrike">
              <a:solidFill>
                <a:srgbClr val="ffffff"/>
              </a:solidFill>
              <a:latin typeface="Arial"/>
            </a:endParaRPr>
          </a:p>
        </p:txBody>
      </p:sp>
      <p:sp>
        <p:nvSpPr>
          <p:cNvPr id="1644"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Iterator adapters chain as methods directly on the iterator, without separately naming begin and end each time. collect() gathers the result.</a:t>
            </a:r>
            <a:endParaRPr b="0" lang="en-US" sz="1100" spc="-1" strike="noStrike">
              <a:solidFill>
                <a:srgbClr val="ffffff"/>
              </a:solidFill>
              <a:latin typeface="Arial"/>
            </a:endParaRPr>
          </a:p>
        </p:txBody>
      </p:sp>
      <p:sp>
        <p:nvSpPr>
          <p:cNvPr id="1645"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46"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Both approaches are zero-cost at -O2/--release; Rust's method-chaining syntax reads closer to the pipeline it describes.</a:t>
            </a:r>
            <a:endParaRPr b="0" lang="en-US" sz="1150" spc="-1" strike="noStrike">
              <a:solidFill>
                <a:srgbClr val="ffffff"/>
              </a:solidFill>
              <a:latin typeface="Arial"/>
            </a:endParaRPr>
          </a:p>
        </p:txBody>
      </p:sp>
      <p:sp>
        <p:nvSpPr>
          <p:cNvPr id="1647"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648"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109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649"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COLLECTIONS &amp; ITERATORS</a:t>
            </a:r>
            <a:endParaRPr b="0" lang="en-US" sz="1300" spc="-1" strike="noStrike">
              <a:solidFill>
                <a:srgbClr val="ffffff"/>
              </a:solidFill>
              <a:latin typeface="Arial"/>
            </a:endParaRPr>
          </a:p>
        </p:txBody>
      </p:sp>
      <p:sp>
        <p:nvSpPr>
          <p:cNvPr id="1650"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Iterators are lazy, and the optimizer knows it</a:t>
            </a:r>
            <a:endParaRPr b="0" lang="en-US" sz="2800" spc="-1" strike="noStrike">
              <a:solidFill>
                <a:srgbClr val="ffffff"/>
              </a:solidFill>
              <a:latin typeface="Arial"/>
            </a:endParaRPr>
          </a:p>
        </p:txBody>
      </p:sp>
      <p:sp>
        <p:nvSpPr>
          <p:cNvPr id="1651"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52"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53"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An iterator chain like .filter().map().take(5) builds no intermediate collections —  </a:t>
            </a:r>
            <a:r>
              <a:rPr b="0" lang="en-US" sz="1200" spc="-1" strike="noStrike">
                <a:solidFill>
                  <a:srgbClr val="9aa4b8"/>
                </a:solidFill>
                <a:latin typeface="Arial"/>
                <a:ea typeface="Arial"/>
              </a:rPr>
              <a:t>each element flows through the whole pipeline before the next one starts.</a:t>
            </a:r>
            <a:endParaRPr b="0" lang="en-US" sz="1200" spc="-1" strike="noStrike">
              <a:solidFill>
                <a:srgbClr val="ffffff"/>
              </a:solidFill>
              <a:latin typeface="Arial"/>
            </a:endParaRPr>
          </a:p>
        </p:txBody>
      </p:sp>
      <p:sp>
        <p:nvSpPr>
          <p:cNvPr id="1654"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55"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56"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This is the same "zero-cost abstraction" philosophy C++ templates aim for,  </a:t>
            </a:r>
            <a:r>
              <a:rPr b="0" lang="en-US" sz="1200" spc="-1" strike="noStrike">
                <a:solidFill>
                  <a:srgbClr val="9aa4b8"/>
                </a:solidFill>
                <a:latin typeface="Arial"/>
                <a:ea typeface="Arial"/>
              </a:rPr>
              <a:t>verified in Rust's own benchmarks against equivalent hand-written loops.</a:t>
            </a:r>
            <a:endParaRPr b="0" lang="en-US" sz="1200" spc="-1" strike="noStrike">
              <a:solidFill>
                <a:srgbClr val="ffffff"/>
              </a:solidFill>
              <a:latin typeface="Arial"/>
            </a:endParaRPr>
          </a:p>
        </p:txBody>
      </p:sp>
      <p:sp>
        <p:nvSpPr>
          <p:cNvPr id="1657"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58"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59"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collect() is the point where laziness ends  </a:t>
            </a:r>
            <a:r>
              <a:rPr b="0" lang="en-US" sz="1200" spc="-1" strike="noStrike">
                <a:solidFill>
                  <a:srgbClr val="9aa4b8"/>
                </a:solidFill>
                <a:latin typeface="Arial"/>
                <a:ea typeface="Arial"/>
              </a:rPr>
              <a:t>and an actual concrete collection (Vec, HashMap, String, ...) gets built.</a:t>
            </a:r>
            <a:endParaRPr b="0" lang="en-US" sz="1200" spc="-1" strike="noStrike">
              <a:solidFill>
                <a:srgbClr val="ffffff"/>
              </a:solidFill>
              <a:latin typeface="Arial"/>
            </a:endParaRPr>
          </a:p>
        </p:txBody>
      </p:sp>
      <p:sp>
        <p:nvSpPr>
          <p:cNvPr id="1660"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661"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110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66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COLLECTIONS</a:t>
            </a:r>
            <a:endParaRPr b="0" lang="en-US" sz="1300" spc="-1" strike="noStrike">
              <a:solidFill>
                <a:srgbClr val="ffffff"/>
              </a:solidFill>
              <a:latin typeface="Arial"/>
            </a:endParaRPr>
          </a:p>
        </p:txBody>
      </p:sp>
      <p:sp>
        <p:nvSpPr>
          <p:cNvPr id="1663"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Range-based for vs. iterator methods</a:t>
            </a:r>
            <a:endParaRPr b="0" lang="en-US" sz="2800" spc="-1" strike="noStrike">
              <a:solidFill>
                <a:srgbClr val="ffffff"/>
              </a:solidFill>
              <a:latin typeface="Arial"/>
            </a:endParaRPr>
          </a:p>
        </p:txBody>
      </p:sp>
      <p:sp>
        <p:nvSpPr>
          <p:cNvPr id="1664"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65"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66"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667"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668"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std::vector&lt;int&gt; result;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for (auto&amp; x : v)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if (x &gt; 0) result.push_back(x * 2);</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1669"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A range-based for loop with manual filtering and transformation logic written out imperatively inside the loop body.</a:t>
            </a:r>
            <a:endParaRPr b="0" lang="en-US" sz="1100" spc="-1" strike="noStrike">
              <a:solidFill>
                <a:srgbClr val="ffffff"/>
              </a:solidFill>
              <a:latin typeface="Arial"/>
            </a:endParaRPr>
          </a:p>
        </p:txBody>
      </p:sp>
      <p:sp>
        <p:nvSpPr>
          <p:cNvPr id="1670"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71"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72"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673"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674"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let result: Vec&lt;i32&gt; = v.iter()</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.filter(|&amp;&amp;x| x &gt; 0)</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.map(|&amp;x| x * 2)</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.collect();</a:t>
            </a:r>
            <a:endParaRPr b="0" lang="en-US" sz="1200" spc="-1" strike="noStrike">
              <a:solidFill>
                <a:srgbClr val="ffffff"/>
              </a:solidFill>
              <a:latin typeface="Arial"/>
            </a:endParaRPr>
          </a:p>
        </p:txBody>
      </p:sp>
      <p:sp>
        <p:nvSpPr>
          <p:cNvPr id="1675"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The same operation expressed declaratively as a pipeline of named transformations, composed left to right.</a:t>
            </a:r>
            <a:endParaRPr b="0" lang="en-US" sz="1100" spc="-1" strike="noStrike">
              <a:solidFill>
                <a:srgbClr val="ffffff"/>
              </a:solidFill>
              <a:latin typeface="Arial"/>
            </a:endParaRPr>
          </a:p>
        </p:txBody>
      </p:sp>
      <p:sp>
        <p:nvSpPr>
          <p:cNvPr id="1676"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77"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Both compile to similar machine code; the iterator-chain version names each transformation step, which often reads more directly as intent.</a:t>
            </a:r>
            <a:endParaRPr b="0" lang="en-US" sz="1150" spc="-1" strike="noStrike">
              <a:solidFill>
                <a:srgbClr val="ffffff"/>
              </a:solidFill>
              <a:latin typeface="Arial"/>
            </a:endParaRPr>
          </a:p>
        </p:txBody>
      </p:sp>
      <p:sp>
        <p:nvSpPr>
          <p:cNvPr id="1678"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679"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111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680" name="Shape 0"/>
          <p:cNvSpPr/>
          <p:nvPr/>
        </p:nvSpPr>
        <p:spPr>
          <a:xfrm>
            <a:off x="548640" y="2651760"/>
            <a:ext cx="1370160" cy="1370160"/>
          </a:xfrm>
          <a:prstGeom prst="roundRect">
            <a:avLst>
              <a:gd name="adj" fmla="val 6667"/>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81" name="Text 1"/>
          <p:cNvSpPr/>
          <p:nvPr/>
        </p:nvSpPr>
        <p:spPr>
          <a:xfrm>
            <a:off x="548640" y="2651760"/>
            <a:ext cx="1370160" cy="1370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400" spc="-1" strike="noStrike">
                <a:solidFill>
                  <a:srgbClr val="e8804f"/>
                </a:solidFill>
                <a:latin typeface="Consolas"/>
                <a:ea typeface="Consolas"/>
              </a:rPr>
              <a:t>12</a:t>
            </a:r>
            <a:endParaRPr b="0" lang="en-US" sz="3400" spc="-1" strike="noStrike">
              <a:solidFill>
                <a:srgbClr val="ffffff"/>
              </a:solidFill>
              <a:latin typeface="Arial"/>
            </a:endParaRPr>
          </a:p>
        </p:txBody>
      </p:sp>
      <p:sp>
        <p:nvSpPr>
          <p:cNvPr id="1682" name="Text 2"/>
          <p:cNvSpPr/>
          <p:nvPr/>
        </p:nvSpPr>
        <p:spPr>
          <a:xfrm>
            <a:off x="2194560" y="2743200"/>
            <a:ext cx="932544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Modules &amp; Visibility</a:t>
            </a:r>
            <a:endParaRPr b="0" lang="en-US" sz="2800" spc="-1" strike="noStrike">
              <a:solidFill>
                <a:srgbClr val="ffffff"/>
              </a:solidFill>
              <a:latin typeface="Arial"/>
            </a:endParaRPr>
          </a:p>
        </p:txBody>
      </p:sp>
      <p:sp>
        <p:nvSpPr>
          <p:cNvPr id="1683" name="Text 3"/>
          <p:cNvSpPr/>
          <p:nvPr/>
        </p:nvSpPr>
        <p:spPr>
          <a:xfrm>
            <a:off x="2194560" y="3474720"/>
            <a:ext cx="8959680" cy="547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50" spc="-1" strike="noStrike">
                <a:solidFill>
                  <a:srgbClr val="9aa4b8"/>
                </a:solidFill>
                <a:latin typeface="Arial"/>
                <a:ea typeface="Arial"/>
              </a:rPr>
              <a:t>No headers, no ODR, no include guards</a:t>
            </a:r>
            <a:endParaRPr b="0" lang="en-US" sz="1350" spc="-1" strike="noStrike">
              <a:solidFill>
                <a:srgbClr val="ffffff"/>
              </a:solidFill>
              <a:latin typeface="Arial"/>
            </a:endParaRPr>
          </a:p>
        </p:txBody>
      </p:sp>
      <p:sp>
        <p:nvSpPr>
          <p:cNvPr id="1684" name="Text 4"/>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685" name="Text 5"/>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112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686"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MODULES</a:t>
            </a:r>
            <a:endParaRPr b="0" lang="en-US" sz="1300" spc="-1" strike="noStrike">
              <a:solidFill>
                <a:srgbClr val="ffffff"/>
              </a:solidFill>
              <a:latin typeface="Arial"/>
            </a:endParaRPr>
          </a:p>
        </p:txBody>
      </p:sp>
      <p:sp>
        <p:nvSpPr>
          <p:cNvPr id="1687"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Namespaces and headers vs. the mod system</a:t>
            </a:r>
            <a:endParaRPr b="0" lang="en-US" sz="2800" spc="-1" strike="noStrike">
              <a:solidFill>
                <a:srgbClr val="ffffff"/>
              </a:solidFill>
              <a:latin typeface="Arial"/>
            </a:endParaRPr>
          </a:p>
        </p:txBody>
      </p:sp>
      <p:sp>
        <p:nvSpPr>
          <p:cNvPr id="1688"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89"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90"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691"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692"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 widget.h</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namespace app { class Widget;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widget.cpp</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namespace app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class Widget { ...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1693"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Declarations live in a header, definitions in a source file, and namespaces group them logically — three concerns, three places.</a:t>
            </a:r>
            <a:endParaRPr b="0" lang="en-US" sz="1100" spc="-1" strike="noStrike">
              <a:solidFill>
                <a:srgbClr val="ffffff"/>
              </a:solidFill>
              <a:latin typeface="Arial"/>
            </a:endParaRPr>
          </a:p>
        </p:txBody>
      </p:sp>
      <p:sp>
        <p:nvSpPr>
          <p:cNvPr id="1694"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95"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96"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697"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698"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mod widget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pub struct Widget { ...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use widget::Widget;</a:t>
            </a:r>
            <a:endParaRPr b="0" lang="en-US" sz="1200" spc="-1" strike="noStrike">
              <a:solidFill>
                <a:srgbClr val="ffffff"/>
              </a:solidFill>
              <a:latin typeface="Arial"/>
            </a:endParaRPr>
          </a:p>
        </p:txBody>
      </p:sp>
      <p:sp>
        <p:nvSpPr>
          <p:cNvPr id="1699"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mod declares a module inline or in a separate file; pub controls visibility; there's no forward-declaration vs. definition split at all.</a:t>
            </a:r>
            <a:endParaRPr b="0" lang="en-US" sz="1100" spc="-1" strike="noStrike">
              <a:solidFill>
                <a:srgbClr val="ffffff"/>
              </a:solidFill>
              <a:latin typeface="Arial"/>
            </a:endParaRPr>
          </a:p>
        </p:txBody>
      </p:sp>
      <p:sp>
        <p:nvSpPr>
          <p:cNvPr id="1700"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01"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There's no header/implementation split to keep in sync, and therefore no class of bugs caused by them drifting apart.</a:t>
            </a:r>
            <a:endParaRPr b="0" lang="en-US" sz="1150" spc="-1" strike="noStrike">
              <a:solidFill>
                <a:srgbClr val="ffffff"/>
              </a:solidFill>
              <a:latin typeface="Arial"/>
            </a:endParaRPr>
          </a:p>
        </p:txBody>
      </p:sp>
      <p:sp>
        <p:nvSpPr>
          <p:cNvPr id="1702"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703"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113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704"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MODULES</a:t>
            </a:r>
            <a:endParaRPr b="0" lang="en-US" sz="1300" spc="-1" strike="noStrike">
              <a:solidFill>
                <a:srgbClr val="ffffff"/>
              </a:solidFill>
              <a:latin typeface="Arial"/>
            </a:endParaRPr>
          </a:p>
        </p:txBody>
      </p:sp>
      <p:sp>
        <p:nvSpPr>
          <p:cNvPr id="1705"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pImpl and translation units vs. crate privacy</a:t>
            </a:r>
            <a:endParaRPr b="0" lang="en-US" sz="2800" spc="-1" strike="noStrike">
              <a:solidFill>
                <a:srgbClr val="ffffff"/>
              </a:solidFill>
              <a:latin typeface="Arial"/>
            </a:endParaRPr>
          </a:p>
        </p:txBody>
      </p:sp>
      <p:sp>
        <p:nvSpPr>
          <p:cNvPr id="1706"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07"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08"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709"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710"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 hides implementation details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from the header, at the cost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of an extra heap allocation</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and indirection per call</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class Widget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struct Impl; std::unique_ptr&lt;Impl&gt; p;</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1711"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The pImpl idiom hides private implementation from consumers of a header — a common pattern to reduce compile-time coupling, at a real runtime cost.</a:t>
            </a:r>
            <a:endParaRPr b="0" lang="en-US" sz="1100" spc="-1" strike="noStrike">
              <a:solidFill>
                <a:srgbClr val="ffffff"/>
              </a:solidFill>
              <a:latin typeface="Arial"/>
            </a:endParaRPr>
          </a:p>
        </p:txBody>
      </p:sp>
      <p:sp>
        <p:nvSpPr>
          <p:cNvPr id="1712"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13"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14"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715"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716"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pub struct Widget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internal: InternalState, // private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field — invisible outside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this module, zero overhead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1717"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A private field is simply invisible outside its module — no indirection, no extra allocation, and no separate header to leak details through.</a:t>
            </a:r>
            <a:endParaRPr b="0" lang="en-US" sz="1100" spc="-1" strike="noStrike">
              <a:solidFill>
                <a:srgbClr val="ffffff"/>
              </a:solidFill>
              <a:latin typeface="Arial"/>
            </a:endParaRPr>
          </a:p>
        </p:txBody>
      </p:sp>
      <p:sp>
        <p:nvSpPr>
          <p:cNvPr id="1718"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19"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Encapsulation without an ABI-stability workaround: privacy is enforced by the module system, not purchased with an extra pointer indirection.</a:t>
            </a:r>
            <a:endParaRPr b="0" lang="en-US" sz="1150" spc="-1" strike="noStrike">
              <a:solidFill>
                <a:srgbClr val="ffffff"/>
              </a:solidFill>
              <a:latin typeface="Arial"/>
            </a:endParaRPr>
          </a:p>
        </p:txBody>
      </p:sp>
      <p:sp>
        <p:nvSpPr>
          <p:cNvPr id="1720"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721"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114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72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MODULES &amp; VISIBILITY</a:t>
            </a:r>
            <a:endParaRPr b="0" lang="en-US" sz="1300" spc="-1" strike="noStrike">
              <a:solidFill>
                <a:srgbClr val="ffffff"/>
              </a:solidFill>
              <a:latin typeface="Arial"/>
            </a:endParaRPr>
          </a:p>
        </p:txBody>
      </p:sp>
      <p:sp>
        <p:nvSpPr>
          <p:cNvPr id="1723"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What goes away entirely</a:t>
            </a:r>
            <a:endParaRPr b="0" lang="en-US" sz="2800" spc="-1" strike="noStrike">
              <a:solidFill>
                <a:srgbClr val="ffffff"/>
              </a:solidFill>
              <a:latin typeface="Arial"/>
            </a:endParaRPr>
          </a:p>
        </p:txBody>
      </p:sp>
      <p:sp>
        <p:nvSpPr>
          <p:cNvPr id="1724"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25"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26"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No #include guards or #pragma once:  </a:t>
            </a:r>
            <a:r>
              <a:rPr b="0" lang="en-US" sz="1200" spc="-1" strike="noStrike">
                <a:solidFill>
                  <a:srgbClr val="9aa4b8"/>
                </a:solidFill>
                <a:latin typeface="Arial"/>
                <a:ea typeface="Arial"/>
              </a:rPr>
              <a:t>the module system has no equivalent failure mode to guard against.</a:t>
            </a:r>
            <a:endParaRPr b="0" lang="en-US" sz="1200" spc="-1" strike="noStrike">
              <a:solidFill>
                <a:srgbClr val="ffffff"/>
              </a:solidFill>
              <a:latin typeface="Arial"/>
            </a:endParaRPr>
          </a:p>
        </p:txBody>
      </p:sp>
      <p:sp>
        <p:nvSpPr>
          <p:cNvPr id="1727"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28"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29"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No One Definition Rule violations from mismatched header versions across translation units:  </a:t>
            </a:r>
            <a:r>
              <a:rPr b="0" lang="en-US" sz="1200" spc="-1" strike="noStrike">
                <a:solidFill>
                  <a:srgbClr val="9aa4b8"/>
                </a:solidFill>
                <a:latin typeface="Arial"/>
                <a:ea typeface="Arial"/>
              </a:rPr>
              <a:t>the compiler processes one dependency graph, not textually-included copies.</a:t>
            </a:r>
            <a:endParaRPr b="0" lang="en-US" sz="1200" spc="-1" strike="noStrike">
              <a:solidFill>
                <a:srgbClr val="ffffff"/>
              </a:solidFill>
              <a:latin typeface="Arial"/>
            </a:endParaRPr>
          </a:p>
        </p:txBody>
      </p:sp>
      <p:sp>
        <p:nvSpPr>
          <p:cNvPr id="1730"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31"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32"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No forward declarations to keep synchronized with the real definition:  </a:t>
            </a:r>
            <a:r>
              <a:rPr b="0" lang="en-US" sz="1200" spc="-1" strike="noStrike">
                <a:solidFill>
                  <a:srgbClr val="9aa4b8"/>
                </a:solidFill>
                <a:latin typeface="Arial"/>
                <a:ea typeface="Arial"/>
              </a:rPr>
              <a:t>there's only one place a type is ever defined.</a:t>
            </a:r>
            <a:endParaRPr b="0" lang="en-US" sz="1200" spc="-1" strike="noStrike">
              <a:solidFill>
                <a:srgbClr val="ffffff"/>
              </a:solidFill>
              <a:latin typeface="Arial"/>
            </a:endParaRPr>
          </a:p>
        </p:txBody>
      </p:sp>
      <p:sp>
        <p:nvSpPr>
          <p:cNvPr id="1733"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734"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115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735" name="Shape 0"/>
          <p:cNvSpPr/>
          <p:nvPr/>
        </p:nvSpPr>
        <p:spPr>
          <a:xfrm>
            <a:off x="548640" y="2651760"/>
            <a:ext cx="1370160" cy="1370160"/>
          </a:xfrm>
          <a:prstGeom prst="roundRect">
            <a:avLst>
              <a:gd name="adj" fmla="val 6667"/>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36" name="Text 1"/>
          <p:cNvSpPr/>
          <p:nvPr/>
        </p:nvSpPr>
        <p:spPr>
          <a:xfrm>
            <a:off x="548640" y="2651760"/>
            <a:ext cx="1370160" cy="1370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400" spc="-1" strike="noStrike">
                <a:solidFill>
                  <a:srgbClr val="e8804f"/>
                </a:solidFill>
                <a:latin typeface="Consolas"/>
                <a:ea typeface="Consolas"/>
              </a:rPr>
              <a:t>13</a:t>
            </a:r>
            <a:endParaRPr b="0" lang="en-US" sz="3400" spc="-1" strike="noStrike">
              <a:solidFill>
                <a:srgbClr val="ffffff"/>
              </a:solidFill>
              <a:latin typeface="Arial"/>
            </a:endParaRPr>
          </a:p>
        </p:txBody>
      </p:sp>
      <p:sp>
        <p:nvSpPr>
          <p:cNvPr id="1737" name="Text 2"/>
          <p:cNvSpPr/>
          <p:nvPr/>
        </p:nvSpPr>
        <p:spPr>
          <a:xfrm>
            <a:off x="2194560" y="2743200"/>
            <a:ext cx="932544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Concurrency: Fearless by Construction</a:t>
            </a:r>
            <a:endParaRPr b="0" lang="en-US" sz="2800" spc="-1" strike="noStrike">
              <a:solidFill>
                <a:srgbClr val="ffffff"/>
              </a:solidFill>
              <a:latin typeface="Arial"/>
            </a:endParaRPr>
          </a:p>
        </p:txBody>
      </p:sp>
      <p:sp>
        <p:nvSpPr>
          <p:cNvPr id="1738" name="Text 3"/>
          <p:cNvSpPr/>
          <p:nvPr/>
        </p:nvSpPr>
        <p:spPr>
          <a:xfrm>
            <a:off x="2194560" y="3474720"/>
            <a:ext cx="8959680" cy="547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50" spc="-1" strike="noStrike">
                <a:solidFill>
                  <a:srgbClr val="9aa4b8"/>
                </a:solidFill>
                <a:latin typeface="Arial"/>
                <a:ea typeface="Arial"/>
              </a:rPr>
              <a:t>The argument from Module 1, now with the mechanism behind it</a:t>
            </a:r>
            <a:endParaRPr b="0" lang="en-US" sz="1350" spc="-1" strike="noStrike">
              <a:solidFill>
                <a:srgbClr val="ffffff"/>
              </a:solidFill>
              <a:latin typeface="Arial"/>
            </a:endParaRPr>
          </a:p>
        </p:txBody>
      </p:sp>
      <p:sp>
        <p:nvSpPr>
          <p:cNvPr id="1739" name="Text 4"/>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740" name="Text 5"/>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116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741"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CONCURRENCY: FEARLESS BY CONSTRUCTION</a:t>
            </a:r>
            <a:endParaRPr b="0" lang="en-US" sz="1300" spc="-1" strike="noStrike">
              <a:solidFill>
                <a:srgbClr val="ffffff"/>
              </a:solidFill>
              <a:latin typeface="Arial"/>
            </a:endParaRPr>
          </a:p>
        </p:txBody>
      </p:sp>
      <p:sp>
        <p:nvSpPr>
          <p:cNvPr id="1742"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Recap: your existing concurrency toolkit</a:t>
            </a:r>
            <a:endParaRPr b="0" lang="en-US" sz="2800" spc="-1" strike="noStrike">
              <a:solidFill>
                <a:srgbClr val="ffffff"/>
              </a:solidFill>
              <a:latin typeface="Arial"/>
            </a:endParaRPr>
          </a:p>
        </p:txBody>
      </p:sp>
      <p:sp>
        <p:nvSpPr>
          <p:cNvPr id="1743"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44"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45"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std::thread, std::mutex, std::atomic, std::condition_variable:  </a:t>
            </a:r>
            <a:r>
              <a:rPr b="0" lang="en-US" sz="1200" spc="-1" strike="noStrike">
                <a:solidFill>
                  <a:srgbClr val="9aa4b8"/>
                </a:solidFill>
                <a:latin typeface="Arial"/>
                <a:ea typeface="Arial"/>
              </a:rPr>
              <a:t>the building blocks you already reach for.</a:t>
            </a:r>
            <a:endParaRPr b="0" lang="en-US" sz="1200" spc="-1" strike="noStrike">
              <a:solidFill>
                <a:srgbClr val="ffffff"/>
              </a:solidFill>
              <a:latin typeface="Arial"/>
            </a:endParaRPr>
          </a:p>
        </p:txBody>
      </p:sp>
      <p:sp>
        <p:nvSpPr>
          <p:cNvPr id="1746"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47"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48"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std::jthread and cooperative cancellation (C++20):  </a:t>
            </a:r>
            <a:r>
              <a:rPr b="0" lang="en-US" sz="1200" spc="-1" strike="noStrike">
                <a:solidFill>
                  <a:srgbClr val="9aa4b8"/>
                </a:solidFill>
                <a:latin typeface="Arial"/>
                <a:ea typeface="Arial"/>
              </a:rPr>
              <a:t>recent, welcome improvements to thread lifecycle management.</a:t>
            </a:r>
            <a:endParaRPr b="0" lang="en-US" sz="1200" spc="-1" strike="noStrike">
              <a:solidFill>
                <a:srgbClr val="ffffff"/>
              </a:solidFill>
              <a:latin typeface="Arial"/>
            </a:endParaRPr>
          </a:p>
        </p:txBody>
      </p:sp>
      <p:sp>
        <p:nvSpPr>
          <p:cNvPr id="1749"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50"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51"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All of it relies on you remembering which mutex protects which data,  </a:t>
            </a:r>
            <a:r>
              <a:rPr b="0" lang="en-US" sz="1200" spc="-1" strike="noStrike">
                <a:solidFill>
                  <a:srgbClr val="9aa4b8"/>
                </a:solidFill>
                <a:latin typeface="Arial"/>
                <a:ea typeface="Arial"/>
              </a:rPr>
              <a:t>and enforcing that discipline consistently across every call site, forever.</a:t>
            </a:r>
            <a:endParaRPr b="0" lang="en-US" sz="1200" spc="-1" strike="noStrike">
              <a:solidFill>
                <a:srgbClr val="ffffff"/>
              </a:solidFill>
              <a:latin typeface="Arial"/>
            </a:endParaRPr>
          </a:p>
        </p:txBody>
      </p:sp>
      <p:sp>
        <p:nvSpPr>
          <p:cNvPr id="1752"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753"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117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754"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CONCURRENCY</a:t>
            </a:r>
            <a:endParaRPr b="0" lang="en-US" sz="1300" spc="-1" strike="noStrike">
              <a:solidFill>
                <a:srgbClr val="ffffff"/>
              </a:solidFill>
              <a:latin typeface="Arial"/>
            </a:endParaRPr>
          </a:p>
        </p:txBody>
      </p:sp>
      <p:sp>
        <p:nvSpPr>
          <p:cNvPr id="1755"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Data races: undefined behavior vs. compile error</a:t>
            </a:r>
            <a:endParaRPr b="0" lang="en-US" sz="2800" spc="-1" strike="noStrike">
              <a:solidFill>
                <a:srgbClr val="ffffff"/>
              </a:solidFill>
              <a:latin typeface="Arial"/>
            </a:endParaRPr>
          </a:p>
        </p:txBody>
      </p:sp>
      <p:sp>
        <p:nvSpPr>
          <p:cNvPr id="1756"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57"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58"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759"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760"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int counter = 0;</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void worker() { counter++; } // race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std::thread t1(worker), t2(worker);</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compiles, races silently at runtime</a:t>
            </a:r>
            <a:endParaRPr b="0" lang="en-US" sz="1200" spc="-1" strike="noStrike">
              <a:solidFill>
                <a:srgbClr val="ffffff"/>
              </a:solidFill>
              <a:latin typeface="Arial"/>
            </a:endParaRPr>
          </a:p>
        </p:txBody>
      </p:sp>
      <p:sp>
        <p:nvSpPr>
          <p:cNvPr id="1761"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Nothing about the type int or the function signature signals that counter is shared across threads. The race is invisible until it isn't.</a:t>
            </a:r>
            <a:endParaRPr b="0" lang="en-US" sz="1100" spc="-1" strike="noStrike">
              <a:solidFill>
                <a:srgbClr val="ffffff"/>
              </a:solidFill>
              <a:latin typeface="Arial"/>
            </a:endParaRPr>
          </a:p>
        </p:txBody>
      </p:sp>
      <p:sp>
        <p:nvSpPr>
          <p:cNvPr id="1762"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63"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64"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765"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766"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let counter = Arc::new(AtomicI32::new(0));</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let c = counter.clone();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thread::spawn(move ||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c.fetch_add(1, Ordering::SeqCst);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1767"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A plain i32 captured by a closure passed to thread::spawn fails to compile unless it's wrapped in a thread-safe type like AtomicI32 or Mutex.</a:t>
            </a:r>
            <a:endParaRPr b="0" lang="en-US" sz="1100" spc="-1" strike="noStrike">
              <a:solidFill>
                <a:srgbClr val="ffffff"/>
              </a:solidFill>
              <a:latin typeface="Arial"/>
            </a:endParaRPr>
          </a:p>
        </p:txBody>
      </p:sp>
      <p:sp>
        <p:nvSpPr>
          <p:cNvPr id="1768"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69"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The compiler statically rejects sharing non-thread-safe data across threads — the race is caught before the program runs, not after it ships.</a:t>
            </a:r>
            <a:endParaRPr b="0" lang="en-US" sz="1150" spc="-1" strike="noStrike">
              <a:solidFill>
                <a:srgbClr val="ffffff"/>
              </a:solidFill>
              <a:latin typeface="Arial"/>
            </a:endParaRPr>
          </a:p>
        </p:txBody>
      </p:sp>
      <p:sp>
        <p:nvSpPr>
          <p:cNvPr id="1770"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771"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118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77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CONCURRENCY</a:t>
            </a:r>
            <a:endParaRPr b="0" lang="en-US" sz="1300" spc="-1" strike="noStrike">
              <a:solidFill>
                <a:srgbClr val="ffffff"/>
              </a:solidFill>
              <a:latin typeface="Arial"/>
            </a:endParaRPr>
          </a:p>
        </p:txBody>
      </p:sp>
      <p:sp>
        <p:nvSpPr>
          <p:cNvPr id="1773"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Mutex-protects-data, verified by the compiler</a:t>
            </a:r>
            <a:endParaRPr b="0" lang="en-US" sz="2800" spc="-1" strike="noStrike">
              <a:solidFill>
                <a:srgbClr val="ffffff"/>
              </a:solidFill>
              <a:latin typeface="Arial"/>
            </a:endParaRPr>
          </a:p>
        </p:txBody>
      </p:sp>
      <p:sp>
        <p:nvSpPr>
          <p:cNvPr id="1774"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75"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76"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777"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778"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struct Account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int balance;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std::mutex m;</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nothing enforces that every</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access to 'balance' takes 'm'</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1779"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The mutex and the protected data are separate members. A new code path can read or write balance while forgetting to lock m, and it compiles fine.</a:t>
            </a:r>
            <a:endParaRPr b="0" lang="en-US" sz="1100" spc="-1" strike="noStrike">
              <a:solidFill>
                <a:srgbClr val="ffffff"/>
              </a:solidFill>
              <a:latin typeface="Arial"/>
            </a:endParaRPr>
          </a:p>
        </p:txBody>
      </p:sp>
      <p:sp>
        <p:nvSpPr>
          <p:cNvPr id="1780"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81"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82"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783"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784"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struct Account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balance: Mutex&lt;i32&gt;,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there is no way to read or</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write balance without going</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through .lock()</a:t>
            </a:r>
            <a:endParaRPr b="0" lang="en-US" sz="1200" spc="-1" strike="noStrike">
              <a:solidFill>
                <a:srgbClr val="ffffff"/>
              </a:solidFill>
              <a:latin typeface="Arial"/>
            </a:endParaRPr>
          </a:p>
        </p:txBody>
      </p:sp>
      <p:sp>
        <p:nvSpPr>
          <p:cNvPr id="1785"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The Mutex owns the data. The only way to access the i32 inside is through the guard returned by .lock(), so forgetting to lock is a compile error.</a:t>
            </a:r>
            <a:endParaRPr b="0" lang="en-US" sz="1100" spc="-1" strike="noStrike">
              <a:solidFill>
                <a:srgbClr val="ffffff"/>
              </a:solidFill>
              <a:latin typeface="Arial"/>
            </a:endParaRPr>
          </a:p>
        </p:txBody>
      </p:sp>
      <p:sp>
        <p:nvSpPr>
          <p:cNvPr id="1786"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87"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This is the same example from Module 1, revisited with the underlying mechanism: the type system, not convention, enforces the coupling.</a:t>
            </a:r>
            <a:endParaRPr b="0" lang="en-US" sz="1150" spc="-1" strike="noStrike">
              <a:solidFill>
                <a:srgbClr val="ffffff"/>
              </a:solidFill>
              <a:latin typeface="Arial"/>
            </a:endParaRPr>
          </a:p>
        </p:txBody>
      </p:sp>
      <p:sp>
        <p:nvSpPr>
          <p:cNvPr id="1788"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789"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119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790"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CONCURRENCY: FEARLESS BY CONSTRUCTION</a:t>
            </a:r>
            <a:endParaRPr b="0" lang="en-US" sz="1300" spc="-1" strike="noStrike">
              <a:solidFill>
                <a:srgbClr val="ffffff"/>
              </a:solidFill>
              <a:latin typeface="Arial"/>
            </a:endParaRPr>
          </a:p>
        </p:txBody>
      </p:sp>
      <p:sp>
        <p:nvSpPr>
          <p:cNvPr id="1791"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Send and Sync: thread-safety as a marker trait</a:t>
            </a:r>
            <a:endParaRPr b="0" lang="en-US" sz="2800" spc="-1" strike="noStrike">
              <a:solidFill>
                <a:srgbClr val="ffffff"/>
              </a:solidFill>
              <a:latin typeface="Arial"/>
            </a:endParaRPr>
          </a:p>
        </p:txBody>
      </p:sp>
      <p:sp>
        <p:nvSpPr>
          <p:cNvPr id="1792"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93"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94"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Send:  </a:t>
            </a:r>
            <a:r>
              <a:rPr b="0" lang="en-US" sz="1200" spc="-1" strike="noStrike">
                <a:solidFill>
                  <a:srgbClr val="9aa4b8"/>
                </a:solidFill>
                <a:latin typeface="Arial"/>
                <a:ea typeface="Arial"/>
              </a:rPr>
              <a:t>a type is Send if it's safe to transfer ownership of it to another thread.</a:t>
            </a:r>
            <a:endParaRPr b="0" lang="en-US" sz="1200" spc="-1" strike="noStrike">
              <a:solidFill>
                <a:srgbClr val="ffffff"/>
              </a:solidFill>
              <a:latin typeface="Arial"/>
            </a:endParaRPr>
          </a:p>
        </p:txBody>
      </p:sp>
      <p:sp>
        <p:nvSpPr>
          <p:cNvPr id="1795"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96"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97"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Sync:  </a:t>
            </a:r>
            <a:r>
              <a:rPr b="0" lang="en-US" sz="1200" spc="-1" strike="noStrike">
                <a:solidFill>
                  <a:srgbClr val="9aa4b8"/>
                </a:solidFill>
                <a:latin typeface="Arial"/>
                <a:ea typeface="Arial"/>
              </a:rPr>
              <a:t>a type is Sync if it's safe for multiple threads to hold a shared reference to it simultaneously.</a:t>
            </a:r>
            <a:endParaRPr b="0" lang="en-US" sz="1200" spc="-1" strike="noStrike">
              <a:solidFill>
                <a:srgbClr val="ffffff"/>
              </a:solidFill>
              <a:latin typeface="Arial"/>
            </a:endParaRPr>
          </a:p>
        </p:txBody>
      </p:sp>
      <p:sp>
        <p:nvSpPr>
          <p:cNvPr id="1798"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99"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00"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Both are auto-derived for most types based on their fields,  </a:t>
            </a:r>
            <a:r>
              <a:rPr b="0" lang="en-US" sz="1200" spc="-1" strike="noStrike">
                <a:solidFill>
                  <a:srgbClr val="9aa4b8"/>
                </a:solidFill>
                <a:latin typeface="Arial"/>
                <a:ea typeface="Arial"/>
              </a:rPr>
              <a:t>and Rc&lt;T&gt; deliberately opts out of both — which is exactly why it can't cross a thread boundary.</a:t>
            </a:r>
            <a:endParaRPr b="0" lang="en-US" sz="1200" spc="-1" strike="noStrike">
              <a:solidFill>
                <a:srgbClr val="ffffff"/>
              </a:solidFill>
              <a:latin typeface="Arial"/>
            </a:endParaRPr>
          </a:p>
        </p:txBody>
      </p:sp>
      <p:sp>
        <p:nvSpPr>
          <p:cNvPr id="1801"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802"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120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803"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CONCURRENCY</a:t>
            </a:r>
            <a:endParaRPr b="0" lang="en-US" sz="1300" spc="-1" strike="noStrike">
              <a:solidFill>
                <a:srgbClr val="ffffff"/>
              </a:solidFill>
              <a:latin typeface="Arial"/>
            </a:endParaRPr>
          </a:p>
        </p:txBody>
      </p:sp>
      <p:sp>
        <p:nvSpPr>
          <p:cNvPr id="1804"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Dangling captures across threads</a:t>
            </a:r>
            <a:endParaRPr b="0" lang="en-US" sz="2800" spc="-1" strike="noStrike">
              <a:solidFill>
                <a:srgbClr val="ffffff"/>
              </a:solidFill>
              <a:latin typeface="Arial"/>
            </a:endParaRPr>
          </a:p>
        </p:txBody>
      </p:sp>
      <p:sp>
        <p:nvSpPr>
          <p:cNvPr id="1805"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06"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07"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808"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809"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void launch()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int local = 42;</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std::thread t([&amp;local]{ use(local);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t.detach();</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 local destroyed — thread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now references dangling stack memory</a:t>
            </a:r>
            <a:endParaRPr b="0" lang="en-US" sz="1200" spc="-1" strike="noStrike">
              <a:solidFill>
                <a:srgbClr val="ffffff"/>
              </a:solidFill>
              <a:latin typeface="Arial"/>
            </a:endParaRPr>
          </a:p>
        </p:txBody>
      </p:sp>
      <p:sp>
        <p:nvSpPr>
          <p:cNvPr id="1810"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Capturing a local by reference in a detached or outlived thread is a classic use-after-scope bug, and the compiler has no way to catch it.</a:t>
            </a:r>
            <a:endParaRPr b="0" lang="en-US" sz="1100" spc="-1" strike="noStrike">
              <a:solidFill>
                <a:srgbClr val="ffffff"/>
              </a:solidFill>
              <a:latin typeface="Arial"/>
            </a:endParaRPr>
          </a:p>
        </p:txBody>
      </p:sp>
      <p:sp>
        <p:nvSpPr>
          <p:cNvPr id="1811"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12"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13"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814"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815"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fn launch()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let local = 42;</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thread::spawn(move || use_it(local));</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'move' transfers ownership into</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the closure — no dangling capture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possible; 'static bound enforced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1816"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thread::spawn requires the closure to be 'static (own everything it needs) unless using scoped threads, which the compiler verifies structurally.</a:t>
            </a:r>
            <a:endParaRPr b="0" lang="en-US" sz="1100" spc="-1" strike="noStrike">
              <a:solidFill>
                <a:srgbClr val="ffffff"/>
              </a:solidFill>
              <a:latin typeface="Arial"/>
            </a:endParaRPr>
          </a:p>
        </p:txBody>
      </p:sp>
      <p:sp>
        <p:nvSpPr>
          <p:cNvPr id="1817"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18"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The exact bug pattern from the C++ example — a thread outliving what it references — is ruled out by the closure's ownership and lifetime bounds.</a:t>
            </a:r>
            <a:endParaRPr b="0" lang="en-US" sz="1150" spc="-1" strike="noStrike">
              <a:solidFill>
                <a:srgbClr val="ffffff"/>
              </a:solidFill>
              <a:latin typeface="Arial"/>
            </a:endParaRPr>
          </a:p>
        </p:txBody>
      </p:sp>
      <p:sp>
        <p:nvSpPr>
          <p:cNvPr id="1819"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820"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121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821"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CONCURRENCY: FEARLESS BY CONSTRUCTION</a:t>
            </a:r>
            <a:endParaRPr b="0" lang="en-US" sz="1300" spc="-1" strike="noStrike">
              <a:solidFill>
                <a:srgbClr val="ffffff"/>
              </a:solidFill>
              <a:latin typeface="Arial"/>
            </a:endParaRPr>
          </a:p>
        </p:txBody>
      </p:sp>
      <p:sp>
        <p:nvSpPr>
          <p:cNvPr id="1822"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A brief look ahead: async/await</a:t>
            </a:r>
            <a:endParaRPr b="0" lang="en-US" sz="2800" spc="-1" strike="noStrike">
              <a:solidFill>
                <a:srgbClr val="ffffff"/>
              </a:solidFill>
              <a:latin typeface="Arial"/>
            </a:endParaRPr>
          </a:p>
        </p:txBody>
      </p:sp>
      <p:sp>
        <p:nvSpPr>
          <p:cNvPr id="1823" name="Text 2"/>
          <p:cNvSpPr/>
          <p:nvPr/>
        </p:nvSpPr>
        <p:spPr>
          <a:xfrm>
            <a:off x="548640" y="1600200"/>
            <a:ext cx="11062800" cy="501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i="1" lang="en-US" sz="1300" spc="-1" strike="noStrike">
                <a:solidFill>
                  <a:srgbClr val="9aa4b8"/>
                </a:solidFill>
                <a:latin typeface="Arial"/>
                <a:ea typeface="Arial"/>
              </a:rPr>
              <a:t>Covered in depth on Day 2 — here's the headline comparison.</a:t>
            </a:r>
            <a:endParaRPr b="0" lang="en-US" sz="1300" spc="-1" strike="noStrike">
              <a:solidFill>
                <a:srgbClr val="ffffff"/>
              </a:solidFill>
              <a:latin typeface="Arial"/>
            </a:endParaRPr>
          </a:p>
        </p:txBody>
      </p:sp>
      <p:sp>
        <p:nvSpPr>
          <p:cNvPr id="1824" name="Shape 3"/>
          <p:cNvSpPr/>
          <p:nvPr/>
        </p:nvSpPr>
        <p:spPr>
          <a:xfrm>
            <a:off x="548640" y="222192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25" name="Shape 4"/>
          <p:cNvSpPr/>
          <p:nvPr/>
        </p:nvSpPr>
        <p:spPr>
          <a:xfrm>
            <a:off x="777240" y="27403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26" name="Text 5"/>
          <p:cNvSpPr/>
          <p:nvPr/>
        </p:nvSpPr>
        <p:spPr>
          <a:xfrm>
            <a:off x="1143000" y="222192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C++20 coroutines give you the co_await/co_yield building blocks,  </a:t>
            </a:r>
            <a:r>
              <a:rPr b="0" lang="en-US" sz="1200" spc="-1" strike="noStrike">
                <a:solidFill>
                  <a:srgbClr val="9aa4b8"/>
                </a:solidFill>
                <a:latin typeface="Arial"/>
                <a:ea typeface="Arial"/>
              </a:rPr>
              <a:t>but no standard executor or async runtime ships with the language.</a:t>
            </a:r>
            <a:endParaRPr b="0" lang="en-US" sz="1200" spc="-1" strike="noStrike">
              <a:solidFill>
                <a:srgbClr val="ffffff"/>
              </a:solidFill>
              <a:latin typeface="Arial"/>
            </a:endParaRPr>
          </a:p>
        </p:txBody>
      </p:sp>
      <p:sp>
        <p:nvSpPr>
          <p:cNvPr id="1827" name="Shape 6"/>
          <p:cNvSpPr/>
          <p:nvPr/>
        </p:nvSpPr>
        <p:spPr>
          <a:xfrm>
            <a:off x="548640" y="356904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28" name="Shape 7"/>
          <p:cNvSpPr/>
          <p:nvPr/>
        </p:nvSpPr>
        <p:spPr>
          <a:xfrm>
            <a:off x="777240" y="408744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29" name="Text 8"/>
          <p:cNvSpPr/>
          <p:nvPr/>
        </p:nvSpPr>
        <p:spPr>
          <a:xfrm>
            <a:off x="1143000" y="356904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Rust's async/await syntax is stable and standard,  </a:t>
            </a:r>
            <a:r>
              <a:rPr b="0" lang="en-US" sz="1200" spc="-1" strike="noStrike">
                <a:solidFill>
                  <a:srgbClr val="9aa4b8"/>
                </a:solidFill>
                <a:latin typeface="Arial"/>
                <a:ea typeface="Arial"/>
              </a:rPr>
              <a:t>paired with a runtime you choose explicitly (tokio, async-std) — similar split, different maturity level.</a:t>
            </a:r>
            <a:endParaRPr b="0" lang="en-US" sz="1200" spc="-1" strike="noStrike">
              <a:solidFill>
                <a:srgbClr val="ffffff"/>
              </a:solidFill>
              <a:latin typeface="Arial"/>
            </a:endParaRPr>
          </a:p>
        </p:txBody>
      </p:sp>
      <p:sp>
        <p:nvSpPr>
          <p:cNvPr id="1830" name="Shape 9"/>
          <p:cNvSpPr/>
          <p:nvPr/>
        </p:nvSpPr>
        <p:spPr>
          <a:xfrm>
            <a:off x="548640" y="491652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31" name="Shape 10"/>
          <p:cNvSpPr/>
          <p:nvPr/>
        </p:nvSpPr>
        <p:spPr>
          <a:xfrm>
            <a:off x="777240" y="543456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32" name="Text 11"/>
          <p:cNvSpPr/>
          <p:nvPr/>
        </p:nvSpPr>
        <p:spPr>
          <a:xfrm>
            <a:off x="1143000" y="491652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Both models compile async functions into state machines;  </a:t>
            </a:r>
            <a:r>
              <a:rPr b="0" lang="en-US" sz="1200" spc="-1" strike="noStrike">
                <a:solidFill>
                  <a:srgbClr val="9aa4b8"/>
                </a:solidFill>
                <a:latin typeface="Arial"/>
                <a:ea typeface="Arial"/>
              </a:rPr>
              <a:t>the ownership rules you've just learned apply identically inside async code.</a:t>
            </a:r>
            <a:endParaRPr b="0" lang="en-US" sz="1200" spc="-1" strike="noStrike">
              <a:solidFill>
                <a:srgbClr val="ffffff"/>
              </a:solidFill>
              <a:latin typeface="Arial"/>
            </a:endParaRPr>
          </a:p>
        </p:txBody>
      </p:sp>
      <p:sp>
        <p:nvSpPr>
          <p:cNvPr id="1833" name="Text 12"/>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834" name="Text 13"/>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122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835"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CONCURRENCY: FEARLESS BY CONSTRUCTION</a:t>
            </a:r>
            <a:endParaRPr b="0" lang="en-US" sz="1300" spc="-1" strike="noStrike">
              <a:solidFill>
                <a:srgbClr val="ffffff"/>
              </a:solidFill>
              <a:latin typeface="Arial"/>
            </a:endParaRPr>
          </a:p>
        </p:txBody>
      </p:sp>
      <p:sp>
        <p:nvSpPr>
          <p:cNvPr id="1836"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Channels: message passing instead of shared state</a:t>
            </a:r>
            <a:endParaRPr b="0" lang="en-US" sz="2800" spc="-1" strike="noStrike">
              <a:solidFill>
                <a:srgbClr val="ffffff"/>
              </a:solidFill>
              <a:latin typeface="Arial"/>
            </a:endParaRPr>
          </a:p>
        </p:txBody>
      </p:sp>
      <p:sp>
        <p:nvSpPr>
          <p:cNvPr id="1837"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38"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39"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std::sync::mpsc (or the more capable crossbeam-channel) gives you  </a:t>
            </a:r>
            <a:r>
              <a:rPr b="0" lang="en-US" sz="1200" spc="-1" strike="noStrike">
                <a:solidFill>
                  <a:srgbClr val="9aa4b8"/>
                </a:solidFill>
                <a:latin typeface="Arial"/>
                <a:ea typeface="Arial"/>
              </a:rPr>
              <a:t>a typed, multi-producer, single-consumer channel out of the box.</a:t>
            </a:r>
            <a:endParaRPr b="0" lang="en-US" sz="1200" spc="-1" strike="noStrike">
              <a:solidFill>
                <a:srgbClr val="ffffff"/>
              </a:solidFill>
              <a:latin typeface="Arial"/>
            </a:endParaRPr>
          </a:p>
        </p:txBody>
      </p:sp>
      <p:sp>
        <p:nvSpPr>
          <p:cNvPr id="1840"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41"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42"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Compare to hand-rolling a thread-safe queue with a mutex, a condition variable,  </a:t>
            </a:r>
            <a:r>
              <a:rPr b="0" lang="en-US" sz="1200" spc="-1" strike="noStrike">
                <a:solidFill>
                  <a:srgbClr val="9aa4b8"/>
                </a:solidFill>
                <a:latin typeface="Arial"/>
                <a:ea typeface="Arial"/>
              </a:rPr>
              <a:t>and careful attention to spurious wakeups and shutdown signaling.</a:t>
            </a:r>
            <a:endParaRPr b="0" lang="en-US" sz="1200" spc="-1" strike="noStrike">
              <a:solidFill>
                <a:srgbClr val="ffffff"/>
              </a:solidFill>
              <a:latin typeface="Arial"/>
            </a:endParaRPr>
          </a:p>
        </p:txBody>
      </p:sp>
      <p:sp>
        <p:nvSpPr>
          <p:cNvPr id="1843"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44"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45"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"Do not communicate by sharing memory; share memory by communicating"  </a:t>
            </a:r>
            <a:r>
              <a:rPr b="0" lang="en-US" sz="1200" spc="-1" strike="noStrike">
                <a:solidFill>
                  <a:srgbClr val="9aa4b8"/>
                </a:solidFill>
                <a:latin typeface="Arial"/>
                <a:ea typeface="Arial"/>
              </a:rPr>
              <a:t>is a design philosophy the standard library actively supports, not just a slogan.</a:t>
            </a:r>
            <a:endParaRPr b="0" lang="en-US" sz="1200" spc="-1" strike="noStrike">
              <a:solidFill>
                <a:srgbClr val="ffffff"/>
              </a:solidFill>
              <a:latin typeface="Arial"/>
            </a:endParaRPr>
          </a:p>
        </p:txBody>
      </p:sp>
      <p:sp>
        <p:nvSpPr>
          <p:cNvPr id="1846"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847"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123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848" name="Shape 0"/>
          <p:cNvSpPr/>
          <p:nvPr/>
        </p:nvSpPr>
        <p:spPr>
          <a:xfrm>
            <a:off x="548640" y="2651760"/>
            <a:ext cx="1370160" cy="1370160"/>
          </a:xfrm>
          <a:prstGeom prst="roundRect">
            <a:avLst>
              <a:gd name="adj" fmla="val 6667"/>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49" name="Text 1"/>
          <p:cNvSpPr/>
          <p:nvPr/>
        </p:nvSpPr>
        <p:spPr>
          <a:xfrm>
            <a:off x="548640" y="2651760"/>
            <a:ext cx="1370160" cy="1370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400" spc="-1" strike="noStrike">
                <a:solidFill>
                  <a:srgbClr val="e8804f"/>
                </a:solidFill>
                <a:latin typeface="Consolas"/>
                <a:ea typeface="Consolas"/>
              </a:rPr>
              <a:t>14</a:t>
            </a:r>
            <a:endParaRPr b="0" lang="en-US" sz="3400" spc="-1" strike="noStrike">
              <a:solidFill>
                <a:srgbClr val="ffffff"/>
              </a:solidFill>
              <a:latin typeface="Arial"/>
            </a:endParaRPr>
          </a:p>
        </p:txBody>
      </p:sp>
      <p:sp>
        <p:nvSpPr>
          <p:cNvPr id="1850" name="Text 2"/>
          <p:cNvSpPr/>
          <p:nvPr/>
        </p:nvSpPr>
        <p:spPr>
          <a:xfrm>
            <a:off x="2194560" y="2743200"/>
            <a:ext cx="932544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Unsafe Rust &amp; C++ Interop</a:t>
            </a:r>
            <a:endParaRPr b="0" lang="en-US" sz="2800" spc="-1" strike="noStrike">
              <a:solidFill>
                <a:srgbClr val="ffffff"/>
              </a:solidFill>
              <a:latin typeface="Arial"/>
            </a:endParaRPr>
          </a:p>
        </p:txBody>
      </p:sp>
      <p:sp>
        <p:nvSpPr>
          <p:cNvPr id="1851" name="Text 3"/>
          <p:cNvSpPr/>
          <p:nvPr/>
        </p:nvSpPr>
        <p:spPr>
          <a:xfrm>
            <a:off x="2194560" y="3474720"/>
            <a:ext cx="8959680" cy="547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50" spc="-1" strike="noStrike">
                <a:solidFill>
                  <a:srgbClr val="9aa4b8"/>
                </a:solidFill>
                <a:latin typeface="Arial"/>
                <a:ea typeface="Arial"/>
              </a:rPr>
              <a:t>Where the two languages actually meet — and the escape hatch you'll use on Day 3</a:t>
            </a:r>
            <a:endParaRPr b="0" lang="en-US" sz="1350" spc="-1" strike="noStrike">
              <a:solidFill>
                <a:srgbClr val="ffffff"/>
              </a:solidFill>
              <a:latin typeface="Arial"/>
            </a:endParaRPr>
          </a:p>
        </p:txBody>
      </p:sp>
      <p:sp>
        <p:nvSpPr>
          <p:cNvPr id="1852" name="Text 4"/>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853" name="Text 5"/>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124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854"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UNSAFE RUST &amp; C++ INTEROP</a:t>
            </a:r>
            <a:endParaRPr b="0" lang="en-US" sz="1300" spc="-1" strike="noStrike">
              <a:solidFill>
                <a:srgbClr val="ffffff"/>
              </a:solidFill>
              <a:latin typeface="Arial"/>
            </a:endParaRPr>
          </a:p>
        </p:txBody>
      </p:sp>
      <p:sp>
        <p:nvSpPr>
          <p:cNvPr id="1855"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What unsafe actually unlocks</a:t>
            </a:r>
            <a:endParaRPr b="0" lang="en-US" sz="2800" spc="-1" strike="noStrike">
              <a:solidFill>
                <a:srgbClr val="ffffff"/>
              </a:solidFill>
              <a:latin typeface="Arial"/>
            </a:endParaRPr>
          </a:p>
        </p:txBody>
      </p:sp>
      <p:sp>
        <p:nvSpPr>
          <p:cNvPr id="1856" name="Text 2"/>
          <p:cNvSpPr/>
          <p:nvPr/>
        </p:nvSpPr>
        <p:spPr>
          <a:xfrm>
            <a:off x="548640" y="1600200"/>
            <a:ext cx="11062800" cy="501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i="1" lang="en-US" sz="1300" spc="-1" strike="noStrike">
                <a:solidFill>
                  <a:srgbClr val="9aa4b8"/>
                </a:solidFill>
                <a:latin typeface="Arial"/>
                <a:ea typeface="Arial"/>
              </a:rPr>
              <a:t>unsafe is not "turn off the borrow checker." It unlocks exactly five additional capabilities:</a:t>
            </a:r>
            <a:endParaRPr b="0" lang="en-US" sz="1300" spc="-1" strike="noStrike">
              <a:solidFill>
                <a:srgbClr val="ffffff"/>
              </a:solidFill>
              <a:latin typeface="Arial"/>
            </a:endParaRPr>
          </a:p>
        </p:txBody>
      </p:sp>
      <p:sp>
        <p:nvSpPr>
          <p:cNvPr id="1857" name="Shape 3"/>
          <p:cNvSpPr/>
          <p:nvPr/>
        </p:nvSpPr>
        <p:spPr>
          <a:xfrm>
            <a:off x="548640" y="222192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58" name="Shape 4"/>
          <p:cNvSpPr/>
          <p:nvPr/>
        </p:nvSpPr>
        <p:spPr>
          <a:xfrm>
            <a:off x="777240" y="27403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59" name="Text 5"/>
          <p:cNvSpPr/>
          <p:nvPr/>
        </p:nvSpPr>
        <p:spPr>
          <a:xfrm>
            <a:off x="1143000" y="222192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Dereferencing raw pointers.  </a:t>
            </a:r>
            <a:endParaRPr b="0" lang="en-US" sz="1250" spc="-1" strike="noStrike">
              <a:solidFill>
                <a:srgbClr val="ffffff"/>
              </a:solidFill>
              <a:latin typeface="Arial"/>
            </a:endParaRPr>
          </a:p>
        </p:txBody>
      </p:sp>
      <p:sp>
        <p:nvSpPr>
          <p:cNvPr id="1860" name="Shape 6"/>
          <p:cNvSpPr/>
          <p:nvPr/>
        </p:nvSpPr>
        <p:spPr>
          <a:xfrm>
            <a:off x="548640" y="356904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61" name="Shape 7"/>
          <p:cNvSpPr/>
          <p:nvPr/>
        </p:nvSpPr>
        <p:spPr>
          <a:xfrm>
            <a:off x="777240" y="408744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62" name="Text 8"/>
          <p:cNvSpPr/>
          <p:nvPr/>
        </p:nvSpPr>
        <p:spPr>
          <a:xfrm>
            <a:off x="1143000" y="356904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Calling other unsafe functions (including FFI calls into C/C++).  </a:t>
            </a:r>
            <a:endParaRPr b="0" lang="en-US" sz="1250" spc="-1" strike="noStrike">
              <a:solidFill>
                <a:srgbClr val="ffffff"/>
              </a:solidFill>
              <a:latin typeface="Arial"/>
            </a:endParaRPr>
          </a:p>
        </p:txBody>
      </p:sp>
      <p:sp>
        <p:nvSpPr>
          <p:cNvPr id="1863" name="Shape 9"/>
          <p:cNvSpPr/>
          <p:nvPr/>
        </p:nvSpPr>
        <p:spPr>
          <a:xfrm>
            <a:off x="548640" y="491652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64" name="Shape 10"/>
          <p:cNvSpPr/>
          <p:nvPr/>
        </p:nvSpPr>
        <p:spPr>
          <a:xfrm>
            <a:off x="777240" y="543456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65" name="Text 11"/>
          <p:cNvSpPr/>
          <p:nvPr/>
        </p:nvSpPr>
        <p:spPr>
          <a:xfrm>
            <a:off x="1143000" y="491652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Mutating a static variable, implementing an unsafe trait, and accessing union fields.  </a:t>
            </a:r>
            <a:endParaRPr b="0" lang="en-US" sz="1250" spc="-1" strike="noStrike">
              <a:solidFill>
                <a:srgbClr val="ffffff"/>
              </a:solidFill>
              <a:latin typeface="Arial"/>
            </a:endParaRPr>
          </a:p>
        </p:txBody>
      </p:sp>
      <p:sp>
        <p:nvSpPr>
          <p:cNvPr id="1866" name="Text 12"/>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867" name="Text 13"/>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125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868"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UNSAFE</a:t>
            </a:r>
            <a:endParaRPr b="0" lang="en-US" sz="1300" spc="-1" strike="noStrike">
              <a:solidFill>
                <a:srgbClr val="ffffff"/>
              </a:solidFill>
              <a:latin typeface="Arial"/>
            </a:endParaRPr>
          </a:p>
        </p:txBody>
      </p:sp>
      <p:sp>
        <p:nvSpPr>
          <p:cNvPr id="1869"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Reframing: "unsafe Rust" vs. "all of C++"</a:t>
            </a:r>
            <a:endParaRPr b="0" lang="en-US" sz="2800" spc="-1" strike="noStrike">
              <a:solidFill>
                <a:srgbClr val="ffffff"/>
              </a:solidFill>
              <a:latin typeface="Arial"/>
            </a:endParaRPr>
          </a:p>
        </p:txBody>
      </p:sp>
      <p:sp>
        <p:nvSpPr>
          <p:cNvPr id="1870"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71"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72"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873"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874"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 every line of ordinary C++ can</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dereference a raw pointer,</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do pointer arithmetic, or</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invoke UB — there's no boundary</a:t>
            </a:r>
            <a:endParaRPr b="0" lang="en-US" sz="1200" spc="-1" strike="noStrike">
              <a:solidFill>
                <a:srgbClr val="ffffff"/>
              </a:solidFill>
              <a:latin typeface="Arial"/>
            </a:endParaRPr>
          </a:p>
        </p:txBody>
      </p:sp>
      <p:sp>
        <p:nvSpPr>
          <p:cNvPr id="1875"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In C++, the capabilities unsafe gates in Rust are simply always available, everywhere, with no syntactic marker distinguishing risky code from safe code.</a:t>
            </a:r>
            <a:endParaRPr b="0" lang="en-US" sz="1100" spc="-1" strike="noStrike">
              <a:solidFill>
                <a:srgbClr val="ffffff"/>
              </a:solidFill>
              <a:latin typeface="Arial"/>
            </a:endParaRPr>
          </a:p>
        </p:txBody>
      </p:sp>
      <p:sp>
        <p:nvSpPr>
          <p:cNvPr id="1876"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77"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78"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879"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880"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 safe Rust: none of that is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possible — anywhere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unsafe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only HERE can you do the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things C++ allows everywhere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1881"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unsafe draws a visible, searchable boundary. grep -rn "unsafe" tells you exactly where the riskiest 2% of your codebase lives.</a:t>
            </a:r>
            <a:endParaRPr b="0" lang="en-US" sz="1100" spc="-1" strike="noStrike">
              <a:solidFill>
                <a:srgbClr val="ffffff"/>
              </a:solidFill>
              <a:latin typeface="Arial"/>
            </a:endParaRPr>
          </a:p>
        </p:txBody>
      </p:sp>
      <p:sp>
        <p:nvSpPr>
          <p:cNvPr id="1882"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83"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The capability isn't new — C++ has it throughout. What's new is that Rust makes that capability opt-in and visually greppable.</a:t>
            </a:r>
            <a:endParaRPr b="0" lang="en-US" sz="1150" spc="-1" strike="noStrike">
              <a:solidFill>
                <a:srgbClr val="ffffff"/>
              </a:solidFill>
              <a:latin typeface="Arial"/>
            </a:endParaRPr>
          </a:p>
        </p:txBody>
      </p:sp>
      <p:sp>
        <p:nvSpPr>
          <p:cNvPr id="1884"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885"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126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886"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UNSAFE RUST &amp; C++ INTEROP</a:t>
            </a:r>
            <a:endParaRPr b="0" lang="en-US" sz="1300" spc="-1" strike="noStrike">
              <a:solidFill>
                <a:srgbClr val="ffffff"/>
              </a:solidFill>
              <a:latin typeface="Arial"/>
            </a:endParaRPr>
          </a:p>
        </p:txBody>
      </p:sp>
      <p:sp>
        <p:nvSpPr>
          <p:cNvPr id="1887"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Foreign function interface basics</a:t>
            </a:r>
            <a:endParaRPr b="0" lang="en-US" sz="2800" spc="-1" strike="noStrike">
              <a:solidFill>
                <a:srgbClr val="ffffff"/>
              </a:solidFill>
              <a:latin typeface="Arial"/>
            </a:endParaRPr>
          </a:p>
        </p:txBody>
      </p:sp>
      <p:sp>
        <p:nvSpPr>
          <p:cNvPr id="1888"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89"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90"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extern "C" fn my_func(...) exposes a Rust function with a C-compatible ABI,  </a:t>
            </a:r>
            <a:r>
              <a:rPr b="0" lang="en-US" sz="1200" spc="-1" strike="noStrike">
                <a:solidFill>
                  <a:srgbClr val="9aa4b8"/>
                </a:solidFill>
                <a:latin typeface="Arial"/>
                <a:ea typeface="Arial"/>
              </a:rPr>
              <a:t>callable from C or C++ just like any C function.</a:t>
            </a:r>
            <a:endParaRPr b="0" lang="en-US" sz="1200" spc="-1" strike="noStrike">
              <a:solidFill>
                <a:srgbClr val="ffffff"/>
              </a:solidFill>
              <a:latin typeface="Arial"/>
            </a:endParaRPr>
          </a:p>
        </p:txBody>
      </p:sp>
      <p:sp>
        <p:nvSpPr>
          <p:cNvPr id="1891"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92"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93"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#[no_mangle] disables Rust's name mangling  </a:t>
            </a:r>
            <a:r>
              <a:rPr b="0" lang="en-US" sz="1200" spc="-1" strike="noStrike">
                <a:solidFill>
                  <a:srgbClr val="9aa4b8"/>
                </a:solidFill>
                <a:latin typeface="Arial"/>
                <a:ea typeface="Arial"/>
              </a:rPr>
              <a:t>so the symbol name in the compiled binary matches what you declared.</a:t>
            </a:r>
            <a:endParaRPr b="0" lang="en-US" sz="1200" spc="-1" strike="noStrike">
              <a:solidFill>
                <a:srgbClr val="ffffff"/>
              </a:solidFill>
              <a:latin typeface="Arial"/>
            </a:endParaRPr>
          </a:p>
        </p:txBody>
      </p:sp>
      <p:sp>
        <p:nvSpPr>
          <p:cNvPr id="1894"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95"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96"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Calling into existing C/C++ from Rust uses an extern "C" block declaring the foreign signatures,  </a:t>
            </a:r>
            <a:r>
              <a:rPr b="0" lang="en-US" sz="1200" spc="-1" strike="noStrike">
                <a:solidFill>
                  <a:srgbClr val="9aa4b8"/>
                </a:solidFill>
                <a:latin typeface="Arial"/>
                <a:ea typeface="Arial"/>
              </a:rPr>
              <a:t>mirroring a C++ header's declarations.</a:t>
            </a:r>
            <a:endParaRPr b="0" lang="en-US" sz="1200" spc="-1" strike="noStrike">
              <a:solidFill>
                <a:srgbClr val="ffffff"/>
              </a:solidFill>
              <a:latin typeface="Arial"/>
            </a:endParaRPr>
          </a:p>
        </p:txBody>
      </p:sp>
      <p:sp>
        <p:nvSpPr>
          <p:cNvPr id="1897"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898"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127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899"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UNSAFE</a:t>
            </a:r>
            <a:endParaRPr b="0" lang="en-US" sz="1300" spc="-1" strike="noStrike">
              <a:solidFill>
                <a:srgbClr val="ffffff"/>
              </a:solidFill>
              <a:latin typeface="Arial"/>
            </a:endParaRPr>
          </a:p>
        </p:txBody>
      </p:sp>
      <p:sp>
        <p:nvSpPr>
          <p:cNvPr id="1900"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Calling C++ from Rust, and vice versa</a:t>
            </a:r>
            <a:endParaRPr b="0" lang="en-US" sz="2800" spc="-1" strike="noStrike">
              <a:solidFill>
                <a:srgbClr val="ffffff"/>
              </a:solidFill>
              <a:latin typeface="Arial"/>
            </a:endParaRPr>
          </a:p>
        </p:txBody>
      </p:sp>
      <p:sp>
        <p:nvSpPr>
          <p:cNvPr id="1901"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02"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03"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904"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 CALLING RUST</a:t>
            </a:r>
            <a:endParaRPr b="0" lang="en-US" sz="1300" spc="-1" strike="noStrike">
              <a:solidFill>
                <a:srgbClr val="ffffff"/>
              </a:solidFill>
              <a:latin typeface="Arial"/>
            </a:endParaRPr>
          </a:p>
        </p:txBody>
      </p:sp>
      <p:sp>
        <p:nvSpPr>
          <p:cNvPr id="1905"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extern "C" { int rust_add(int, int);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int x = rust_add(2, 3);</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works exactly like calling</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any other C-ABI function</a:t>
            </a:r>
            <a:endParaRPr b="0" lang="en-US" sz="1200" spc="-1" strike="noStrike">
              <a:solidFill>
                <a:srgbClr val="ffffff"/>
              </a:solidFill>
              <a:latin typeface="Arial"/>
            </a:endParaRPr>
          </a:p>
        </p:txBody>
      </p:sp>
      <p:sp>
        <p:nvSpPr>
          <p:cNvPr id="1906"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Once a Rust function is exposed with extern "C" and #[no_mangle], C++ calls it exactly like it would call a C library function.</a:t>
            </a:r>
            <a:endParaRPr b="0" lang="en-US" sz="1100" spc="-1" strike="noStrike">
              <a:solidFill>
                <a:srgbClr val="ffffff"/>
              </a:solidFill>
              <a:latin typeface="Arial"/>
            </a:endParaRPr>
          </a:p>
        </p:txBody>
      </p:sp>
      <p:sp>
        <p:nvSpPr>
          <p:cNvPr id="1907"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08"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09"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910"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 CALLING C++</a:t>
            </a:r>
            <a:endParaRPr b="0" lang="en-US" sz="1300" spc="-1" strike="noStrike">
              <a:solidFill>
                <a:srgbClr val="ffffff"/>
              </a:solidFill>
              <a:latin typeface="Arial"/>
            </a:endParaRPr>
          </a:p>
        </p:txBody>
      </p:sp>
      <p:sp>
        <p:nvSpPr>
          <p:cNvPr id="1911"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extern "C" { fn cpp_add(a: i32, b: i32)</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-&gt; i32;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let x = unsafe { cpp_add(2, 3)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the cxx or bindgen crates automate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this for real-world C++ APIs</a:t>
            </a:r>
            <a:endParaRPr b="0" lang="en-US" sz="1200" spc="-1" strike="noStrike">
              <a:solidFill>
                <a:srgbClr val="ffffff"/>
              </a:solidFill>
              <a:latin typeface="Arial"/>
            </a:endParaRPr>
          </a:p>
        </p:txBody>
      </p:sp>
      <p:sp>
        <p:nvSpPr>
          <p:cNvPr id="1912"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Calling foreign code is inherently unsafe (the compiler can't verify the foreign side's contracts), but crates like cxx generate this boilerplate safely.</a:t>
            </a:r>
            <a:endParaRPr b="0" lang="en-US" sz="1100" spc="-1" strike="noStrike">
              <a:solidFill>
                <a:srgbClr val="ffffff"/>
              </a:solidFill>
              <a:latin typeface="Arial"/>
            </a:endParaRPr>
          </a:p>
        </p:txBody>
      </p:sp>
      <p:sp>
        <p:nvSpPr>
          <p:cNvPr id="1913"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14"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The two languages interoperate at the ABI level cleanly; the ecosystem (cxx, bindgen, cbindgen) exists specifically to make this boundary painless.</a:t>
            </a:r>
            <a:endParaRPr b="0" lang="en-US" sz="1150" spc="-1" strike="noStrike">
              <a:solidFill>
                <a:srgbClr val="ffffff"/>
              </a:solidFill>
              <a:latin typeface="Arial"/>
            </a:endParaRPr>
          </a:p>
        </p:txBody>
      </p:sp>
      <p:sp>
        <p:nvSpPr>
          <p:cNvPr id="1915"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916"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128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917"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UNSAFE RUST &amp; C++ INTEROP</a:t>
            </a:r>
            <a:endParaRPr b="0" lang="en-US" sz="1300" spc="-1" strike="noStrike">
              <a:solidFill>
                <a:srgbClr val="ffffff"/>
              </a:solidFill>
              <a:latin typeface="Arial"/>
            </a:endParaRPr>
          </a:p>
        </p:txBody>
      </p:sp>
      <p:sp>
        <p:nvSpPr>
          <p:cNvPr id="1918"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When you'll actually reach for unsafe</a:t>
            </a:r>
            <a:endParaRPr b="0" lang="en-US" sz="2800" spc="-1" strike="noStrike">
              <a:solidFill>
                <a:srgbClr val="ffffff"/>
              </a:solidFill>
              <a:latin typeface="Arial"/>
            </a:endParaRPr>
          </a:p>
        </p:txBody>
      </p:sp>
      <p:sp>
        <p:nvSpPr>
          <p:cNvPr id="1919" name="Text 2"/>
          <p:cNvSpPr/>
          <p:nvPr/>
        </p:nvSpPr>
        <p:spPr>
          <a:xfrm>
            <a:off x="548640" y="1600200"/>
            <a:ext cx="11062800" cy="501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i="1" lang="en-US" sz="1300" spc="-1" strike="noStrike">
                <a:solidFill>
                  <a:srgbClr val="9aa4b8"/>
                </a:solidFill>
                <a:latin typeface="Arial"/>
                <a:ea typeface="Arial"/>
              </a:rPr>
              <a:t>In practice, unsafe clusters in a small number of well-understood places.</a:t>
            </a:r>
            <a:endParaRPr b="0" lang="en-US" sz="1300" spc="-1" strike="noStrike">
              <a:solidFill>
                <a:srgbClr val="ffffff"/>
              </a:solidFill>
              <a:latin typeface="Arial"/>
            </a:endParaRPr>
          </a:p>
        </p:txBody>
      </p:sp>
      <p:sp>
        <p:nvSpPr>
          <p:cNvPr id="1920" name="Shape 3"/>
          <p:cNvSpPr/>
          <p:nvPr/>
        </p:nvSpPr>
        <p:spPr>
          <a:xfrm>
            <a:off x="548640" y="222192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21" name="Shape 4"/>
          <p:cNvSpPr/>
          <p:nvPr/>
        </p:nvSpPr>
        <p:spPr>
          <a:xfrm>
            <a:off x="777240" y="27403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22" name="Text 5"/>
          <p:cNvSpPr/>
          <p:nvPr/>
        </p:nvSpPr>
        <p:spPr>
          <a:xfrm>
            <a:off x="1143000" y="222192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Implementing a data structure the borrow checker can't verify  </a:t>
            </a:r>
            <a:r>
              <a:rPr b="0" lang="en-US" sz="1200" spc="-1" strike="noStrike">
                <a:solidFill>
                  <a:srgbClr val="9aa4b8"/>
                </a:solidFill>
                <a:latin typeface="Arial"/>
                <a:ea typeface="Arial"/>
              </a:rPr>
              <a:t>(e.g. certain lock-free structures, intrusive linked lists).</a:t>
            </a:r>
            <a:endParaRPr b="0" lang="en-US" sz="1200" spc="-1" strike="noStrike">
              <a:solidFill>
                <a:srgbClr val="ffffff"/>
              </a:solidFill>
              <a:latin typeface="Arial"/>
            </a:endParaRPr>
          </a:p>
        </p:txBody>
      </p:sp>
      <p:sp>
        <p:nvSpPr>
          <p:cNvPr id="1923" name="Shape 6"/>
          <p:cNvSpPr/>
          <p:nvPr/>
        </p:nvSpPr>
        <p:spPr>
          <a:xfrm>
            <a:off x="548640" y="356904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24" name="Shape 7"/>
          <p:cNvSpPr/>
          <p:nvPr/>
        </p:nvSpPr>
        <p:spPr>
          <a:xfrm>
            <a:off x="777240" y="408744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25" name="Text 8"/>
          <p:cNvSpPr/>
          <p:nvPr/>
        </p:nvSpPr>
        <p:spPr>
          <a:xfrm>
            <a:off x="1143000" y="356904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Talking to hardware, calling into a C/C++ library, or writing a low-level allocator.  </a:t>
            </a:r>
            <a:endParaRPr b="0" lang="en-US" sz="1250" spc="-1" strike="noStrike">
              <a:solidFill>
                <a:srgbClr val="ffffff"/>
              </a:solidFill>
              <a:latin typeface="Arial"/>
            </a:endParaRPr>
          </a:p>
        </p:txBody>
      </p:sp>
      <p:sp>
        <p:nvSpPr>
          <p:cNvPr id="1926" name="Shape 9"/>
          <p:cNvSpPr/>
          <p:nvPr/>
        </p:nvSpPr>
        <p:spPr>
          <a:xfrm>
            <a:off x="548640" y="491652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27" name="Shape 10"/>
          <p:cNvSpPr/>
          <p:nvPr/>
        </p:nvSpPr>
        <p:spPr>
          <a:xfrm>
            <a:off x="777240" y="543456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28" name="Text 11"/>
          <p:cNvSpPr/>
          <p:nvPr/>
        </p:nvSpPr>
        <p:spPr>
          <a:xfrm>
            <a:off x="1143000" y="491652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This is precisely the terrain Day 3 lives in:  </a:t>
            </a:r>
            <a:r>
              <a:rPr b="0" lang="en-US" sz="1200" spc="-1" strike="noStrike">
                <a:solidFill>
                  <a:srgbClr val="9aa4b8"/>
                </a:solidFill>
                <a:latin typeface="Arial"/>
                <a:ea typeface="Arial"/>
              </a:rPr>
              <a:t>writing and calling GPU kernels means crossing the Rust/CUDA-C++ boundary deliberately and carefully.</a:t>
            </a:r>
            <a:endParaRPr b="0" lang="en-US" sz="1200" spc="-1" strike="noStrike">
              <a:solidFill>
                <a:srgbClr val="ffffff"/>
              </a:solidFill>
              <a:latin typeface="Arial"/>
            </a:endParaRPr>
          </a:p>
        </p:txBody>
      </p:sp>
      <p:sp>
        <p:nvSpPr>
          <p:cNvPr id="1929" name="Text 12"/>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930" name="Text 13"/>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129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931" name="Shape 0"/>
          <p:cNvSpPr/>
          <p:nvPr/>
        </p:nvSpPr>
        <p:spPr>
          <a:xfrm>
            <a:off x="548640" y="2651760"/>
            <a:ext cx="1370160" cy="1370160"/>
          </a:xfrm>
          <a:prstGeom prst="roundRect">
            <a:avLst>
              <a:gd name="adj" fmla="val 6667"/>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32" name="Text 1"/>
          <p:cNvSpPr/>
          <p:nvPr/>
        </p:nvSpPr>
        <p:spPr>
          <a:xfrm>
            <a:off x="548640" y="2651760"/>
            <a:ext cx="1370160" cy="1370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400" spc="-1" strike="noStrike">
                <a:solidFill>
                  <a:srgbClr val="e8804f"/>
                </a:solidFill>
                <a:latin typeface="Consolas"/>
                <a:ea typeface="Consolas"/>
              </a:rPr>
              <a:t>15</a:t>
            </a:r>
            <a:endParaRPr b="0" lang="en-US" sz="3400" spc="-1" strike="noStrike">
              <a:solidFill>
                <a:srgbClr val="ffffff"/>
              </a:solidFill>
              <a:latin typeface="Arial"/>
            </a:endParaRPr>
          </a:p>
        </p:txBody>
      </p:sp>
      <p:sp>
        <p:nvSpPr>
          <p:cNvPr id="1933" name="Text 2"/>
          <p:cNvSpPr/>
          <p:nvPr/>
        </p:nvSpPr>
        <p:spPr>
          <a:xfrm>
            <a:off x="2194560" y="2743200"/>
            <a:ext cx="932544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Tooling &amp; Testing</a:t>
            </a:r>
            <a:endParaRPr b="0" lang="en-US" sz="2800" spc="-1" strike="noStrike">
              <a:solidFill>
                <a:srgbClr val="ffffff"/>
              </a:solidFill>
              <a:latin typeface="Arial"/>
            </a:endParaRPr>
          </a:p>
        </p:txBody>
      </p:sp>
      <p:sp>
        <p:nvSpPr>
          <p:cNvPr id="1934" name="Text 3"/>
          <p:cNvSpPr/>
          <p:nvPr/>
        </p:nvSpPr>
        <p:spPr>
          <a:xfrm>
            <a:off x="2194560" y="3474720"/>
            <a:ext cx="8959680" cy="547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50" spc="-1" strike="noStrike">
                <a:solidFill>
                  <a:srgbClr val="9aa4b8"/>
                </a:solidFill>
                <a:latin typeface="Arial"/>
                <a:ea typeface="Arial"/>
              </a:rPr>
              <a:t>What ships in the box, versus what you assemble yourself</a:t>
            </a:r>
            <a:endParaRPr b="0" lang="en-US" sz="1350" spc="-1" strike="noStrike">
              <a:solidFill>
                <a:srgbClr val="ffffff"/>
              </a:solidFill>
              <a:latin typeface="Arial"/>
            </a:endParaRPr>
          </a:p>
        </p:txBody>
      </p:sp>
      <p:sp>
        <p:nvSpPr>
          <p:cNvPr id="1935" name="Text 4"/>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936" name="Text 5"/>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130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937"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TOOLING</a:t>
            </a:r>
            <a:endParaRPr b="0" lang="en-US" sz="1300" spc="-1" strike="noStrike">
              <a:solidFill>
                <a:srgbClr val="ffffff"/>
              </a:solidFill>
              <a:latin typeface="Arial"/>
            </a:endParaRPr>
          </a:p>
        </p:txBody>
      </p:sp>
      <p:sp>
        <p:nvSpPr>
          <p:cNvPr id="1938"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Unit testing setup</a:t>
            </a:r>
            <a:endParaRPr b="0" lang="en-US" sz="2800" spc="-1" strike="noStrike">
              <a:solidFill>
                <a:srgbClr val="ffffff"/>
              </a:solidFill>
              <a:latin typeface="Arial"/>
            </a:endParaRPr>
          </a:p>
        </p:txBody>
      </p:sp>
      <p:sp>
        <p:nvSpPr>
          <p:cNvPr id="1939"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40"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41"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942"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943"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 requires choosing and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integrating GoogleTest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or Catch2, wiring it into</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CMake, and adding a</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separate test target</a:t>
            </a:r>
            <a:endParaRPr b="0" lang="en-US" sz="1200" spc="-1" strike="noStrike">
              <a:solidFill>
                <a:srgbClr val="ffffff"/>
              </a:solidFill>
              <a:latin typeface="Arial"/>
            </a:endParaRPr>
          </a:p>
        </p:txBody>
      </p:sp>
      <p:sp>
        <p:nvSpPr>
          <p:cNvPr id="1944"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Testing frameworks are third-party and require deliberate setup: fetching the library, linking it, and configuring a separate build target.</a:t>
            </a:r>
            <a:endParaRPr b="0" lang="en-US" sz="1100" spc="-1" strike="noStrike">
              <a:solidFill>
                <a:srgbClr val="ffffff"/>
              </a:solidFill>
              <a:latin typeface="Arial"/>
            </a:endParaRPr>
          </a:p>
        </p:txBody>
      </p:sp>
      <p:sp>
        <p:nvSpPr>
          <p:cNvPr id="1945"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46"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47"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948"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949"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#[test]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fn adds_correctly()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assert_eq!(2 + 2, 4);</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cargo test finds and runs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this automatically</a:t>
            </a:r>
            <a:endParaRPr b="0" lang="en-US" sz="1200" spc="-1" strike="noStrike">
              <a:solidFill>
                <a:srgbClr val="ffffff"/>
              </a:solidFill>
              <a:latin typeface="Arial"/>
            </a:endParaRPr>
          </a:p>
        </p:txBody>
      </p:sp>
      <p:sp>
        <p:nvSpPr>
          <p:cNvPr id="1950"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Testing is built into the language (#[test]) and the toolchain (cargo test). No separate framework, dependency, or build target is required.</a:t>
            </a:r>
            <a:endParaRPr b="0" lang="en-US" sz="1100" spc="-1" strike="noStrike">
              <a:solidFill>
                <a:srgbClr val="ffffff"/>
              </a:solidFill>
              <a:latin typeface="Arial"/>
            </a:endParaRPr>
          </a:p>
        </p:txBody>
      </p:sp>
      <p:sp>
        <p:nvSpPr>
          <p:cNvPr id="1951"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52"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Zero-setup testing means a throwaway prototype and a mission-critical library get the same frictionless path to having tests at all.</a:t>
            </a:r>
            <a:endParaRPr b="0" lang="en-US" sz="1150" spc="-1" strike="noStrike">
              <a:solidFill>
                <a:srgbClr val="ffffff"/>
              </a:solidFill>
              <a:latin typeface="Arial"/>
            </a:endParaRPr>
          </a:p>
        </p:txBody>
      </p:sp>
      <p:sp>
        <p:nvSpPr>
          <p:cNvPr id="1953"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954"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131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955"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TOOLING &amp; TESTING</a:t>
            </a:r>
            <a:endParaRPr b="0" lang="en-US" sz="1300" spc="-1" strike="noStrike">
              <a:solidFill>
                <a:srgbClr val="ffffff"/>
              </a:solidFill>
              <a:latin typeface="Arial"/>
            </a:endParaRPr>
          </a:p>
        </p:txBody>
      </p:sp>
      <p:sp>
        <p:nvSpPr>
          <p:cNvPr id="1956"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Clippy: the linter that ships with the toolchain</a:t>
            </a:r>
            <a:endParaRPr b="0" lang="en-US" sz="2800" spc="-1" strike="noStrike">
              <a:solidFill>
                <a:srgbClr val="ffffff"/>
              </a:solidFill>
              <a:latin typeface="Arial"/>
            </a:endParaRPr>
          </a:p>
        </p:txBody>
      </p:sp>
      <p:sp>
        <p:nvSpPr>
          <p:cNvPr id="1957"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58"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59"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cargo clippy runs hundreds of lints for idiomatic patterns,  </a:t>
            </a:r>
            <a:r>
              <a:rPr b="0" lang="en-US" sz="1200" spc="-1" strike="noStrike">
                <a:solidFill>
                  <a:srgbClr val="9aa4b8"/>
                </a:solidFill>
                <a:latin typeface="Arial"/>
                <a:ea typeface="Arial"/>
              </a:rPr>
              <a:t>performance footguns, and likely-bug patterns — directly analogous to clang-tidy.</a:t>
            </a:r>
            <a:endParaRPr b="0" lang="en-US" sz="1200" spc="-1" strike="noStrike">
              <a:solidFill>
                <a:srgbClr val="ffffff"/>
              </a:solidFill>
              <a:latin typeface="Arial"/>
            </a:endParaRPr>
          </a:p>
        </p:txBody>
      </p:sp>
      <p:sp>
        <p:nvSpPr>
          <p:cNvPr id="1960"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61"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62"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Unlike many clang-tidy setups, clippy requires no separate configuration file  </a:t>
            </a:r>
            <a:r>
              <a:rPr b="0" lang="en-US" sz="1200" spc="-1" strike="noStrike">
                <a:solidFill>
                  <a:srgbClr val="9aa4b8"/>
                </a:solidFill>
                <a:latin typeface="Arial"/>
                <a:ea typeface="Arial"/>
              </a:rPr>
              <a:t>to get a strong baseline — it works well the moment you run it.</a:t>
            </a:r>
            <a:endParaRPr b="0" lang="en-US" sz="1200" spc="-1" strike="noStrike">
              <a:solidFill>
                <a:srgbClr val="ffffff"/>
              </a:solidFill>
              <a:latin typeface="Arial"/>
            </a:endParaRPr>
          </a:p>
        </p:txBody>
      </p:sp>
      <p:sp>
        <p:nvSpPr>
          <p:cNvPr id="1963"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64"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65"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Lints are categorized (correctness, style, performance, pedantic)  </a:t>
            </a:r>
            <a:r>
              <a:rPr b="0" lang="en-US" sz="1200" spc="-1" strike="noStrike">
                <a:solidFill>
                  <a:srgbClr val="9aa4b8"/>
                </a:solidFill>
                <a:latin typeface="Arial"/>
                <a:ea typeface="Arial"/>
              </a:rPr>
              <a:t>so teams can tune strictness without an external ruleset to maintain.</a:t>
            </a:r>
            <a:endParaRPr b="0" lang="en-US" sz="1200" spc="-1" strike="noStrike">
              <a:solidFill>
                <a:srgbClr val="ffffff"/>
              </a:solidFill>
              <a:latin typeface="Arial"/>
            </a:endParaRPr>
          </a:p>
        </p:txBody>
      </p:sp>
      <p:sp>
        <p:nvSpPr>
          <p:cNvPr id="1966"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967"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132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968"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TOOLING &amp; TESTING</a:t>
            </a:r>
            <a:endParaRPr b="0" lang="en-US" sz="1300" spc="-1" strike="noStrike">
              <a:solidFill>
                <a:srgbClr val="ffffff"/>
              </a:solidFill>
              <a:latin typeface="Arial"/>
            </a:endParaRPr>
          </a:p>
        </p:txBody>
      </p:sp>
      <p:sp>
        <p:nvSpPr>
          <p:cNvPr id="1969"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rustfmt: one canonical style, no debate</a:t>
            </a:r>
            <a:endParaRPr b="0" lang="en-US" sz="2800" spc="-1" strike="noStrike">
              <a:solidFill>
                <a:srgbClr val="ffffff"/>
              </a:solidFill>
              <a:latin typeface="Arial"/>
            </a:endParaRPr>
          </a:p>
        </p:txBody>
      </p:sp>
      <p:sp>
        <p:nvSpPr>
          <p:cNvPr id="1970"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71"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72"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cargo fmt reformats the entire codebase to a single, community-standard style,  </a:t>
            </a:r>
            <a:r>
              <a:rPr b="0" lang="en-US" sz="1200" spc="-1" strike="noStrike">
                <a:solidFill>
                  <a:srgbClr val="9aa4b8"/>
                </a:solidFill>
                <a:latin typeface="Arial"/>
                <a:ea typeface="Arial"/>
              </a:rPr>
              <a:t>the direct analogue of clang-format.</a:t>
            </a:r>
            <a:endParaRPr b="0" lang="en-US" sz="1200" spc="-1" strike="noStrike">
              <a:solidFill>
                <a:srgbClr val="ffffff"/>
              </a:solidFill>
              <a:latin typeface="Arial"/>
            </a:endParaRPr>
          </a:p>
        </p:txBody>
      </p:sp>
      <p:sp>
        <p:nvSpPr>
          <p:cNvPr id="1973"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74"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75"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Because there's one dominant convention across the whole ecosystem,  </a:t>
            </a:r>
            <a:r>
              <a:rPr b="0" lang="en-US" sz="1200" spc="-1" strike="noStrike">
                <a:solidFill>
                  <a:srgbClr val="9aa4b8"/>
                </a:solidFill>
                <a:latin typeface="Arial"/>
                <a:ea typeface="Arial"/>
              </a:rPr>
              <a:t>every crate you depend on already looks the way your own code does.</a:t>
            </a:r>
            <a:endParaRPr b="0" lang="en-US" sz="1200" spc="-1" strike="noStrike">
              <a:solidFill>
                <a:srgbClr val="ffffff"/>
              </a:solidFill>
              <a:latin typeface="Arial"/>
            </a:endParaRPr>
          </a:p>
        </p:txBody>
      </p:sp>
      <p:sp>
        <p:nvSpPr>
          <p:cNvPr id="1976"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77"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78"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This ends the "tabs vs. spaces" class of code review comments  </a:t>
            </a:r>
            <a:r>
              <a:rPr b="0" lang="en-US" sz="1200" spc="-1" strike="noStrike">
                <a:solidFill>
                  <a:srgbClr val="9aa4b8"/>
                </a:solidFill>
                <a:latin typeface="Arial"/>
                <a:ea typeface="Arial"/>
              </a:rPr>
              <a:t>before they start.</a:t>
            </a:r>
            <a:endParaRPr b="0" lang="en-US" sz="1200" spc="-1" strike="noStrike">
              <a:solidFill>
                <a:srgbClr val="ffffff"/>
              </a:solidFill>
              <a:latin typeface="Arial"/>
            </a:endParaRPr>
          </a:p>
        </p:txBody>
      </p:sp>
      <p:sp>
        <p:nvSpPr>
          <p:cNvPr id="1979"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980"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133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981"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TOOLING &amp; TESTING</a:t>
            </a:r>
            <a:endParaRPr b="0" lang="en-US" sz="1300" spc="-1" strike="noStrike">
              <a:solidFill>
                <a:srgbClr val="ffffff"/>
              </a:solidFill>
              <a:latin typeface="Arial"/>
            </a:endParaRPr>
          </a:p>
        </p:txBody>
      </p:sp>
      <p:sp>
        <p:nvSpPr>
          <p:cNvPr id="1982"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Documentation: cargo doc vs. Doxygen</a:t>
            </a:r>
            <a:endParaRPr b="0" lang="en-US" sz="2800" spc="-1" strike="noStrike">
              <a:solidFill>
                <a:srgbClr val="ffffff"/>
              </a:solidFill>
              <a:latin typeface="Arial"/>
            </a:endParaRPr>
          </a:p>
        </p:txBody>
      </p:sp>
      <p:sp>
        <p:nvSpPr>
          <p:cNvPr id="1983"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84"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85"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 doc comments support embedded, runnable code examples  </a:t>
            </a:r>
            <a:r>
              <a:rPr b="0" lang="en-US" sz="1200" spc="-1" strike="noStrike">
                <a:solidFill>
                  <a:srgbClr val="9aa4b8"/>
                </a:solidFill>
                <a:latin typeface="Arial"/>
                <a:ea typeface="Arial"/>
              </a:rPr>
              <a:t>that cargo test actually executes — your documentation can't silently go stale and wrong.</a:t>
            </a:r>
            <a:endParaRPr b="0" lang="en-US" sz="1200" spc="-1" strike="noStrike">
              <a:solidFill>
                <a:srgbClr val="ffffff"/>
              </a:solidFill>
              <a:latin typeface="Arial"/>
            </a:endParaRPr>
          </a:p>
        </p:txBody>
      </p:sp>
      <p:sp>
        <p:nvSpPr>
          <p:cNvPr id="1986"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87"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88"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cargo doc --open generates browsable HTML documentation for your crate and every dependency,  </a:t>
            </a:r>
            <a:r>
              <a:rPr b="0" lang="en-US" sz="1200" spc="-1" strike="noStrike">
                <a:solidFill>
                  <a:srgbClr val="9aa4b8"/>
                </a:solidFill>
                <a:latin typeface="Arial"/>
                <a:ea typeface="Arial"/>
              </a:rPr>
              <a:t>with consistent formatting across the whole ecosystem.</a:t>
            </a:r>
            <a:endParaRPr b="0" lang="en-US" sz="1200" spc="-1" strike="noStrike">
              <a:solidFill>
                <a:srgbClr val="ffffff"/>
              </a:solidFill>
              <a:latin typeface="Arial"/>
            </a:endParaRPr>
          </a:p>
        </p:txBody>
      </p:sp>
      <p:sp>
        <p:nvSpPr>
          <p:cNvPr id="1989"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90"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91"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docs.rs automatically builds and hosts documentation  </a:t>
            </a:r>
            <a:r>
              <a:rPr b="0" lang="en-US" sz="1200" spc="-1" strike="noStrike">
                <a:solidFill>
                  <a:srgbClr val="9aa4b8"/>
                </a:solidFill>
                <a:latin typeface="Arial"/>
                <a:ea typeface="Arial"/>
              </a:rPr>
              <a:t>for every version of every public crate, for free.</a:t>
            </a:r>
            <a:endParaRPr b="0" lang="en-US" sz="1200" spc="-1" strike="noStrike">
              <a:solidFill>
                <a:srgbClr val="ffffff"/>
              </a:solidFill>
              <a:latin typeface="Arial"/>
            </a:endParaRPr>
          </a:p>
        </p:txBody>
      </p:sp>
      <p:sp>
        <p:nvSpPr>
          <p:cNvPr id="1992"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993"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134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994"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TOOLING &amp; TESTING</a:t>
            </a:r>
            <a:endParaRPr b="0" lang="en-US" sz="1300" spc="-1" strike="noStrike">
              <a:solidFill>
                <a:srgbClr val="ffffff"/>
              </a:solidFill>
              <a:latin typeface="Arial"/>
            </a:endParaRPr>
          </a:p>
        </p:txBody>
      </p:sp>
      <p:sp>
        <p:nvSpPr>
          <p:cNvPr id="1995"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Package ecosystem maturity: an honest comparison</a:t>
            </a:r>
            <a:endParaRPr b="0" lang="en-US" sz="2800" spc="-1" strike="noStrike">
              <a:solidFill>
                <a:srgbClr val="ffffff"/>
              </a:solidFill>
              <a:latin typeface="Arial"/>
            </a:endParaRPr>
          </a:p>
        </p:txBody>
      </p:sp>
      <p:sp>
        <p:nvSpPr>
          <p:cNvPr id="1996"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97"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98"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crates.io centralizes discovery the way vcpkg and Conan both aspire to,  </a:t>
            </a:r>
            <a:r>
              <a:rPr b="0" lang="en-US" sz="1200" spc="-1" strike="noStrike">
                <a:solidFill>
                  <a:srgbClr val="9aa4b8"/>
                </a:solidFill>
                <a:latin typeface="Arial"/>
                <a:ea typeface="Arial"/>
              </a:rPr>
              <a:t>with a single canonical registry rather than several competing ones.</a:t>
            </a:r>
            <a:endParaRPr b="0" lang="en-US" sz="1200" spc="-1" strike="noStrike">
              <a:solidFill>
                <a:srgbClr val="ffffff"/>
              </a:solidFill>
              <a:latin typeface="Arial"/>
            </a:endParaRPr>
          </a:p>
        </p:txBody>
      </p:sp>
      <p:sp>
        <p:nvSpPr>
          <p:cNvPr id="1999"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00"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01"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General-purpose and web/backend crates are extremely mature;  </a:t>
            </a:r>
            <a:r>
              <a:rPr b="0" lang="en-US" sz="1200" spc="-1" strike="noStrike">
                <a:solidFill>
                  <a:srgbClr val="9aa4b8"/>
                </a:solidFill>
                <a:latin typeface="Arial"/>
                <a:ea typeface="Arial"/>
              </a:rPr>
              <a:t>some specialized domains (certain embedded targets, some GPU tooling) are younger — which Day 3 addresses directly.</a:t>
            </a:r>
            <a:endParaRPr b="0" lang="en-US" sz="1200" spc="-1" strike="noStrike">
              <a:solidFill>
                <a:srgbClr val="ffffff"/>
              </a:solidFill>
              <a:latin typeface="Arial"/>
            </a:endParaRPr>
          </a:p>
        </p:txBody>
      </p:sp>
      <p:sp>
        <p:nvSpPr>
          <p:cNvPr id="2002"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03"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04"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Semantic versioning is enforced by convention and tooling (cargo-semver-checks),  </a:t>
            </a:r>
            <a:r>
              <a:rPr b="0" lang="en-US" sz="1200" spc="-1" strike="noStrike">
                <a:solidFill>
                  <a:srgbClr val="9aa4b8"/>
                </a:solidFill>
                <a:latin typeface="Arial"/>
                <a:ea typeface="Arial"/>
              </a:rPr>
              <a:t>reducing (not eliminating) the "minor version broke my build" problem.</a:t>
            </a:r>
            <a:endParaRPr b="0" lang="en-US" sz="1200" spc="-1" strike="noStrike">
              <a:solidFill>
                <a:srgbClr val="ffffff"/>
              </a:solidFill>
              <a:latin typeface="Arial"/>
            </a:endParaRPr>
          </a:p>
        </p:txBody>
      </p:sp>
      <p:sp>
        <p:nvSpPr>
          <p:cNvPr id="2005"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006"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135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007"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TOOLING &amp; TESTING</a:t>
            </a:r>
            <a:endParaRPr b="0" lang="en-US" sz="1300" spc="-1" strike="noStrike">
              <a:solidFill>
                <a:srgbClr val="ffffff"/>
              </a:solidFill>
              <a:latin typeface="Arial"/>
            </a:endParaRPr>
          </a:p>
        </p:txBody>
      </p:sp>
      <p:sp>
        <p:nvSpPr>
          <p:cNvPr id="2008"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Benchmarking: criterion vs. Google Benchmark</a:t>
            </a:r>
            <a:endParaRPr b="0" lang="en-US" sz="2800" spc="-1" strike="noStrike">
              <a:solidFill>
                <a:srgbClr val="ffffff"/>
              </a:solidFill>
              <a:latin typeface="Arial"/>
            </a:endParaRPr>
          </a:p>
        </p:txBody>
      </p:sp>
      <p:sp>
        <p:nvSpPr>
          <p:cNvPr id="2009"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10"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11"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The criterion crate provides statistically rigorous benchmarking  </a:t>
            </a:r>
            <a:r>
              <a:rPr b="0" lang="en-US" sz="1200" spc="-1" strike="noStrike">
                <a:solidFill>
                  <a:srgbClr val="9aa4b8"/>
                </a:solidFill>
                <a:latin typeface="Arial"/>
                <a:ea typeface="Arial"/>
              </a:rPr>
              <a:t>with automatic outlier detection and regression tracking — conceptually parallel to Google Benchmark.</a:t>
            </a:r>
            <a:endParaRPr b="0" lang="en-US" sz="1200" spc="-1" strike="noStrike">
              <a:solidFill>
                <a:srgbClr val="ffffff"/>
              </a:solidFill>
              <a:latin typeface="Arial"/>
            </a:endParaRPr>
          </a:p>
        </p:txBody>
      </p:sp>
      <p:sp>
        <p:nvSpPr>
          <p:cNvPr id="2012"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13"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14"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cargo bench integrates benchmark running into the standard toolchain workflow,  </a:t>
            </a:r>
            <a:r>
              <a:rPr b="0" lang="en-US" sz="1200" spc="-1" strike="noStrike">
                <a:solidFill>
                  <a:srgbClr val="9aa4b8"/>
                </a:solidFill>
                <a:latin typeface="Arial"/>
                <a:ea typeface="Arial"/>
              </a:rPr>
              <a:t>the same way cargo test integrates testing.</a:t>
            </a:r>
            <a:endParaRPr b="0" lang="en-US" sz="1200" spc="-1" strike="noStrike">
              <a:solidFill>
                <a:srgbClr val="ffffff"/>
              </a:solidFill>
              <a:latin typeface="Arial"/>
            </a:endParaRPr>
          </a:p>
        </p:txBody>
      </p:sp>
      <p:sp>
        <p:nvSpPr>
          <p:cNvPr id="2015"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16"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17"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We'll use this directly on Day 3  </a:t>
            </a:r>
            <a:r>
              <a:rPr b="0" lang="en-US" sz="1200" spc="-1" strike="noStrike">
                <a:solidFill>
                  <a:srgbClr val="9aa4b8"/>
                </a:solidFill>
                <a:latin typeface="Arial"/>
                <a:ea typeface="Arial"/>
              </a:rPr>
              <a:t>when comparing a Rust-hosted CUDA kernel against its native CUDA C++ equivalent.</a:t>
            </a:r>
            <a:endParaRPr b="0" lang="en-US" sz="1200" spc="-1" strike="noStrike">
              <a:solidFill>
                <a:srgbClr val="ffffff"/>
              </a:solidFill>
              <a:latin typeface="Arial"/>
            </a:endParaRPr>
          </a:p>
        </p:txBody>
      </p:sp>
      <p:sp>
        <p:nvSpPr>
          <p:cNvPr id="2018"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019"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136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020" name="Shape 0"/>
          <p:cNvSpPr/>
          <p:nvPr/>
        </p:nvSpPr>
        <p:spPr>
          <a:xfrm>
            <a:off x="548640" y="2651760"/>
            <a:ext cx="1370160" cy="1370160"/>
          </a:xfrm>
          <a:prstGeom prst="roundRect">
            <a:avLst>
              <a:gd name="adj" fmla="val 6667"/>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21" name="Text 1"/>
          <p:cNvSpPr/>
          <p:nvPr/>
        </p:nvSpPr>
        <p:spPr>
          <a:xfrm>
            <a:off x="548640" y="2651760"/>
            <a:ext cx="1370160" cy="1370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400" spc="-1" strike="noStrike">
                <a:solidFill>
                  <a:srgbClr val="e8804f"/>
                </a:solidFill>
                <a:latin typeface="Consolas"/>
                <a:ea typeface="Consolas"/>
              </a:rPr>
              <a:t>16</a:t>
            </a:r>
            <a:endParaRPr b="0" lang="en-US" sz="3400" spc="-1" strike="noStrike">
              <a:solidFill>
                <a:srgbClr val="ffffff"/>
              </a:solidFill>
              <a:latin typeface="Arial"/>
            </a:endParaRPr>
          </a:p>
        </p:txBody>
      </p:sp>
      <p:sp>
        <p:nvSpPr>
          <p:cNvPr id="2022" name="Text 2"/>
          <p:cNvSpPr/>
          <p:nvPr/>
        </p:nvSpPr>
        <p:spPr>
          <a:xfrm>
            <a:off x="2194560" y="2743200"/>
            <a:ext cx="932544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Practice Problems</a:t>
            </a:r>
            <a:endParaRPr b="0" lang="en-US" sz="2800" spc="-1" strike="noStrike">
              <a:solidFill>
                <a:srgbClr val="ffffff"/>
              </a:solidFill>
              <a:latin typeface="Arial"/>
            </a:endParaRPr>
          </a:p>
        </p:txBody>
      </p:sp>
      <p:sp>
        <p:nvSpPr>
          <p:cNvPr id="2023" name="Text 3"/>
          <p:cNvSpPr/>
          <p:nvPr/>
        </p:nvSpPr>
        <p:spPr>
          <a:xfrm>
            <a:off x="2194560" y="3474720"/>
            <a:ext cx="8959680" cy="547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50" spc="-1" strike="noStrike">
                <a:solidFill>
                  <a:srgbClr val="9aa4b8"/>
                </a:solidFill>
                <a:latin typeface="Arial"/>
                <a:ea typeface="Arial"/>
              </a:rPr>
              <a:t>Ten problems, easy to hard — a few of them are traps</a:t>
            </a:r>
            <a:endParaRPr b="0" lang="en-US" sz="1350" spc="-1" strike="noStrike">
              <a:solidFill>
                <a:srgbClr val="ffffff"/>
              </a:solidFill>
              <a:latin typeface="Arial"/>
            </a:endParaRPr>
          </a:p>
        </p:txBody>
      </p:sp>
      <p:sp>
        <p:nvSpPr>
          <p:cNvPr id="2024" name="Text 4"/>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025" name="Text 5"/>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137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026"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PRACTICE PROBLEMS</a:t>
            </a:r>
            <a:endParaRPr b="0" lang="en-US" sz="1300" spc="-1" strike="noStrike">
              <a:solidFill>
                <a:srgbClr val="ffffff"/>
              </a:solidFill>
              <a:latin typeface="Arial"/>
            </a:endParaRPr>
          </a:p>
        </p:txBody>
      </p:sp>
      <p:sp>
        <p:nvSpPr>
          <p:cNvPr id="2027"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How this module works</a:t>
            </a:r>
            <a:endParaRPr b="0" lang="en-US" sz="2800" spc="-1" strike="noStrike">
              <a:solidFill>
                <a:srgbClr val="ffffff"/>
              </a:solidFill>
              <a:latin typeface="Arial"/>
            </a:endParaRPr>
          </a:p>
        </p:txBody>
      </p:sp>
      <p:sp>
        <p:nvSpPr>
          <p:cNvPr id="2028" name="Text 2"/>
          <p:cNvSpPr/>
          <p:nvPr/>
        </p:nvSpPr>
        <p:spPr>
          <a:xfrm>
            <a:off x="548640" y="1600200"/>
            <a:ext cx="11062800" cy="501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i="1" lang="en-US" sz="1300" spc="-1" strike="noStrike">
                <a:solidFill>
                  <a:srgbClr val="9aa4b8"/>
                </a:solidFill>
                <a:latin typeface="Arial"/>
                <a:ea typeface="Arial"/>
              </a:rPr>
              <a:t>Ten short problems, roughly increasing in difficulty. Each is one slide of code and a task, followed by one slide of solution and explanation.</a:t>
            </a:r>
            <a:endParaRPr b="0" lang="en-US" sz="1300" spc="-1" strike="noStrike">
              <a:solidFill>
                <a:srgbClr val="ffffff"/>
              </a:solidFill>
              <a:latin typeface="Arial"/>
            </a:endParaRPr>
          </a:p>
        </p:txBody>
      </p:sp>
      <p:sp>
        <p:nvSpPr>
          <p:cNvPr id="2029" name="Shape 3"/>
          <p:cNvSpPr/>
          <p:nvPr/>
        </p:nvSpPr>
        <p:spPr>
          <a:xfrm>
            <a:off x="548640" y="222192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30" name="Shape 4"/>
          <p:cNvSpPr/>
          <p:nvPr/>
        </p:nvSpPr>
        <p:spPr>
          <a:xfrm>
            <a:off x="777240" y="27403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31" name="Text 5"/>
          <p:cNvSpPr/>
          <p:nvPr/>
        </p:nvSpPr>
        <p:spPr>
          <a:xfrm>
            <a:off x="1143000" y="222192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Difficulty is labeled Easy, Medium, or Hard — but difficulty and "trap" are independent.  </a:t>
            </a:r>
            <a:r>
              <a:rPr b="0" lang="en-US" sz="1200" spc="-1" strike="noStrike">
                <a:solidFill>
                  <a:srgbClr val="9aa4b8"/>
                </a:solidFill>
                <a:latin typeface="Arial"/>
                <a:ea typeface="Arial"/>
              </a:rPr>
              <a:t>A few problems at every difficulty level are marked TRAP: code that looks fine, compiles (or almost compiles), and does something other than what you'd expect.</a:t>
            </a:r>
            <a:endParaRPr b="0" lang="en-US" sz="1200" spc="-1" strike="noStrike">
              <a:solidFill>
                <a:srgbClr val="ffffff"/>
              </a:solidFill>
              <a:latin typeface="Arial"/>
            </a:endParaRPr>
          </a:p>
        </p:txBody>
      </p:sp>
      <p:sp>
        <p:nvSpPr>
          <p:cNvPr id="2032" name="Shape 6"/>
          <p:cNvSpPr/>
          <p:nvPr/>
        </p:nvSpPr>
        <p:spPr>
          <a:xfrm>
            <a:off x="548640" y="356904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33" name="Shape 7"/>
          <p:cNvSpPr/>
          <p:nvPr/>
        </p:nvSpPr>
        <p:spPr>
          <a:xfrm>
            <a:off x="777240" y="408744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34" name="Text 8"/>
          <p:cNvSpPr/>
          <p:nvPr/>
        </p:nvSpPr>
        <p:spPr>
          <a:xfrm>
            <a:off x="1143000" y="356904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Try each problem yourself before advancing to the solution slide —  </a:t>
            </a:r>
            <a:r>
              <a:rPr b="0" lang="en-US" sz="1200" spc="-1" strike="noStrike">
                <a:solidFill>
                  <a:srgbClr val="9aa4b8"/>
                </a:solidFill>
                <a:latin typeface="Arial"/>
                <a:ea typeface="Arial"/>
              </a:rPr>
              <a:t>the value is in the wrong turn, not just the right answer.</a:t>
            </a:r>
            <a:endParaRPr b="0" lang="en-US" sz="1200" spc="-1" strike="noStrike">
              <a:solidFill>
                <a:srgbClr val="ffffff"/>
              </a:solidFill>
              <a:latin typeface="Arial"/>
            </a:endParaRPr>
          </a:p>
        </p:txBody>
      </p:sp>
      <p:sp>
        <p:nvSpPr>
          <p:cNvPr id="2035" name="Shape 9"/>
          <p:cNvSpPr/>
          <p:nvPr/>
        </p:nvSpPr>
        <p:spPr>
          <a:xfrm>
            <a:off x="548640" y="491652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36" name="Shape 10"/>
          <p:cNvSpPr/>
          <p:nvPr/>
        </p:nvSpPr>
        <p:spPr>
          <a:xfrm>
            <a:off x="777240" y="543456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37" name="Text 11"/>
          <p:cNvSpPr/>
          <p:nvPr/>
        </p:nvSpPr>
        <p:spPr>
          <a:xfrm>
            <a:off x="1143000" y="491652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Every problem draws on something from today's earlier modules —  </a:t>
            </a:r>
            <a:r>
              <a:rPr b="0" lang="en-US" sz="1200" spc="-1" strike="noStrike">
                <a:solidFill>
                  <a:srgbClr val="9aa4b8"/>
                </a:solidFill>
                <a:latin typeface="Arial"/>
                <a:ea typeface="Arial"/>
              </a:rPr>
              <a:t>this is a review, not new material.</a:t>
            </a:r>
            <a:endParaRPr b="0" lang="en-US" sz="1200" spc="-1" strike="noStrike">
              <a:solidFill>
                <a:srgbClr val="ffffff"/>
              </a:solidFill>
              <a:latin typeface="Arial"/>
            </a:endParaRPr>
          </a:p>
        </p:txBody>
      </p:sp>
      <p:sp>
        <p:nvSpPr>
          <p:cNvPr id="2038" name="Text 12"/>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039" name="Text 13"/>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138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040"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PRACTICE PROBLEMS — PROBLEM 1</a:t>
            </a:r>
            <a:endParaRPr b="0" lang="en-US" sz="1300" spc="-1" strike="noStrike">
              <a:solidFill>
                <a:srgbClr val="ffffff"/>
              </a:solidFill>
              <a:latin typeface="Arial"/>
            </a:endParaRPr>
          </a:p>
        </p:txBody>
      </p:sp>
      <p:sp>
        <p:nvSpPr>
          <p:cNvPr id="2041" name="Shape 1"/>
          <p:cNvSpPr/>
          <p:nvPr/>
        </p:nvSpPr>
        <p:spPr>
          <a:xfrm>
            <a:off x="10707480" y="347400"/>
            <a:ext cx="766800" cy="364320"/>
          </a:xfrm>
          <a:prstGeom prst="roundRect">
            <a:avLst>
              <a:gd name="adj" fmla="val 125000"/>
            </a:avLst>
          </a:prstGeom>
          <a:solidFill>
            <a:srgbClr val="58c27d"/>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42" name="Text 2"/>
          <p:cNvSpPr/>
          <p:nvPr/>
        </p:nvSpPr>
        <p:spPr>
          <a:xfrm>
            <a:off x="10707480" y="347400"/>
            <a:ext cx="7668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1a1a1a"/>
                </a:solidFill>
                <a:latin typeface="Arial"/>
                <a:ea typeface="Arial"/>
              </a:rPr>
              <a:t>EASY</a:t>
            </a:r>
            <a:endParaRPr b="0" lang="en-US" sz="1050" spc="-1" strike="noStrike">
              <a:solidFill>
                <a:srgbClr val="ffffff"/>
              </a:solidFill>
              <a:latin typeface="Arial"/>
            </a:endParaRPr>
          </a:p>
        </p:txBody>
      </p:sp>
      <p:sp>
        <p:nvSpPr>
          <p:cNvPr id="2043" name="Text 3"/>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Immutable Binding</a:t>
            </a:r>
            <a:endParaRPr b="0" lang="en-US" sz="2800" spc="-1" strike="noStrike">
              <a:solidFill>
                <a:srgbClr val="ffffff"/>
              </a:solidFill>
              <a:latin typeface="Arial"/>
            </a:endParaRPr>
          </a:p>
        </p:txBody>
      </p:sp>
      <p:sp>
        <p:nvSpPr>
          <p:cNvPr id="2044" name="Shape 4"/>
          <p:cNvSpPr/>
          <p:nvPr/>
        </p:nvSpPr>
        <p:spPr>
          <a:xfrm>
            <a:off x="548640" y="1645920"/>
            <a:ext cx="11062800" cy="2467440"/>
          </a:xfrm>
          <a:prstGeom prst="roundRect">
            <a:avLst>
              <a:gd name="adj" fmla="val 3333"/>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45" name="Text 5"/>
          <p:cNvSpPr/>
          <p:nvPr/>
        </p:nvSpPr>
        <p:spPr>
          <a:xfrm>
            <a:off x="777240" y="1755720"/>
            <a:ext cx="10605600" cy="224784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400" spc="-1" strike="noStrike">
                <a:solidFill>
                  <a:srgbClr val="edeff4"/>
                </a:solidFill>
                <a:latin typeface="Consolas"/>
                <a:ea typeface="Consolas"/>
              </a:rPr>
              <a:t>fn main()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let x = 5;</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x = x + 1;</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println!("{}", x);</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a:t>
            </a:r>
            <a:endParaRPr b="0" lang="en-US" sz="1400" spc="-1" strike="noStrike">
              <a:solidFill>
                <a:srgbClr val="ffffff"/>
              </a:solidFill>
              <a:latin typeface="Arial"/>
            </a:endParaRPr>
          </a:p>
        </p:txBody>
      </p:sp>
      <p:sp>
        <p:nvSpPr>
          <p:cNvPr id="2046" name="Shape 6"/>
          <p:cNvSpPr/>
          <p:nvPr/>
        </p:nvSpPr>
        <p:spPr>
          <a:xfrm>
            <a:off x="548640" y="4251960"/>
            <a:ext cx="11062800" cy="1644480"/>
          </a:xfrm>
          <a:prstGeom prst="roundRect">
            <a:avLst>
              <a:gd name="adj" fmla="val 4444"/>
            </a:avLst>
          </a:prstGeom>
          <a:solidFill>
            <a:srgbClr val="202a40"/>
          </a:solidFill>
          <a:ln w="12700">
            <a:solidFill>
              <a:srgbClr val="e0b155"/>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47" name="Text 7"/>
          <p:cNvSpPr/>
          <p:nvPr/>
        </p:nvSpPr>
        <p:spPr>
          <a:xfrm>
            <a:off x="777240" y="4389120"/>
            <a:ext cx="10605600" cy="1370160"/>
          </a:xfrm>
          <a:prstGeom prst="rect">
            <a:avLst/>
          </a:prstGeom>
          <a:noFill/>
          <a:ln w="0">
            <a:noFill/>
          </a:ln>
        </p:spPr>
        <p:style>
          <a:lnRef idx="0"/>
          <a:fillRef idx="0"/>
          <a:effectRef idx="0"/>
          <a:fontRef idx="minor"/>
        </p:style>
        <p:txBody>
          <a:bodyPr lIns="90000" rIns="90000" tIns="45000" bIns="45000" anchor="t">
            <a:noAutofit/>
          </a:bodyPr>
          <a:p>
            <a:pPr defTabSz="914400">
              <a:lnSpc>
                <a:spcPct val="130000"/>
              </a:lnSpc>
              <a:tabLst>
                <a:tab algn="l" pos="0"/>
              </a:tabLst>
            </a:pPr>
            <a:r>
              <a:rPr b="1" lang="en-US" sz="1300" spc="-1" strike="noStrike">
                <a:solidFill>
                  <a:srgbClr val="e0b155"/>
                </a:solidFill>
                <a:latin typeface="Arial"/>
                <a:ea typeface="Arial"/>
              </a:rPr>
              <a:t>Task:  </a:t>
            </a:r>
            <a:r>
              <a:rPr b="0" lang="en-US" sz="1300" spc="-1" strike="noStrike">
                <a:solidFill>
                  <a:srgbClr val="edeff4"/>
                </a:solidFill>
                <a:latin typeface="Arial"/>
                <a:ea typeface="Arial"/>
              </a:rPr>
              <a:t>This fails to compile. Fix it with a single-word change.</a:t>
            </a:r>
            <a:endParaRPr b="0" lang="en-US" sz="1300" spc="-1" strike="noStrike">
              <a:solidFill>
                <a:srgbClr val="ffffff"/>
              </a:solidFill>
              <a:latin typeface="Arial"/>
            </a:endParaRPr>
          </a:p>
        </p:txBody>
      </p:sp>
      <p:sp>
        <p:nvSpPr>
          <p:cNvPr id="2048" name="Text 8"/>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049" name="Text 9"/>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139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050"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PRACTICE PROBLEMS — SOLUTION 1</a:t>
            </a:r>
            <a:endParaRPr b="0" lang="en-US" sz="1300" spc="-1" strike="noStrike">
              <a:solidFill>
                <a:srgbClr val="ffffff"/>
              </a:solidFill>
              <a:latin typeface="Arial"/>
            </a:endParaRPr>
          </a:p>
        </p:txBody>
      </p:sp>
      <p:sp>
        <p:nvSpPr>
          <p:cNvPr id="2051" name="Shape 1"/>
          <p:cNvSpPr/>
          <p:nvPr/>
        </p:nvSpPr>
        <p:spPr>
          <a:xfrm>
            <a:off x="10707480" y="347400"/>
            <a:ext cx="766800" cy="364320"/>
          </a:xfrm>
          <a:prstGeom prst="roundRect">
            <a:avLst>
              <a:gd name="adj" fmla="val 125000"/>
            </a:avLst>
          </a:prstGeom>
          <a:solidFill>
            <a:srgbClr val="58c27d"/>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52" name="Text 2"/>
          <p:cNvSpPr/>
          <p:nvPr/>
        </p:nvSpPr>
        <p:spPr>
          <a:xfrm>
            <a:off x="10707480" y="347400"/>
            <a:ext cx="7668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1a1a1a"/>
                </a:solidFill>
                <a:latin typeface="Arial"/>
                <a:ea typeface="Arial"/>
              </a:rPr>
              <a:t>EASY</a:t>
            </a:r>
            <a:endParaRPr b="0" lang="en-US" sz="1050" spc="-1" strike="noStrike">
              <a:solidFill>
                <a:srgbClr val="ffffff"/>
              </a:solidFill>
              <a:latin typeface="Arial"/>
            </a:endParaRPr>
          </a:p>
        </p:txBody>
      </p:sp>
      <p:sp>
        <p:nvSpPr>
          <p:cNvPr id="2053" name="Text 3"/>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Immutable Binding</a:t>
            </a:r>
            <a:endParaRPr b="0" lang="en-US" sz="2800" spc="-1" strike="noStrike">
              <a:solidFill>
                <a:srgbClr val="ffffff"/>
              </a:solidFill>
              <a:latin typeface="Arial"/>
            </a:endParaRPr>
          </a:p>
        </p:txBody>
      </p:sp>
      <p:sp>
        <p:nvSpPr>
          <p:cNvPr id="2054" name="Shape 4"/>
          <p:cNvSpPr/>
          <p:nvPr/>
        </p:nvSpPr>
        <p:spPr>
          <a:xfrm>
            <a:off x="548640" y="1645920"/>
            <a:ext cx="11062800" cy="2284560"/>
          </a:xfrm>
          <a:prstGeom prst="roundRect">
            <a:avLst>
              <a:gd name="adj" fmla="val 360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55" name="Text 5"/>
          <p:cNvSpPr/>
          <p:nvPr/>
        </p:nvSpPr>
        <p:spPr>
          <a:xfrm>
            <a:off x="777240" y="1755720"/>
            <a:ext cx="10605600" cy="206496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400" spc="-1" strike="noStrike">
                <a:solidFill>
                  <a:srgbClr val="edeff4"/>
                </a:solidFill>
                <a:latin typeface="Consolas"/>
                <a:ea typeface="Consolas"/>
              </a:rPr>
              <a:t>fn main()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let mut x = 5;</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x = x + 1;</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println!("{}", x);</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a:t>
            </a:r>
            <a:endParaRPr b="0" lang="en-US" sz="1400" spc="-1" strike="noStrike">
              <a:solidFill>
                <a:srgbClr val="ffffff"/>
              </a:solidFill>
              <a:latin typeface="Arial"/>
            </a:endParaRPr>
          </a:p>
        </p:txBody>
      </p:sp>
      <p:sp>
        <p:nvSpPr>
          <p:cNvPr id="2056" name="Shape 6"/>
          <p:cNvSpPr/>
          <p:nvPr/>
        </p:nvSpPr>
        <p:spPr>
          <a:xfrm>
            <a:off x="548640" y="4069080"/>
            <a:ext cx="11062800" cy="1827360"/>
          </a:xfrm>
          <a:prstGeom prst="roundRect">
            <a:avLst>
              <a:gd name="adj" fmla="val 4000"/>
            </a:avLst>
          </a:prstGeom>
          <a:solidFill>
            <a:srgbClr val="202a40"/>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57" name="Text 7"/>
          <p:cNvSpPr/>
          <p:nvPr/>
        </p:nvSpPr>
        <p:spPr>
          <a:xfrm>
            <a:off x="777240" y="4206240"/>
            <a:ext cx="10605600" cy="1553040"/>
          </a:xfrm>
          <a:prstGeom prst="rect">
            <a:avLst/>
          </a:prstGeom>
          <a:noFill/>
          <a:ln w="0">
            <a:noFill/>
          </a:ln>
        </p:spPr>
        <p:style>
          <a:lnRef idx="0"/>
          <a:fillRef idx="0"/>
          <a:effectRef idx="0"/>
          <a:fontRef idx="minor"/>
        </p:style>
        <p:txBody>
          <a:bodyPr lIns="90000" rIns="90000" tIns="45000" bIns="45000" anchor="t">
            <a:noAutofit/>
          </a:bodyPr>
          <a:p>
            <a:pPr defTabSz="914400">
              <a:lnSpc>
                <a:spcPct val="128000"/>
              </a:lnSpc>
              <a:tabLst>
                <a:tab algn="l" pos="0"/>
              </a:tabLst>
            </a:pPr>
            <a:r>
              <a:rPr b="1" lang="en-US" sz="1250" spc="-1" strike="noStrike">
                <a:solidFill>
                  <a:srgbClr val="58c27d"/>
                </a:solidFill>
                <a:latin typeface="Arial"/>
                <a:ea typeface="Arial"/>
              </a:rPr>
              <a:t>Why it works:  </a:t>
            </a:r>
            <a:r>
              <a:rPr b="0" lang="en-US" sz="1250" spc="-1" strike="noStrike">
                <a:solidFill>
                  <a:srgbClr val="edeff4"/>
                </a:solidFill>
                <a:latin typeface="Arial"/>
                <a:ea typeface="Arial"/>
              </a:rPr>
              <a:t>Bindings are immutable by default in Rust — the reverse of C++. Adding mut opts this one binding into mutability, exactly the flip covered in the Syntax Orientation module.</a:t>
            </a:r>
            <a:endParaRPr b="0" lang="en-US" sz="1250" spc="-1" strike="noStrike">
              <a:solidFill>
                <a:srgbClr val="ffffff"/>
              </a:solidFill>
              <a:latin typeface="Arial"/>
            </a:endParaRPr>
          </a:p>
        </p:txBody>
      </p:sp>
      <p:sp>
        <p:nvSpPr>
          <p:cNvPr id="2058" name="Text 8"/>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059" name="Text 9"/>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140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060"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PRACTICE PROBLEMS — PROBLEM 2</a:t>
            </a:r>
            <a:endParaRPr b="0" lang="en-US" sz="1300" spc="-1" strike="noStrike">
              <a:solidFill>
                <a:srgbClr val="ffffff"/>
              </a:solidFill>
              <a:latin typeface="Arial"/>
            </a:endParaRPr>
          </a:p>
        </p:txBody>
      </p:sp>
      <p:sp>
        <p:nvSpPr>
          <p:cNvPr id="2061" name="Shape 1"/>
          <p:cNvSpPr/>
          <p:nvPr/>
        </p:nvSpPr>
        <p:spPr>
          <a:xfrm>
            <a:off x="10478880" y="347400"/>
            <a:ext cx="995400" cy="364320"/>
          </a:xfrm>
          <a:prstGeom prst="roundRect">
            <a:avLst>
              <a:gd name="adj" fmla="val 125000"/>
            </a:avLst>
          </a:prstGeom>
          <a:solidFill>
            <a:srgbClr val="9b6bd9"/>
          </a:solidFill>
          <a:ln w="12700">
            <a:solidFill>
              <a:srgbClr val="9b6bd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62" name="Text 2"/>
          <p:cNvSpPr/>
          <p:nvPr/>
        </p:nvSpPr>
        <p:spPr>
          <a:xfrm>
            <a:off x="10478880" y="347400"/>
            <a:ext cx="9954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ffffff"/>
                </a:solidFill>
                <a:latin typeface="Arial"/>
                <a:ea typeface="Arial"/>
              </a:rPr>
              <a:t>⚠ </a:t>
            </a:r>
            <a:r>
              <a:rPr b="1" lang="en-US" sz="1050" spc="-1" strike="noStrike">
                <a:solidFill>
                  <a:srgbClr val="ffffff"/>
                </a:solidFill>
                <a:latin typeface="Arial"/>
                <a:ea typeface="Arial"/>
              </a:rPr>
              <a:t>TRAP</a:t>
            </a:r>
            <a:endParaRPr b="0" lang="en-US" sz="1050" spc="-1" strike="noStrike">
              <a:solidFill>
                <a:srgbClr val="ffffff"/>
              </a:solidFill>
              <a:latin typeface="Arial"/>
            </a:endParaRPr>
          </a:p>
        </p:txBody>
      </p:sp>
      <p:sp>
        <p:nvSpPr>
          <p:cNvPr id="2063" name="Shape 3"/>
          <p:cNvSpPr/>
          <p:nvPr/>
        </p:nvSpPr>
        <p:spPr>
          <a:xfrm>
            <a:off x="9573840" y="347400"/>
            <a:ext cx="766800" cy="364320"/>
          </a:xfrm>
          <a:prstGeom prst="roundRect">
            <a:avLst>
              <a:gd name="adj" fmla="val 125000"/>
            </a:avLst>
          </a:prstGeom>
          <a:solidFill>
            <a:srgbClr val="58c27d"/>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64" name="Text 4"/>
          <p:cNvSpPr/>
          <p:nvPr/>
        </p:nvSpPr>
        <p:spPr>
          <a:xfrm>
            <a:off x="9573840" y="347400"/>
            <a:ext cx="7668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1a1a1a"/>
                </a:solidFill>
                <a:latin typeface="Arial"/>
                <a:ea typeface="Arial"/>
              </a:rPr>
              <a:t>EASY</a:t>
            </a:r>
            <a:endParaRPr b="0" lang="en-US" sz="1050" spc="-1" strike="noStrike">
              <a:solidFill>
                <a:srgbClr val="ffffff"/>
              </a:solidFill>
              <a:latin typeface="Arial"/>
            </a:endParaRPr>
          </a:p>
        </p:txBody>
      </p:sp>
      <p:sp>
        <p:nvSpPr>
          <p:cNvPr id="2065" name="Text 5"/>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Missing Return Value</a:t>
            </a:r>
            <a:endParaRPr b="0" lang="en-US" sz="2800" spc="-1" strike="noStrike">
              <a:solidFill>
                <a:srgbClr val="ffffff"/>
              </a:solidFill>
              <a:latin typeface="Arial"/>
            </a:endParaRPr>
          </a:p>
        </p:txBody>
      </p:sp>
      <p:sp>
        <p:nvSpPr>
          <p:cNvPr id="2066" name="Shape 6"/>
          <p:cNvSpPr/>
          <p:nvPr/>
        </p:nvSpPr>
        <p:spPr>
          <a:xfrm>
            <a:off x="548640" y="1645920"/>
            <a:ext cx="11062800" cy="2467440"/>
          </a:xfrm>
          <a:prstGeom prst="roundRect">
            <a:avLst>
              <a:gd name="adj" fmla="val 3333"/>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67" name="Text 7"/>
          <p:cNvSpPr/>
          <p:nvPr/>
        </p:nvSpPr>
        <p:spPr>
          <a:xfrm>
            <a:off x="777240" y="1755720"/>
            <a:ext cx="10605600" cy="224784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400" spc="-1" strike="noStrike">
                <a:solidFill>
                  <a:srgbClr val="edeff4"/>
                </a:solidFill>
                <a:latin typeface="Consolas"/>
                <a:ea typeface="Consolas"/>
              </a:rPr>
              <a:t>fn square(x: i32) -&gt; i32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x * x;</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a:t>
            </a:r>
            <a:endParaRPr b="0" lang="en-US" sz="1400" spc="-1" strike="noStrike">
              <a:solidFill>
                <a:srgbClr val="ffffff"/>
              </a:solidFill>
              <a:latin typeface="Arial"/>
            </a:endParaRPr>
          </a:p>
          <a:p>
            <a:pPr defTabSz="914400">
              <a:lnSpc>
                <a:spcPct val="125000"/>
              </a:lnSpc>
              <a:tabLst>
                <a:tab algn="l" pos="0"/>
              </a:tabLst>
            </a:pP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fn main()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println!("{}", square(5));</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a:t>
            </a:r>
            <a:endParaRPr b="0" lang="en-US" sz="1400" spc="-1" strike="noStrike">
              <a:solidFill>
                <a:srgbClr val="ffffff"/>
              </a:solidFill>
              <a:latin typeface="Arial"/>
            </a:endParaRPr>
          </a:p>
        </p:txBody>
      </p:sp>
      <p:sp>
        <p:nvSpPr>
          <p:cNvPr id="2068" name="Shape 8"/>
          <p:cNvSpPr/>
          <p:nvPr/>
        </p:nvSpPr>
        <p:spPr>
          <a:xfrm>
            <a:off x="548640" y="4251960"/>
            <a:ext cx="11062800" cy="1644480"/>
          </a:xfrm>
          <a:prstGeom prst="roundRect">
            <a:avLst>
              <a:gd name="adj" fmla="val 4444"/>
            </a:avLst>
          </a:prstGeom>
          <a:solidFill>
            <a:srgbClr val="202a40"/>
          </a:solidFill>
          <a:ln w="12700">
            <a:solidFill>
              <a:srgbClr val="e0b155"/>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69" name="Text 9"/>
          <p:cNvSpPr/>
          <p:nvPr/>
        </p:nvSpPr>
        <p:spPr>
          <a:xfrm>
            <a:off x="777240" y="4389120"/>
            <a:ext cx="10605600" cy="1370160"/>
          </a:xfrm>
          <a:prstGeom prst="rect">
            <a:avLst/>
          </a:prstGeom>
          <a:noFill/>
          <a:ln w="0">
            <a:noFill/>
          </a:ln>
        </p:spPr>
        <p:style>
          <a:lnRef idx="0"/>
          <a:fillRef idx="0"/>
          <a:effectRef idx="0"/>
          <a:fontRef idx="minor"/>
        </p:style>
        <p:txBody>
          <a:bodyPr lIns="90000" rIns="90000" tIns="45000" bIns="45000" anchor="t">
            <a:noAutofit/>
          </a:bodyPr>
          <a:p>
            <a:pPr defTabSz="914400">
              <a:lnSpc>
                <a:spcPct val="130000"/>
              </a:lnSpc>
              <a:tabLst>
                <a:tab algn="l" pos="0"/>
              </a:tabLst>
            </a:pPr>
            <a:r>
              <a:rPr b="1" lang="en-US" sz="1300" spc="-1" strike="noStrike">
                <a:solidFill>
                  <a:srgbClr val="e0b155"/>
                </a:solidFill>
                <a:latin typeface="Arial"/>
                <a:ea typeface="Arial"/>
              </a:rPr>
              <a:t>Task:  </a:t>
            </a:r>
            <a:r>
              <a:rPr b="0" lang="en-US" sz="1300" spc="-1" strike="noStrike">
                <a:solidFill>
                  <a:srgbClr val="edeff4"/>
                </a:solidFill>
                <a:latin typeface="Arial"/>
                <a:ea typeface="Arial"/>
              </a:rPr>
              <a:t>The compiler reports a type mismatch pointing at the closing brace of square, not at the line with the error. What's actually wrong?</a:t>
            </a:r>
            <a:endParaRPr b="0" lang="en-US" sz="1300" spc="-1" strike="noStrike">
              <a:solidFill>
                <a:srgbClr val="ffffff"/>
              </a:solidFill>
              <a:latin typeface="Arial"/>
            </a:endParaRPr>
          </a:p>
        </p:txBody>
      </p:sp>
      <p:sp>
        <p:nvSpPr>
          <p:cNvPr id="2070" name="Text 10"/>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071" name="Text 11"/>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141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07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PRACTICE PROBLEMS — SOLUTION 2</a:t>
            </a:r>
            <a:endParaRPr b="0" lang="en-US" sz="1300" spc="-1" strike="noStrike">
              <a:solidFill>
                <a:srgbClr val="ffffff"/>
              </a:solidFill>
              <a:latin typeface="Arial"/>
            </a:endParaRPr>
          </a:p>
        </p:txBody>
      </p:sp>
      <p:sp>
        <p:nvSpPr>
          <p:cNvPr id="2073" name="Shape 1"/>
          <p:cNvSpPr/>
          <p:nvPr/>
        </p:nvSpPr>
        <p:spPr>
          <a:xfrm>
            <a:off x="10478880" y="347400"/>
            <a:ext cx="995400" cy="364320"/>
          </a:xfrm>
          <a:prstGeom prst="roundRect">
            <a:avLst>
              <a:gd name="adj" fmla="val 125000"/>
            </a:avLst>
          </a:prstGeom>
          <a:solidFill>
            <a:srgbClr val="9b6bd9"/>
          </a:solidFill>
          <a:ln w="12700">
            <a:solidFill>
              <a:srgbClr val="9b6bd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74" name="Text 2"/>
          <p:cNvSpPr/>
          <p:nvPr/>
        </p:nvSpPr>
        <p:spPr>
          <a:xfrm>
            <a:off x="10478880" y="347400"/>
            <a:ext cx="9954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ffffff"/>
                </a:solidFill>
                <a:latin typeface="Arial"/>
                <a:ea typeface="Arial"/>
              </a:rPr>
              <a:t>⚠ </a:t>
            </a:r>
            <a:r>
              <a:rPr b="1" lang="en-US" sz="1050" spc="-1" strike="noStrike">
                <a:solidFill>
                  <a:srgbClr val="ffffff"/>
                </a:solidFill>
                <a:latin typeface="Arial"/>
                <a:ea typeface="Arial"/>
              </a:rPr>
              <a:t>TRAP</a:t>
            </a:r>
            <a:endParaRPr b="0" lang="en-US" sz="1050" spc="-1" strike="noStrike">
              <a:solidFill>
                <a:srgbClr val="ffffff"/>
              </a:solidFill>
              <a:latin typeface="Arial"/>
            </a:endParaRPr>
          </a:p>
        </p:txBody>
      </p:sp>
      <p:sp>
        <p:nvSpPr>
          <p:cNvPr id="2075" name="Shape 3"/>
          <p:cNvSpPr/>
          <p:nvPr/>
        </p:nvSpPr>
        <p:spPr>
          <a:xfrm>
            <a:off x="9573840" y="347400"/>
            <a:ext cx="766800" cy="364320"/>
          </a:xfrm>
          <a:prstGeom prst="roundRect">
            <a:avLst>
              <a:gd name="adj" fmla="val 125000"/>
            </a:avLst>
          </a:prstGeom>
          <a:solidFill>
            <a:srgbClr val="58c27d"/>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76" name="Text 4"/>
          <p:cNvSpPr/>
          <p:nvPr/>
        </p:nvSpPr>
        <p:spPr>
          <a:xfrm>
            <a:off x="9573840" y="347400"/>
            <a:ext cx="7668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1a1a1a"/>
                </a:solidFill>
                <a:latin typeface="Arial"/>
                <a:ea typeface="Arial"/>
              </a:rPr>
              <a:t>EASY</a:t>
            </a:r>
            <a:endParaRPr b="0" lang="en-US" sz="1050" spc="-1" strike="noStrike">
              <a:solidFill>
                <a:srgbClr val="ffffff"/>
              </a:solidFill>
              <a:latin typeface="Arial"/>
            </a:endParaRPr>
          </a:p>
        </p:txBody>
      </p:sp>
      <p:sp>
        <p:nvSpPr>
          <p:cNvPr id="2077" name="Text 5"/>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Missing Return Value</a:t>
            </a:r>
            <a:endParaRPr b="0" lang="en-US" sz="2800" spc="-1" strike="noStrike">
              <a:solidFill>
                <a:srgbClr val="ffffff"/>
              </a:solidFill>
              <a:latin typeface="Arial"/>
            </a:endParaRPr>
          </a:p>
        </p:txBody>
      </p:sp>
      <p:sp>
        <p:nvSpPr>
          <p:cNvPr id="2078" name="Shape 6"/>
          <p:cNvSpPr/>
          <p:nvPr/>
        </p:nvSpPr>
        <p:spPr>
          <a:xfrm>
            <a:off x="548640" y="1645920"/>
            <a:ext cx="11062800" cy="2284560"/>
          </a:xfrm>
          <a:prstGeom prst="roundRect">
            <a:avLst>
              <a:gd name="adj" fmla="val 360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79" name="Text 7"/>
          <p:cNvSpPr/>
          <p:nvPr/>
        </p:nvSpPr>
        <p:spPr>
          <a:xfrm>
            <a:off x="777240" y="1755720"/>
            <a:ext cx="10605600" cy="206496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400" spc="-1" strike="noStrike">
                <a:solidFill>
                  <a:srgbClr val="edeff4"/>
                </a:solidFill>
                <a:latin typeface="Consolas"/>
                <a:ea typeface="Consolas"/>
              </a:rPr>
              <a:t>fn square(x: i32) -&gt; i32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x * x   // no semicolon — this is</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 now the return value</a:t>
            </a:r>
            <a:endParaRPr b="0" lang="en-US" sz="1400" spc="-1" strike="noStrike">
              <a:solidFill>
                <a:srgbClr val="ffffff"/>
              </a:solidFill>
              <a:latin typeface="Arial"/>
            </a:endParaRPr>
          </a:p>
        </p:txBody>
      </p:sp>
      <p:sp>
        <p:nvSpPr>
          <p:cNvPr id="2080" name="Shape 8"/>
          <p:cNvSpPr/>
          <p:nvPr/>
        </p:nvSpPr>
        <p:spPr>
          <a:xfrm>
            <a:off x="548640" y="4069080"/>
            <a:ext cx="11062800" cy="1827360"/>
          </a:xfrm>
          <a:prstGeom prst="roundRect">
            <a:avLst>
              <a:gd name="adj" fmla="val 4000"/>
            </a:avLst>
          </a:prstGeom>
          <a:solidFill>
            <a:srgbClr val="202a40"/>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81" name="Text 9"/>
          <p:cNvSpPr/>
          <p:nvPr/>
        </p:nvSpPr>
        <p:spPr>
          <a:xfrm>
            <a:off x="777240" y="4206240"/>
            <a:ext cx="10605600" cy="1553040"/>
          </a:xfrm>
          <a:prstGeom prst="rect">
            <a:avLst/>
          </a:prstGeom>
          <a:noFill/>
          <a:ln w="0">
            <a:noFill/>
          </a:ln>
        </p:spPr>
        <p:style>
          <a:lnRef idx="0"/>
          <a:fillRef idx="0"/>
          <a:effectRef idx="0"/>
          <a:fontRef idx="minor"/>
        </p:style>
        <p:txBody>
          <a:bodyPr lIns="90000" rIns="90000" tIns="45000" bIns="45000" anchor="t">
            <a:noAutofit/>
          </a:bodyPr>
          <a:p>
            <a:pPr defTabSz="914400">
              <a:lnSpc>
                <a:spcPct val="128000"/>
              </a:lnSpc>
              <a:tabLst>
                <a:tab algn="l" pos="0"/>
              </a:tabLst>
            </a:pPr>
            <a:r>
              <a:rPr b="1" lang="en-US" sz="1250" spc="-1" strike="noStrike">
                <a:solidFill>
                  <a:srgbClr val="58c27d"/>
                </a:solidFill>
                <a:latin typeface="Arial"/>
                <a:ea typeface="Arial"/>
              </a:rPr>
              <a:t>Why it works:  </a:t>
            </a:r>
            <a:r>
              <a:rPr b="0" lang="en-US" sz="1250" spc="-1" strike="noStrike">
                <a:solidFill>
                  <a:srgbClr val="edeff4"/>
                </a:solidFill>
                <a:latin typeface="Arial"/>
                <a:ea typeface="Arial"/>
              </a:rPr>
              <a:t>A semicolon turns an expression into a statement, and every statement evaluates to (). Adding one after x * x silently changed the function's last line from "the return value" into "a discarded expression, then return nothing." C++ habit says every line ends in a semicolon; in Rust, that habit can quietly break a function's return value.</a:t>
            </a:r>
            <a:endParaRPr b="0" lang="en-US" sz="1250" spc="-1" strike="noStrike">
              <a:solidFill>
                <a:srgbClr val="ffffff"/>
              </a:solidFill>
              <a:latin typeface="Arial"/>
            </a:endParaRPr>
          </a:p>
        </p:txBody>
      </p:sp>
      <p:sp>
        <p:nvSpPr>
          <p:cNvPr id="2082" name="Text 10"/>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083" name="Text 11"/>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142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084"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PRACTICE PROBLEMS — PROBLEM 3</a:t>
            </a:r>
            <a:endParaRPr b="0" lang="en-US" sz="1300" spc="-1" strike="noStrike">
              <a:solidFill>
                <a:srgbClr val="ffffff"/>
              </a:solidFill>
              <a:latin typeface="Arial"/>
            </a:endParaRPr>
          </a:p>
        </p:txBody>
      </p:sp>
      <p:sp>
        <p:nvSpPr>
          <p:cNvPr id="2085" name="Shape 1"/>
          <p:cNvSpPr/>
          <p:nvPr/>
        </p:nvSpPr>
        <p:spPr>
          <a:xfrm>
            <a:off x="10707480" y="347400"/>
            <a:ext cx="766800" cy="364320"/>
          </a:xfrm>
          <a:prstGeom prst="roundRect">
            <a:avLst>
              <a:gd name="adj" fmla="val 125000"/>
            </a:avLst>
          </a:prstGeom>
          <a:solidFill>
            <a:srgbClr val="58c27d"/>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86" name="Text 2"/>
          <p:cNvSpPr/>
          <p:nvPr/>
        </p:nvSpPr>
        <p:spPr>
          <a:xfrm>
            <a:off x="10707480" y="347400"/>
            <a:ext cx="7668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1a1a1a"/>
                </a:solidFill>
                <a:latin typeface="Arial"/>
                <a:ea typeface="Arial"/>
              </a:rPr>
              <a:t>EASY</a:t>
            </a:r>
            <a:endParaRPr b="0" lang="en-US" sz="1050" spc="-1" strike="noStrike">
              <a:solidFill>
                <a:srgbClr val="ffffff"/>
              </a:solidFill>
              <a:latin typeface="Arial"/>
            </a:endParaRPr>
          </a:p>
        </p:txBody>
      </p:sp>
      <p:sp>
        <p:nvSpPr>
          <p:cNvPr id="2087" name="Text 3"/>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Moved String</a:t>
            </a:r>
            <a:endParaRPr b="0" lang="en-US" sz="2800" spc="-1" strike="noStrike">
              <a:solidFill>
                <a:srgbClr val="ffffff"/>
              </a:solidFill>
              <a:latin typeface="Arial"/>
            </a:endParaRPr>
          </a:p>
        </p:txBody>
      </p:sp>
      <p:sp>
        <p:nvSpPr>
          <p:cNvPr id="2088" name="Shape 4"/>
          <p:cNvSpPr/>
          <p:nvPr/>
        </p:nvSpPr>
        <p:spPr>
          <a:xfrm>
            <a:off x="548640" y="1645920"/>
            <a:ext cx="11062800" cy="2467440"/>
          </a:xfrm>
          <a:prstGeom prst="roundRect">
            <a:avLst>
              <a:gd name="adj" fmla="val 3333"/>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89" name="Text 5"/>
          <p:cNvSpPr/>
          <p:nvPr/>
        </p:nvSpPr>
        <p:spPr>
          <a:xfrm>
            <a:off x="777240" y="1755720"/>
            <a:ext cx="10605600" cy="224784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400" spc="-1" strike="noStrike">
                <a:solidFill>
                  <a:srgbClr val="edeff4"/>
                </a:solidFill>
                <a:latin typeface="Consolas"/>
                <a:ea typeface="Consolas"/>
              </a:rPr>
              <a:t>fn main()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let s1 = String::from("hello");</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let s2 = s1;</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println!("{}, world!", s1);</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a:t>
            </a:r>
            <a:endParaRPr b="0" lang="en-US" sz="1400" spc="-1" strike="noStrike">
              <a:solidFill>
                <a:srgbClr val="ffffff"/>
              </a:solidFill>
              <a:latin typeface="Arial"/>
            </a:endParaRPr>
          </a:p>
        </p:txBody>
      </p:sp>
      <p:sp>
        <p:nvSpPr>
          <p:cNvPr id="2090" name="Shape 6"/>
          <p:cNvSpPr/>
          <p:nvPr/>
        </p:nvSpPr>
        <p:spPr>
          <a:xfrm>
            <a:off x="548640" y="4251960"/>
            <a:ext cx="11062800" cy="1644480"/>
          </a:xfrm>
          <a:prstGeom prst="roundRect">
            <a:avLst>
              <a:gd name="adj" fmla="val 4444"/>
            </a:avLst>
          </a:prstGeom>
          <a:solidFill>
            <a:srgbClr val="202a40"/>
          </a:solidFill>
          <a:ln w="12700">
            <a:solidFill>
              <a:srgbClr val="e0b155"/>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91" name="Text 7"/>
          <p:cNvSpPr/>
          <p:nvPr/>
        </p:nvSpPr>
        <p:spPr>
          <a:xfrm>
            <a:off x="777240" y="4389120"/>
            <a:ext cx="10605600" cy="1370160"/>
          </a:xfrm>
          <a:prstGeom prst="rect">
            <a:avLst/>
          </a:prstGeom>
          <a:noFill/>
          <a:ln w="0">
            <a:noFill/>
          </a:ln>
        </p:spPr>
        <p:style>
          <a:lnRef idx="0"/>
          <a:fillRef idx="0"/>
          <a:effectRef idx="0"/>
          <a:fontRef idx="minor"/>
        </p:style>
        <p:txBody>
          <a:bodyPr lIns="90000" rIns="90000" tIns="45000" bIns="45000" anchor="t">
            <a:noAutofit/>
          </a:bodyPr>
          <a:p>
            <a:pPr defTabSz="914400">
              <a:lnSpc>
                <a:spcPct val="130000"/>
              </a:lnSpc>
              <a:tabLst>
                <a:tab algn="l" pos="0"/>
              </a:tabLst>
            </a:pPr>
            <a:r>
              <a:rPr b="1" lang="en-US" sz="1300" spc="-1" strike="noStrike">
                <a:solidFill>
                  <a:srgbClr val="e0b155"/>
                </a:solidFill>
                <a:latin typeface="Arial"/>
                <a:ea typeface="Arial"/>
              </a:rPr>
              <a:t>Task:  </a:t>
            </a:r>
            <a:r>
              <a:rPr b="0" lang="en-US" sz="1300" spc="-1" strike="noStrike">
                <a:solidFill>
                  <a:srgbClr val="edeff4"/>
                </a:solidFill>
                <a:latin typeface="Arial"/>
                <a:ea typeface="Arial"/>
              </a:rPr>
              <a:t>Fix the compile error so the program still prints "hello, world!" using s1.</a:t>
            </a:r>
            <a:endParaRPr b="0" lang="en-US" sz="1300" spc="-1" strike="noStrike">
              <a:solidFill>
                <a:srgbClr val="ffffff"/>
              </a:solidFill>
              <a:latin typeface="Arial"/>
            </a:endParaRPr>
          </a:p>
        </p:txBody>
      </p:sp>
      <p:sp>
        <p:nvSpPr>
          <p:cNvPr id="2092" name="Text 8"/>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093" name="Text 9"/>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143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094"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PRACTICE PROBLEMS — SOLUTION 3</a:t>
            </a:r>
            <a:endParaRPr b="0" lang="en-US" sz="1300" spc="-1" strike="noStrike">
              <a:solidFill>
                <a:srgbClr val="ffffff"/>
              </a:solidFill>
              <a:latin typeface="Arial"/>
            </a:endParaRPr>
          </a:p>
        </p:txBody>
      </p:sp>
      <p:sp>
        <p:nvSpPr>
          <p:cNvPr id="2095" name="Shape 1"/>
          <p:cNvSpPr/>
          <p:nvPr/>
        </p:nvSpPr>
        <p:spPr>
          <a:xfrm>
            <a:off x="10707480" y="347400"/>
            <a:ext cx="766800" cy="364320"/>
          </a:xfrm>
          <a:prstGeom prst="roundRect">
            <a:avLst>
              <a:gd name="adj" fmla="val 125000"/>
            </a:avLst>
          </a:prstGeom>
          <a:solidFill>
            <a:srgbClr val="58c27d"/>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96" name="Text 2"/>
          <p:cNvSpPr/>
          <p:nvPr/>
        </p:nvSpPr>
        <p:spPr>
          <a:xfrm>
            <a:off x="10707480" y="347400"/>
            <a:ext cx="7668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1a1a1a"/>
                </a:solidFill>
                <a:latin typeface="Arial"/>
                <a:ea typeface="Arial"/>
              </a:rPr>
              <a:t>EASY</a:t>
            </a:r>
            <a:endParaRPr b="0" lang="en-US" sz="1050" spc="-1" strike="noStrike">
              <a:solidFill>
                <a:srgbClr val="ffffff"/>
              </a:solidFill>
              <a:latin typeface="Arial"/>
            </a:endParaRPr>
          </a:p>
        </p:txBody>
      </p:sp>
      <p:sp>
        <p:nvSpPr>
          <p:cNvPr id="2097" name="Text 3"/>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Moved String</a:t>
            </a:r>
            <a:endParaRPr b="0" lang="en-US" sz="2800" spc="-1" strike="noStrike">
              <a:solidFill>
                <a:srgbClr val="ffffff"/>
              </a:solidFill>
              <a:latin typeface="Arial"/>
            </a:endParaRPr>
          </a:p>
        </p:txBody>
      </p:sp>
      <p:sp>
        <p:nvSpPr>
          <p:cNvPr id="2098" name="Shape 4"/>
          <p:cNvSpPr/>
          <p:nvPr/>
        </p:nvSpPr>
        <p:spPr>
          <a:xfrm>
            <a:off x="548640" y="1645920"/>
            <a:ext cx="11062800" cy="2284560"/>
          </a:xfrm>
          <a:prstGeom prst="roundRect">
            <a:avLst>
              <a:gd name="adj" fmla="val 360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99" name="Text 5"/>
          <p:cNvSpPr/>
          <p:nvPr/>
        </p:nvSpPr>
        <p:spPr>
          <a:xfrm>
            <a:off x="777240" y="1755720"/>
            <a:ext cx="10605600" cy="206496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400" spc="-1" strike="noStrike">
                <a:solidFill>
                  <a:srgbClr val="edeff4"/>
                </a:solidFill>
                <a:latin typeface="Consolas"/>
                <a:ea typeface="Consolas"/>
              </a:rPr>
              <a:t>fn main()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let s1 = String::from("hello");</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let s2 = s1.clone();</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println!("{}, world!", s1);</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a:t>
            </a:r>
            <a:endParaRPr b="0" lang="en-US" sz="1400" spc="-1" strike="noStrike">
              <a:solidFill>
                <a:srgbClr val="ffffff"/>
              </a:solidFill>
              <a:latin typeface="Arial"/>
            </a:endParaRPr>
          </a:p>
        </p:txBody>
      </p:sp>
      <p:sp>
        <p:nvSpPr>
          <p:cNvPr id="2100" name="Shape 6"/>
          <p:cNvSpPr/>
          <p:nvPr/>
        </p:nvSpPr>
        <p:spPr>
          <a:xfrm>
            <a:off x="548640" y="4069080"/>
            <a:ext cx="11062800" cy="1827360"/>
          </a:xfrm>
          <a:prstGeom prst="roundRect">
            <a:avLst>
              <a:gd name="adj" fmla="val 4000"/>
            </a:avLst>
          </a:prstGeom>
          <a:solidFill>
            <a:srgbClr val="202a40"/>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01" name="Text 7"/>
          <p:cNvSpPr/>
          <p:nvPr/>
        </p:nvSpPr>
        <p:spPr>
          <a:xfrm>
            <a:off x="777240" y="4206240"/>
            <a:ext cx="10605600" cy="1553040"/>
          </a:xfrm>
          <a:prstGeom prst="rect">
            <a:avLst/>
          </a:prstGeom>
          <a:noFill/>
          <a:ln w="0">
            <a:noFill/>
          </a:ln>
        </p:spPr>
        <p:style>
          <a:lnRef idx="0"/>
          <a:fillRef idx="0"/>
          <a:effectRef idx="0"/>
          <a:fontRef idx="minor"/>
        </p:style>
        <p:txBody>
          <a:bodyPr lIns="90000" rIns="90000" tIns="45000" bIns="45000" anchor="t">
            <a:noAutofit/>
          </a:bodyPr>
          <a:p>
            <a:pPr defTabSz="914400">
              <a:lnSpc>
                <a:spcPct val="128000"/>
              </a:lnSpc>
              <a:tabLst>
                <a:tab algn="l" pos="0"/>
              </a:tabLst>
            </a:pPr>
            <a:r>
              <a:rPr b="1" lang="en-US" sz="1250" spc="-1" strike="noStrike">
                <a:solidFill>
                  <a:srgbClr val="58c27d"/>
                </a:solidFill>
                <a:latin typeface="Arial"/>
                <a:ea typeface="Arial"/>
              </a:rPr>
              <a:t>Why it works:  </a:t>
            </a:r>
            <a:r>
              <a:rPr b="0" lang="en-US" sz="1250" spc="-1" strike="noStrike">
                <a:solidFill>
                  <a:srgbClr val="edeff4"/>
                </a:solidFill>
                <a:latin typeface="Arial"/>
                <a:ea typeface="Arial"/>
              </a:rPr>
              <a:t>let s2 = s1 moves ownership of the String — s1 is no longer valid afterward. .clone() makes an explicit, visible deep copy instead, so both s1 and s2 own independent data. This is the move-by-default behavior from the Ownership module, not a bug.</a:t>
            </a:r>
            <a:endParaRPr b="0" lang="en-US" sz="1250" spc="-1" strike="noStrike">
              <a:solidFill>
                <a:srgbClr val="ffffff"/>
              </a:solidFill>
              <a:latin typeface="Arial"/>
            </a:endParaRPr>
          </a:p>
        </p:txBody>
      </p:sp>
      <p:sp>
        <p:nvSpPr>
          <p:cNvPr id="2102" name="Text 8"/>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103" name="Text 9"/>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144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104"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PRACTICE PROBLEMS — PROBLEM 4</a:t>
            </a:r>
            <a:endParaRPr b="0" lang="en-US" sz="1300" spc="-1" strike="noStrike">
              <a:solidFill>
                <a:srgbClr val="ffffff"/>
              </a:solidFill>
              <a:latin typeface="Arial"/>
            </a:endParaRPr>
          </a:p>
        </p:txBody>
      </p:sp>
      <p:sp>
        <p:nvSpPr>
          <p:cNvPr id="2105" name="Shape 1"/>
          <p:cNvSpPr/>
          <p:nvPr/>
        </p:nvSpPr>
        <p:spPr>
          <a:xfrm>
            <a:off x="10478880" y="347400"/>
            <a:ext cx="995400" cy="364320"/>
          </a:xfrm>
          <a:prstGeom prst="roundRect">
            <a:avLst>
              <a:gd name="adj" fmla="val 125000"/>
            </a:avLst>
          </a:prstGeom>
          <a:solidFill>
            <a:srgbClr val="e0b155"/>
          </a:solidFill>
          <a:ln w="12700">
            <a:solidFill>
              <a:srgbClr val="e0b155"/>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106" name="Text 2"/>
          <p:cNvSpPr/>
          <p:nvPr/>
        </p:nvSpPr>
        <p:spPr>
          <a:xfrm>
            <a:off x="10478880" y="347400"/>
            <a:ext cx="9954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1a1a1a"/>
                </a:solidFill>
                <a:latin typeface="Arial"/>
                <a:ea typeface="Arial"/>
              </a:rPr>
              <a:t>MEDIUM</a:t>
            </a:r>
            <a:endParaRPr b="0" lang="en-US" sz="1050" spc="-1" strike="noStrike">
              <a:solidFill>
                <a:srgbClr val="ffffff"/>
              </a:solidFill>
              <a:latin typeface="Arial"/>
            </a:endParaRPr>
          </a:p>
        </p:txBody>
      </p:sp>
      <p:sp>
        <p:nvSpPr>
          <p:cNvPr id="2107" name="Text 3"/>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Early Borrow</a:t>
            </a:r>
            <a:endParaRPr b="0" lang="en-US" sz="2800" spc="-1" strike="noStrike">
              <a:solidFill>
                <a:srgbClr val="ffffff"/>
              </a:solidFill>
              <a:latin typeface="Arial"/>
            </a:endParaRPr>
          </a:p>
        </p:txBody>
      </p:sp>
      <p:sp>
        <p:nvSpPr>
          <p:cNvPr id="2108" name="Shape 4"/>
          <p:cNvSpPr/>
          <p:nvPr/>
        </p:nvSpPr>
        <p:spPr>
          <a:xfrm>
            <a:off x="548640" y="1645920"/>
            <a:ext cx="11062800" cy="2467440"/>
          </a:xfrm>
          <a:prstGeom prst="roundRect">
            <a:avLst>
              <a:gd name="adj" fmla="val 3333"/>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09" name="Text 5"/>
          <p:cNvSpPr/>
          <p:nvPr/>
        </p:nvSpPr>
        <p:spPr>
          <a:xfrm>
            <a:off x="777240" y="1755720"/>
            <a:ext cx="10605600" cy="224784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400" spc="-1" strike="noStrike">
                <a:solidFill>
                  <a:srgbClr val="edeff4"/>
                </a:solidFill>
                <a:latin typeface="Consolas"/>
                <a:ea typeface="Consolas"/>
              </a:rPr>
              <a:t>fn main()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let mut v = vec![1, 2, 3];</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let first = &amp;v[0];</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v.push(4);</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println!("The first element is: {}", first);</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a:t>
            </a:r>
            <a:endParaRPr b="0" lang="en-US" sz="1400" spc="-1" strike="noStrike">
              <a:solidFill>
                <a:srgbClr val="ffffff"/>
              </a:solidFill>
              <a:latin typeface="Arial"/>
            </a:endParaRPr>
          </a:p>
        </p:txBody>
      </p:sp>
      <p:sp>
        <p:nvSpPr>
          <p:cNvPr id="2110" name="Shape 6"/>
          <p:cNvSpPr/>
          <p:nvPr/>
        </p:nvSpPr>
        <p:spPr>
          <a:xfrm>
            <a:off x="548640" y="4251960"/>
            <a:ext cx="11062800" cy="1644480"/>
          </a:xfrm>
          <a:prstGeom prst="roundRect">
            <a:avLst>
              <a:gd name="adj" fmla="val 4444"/>
            </a:avLst>
          </a:prstGeom>
          <a:solidFill>
            <a:srgbClr val="202a40"/>
          </a:solidFill>
          <a:ln w="12700">
            <a:solidFill>
              <a:srgbClr val="e0b155"/>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11" name="Text 7"/>
          <p:cNvSpPr/>
          <p:nvPr/>
        </p:nvSpPr>
        <p:spPr>
          <a:xfrm>
            <a:off x="777240" y="4389120"/>
            <a:ext cx="10605600" cy="1370160"/>
          </a:xfrm>
          <a:prstGeom prst="rect">
            <a:avLst/>
          </a:prstGeom>
          <a:noFill/>
          <a:ln w="0">
            <a:noFill/>
          </a:ln>
        </p:spPr>
        <p:style>
          <a:lnRef idx="0"/>
          <a:fillRef idx="0"/>
          <a:effectRef idx="0"/>
          <a:fontRef idx="minor"/>
        </p:style>
        <p:txBody>
          <a:bodyPr lIns="90000" rIns="90000" tIns="45000" bIns="45000" anchor="t">
            <a:noAutofit/>
          </a:bodyPr>
          <a:p>
            <a:pPr defTabSz="914400">
              <a:lnSpc>
                <a:spcPct val="130000"/>
              </a:lnSpc>
              <a:tabLst>
                <a:tab algn="l" pos="0"/>
              </a:tabLst>
            </a:pPr>
            <a:r>
              <a:rPr b="1" lang="en-US" sz="1300" spc="-1" strike="noStrike">
                <a:solidFill>
                  <a:srgbClr val="e0b155"/>
                </a:solidFill>
                <a:latin typeface="Arial"/>
                <a:ea typeface="Arial"/>
              </a:rPr>
              <a:t>Task:  </a:t>
            </a:r>
            <a:r>
              <a:rPr b="0" lang="en-US" sz="1300" spc="-1" strike="noStrike">
                <a:solidFill>
                  <a:srgbClr val="edeff4"/>
                </a:solidFill>
                <a:latin typeface="Arial"/>
                <a:ea typeface="Arial"/>
              </a:rPr>
              <a:t>Fix this borrow-checker error by reordering two lines — don't add any new variables or clones.</a:t>
            </a:r>
            <a:endParaRPr b="0" lang="en-US" sz="1300" spc="-1" strike="noStrike">
              <a:solidFill>
                <a:srgbClr val="ffffff"/>
              </a:solidFill>
              <a:latin typeface="Arial"/>
            </a:endParaRPr>
          </a:p>
        </p:txBody>
      </p:sp>
      <p:sp>
        <p:nvSpPr>
          <p:cNvPr id="2112" name="Text 8"/>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113" name="Text 9"/>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145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114"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PRACTICE PROBLEMS — SOLUTION 4</a:t>
            </a:r>
            <a:endParaRPr b="0" lang="en-US" sz="1300" spc="-1" strike="noStrike">
              <a:solidFill>
                <a:srgbClr val="ffffff"/>
              </a:solidFill>
              <a:latin typeface="Arial"/>
            </a:endParaRPr>
          </a:p>
        </p:txBody>
      </p:sp>
      <p:sp>
        <p:nvSpPr>
          <p:cNvPr id="2115" name="Shape 1"/>
          <p:cNvSpPr/>
          <p:nvPr/>
        </p:nvSpPr>
        <p:spPr>
          <a:xfrm>
            <a:off x="10478880" y="347400"/>
            <a:ext cx="995400" cy="364320"/>
          </a:xfrm>
          <a:prstGeom prst="roundRect">
            <a:avLst>
              <a:gd name="adj" fmla="val 125000"/>
            </a:avLst>
          </a:prstGeom>
          <a:solidFill>
            <a:srgbClr val="e0b155"/>
          </a:solidFill>
          <a:ln w="12700">
            <a:solidFill>
              <a:srgbClr val="e0b155"/>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116" name="Text 2"/>
          <p:cNvSpPr/>
          <p:nvPr/>
        </p:nvSpPr>
        <p:spPr>
          <a:xfrm>
            <a:off x="10478880" y="347400"/>
            <a:ext cx="9954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1a1a1a"/>
                </a:solidFill>
                <a:latin typeface="Arial"/>
                <a:ea typeface="Arial"/>
              </a:rPr>
              <a:t>MEDIUM</a:t>
            </a:r>
            <a:endParaRPr b="0" lang="en-US" sz="1050" spc="-1" strike="noStrike">
              <a:solidFill>
                <a:srgbClr val="ffffff"/>
              </a:solidFill>
              <a:latin typeface="Arial"/>
            </a:endParaRPr>
          </a:p>
        </p:txBody>
      </p:sp>
      <p:sp>
        <p:nvSpPr>
          <p:cNvPr id="2117" name="Text 3"/>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Early Borrow</a:t>
            </a:r>
            <a:endParaRPr b="0" lang="en-US" sz="2800" spc="-1" strike="noStrike">
              <a:solidFill>
                <a:srgbClr val="ffffff"/>
              </a:solidFill>
              <a:latin typeface="Arial"/>
            </a:endParaRPr>
          </a:p>
        </p:txBody>
      </p:sp>
      <p:sp>
        <p:nvSpPr>
          <p:cNvPr id="2118" name="Shape 4"/>
          <p:cNvSpPr/>
          <p:nvPr/>
        </p:nvSpPr>
        <p:spPr>
          <a:xfrm>
            <a:off x="548640" y="1645920"/>
            <a:ext cx="11062800" cy="2284560"/>
          </a:xfrm>
          <a:prstGeom prst="roundRect">
            <a:avLst>
              <a:gd name="adj" fmla="val 360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19" name="Text 5"/>
          <p:cNvSpPr/>
          <p:nvPr/>
        </p:nvSpPr>
        <p:spPr>
          <a:xfrm>
            <a:off x="777240" y="1755720"/>
            <a:ext cx="10605600" cy="206496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400" spc="-1" strike="noStrike">
                <a:solidFill>
                  <a:srgbClr val="edeff4"/>
                </a:solidFill>
                <a:latin typeface="Consolas"/>
                <a:ea typeface="Consolas"/>
              </a:rPr>
              <a:t>fn main()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let mut v = vec![1, 2, 3];</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let first = &amp;v[0];</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println!("The first element is: {}", first);</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v.push(4);</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a:t>
            </a:r>
            <a:endParaRPr b="0" lang="en-US" sz="1400" spc="-1" strike="noStrike">
              <a:solidFill>
                <a:srgbClr val="ffffff"/>
              </a:solidFill>
              <a:latin typeface="Arial"/>
            </a:endParaRPr>
          </a:p>
        </p:txBody>
      </p:sp>
      <p:sp>
        <p:nvSpPr>
          <p:cNvPr id="2120" name="Shape 6"/>
          <p:cNvSpPr/>
          <p:nvPr/>
        </p:nvSpPr>
        <p:spPr>
          <a:xfrm>
            <a:off x="548640" y="4069080"/>
            <a:ext cx="11062800" cy="1827360"/>
          </a:xfrm>
          <a:prstGeom prst="roundRect">
            <a:avLst>
              <a:gd name="adj" fmla="val 4000"/>
            </a:avLst>
          </a:prstGeom>
          <a:solidFill>
            <a:srgbClr val="202a40"/>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21" name="Text 7"/>
          <p:cNvSpPr/>
          <p:nvPr/>
        </p:nvSpPr>
        <p:spPr>
          <a:xfrm>
            <a:off x="777240" y="4206240"/>
            <a:ext cx="10605600" cy="1553040"/>
          </a:xfrm>
          <a:prstGeom prst="rect">
            <a:avLst/>
          </a:prstGeom>
          <a:noFill/>
          <a:ln w="0">
            <a:noFill/>
          </a:ln>
        </p:spPr>
        <p:style>
          <a:lnRef idx="0"/>
          <a:fillRef idx="0"/>
          <a:effectRef idx="0"/>
          <a:fontRef idx="minor"/>
        </p:style>
        <p:txBody>
          <a:bodyPr lIns="90000" rIns="90000" tIns="45000" bIns="45000" anchor="t">
            <a:noAutofit/>
          </a:bodyPr>
          <a:p>
            <a:pPr defTabSz="914400">
              <a:lnSpc>
                <a:spcPct val="128000"/>
              </a:lnSpc>
              <a:tabLst>
                <a:tab algn="l" pos="0"/>
              </a:tabLst>
            </a:pPr>
            <a:r>
              <a:rPr b="1" lang="en-US" sz="1250" spc="-1" strike="noStrike">
                <a:solidFill>
                  <a:srgbClr val="58c27d"/>
                </a:solidFill>
                <a:latin typeface="Arial"/>
                <a:ea typeface="Arial"/>
              </a:rPr>
              <a:t>Why it works:  </a:t>
            </a:r>
            <a:r>
              <a:rPr b="0" lang="en-US" sz="1250" spc="-1" strike="noStrike">
                <a:solidFill>
                  <a:srgbClr val="edeff4"/>
                </a:solidFill>
                <a:latin typeface="Arial"/>
                <a:ea typeface="Arial"/>
              </a:rPr>
              <a:t>first borrows from v, and push(4) needs a mutable borrow of v while first is still alive — shared and mutable can't overlap. Moving the print before the push means first's borrow ends before push ever needs exclusive access. Same bug as C++ iterator/reference invalidation, caught at compile time instead of at runtime.</a:t>
            </a:r>
            <a:endParaRPr b="0" lang="en-US" sz="1250" spc="-1" strike="noStrike">
              <a:solidFill>
                <a:srgbClr val="ffffff"/>
              </a:solidFill>
              <a:latin typeface="Arial"/>
            </a:endParaRPr>
          </a:p>
        </p:txBody>
      </p:sp>
      <p:sp>
        <p:nvSpPr>
          <p:cNvPr id="2122" name="Text 8"/>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123" name="Text 9"/>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146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124"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PRACTICE PROBLEMS — PROBLEM 5</a:t>
            </a:r>
            <a:endParaRPr b="0" lang="en-US" sz="1300" spc="-1" strike="noStrike">
              <a:solidFill>
                <a:srgbClr val="ffffff"/>
              </a:solidFill>
              <a:latin typeface="Arial"/>
            </a:endParaRPr>
          </a:p>
        </p:txBody>
      </p:sp>
      <p:sp>
        <p:nvSpPr>
          <p:cNvPr id="2125" name="Shape 1"/>
          <p:cNvSpPr/>
          <p:nvPr/>
        </p:nvSpPr>
        <p:spPr>
          <a:xfrm>
            <a:off x="10478880" y="347400"/>
            <a:ext cx="995400" cy="364320"/>
          </a:xfrm>
          <a:prstGeom prst="roundRect">
            <a:avLst>
              <a:gd name="adj" fmla="val 125000"/>
            </a:avLst>
          </a:prstGeom>
          <a:solidFill>
            <a:srgbClr val="9b6bd9"/>
          </a:solidFill>
          <a:ln w="12700">
            <a:solidFill>
              <a:srgbClr val="9b6bd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26" name="Text 2"/>
          <p:cNvSpPr/>
          <p:nvPr/>
        </p:nvSpPr>
        <p:spPr>
          <a:xfrm>
            <a:off x="10478880" y="347400"/>
            <a:ext cx="9954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ffffff"/>
                </a:solidFill>
                <a:latin typeface="Arial"/>
                <a:ea typeface="Arial"/>
              </a:rPr>
              <a:t>⚠ </a:t>
            </a:r>
            <a:r>
              <a:rPr b="1" lang="en-US" sz="1050" spc="-1" strike="noStrike">
                <a:solidFill>
                  <a:srgbClr val="ffffff"/>
                </a:solidFill>
                <a:latin typeface="Arial"/>
                <a:ea typeface="Arial"/>
              </a:rPr>
              <a:t>TRAP</a:t>
            </a:r>
            <a:endParaRPr b="0" lang="en-US" sz="1050" spc="-1" strike="noStrike">
              <a:solidFill>
                <a:srgbClr val="ffffff"/>
              </a:solidFill>
              <a:latin typeface="Arial"/>
            </a:endParaRPr>
          </a:p>
        </p:txBody>
      </p:sp>
      <p:sp>
        <p:nvSpPr>
          <p:cNvPr id="2127" name="Shape 3"/>
          <p:cNvSpPr/>
          <p:nvPr/>
        </p:nvSpPr>
        <p:spPr>
          <a:xfrm>
            <a:off x="9345240" y="347400"/>
            <a:ext cx="995400" cy="364320"/>
          </a:xfrm>
          <a:prstGeom prst="roundRect">
            <a:avLst>
              <a:gd name="adj" fmla="val 125000"/>
            </a:avLst>
          </a:prstGeom>
          <a:solidFill>
            <a:srgbClr val="e0b155"/>
          </a:solidFill>
          <a:ln w="12700">
            <a:solidFill>
              <a:srgbClr val="e0b155"/>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128" name="Text 4"/>
          <p:cNvSpPr/>
          <p:nvPr/>
        </p:nvSpPr>
        <p:spPr>
          <a:xfrm>
            <a:off x="9345240" y="347400"/>
            <a:ext cx="9954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1a1a1a"/>
                </a:solidFill>
                <a:latin typeface="Arial"/>
                <a:ea typeface="Arial"/>
              </a:rPr>
              <a:t>MEDIUM</a:t>
            </a:r>
            <a:endParaRPr b="0" lang="en-US" sz="1050" spc="-1" strike="noStrike">
              <a:solidFill>
                <a:srgbClr val="ffffff"/>
              </a:solidFill>
              <a:latin typeface="Arial"/>
            </a:endParaRPr>
          </a:p>
        </p:txBody>
      </p:sp>
      <p:sp>
        <p:nvSpPr>
          <p:cNvPr id="2129" name="Text 5"/>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Overflowing Byte</a:t>
            </a:r>
            <a:endParaRPr b="0" lang="en-US" sz="2800" spc="-1" strike="noStrike">
              <a:solidFill>
                <a:srgbClr val="ffffff"/>
              </a:solidFill>
              <a:latin typeface="Arial"/>
            </a:endParaRPr>
          </a:p>
        </p:txBody>
      </p:sp>
      <p:sp>
        <p:nvSpPr>
          <p:cNvPr id="2130" name="Shape 6"/>
          <p:cNvSpPr/>
          <p:nvPr/>
        </p:nvSpPr>
        <p:spPr>
          <a:xfrm>
            <a:off x="548640" y="1645920"/>
            <a:ext cx="11062800" cy="2467440"/>
          </a:xfrm>
          <a:prstGeom prst="roundRect">
            <a:avLst>
              <a:gd name="adj" fmla="val 3333"/>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31" name="Text 7"/>
          <p:cNvSpPr/>
          <p:nvPr/>
        </p:nvSpPr>
        <p:spPr>
          <a:xfrm>
            <a:off x="777240" y="1755720"/>
            <a:ext cx="10605600" cy="224784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400" spc="-1" strike="noStrike">
                <a:solidFill>
                  <a:srgbClr val="edeff4"/>
                </a:solidFill>
                <a:latin typeface="Consolas"/>
                <a:ea typeface="Consolas"/>
              </a:rPr>
              <a:t>fn main()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let x: u8 = 255;</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let y = x + 1;</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println!("{}", y);</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a:t>
            </a:r>
            <a:endParaRPr b="0" lang="en-US" sz="1400" spc="-1" strike="noStrike">
              <a:solidFill>
                <a:srgbClr val="ffffff"/>
              </a:solidFill>
              <a:latin typeface="Arial"/>
            </a:endParaRPr>
          </a:p>
        </p:txBody>
      </p:sp>
      <p:sp>
        <p:nvSpPr>
          <p:cNvPr id="2132" name="Shape 8"/>
          <p:cNvSpPr/>
          <p:nvPr/>
        </p:nvSpPr>
        <p:spPr>
          <a:xfrm>
            <a:off x="548640" y="4251960"/>
            <a:ext cx="11062800" cy="1644480"/>
          </a:xfrm>
          <a:prstGeom prst="roundRect">
            <a:avLst>
              <a:gd name="adj" fmla="val 4444"/>
            </a:avLst>
          </a:prstGeom>
          <a:solidFill>
            <a:srgbClr val="202a40"/>
          </a:solidFill>
          <a:ln w="12700">
            <a:solidFill>
              <a:srgbClr val="e0b155"/>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33" name="Text 9"/>
          <p:cNvSpPr/>
          <p:nvPr/>
        </p:nvSpPr>
        <p:spPr>
          <a:xfrm>
            <a:off x="777240" y="4389120"/>
            <a:ext cx="10605600" cy="1370160"/>
          </a:xfrm>
          <a:prstGeom prst="rect">
            <a:avLst/>
          </a:prstGeom>
          <a:noFill/>
          <a:ln w="0">
            <a:noFill/>
          </a:ln>
        </p:spPr>
        <p:style>
          <a:lnRef idx="0"/>
          <a:fillRef idx="0"/>
          <a:effectRef idx="0"/>
          <a:fontRef idx="minor"/>
        </p:style>
        <p:txBody>
          <a:bodyPr lIns="90000" rIns="90000" tIns="45000" bIns="45000" anchor="t">
            <a:noAutofit/>
          </a:bodyPr>
          <a:p>
            <a:pPr defTabSz="914400">
              <a:lnSpc>
                <a:spcPct val="130000"/>
              </a:lnSpc>
              <a:tabLst>
                <a:tab algn="l" pos="0"/>
              </a:tabLst>
            </a:pPr>
            <a:r>
              <a:rPr b="1" lang="en-US" sz="1300" spc="-1" strike="noStrike">
                <a:solidFill>
                  <a:srgbClr val="e0b155"/>
                </a:solidFill>
                <a:latin typeface="Arial"/>
                <a:ea typeface="Arial"/>
              </a:rPr>
              <a:t>Task:  </a:t>
            </a:r>
            <a:r>
              <a:rPr b="0" lang="en-US" sz="1300" spc="-1" strike="noStrike">
                <a:solidFill>
                  <a:srgbClr val="edeff4"/>
                </a:solidFill>
                <a:latin typeface="Arial"/>
                <a:ea typeface="Arial"/>
              </a:rPr>
              <a:t>What does this print in a debug build? What does it print in a --release build? Fix it so the behavior is the same, explicit, and documented in both.</a:t>
            </a:r>
            <a:endParaRPr b="0" lang="en-US" sz="1300" spc="-1" strike="noStrike">
              <a:solidFill>
                <a:srgbClr val="ffffff"/>
              </a:solidFill>
              <a:latin typeface="Arial"/>
            </a:endParaRPr>
          </a:p>
        </p:txBody>
      </p:sp>
      <p:sp>
        <p:nvSpPr>
          <p:cNvPr id="2134" name="Text 10"/>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135" name="Text 11"/>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147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136"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PRACTICE PROBLEMS — SOLUTION 5</a:t>
            </a:r>
            <a:endParaRPr b="0" lang="en-US" sz="1300" spc="-1" strike="noStrike">
              <a:solidFill>
                <a:srgbClr val="ffffff"/>
              </a:solidFill>
              <a:latin typeface="Arial"/>
            </a:endParaRPr>
          </a:p>
        </p:txBody>
      </p:sp>
      <p:sp>
        <p:nvSpPr>
          <p:cNvPr id="2137" name="Shape 1"/>
          <p:cNvSpPr/>
          <p:nvPr/>
        </p:nvSpPr>
        <p:spPr>
          <a:xfrm>
            <a:off x="10478880" y="347400"/>
            <a:ext cx="995400" cy="364320"/>
          </a:xfrm>
          <a:prstGeom prst="roundRect">
            <a:avLst>
              <a:gd name="adj" fmla="val 125000"/>
            </a:avLst>
          </a:prstGeom>
          <a:solidFill>
            <a:srgbClr val="9b6bd9"/>
          </a:solidFill>
          <a:ln w="12700">
            <a:solidFill>
              <a:srgbClr val="9b6bd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38" name="Text 2"/>
          <p:cNvSpPr/>
          <p:nvPr/>
        </p:nvSpPr>
        <p:spPr>
          <a:xfrm>
            <a:off x="10478880" y="347400"/>
            <a:ext cx="9954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ffffff"/>
                </a:solidFill>
                <a:latin typeface="Arial"/>
                <a:ea typeface="Arial"/>
              </a:rPr>
              <a:t>⚠ </a:t>
            </a:r>
            <a:r>
              <a:rPr b="1" lang="en-US" sz="1050" spc="-1" strike="noStrike">
                <a:solidFill>
                  <a:srgbClr val="ffffff"/>
                </a:solidFill>
                <a:latin typeface="Arial"/>
                <a:ea typeface="Arial"/>
              </a:rPr>
              <a:t>TRAP</a:t>
            </a:r>
            <a:endParaRPr b="0" lang="en-US" sz="1050" spc="-1" strike="noStrike">
              <a:solidFill>
                <a:srgbClr val="ffffff"/>
              </a:solidFill>
              <a:latin typeface="Arial"/>
            </a:endParaRPr>
          </a:p>
        </p:txBody>
      </p:sp>
      <p:sp>
        <p:nvSpPr>
          <p:cNvPr id="2139" name="Shape 3"/>
          <p:cNvSpPr/>
          <p:nvPr/>
        </p:nvSpPr>
        <p:spPr>
          <a:xfrm>
            <a:off x="9345240" y="347400"/>
            <a:ext cx="995400" cy="364320"/>
          </a:xfrm>
          <a:prstGeom prst="roundRect">
            <a:avLst>
              <a:gd name="adj" fmla="val 125000"/>
            </a:avLst>
          </a:prstGeom>
          <a:solidFill>
            <a:srgbClr val="e0b155"/>
          </a:solidFill>
          <a:ln w="12700">
            <a:solidFill>
              <a:srgbClr val="e0b155"/>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140" name="Text 4"/>
          <p:cNvSpPr/>
          <p:nvPr/>
        </p:nvSpPr>
        <p:spPr>
          <a:xfrm>
            <a:off x="9345240" y="347400"/>
            <a:ext cx="9954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1a1a1a"/>
                </a:solidFill>
                <a:latin typeface="Arial"/>
                <a:ea typeface="Arial"/>
              </a:rPr>
              <a:t>MEDIUM</a:t>
            </a:r>
            <a:endParaRPr b="0" lang="en-US" sz="1050" spc="-1" strike="noStrike">
              <a:solidFill>
                <a:srgbClr val="ffffff"/>
              </a:solidFill>
              <a:latin typeface="Arial"/>
            </a:endParaRPr>
          </a:p>
        </p:txBody>
      </p:sp>
      <p:sp>
        <p:nvSpPr>
          <p:cNvPr id="2141" name="Text 5"/>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Overflowing Byte</a:t>
            </a:r>
            <a:endParaRPr b="0" lang="en-US" sz="2800" spc="-1" strike="noStrike">
              <a:solidFill>
                <a:srgbClr val="ffffff"/>
              </a:solidFill>
              <a:latin typeface="Arial"/>
            </a:endParaRPr>
          </a:p>
        </p:txBody>
      </p:sp>
      <p:sp>
        <p:nvSpPr>
          <p:cNvPr id="2142" name="Shape 6"/>
          <p:cNvSpPr/>
          <p:nvPr/>
        </p:nvSpPr>
        <p:spPr>
          <a:xfrm>
            <a:off x="548640" y="1645920"/>
            <a:ext cx="11062800" cy="2284560"/>
          </a:xfrm>
          <a:prstGeom prst="roundRect">
            <a:avLst>
              <a:gd name="adj" fmla="val 360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43" name="Text 7"/>
          <p:cNvSpPr/>
          <p:nvPr/>
        </p:nvSpPr>
        <p:spPr>
          <a:xfrm>
            <a:off x="777240" y="1755720"/>
            <a:ext cx="10605600" cy="206496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400" spc="-1" strike="noStrike">
                <a:solidFill>
                  <a:srgbClr val="edeff4"/>
                </a:solidFill>
                <a:latin typeface="Consolas"/>
                <a:ea typeface="Consolas"/>
              </a:rPr>
              <a:t>fn main()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let x: u8 = 255;</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let y = x.wrapping_add(1); // explicit: 0</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println!("{}", y);</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a:t>
            </a:r>
            <a:endParaRPr b="0" lang="en-US" sz="1400" spc="-1" strike="noStrike">
              <a:solidFill>
                <a:srgbClr val="ffffff"/>
              </a:solidFill>
              <a:latin typeface="Arial"/>
            </a:endParaRPr>
          </a:p>
        </p:txBody>
      </p:sp>
      <p:sp>
        <p:nvSpPr>
          <p:cNvPr id="2144" name="Shape 8"/>
          <p:cNvSpPr/>
          <p:nvPr/>
        </p:nvSpPr>
        <p:spPr>
          <a:xfrm>
            <a:off x="548640" y="4069080"/>
            <a:ext cx="11062800" cy="1827360"/>
          </a:xfrm>
          <a:prstGeom prst="roundRect">
            <a:avLst>
              <a:gd name="adj" fmla="val 4000"/>
            </a:avLst>
          </a:prstGeom>
          <a:solidFill>
            <a:srgbClr val="202a40"/>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45" name="Text 9"/>
          <p:cNvSpPr/>
          <p:nvPr/>
        </p:nvSpPr>
        <p:spPr>
          <a:xfrm>
            <a:off x="777240" y="4206240"/>
            <a:ext cx="10605600" cy="1553040"/>
          </a:xfrm>
          <a:prstGeom prst="rect">
            <a:avLst/>
          </a:prstGeom>
          <a:noFill/>
          <a:ln w="0">
            <a:noFill/>
          </a:ln>
        </p:spPr>
        <p:style>
          <a:lnRef idx="0"/>
          <a:fillRef idx="0"/>
          <a:effectRef idx="0"/>
          <a:fontRef idx="minor"/>
        </p:style>
        <p:txBody>
          <a:bodyPr lIns="90000" rIns="90000" tIns="45000" bIns="45000" anchor="t">
            <a:noAutofit/>
          </a:bodyPr>
          <a:p>
            <a:pPr defTabSz="914400">
              <a:lnSpc>
                <a:spcPct val="128000"/>
              </a:lnSpc>
              <a:tabLst>
                <a:tab algn="l" pos="0"/>
              </a:tabLst>
            </a:pPr>
            <a:r>
              <a:rPr b="1" lang="en-US" sz="1250" spc="-1" strike="noStrike">
                <a:solidFill>
                  <a:srgbClr val="58c27d"/>
                </a:solidFill>
                <a:latin typeface="Arial"/>
                <a:ea typeface="Arial"/>
              </a:rPr>
              <a:t>Why it works:  </a:t>
            </a:r>
            <a:r>
              <a:rPr b="0" lang="en-US" sz="1250" spc="-1" strike="noStrike">
                <a:solidFill>
                  <a:srgbClr val="edeff4"/>
                </a:solidFill>
                <a:latin typeface="Arial"/>
                <a:ea typeface="Arial"/>
              </a:rPr>
              <a:t>Debug builds panic on integer overflow; release builds silently wrap (two's complement), by default — different behavior per build profile is exactly the trap. wrapping_add makes the wraparound explicit and identical in both profiles. checked_add (returning Option) or saturating_add are the other named alternatives, depending on what you actually want.</a:t>
            </a:r>
            <a:endParaRPr b="0" lang="en-US" sz="1250" spc="-1" strike="noStrike">
              <a:solidFill>
                <a:srgbClr val="ffffff"/>
              </a:solidFill>
              <a:latin typeface="Arial"/>
            </a:endParaRPr>
          </a:p>
        </p:txBody>
      </p:sp>
      <p:sp>
        <p:nvSpPr>
          <p:cNvPr id="2146" name="Text 10"/>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147" name="Text 11"/>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148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148"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PRACTICE PROBLEMS — PROBLEM 6</a:t>
            </a:r>
            <a:endParaRPr b="0" lang="en-US" sz="1300" spc="-1" strike="noStrike">
              <a:solidFill>
                <a:srgbClr val="ffffff"/>
              </a:solidFill>
              <a:latin typeface="Arial"/>
            </a:endParaRPr>
          </a:p>
        </p:txBody>
      </p:sp>
      <p:sp>
        <p:nvSpPr>
          <p:cNvPr id="2149" name="Shape 1"/>
          <p:cNvSpPr/>
          <p:nvPr/>
        </p:nvSpPr>
        <p:spPr>
          <a:xfrm>
            <a:off x="10478880" y="347400"/>
            <a:ext cx="995400" cy="364320"/>
          </a:xfrm>
          <a:prstGeom prst="roundRect">
            <a:avLst>
              <a:gd name="adj" fmla="val 125000"/>
            </a:avLst>
          </a:prstGeom>
          <a:solidFill>
            <a:srgbClr val="9b6bd9"/>
          </a:solidFill>
          <a:ln w="12700">
            <a:solidFill>
              <a:srgbClr val="9b6bd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50" name="Text 2"/>
          <p:cNvSpPr/>
          <p:nvPr/>
        </p:nvSpPr>
        <p:spPr>
          <a:xfrm>
            <a:off x="10478880" y="347400"/>
            <a:ext cx="9954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ffffff"/>
                </a:solidFill>
                <a:latin typeface="Arial"/>
                <a:ea typeface="Arial"/>
              </a:rPr>
              <a:t>⚠ </a:t>
            </a:r>
            <a:r>
              <a:rPr b="1" lang="en-US" sz="1050" spc="-1" strike="noStrike">
                <a:solidFill>
                  <a:srgbClr val="ffffff"/>
                </a:solidFill>
                <a:latin typeface="Arial"/>
                <a:ea typeface="Arial"/>
              </a:rPr>
              <a:t>TRAP</a:t>
            </a:r>
            <a:endParaRPr b="0" lang="en-US" sz="1050" spc="-1" strike="noStrike">
              <a:solidFill>
                <a:srgbClr val="ffffff"/>
              </a:solidFill>
              <a:latin typeface="Arial"/>
            </a:endParaRPr>
          </a:p>
        </p:txBody>
      </p:sp>
      <p:sp>
        <p:nvSpPr>
          <p:cNvPr id="2151" name="Shape 3"/>
          <p:cNvSpPr/>
          <p:nvPr/>
        </p:nvSpPr>
        <p:spPr>
          <a:xfrm>
            <a:off x="9345240" y="347400"/>
            <a:ext cx="995400" cy="364320"/>
          </a:xfrm>
          <a:prstGeom prst="roundRect">
            <a:avLst>
              <a:gd name="adj" fmla="val 125000"/>
            </a:avLst>
          </a:prstGeom>
          <a:solidFill>
            <a:srgbClr val="e0b155"/>
          </a:solidFill>
          <a:ln w="12700">
            <a:solidFill>
              <a:srgbClr val="e0b155"/>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152" name="Text 4"/>
          <p:cNvSpPr/>
          <p:nvPr/>
        </p:nvSpPr>
        <p:spPr>
          <a:xfrm>
            <a:off x="9345240" y="347400"/>
            <a:ext cx="9954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1a1a1a"/>
                </a:solidFill>
                <a:latin typeface="Arial"/>
                <a:ea typeface="Arial"/>
              </a:rPr>
              <a:t>MEDIUM</a:t>
            </a:r>
            <a:endParaRPr b="0" lang="en-US" sz="1050" spc="-1" strike="noStrike">
              <a:solidFill>
                <a:srgbClr val="ffffff"/>
              </a:solidFill>
              <a:latin typeface="Arial"/>
            </a:endParaRPr>
          </a:p>
        </p:txBody>
      </p:sp>
      <p:sp>
        <p:nvSpPr>
          <p:cNvPr id="2153" name="Text 5"/>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Reassigned Type</a:t>
            </a:r>
            <a:endParaRPr b="0" lang="en-US" sz="2800" spc="-1" strike="noStrike">
              <a:solidFill>
                <a:srgbClr val="ffffff"/>
              </a:solidFill>
              <a:latin typeface="Arial"/>
            </a:endParaRPr>
          </a:p>
        </p:txBody>
      </p:sp>
      <p:sp>
        <p:nvSpPr>
          <p:cNvPr id="2154" name="Shape 6"/>
          <p:cNvSpPr/>
          <p:nvPr/>
        </p:nvSpPr>
        <p:spPr>
          <a:xfrm>
            <a:off x="548640" y="1645920"/>
            <a:ext cx="11062800" cy="2467440"/>
          </a:xfrm>
          <a:prstGeom prst="roundRect">
            <a:avLst>
              <a:gd name="adj" fmla="val 3333"/>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55" name="Text 7"/>
          <p:cNvSpPr/>
          <p:nvPr/>
        </p:nvSpPr>
        <p:spPr>
          <a:xfrm>
            <a:off x="777240" y="1755720"/>
            <a:ext cx="10605600" cy="224784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400" spc="-1" strike="noStrike">
                <a:solidFill>
                  <a:srgbClr val="edeff4"/>
                </a:solidFill>
                <a:latin typeface="Consolas"/>
                <a:ea typeface="Consolas"/>
              </a:rPr>
              <a:t>fn main()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let mut spaces = "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spaces = spaces.len();</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println!("{}", spaces);</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a:t>
            </a:r>
            <a:endParaRPr b="0" lang="en-US" sz="1400" spc="-1" strike="noStrike">
              <a:solidFill>
                <a:srgbClr val="ffffff"/>
              </a:solidFill>
              <a:latin typeface="Arial"/>
            </a:endParaRPr>
          </a:p>
        </p:txBody>
      </p:sp>
      <p:sp>
        <p:nvSpPr>
          <p:cNvPr id="2156" name="Shape 8"/>
          <p:cNvSpPr/>
          <p:nvPr/>
        </p:nvSpPr>
        <p:spPr>
          <a:xfrm>
            <a:off x="548640" y="4251960"/>
            <a:ext cx="11062800" cy="1644480"/>
          </a:xfrm>
          <a:prstGeom prst="roundRect">
            <a:avLst>
              <a:gd name="adj" fmla="val 4444"/>
            </a:avLst>
          </a:prstGeom>
          <a:solidFill>
            <a:srgbClr val="202a40"/>
          </a:solidFill>
          <a:ln w="12700">
            <a:solidFill>
              <a:srgbClr val="e0b155"/>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57" name="Text 9"/>
          <p:cNvSpPr/>
          <p:nvPr/>
        </p:nvSpPr>
        <p:spPr>
          <a:xfrm>
            <a:off x="777240" y="4389120"/>
            <a:ext cx="10605600" cy="1370160"/>
          </a:xfrm>
          <a:prstGeom prst="rect">
            <a:avLst/>
          </a:prstGeom>
          <a:noFill/>
          <a:ln w="0">
            <a:noFill/>
          </a:ln>
        </p:spPr>
        <p:style>
          <a:lnRef idx="0"/>
          <a:fillRef idx="0"/>
          <a:effectRef idx="0"/>
          <a:fontRef idx="minor"/>
        </p:style>
        <p:txBody>
          <a:bodyPr lIns="90000" rIns="90000" tIns="45000" bIns="45000" anchor="t">
            <a:noAutofit/>
          </a:bodyPr>
          <a:p>
            <a:pPr defTabSz="914400">
              <a:lnSpc>
                <a:spcPct val="130000"/>
              </a:lnSpc>
              <a:tabLst>
                <a:tab algn="l" pos="0"/>
              </a:tabLst>
            </a:pPr>
            <a:r>
              <a:rPr b="1" lang="en-US" sz="1300" spc="-1" strike="noStrike">
                <a:solidFill>
                  <a:srgbClr val="e0b155"/>
                </a:solidFill>
                <a:latin typeface="Arial"/>
                <a:ea typeface="Arial"/>
              </a:rPr>
              <a:t>Task:  </a:t>
            </a:r>
            <a:r>
              <a:rPr b="0" lang="en-US" sz="1300" spc="-1" strike="noStrike">
                <a:solidFill>
                  <a:srgbClr val="edeff4"/>
                </a:solidFill>
                <a:latin typeface="Arial"/>
                <a:ea typeface="Arial"/>
              </a:rPr>
              <a:t>This fails to compile. Adding more mut keywords won't fix it — what will?</a:t>
            </a:r>
            <a:endParaRPr b="0" lang="en-US" sz="1300" spc="-1" strike="noStrike">
              <a:solidFill>
                <a:srgbClr val="ffffff"/>
              </a:solidFill>
              <a:latin typeface="Arial"/>
            </a:endParaRPr>
          </a:p>
        </p:txBody>
      </p:sp>
      <p:sp>
        <p:nvSpPr>
          <p:cNvPr id="2158" name="Text 10"/>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159" name="Text 11"/>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149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160"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PRACTICE PROBLEMS — SOLUTION 6</a:t>
            </a:r>
            <a:endParaRPr b="0" lang="en-US" sz="1300" spc="-1" strike="noStrike">
              <a:solidFill>
                <a:srgbClr val="ffffff"/>
              </a:solidFill>
              <a:latin typeface="Arial"/>
            </a:endParaRPr>
          </a:p>
        </p:txBody>
      </p:sp>
      <p:sp>
        <p:nvSpPr>
          <p:cNvPr id="2161" name="Shape 1"/>
          <p:cNvSpPr/>
          <p:nvPr/>
        </p:nvSpPr>
        <p:spPr>
          <a:xfrm>
            <a:off x="10478880" y="347400"/>
            <a:ext cx="995400" cy="364320"/>
          </a:xfrm>
          <a:prstGeom prst="roundRect">
            <a:avLst>
              <a:gd name="adj" fmla="val 125000"/>
            </a:avLst>
          </a:prstGeom>
          <a:solidFill>
            <a:srgbClr val="9b6bd9"/>
          </a:solidFill>
          <a:ln w="12700">
            <a:solidFill>
              <a:srgbClr val="9b6bd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62" name="Text 2"/>
          <p:cNvSpPr/>
          <p:nvPr/>
        </p:nvSpPr>
        <p:spPr>
          <a:xfrm>
            <a:off x="10478880" y="347400"/>
            <a:ext cx="9954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ffffff"/>
                </a:solidFill>
                <a:latin typeface="Arial"/>
                <a:ea typeface="Arial"/>
              </a:rPr>
              <a:t>⚠ </a:t>
            </a:r>
            <a:r>
              <a:rPr b="1" lang="en-US" sz="1050" spc="-1" strike="noStrike">
                <a:solidFill>
                  <a:srgbClr val="ffffff"/>
                </a:solidFill>
                <a:latin typeface="Arial"/>
                <a:ea typeface="Arial"/>
              </a:rPr>
              <a:t>TRAP</a:t>
            </a:r>
            <a:endParaRPr b="0" lang="en-US" sz="1050" spc="-1" strike="noStrike">
              <a:solidFill>
                <a:srgbClr val="ffffff"/>
              </a:solidFill>
              <a:latin typeface="Arial"/>
            </a:endParaRPr>
          </a:p>
        </p:txBody>
      </p:sp>
      <p:sp>
        <p:nvSpPr>
          <p:cNvPr id="2163" name="Shape 3"/>
          <p:cNvSpPr/>
          <p:nvPr/>
        </p:nvSpPr>
        <p:spPr>
          <a:xfrm>
            <a:off x="9345240" y="347400"/>
            <a:ext cx="995400" cy="364320"/>
          </a:xfrm>
          <a:prstGeom prst="roundRect">
            <a:avLst>
              <a:gd name="adj" fmla="val 125000"/>
            </a:avLst>
          </a:prstGeom>
          <a:solidFill>
            <a:srgbClr val="e0b155"/>
          </a:solidFill>
          <a:ln w="12700">
            <a:solidFill>
              <a:srgbClr val="e0b155"/>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164" name="Text 4"/>
          <p:cNvSpPr/>
          <p:nvPr/>
        </p:nvSpPr>
        <p:spPr>
          <a:xfrm>
            <a:off x="9345240" y="347400"/>
            <a:ext cx="9954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1a1a1a"/>
                </a:solidFill>
                <a:latin typeface="Arial"/>
                <a:ea typeface="Arial"/>
              </a:rPr>
              <a:t>MEDIUM</a:t>
            </a:r>
            <a:endParaRPr b="0" lang="en-US" sz="1050" spc="-1" strike="noStrike">
              <a:solidFill>
                <a:srgbClr val="ffffff"/>
              </a:solidFill>
              <a:latin typeface="Arial"/>
            </a:endParaRPr>
          </a:p>
        </p:txBody>
      </p:sp>
      <p:sp>
        <p:nvSpPr>
          <p:cNvPr id="2165" name="Text 5"/>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Reassigned Type</a:t>
            </a:r>
            <a:endParaRPr b="0" lang="en-US" sz="2800" spc="-1" strike="noStrike">
              <a:solidFill>
                <a:srgbClr val="ffffff"/>
              </a:solidFill>
              <a:latin typeface="Arial"/>
            </a:endParaRPr>
          </a:p>
        </p:txBody>
      </p:sp>
      <p:sp>
        <p:nvSpPr>
          <p:cNvPr id="2166" name="Shape 6"/>
          <p:cNvSpPr/>
          <p:nvPr/>
        </p:nvSpPr>
        <p:spPr>
          <a:xfrm>
            <a:off x="548640" y="1645920"/>
            <a:ext cx="11062800" cy="2284560"/>
          </a:xfrm>
          <a:prstGeom prst="roundRect">
            <a:avLst>
              <a:gd name="adj" fmla="val 360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67" name="Text 7"/>
          <p:cNvSpPr/>
          <p:nvPr/>
        </p:nvSpPr>
        <p:spPr>
          <a:xfrm>
            <a:off x="777240" y="1755720"/>
            <a:ext cx="10605600" cy="206496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400" spc="-1" strike="noStrike">
                <a:solidFill>
                  <a:srgbClr val="edeff4"/>
                </a:solidFill>
                <a:latin typeface="Consolas"/>
                <a:ea typeface="Consolas"/>
              </a:rPr>
              <a:t>fn main()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let spaces = "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let spaces = spaces.len();</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println!("{}", spaces);</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a:t>
            </a:r>
            <a:endParaRPr b="0" lang="en-US" sz="1400" spc="-1" strike="noStrike">
              <a:solidFill>
                <a:srgbClr val="ffffff"/>
              </a:solidFill>
              <a:latin typeface="Arial"/>
            </a:endParaRPr>
          </a:p>
        </p:txBody>
      </p:sp>
      <p:sp>
        <p:nvSpPr>
          <p:cNvPr id="2168" name="Shape 8"/>
          <p:cNvSpPr/>
          <p:nvPr/>
        </p:nvSpPr>
        <p:spPr>
          <a:xfrm>
            <a:off x="548640" y="4069080"/>
            <a:ext cx="11062800" cy="1827360"/>
          </a:xfrm>
          <a:prstGeom prst="roundRect">
            <a:avLst>
              <a:gd name="adj" fmla="val 4000"/>
            </a:avLst>
          </a:prstGeom>
          <a:solidFill>
            <a:srgbClr val="202a40"/>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69" name="Text 9"/>
          <p:cNvSpPr/>
          <p:nvPr/>
        </p:nvSpPr>
        <p:spPr>
          <a:xfrm>
            <a:off x="777240" y="4206240"/>
            <a:ext cx="10605600" cy="1553040"/>
          </a:xfrm>
          <a:prstGeom prst="rect">
            <a:avLst/>
          </a:prstGeom>
          <a:noFill/>
          <a:ln w="0">
            <a:noFill/>
          </a:ln>
        </p:spPr>
        <p:style>
          <a:lnRef idx="0"/>
          <a:fillRef idx="0"/>
          <a:effectRef idx="0"/>
          <a:fontRef idx="minor"/>
        </p:style>
        <p:txBody>
          <a:bodyPr lIns="90000" rIns="90000" tIns="45000" bIns="45000" anchor="t">
            <a:noAutofit/>
          </a:bodyPr>
          <a:p>
            <a:pPr defTabSz="914400">
              <a:lnSpc>
                <a:spcPct val="128000"/>
              </a:lnSpc>
              <a:tabLst>
                <a:tab algn="l" pos="0"/>
              </a:tabLst>
            </a:pPr>
            <a:r>
              <a:rPr b="1" lang="en-US" sz="1250" spc="-1" strike="noStrike">
                <a:solidFill>
                  <a:srgbClr val="58c27d"/>
                </a:solidFill>
                <a:latin typeface="Arial"/>
                <a:ea typeface="Arial"/>
              </a:rPr>
              <a:t>Why it works:  </a:t>
            </a:r>
            <a:r>
              <a:rPr b="0" lang="en-US" sz="1250" spc="-1" strike="noStrike">
                <a:solidFill>
                  <a:srgbClr val="edeff4"/>
                </a:solidFill>
                <a:latin typeface="Arial"/>
                <a:ea typeface="Arial"/>
              </a:rPr>
              <a:t>mut lets a binding's value change, but never its type — spaces stays a &amp;str forever once declared mut. Shadowing with a second let creates an entirely new binding, which is allowed to have a different type. This is precisely the shadowing feature from the Data Types module: the fix is less mut, not more.</a:t>
            </a:r>
            <a:endParaRPr b="0" lang="en-US" sz="1250" spc="-1" strike="noStrike">
              <a:solidFill>
                <a:srgbClr val="ffffff"/>
              </a:solidFill>
              <a:latin typeface="Arial"/>
            </a:endParaRPr>
          </a:p>
        </p:txBody>
      </p:sp>
      <p:sp>
        <p:nvSpPr>
          <p:cNvPr id="2170" name="Text 10"/>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171" name="Text 11"/>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150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17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PRACTICE PROBLEMS — PROBLEM 7</a:t>
            </a:r>
            <a:endParaRPr b="0" lang="en-US" sz="1300" spc="-1" strike="noStrike">
              <a:solidFill>
                <a:srgbClr val="ffffff"/>
              </a:solidFill>
              <a:latin typeface="Arial"/>
            </a:endParaRPr>
          </a:p>
        </p:txBody>
      </p:sp>
      <p:sp>
        <p:nvSpPr>
          <p:cNvPr id="2173" name="Shape 1"/>
          <p:cNvSpPr/>
          <p:nvPr/>
        </p:nvSpPr>
        <p:spPr>
          <a:xfrm>
            <a:off x="10478880" y="347400"/>
            <a:ext cx="995400" cy="364320"/>
          </a:xfrm>
          <a:prstGeom prst="roundRect">
            <a:avLst>
              <a:gd name="adj" fmla="val 125000"/>
            </a:avLst>
          </a:prstGeom>
          <a:solidFill>
            <a:srgbClr val="e0b155"/>
          </a:solidFill>
          <a:ln w="12700">
            <a:solidFill>
              <a:srgbClr val="e0b155"/>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174" name="Text 2"/>
          <p:cNvSpPr/>
          <p:nvPr/>
        </p:nvSpPr>
        <p:spPr>
          <a:xfrm>
            <a:off x="10478880" y="347400"/>
            <a:ext cx="9954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1a1a1a"/>
                </a:solidFill>
                <a:latin typeface="Arial"/>
                <a:ea typeface="Arial"/>
              </a:rPr>
              <a:t>MEDIUM</a:t>
            </a:r>
            <a:endParaRPr b="0" lang="en-US" sz="1050" spc="-1" strike="noStrike">
              <a:solidFill>
                <a:srgbClr val="ffffff"/>
              </a:solidFill>
              <a:latin typeface="Arial"/>
            </a:endParaRPr>
          </a:p>
        </p:txBody>
      </p:sp>
      <p:sp>
        <p:nvSpPr>
          <p:cNvPr id="2175" name="Text 3"/>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Incomplete Match</a:t>
            </a:r>
            <a:endParaRPr b="0" lang="en-US" sz="2800" spc="-1" strike="noStrike">
              <a:solidFill>
                <a:srgbClr val="ffffff"/>
              </a:solidFill>
              <a:latin typeface="Arial"/>
            </a:endParaRPr>
          </a:p>
        </p:txBody>
      </p:sp>
      <p:sp>
        <p:nvSpPr>
          <p:cNvPr id="2176" name="Shape 4"/>
          <p:cNvSpPr/>
          <p:nvPr/>
        </p:nvSpPr>
        <p:spPr>
          <a:xfrm>
            <a:off x="548640" y="1645920"/>
            <a:ext cx="11062800" cy="2741760"/>
          </a:xfrm>
          <a:prstGeom prst="roundRect">
            <a:avLst>
              <a:gd name="adj" fmla="val 300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77" name="Text 5"/>
          <p:cNvSpPr/>
          <p:nvPr/>
        </p:nvSpPr>
        <p:spPr>
          <a:xfrm>
            <a:off x="777240" y="1755720"/>
            <a:ext cx="10605600" cy="252216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300" spc="-1" strike="noStrike">
                <a:solidFill>
                  <a:srgbClr val="edeff4"/>
                </a:solidFill>
                <a:latin typeface="Consolas"/>
                <a:ea typeface="Consolas"/>
              </a:rPr>
              <a:t>enum Shape { Circle(f64), Square(f64), Triangle(f64, f64, f64) }</a:t>
            </a:r>
            <a:endParaRPr b="0" lang="en-US" sz="1300" spc="-1" strike="noStrike">
              <a:solidFill>
                <a:srgbClr val="ffffff"/>
              </a:solidFill>
              <a:latin typeface="Arial"/>
            </a:endParaRPr>
          </a:p>
          <a:p>
            <a:pPr defTabSz="914400">
              <a:lnSpc>
                <a:spcPct val="125000"/>
              </a:lnSpc>
              <a:tabLst>
                <a:tab algn="l" pos="0"/>
              </a:tabLst>
            </a:pPr>
            <a:endParaRPr b="0" lang="en-US" sz="1300" spc="-1" strike="noStrike">
              <a:solidFill>
                <a:srgbClr val="ffffff"/>
              </a:solidFill>
              <a:latin typeface="Arial"/>
            </a:endParaRPr>
          </a:p>
          <a:p>
            <a:pPr defTabSz="914400">
              <a:lnSpc>
                <a:spcPct val="125000"/>
              </a:lnSpc>
              <a:tabLst>
                <a:tab algn="l" pos="0"/>
              </a:tabLst>
            </a:pPr>
            <a:r>
              <a:rPr b="0" lang="en-US" sz="1300" spc="-1" strike="noStrike">
                <a:solidFill>
                  <a:srgbClr val="edeff4"/>
                </a:solidFill>
                <a:latin typeface="Consolas"/>
                <a:ea typeface="Consolas"/>
              </a:rPr>
              <a:t>fn area(s: Shape) -&gt; f64 {</a:t>
            </a:r>
            <a:endParaRPr b="0" lang="en-US" sz="1300" spc="-1" strike="noStrike">
              <a:solidFill>
                <a:srgbClr val="ffffff"/>
              </a:solidFill>
              <a:latin typeface="Arial"/>
            </a:endParaRPr>
          </a:p>
          <a:p>
            <a:pPr defTabSz="914400">
              <a:lnSpc>
                <a:spcPct val="125000"/>
              </a:lnSpc>
              <a:tabLst>
                <a:tab algn="l" pos="0"/>
              </a:tabLst>
            </a:pPr>
            <a:r>
              <a:rPr b="0" lang="en-US" sz="1300" spc="-1" strike="noStrike">
                <a:solidFill>
                  <a:srgbClr val="edeff4"/>
                </a:solidFill>
                <a:latin typeface="Consolas"/>
                <a:ea typeface="Consolas"/>
              </a:rPr>
              <a:t>    </a:t>
            </a:r>
            <a:r>
              <a:rPr b="0" lang="en-US" sz="1300" spc="-1" strike="noStrike">
                <a:solidFill>
                  <a:srgbClr val="edeff4"/>
                </a:solidFill>
                <a:latin typeface="Consolas"/>
                <a:ea typeface="Consolas"/>
              </a:rPr>
              <a:t>match s {</a:t>
            </a:r>
            <a:endParaRPr b="0" lang="en-US" sz="1300" spc="-1" strike="noStrike">
              <a:solidFill>
                <a:srgbClr val="ffffff"/>
              </a:solidFill>
              <a:latin typeface="Arial"/>
            </a:endParaRPr>
          </a:p>
          <a:p>
            <a:pPr defTabSz="914400">
              <a:lnSpc>
                <a:spcPct val="125000"/>
              </a:lnSpc>
              <a:tabLst>
                <a:tab algn="l" pos="0"/>
              </a:tabLst>
            </a:pPr>
            <a:r>
              <a:rPr b="0" lang="en-US" sz="1300" spc="-1" strike="noStrike">
                <a:solidFill>
                  <a:srgbClr val="edeff4"/>
                </a:solidFill>
                <a:latin typeface="Consolas"/>
                <a:ea typeface="Consolas"/>
              </a:rPr>
              <a:t>        </a:t>
            </a:r>
            <a:r>
              <a:rPr b="0" lang="en-US" sz="1300" spc="-1" strike="noStrike">
                <a:solidFill>
                  <a:srgbClr val="edeff4"/>
                </a:solidFill>
                <a:latin typeface="Consolas"/>
                <a:ea typeface="Consolas"/>
              </a:rPr>
              <a:t>Shape::Circle(r) =&gt; 3.14159 * r * r,</a:t>
            </a:r>
            <a:endParaRPr b="0" lang="en-US" sz="1300" spc="-1" strike="noStrike">
              <a:solidFill>
                <a:srgbClr val="ffffff"/>
              </a:solidFill>
              <a:latin typeface="Arial"/>
            </a:endParaRPr>
          </a:p>
          <a:p>
            <a:pPr defTabSz="914400">
              <a:lnSpc>
                <a:spcPct val="125000"/>
              </a:lnSpc>
              <a:tabLst>
                <a:tab algn="l" pos="0"/>
              </a:tabLst>
            </a:pPr>
            <a:r>
              <a:rPr b="0" lang="en-US" sz="1300" spc="-1" strike="noStrike">
                <a:solidFill>
                  <a:srgbClr val="edeff4"/>
                </a:solidFill>
                <a:latin typeface="Consolas"/>
                <a:ea typeface="Consolas"/>
              </a:rPr>
              <a:t>        </a:t>
            </a:r>
            <a:r>
              <a:rPr b="0" lang="en-US" sz="1300" spc="-1" strike="noStrike">
                <a:solidFill>
                  <a:srgbClr val="edeff4"/>
                </a:solidFill>
                <a:latin typeface="Consolas"/>
                <a:ea typeface="Consolas"/>
              </a:rPr>
              <a:t>Shape::Square(side) =&gt; side * side,</a:t>
            </a:r>
            <a:endParaRPr b="0" lang="en-US" sz="1300" spc="-1" strike="noStrike">
              <a:solidFill>
                <a:srgbClr val="ffffff"/>
              </a:solidFill>
              <a:latin typeface="Arial"/>
            </a:endParaRPr>
          </a:p>
          <a:p>
            <a:pPr defTabSz="914400">
              <a:lnSpc>
                <a:spcPct val="125000"/>
              </a:lnSpc>
              <a:tabLst>
                <a:tab algn="l" pos="0"/>
              </a:tabLst>
            </a:pPr>
            <a:r>
              <a:rPr b="0" lang="en-US" sz="1300" spc="-1" strike="noStrike">
                <a:solidFill>
                  <a:srgbClr val="edeff4"/>
                </a:solidFill>
                <a:latin typeface="Consolas"/>
                <a:ea typeface="Consolas"/>
              </a:rPr>
              <a:t>    </a:t>
            </a:r>
            <a:r>
              <a:rPr b="0" lang="en-US" sz="1300" spc="-1" strike="noStrike">
                <a:solidFill>
                  <a:srgbClr val="edeff4"/>
                </a:solidFill>
                <a:latin typeface="Consolas"/>
                <a:ea typeface="Consolas"/>
              </a:rPr>
              <a:t>}</a:t>
            </a:r>
            <a:endParaRPr b="0" lang="en-US" sz="1300" spc="-1" strike="noStrike">
              <a:solidFill>
                <a:srgbClr val="ffffff"/>
              </a:solidFill>
              <a:latin typeface="Arial"/>
            </a:endParaRPr>
          </a:p>
          <a:p>
            <a:pPr defTabSz="914400">
              <a:lnSpc>
                <a:spcPct val="125000"/>
              </a:lnSpc>
              <a:tabLst>
                <a:tab algn="l" pos="0"/>
              </a:tabLst>
            </a:pPr>
            <a:r>
              <a:rPr b="0" lang="en-US" sz="1300" spc="-1" strike="noStrike">
                <a:solidFill>
                  <a:srgbClr val="edeff4"/>
                </a:solidFill>
                <a:latin typeface="Consolas"/>
                <a:ea typeface="Consolas"/>
              </a:rPr>
              <a:t>}</a:t>
            </a:r>
            <a:endParaRPr b="0" lang="en-US" sz="1300" spc="-1" strike="noStrike">
              <a:solidFill>
                <a:srgbClr val="ffffff"/>
              </a:solidFill>
              <a:latin typeface="Arial"/>
            </a:endParaRPr>
          </a:p>
        </p:txBody>
      </p:sp>
      <p:sp>
        <p:nvSpPr>
          <p:cNvPr id="2178" name="Shape 6"/>
          <p:cNvSpPr/>
          <p:nvPr/>
        </p:nvSpPr>
        <p:spPr>
          <a:xfrm>
            <a:off x="548640" y="4526280"/>
            <a:ext cx="11062800" cy="1370160"/>
          </a:xfrm>
          <a:prstGeom prst="roundRect">
            <a:avLst>
              <a:gd name="adj" fmla="val 5333"/>
            </a:avLst>
          </a:prstGeom>
          <a:solidFill>
            <a:srgbClr val="202a40"/>
          </a:solidFill>
          <a:ln w="12700">
            <a:solidFill>
              <a:srgbClr val="e0b155"/>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79" name="Text 7"/>
          <p:cNvSpPr/>
          <p:nvPr/>
        </p:nvSpPr>
        <p:spPr>
          <a:xfrm>
            <a:off x="777240" y="4663440"/>
            <a:ext cx="10605600" cy="1095840"/>
          </a:xfrm>
          <a:prstGeom prst="rect">
            <a:avLst/>
          </a:prstGeom>
          <a:noFill/>
          <a:ln w="0">
            <a:noFill/>
          </a:ln>
        </p:spPr>
        <p:style>
          <a:lnRef idx="0"/>
          <a:fillRef idx="0"/>
          <a:effectRef idx="0"/>
          <a:fontRef idx="minor"/>
        </p:style>
        <p:txBody>
          <a:bodyPr lIns="90000" rIns="90000" tIns="45000" bIns="45000" anchor="t">
            <a:noAutofit/>
          </a:bodyPr>
          <a:p>
            <a:pPr defTabSz="914400">
              <a:lnSpc>
                <a:spcPct val="130000"/>
              </a:lnSpc>
              <a:tabLst>
                <a:tab algn="l" pos="0"/>
              </a:tabLst>
            </a:pPr>
            <a:r>
              <a:rPr b="1" lang="en-US" sz="1300" spc="-1" strike="noStrike">
                <a:solidFill>
                  <a:srgbClr val="e0b155"/>
                </a:solidFill>
                <a:latin typeface="Arial"/>
                <a:ea typeface="Arial"/>
              </a:rPr>
              <a:t>Task:  </a:t>
            </a:r>
            <a:r>
              <a:rPr b="0" lang="en-US" sz="1300" spc="-1" strike="noStrike">
                <a:solidFill>
                  <a:srgbClr val="edeff4"/>
                </a:solidFill>
                <a:latin typeface="Arial"/>
                <a:ea typeface="Arial"/>
              </a:rPr>
              <a:t>Fix the compile error with a real implementation for the missing case — not a throwaway wildcard arm.</a:t>
            </a:r>
            <a:endParaRPr b="0" lang="en-US" sz="1300" spc="-1" strike="noStrike">
              <a:solidFill>
                <a:srgbClr val="ffffff"/>
              </a:solidFill>
              <a:latin typeface="Arial"/>
            </a:endParaRPr>
          </a:p>
        </p:txBody>
      </p:sp>
      <p:sp>
        <p:nvSpPr>
          <p:cNvPr id="2180" name="Text 8"/>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181" name="Text 9"/>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151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18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PRACTICE PROBLEMS — SOLUTION 7</a:t>
            </a:r>
            <a:endParaRPr b="0" lang="en-US" sz="1300" spc="-1" strike="noStrike">
              <a:solidFill>
                <a:srgbClr val="ffffff"/>
              </a:solidFill>
              <a:latin typeface="Arial"/>
            </a:endParaRPr>
          </a:p>
        </p:txBody>
      </p:sp>
      <p:sp>
        <p:nvSpPr>
          <p:cNvPr id="2183" name="Shape 1"/>
          <p:cNvSpPr/>
          <p:nvPr/>
        </p:nvSpPr>
        <p:spPr>
          <a:xfrm>
            <a:off x="10478880" y="347400"/>
            <a:ext cx="995400" cy="364320"/>
          </a:xfrm>
          <a:prstGeom prst="roundRect">
            <a:avLst>
              <a:gd name="adj" fmla="val 125000"/>
            </a:avLst>
          </a:prstGeom>
          <a:solidFill>
            <a:srgbClr val="e0b155"/>
          </a:solidFill>
          <a:ln w="12700">
            <a:solidFill>
              <a:srgbClr val="e0b155"/>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184" name="Text 2"/>
          <p:cNvSpPr/>
          <p:nvPr/>
        </p:nvSpPr>
        <p:spPr>
          <a:xfrm>
            <a:off x="10478880" y="347400"/>
            <a:ext cx="9954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1a1a1a"/>
                </a:solidFill>
                <a:latin typeface="Arial"/>
                <a:ea typeface="Arial"/>
              </a:rPr>
              <a:t>MEDIUM</a:t>
            </a:r>
            <a:endParaRPr b="0" lang="en-US" sz="1050" spc="-1" strike="noStrike">
              <a:solidFill>
                <a:srgbClr val="ffffff"/>
              </a:solidFill>
              <a:latin typeface="Arial"/>
            </a:endParaRPr>
          </a:p>
        </p:txBody>
      </p:sp>
      <p:sp>
        <p:nvSpPr>
          <p:cNvPr id="2185" name="Text 3"/>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Incomplete Match</a:t>
            </a:r>
            <a:endParaRPr b="0" lang="en-US" sz="2800" spc="-1" strike="noStrike">
              <a:solidFill>
                <a:srgbClr val="ffffff"/>
              </a:solidFill>
              <a:latin typeface="Arial"/>
            </a:endParaRPr>
          </a:p>
        </p:txBody>
      </p:sp>
      <p:sp>
        <p:nvSpPr>
          <p:cNvPr id="2186" name="Shape 4"/>
          <p:cNvSpPr/>
          <p:nvPr/>
        </p:nvSpPr>
        <p:spPr>
          <a:xfrm>
            <a:off x="548640" y="1645920"/>
            <a:ext cx="11062800" cy="2284560"/>
          </a:xfrm>
          <a:prstGeom prst="roundRect">
            <a:avLst>
              <a:gd name="adj" fmla="val 360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87" name="Text 5"/>
          <p:cNvSpPr/>
          <p:nvPr/>
        </p:nvSpPr>
        <p:spPr>
          <a:xfrm>
            <a:off x="777240" y="1755720"/>
            <a:ext cx="10605600" cy="206496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400" spc="-1" strike="noStrike">
                <a:solidFill>
                  <a:srgbClr val="edeff4"/>
                </a:solidFill>
                <a:latin typeface="Consolas"/>
                <a:ea typeface="Consolas"/>
              </a:rPr>
              <a:t>Shape::Triangle(a, b, c) =&gt;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let s = (a + b + c) / 2.0;</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(s*(s-a)*(s-b)*(s-c)).sqrt() // Heron's formula</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a:t>
            </a:r>
            <a:endParaRPr b="0" lang="en-US" sz="1400" spc="-1" strike="noStrike">
              <a:solidFill>
                <a:srgbClr val="ffffff"/>
              </a:solidFill>
              <a:latin typeface="Arial"/>
            </a:endParaRPr>
          </a:p>
        </p:txBody>
      </p:sp>
      <p:sp>
        <p:nvSpPr>
          <p:cNvPr id="2188" name="Shape 6"/>
          <p:cNvSpPr/>
          <p:nvPr/>
        </p:nvSpPr>
        <p:spPr>
          <a:xfrm>
            <a:off x="548640" y="4069080"/>
            <a:ext cx="11062800" cy="1827360"/>
          </a:xfrm>
          <a:prstGeom prst="roundRect">
            <a:avLst>
              <a:gd name="adj" fmla="val 4000"/>
            </a:avLst>
          </a:prstGeom>
          <a:solidFill>
            <a:srgbClr val="202a40"/>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89" name="Text 7"/>
          <p:cNvSpPr/>
          <p:nvPr/>
        </p:nvSpPr>
        <p:spPr>
          <a:xfrm>
            <a:off x="777240" y="4206240"/>
            <a:ext cx="10605600" cy="1553040"/>
          </a:xfrm>
          <a:prstGeom prst="rect">
            <a:avLst/>
          </a:prstGeom>
          <a:noFill/>
          <a:ln w="0">
            <a:noFill/>
          </a:ln>
        </p:spPr>
        <p:style>
          <a:lnRef idx="0"/>
          <a:fillRef idx="0"/>
          <a:effectRef idx="0"/>
          <a:fontRef idx="minor"/>
        </p:style>
        <p:txBody>
          <a:bodyPr lIns="90000" rIns="90000" tIns="45000" bIns="45000" anchor="t">
            <a:noAutofit/>
          </a:bodyPr>
          <a:p>
            <a:pPr defTabSz="914400">
              <a:lnSpc>
                <a:spcPct val="128000"/>
              </a:lnSpc>
              <a:tabLst>
                <a:tab algn="l" pos="0"/>
              </a:tabLst>
            </a:pPr>
            <a:r>
              <a:rPr b="1" lang="en-US" sz="1250" spc="-1" strike="noStrike">
                <a:solidFill>
                  <a:srgbClr val="58c27d"/>
                </a:solidFill>
                <a:latin typeface="Arial"/>
                <a:ea typeface="Arial"/>
              </a:rPr>
              <a:t>Why it works:  </a:t>
            </a:r>
            <a:r>
              <a:rPr b="0" lang="en-US" sz="1250" spc="-1" strike="noStrike">
                <a:solidFill>
                  <a:srgbClr val="edeff4"/>
                </a:solidFill>
                <a:latin typeface="Arial"/>
                <a:ea typeface="Arial"/>
              </a:rPr>
              <a:t>match on an enum must cover every variant — the compiler caught a genuinely missing case, not a style nitpick. A wildcard (_ =&gt; 0.0) would compile but silently return a wrong area for every triangle. Exhaustiveness checking is only as useful as the arms you actually write.</a:t>
            </a:r>
            <a:endParaRPr b="0" lang="en-US" sz="1250" spc="-1" strike="noStrike">
              <a:solidFill>
                <a:srgbClr val="ffffff"/>
              </a:solidFill>
              <a:latin typeface="Arial"/>
            </a:endParaRPr>
          </a:p>
        </p:txBody>
      </p:sp>
      <p:sp>
        <p:nvSpPr>
          <p:cNvPr id="2190" name="Text 8"/>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191" name="Text 9"/>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152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19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PRACTICE PROBLEMS — PROBLEM 8</a:t>
            </a:r>
            <a:endParaRPr b="0" lang="en-US" sz="1300" spc="-1" strike="noStrike">
              <a:solidFill>
                <a:srgbClr val="ffffff"/>
              </a:solidFill>
              <a:latin typeface="Arial"/>
            </a:endParaRPr>
          </a:p>
        </p:txBody>
      </p:sp>
      <p:sp>
        <p:nvSpPr>
          <p:cNvPr id="2193" name="Shape 1"/>
          <p:cNvSpPr/>
          <p:nvPr/>
        </p:nvSpPr>
        <p:spPr>
          <a:xfrm>
            <a:off x="10707480" y="347400"/>
            <a:ext cx="766800" cy="364320"/>
          </a:xfrm>
          <a:prstGeom prst="roundRect">
            <a:avLst>
              <a:gd name="adj" fmla="val 125000"/>
            </a:avLst>
          </a:prstGeom>
          <a:solidFill>
            <a:srgbClr val="e15757"/>
          </a:solidFill>
          <a:ln w="12700">
            <a:solidFill>
              <a:srgbClr val="e1575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94" name="Text 2"/>
          <p:cNvSpPr/>
          <p:nvPr/>
        </p:nvSpPr>
        <p:spPr>
          <a:xfrm>
            <a:off x="10707480" y="347400"/>
            <a:ext cx="7668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ffffff"/>
                </a:solidFill>
                <a:latin typeface="Arial"/>
                <a:ea typeface="Arial"/>
              </a:rPr>
              <a:t>HARD</a:t>
            </a:r>
            <a:endParaRPr b="0" lang="en-US" sz="1050" spc="-1" strike="noStrike">
              <a:solidFill>
                <a:srgbClr val="ffffff"/>
              </a:solidFill>
              <a:latin typeface="Arial"/>
            </a:endParaRPr>
          </a:p>
        </p:txBody>
      </p:sp>
      <p:sp>
        <p:nvSpPr>
          <p:cNvPr id="2195" name="Text 3"/>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Ambiguous Lifetime</a:t>
            </a:r>
            <a:endParaRPr b="0" lang="en-US" sz="2800" spc="-1" strike="noStrike">
              <a:solidFill>
                <a:srgbClr val="ffffff"/>
              </a:solidFill>
              <a:latin typeface="Arial"/>
            </a:endParaRPr>
          </a:p>
        </p:txBody>
      </p:sp>
      <p:sp>
        <p:nvSpPr>
          <p:cNvPr id="2196" name="Shape 4"/>
          <p:cNvSpPr/>
          <p:nvPr/>
        </p:nvSpPr>
        <p:spPr>
          <a:xfrm>
            <a:off x="548640" y="1645920"/>
            <a:ext cx="11062800" cy="2467440"/>
          </a:xfrm>
          <a:prstGeom prst="roundRect">
            <a:avLst>
              <a:gd name="adj" fmla="val 3333"/>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97" name="Text 5"/>
          <p:cNvSpPr/>
          <p:nvPr/>
        </p:nvSpPr>
        <p:spPr>
          <a:xfrm>
            <a:off x="777240" y="1755720"/>
            <a:ext cx="10605600" cy="224784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400" spc="-1" strike="noStrike">
                <a:solidFill>
                  <a:srgbClr val="edeff4"/>
                </a:solidFill>
                <a:latin typeface="Consolas"/>
                <a:ea typeface="Consolas"/>
              </a:rPr>
              <a:t>fn longest(x: &amp;str, y: &amp;str) -&gt; &amp;str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if x.len() &gt; y.len() { x } else { y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a:t>
            </a:r>
            <a:endParaRPr b="0" lang="en-US" sz="1400" spc="-1" strike="noStrike">
              <a:solidFill>
                <a:srgbClr val="ffffff"/>
              </a:solidFill>
              <a:latin typeface="Arial"/>
            </a:endParaRPr>
          </a:p>
        </p:txBody>
      </p:sp>
      <p:sp>
        <p:nvSpPr>
          <p:cNvPr id="2198" name="Shape 6"/>
          <p:cNvSpPr/>
          <p:nvPr/>
        </p:nvSpPr>
        <p:spPr>
          <a:xfrm>
            <a:off x="548640" y="4251960"/>
            <a:ext cx="11062800" cy="1644480"/>
          </a:xfrm>
          <a:prstGeom prst="roundRect">
            <a:avLst>
              <a:gd name="adj" fmla="val 4444"/>
            </a:avLst>
          </a:prstGeom>
          <a:solidFill>
            <a:srgbClr val="202a40"/>
          </a:solidFill>
          <a:ln w="12700">
            <a:solidFill>
              <a:srgbClr val="e0b155"/>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99" name="Text 7"/>
          <p:cNvSpPr/>
          <p:nvPr/>
        </p:nvSpPr>
        <p:spPr>
          <a:xfrm>
            <a:off x="777240" y="4389120"/>
            <a:ext cx="10605600" cy="1370160"/>
          </a:xfrm>
          <a:prstGeom prst="rect">
            <a:avLst/>
          </a:prstGeom>
          <a:noFill/>
          <a:ln w="0">
            <a:noFill/>
          </a:ln>
        </p:spPr>
        <p:style>
          <a:lnRef idx="0"/>
          <a:fillRef idx="0"/>
          <a:effectRef idx="0"/>
          <a:fontRef idx="minor"/>
        </p:style>
        <p:txBody>
          <a:bodyPr lIns="90000" rIns="90000" tIns="45000" bIns="45000" anchor="t">
            <a:noAutofit/>
          </a:bodyPr>
          <a:p>
            <a:pPr defTabSz="914400">
              <a:lnSpc>
                <a:spcPct val="130000"/>
              </a:lnSpc>
              <a:tabLst>
                <a:tab algn="l" pos="0"/>
              </a:tabLst>
            </a:pPr>
            <a:r>
              <a:rPr b="1" lang="en-US" sz="1300" spc="-1" strike="noStrike">
                <a:solidFill>
                  <a:srgbClr val="e0b155"/>
                </a:solidFill>
                <a:latin typeface="Arial"/>
                <a:ea typeface="Arial"/>
              </a:rPr>
              <a:t>Task:  </a:t>
            </a:r>
            <a:r>
              <a:rPr b="0" lang="en-US" sz="1300" spc="-1" strike="noStrike">
                <a:solidFill>
                  <a:srgbClr val="edeff4"/>
                </a:solidFill>
                <a:latin typeface="Arial"/>
                <a:ea typeface="Arial"/>
              </a:rPr>
              <a:t>This fails to compile with a "missing lifetime specifier" error. Most functions taking references don't need this — why does this one?</a:t>
            </a:r>
            <a:endParaRPr b="0" lang="en-US" sz="1300" spc="-1" strike="noStrike">
              <a:solidFill>
                <a:srgbClr val="ffffff"/>
              </a:solidFill>
              <a:latin typeface="Arial"/>
            </a:endParaRPr>
          </a:p>
        </p:txBody>
      </p:sp>
      <p:sp>
        <p:nvSpPr>
          <p:cNvPr id="2200" name="Text 8"/>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201" name="Text 9"/>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153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20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PRACTICE PROBLEMS — SOLUTION 8</a:t>
            </a:r>
            <a:endParaRPr b="0" lang="en-US" sz="1300" spc="-1" strike="noStrike">
              <a:solidFill>
                <a:srgbClr val="ffffff"/>
              </a:solidFill>
              <a:latin typeface="Arial"/>
            </a:endParaRPr>
          </a:p>
        </p:txBody>
      </p:sp>
      <p:sp>
        <p:nvSpPr>
          <p:cNvPr id="2203" name="Shape 1"/>
          <p:cNvSpPr/>
          <p:nvPr/>
        </p:nvSpPr>
        <p:spPr>
          <a:xfrm>
            <a:off x="10707480" y="347400"/>
            <a:ext cx="766800" cy="364320"/>
          </a:xfrm>
          <a:prstGeom prst="roundRect">
            <a:avLst>
              <a:gd name="adj" fmla="val 125000"/>
            </a:avLst>
          </a:prstGeom>
          <a:solidFill>
            <a:srgbClr val="e15757"/>
          </a:solidFill>
          <a:ln w="12700">
            <a:solidFill>
              <a:srgbClr val="e1575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04" name="Text 2"/>
          <p:cNvSpPr/>
          <p:nvPr/>
        </p:nvSpPr>
        <p:spPr>
          <a:xfrm>
            <a:off x="10707480" y="347400"/>
            <a:ext cx="7668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ffffff"/>
                </a:solidFill>
                <a:latin typeface="Arial"/>
                <a:ea typeface="Arial"/>
              </a:rPr>
              <a:t>HARD</a:t>
            </a:r>
            <a:endParaRPr b="0" lang="en-US" sz="1050" spc="-1" strike="noStrike">
              <a:solidFill>
                <a:srgbClr val="ffffff"/>
              </a:solidFill>
              <a:latin typeface="Arial"/>
            </a:endParaRPr>
          </a:p>
        </p:txBody>
      </p:sp>
      <p:sp>
        <p:nvSpPr>
          <p:cNvPr id="2205" name="Text 3"/>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Ambiguous Lifetime</a:t>
            </a:r>
            <a:endParaRPr b="0" lang="en-US" sz="2800" spc="-1" strike="noStrike">
              <a:solidFill>
                <a:srgbClr val="ffffff"/>
              </a:solidFill>
              <a:latin typeface="Arial"/>
            </a:endParaRPr>
          </a:p>
        </p:txBody>
      </p:sp>
      <p:sp>
        <p:nvSpPr>
          <p:cNvPr id="2206" name="Shape 4"/>
          <p:cNvSpPr/>
          <p:nvPr/>
        </p:nvSpPr>
        <p:spPr>
          <a:xfrm>
            <a:off x="548640" y="1645920"/>
            <a:ext cx="11062800" cy="2284560"/>
          </a:xfrm>
          <a:prstGeom prst="roundRect">
            <a:avLst>
              <a:gd name="adj" fmla="val 360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07" name="Text 5"/>
          <p:cNvSpPr/>
          <p:nvPr/>
        </p:nvSpPr>
        <p:spPr>
          <a:xfrm>
            <a:off x="777240" y="1755720"/>
            <a:ext cx="10605600" cy="206496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400" spc="-1" strike="noStrike">
                <a:solidFill>
                  <a:srgbClr val="edeff4"/>
                </a:solidFill>
                <a:latin typeface="Consolas"/>
                <a:ea typeface="Consolas"/>
              </a:rPr>
              <a:t>fn longest&lt;'a&gt;(x: &amp;'a str, y: &amp;'a str) -&gt; &amp;'a str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if x.len() &gt; y.len() { x } else { y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a:t>
            </a:r>
            <a:endParaRPr b="0" lang="en-US" sz="1400" spc="-1" strike="noStrike">
              <a:solidFill>
                <a:srgbClr val="ffffff"/>
              </a:solidFill>
              <a:latin typeface="Arial"/>
            </a:endParaRPr>
          </a:p>
        </p:txBody>
      </p:sp>
      <p:sp>
        <p:nvSpPr>
          <p:cNvPr id="2208" name="Shape 6"/>
          <p:cNvSpPr/>
          <p:nvPr/>
        </p:nvSpPr>
        <p:spPr>
          <a:xfrm>
            <a:off x="548640" y="4069080"/>
            <a:ext cx="11062800" cy="1827360"/>
          </a:xfrm>
          <a:prstGeom prst="roundRect">
            <a:avLst>
              <a:gd name="adj" fmla="val 4000"/>
            </a:avLst>
          </a:prstGeom>
          <a:solidFill>
            <a:srgbClr val="202a40"/>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09" name="Text 7"/>
          <p:cNvSpPr/>
          <p:nvPr/>
        </p:nvSpPr>
        <p:spPr>
          <a:xfrm>
            <a:off x="777240" y="4206240"/>
            <a:ext cx="10605600" cy="1553040"/>
          </a:xfrm>
          <a:prstGeom prst="rect">
            <a:avLst/>
          </a:prstGeom>
          <a:noFill/>
          <a:ln w="0">
            <a:noFill/>
          </a:ln>
        </p:spPr>
        <p:style>
          <a:lnRef idx="0"/>
          <a:fillRef idx="0"/>
          <a:effectRef idx="0"/>
          <a:fontRef idx="minor"/>
        </p:style>
        <p:txBody>
          <a:bodyPr lIns="90000" rIns="90000" tIns="45000" bIns="45000" anchor="t">
            <a:noAutofit/>
          </a:bodyPr>
          <a:p>
            <a:pPr defTabSz="914400">
              <a:lnSpc>
                <a:spcPct val="128000"/>
              </a:lnSpc>
              <a:tabLst>
                <a:tab algn="l" pos="0"/>
              </a:tabLst>
            </a:pPr>
            <a:r>
              <a:rPr b="1" lang="en-US" sz="1250" spc="-1" strike="noStrike">
                <a:solidFill>
                  <a:srgbClr val="58c27d"/>
                </a:solidFill>
                <a:latin typeface="Arial"/>
                <a:ea typeface="Arial"/>
              </a:rPr>
              <a:t>Why it works:  </a:t>
            </a:r>
            <a:r>
              <a:rPr b="0" lang="en-US" sz="1250" spc="-1" strike="noStrike">
                <a:solidFill>
                  <a:srgbClr val="edeff4"/>
                </a:solidFill>
                <a:latin typeface="Arial"/>
                <a:ea typeface="Arial"/>
              </a:rPr>
              <a:t>Lifetime elision covers the common patterns: one input reference, or &amp;self plus others. Here there are two independent input references and either might be returned, so the compiler can't guess which one the output should be tied to. 'a states explicitly: the result is valid only as long as the shorter-lived of the two arguments.</a:t>
            </a:r>
            <a:endParaRPr b="0" lang="en-US" sz="1250" spc="-1" strike="noStrike">
              <a:solidFill>
                <a:srgbClr val="ffffff"/>
              </a:solidFill>
              <a:latin typeface="Arial"/>
            </a:endParaRPr>
          </a:p>
        </p:txBody>
      </p:sp>
      <p:sp>
        <p:nvSpPr>
          <p:cNvPr id="2210" name="Text 8"/>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211" name="Text 9"/>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154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21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PRACTICE PROBLEMS — PROBLEM 9</a:t>
            </a:r>
            <a:endParaRPr b="0" lang="en-US" sz="1300" spc="-1" strike="noStrike">
              <a:solidFill>
                <a:srgbClr val="ffffff"/>
              </a:solidFill>
              <a:latin typeface="Arial"/>
            </a:endParaRPr>
          </a:p>
        </p:txBody>
      </p:sp>
      <p:sp>
        <p:nvSpPr>
          <p:cNvPr id="2213" name="Shape 1"/>
          <p:cNvSpPr/>
          <p:nvPr/>
        </p:nvSpPr>
        <p:spPr>
          <a:xfrm>
            <a:off x="10478880" y="347400"/>
            <a:ext cx="995400" cy="364320"/>
          </a:xfrm>
          <a:prstGeom prst="roundRect">
            <a:avLst>
              <a:gd name="adj" fmla="val 125000"/>
            </a:avLst>
          </a:prstGeom>
          <a:solidFill>
            <a:srgbClr val="9b6bd9"/>
          </a:solidFill>
          <a:ln w="12700">
            <a:solidFill>
              <a:srgbClr val="9b6bd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14" name="Text 2"/>
          <p:cNvSpPr/>
          <p:nvPr/>
        </p:nvSpPr>
        <p:spPr>
          <a:xfrm>
            <a:off x="10478880" y="347400"/>
            <a:ext cx="9954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ffffff"/>
                </a:solidFill>
                <a:latin typeface="Arial"/>
                <a:ea typeface="Arial"/>
              </a:rPr>
              <a:t>⚠ </a:t>
            </a:r>
            <a:r>
              <a:rPr b="1" lang="en-US" sz="1050" spc="-1" strike="noStrike">
                <a:solidFill>
                  <a:srgbClr val="ffffff"/>
                </a:solidFill>
                <a:latin typeface="Arial"/>
                <a:ea typeface="Arial"/>
              </a:rPr>
              <a:t>TRAP</a:t>
            </a:r>
            <a:endParaRPr b="0" lang="en-US" sz="1050" spc="-1" strike="noStrike">
              <a:solidFill>
                <a:srgbClr val="ffffff"/>
              </a:solidFill>
              <a:latin typeface="Arial"/>
            </a:endParaRPr>
          </a:p>
        </p:txBody>
      </p:sp>
      <p:sp>
        <p:nvSpPr>
          <p:cNvPr id="2215" name="Shape 3"/>
          <p:cNvSpPr/>
          <p:nvPr/>
        </p:nvSpPr>
        <p:spPr>
          <a:xfrm>
            <a:off x="9573840" y="347400"/>
            <a:ext cx="766800" cy="364320"/>
          </a:xfrm>
          <a:prstGeom prst="roundRect">
            <a:avLst>
              <a:gd name="adj" fmla="val 125000"/>
            </a:avLst>
          </a:prstGeom>
          <a:solidFill>
            <a:srgbClr val="e15757"/>
          </a:solidFill>
          <a:ln w="12700">
            <a:solidFill>
              <a:srgbClr val="e1575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16" name="Text 4"/>
          <p:cNvSpPr/>
          <p:nvPr/>
        </p:nvSpPr>
        <p:spPr>
          <a:xfrm>
            <a:off x="9573840" y="347400"/>
            <a:ext cx="7668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ffffff"/>
                </a:solidFill>
                <a:latin typeface="Arial"/>
                <a:ea typeface="Arial"/>
              </a:rPr>
              <a:t>HARD</a:t>
            </a:r>
            <a:endParaRPr b="0" lang="en-US" sz="1050" spc="-1" strike="noStrike">
              <a:solidFill>
                <a:srgbClr val="ffffff"/>
              </a:solidFill>
              <a:latin typeface="Arial"/>
            </a:endParaRPr>
          </a:p>
        </p:txBody>
      </p:sp>
      <p:sp>
        <p:nvSpPr>
          <p:cNvPr id="2217" name="Text 5"/>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Silent Iterator</a:t>
            </a:r>
            <a:endParaRPr b="0" lang="en-US" sz="2800" spc="-1" strike="noStrike">
              <a:solidFill>
                <a:srgbClr val="ffffff"/>
              </a:solidFill>
              <a:latin typeface="Arial"/>
            </a:endParaRPr>
          </a:p>
        </p:txBody>
      </p:sp>
      <p:sp>
        <p:nvSpPr>
          <p:cNvPr id="2218" name="Shape 6"/>
          <p:cNvSpPr/>
          <p:nvPr/>
        </p:nvSpPr>
        <p:spPr>
          <a:xfrm>
            <a:off x="548640" y="1645920"/>
            <a:ext cx="11062800" cy="2467440"/>
          </a:xfrm>
          <a:prstGeom prst="roundRect">
            <a:avLst>
              <a:gd name="adj" fmla="val 3333"/>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19" name="Text 7"/>
          <p:cNvSpPr/>
          <p:nvPr/>
        </p:nvSpPr>
        <p:spPr>
          <a:xfrm>
            <a:off x="777240" y="1755720"/>
            <a:ext cx="10605600" cy="224784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400" spc="-1" strike="noStrike">
                <a:solidFill>
                  <a:srgbClr val="edeff4"/>
                </a:solidFill>
                <a:latin typeface="Consolas"/>
                <a:ea typeface="Consolas"/>
              </a:rPr>
              <a:t>fn main()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let v = vec![1, 2, 3];</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v.iter().map(|x| println!("{}", x));</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a:t>
            </a:r>
            <a:endParaRPr b="0" lang="en-US" sz="1400" spc="-1" strike="noStrike">
              <a:solidFill>
                <a:srgbClr val="ffffff"/>
              </a:solidFill>
              <a:latin typeface="Arial"/>
            </a:endParaRPr>
          </a:p>
        </p:txBody>
      </p:sp>
      <p:sp>
        <p:nvSpPr>
          <p:cNvPr id="2220" name="Shape 8"/>
          <p:cNvSpPr/>
          <p:nvPr/>
        </p:nvSpPr>
        <p:spPr>
          <a:xfrm>
            <a:off x="548640" y="4251960"/>
            <a:ext cx="11062800" cy="1644480"/>
          </a:xfrm>
          <a:prstGeom prst="roundRect">
            <a:avLst>
              <a:gd name="adj" fmla="val 4444"/>
            </a:avLst>
          </a:prstGeom>
          <a:solidFill>
            <a:srgbClr val="202a40"/>
          </a:solidFill>
          <a:ln w="12700">
            <a:solidFill>
              <a:srgbClr val="e0b155"/>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21" name="Text 9"/>
          <p:cNvSpPr/>
          <p:nvPr/>
        </p:nvSpPr>
        <p:spPr>
          <a:xfrm>
            <a:off x="777240" y="4389120"/>
            <a:ext cx="10605600" cy="1370160"/>
          </a:xfrm>
          <a:prstGeom prst="rect">
            <a:avLst/>
          </a:prstGeom>
          <a:noFill/>
          <a:ln w="0">
            <a:noFill/>
          </a:ln>
        </p:spPr>
        <p:style>
          <a:lnRef idx="0"/>
          <a:fillRef idx="0"/>
          <a:effectRef idx="0"/>
          <a:fontRef idx="minor"/>
        </p:style>
        <p:txBody>
          <a:bodyPr lIns="90000" rIns="90000" tIns="45000" bIns="45000" anchor="t">
            <a:noAutofit/>
          </a:bodyPr>
          <a:p>
            <a:pPr defTabSz="914400">
              <a:lnSpc>
                <a:spcPct val="130000"/>
              </a:lnSpc>
              <a:tabLst>
                <a:tab algn="l" pos="0"/>
              </a:tabLst>
            </a:pPr>
            <a:r>
              <a:rPr b="1" lang="en-US" sz="1300" spc="-1" strike="noStrike">
                <a:solidFill>
                  <a:srgbClr val="e0b155"/>
                </a:solidFill>
                <a:latin typeface="Arial"/>
                <a:ea typeface="Arial"/>
              </a:rPr>
              <a:t>Task:  </a:t>
            </a:r>
            <a:r>
              <a:rPr b="0" lang="en-US" sz="1300" spc="-1" strike="noStrike">
                <a:solidFill>
                  <a:srgbClr val="edeff4"/>
                </a:solidFill>
                <a:latin typeface="Arial"/>
                <a:ea typeface="Arial"/>
              </a:rPr>
              <a:t>This compiles, with only a warning — and prints nothing at all. Why, and what's the smallest fix?</a:t>
            </a:r>
            <a:endParaRPr b="0" lang="en-US" sz="1300" spc="-1" strike="noStrike">
              <a:solidFill>
                <a:srgbClr val="ffffff"/>
              </a:solidFill>
              <a:latin typeface="Arial"/>
            </a:endParaRPr>
          </a:p>
        </p:txBody>
      </p:sp>
      <p:sp>
        <p:nvSpPr>
          <p:cNvPr id="2222" name="Text 10"/>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223" name="Text 11"/>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155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224"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PRACTICE PROBLEMS — SOLUTION 9</a:t>
            </a:r>
            <a:endParaRPr b="0" lang="en-US" sz="1300" spc="-1" strike="noStrike">
              <a:solidFill>
                <a:srgbClr val="ffffff"/>
              </a:solidFill>
              <a:latin typeface="Arial"/>
            </a:endParaRPr>
          </a:p>
        </p:txBody>
      </p:sp>
      <p:sp>
        <p:nvSpPr>
          <p:cNvPr id="2225" name="Shape 1"/>
          <p:cNvSpPr/>
          <p:nvPr/>
        </p:nvSpPr>
        <p:spPr>
          <a:xfrm>
            <a:off x="10478880" y="347400"/>
            <a:ext cx="995400" cy="364320"/>
          </a:xfrm>
          <a:prstGeom prst="roundRect">
            <a:avLst>
              <a:gd name="adj" fmla="val 125000"/>
            </a:avLst>
          </a:prstGeom>
          <a:solidFill>
            <a:srgbClr val="9b6bd9"/>
          </a:solidFill>
          <a:ln w="12700">
            <a:solidFill>
              <a:srgbClr val="9b6bd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26" name="Text 2"/>
          <p:cNvSpPr/>
          <p:nvPr/>
        </p:nvSpPr>
        <p:spPr>
          <a:xfrm>
            <a:off x="10478880" y="347400"/>
            <a:ext cx="9954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ffffff"/>
                </a:solidFill>
                <a:latin typeface="Arial"/>
                <a:ea typeface="Arial"/>
              </a:rPr>
              <a:t>⚠ </a:t>
            </a:r>
            <a:r>
              <a:rPr b="1" lang="en-US" sz="1050" spc="-1" strike="noStrike">
                <a:solidFill>
                  <a:srgbClr val="ffffff"/>
                </a:solidFill>
                <a:latin typeface="Arial"/>
                <a:ea typeface="Arial"/>
              </a:rPr>
              <a:t>TRAP</a:t>
            </a:r>
            <a:endParaRPr b="0" lang="en-US" sz="1050" spc="-1" strike="noStrike">
              <a:solidFill>
                <a:srgbClr val="ffffff"/>
              </a:solidFill>
              <a:latin typeface="Arial"/>
            </a:endParaRPr>
          </a:p>
        </p:txBody>
      </p:sp>
      <p:sp>
        <p:nvSpPr>
          <p:cNvPr id="2227" name="Shape 3"/>
          <p:cNvSpPr/>
          <p:nvPr/>
        </p:nvSpPr>
        <p:spPr>
          <a:xfrm>
            <a:off x="9573840" y="347400"/>
            <a:ext cx="766800" cy="364320"/>
          </a:xfrm>
          <a:prstGeom prst="roundRect">
            <a:avLst>
              <a:gd name="adj" fmla="val 125000"/>
            </a:avLst>
          </a:prstGeom>
          <a:solidFill>
            <a:srgbClr val="e15757"/>
          </a:solidFill>
          <a:ln w="12700">
            <a:solidFill>
              <a:srgbClr val="e1575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28" name="Text 4"/>
          <p:cNvSpPr/>
          <p:nvPr/>
        </p:nvSpPr>
        <p:spPr>
          <a:xfrm>
            <a:off x="9573840" y="347400"/>
            <a:ext cx="7668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ffffff"/>
                </a:solidFill>
                <a:latin typeface="Arial"/>
                <a:ea typeface="Arial"/>
              </a:rPr>
              <a:t>HARD</a:t>
            </a:r>
            <a:endParaRPr b="0" lang="en-US" sz="1050" spc="-1" strike="noStrike">
              <a:solidFill>
                <a:srgbClr val="ffffff"/>
              </a:solidFill>
              <a:latin typeface="Arial"/>
            </a:endParaRPr>
          </a:p>
        </p:txBody>
      </p:sp>
      <p:sp>
        <p:nvSpPr>
          <p:cNvPr id="2229" name="Text 5"/>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Silent Iterator</a:t>
            </a:r>
            <a:endParaRPr b="0" lang="en-US" sz="2800" spc="-1" strike="noStrike">
              <a:solidFill>
                <a:srgbClr val="ffffff"/>
              </a:solidFill>
              <a:latin typeface="Arial"/>
            </a:endParaRPr>
          </a:p>
        </p:txBody>
      </p:sp>
      <p:sp>
        <p:nvSpPr>
          <p:cNvPr id="2230" name="Shape 6"/>
          <p:cNvSpPr/>
          <p:nvPr/>
        </p:nvSpPr>
        <p:spPr>
          <a:xfrm>
            <a:off x="548640" y="1645920"/>
            <a:ext cx="11062800" cy="2284560"/>
          </a:xfrm>
          <a:prstGeom prst="roundRect">
            <a:avLst>
              <a:gd name="adj" fmla="val 360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31" name="Text 7"/>
          <p:cNvSpPr/>
          <p:nvPr/>
        </p:nvSpPr>
        <p:spPr>
          <a:xfrm>
            <a:off x="777240" y="1755720"/>
            <a:ext cx="10605600" cy="206496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400" spc="-1" strike="noStrike">
                <a:solidFill>
                  <a:srgbClr val="edeff4"/>
                </a:solidFill>
                <a:latin typeface="Consolas"/>
                <a:ea typeface="Consolas"/>
              </a:rPr>
              <a:t>fn main()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let v = vec![1, 2, 3];</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v.iter().for_each(|x| println!("{}", x));</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a:t>
            </a:r>
            <a:endParaRPr b="0" lang="en-US" sz="1400" spc="-1" strike="noStrike">
              <a:solidFill>
                <a:srgbClr val="ffffff"/>
              </a:solidFill>
              <a:latin typeface="Arial"/>
            </a:endParaRPr>
          </a:p>
        </p:txBody>
      </p:sp>
      <p:sp>
        <p:nvSpPr>
          <p:cNvPr id="2232" name="Shape 8"/>
          <p:cNvSpPr/>
          <p:nvPr/>
        </p:nvSpPr>
        <p:spPr>
          <a:xfrm>
            <a:off x="548640" y="4069080"/>
            <a:ext cx="11062800" cy="1827360"/>
          </a:xfrm>
          <a:prstGeom prst="roundRect">
            <a:avLst>
              <a:gd name="adj" fmla="val 4000"/>
            </a:avLst>
          </a:prstGeom>
          <a:solidFill>
            <a:srgbClr val="202a40"/>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33" name="Text 9"/>
          <p:cNvSpPr/>
          <p:nvPr/>
        </p:nvSpPr>
        <p:spPr>
          <a:xfrm>
            <a:off x="777240" y="4206240"/>
            <a:ext cx="10605600" cy="1553040"/>
          </a:xfrm>
          <a:prstGeom prst="rect">
            <a:avLst/>
          </a:prstGeom>
          <a:noFill/>
          <a:ln w="0">
            <a:noFill/>
          </a:ln>
        </p:spPr>
        <p:style>
          <a:lnRef idx="0"/>
          <a:fillRef idx="0"/>
          <a:effectRef idx="0"/>
          <a:fontRef idx="minor"/>
        </p:style>
        <p:txBody>
          <a:bodyPr lIns="90000" rIns="90000" tIns="45000" bIns="45000" anchor="t">
            <a:noAutofit/>
          </a:bodyPr>
          <a:p>
            <a:pPr defTabSz="914400">
              <a:lnSpc>
                <a:spcPct val="128000"/>
              </a:lnSpc>
              <a:tabLst>
                <a:tab algn="l" pos="0"/>
              </a:tabLst>
            </a:pPr>
            <a:r>
              <a:rPr b="1" lang="en-US" sz="1250" spc="-1" strike="noStrike">
                <a:solidFill>
                  <a:srgbClr val="58c27d"/>
                </a:solidFill>
                <a:latin typeface="Arial"/>
                <a:ea typeface="Arial"/>
              </a:rPr>
              <a:t>Why it works:  </a:t>
            </a:r>
            <a:r>
              <a:rPr b="0" lang="en-US" sz="1250" spc="-1" strike="noStrike">
                <a:solidFill>
                  <a:srgbClr val="edeff4"/>
                </a:solidFill>
                <a:latin typeface="Arial"/>
                <a:ea typeface="Arial"/>
              </a:rPr>
              <a:t>Iterator adapters like map are lazy — they build a pipeline but run nothing until something consumes it. map here is never collected, looped over, or otherwise driven, so the closure never executes; the compiler's warning was "unused iterator that must be used," easy to miss. for_each actually drives the iteration; a for loop or .collect() would fix it too.</a:t>
            </a:r>
            <a:endParaRPr b="0" lang="en-US" sz="1250" spc="-1" strike="noStrike">
              <a:solidFill>
                <a:srgbClr val="ffffff"/>
              </a:solidFill>
              <a:latin typeface="Arial"/>
            </a:endParaRPr>
          </a:p>
        </p:txBody>
      </p:sp>
      <p:sp>
        <p:nvSpPr>
          <p:cNvPr id="2234" name="Text 10"/>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235" name="Text 11"/>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156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236"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PRACTICE PROBLEMS — PROBLEM 10</a:t>
            </a:r>
            <a:endParaRPr b="0" lang="en-US" sz="1300" spc="-1" strike="noStrike">
              <a:solidFill>
                <a:srgbClr val="ffffff"/>
              </a:solidFill>
              <a:latin typeface="Arial"/>
            </a:endParaRPr>
          </a:p>
        </p:txBody>
      </p:sp>
      <p:sp>
        <p:nvSpPr>
          <p:cNvPr id="2237" name="Shape 1"/>
          <p:cNvSpPr/>
          <p:nvPr/>
        </p:nvSpPr>
        <p:spPr>
          <a:xfrm>
            <a:off x="10478880" y="347400"/>
            <a:ext cx="995400" cy="364320"/>
          </a:xfrm>
          <a:prstGeom prst="roundRect">
            <a:avLst>
              <a:gd name="adj" fmla="val 125000"/>
            </a:avLst>
          </a:prstGeom>
          <a:solidFill>
            <a:srgbClr val="9b6bd9"/>
          </a:solidFill>
          <a:ln w="12700">
            <a:solidFill>
              <a:srgbClr val="9b6bd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38" name="Text 2"/>
          <p:cNvSpPr/>
          <p:nvPr/>
        </p:nvSpPr>
        <p:spPr>
          <a:xfrm>
            <a:off x="10478880" y="347400"/>
            <a:ext cx="9954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ffffff"/>
                </a:solidFill>
                <a:latin typeface="Arial"/>
                <a:ea typeface="Arial"/>
              </a:rPr>
              <a:t>⚠ </a:t>
            </a:r>
            <a:r>
              <a:rPr b="1" lang="en-US" sz="1050" spc="-1" strike="noStrike">
                <a:solidFill>
                  <a:srgbClr val="ffffff"/>
                </a:solidFill>
                <a:latin typeface="Arial"/>
                <a:ea typeface="Arial"/>
              </a:rPr>
              <a:t>TRAP</a:t>
            </a:r>
            <a:endParaRPr b="0" lang="en-US" sz="1050" spc="-1" strike="noStrike">
              <a:solidFill>
                <a:srgbClr val="ffffff"/>
              </a:solidFill>
              <a:latin typeface="Arial"/>
            </a:endParaRPr>
          </a:p>
        </p:txBody>
      </p:sp>
      <p:sp>
        <p:nvSpPr>
          <p:cNvPr id="2239" name="Shape 3"/>
          <p:cNvSpPr/>
          <p:nvPr/>
        </p:nvSpPr>
        <p:spPr>
          <a:xfrm>
            <a:off x="9573840" y="347400"/>
            <a:ext cx="766800" cy="364320"/>
          </a:xfrm>
          <a:prstGeom prst="roundRect">
            <a:avLst>
              <a:gd name="adj" fmla="val 125000"/>
            </a:avLst>
          </a:prstGeom>
          <a:solidFill>
            <a:srgbClr val="e15757"/>
          </a:solidFill>
          <a:ln w="12700">
            <a:solidFill>
              <a:srgbClr val="e1575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40" name="Text 4"/>
          <p:cNvSpPr/>
          <p:nvPr/>
        </p:nvSpPr>
        <p:spPr>
          <a:xfrm>
            <a:off x="9573840" y="347400"/>
            <a:ext cx="7668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ffffff"/>
                </a:solidFill>
                <a:latin typeface="Arial"/>
                <a:ea typeface="Arial"/>
              </a:rPr>
              <a:t>HARD</a:t>
            </a:r>
            <a:endParaRPr b="0" lang="en-US" sz="1050" spc="-1" strike="noStrike">
              <a:solidFill>
                <a:srgbClr val="ffffff"/>
              </a:solidFill>
              <a:latin typeface="Arial"/>
            </a:endParaRPr>
          </a:p>
        </p:txBody>
      </p:sp>
      <p:sp>
        <p:nvSpPr>
          <p:cNvPr id="2241" name="Text 5"/>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Escaping Thread</a:t>
            </a:r>
            <a:endParaRPr b="0" lang="en-US" sz="2800" spc="-1" strike="noStrike">
              <a:solidFill>
                <a:srgbClr val="ffffff"/>
              </a:solidFill>
              <a:latin typeface="Arial"/>
            </a:endParaRPr>
          </a:p>
        </p:txBody>
      </p:sp>
      <p:sp>
        <p:nvSpPr>
          <p:cNvPr id="2242" name="Shape 6"/>
          <p:cNvSpPr/>
          <p:nvPr/>
        </p:nvSpPr>
        <p:spPr>
          <a:xfrm>
            <a:off x="548640" y="1645920"/>
            <a:ext cx="11062800" cy="2741760"/>
          </a:xfrm>
          <a:prstGeom prst="roundRect">
            <a:avLst>
              <a:gd name="adj" fmla="val 300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43" name="Text 7"/>
          <p:cNvSpPr/>
          <p:nvPr/>
        </p:nvSpPr>
        <p:spPr>
          <a:xfrm>
            <a:off x="777240" y="1755720"/>
            <a:ext cx="10605600" cy="252216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300" spc="-1" strike="noStrike">
                <a:solidFill>
                  <a:srgbClr val="edeff4"/>
                </a:solidFill>
                <a:latin typeface="Consolas"/>
                <a:ea typeface="Consolas"/>
              </a:rPr>
              <a:t>use std::thread;</a:t>
            </a:r>
            <a:endParaRPr b="0" lang="en-US" sz="1300" spc="-1" strike="noStrike">
              <a:solidFill>
                <a:srgbClr val="ffffff"/>
              </a:solidFill>
              <a:latin typeface="Arial"/>
            </a:endParaRPr>
          </a:p>
          <a:p>
            <a:pPr defTabSz="914400">
              <a:lnSpc>
                <a:spcPct val="125000"/>
              </a:lnSpc>
              <a:tabLst>
                <a:tab algn="l" pos="0"/>
              </a:tabLst>
            </a:pPr>
            <a:endParaRPr b="0" lang="en-US" sz="1300" spc="-1" strike="noStrike">
              <a:solidFill>
                <a:srgbClr val="ffffff"/>
              </a:solidFill>
              <a:latin typeface="Arial"/>
            </a:endParaRPr>
          </a:p>
          <a:p>
            <a:pPr defTabSz="914400">
              <a:lnSpc>
                <a:spcPct val="125000"/>
              </a:lnSpc>
              <a:tabLst>
                <a:tab algn="l" pos="0"/>
              </a:tabLst>
            </a:pPr>
            <a:r>
              <a:rPr b="0" lang="en-US" sz="1300" spc="-1" strike="noStrike">
                <a:solidFill>
                  <a:srgbClr val="edeff4"/>
                </a:solidFill>
                <a:latin typeface="Consolas"/>
                <a:ea typeface="Consolas"/>
              </a:rPr>
              <a:t>fn main() {</a:t>
            </a:r>
            <a:endParaRPr b="0" lang="en-US" sz="1300" spc="-1" strike="noStrike">
              <a:solidFill>
                <a:srgbClr val="ffffff"/>
              </a:solidFill>
              <a:latin typeface="Arial"/>
            </a:endParaRPr>
          </a:p>
          <a:p>
            <a:pPr defTabSz="914400">
              <a:lnSpc>
                <a:spcPct val="125000"/>
              </a:lnSpc>
              <a:tabLst>
                <a:tab algn="l" pos="0"/>
              </a:tabLst>
            </a:pPr>
            <a:r>
              <a:rPr b="0" lang="en-US" sz="1300" spc="-1" strike="noStrike">
                <a:solidFill>
                  <a:srgbClr val="edeff4"/>
                </a:solidFill>
                <a:latin typeface="Consolas"/>
                <a:ea typeface="Consolas"/>
              </a:rPr>
              <a:t>    </a:t>
            </a:r>
            <a:r>
              <a:rPr b="0" lang="en-US" sz="1300" spc="-1" strike="noStrike">
                <a:solidFill>
                  <a:srgbClr val="edeff4"/>
                </a:solidFill>
                <a:latin typeface="Consolas"/>
                <a:ea typeface="Consolas"/>
              </a:rPr>
              <a:t>let data = vec![1, 2, 3];</a:t>
            </a:r>
            <a:endParaRPr b="0" lang="en-US" sz="1300" spc="-1" strike="noStrike">
              <a:solidFill>
                <a:srgbClr val="ffffff"/>
              </a:solidFill>
              <a:latin typeface="Arial"/>
            </a:endParaRPr>
          </a:p>
          <a:p>
            <a:pPr defTabSz="914400">
              <a:lnSpc>
                <a:spcPct val="125000"/>
              </a:lnSpc>
              <a:tabLst>
                <a:tab algn="l" pos="0"/>
              </a:tabLst>
            </a:pPr>
            <a:r>
              <a:rPr b="0" lang="en-US" sz="1300" spc="-1" strike="noStrike">
                <a:solidFill>
                  <a:srgbClr val="edeff4"/>
                </a:solidFill>
                <a:latin typeface="Consolas"/>
                <a:ea typeface="Consolas"/>
              </a:rPr>
              <a:t>    </a:t>
            </a:r>
            <a:r>
              <a:rPr b="0" lang="en-US" sz="1300" spc="-1" strike="noStrike">
                <a:solidFill>
                  <a:srgbClr val="edeff4"/>
                </a:solidFill>
                <a:latin typeface="Consolas"/>
                <a:ea typeface="Consolas"/>
              </a:rPr>
              <a:t>let handle = thread::spawn(|| {</a:t>
            </a:r>
            <a:endParaRPr b="0" lang="en-US" sz="1300" spc="-1" strike="noStrike">
              <a:solidFill>
                <a:srgbClr val="ffffff"/>
              </a:solidFill>
              <a:latin typeface="Arial"/>
            </a:endParaRPr>
          </a:p>
          <a:p>
            <a:pPr defTabSz="914400">
              <a:lnSpc>
                <a:spcPct val="125000"/>
              </a:lnSpc>
              <a:tabLst>
                <a:tab algn="l" pos="0"/>
              </a:tabLst>
            </a:pPr>
            <a:r>
              <a:rPr b="0" lang="en-US" sz="1300" spc="-1" strike="noStrike">
                <a:solidFill>
                  <a:srgbClr val="edeff4"/>
                </a:solidFill>
                <a:latin typeface="Consolas"/>
                <a:ea typeface="Consolas"/>
              </a:rPr>
              <a:t>        </a:t>
            </a:r>
            <a:r>
              <a:rPr b="0" lang="en-US" sz="1300" spc="-1" strike="noStrike">
                <a:solidFill>
                  <a:srgbClr val="edeff4"/>
                </a:solidFill>
                <a:latin typeface="Consolas"/>
                <a:ea typeface="Consolas"/>
              </a:rPr>
              <a:t>println!("{:?}", data);</a:t>
            </a:r>
            <a:endParaRPr b="0" lang="en-US" sz="1300" spc="-1" strike="noStrike">
              <a:solidFill>
                <a:srgbClr val="ffffff"/>
              </a:solidFill>
              <a:latin typeface="Arial"/>
            </a:endParaRPr>
          </a:p>
          <a:p>
            <a:pPr defTabSz="914400">
              <a:lnSpc>
                <a:spcPct val="125000"/>
              </a:lnSpc>
              <a:tabLst>
                <a:tab algn="l" pos="0"/>
              </a:tabLst>
            </a:pPr>
            <a:r>
              <a:rPr b="0" lang="en-US" sz="1300" spc="-1" strike="noStrike">
                <a:solidFill>
                  <a:srgbClr val="edeff4"/>
                </a:solidFill>
                <a:latin typeface="Consolas"/>
                <a:ea typeface="Consolas"/>
              </a:rPr>
              <a:t>    </a:t>
            </a:r>
            <a:r>
              <a:rPr b="0" lang="en-US" sz="1300" spc="-1" strike="noStrike">
                <a:solidFill>
                  <a:srgbClr val="edeff4"/>
                </a:solidFill>
                <a:latin typeface="Consolas"/>
                <a:ea typeface="Consolas"/>
              </a:rPr>
              <a:t>});</a:t>
            </a:r>
            <a:endParaRPr b="0" lang="en-US" sz="1300" spc="-1" strike="noStrike">
              <a:solidFill>
                <a:srgbClr val="ffffff"/>
              </a:solidFill>
              <a:latin typeface="Arial"/>
            </a:endParaRPr>
          </a:p>
          <a:p>
            <a:pPr defTabSz="914400">
              <a:lnSpc>
                <a:spcPct val="125000"/>
              </a:lnSpc>
              <a:tabLst>
                <a:tab algn="l" pos="0"/>
              </a:tabLst>
            </a:pPr>
            <a:r>
              <a:rPr b="0" lang="en-US" sz="1300" spc="-1" strike="noStrike">
                <a:solidFill>
                  <a:srgbClr val="edeff4"/>
                </a:solidFill>
                <a:latin typeface="Consolas"/>
                <a:ea typeface="Consolas"/>
              </a:rPr>
              <a:t>    </a:t>
            </a:r>
            <a:r>
              <a:rPr b="0" lang="en-US" sz="1300" spc="-1" strike="noStrike">
                <a:solidFill>
                  <a:srgbClr val="edeff4"/>
                </a:solidFill>
                <a:latin typeface="Consolas"/>
                <a:ea typeface="Consolas"/>
              </a:rPr>
              <a:t>handle.join().unwrap();</a:t>
            </a:r>
            <a:endParaRPr b="0" lang="en-US" sz="1300" spc="-1" strike="noStrike">
              <a:solidFill>
                <a:srgbClr val="ffffff"/>
              </a:solidFill>
              <a:latin typeface="Arial"/>
            </a:endParaRPr>
          </a:p>
          <a:p>
            <a:pPr defTabSz="914400">
              <a:lnSpc>
                <a:spcPct val="125000"/>
              </a:lnSpc>
              <a:tabLst>
                <a:tab algn="l" pos="0"/>
              </a:tabLst>
            </a:pPr>
            <a:r>
              <a:rPr b="0" lang="en-US" sz="1300" spc="-1" strike="noStrike">
                <a:solidFill>
                  <a:srgbClr val="edeff4"/>
                </a:solidFill>
                <a:latin typeface="Consolas"/>
                <a:ea typeface="Consolas"/>
              </a:rPr>
              <a:t>}</a:t>
            </a:r>
            <a:endParaRPr b="0" lang="en-US" sz="1300" spc="-1" strike="noStrike">
              <a:solidFill>
                <a:srgbClr val="ffffff"/>
              </a:solidFill>
              <a:latin typeface="Arial"/>
            </a:endParaRPr>
          </a:p>
        </p:txBody>
      </p:sp>
      <p:sp>
        <p:nvSpPr>
          <p:cNvPr id="2244" name="Shape 8"/>
          <p:cNvSpPr/>
          <p:nvPr/>
        </p:nvSpPr>
        <p:spPr>
          <a:xfrm>
            <a:off x="548640" y="4526280"/>
            <a:ext cx="11062800" cy="1370160"/>
          </a:xfrm>
          <a:prstGeom prst="roundRect">
            <a:avLst>
              <a:gd name="adj" fmla="val 5333"/>
            </a:avLst>
          </a:prstGeom>
          <a:solidFill>
            <a:srgbClr val="202a40"/>
          </a:solidFill>
          <a:ln w="12700">
            <a:solidFill>
              <a:srgbClr val="e0b155"/>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45" name="Text 9"/>
          <p:cNvSpPr/>
          <p:nvPr/>
        </p:nvSpPr>
        <p:spPr>
          <a:xfrm>
            <a:off x="777240" y="4663440"/>
            <a:ext cx="10605600" cy="1095840"/>
          </a:xfrm>
          <a:prstGeom prst="rect">
            <a:avLst/>
          </a:prstGeom>
          <a:noFill/>
          <a:ln w="0">
            <a:noFill/>
          </a:ln>
        </p:spPr>
        <p:style>
          <a:lnRef idx="0"/>
          <a:fillRef idx="0"/>
          <a:effectRef idx="0"/>
          <a:fontRef idx="minor"/>
        </p:style>
        <p:txBody>
          <a:bodyPr lIns="90000" rIns="90000" tIns="45000" bIns="45000" anchor="t">
            <a:noAutofit/>
          </a:bodyPr>
          <a:p>
            <a:pPr defTabSz="914400">
              <a:lnSpc>
                <a:spcPct val="130000"/>
              </a:lnSpc>
              <a:tabLst>
                <a:tab algn="l" pos="0"/>
              </a:tabLst>
            </a:pPr>
            <a:r>
              <a:rPr b="1" lang="en-US" sz="1300" spc="-1" strike="noStrike">
                <a:solidFill>
                  <a:srgbClr val="e0b155"/>
                </a:solidFill>
                <a:latin typeface="Arial"/>
                <a:ea typeface="Arial"/>
              </a:rPr>
              <a:t>Task:  </a:t>
            </a:r>
            <a:r>
              <a:rPr b="0" lang="en-US" sz="1300" spc="-1" strike="noStrike">
                <a:solidFill>
                  <a:srgbClr val="edeff4"/>
                </a:solidFill>
                <a:latin typeface="Arial"/>
                <a:ea typeface="Arial"/>
              </a:rPr>
              <a:t>This fails to compile with an error about the closure needing a 'static lifetime. Fix it with one keyword — and explain why the compiler insists on it even though this specific program is obviously fine.</a:t>
            </a:r>
            <a:endParaRPr b="0" lang="en-US" sz="1300" spc="-1" strike="noStrike">
              <a:solidFill>
                <a:srgbClr val="ffffff"/>
              </a:solidFill>
              <a:latin typeface="Arial"/>
            </a:endParaRPr>
          </a:p>
        </p:txBody>
      </p:sp>
      <p:sp>
        <p:nvSpPr>
          <p:cNvPr id="2246" name="Text 10"/>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247" name="Text 11"/>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157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248"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PRACTICE PROBLEMS — SOLUTION 10</a:t>
            </a:r>
            <a:endParaRPr b="0" lang="en-US" sz="1300" spc="-1" strike="noStrike">
              <a:solidFill>
                <a:srgbClr val="ffffff"/>
              </a:solidFill>
              <a:latin typeface="Arial"/>
            </a:endParaRPr>
          </a:p>
        </p:txBody>
      </p:sp>
      <p:sp>
        <p:nvSpPr>
          <p:cNvPr id="2249" name="Shape 1"/>
          <p:cNvSpPr/>
          <p:nvPr/>
        </p:nvSpPr>
        <p:spPr>
          <a:xfrm>
            <a:off x="10478880" y="347400"/>
            <a:ext cx="995400" cy="364320"/>
          </a:xfrm>
          <a:prstGeom prst="roundRect">
            <a:avLst>
              <a:gd name="adj" fmla="val 125000"/>
            </a:avLst>
          </a:prstGeom>
          <a:solidFill>
            <a:srgbClr val="9b6bd9"/>
          </a:solidFill>
          <a:ln w="12700">
            <a:solidFill>
              <a:srgbClr val="9b6bd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50" name="Text 2"/>
          <p:cNvSpPr/>
          <p:nvPr/>
        </p:nvSpPr>
        <p:spPr>
          <a:xfrm>
            <a:off x="10478880" y="347400"/>
            <a:ext cx="9954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ffffff"/>
                </a:solidFill>
                <a:latin typeface="Arial"/>
                <a:ea typeface="Arial"/>
              </a:rPr>
              <a:t>⚠ </a:t>
            </a:r>
            <a:r>
              <a:rPr b="1" lang="en-US" sz="1050" spc="-1" strike="noStrike">
                <a:solidFill>
                  <a:srgbClr val="ffffff"/>
                </a:solidFill>
                <a:latin typeface="Arial"/>
                <a:ea typeface="Arial"/>
              </a:rPr>
              <a:t>TRAP</a:t>
            </a:r>
            <a:endParaRPr b="0" lang="en-US" sz="1050" spc="-1" strike="noStrike">
              <a:solidFill>
                <a:srgbClr val="ffffff"/>
              </a:solidFill>
              <a:latin typeface="Arial"/>
            </a:endParaRPr>
          </a:p>
        </p:txBody>
      </p:sp>
      <p:sp>
        <p:nvSpPr>
          <p:cNvPr id="2251" name="Shape 3"/>
          <p:cNvSpPr/>
          <p:nvPr/>
        </p:nvSpPr>
        <p:spPr>
          <a:xfrm>
            <a:off x="9573840" y="347400"/>
            <a:ext cx="766800" cy="364320"/>
          </a:xfrm>
          <a:prstGeom prst="roundRect">
            <a:avLst>
              <a:gd name="adj" fmla="val 125000"/>
            </a:avLst>
          </a:prstGeom>
          <a:solidFill>
            <a:srgbClr val="e15757"/>
          </a:solidFill>
          <a:ln w="12700">
            <a:solidFill>
              <a:srgbClr val="e1575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52" name="Text 4"/>
          <p:cNvSpPr/>
          <p:nvPr/>
        </p:nvSpPr>
        <p:spPr>
          <a:xfrm>
            <a:off x="9573840" y="347400"/>
            <a:ext cx="7668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ffffff"/>
                </a:solidFill>
                <a:latin typeface="Arial"/>
                <a:ea typeface="Arial"/>
              </a:rPr>
              <a:t>HARD</a:t>
            </a:r>
            <a:endParaRPr b="0" lang="en-US" sz="1050" spc="-1" strike="noStrike">
              <a:solidFill>
                <a:srgbClr val="ffffff"/>
              </a:solidFill>
              <a:latin typeface="Arial"/>
            </a:endParaRPr>
          </a:p>
        </p:txBody>
      </p:sp>
      <p:sp>
        <p:nvSpPr>
          <p:cNvPr id="2253" name="Text 5"/>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Escaping Thread</a:t>
            </a:r>
            <a:endParaRPr b="0" lang="en-US" sz="2800" spc="-1" strike="noStrike">
              <a:solidFill>
                <a:srgbClr val="ffffff"/>
              </a:solidFill>
              <a:latin typeface="Arial"/>
            </a:endParaRPr>
          </a:p>
        </p:txBody>
      </p:sp>
      <p:sp>
        <p:nvSpPr>
          <p:cNvPr id="2254" name="Shape 6"/>
          <p:cNvSpPr/>
          <p:nvPr/>
        </p:nvSpPr>
        <p:spPr>
          <a:xfrm>
            <a:off x="548640" y="1645920"/>
            <a:ext cx="11062800" cy="2284560"/>
          </a:xfrm>
          <a:prstGeom prst="roundRect">
            <a:avLst>
              <a:gd name="adj" fmla="val 360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55" name="Text 7"/>
          <p:cNvSpPr/>
          <p:nvPr/>
        </p:nvSpPr>
        <p:spPr>
          <a:xfrm>
            <a:off x="777240" y="1755720"/>
            <a:ext cx="10605600" cy="206496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400" spc="-1" strike="noStrike">
                <a:solidFill>
                  <a:srgbClr val="edeff4"/>
                </a:solidFill>
                <a:latin typeface="Consolas"/>
                <a:ea typeface="Consolas"/>
              </a:rPr>
              <a:t>let handle = thread::spawn(move ||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println!("{:?}", data);</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a:t>
            </a:r>
            <a:endParaRPr b="0" lang="en-US" sz="1400" spc="-1" strike="noStrike">
              <a:solidFill>
                <a:srgbClr val="ffffff"/>
              </a:solidFill>
              <a:latin typeface="Arial"/>
            </a:endParaRPr>
          </a:p>
        </p:txBody>
      </p:sp>
      <p:sp>
        <p:nvSpPr>
          <p:cNvPr id="2256" name="Shape 8"/>
          <p:cNvSpPr/>
          <p:nvPr/>
        </p:nvSpPr>
        <p:spPr>
          <a:xfrm>
            <a:off x="548640" y="4069080"/>
            <a:ext cx="11062800" cy="1827360"/>
          </a:xfrm>
          <a:prstGeom prst="roundRect">
            <a:avLst>
              <a:gd name="adj" fmla="val 4000"/>
            </a:avLst>
          </a:prstGeom>
          <a:solidFill>
            <a:srgbClr val="202a40"/>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57" name="Text 9"/>
          <p:cNvSpPr/>
          <p:nvPr/>
        </p:nvSpPr>
        <p:spPr>
          <a:xfrm>
            <a:off x="777240" y="4206240"/>
            <a:ext cx="10605600" cy="1553040"/>
          </a:xfrm>
          <a:prstGeom prst="rect">
            <a:avLst/>
          </a:prstGeom>
          <a:noFill/>
          <a:ln w="0">
            <a:noFill/>
          </a:ln>
        </p:spPr>
        <p:style>
          <a:lnRef idx="0"/>
          <a:fillRef idx="0"/>
          <a:effectRef idx="0"/>
          <a:fontRef idx="minor"/>
        </p:style>
        <p:txBody>
          <a:bodyPr lIns="90000" rIns="90000" tIns="45000" bIns="45000" anchor="t">
            <a:noAutofit/>
          </a:bodyPr>
          <a:p>
            <a:pPr defTabSz="914400">
              <a:lnSpc>
                <a:spcPct val="128000"/>
              </a:lnSpc>
              <a:tabLst>
                <a:tab algn="l" pos="0"/>
              </a:tabLst>
            </a:pPr>
            <a:r>
              <a:rPr b="1" lang="en-US" sz="1250" spc="-1" strike="noStrike">
                <a:solidFill>
                  <a:srgbClr val="58c27d"/>
                </a:solidFill>
                <a:latin typeface="Arial"/>
                <a:ea typeface="Arial"/>
              </a:rPr>
              <a:t>Why it works:  </a:t>
            </a:r>
            <a:r>
              <a:rPr b="0" lang="en-US" sz="1250" spc="-1" strike="noStrike">
                <a:solidFill>
                  <a:srgbClr val="edeff4"/>
                </a:solidFill>
                <a:latin typeface="Arial"/>
                <a:ea typeface="Arial"/>
              </a:rPr>
              <a:t>thread::spawn can't know how long the spawned thread will run relative to main, so it requires every capture to be 'static — either owned outright or a genuinely static reference. move transfers ownership of data into the closure instead of borrowing it. The compiler enforces this for every thread::spawn call, not just the ones that would actually outlive their data — it can't tell those apart from here.</a:t>
            </a:r>
            <a:endParaRPr b="0" lang="en-US" sz="1250" spc="-1" strike="noStrike">
              <a:solidFill>
                <a:srgbClr val="ffffff"/>
              </a:solidFill>
              <a:latin typeface="Arial"/>
            </a:endParaRPr>
          </a:p>
        </p:txBody>
      </p:sp>
      <p:sp>
        <p:nvSpPr>
          <p:cNvPr id="2258" name="Text 10"/>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259" name="Text 11"/>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158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260"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ce422b"/>
                </a:solidFill>
                <a:latin typeface="Arial"/>
                <a:ea typeface="Arial"/>
              </a:rPr>
              <a:t>PRACTICE PROBLEMS</a:t>
            </a:r>
            <a:endParaRPr b="0" lang="en-US" sz="1300" spc="-1" strike="noStrike">
              <a:solidFill>
                <a:srgbClr val="ffffff"/>
              </a:solidFill>
              <a:latin typeface="Arial"/>
            </a:endParaRPr>
          </a:p>
        </p:txBody>
      </p:sp>
      <p:sp>
        <p:nvSpPr>
          <p:cNvPr id="2261" name="Text 1"/>
          <p:cNvSpPr/>
          <p:nvPr/>
        </p:nvSpPr>
        <p:spPr>
          <a:xfrm>
            <a:off x="548640" y="2194560"/>
            <a:ext cx="11062800" cy="2101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3200" spc="-1" strike="noStrike">
                <a:solidFill>
                  <a:srgbClr val="edeff4"/>
                </a:solidFill>
                <a:latin typeface="Arial"/>
                <a:ea typeface="Arial"/>
              </a:rPr>
              <a:t>Every trap here compiled, or nearly did — that's the point.</a:t>
            </a:r>
            <a:endParaRPr b="0" lang="en-US" sz="3200" spc="-1" strike="noStrike">
              <a:solidFill>
                <a:srgbClr val="ffffff"/>
              </a:solidFill>
              <a:latin typeface="Arial"/>
            </a:endParaRPr>
          </a:p>
        </p:txBody>
      </p:sp>
      <p:sp>
        <p:nvSpPr>
          <p:cNvPr id="2262" name="Text 2"/>
          <p:cNvSpPr/>
          <p:nvPr/>
        </p:nvSpPr>
        <p:spPr>
          <a:xfrm>
            <a:off x="548640" y="4434840"/>
            <a:ext cx="1033128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30000"/>
              </a:lnSpc>
              <a:tabLst>
                <a:tab algn="l" pos="0"/>
              </a:tabLst>
            </a:pPr>
            <a:r>
              <a:rPr b="0" lang="en-US" sz="1400" spc="-1" strike="noStrike">
                <a:solidFill>
                  <a:srgbClr val="9aa4b8"/>
                </a:solidFill>
                <a:latin typeface="Arial"/>
                <a:ea typeface="Arial"/>
              </a:rPr>
              <a:t>C++'s dangerous constructs usually compile silently and fail at runtime. Rust's dangerous constructs mostly fail to compile, loudly, with a message pointing roughly at the problem. The two "almost worked" traps — the semicolon and the silent iterator — are the exceptions worth remembering precisely because they're rarer.</a:t>
            </a:r>
            <a:endParaRPr b="0" lang="en-US" sz="1400" spc="-1" strike="noStrike">
              <a:solidFill>
                <a:srgbClr val="ffffff"/>
              </a:solidFill>
              <a:latin typeface="Arial"/>
            </a:endParaRPr>
          </a:p>
        </p:txBody>
      </p:sp>
      <p:sp>
        <p:nvSpPr>
          <p:cNvPr id="2263" name="Text 3"/>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264" name="Text 4"/>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159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265" name="Text 26"/>
          <p:cNvSpPr/>
          <p:nvPr/>
        </p:nvSpPr>
        <p:spPr>
          <a:xfrm>
            <a:off x="548640" y="2194560"/>
            <a:ext cx="11062800" cy="2101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3200" spc="-1" strike="noStrike">
                <a:solidFill>
                  <a:srgbClr val="edeff4"/>
                </a:solidFill>
                <a:latin typeface="Arial"/>
                <a:ea typeface="Arial"/>
              </a:rPr>
              <a:t>Do the Rust100 (Github):  </a:t>
            </a:r>
            <a:endParaRPr b="0" lang="en-US" sz="3200" spc="-1" strike="noStrike">
              <a:solidFill>
                <a:srgbClr val="ffffff"/>
              </a:solidFill>
              <a:latin typeface="Arial"/>
            </a:endParaRPr>
          </a:p>
          <a:p>
            <a:pPr defTabSz="914400">
              <a:lnSpc>
                <a:spcPct val="115000"/>
              </a:lnSpc>
              <a:tabLst>
                <a:tab algn="l" pos="0"/>
              </a:tabLst>
            </a:pPr>
            <a:r>
              <a:rPr b="1" lang="en-US" sz="2800" spc="-1" strike="noStrike">
                <a:solidFill>
                  <a:srgbClr val="edeff4"/>
                </a:solidFill>
                <a:latin typeface="Arial"/>
                <a:ea typeface="Arial"/>
              </a:rPr>
              <a:t>git clone https://github.com/edzimmermann/Rust_course.git</a:t>
            </a:r>
            <a:endParaRPr b="0" lang="en-US" sz="2800" spc="-1" strike="noStrike">
              <a:solidFill>
                <a:srgbClr val="ffffff"/>
              </a:solidFill>
              <a:latin typeface="Arial"/>
            </a:endParaRPr>
          </a:p>
        </p:txBody>
      </p:sp>
      <p:sp>
        <p:nvSpPr>
          <p:cNvPr id="2266" name="Text 22"/>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ce422b"/>
                </a:solidFill>
                <a:latin typeface="Arial"/>
                <a:ea typeface="Arial"/>
              </a:rPr>
              <a:t>PRACTICE PROBLEMS</a:t>
            </a:r>
            <a:endParaRPr b="0" lang="en-US" sz="1300" spc="-1" strike="noStrike">
              <a:solidFill>
                <a:srgbClr val="ffffff"/>
              </a:solidFill>
              <a:latin typeface="Arial"/>
            </a:endParaRPr>
          </a:p>
        </p:txBody>
      </p:sp>
      <p:sp>
        <p:nvSpPr>
          <p:cNvPr id="2267" name="Text 30"/>
          <p:cNvSpPr/>
          <p:nvPr/>
        </p:nvSpPr>
        <p:spPr>
          <a:xfrm>
            <a:off x="548640" y="4434840"/>
            <a:ext cx="1033128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30000"/>
              </a:lnSpc>
              <a:tabLst>
                <a:tab algn="l" pos="0"/>
              </a:tabLst>
            </a:pPr>
            <a:r>
              <a:rPr b="0" lang="en-US" sz="1400" spc="-1" strike="noStrike">
                <a:solidFill>
                  <a:srgbClr val="9aa4b8"/>
                </a:solidFill>
                <a:latin typeface="Arial"/>
                <a:ea typeface="Arial"/>
              </a:rPr>
              <a:t>C++'s dangerous constructs usually compile silently and fail at runtime. Rust's dangerous constructs mostly fail to compile, loudly, with a message pointing roughly at the problem. The two "almost worked" traps — the semicolon and the silent iterator — are the exceptions worth remembering precisely because they're rarer.</a:t>
            </a:r>
            <a:endParaRPr b="0" lang="en-US" sz="1400" spc="-1" strike="noStrike">
              <a:solidFill>
                <a:srgbClr val="ffffff"/>
              </a:solidFill>
              <a:latin typeface="Arial"/>
            </a:endParaRPr>
          </a:p>
        </p:txBody>
      </p:sp>
      <p:sp>
        <p:nvSpPr>
          <p:cNvPr id="2268" name="Text 34"/>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269" name="Text 38"/>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159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270" name="Text 42"/>
          <p:cNvSpPr/>
          <p:nvPr/>
        </p:nvSpPr>
        <p:spPr>
          <a:xfrm>
            <a:off x="548640" y="1965960"/>
            <a:ext cx="5485680" cy="1005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5400" spc="-1" strike="noStrike">
                <a:solidFill>
                  <a:srgbClr val="e8804f"/>
                </a:solidFill>
                <a:latin typeface="Arial"/>
                <a:ea typeface="Arial"/>
              </a:rPr>
              <a:t>RUST</a:t>
            </a:r>
            <a:endParaRPr b="0" lang="en-US" sz="5400" spc="-1" strike="noStrike">
              <a:solidFill>
                <a:srgbClr val="ffffff"/>
              </a:solidFill>
              <a:latin typeface="Arial"/>
            </a:endParaRPr>
          </a:p>
        </p:txBody>
      </p:sp>
      <p:sp>
        <p:nvSpPr>
          <p:cNvPr id="2271" name="Text 46"/>
          <p:cNvSpPr/>
          <p:nvPr/>
        </p:nvSpPr>
        <p:spPr>
          <a:xfrm>
            <a:off x="548640" y="2697480"/>
            <a:ext cx="7314480" cy="639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2600" spc="-1" strike="noStrike">
                <a:solidFill>
                  <a:srgbClr val="edeff4"/>
                </a:solidFill>
                <a:latin typeface="Arial"/>
                <a:ea typeface="Arial"/>
              </a:rPr>
              <a:t>for C++ Developers</a:t>
            </a:r>
            <a:endParaRPr b="0" lang="en-US" sz="2600" spc="-1" strike="noStrike">
              <a:solidFill>
                <a:srgbClr val="ffffff"/>
              </a:solidFill>
              <a:latin typeface="Arial"/>
            </a:endParaRPr>
          </a:p>
        </p:txBody>
      </p:sp>
      <p:sp>
        <p:nvSpPr>
          <p:cNvPr id="2272" name="Text 50"/>
          <p:cNvSpPr/>
          <p:nvPr/>
        </p:nvSpPr>
        <p:spPr>
          <a:xfrm>
            <a:off x="548640" y="3291840"/>
            <a:ext cx="7314480" cy="456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600" spc="-1" strike="noStrike">
                <a:solidFill>
                  <a:srgbClr val="9aa4b8"/>
                </a:solidFill>
                <a:latin typeface="Arial"/>
                <a:ea typeface="Arial"/>
              </a:rPr>
              <a:t>What you can no longer do — and why</a:t>
            </a:r>
            <a:endParaRPr b="0" lang="en-US" sz="1600" spc="-1" strike="noStrike">
              <a:solidFill>
                <a:srgbClr val="ffffff"/>
              </a:solidFill>
              <a:latin typeface="Arial"/>
            </a:endParaRPr>
          </a:p>
        </p:txBody>
      </p:sp>
      <p:sp>
        <p:nvSpPr>
          <p:cNvPr id="2273" name="Shape 16"/>
          <p:cNvSpPr/>
          <p:nvPr/>
        </p:nvSpPr>
        <p:spPr>
          <a:xfrm>
            <a:off x="8778240" y="1737360"/>
            <a:ext cx="2833920" cy="3291120"/>
          </a:xfrm>
          <a:prstGeom prst="roundRect">
            <a:avLst>
              <a:gd name="adj" fmla="val 3871"/>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74" name="Text 54"/>
          <p:cNvSpPr/>
          <p:nvPr/>
        </p:nvSpPr>
        <p:spPr>
          <a:xfrm>
            <a:off x="8778240" y="1965960"/>
            <a:ext cx="2833920" cy="4564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800" spc="-1" strike="noStrike">
                <a:solidFill>
                  <a:srgbClr val="3e8fe0"/>
                </a:solidFill>
                <a:latin typeface="Consolas"/>
                <a:ea typeface="Consolas"/>
              </a:rPr>
              <a:t>C++</a:t>
            </a:r>
            <a:endParaRPr b="0" lang="en-US" sz="1800" spc="-1" strike="noStrike">
              <a:solidFill>
                <a:srgbClr val="ffffff"/>
              </a:solidFill>
              <a:latin typeface="Arial"/>
            </a:endParaRPr>
          </a:p>
        </p:txBody>
      </p:sp>
      <p:sp>
        <p:nvSpPr>
          <p:cNvPr id="2275" name="Text 62"/>
          <p:cNvSpPr/>
          <p:nvPr/>
        </p:nvSpPr>
        <p:spPr>
          <a:xfrm>
            <a:off x="9006840" y="2514600"/>
            <a:ext cx="2376720" cy="913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30000"/>
              </a:lnSpc>
              <a:tabLst>
                <a:tab algn="l" pos="0"/>
              </a:tabLst>
            </a:pPr>
            <a:r>
              <a:rPr b="0" lang="en-US" sz="1050" spc="-1" strike="noStrike">
                <a:solidFill>
                  <a:srgbClr val="9aa4b8"/>
                </a:solidFill>
                <a:latin typeface="Consolas"/>
                <a:ea typeface="Consolas"/>
              </a:rPr>
              <a:t>int* p = new int[5];</a:t>
            </a:r>
            <a:endParaRPr b="0" lang="en-US" sz="1050" spc="-1" strike="noStrike">
              <a:solidFill>
                <a:srgbClr val="ffffff"/>
              </a:solidFill>
              <a:latin typeface="Arial"/>
            </a:endParaRPr>
          </a:p>
          <a:p>
            <a:pPr defTabSz="914400">
              <a:lnSpc>
                <a:spcPct val="130000"/>
              </a:lnSpc>
              <a:tabLst>
                <a:tab algn="l" pos="0"/>
              </a:tabLst>
            </a:pPr>
            <a:r>
              <a:rPr b="0" lang="en-US" sz="1050" spc="-1" strike="noStrike">
                <a:solidFill>
                  <a:srgbClr val="9aa4b8"/>
                </a:solidFill>
                <a:latin typeface="Consolas"/>
                <a:ea typeface="Consolas"/>
              </a:rPr>
              <a:t>delete[] p;</a:t>
            </a:r>
            <a:endParaRPr b="0" lang="en-US" sz="1050" spc="-1" strike="noStrike">
              <a:solidFill>
                <a:srgbClr val="ffffff"/>
              </a:solidFill>
              <a:latin typeface="Arial"/>
            </a:endParaRPr>
          </a:p>
          <a:p>
            <a:pPr defTabSz="914400">
              <a:lnSpc>
                <a:spcPct val="130000"/>
              </a:lnSpc>
              <a:tabLst>
                <a:tab algn="l" pos="0"/>
              </a:tabLst>
            </a:pPr>
            <a:r>
              <a:rPr b="0" lang="en-US" sz="1050" spc="-1" strike="noStrike">
                <a:solidFill>
                  <a:srgbClr val="9aa4b8"/>
                </a:solidFill>
                <a:latin typeface="Consolas"/>
                <a:ea typeface="Consolas"/>
              </a:rPr>
              <a:t>p[0] = 1;  // UB, compiles</a:t>
            </a:r>
            <a:endParaRPr b="0" lang="en-US" sz="1050" spc="-1" strike="noStrike">
              <a:solidFill>
                <a:srgbClr val="ffffff"/>
              </a:solidFill>
              <a:latin typeface="Arial"/>
            </a:endParaRPr>
          </a:p>
        </p:txBody>
      </p:sp>
      <p:sp>
        <p:nvSpPr>
          <p:cNvPr id="2276" name="Shape 19"/>
          <p:cNvSpPr/>
          <p:nvPr/>
        </p:nvSpPr>
        <p:spPr>
          <a:xfrm>
            <a:off x="9006840" y="3611880"/>
            <a:ext cx="2377440" cy="360"/>
          </a:xfrm>
          <a:prstGeom prst="line">
            <a:avLst/>
          </a:prstGeom>
          <a:ln w="12700">
            <a:solidFill>
              <a:srgbClr val="2b3550"/>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277" name="Text 66"/>
          <p:cNvSpPr/>
          <p:nvPr/>
        </p:nvSpPr>
        <p:spPr>
          <a:xfrm>
            <a:off x="8778240" y="3749040"/>
            <a:ext cx="2833920" cy="4564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800" spc="-1" strike="noStrike">
                <a:solidFill>
                  <a:srgbClr val="e8804f"/>
                </a:solidFill>
                <a:latin typeface="Consolas"/>
                <a:ea typeface="Consolas"/>
              </a:rPr>
              <a:t>Rust</a:t>
            </a:r>
            <a:endParaRPr b="0" lang="en-US" sz="1800" spc="-1" strike="noStrike">
              <a:solidFill>
                <a:srgbClr val="ffffff"/>
              </a:solidFill>
              <a:latin typeface="Arial"/>
            </a:endParaRPr>
          </a:p>
        </p:txBody>
      </p:sp>
      <p:sp>
        <p:nvSpPr>
          <p:cNvPr id="2278" name="Text 72"/>
          <p:cNvSpPr/>
          <p:nvPr/>
        </p:nvSpPr>
        <p:spPr>
          <a:xfrm>
            <a:off x="9006840" y="4297680"/>
            <a:ext cx="2376720" cy="913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30000"/>
              </a:lnSpc>
              <a:tabLst>
                <a:tab algn="l" pos="0"/>
              </a:tabLst>
            </a:pPr>
            <a:r>
              <a:rPr b="0" lang="en-US" sz="1050" spc="-1" strike="noStrike">
                <a:solidFill>
                  <a:srgbClr val="9aa4b8"/>
                </a:solidFill>
                <a:latin typeface="Consolas"/>
                <a:ea typeface="Consolas"/>
              </a:rPr>
              <a:t>let v = vec![1];</a:t>
            </a:r>
            <a:endParaRPr b="0" lang="en-US" sz="1050" spc="-1" strike="noStrike">
              <a:solidFill>
                <a:srgbClr val="ffffff"/>
              </a:solidFill>
              <a:latin typeface="Arial"/>
            </a:endParaRPr>
          </a:p>
          <a:p>
            <a:pPr defTabSz="914400">
              <a:lnSpc>
                <a:spcPct val="130000"/>
              </a:lnSpc>
              <a:tabLst>
                <a:tab algn="l" pos="0"/>
              </a:tabLst>
            </a:pPr>
            <a:r>
              <a:rPr b="0" lang="en-US" sz="1050" spc="-1" strike="noStrike">
                <a:solidFill>
                  <a:srgbClr val="9aa4b8"/>
                </a:solidFill>
                <a:latin typeface="Consolas"/>
                <a:ea typeface="Consolas"/>
              </a:rPr>
              <a:t>drop(v);</a:t>
            </a:r>
            <a:endParaRPr b="0" lang="en-US" sz="1050" spc="-1" strike="noStrike">
              <a:solidFill>
                <a:srgbClr val="ffffff"/>
              </a:solidFill>
              <a:latin typeface="Arial"/>
            </a:endParaRPr>
          </a:p>
          <a:p>
            <a:pPr defTabSz="914400">
              <a:lnSpc>
                <a:spcPct val="130000"/>
              </a:lnSpc>
              <a:tabLst>
                <a:tab algn="l" pos="0"/>
              </a:tabLst>
            </a:pPr>
            <a:r>
              <a:rPr b="0" lang="en-US" sz="1050" spc="-1" strike="noStrike">
                <a:solidFill>
                  <a:srgbClr val="9aa4b8"/>
                </a:solidFill>
                <a:latin typeface="Consolas"/>
                <a:ea typeface="Consolas"/>
              </a:rPr>
              <a:t>v[0];  // won't compile</a:t>
            </a:r>
            <a:endParaRPr b="0" lang="en-US" sz="1050" spc="-1" strike="noStrike">
              <a:solidFill>
                <a:srgbClr val="ffffff"/>
              </a:solidFill>
              <a:latin typeface="Arial"/>
            </a:endParaRPr>
          </a:p>
        </p:txBody>
      </p:sp>
      <p:sp>
        <p:nvSpPr>
          <p:cNvPr id="2279" name="Text 73"/>
          <p:cNvSpPr/>
          <p:nvPr/>
        </p:nvSpPr>
        <p:spPr>
          <a:xfrm>
            <a:off x="548640" y="6035040"/>
            <a:ext cx="82288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200" spc="-1" strike="noStrike">
                <a:solidFill>
                  <a:srgbClr val="9aa4b8"/>
                </a:solidFill>
                <a:latin typeface="Arial"/>
                <a:ea typeface="Arial"/>
              </a:rPr>
              <a:t>A guide to the patterns the borrow checker and type system rule out</a:t>
            </a:r>
            <a:endParaRPr b="0" lang="en-US" sz="1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280" name="Text 74"/>
          <p:cNvSpPr/>
          <p:nvPr/>
        </p:nvSpPr>
        <p:spPr>
          <a:xfrm>
            <a:off x="548640" y="384120"/>
            <a:ext cx="731448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7" strike="noStrike">
                <a:solidFill>
                  <a:srgbClr val="e8804f"/>
                </a:solidFill>
                <a:latin typeface="Arial"/>
                <a:ea typeface="Arial"/>
              </a:rPr>
              <a:t>ROADMAP</a:t>
            </a:r>
            <a:endParaRPr b="0" lang="en-US" sz="1300" spc="-1" strike="noStrike">
              <a:solidFill>
                <a:srgbClr val="ffffff"/>
              </a:solidFill>
              <a:latin typeface="Arial"/>
            </a:endParaRPr>
          </a:p>
        </p:txBody>
      </p:sp>
      <p:sp>
        <p:nvSpPr>
          <p:cNvPr id="2281" name="Text 75"/>
          <p:cNvSpPr/>
          <p:nvPr/>
        </p:nvSpPr>
        <p:spPr>
          <a:xfrm>
            <a:off x="548640" y="685800"/>
            <a:ext cx="1106352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edeff4"/>
                </a:solidFill>
                <a:latin typeface="Arial"/>
                <a:ea typeface="Arial"/>
              </a:rPr>
              <a:t>What we'll cover</a:t>
            </a:r>
            <a:endParaRPr b="0" lang="en-US" sz="3000" spc="-1" strike="noStrike">
              <a:solidFill>
                <a:srgbClr val="ffffff"/>
              </a:solidFill>
              <a:latin typeface="Arial"/>
            </a:endParaRPr>
          </a:p>
        </p:txBody>
      </p:sp>
      <p:sp>
        <p:nvSpPr>
          <p:cNvPr id="2282" name="Shape 31"/>
          <p:cNvSpPr/>
          <p:nvPr/>
        </p:nvSpPr>
        <p:spPr>
          <a:xfrm>
            <a:off x="548640" y="1737360"/>
            <a:ext cx="5348520" cy="867960"/>
          </a:xfrm>
          <a:prstGeom prst="roundRect">
            <a:avLst>
              <a:gd name="adj" fmla="val 10526"/>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83" name="Text 76"/>
          <p:cNvSpPr/>
          <p:nvPr/>
        </p:nvSpPr>
        <p:spPr>
          <a:xfrm>
            <a:off x="777240" y="1847160"/>
            <a:ext cx="822240" cy="648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pc="-1" strike="noStrike">
                <a:solidFill>
                  <a:srgbClr val="e8804f"/>
                </a:solidFill>
                <a:latin typeface="Consolas"/>
                <a:ea typeface="Consolas"/>
              </a:rPr>
              <a:t>01</a:t>
            </a:r>
            <a:endParaRPr b="0" lang="en-US" sz="2200" spc="-1" strike="noStrike">
              <a:solidFill>
                <a:srgbClr val="ffffff"/>
              </a:solidFill>
              <a:latin typeface="Arial"/>
            </a:endParaRPr>
          </a:p>
        </p:txBody>
      </p:sp>
      <p:sp>
        <p:nvSpPr>
          <p:cNvPr id="2284" name="Text 77"/>
          <p:cNvSpPr/>
          <p:nvPr/>
        </p:nvSpPr>
        <p:spPr>
          <a:xfrm>
            <a:off x="1554480" y="1828800"/>
            <a:ext cx="415980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500" spc="-1" strike="noStrike">
                <a:solidFill>
                  <a:srgbClr val="edeff4"/>
                </a:solidFill>
                <a:latin typeface="Arial"/>
                <a:ea typeface="Arial"/>
              </a:rPr>
              <a:t>Memory &amp; Aliasing</a:t>
            </a:r>
            <a:endParaRPr b="0" lang="en-US" sz="1500" spc="-1" strike="noStrike">
              <a:solidFill>
                <a:srgbClr val="ffffff"/>
              </a:solidFill>
              <a:latin typeface="Arial"/>
            </a:endParaRPr>
          </a:p>
        </p:txBody>
      </p:sp>
      <p:sp>
        <p:nvSpPr>
          <p:cNvPr id="2285" name="Text 78"/>
          <p:cNvSpPr/>
          <p:nvPr/>
        </p:nvSpPr>
        <p:spPr>
          <a:xfrm>
            <a:off x="1554480" y="2157840"/>
            <a:ext cx="415980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50" spc="-1" strike="noStrike">
                <a:solidFill>
                  <a:srgbClr val="9aa4b8"/>
                </a:solidFill>
                <a:latin typeface="Arial"/>
                <a:ea typeface="Arial"/>
              </a:rPr>
              <a:t>Pointers, ownership, and who may touch what</a:t>
            </a:r>
            <a:endParaRPr b="0" lang="en-US" sz="1050" spc="-1" strike="noStrike">
              <a:solidFill>
                <a:srgbClr val="ffffff"/>
              </a:solidFill>
              <a:latin typeface="Arial"/>
            </a:endParaRPr>
          </a:p>
        </p:txBody>
      </p:sp>
      <p:sp>
        <p:nvSpPr>
          <p:cNvPr id="2286" name="Shape 43"/>
          <p:cNvSpPr/>
          <p:nvPr/>
        </p:nvSpPr>
        <p:spPr>
          <a:xfrm>
            <a:off x="6263640" y="1737360"/>
            <a:ext cx="5348520" cy="867960"/>
          </a:xfrm>
          <a:prstGeom prst="roundRect">
            <a:avLst>
              <a:gd name="adj" fmla="val 10526"/>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87" name="Text 79"/>
          <p:cNvSpPr/>
          <p:nvPr/>
        </p:nvSpPr>
        <p:spPr>
          <a:xfrm>
            <a:off x="6492240" y="1847160"/>
            <a:ext cx="822240" cy="648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pc="-1" strike="noStrike">
                <a:solidFill>
                  <a:srgbClr val="e8804f"/>
                </a:solidFill>
                <a:latin typeface="Consolas"/>
                <a:ea typeface="Consolas"/>
              </a:rPr>
              <a:t>02</a:t>
            </a:r>
            <a:endParaRPr b="0" lang="en-US" sz="2200" spc="-1" strike="noStrike">
              <a:solidFill>
                <a:srgbClr val="ffffff"/>
              </a:solidFill>
              <a:latin typeface="Arial"/>
            </a:endParaRPr>
          </a:p>
        </p:txBody>
      </p:sp>
      <p:sp>
        <p:nvSpPr>
          <p:cNvPr id="2288" name="Text 80"/>
          <p:cNvSpPr/>
          <p:nvPr/>
        </p:nvSpPr>
        <p:spPr>
          <a:xfrm>
            <a:off x="7269480" y="1828800"/>
            <a:ext cx="415980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500" spc="-1" strike="noStrike">
                <a:solidFill>
                  <a:srgbClr val="edeff4"/>
                </a:solidFill>
                <a:latin typeface="Arial"/>
                <a:ea typeface="Arial"/>
              </a:rPr>
              <a:t>Type System</a:t>
            </a:r>
            <a:endParaRPr b="0" lang="en-US" sz="1500" spc="-1" strike="noStrike">
              <a:solidFill>
                <a:srgbClr val="ffffff"/>
              </a:solidFill>
              <a:latin typeface="Arial"/>
            </a:endParaRPr>
          </a:p>
        </p:txBody>
      </p:sp>
      <p:sp>
        <p:nvSpPr>
          <p:cNvPr id="2289" name="Text 81"/>
          <p:cNvSpPr/>
          <p:nvPr/>
        </p:nvSpPr>
        <p:spPr>
          <a:xfrm>
            <a:off x="7269480" y="2157840"/>
            <a:ext cx="415980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50" spc="-1" strike="noStrike">
                <a:solidFill>
                  <a:srgbClr val="9aa4b8"/>
                </a:solidFill>
                <a:latin typeface="Arial"/>
                <a:ea typeface="Arial"/>
              </a:rPr>
              <a:t>Conversions the compiler no longer does for you</a:t>
            </a:r>
            <a:endParaRPr b="0" lang="en-US" sz="1050" spc="-1" strike="noStrike">
              <a:solidFill>
                <a:srgbClr val="ffffff"/>
              </a:solidFill>
              <a:latin typeface="Arial"/>
            </a:endParaRPr>
          </a:p>
        </p:txBody>
      </p:sp>
      <p:sp>
        <p:nvSpPr>
          <p:cNvPr id="2290" name="Shape 55"/>
          <p:cNvSpPr/>
          <p:nvPr/>
        </p:nvSpPr>
        <p:spPr>
          <a:xfrm>
            <a:off x="548640" y="2770560"/>
            <a:ext cx="5348520" cy="867960"/>
          </a:xfrm>
          <a:prstGeom prst="roundRect">
            <a:avLst>
              <a:gd name="adj" fmla="val 10526"/>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91" name="Text 82"/>
          <p:cNvSpPr/>
          <p:nvPr/>
        </p:nvSpPr>
        <p:spPr>
          <a:xfrm>
            <a:off x="777240" y="2880360"/>
            <a:ext cx="822240" cy="648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pc="-1" strike="noStrike">
                <a:solidFill>
                  <a:srgbClr val="e8804f"/>
                </a:solidFill>
                <a:latin typeface="Consolas"/>
                <a:ea typeface="Consolas"/>
              </a:rPr>
              <a:t>03</a:t>
            </a:r>
            <a:endParaRPr b="0" lang="en-US" sz="2200" spc="-1" strike="noStrike">
              <a:solidFill>
                <a:srgbClr val="ffffff"/>
              </a:solidFill>
              <a:latin typeface="Arial"/>
            </a:endParaRPr>
          </a:p>
        </p:txBody>
      </p:sp>
      <p:sp>
        <p:nvSpPr>
          <p:cNvPr id="2292" name="Text 83"/>
          <p:cNvSpPr/>
          <p:nvPr/>
        </p:nvSpPr>
        <p:spPr>
          <a:xfrm>
            <a:off x="1554480" y="2862000"/>
            <a:ext cx="415980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500" spc="-1" strike="noStrike">
                <a:solidFill>
                  <a:srgbClr val="edeff4"/>
                </a:solidFill>
                <a:latin typeface="Arial"/>
                <a:ea typeface="Arial"/>
              </a:rPr>
              <a:t>OOP &amp; Generics</a:t>
            </a:r>
            <a:endParaRPr b="0" lang="en-US" sz="1500" spc="-1" strike="noStrike">
              <a:solidFill>
                <a:srgbClr val="ffffff"/>
              </a:solidFill>
              <a:latin typeface="Arial"/>
            </a:endParaRPr>
          </a:p>
        </p:txBody>
      </p:sp>
      <p:sp>
        <p:nvSpPr>
          <p:cNvPr id="2293" name="Text 84"/>
          <p:cNvSpPr/>
          <p:nvPr/>
        </p:nvSpPr>
        <p:spPr>
          <a:xfrm>
            <a:off x="1554480" y="3191400"/>
            <a:ext cx="415980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50" spc="-1" strike="noStrike">
                <a:solidFill>
                  <a:srgbClr val="9aa4b8"/>
                </a:solidFill>
                <a:latin typeface="Arial"/>
                <a:ea typeface="Arial"/>
              </a:rPr>
              <a:t>Inheritance, overloading, and templates</a:t>
            </a:r>
            <a:endParaRPr b="0" lang="en-US" sz="1050" spc="-1" strike="noStrike">
              <a:solidFill>
                <a:srgbClr val="ffffff"/>
              </a:solidFill>
              <a:latin typeface="Arial"/>
            </a:endParaRPr>
          </a:p>
        </p:txBody>
      </p:sp>
      <p:sp>
        <p:nvSpPr>
          <p:cNvPr id="2294" name="Shape 56"/>
          <p:cNvSpPr/>
          <p:nvPr/>
        </p:nvSpPr>
        <p:spPr>
          <a:xfrm>
            <a:off x="6263640" y="2770560"/>
            <a:ext cx="5348520" cy="867960"/>
          </a:xfrm>
          <a:prstGeom prst="roundRect">
            <a:avLst>
              <a:gd name="adj" fmla="val 10526"/>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95" name="Text 85"/>
          <p:cNvSpPr/>
          <p:nvPr/>
        </p:nvSpPr>
        <p:spPr>
          <a:xfrm>
            <a:off x="6492240" y="2880360"/>
            <a:ext cx="822240" cy="648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pc="-1" strike="noStrike">
                <a:solidFill>
                  <a:srgbClr val="e8804f"/>
                </a:solidFill>
                <a:latin typeface="Consolas"/>
                <a:ea typeface="Consolas"/>
              </a:rPr>
              <a:t>04</a:t>
            </a:r>
            <a:endParaRPr b="0" lang="en-US" sz="2200" spc="-1" strike="noStrike">
              <a:solidFill>
                <a:srgbClr val="ffffff"/>
              </a:solidFill>
              <a:latin typeface="Arial"/>
            </a:endParaRPr>
          </a:p>
        </p:txBody>
      </p:sp>
      <p:sp>
        <p:nvSpPr>
          <p:cNvPr id="2296" name="Text 86"/>
          <p:cNvSpPr/>
          <p:nvPr/>
        </p:nvSpPr>
        <p:spPr>
          <a:xfrm>
            <a:off x="7269480" y="2862000"/>
            <a:ext cx="415980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500" spc="-1" strike="noStrike">
                <a:solidFill>
                  <a:srgbClr val="edeff4"/>
                </a:solidFill>
                <a:latin typeface="Arial"/>
                <a:ea typeface="Arial"/>
              </a:rPr>
              <a:t>Control Flow &amp; State</a:t>
            </a:r>
            <a:endParaRPr b="0" lang="en-US" sz="1500" spc="-1" strike="noStrike">
              <a:solidFill>
                <a:srgbClr val="ffffff"/>
              </a:solidFill>
              <a:latin typeface="Arial"/>
            </a:endParaRPr>
          </a:p>
        </p:txBody>
      </p:sp>
      <p:sp>
        <p:nvSpPr>
          <p:cNvPr id="2297" name="Text 87"/>
          <p:cNvSpPr/>
          <p:nvPr/>
        </p:nvSpPr>
        <p:spPr>
          <a:xfrm>
            <a:off x="7269480" y="3191400"/>
            <a:ext cx="415980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50" spc="-1" strike="noStrike">
                <a:solidFill>
                  <a:srgbClr val="9aa4b8"/>
                </a:solidFill>
                <a:latin typeface="Arial"/>
                <a:ea typeface="Arial"/>
              </a:rPr>
              <a:t>Exceptions, goto, and global mutability</a:t>
            </a:r>
            <a:endParaRPr b="0" lang="en-US" sz="1050" spc="-1" strike="noStrike">
              <a:solidFill>
                <a:srgbClr val="ffffff"/>
              </a:solidFill>
              <a:latin typeface="Arial"/>
            </a:endParaRPr>
          </a:p>
        </p:txBody>
      </p:sp>
      <p:sp>
        <p:nvSpPr>
          <p:cNvPr id="2298" name="Text 88"/>
          <p:cNvSpPr/>
          <p:nvPr/>
        </p:nvSpPr>
        <p:spPr>
          <a:xfrm>
            <a:off x="457200" y="653796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C++ Developers</a:t>
            </a:r>
            <a:endParaRPr b="0" lang="en-US" sz="1000" spc="-1" strike="noStrike">
              <a:solidFill>
                <a:srgbClr val="ffffff"/>
              </a:solidFill>
              <a:latin typeface="Arial"/>
            </a:endParaRPr>
          </a:p>
        </p:txBody>
      </p:sp>
      <p:sp>
        <p:nvSpPr>
          <p:cNvPr id="2299" name="Text 89"/>
          <p:cNvSpPr/>
          <p:nvPr/>
        </p:nvSpPr>
        <p:spPr>
          <a:xfrm>
            <a:off x="11521440" y="6537960"/>
            <a:ext cx="365040" cy="273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2</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300" name="Shape 57"/>
          <p:cNvSpPr/>
          <p:nvPr/>
        </p:nvSpPr>
        <p:spPr>
          <a:xfrm>
            <a:off x="548640" y="2651760"/>
            <a:ext cx="1370880" cy="1370880"/>
          </a:xfrm>
          <a:prstGeom prst="roundRect">
            <a:avLst>
              <a:gd name="adj" fmla="val 6667"/>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01" name="Text 90"/>
          <p:cNvSpPr/>
          <p:nvPr/>
        </p:nvSpPr>
        <p:spPr>
          <a:xfrm>
            <a:off x="548640" y="2651760"/>
            <a:ext cx="1370880" cy="13708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400" spc="-1" strike="noStrike">
                <a:solidFill>
                  <a:srgbClr val="e8804f"/>
                </a:solidFill>
                <a:latin typeface="Consolas"/>
                <a:ea typeface="Consolas"/>
              </a:rPr>
              <a:t>01</a:t>
            </a:r>
            <a:endParaRPr b="0" lang="en-US" sz="3400" spc="-1" strike="noStrike">
              <a:solidFill>
                <a:srgbClr val="ffffff"/>
              </a:solidFill>
              <a:latin typeface="Arial"/>
            </a:endParaRPr>
          </a:p>
        </p:txBody>
      </p:sp>
      <p:sp>
        <p:nvSpPr>
          <p:cNvPr id="2302" name="Text 91"/>
          <p:cNvSpPr/>
          <p:nvPr/>
        </p:nvSpPr>
        <p:spPr>
          <a:xfrm>
            <a:off x="2194560" y="2743200"/>
            <a:ext cx="91432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edeff4"/>
                </a:solidFill>
                <a:latin typeface="Arial"/>
                <a:ea typeface="Arial"/>
              </a:rPr>
              <a:t>Memory &amp; Aliasing</a:t>
            </a:r>
            <a:endParaRPr b="0" lang="en-US" sz="3000" spc="-1" strike="noStrike">
              <a:solidFill>
                <a:srgbClr val="ffffff"/>
              </a:solidFill>
              <a:latin typeface="Arial"/>
            </a:endParaRPr>
          </a:p>
        </p:txBody>
      </p:sp>
      <p:sp>
        <p:nvSpPr>
          <p:cNvPr id="2303" name="Text 92"/>
          <p:cNvSpPr/>
          <p:nvPr/>
        </p:nvSpPr>
        <p:spPr>
          <a:xfrm>
            <a:off x="2194560" y="3429000"/>
            <a:ext cx="8686080" cy="5479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400" spc="-1" strike="noStrike">
                <a:solidFill>
                  <a:srgbClr val="9aa4b8"/>
                </a:solidFill>
                <a:latin typeface="Arial"/>
                <a:ea typeface="Arial"/>
              </a:rPr>
              <a:t>Pointers, ownership, and who may touch what</a:t>
            </a:r>
            <a:endParaRPr b="0" lang="en-US" sz="1400" spc="-1" strike="noStrike">
              <a:solidFill>
                <a:srgbClr val="ffffff"/>
              </a:solidFill>
              <a:latin typeface="Arial"/>
            </a:endParaRPr>
          </a:p>
        </p:txBody>
      </p:sp>
      <p:sp>
        <p:nvSpPr>
          <p:cNvPr id="2304" name="Text 93"/>
          <p:cNvSpPr/>
          <p:nvPr/>
        </p:nvSpPr>
        <p:spPr>
          <a:xfrm>
            <a:off x="457200" y="653796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C++ Developers</a:t>
            </a:r>
            <a:endParaRPr b="0" lang="en-US" sz="1000" spc="-1" strike="noStrike">
              <a:solidFill>
                <a:srgbClr val="ffffff"/>
              </a:solidFill>
              <a:latin typeface="Arial"/>
            </a:endParaRPr>
          </a:p>
        </p:txBody>
      </p:sp>
      <p:sp>
        <p:nvSpPr>
          <p:cNvPr id="2305" name="Text 94"/>
          <p:cNvSpPr/>
          <p:nvPr/>
        </p:nvSpPr>
        <p:spPr>
          <a:xfrm>
            <a:off x="11521440" y="6537960"/>
            <a:ext cx="365040" cy="273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3</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306" name="Text 95"/>
          <p:cNvSpPr/>
          <p:nvPr/>
        </p:nvSpPr>
        <p:spPr>
          <a:xfrm>
            <a:off x="548640" y="384120"/>
            <a:ext cx="731448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7" strike="noStrike">
                <a:solidFill>
                  <a:srgbClr val="e8804f"/>
                </a:solidFill>
                <a:latin typeface="Arial"/>
                <a:ea typeface="Arial"/>
              </a:rPr>
              <a:t>MEMORY &amp; ALIASING</a:t>
            </a:r>
            <a:endParaRPr b="0" lang="en-US" sz="1300" spc="-1" strike="noStrike">
              <a:solidFill>
                <a:srgbClr val="ffffff"/>
              </a:solidFill>
              <a:latin typeface="Arial"/>
            </a:endParaRPr>
          </a:p>
        </p:txBody>
      </p:sp>
      <p:sp>
        <p:nvSpPr>
          <p:cNvPr id="2307" name="Text 96"/>
          <p:cNvSpPr/>
          <p:nvPr/>
        </p:nvSpPr>
        <p:spPr>
          <a:xfrm>
            <a:off x="548640" y="713160"/>
            <a:ext cx="1106352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edeff4"/>
                </a:solidFill>
                <a:latin typeface="Arial"/>
                <a:ea typeface="Arial"/>
              </a:rPr>
              <a:t>Dangling pointers that compile</a:t>
            </a:r>
            <a:endParaRPr b="0" lang="en-US" sz="3000" spc="-1" strike="noStrike">
              <a:solidFill>
                <a:srgbClr val="ffffff"/>
              </a:solidFill>
              <a:latin typeface="Arial"/>
            </a:endParaRPr>
          </a:p>
        </p:txBody>
      </p:sp>
      <p:sp>
        <p:nvSpPr>
          <p:cNvPr id="2308" name="Shape 59"/>
          <p:cNvSpPr/>
          <p:nvPr/>
        </p:nvSpPr>
        <p:spPr>
          <a:xfrm>
            <a:off x="548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09" name="Shape 60"/>
          <p:cNvSpPr/>
          <p:nvPr/>
        </p:nvSpPr>
        <p:spPr>
          <a:xfrm>
            <a:off x="777240" y="1892880"/>
            <a:ext cx="383400" cy="383400"/>
          </a:xfrm>
          <a:prstGeom prst="roundRect">
            <a:avLst>
              <a:gd name="adj" fmla="val 119048"/>
            </a:avLst>
          </a:prstGeom>
          <a:solidFill>
            <a:srgbClr val="3a2020"/>
          </a:solidFill>
          <a:ln w="12700">
            <a:solidFill>
              <a:srgbClr val="e1575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10" name="Text 97"/>
          <p:cNvSpPr/>
          <p:nvPr/>
        </p:nvSpPr>
        <p:spPr>
          <a:xfrm>
            <a:off x="777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e15757"/>
                </a:solidFill>
                <a:latin typeface="Arial"/>
                <a:ea typeface="Arial"/>
              </a:rPr>
              <a:t>✗</a:t>
            </a:r>
            <a:endParaRPr b="0" lang="en-US" sz="1600" spc="-1" strike="noStrike">
              <a:solidFill>
                <a:srgbClr val="ffffff"/>
              </a:solidFill>
              <a:latin typeface="Arial"/>
            </a:endParaRPr>
          </a:p>
        </p:txBody>
      </p:sp>
      <p:sp>
        <p:nvSpPr>
          <p:cNvPr id="2311" name="Text 98"/>
          <p:cNvSpPr/>
          <p:nvPr/>
        </p:nvSpPr>
        <p:spPr>
          <a:xfrm>
            <a:off x="1280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3e8fe0"/>
                </a:solidFill>
                <a:latin typeface="Arial"/>
                <a:ea typeface="Arial"/>
              </a:rPr>
              <a:t>C++ TODAY</a:t>
            </a:r>
            <a:endParaRPr b="0" lang="en-US" sz="1300" spc="-1" strike="noStrike">
              <a:solidFill>
                <a:srgbClr val="ffffff"/>
              </a:solidFill>
              <a:latin typeface="Arial"/>
            </a:endParaRPr>
          </a:p>
        </p:txBody>
      </p:sp>
      <p:sp>
        <p:nvSpPr>
          <p:cNvPr id="2312" name="Text 99"/>
          <p:cNvSpPr/>
          <p:nvPr/>
        </p:nvSpPr>
        <p:spPr>
          <a:xfrm>
            <a:off x="822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int* make()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int x = 42;</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return &amp;x;   // returns dangling ptr</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*make();       // UB — compiles fine</a:t>
            </a:r>
            <a:endParaRPr b="0" lang="en-US" sz="1250" spc="-1" strike="noStrike">
              <a:solidFill>
                <a:srgbClr val="ffffff"/>
              </a:solidFill>
              <a:latin typeface="Arial"/>
            </a:endParaRPr>
          </a:p>
        </p:txBody>
      </p:sp>
      <p:sp>
        <p:nvSpPr>
          <p:cNvPr id="2313" name="Text 100"/>
          <p:cNvSpPr/>
          <p:nvPr/>
        </p:nvSpPr>
        <p:spPr>
          <a:xfrm>
            <a:off x="822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The compiler happily returns the address of a local variable. The bug only shows up at runtime, if it shows up at all.</a:t>
            </a:r>
            <a:endParaRPr b="0" lang="en-US" sz="1150" spc="-1" strike="noStrike">
              <a:solidFill>
                <a:srgbClr val="ffffff"/>
              </a:solidFill>
              <a:latin typeface="Arial"/>
            </a:endParaRPr>
          </a:p>
        </p:txBody>
      </p:sp>
      <p:sp>
        <p:nvSpPr>
          <p:cNvPr id="2314" name="Shape 61"/>
          <p:cNvSpPr/>
          <p:nvPr/>
        </p:nvSpPr>
        <p:spPr>
          <a:xfrm>
            <a:off x="6263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15" name="Shape 63"/>
          <p:cNvSpPr/>
          <p:nvPr/>
        </p:nvSpPr>
        <p:spPr>
          <a:xfrm>
            <a:off x="6492240" y="1892880"/>
            <a:ext cx="383400" cy="383400"/>
          </a:xfrm>
          <a:prstGeom prst="roundRect">
            <a:avLst>
              <a:gd name="adj" fmla="val 119048"/>
            </a:avLst>
          </a:prstGeom>
          <a:solidFill>
            <a:srgbClr val="1f3324"/>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16" name="Text 101"/>
          <p:cNvSpPr/>
          <p:nvPr/>
        </p:nvSpPr>
        <p:spPr>
          <a:xfrm>
            <a:off x="6492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58c27d"/>
                </a:solidFill>
                <a:latin typeface="Arial"/>
                <a:ea typeface="Arial"/>
              </a:rPr>
              <a:t>✓</a:t>
            </a:r>
            <a:endParaRPr b="0" lang="en-US" sz="1600" spc="-1" strike="noStrike">
              <a:solidFill>
                <a:srgbClr val="ffffff"/>
              </a:solidFill>
              <a:latin typeface="Arial"/>
            </a:endParaRPr>
          </a:p>
        </p:txBody>
      </p:sp>
      <p:sp>
        <p:nvSpPr>
          <p:cNvPr id="2317" name="Text 102"/>
          <p:cNvSpPr/>
          <p:nvPr/>
        </p:nvSpPr>
        <p:spPr>
          <a:xfrm>
            <a:off x="6995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e8804f"/>
                </a:solidFill>
                <a:latin typeface="Arial"/>
                <a:ea typeface="Arial"/>
              </a:rPr>
              <a:t>RUST INSTEAD</a:t>
            </a:r>
            <a:endParaRPr b="0" lang="en-US" sz="1300" spc="-1" strike="noStrike">
              <a:solidFill>
                <a:srgbClr val="ffffff"/>
              </a:solidFill>
              <a:latin typeface="Arial"/>
            </a:endParaRPr>
          </a:p>
        </p:txBody>
      </p:sp>
      <p:sp>
        <p:nvSpPr>
          <p:cNvPr id="2318" name="Text 103"/>
          <p:cNvSpPr/>
          <p:nvPr/>
        </p:nvSpPr>
        <p:spPr>
          <a:xfrm>
            <a:off x="6537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fn make() -&gt; &amp;i32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let x = 42;</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&amp;x   // error: x does not</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  live long enough</a:t>
            </a:r>
            <a:endParaRPr b="0" lang="en-US" sz="1250" spc="-1" strike="noStrike">
              <a:solidFill>
                <a:srgbClr val="ffffff"/>
              </a:solidFill>
              <a:latin typeface="Arial"/>
            </a:endParaRPr>
          </a:p>
        </p:txBody>
      </p:sp>
      <p:sp>
        <p:nvSpPr>
          <p:cNvPr id="2319" name="Text 104"/>
          <p:cNvSpPr/>
          <p:nvPr/>
        </p:nvSpPr>
        <p:spPr>
          <a:xfrm>
            <a:off x="6537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Every reference has a lifetime the compiler tracks. A reference that could outlive its data is a compile error, not a runtime surprise.</a:t>
            </a:r>
            <a:endParaRPr b="0" lang="en-US" sz="1150" spc="-1" strike="noStrike">
              <a:solidFill>
                <a:srgbClr val="ffffff"/>
              </a:solidFill>
              <a:latin typeface="Arial"/>
            </a:endParaRPr>
          </a:p>
        </p:txBody>
      </p:sp>
      <p:sp>
        <p:nvSpPr>
          <p:cNvPr id="2320" name="Shape 64"/>
          <p:cNvSpPr/>
          <p:nvPr/>
        </p:nvSpPr>
        <p:spPr>
          <a:xfrm>
            <a:off x="548640" y="5102280"/>
            <a:ext cx="11063520" cy="56628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21" name="Text 105"/>
          <p:cNvSpPr/>
          <p:nvPr/>
        </p:nvSpPr>
        <p:spPr>
          <a:xfrm>
            <a:off x="777240" y="5102280"/>
            <a:ext cx="10606320" cy="566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e8804f"/>
                </a:solidFill>
                <a:latin typeface="Arial"/>
                <a:ea typeface="Arial"/>
              </a:rPr>
              <a:t>Why:  </a:t>
            </a:r>
            <a:r>
              <a:rPr b="0" lang="en-US" sz="1200" spc="-1" strike="noStrike">
                <a:solidFill>
                  <a:srgbClr val="edeff4"/>
                </a:solidFill>
                <a:latin typeface="Arial"/>
                <a:ea typeface="Arial"/>
              </a:rPr>
              <a:t>Lifetimes are checked at compile time, so a reference can never point past the end of the thing it refers to.</a:t>
            </a:r>
            <a:endParaRPr b="0" lang="en-US" sz="1200" spc="-1" strike="noStrike">
              <a:solidFill>
                <a:srgbClr val="ffffff"/>
              </a:solidFill>
              <a:latin typeface="Arial"/>
            </a:endParaRPr>
          </a:p>
        </p:txBody>
      </p:sp>
      <p:sp>
        <p:nvSpPr>
          <p:cNvPr id="2322" name="Text 106"/>
          <p:cNvSpPr/>
          <p:nvPr/>
        </p:nvSpPr>
        <p:spPr>
          <a:xfrm>
            <a:off x="457200" y="653796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C++ Developers</a:t>
            </a:r>
            <a:endParaRPr b="0" lang="en-US" sz="1000" spc="-1" strike="noStrike">
              <a:solidFill>
                <a:srgbClr val="ffffff"/>
              </a:solidFill>
              <a:latin typeface="Arial"/>
            </a:endParaRPr>
          </a:p>
        </p:txBody>
      </p:sp>
      <p:sp>
        <p:nvSpPr>
          <p:cNvPr id="2323" name="Text 107"/>
          <p:cNvSpPr/>
          <p:nvPr/>
        </p:nvSpPr>
        <p:spPr>
          <a:xfrm>
            <a:off x="11521440" y="6537960"/>
            <a:ext cx="365040" cy="273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4</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324" name="Text 108"/>
          <p:cNvSpPr/>
          <p:nvPr/>
        </p:nvSpPr>
        <p:spPr>
          <a:xfrm>
            <a:off x="548640" y="384120"/>
            <a:ext cx="731448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7" strike="noStrike">
                <a:solidFill>
                  <a:srgbClr val="e8804f"/>
                </a:solidFill>
                <a:latin typeface="Arial"/>
                <a:ea typeface="Arial"/>
              </a:rPr>
              <a:t>MEMORY &amp; ALIASING</a:t>
            </a:r>
            <a:endParaRPr b="0" lang="en-US" sz="1300" spc="-1" strike="noStrike">
              <a:solidFill>
                <a:srgbClr val="ffffff"/>
              </a:solidFill>
              <a:latin typeface="Arial"/>
            </a:endParaRPr>
          </a:p>
        </p:txBody>
      </p:sp>
      <p:sp>
        <p:nvSpPr>
          <p:cNvPr id="2325" name="Text 109"/>
          <p:cNvSpPr/>
          <p:nvPr/>
        </p:nvSpPr>
        <p:spPr>
          <a:xfrm>
            <a:off x="548640" y="713160"/>
            <a:ext cx="1106352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edeff4"/>
                </a:solidFill>
                <a:latin typeface="Arial"/>
                <a:ea typeface="Arial"/>
              </a:rPr>
              <a:t>Aliased mutable state</a:t>
            </a:r>
            <a:endParaRPr b="0" lang="en-US" sz="3000" spc="-1" strike="noStrike">
              <a:solidFill>
                <a:srgbClr val="ffffff"/>
              </a:solidFill>
              <a:latin typeface="Arial"/>
            </a:endParaRPr>
          </a:p>
        </p:txBody>
      </p:sp>
      <p:sp>
        <p:nvSpPr>
          <p:cNvPr id="2326" name="Shape 65"/>
          <p:cNvSpPr/>
          <p:nvPr/>
        </p:nvSpPr>
        <p:spPr>
          <a:xfrm>
            <a:off x="548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27" name="Shape 67"/>
          <p:cNvSpPr/>
          <p:nvPr/>
        </p:nvSpPr>
        <p:spPr>
          <a:xfrm>
            <a:off x="777240" y="1892880"/>
            <a:ext cx="383400" cy="383400"/>
          </a:xfrm>
          <a:prstGeom prst="roundRect">
            <a:avLst>
              <a:gd name="adj" fmla="val 119048"/>
            </a:avLst>
          </a:prstGeom>
          <a:solidFill>
            <a:srgbClr val="3a2020"/>
          </a:solidFill>
          <a:ln w="12700">
            <a:solidFill>
              <a:srgbClr val="e1575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28" name="Text 110"/>
          <p:cNvSpPr/>
          <p:nvPr/>
        </p:nvSpPr>
        <p:spPr>
          <a:xfrm>
            <a:off x="777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e15757"/>
                </a:solidFill>
                <a:latin typeface="Arial"/>
                <a:ea typeface="Arial"/>
              </a:rPr>
              <a:t>✗</a:t>
            </a:r>
            <a:endParaRPr b="0" lang="en-US" sz="1600" spc="-1" strike="noStrike">
              <a:solidFill>
                <a:srgbClr val="ffffff"/>
              </a:solidFill>
              <a:latin typeface="Arial"/>
            </a:endParaRPr>
          </a:p>
        </p:txBody>
      </p:sp>
      <p:sp>
        <p:nvSpPr>
          <p:cNvPr id="2329" name="Text 111"/>
          <p:cNvSpPr/>
          <p:nvPr/>
        </p:nvSpPr>
        <p:spPr>
          <a:xfrm>
            <a:off x="1280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3e8fe0"/>
                </a:solidFill>
                <a:latin typeface="Arial"/>
                <a:ea typeface="Arial"/>
              </a:rPr>
              <a:t>C++ TODAY</a:t>
            </a:r>
            <a:endParaRPr b="0" lang="en-US" sz="1300" spc="-1" strike="noStrike">
              <a:solidFill>
                <a:srgbClr val="ffffff"/>
              </a:solidFill>
              <a:latin typeface="Arial"/>
            </a:endParaRPr>
          </a:p>
        </p:txBody>
      </p:sp>
      <p:sp>
        <p:nvSpPr>
          <p:cNvPr id="2330" name="Text 112"/>
          <p:cNvSpPr/>
          <p:nvPr/>
        </p:nvSpPr>
        <p:spPr>
          <a:xfrm>
            <a:off x="822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void f(std::vector&lt;int&gt;&amp; v)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int&amp; first = v[0];</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v.push_back(1); // may reallocate</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first = 5;       // UB: dangling ref</a:t>
            </a:r>
            <a:endParaRPr b="0" lang="en-US" sz="1250" spc="-1" strike="noStrike">
              <a:solidFill>
                <a:srgbClr val="ffffff"/>
              </a:solidFill>
              <a:latin typeface="Arial"/>
            </a:endParaRPr>
          </a:p>
        </p:txBody>
      </p:sp>
      <p:sp>
        <p:nvSpPr>
          <p:cNvPr id="2331" name="Text 113"/>
          <p:cNvSpPr/>
          <p:nvPr/>
        </p:nvSpPr>
        <p:spPr>
          <a:xfrm>
            <a:off x="822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Nothing stops you from holding a reference into a container while also mutating that container through another handle.</a:t>
            </a:r>
            <a:endParaRPr b="0" lang="en-US" sz="1150" spc="-1" strike="noStrike">
              <a:solidFill>
                <a:srgbClr val="ffffff"/>
              </a:solidFill>
              <a:latin typeface="Arial"/>
            </a:endParaRPr>
          </a:p>
        </p:txBody>
      </p:sp>
      <p:sp>
        <p:nvSpPr>
          <p:cNvPr id="2332" name="Shape 68"/>
          <p:cNvSpPr/>
          <p:nvPr/>
        </p:nvSpPr>
        <p:spPr>
          <a:xfrm>
            <a:off x="6263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33" name="Shape 69"/>
          <p:cNvSpPr/>
          <p:nvPr/>
        </p:nvSpPr>
        <p:spPr>
          <a:xfrm>
            <a:off x="6492240" y="1892880"/>
            <a:ext cx="383400" cy="383400"/>
          </a:xfrm>
          <a:prstGeom prst="roundRect">
            <a:avLst>
              <a:gd name="adj" fmla="val 119048"/>
            </a:avLst>
          </a:prstGeom>
          <a:solidFill>
            <a:srgbClr val="1f3324"/>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34" name="Text 114"/>
          <p:cNvSpPr/>
          <p:nvPr/>
        </p:nvSpPr>
        <p:spPr>
          <a:xfrm>
            <a:off x="6492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58c27d"/>
                </a:solidFill>
                <a:latin typeface="Arial"/>
                <a:ea typeface="Arial"/>
              </a:rPr>
              <a:t>✓</a:t>
            </a:r>
            <a:endParaRPr b="0" lang="en-US" sz="1600" spc="-1" strike="noStrike">
              <a:solidFill>
                <a:srgbClr val="ffffff"/>
              </a:solidFill>
              <a:latin typeface="Arial"/>
            </a:endParaRPr>
          </a:p>
        </p:txBody>
      </p:sp>
      <p:sp>
        <p:nvSpPr>
          <p:cNvPr id="2335" name="Text 115"/>
          <p:cNvSpPr/>
          <p:nvPr/>
        </p:nvSpPr>
        <p:spPr>
          <a:xfrm>
            <a:off x="6995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e8804f"/>
                </a:solidFill>
                <a:latin typeface="Arial"/>
                <a:ea typeface="Arial"/>
              </a:rPr>
              <a:t>RUST INSTEAD</a:t>
            </a:r>
            <a:endParaRPr b="0" lang="en-US" sz="1300" spc="-1" strike="noStrike">
              <a:solidFill>
                <a:srgbClr val="ffffff"/>
              </a:solidFill>
              <a:latin typeface="Arial"/>
            </a:endParaRPr>
          </a:p>
        </p:txBody>
      </p:sp>
      <p:sp>
        <p:nvSpPr>
          <p:cNvPr id="2336" name="Text 116"/>
          <p:cNvSpPr/>
          <p:nvPr/>
        </p:nvSpPr>
        <p:spPr>
          <a:xfrm>
            <a:off x="6537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let mut v = vec![1];</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let first = &amp;v[0];</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v.push(2);   // error: cannot borrow</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  v as mutable</a:t>
            </a:r>
            <a:endParaRPr b="0" lang="en-US" sz="1250" spc="-1" strike="noStrike">
              <a:solidFill>
                <a:srgbClr val="ffffff"/>
              </a:solidFill>
              <a:latin typeface="Arial"/>
            </a:endParaRPr>
          </a:p>
        </p:txBody>
      </p:sp>
      <p:sp>
        <p:nvSpPr>
          <p:cNvPr id="2337" name="Text 117"/>
          <p:cNvSpPr/>
          <p:nvPr/>
        </p:nvSpPr>
        <p:spPr>
          <a:xfrm>
            <a:off x="6537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The borrow checker enforces 'one mutable reference, or many shared references — never both' for every value, everywhere.</a:t>
            </a:r>
            <a:endParaRPr b="0" lang="en-US" sz="1150" spc="-1" strike="noStrike">
              <a:solidFill>
                <a:srgbClr val="ffffff"/>
              </a:solidFill>
              <a:latin typeface="Arial"/>
            </a:endParaRPr>
          </a:p>
        </p:txBody>
      </p:sp>
      <p:sp>
        <p:nvSpPr>
          <p:cNvPr id="2338" name="Shape 70"/>
          <p:cNvSpPr/>
          <p:nvPr/>
        </p:nvSpPr>
        <p:spPr>
          <a:xfrm>
            <a:off x="548640" y="5102280"/>
            <a:ext cx="11063520" cy="56628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39" name="Text 118"/>
          <p:cNvSpPr/>
          <p:nvPr/>
        </p:nvSpPr>
        <p:spPr>
          <a:xfrm>
            <a:off x="777240" y="5102280"/>
            <a:ext cx="10606320" cy="566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e8804f"/>
                </a:solidFill>
                <a:latin typeface="Arial"/>
                <a:ea typeface="Arial"/>
              </a:rPr>
              <a:t>Why:  </a:t>
            </a:r>
            <a:r>
              <a:rPr b="0" lang="en-US" sz="1200" spc="-1" strike="noStrike">
                <a:solidFill>
                  <a:srgbClr val="edeff4"/>
                </a:solidFill>
                <a:latin typeface="Arial"/>
                <a:ea typeface="Arial"/>
              </a:rPr>
              <a:t>Most data races and iterator-invalidation bugs are exactly this pattern. Rust rejects the aliasing, not just the race.</a:t>
            </a:r>
            <a:endParaRPr b="0" lang="en-US" sz="1200" spc="-1" strike="noStrike">
              <a:solidFill>
                <a:srgbClr val="ffffff"/>
              </a:solidFill>
              <a:latin typeface="Arial"/>
            </a:endParaRPr>
          </a:p>
        </p:txBody>
      </p:sp>
      <p:sp>
        <p:nvSpPr>
          <p:cNvPr id="2340" name="Text 119"/>
          <p:cNvSpPr/>
          <p:nvPr/>
        </p:nvSpPr>
        <p:spPr>
          <a:xfrm>
            <a:off x="457200" y="653796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C++ Developers</a:t>
            </a:r>
            <a:endParaRPr b="0" lang="en-US" sz="1000" spc="-1" strike="noStrike">
              <a:solidFill>
                <a:srgbClr val="ffffff"/>
              </a:solidFill>
              <a:latin typeface="Arial"/>
            </a:endParaRPr>
          </a:p>
        </p:txBody>
      </p:sp>
      <p:sp>
        <p:nvSpPr>
          <p:cNvPr id="2341" name="Text 120"/>
          <p:cNvSpPr/>
          <p:nvPr/>
        </p:nvSpPr>
        <p:spPr>
          <a:xfrm>
            <a:off x="11521440" y="6537960"/>
            <a:ext cx="365040" cy="273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342" name="Text 121"/>
          <p:cNvSpPr/>
          <p:nvPr/>
        </p:nvSpPr>
        <p:spPr>
          <a:xfrm>
            <a:off x="548640" y="384120"/>
            <a:ext cx="731448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7" strike="noStrike">
                <a:solidFill>
                  <a:srgbClr val="e8804f"/>
                </a:solidFill>
                <a:latin typeface="Arial"/>
                <a:ea typeface="Arial"/>
              </a:rPr>
              <a:t>MEMORY &amp; ALIASING</a:t>
            </a:r>
            <a:endParaRPr b="0" lang="en-US" sz="1300" spc="-1" strike="noStrike">
              <a:solidFill>
                <a:srgbClr val="ffffff"/>
              </a:solidFill>
              <a:latin typeface="Arial"/>
            </a:endParaRPr>
          </a:p>
        </p:txBody>
      </p:sp>
      <p:sp>
        <p:nvSpPr>
          <p:cNvPr id="2343" name="Text 122"/>
          <p:cNvSpPr/>
          <p:nvPr/>
        </p:nvSpPr>
        <p:spPr>
          <a:xfrm>
            <a:off x="548640" y="713160"/>
            <a:ext cx="1106352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edeff4"/>
                </a:solidFill>
                <a:latin typeface="Arial"/>
                <a:ea typeface="Arial"/>
              </a:rPr>
              <a:t>Reading uninitialized memory</a:t>
            </a:r>
            <a:endParaRPr b="0" lang="en-US" sz="3000" spc="-1" strike="noStrike">
              <a:solidFill>
                <a:srgbClr val="ffffff"/>
              </a:solidFill>
              <a:latin typeface="Arial"/>
            </a:endParaRPr>
          </a:p>
        </p:txBody>
      </p:sp>
      <p:sp>
        <p:nvSpPr>
          <p:cNvPr id="2344" name="Shape 71"/>
          <p:cNvSpPr/>
          <p:nvPr/>
        </p:nvSpPr>
        <p:spPr>
          <a:xfrm>
            <a:off x="548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45" name="Shape 72"/>
          <p:cNvSpPr/>
          <p:nvPr/>
        </p:nvSpPr>
        <p:spPr>
          <a:xfrm>
            <a:off x="777240" y="1892880"/>
            <a:ext cx="383400" cy="383400"/>
          </a:xfrm>
          <a:prstGeom prst="roundRect">
            <a:avLst>
              <a:gd name="adj" fmla="val 119048"/>
            </a:avLst>
          </a:prstGeom>
          <a:solidFill>
            <a:srgbClr val="3a2020"/>
          </a:solidFill>
          <a:ln w="12700">
            <a:solidFill>
              <a:srgbClr val="e1575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46" name="Text 123"/>
          <p:cNvSpPr/>
          <p:nvPr/>
        </p:nvSpPr>
        <p:spPr>
          <a:xfrm>
            <a:off x="777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e15757"/>
                </a:solidFill>
                <a:latin typeface="Arial"/>
                <a:ea typeface="Arial"/>
              </a:rPr>
              <a:t>✗</a:t>
            </a:r>
            <a:endParaRPr b="0" lang="en-US" sz="1600" spc="-1" strike="noStrike">
              <a:solidFill>
                <a:srgbClr val="ffffff"/>
              </a:solidFill>
              <a:latin typeface="Arial"/>
            </a:endParaRPr>
          </a:p>
        </p:txBody>
      </p:sp>
      <p:sp>
        <p:nvSpPr>
          <p:cNvPr id="2347" name="Text 124"/>
          <p:cNvSpPr/>
          <p:nvPr/>
        </p:nvSpPr>
        <p:spPr>
          <a:xfrm>
            <a:off x="1280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3e8fe0"/>
                </a:solidFill>
                <a:latin typeface="Arial"/>
                <a:ea typeface="Arial"/>
              </a:rPr>
              <a:t>C++ TODAY</a:t>
            </a:r>
            <a:endParaRPr b="0" lang="en-US" sz="1300" spc="-1" strike="noStrike">
              <a:solidFill>
                <a:srgbClr val="ffffff"/>
              </a:solidFill>
              <a:latin typeface="Arial"/>
            </a:endParaRPr>
          </a:p>
        </p:txBody>
      </p:sp>
      <p:sp>
        <p:nvSpPr>
          <p:cNvPr id="2348" name="Text 125"/>
          <p:cNvSpPr/>
          <p:nvPr/>
        </p:nvSpPr>
        <p:spPr>
          <a:xfrm>
            <a:off x="822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int x;</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std::cout &lt;&lt; x; // UB: indeterminate</a:t>
            </a:r>
            <a:endParaRPr b="0" lang="en-US" sz="1250" spc="-1" strike="noStrike">
              <a:solidFill>
                <a:srgbClr val="ffffff"/>
              </a:solidFill>
              <a:latin typeface="Arial"/>
            </a:endParaRPr>
          </a:p>
          <a:p>
            <a:pPr defTabSz="914400">
              <a:lnSpc>
                <a:spcPct val="125000"/>
              </a:lnSpc>
              <a:tabLst>
                <a:tab algn="l" pos="0"/>
              </a:tabLst>
            </a:pP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int arr[10];</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use(arr[3]);      // garbage value</a:t>
            </a:r>
            <a:endParaRPr b="0" lang="en-US" sz="1250" spc="-1" strike="noStrike">
              <a:solidFill>
                <a:srgbClr val="ffffff"/>
              </a:solidFill>
              <a:latin typeface="Arial"/>
            </a:endParaRPr>
          </a:p>
        </p:txBody>
      </p:sp>
      <p:sp>
        <p:nvSpPr>
          <p:cNvPr id="2349" name="Text 126"/>
          <p:cNvSpPr/>
          <p:nvPr/>
        </p:nvSpPr>
        <p:spPr>
          <a:xfrm>
            <a:off x="822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Declaring a variable does not give it a value. Reading it before assignment is undefined behavior that often 'just works'.</a:t>
            </a:r>
            <a:endParaRPr b="0" lang="en-US" sz="1150" spc="-1" strike="noStrike">
              <a:solidFill>
                <a:srgbClr val="ffffff"/>
              </a:solidFill>
              <a:latin typeface="Arial"/>
            </a:endParaRPr>
          </a:p>
        </p:txBody>
      </p:sp>
      <p:sp>
        <p:nvSpPr>
          <p:cNvPr id="2350" name="Shape 73"/>
          <p:cNvSpPr/>
          <p:nvPr/>
        </p:nvSpPr>
        <p:spPr>
          <a:xfrm>
            <a:off x="6263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51" name="Shape 74"/>
          <p:cNvSpPr/>
          <p:nvPr/>
        </p:nvSpPr>
        <p:spPr>
          <a:xfrm>
            <a:off x="6492240" y="1892880"/>
            <a:ext cx="383400" cy="383400"/>
          </a:xfrm>
          <a:prstGeom prst="roundRect">
            <a:avLst>
              <a:gd name="adj" fmla="val 119048"/>
            </a:avLst>
          </a:prstGeom>
          <a:solidFill>
            <a:srgbClr val="1f3324"/>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52" name="Text 127"/>
          <p:cNvSpPr/>
          <p:nvPr/>
        </p:nvSpPr>
        <p:spPr>
          <a:xfrm>
            <a:off x="6492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58c27d"/>
                </a:solidFill>
                <a:latin typeface="Arial"/>
                <a:ea typeface="Arial"/>
              </a:rPr>
              <a:t>✓</a:t>
            </a:r>
            <a:endParaRPr b="0" lang="en-US" sz="1600" spc="-1" strike="noStrike">
              <a:solidFill>
                <a:srgbClr val="ffffff"/>
              </a:solidFill>
              <a:latin typeface="Arial"/>
            </a:endParaRPr>
          </a:p>
        </p:txBody>
      </p:sp>
      <p:sp>
        <p:nvSpPr>
          <p:cNvPr id="2353" name="Text 128"/>
          <p:cNvSpPr/>
          <p:nvPr/>
        </p:nvSpPr>
        <p:spPr>
          <a:xfrm>
            <a:off x="6995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e8804f"/>
                </a:solidFill>
                <a:latin typeface="Arial"/>
                <a:ea typeface="Arial"/>
              </a:rPr>
              <a:t>RUST INSTEAD</a:t>
            </a:r>
            <a:endParaRPr b="0" lang="en-US" sz="1300" spc="-1" strike="noStrike">
              <a:solidFill>
                <a:srgbClr val="ffffff"/>
              </a:solidFill>
              <a:latin typeface="Arial"/>
            </a:endParaRPr>
          </a:p>
        </p:txBody>
      </p:sp>
      <p:sp>
        <p:nvSpPr>
          <p:cNvPr id="2354" name="Text 129"/>
          <p:cNvSpPr/>
          <p:nvPr/>
        </p:nvSpPr>
        <p:spPr>
          <a:xfrm>
            <a:off x="6537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let x: i32;</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println!("{}", x);</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error: used binding x</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isn't initialized</a:t>
            </a:r>
            <a:endParaRPr b="0" lang="en-US" sz="1250" spc="-1" strike="noStrike">
              <a:solidFill>
                <a:srgbClr val="ffffff"/>
              </a:solidFill>
              <a:latin typeface="Arial"/>
            </a:endParaRPr>
          </a:p>
        </p:txBody>
      </p:sp>
      <p:sp>
        <p:nvSpPr>
          <p:cNvPr id="2355" name="Text 130"/>
          <p:cNvSpPr/>
          <p:nvPr/>
        </p:nvSpPr>
        <p:spPr>
          <a:xfrm>
            <a:off x="6537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The compiler performs definite-assignment analysis: every path to a use must have already assigned the variable.</a:t>
            </a:r>
            <a:endParaRPr b="0" lang="en-US" sz="1150" spc="-1" strike="noStrike">
              <a:solidFill>
                <a:srgbClr val="ffffff"/>
              </a:solidFill>
              <a:latin typeface="Arial"/>
            </a:endParaRPr>
          </a:p>
        </p:txBody>
      </p:sp>
      <p:sp>
        <p:nvSpPr>
          <p:cNvPr id="2356" name="Shape 75"/>
          <p:cNvSpPr/>
          <p:nvPr/>
        </p:nvSpPr>
        <p:spPr>
          <a:xfrm>
            <a:off x="548640" y="5102280"/>
            <a:ext cx="11063520" cy="56628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57" name="Text 131"/>
          <p:cNvSpPr/>
          <p:nvPr/>
        </p:nvSpPr>
        <p:spPr>
          <a:xfrm>
            <a:off x="777240" y="5102280"/>
            <a:ext cx="10606320" cy="566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e8804f"/>
                </a:solidFill>
                <a:latin typeface="Arial"/>
                <a:ea typeface="Arial"/>
              </a:rPr>
              <a:t>Why:  </a:t>
            </a:r>
            <a:r>
              <a:rPr b="0" lang="en-US" sz="1200" spc="-1" strike="noStrike">
                <a:solidFill>
                  <a:srgbClr val="edeff4"/>
                </a:solidFill>
                <a:latin typeface="Arial"/>
                <a:ea typeface="Arial"/>
              </a:rPr>
              <a:t>Uninitialized reads are a classic source of nondeterministic bugs and security issues; Rust removes the category entirely.</a:t>
            </a:r>
            <a:endParaRPr b="0" lang="en-US" sz="1200" spc="-1" strike="noStrike">
              <a:solidFill>
                <a:srgbClr val="ffffff"/>
              </a:solidFill>
              <a:latin typeface="Arial"/>
            </a:endParaRPr>
          </a:p>
        </p:txBody>
      </p:sp>
      <p:sp>
        <p:nvSpPr>
          <p:cNvPr id="2358" name="Text 132"/>
          <p:cNvSpPr/>
          <p:nvPr/>
        </p:nvSpPr>
        <p:spPr>
          <a:xfrm>
            <a:off x="457200" y="653796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C++ Developers</a:t>
            </a:r>
            <a:endParaRPr b="0" lang="en-US" sz="1000" spc="-1" strike="noStrike">
              <a:solidFill>
                <a:srgbClr val="ffffff"/>
              </a:solidFill>
              <a:latin typeface="Arial"/>
            </a:endParaRPr>
          </a:p>
        </p:txBody>
      </p:sp>
      <p:sp>
        <p:nvSpPr>
          <p:cNvPr id="2359" name="Text 133"/>
          <p:cNvSpPr/>
          <p:nvPr/>
        </p:nvSpPr>
        <p:spPr>
          <a:xfrm>
            <a:off x="11521440" y="6537960"/>
            <a:ext cx="365040" cy="273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6</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360" name="Text 134"/>
          <p:cNvSpPr/>
          <p:nvPr/>
        </p:nvSpPr>
        <p:spPr>
          <a:xfrm>
            <a:off x="548640" y="384120"/>
            <a:ext cx="731448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7" strike="noStrike">
                <a:solidFill>
                  <a:srgbClr val="e8804f"/>
                </a:solidFill>
                <a:latin typeface="Arial"/>
                <a:ea typeface="Arial"/>
              </a:rPr>
              <a:t>MEMORY &amp; ALIASING</a:t>
            </a:r>
            <a:endParaRPr b="0" lang="en-US" sz="1300" spc="-1" strike="noStrike">
              <a:solidFill>
                <a:srgbClr val="ffffff"/>
              </a:solidFill>
              <a:latin typeface="Arial"/>
            </a:endParaRPr>
          </a:p>
        </p:txBody>
      </p:sp>
      <p:sp>
        <p:nvSpPr>
          <p:cNvPr id="2361" name="Text 135"/>
          <p:cNvSpPr/>
          <p:nvPr/>
        </p:nvSpPr>
        <p:spPr>
          <a:xfrm>
            <a:off x="548640" y="713160"/>
            <a:ext cx="1106352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edeff4"/>
                </a:solidFill>
                <a:latin typeface="Arial"/>
                <a:ea typeface="Arial"/>
              </a:rPr>
              <a:t>Self-referential structs, casually</a:t>
            </a:r>
            <a:endParaRPr b="0" lang="en-US" sz="3000" spc="-1" strike="noStrike">
              <a:solidFill>
                <a:srgbClr val="ffffff"/>
              </a:solidFill>
              <a:latin typeface="Arial"/>
            </a:endParaRPr>
          </a:p>
        </p:txBody>
      </p:sp>
      <p:sp>
        <p:nvSpPr>
          <p:cNvPr id="2362" name="Shape 76"/>
          <p:cNvSpPr/>
          <p:nvPr/>
        </p:nvSpPr>
        <p:spPr>
          <a:xfrm>
            <a:off x="548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63" name="Shape 77"/>
          <p:cNvSpPr/>
          <p:nvPr/>
        </p:nvSpPr>
        <p:spPr>
          <a:xfrm>
            <a:off x="777240" y="1892880"/>
            <a:ext cx="383400" cy="383400"/>
          </a:xfrm>
          <a:prstGeom prst="roundRect">
            <a:avLst>
              <a:gd name="adj" fmla="val 119048"/>
            </a:avLst>
          </a:prstGeom>
          <a:solidFill>
            <a:srgbClr val="3a2020"/>
          </a:solidFill>
          <a:ln w="12700">
            <a:solidFill>
              <a:srgbClr val="e1575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64" name="Text 136"/>
          <p:cNvSpPr/>
          <p:nvPr/>
        </p:nvSpPr>
        <p:spPr>
          <a:xfrm>
            <a:off x="777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e15757"/>
                </a:solidFill>
                <a:latin typeface="Arial"/>
                <a:ea typeface="Arial"/>
              </a:rPr>
              <a:t>✗</a:t>
            </a:r>
            <a:endParaRPr b="0" lang="en-US" sz="1600" spc="-1" strike="noStrike">
              <a:solidFill>
                <a:srgbClr val="ffffff"/>
              </a:solidFill>
              <a:latin typeface="Arial"/>
            </a:endParaRPr>
          </a:p>
        </p:txBody>
      </p:sp>
      <p:sp>
        <p:nvSpPr>
          <p:cNvPr id="2365" name="Text 137"/>
          <p:cNvSpPr/>
          <p:nvPr/>
        </p:nvSpPr>
        <p:spPr>
          <a:xfrm>
            <a:off x="1280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3e8fe0"/>
                </a:solidFill>
                <a:latin typeface="Arial"/>
                <a:ea typeface="Arial"/>
              </a:rPr>
              <a:t>C++ TODAY</a:t>
            </a:r>
            <a:endParaRPr b="0" lang="en-US" sz="1300" spc="-1" strike="noStrike">
              <a:solidFill>
                <a:srgbClr val="ffffff"/>
              </a:solidFill>
              <a:latin typeface="Arial"/>
            </a:endParaRPr>
          </a:p>
        </p:txBody>
      </p:sp>
      <p:sp>
        <p:nvSpPr>
          <p:cNvPr id="2366" name="Text 138"/>
          <p:cNvSpPr/>
          <p:nvPr/>
        </p:nvSpPr>
        <p:spPr>
          <a:xfrm>
            <a:off x="822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struct Node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int val;</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Node* self; // set in ctor</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moving/copying Node invalidates self</a:t>
            </a:r>
            <a:endParaRPr b="0" lang="en-US" sz="1250" spc="-1" strike="noStrike">
              <a:solidFill>
                <a:srgbClr val="ffffff"/>
              </a:solidFill>
              <a:latin typeface="Arial"/>
            </a:endParaRPr>
          </a:p>
        </p:txBody>
      </p:sp>
      <p:sp>
        <p:nvSpPr>
          <p:cNvPr id="2367" name="Text 139"/>
          <p:cNvSpPr/>
          <p:nvPr/>
        </p:nvSpPr>
        <p:spPr>
          <a:xfrm>
            <a:off x="822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C++ lets a struct freely store a pointer to itself or to a sibling field. Moving the struct silently invalidates that pointer.</a:t>
            </a:r>
            <a:endParaRPr b="0" lang="en-US" sz="1150" spc="-1" strike="noStrike">
              <a:solidFill>
                <a:srgbClr val="ffffff"/>
              </a:solidFill>
              <a:latin typeface="Arial"/>
            </a:endParaRPr>
          </a:p>
        </p:txBody>
      </p:sp>
      <p:sp>
        <p:nvSpPr>
          <p:cNvPr id="2368" name="Shape 78"/>
          <p:cNvSpPr/>
          <p:nvPr/>
        </p:nvSpPr>
        <p:spPr>
          <a:xfrm>
            <a:off x="6263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69" name="Shape 79"/>
          <p:cNvSpPr/>
          <p:nvPr/>
        </p:nvSpPr>
        <p:spPr>
          <a:xfrm>
            <a:off x="6492240" y="1892880"/>
            <a:ext cx="383400" cy="383400"/>
          </a:xfrm>
          <a:prstGeom prst="roundRect">
            <a:avLst>
              <a:gd name="adj" fmla="val 119048"/>
            </a:avLst>
          </a:prstGeom>
          <a:solidFill>
            <a:srgbClr val="1f3324"/>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70" name="Text 140"/>
          <p:cNvSpPr/>
          <p:nvPr/>
        </p:nvSpPr>
        <p:spPr>
          <a:xfrm>
            <a:off x="6492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58c27d"/>
                </a:solidFill>
                <a:latin typeface="Arial"/>
                <a:ea typeface="Arial"/>
              </a:rPr>
              <a:t>✓</a:t>
            </a:r>
            <a:endParaRPr b="0" lang="en-US" sz="1600" spc="-1" strike="noStrike">
              <a:solidFill>
                <a:srgbClr val="ffffff"/>
              </a:solidFill>
              <a:latin typeface="Arial"/>
            </a:endParaRPr>
          </a:p>
        </p:txBody>
      </p:sp>
      <p:sp>
        <p:nvSpPr>
          <p:cNvPr id="2371" name="Text 141"/>
          <p:cNvSpPr/>
          <p:nvPr/>
        </p:nvSpPr>
        <p:spPr>
          <a:xfrm>
            <a:off x="6995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e8804f"/>
                </a:solidFill>
                <a:latin typeface="Arial"/>
                <a:ea typeface="Arial"/>
              </a:rPr>
              <a:t>RUST INSTEAD</a:t>
            </a:r>
            <a:endParaRPr b="0" lang="en-US" sz="1300" spc="-1" strike="noStrike">
              <a:solidFill>
                <a:srgbClr val="ffffff"/>
              </a:solidFill>
              <a:latin typeface="Arial"/>
            </a:endParaRPr>
          </a:p>
        </p:txBody>
      </p:sp>
      <p:sp>
        <p:nvSpPr>
          <p:cNvPr id="2372" name="Text 142"/>
          <p:cNvSpPr/>
          <p:nvPr/>
        </p:nvSpPr>
        <p:spPr>
          <a:xfrm>
            <a:off x="6537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struct Node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val: i32,</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self_ref: &amp;'static Node,</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won't compile without Pin/unsafe</a:t>
            </a:r>
            <a:endParaRPr b="0" lang="en-US" sz="1250" spc="-1" strike="noStrike">
              <a:solidFill>
                <a:srgbClr val="ffffff"/>
              </a:solidFill>
              <a:latin typeface="Arial"/>
            </a:endParaRPr>
          </a:p>
        </p:txBody>
      </p:sp>
      <p:sp>
        <p:nvSpPr>
          <p:cNvPr id="2373" name="Text 143"/>
          <p:cNvSpPr/>
          <p:nvPr/>
        </p:nvSpPr>
        <p:spPr>
          <a:xfrm>
            <a:off x="6537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Because Rust values can move, an ordinary reference into 'self' isn't allowed. You need Pin, indices, or arena crates instead.</a:t>
            </a:r>
            <a:endParaRPr b="0" lang="en-US" sz="1150" spc="-1" strike="noStrike">
              <a:solidFill>
                <a:srgbClr val="ffffff"/>
              </a:solidFill>
              <a:latin typeface="Arial"/>
            </a:endParaRPr>
          </a:p>
        </p:txBody>
      </p:sp>
      <p:sp>
        <p:nvSpPr>
          <p:cNvPr id="2374" name="Shape 80"/>
          <p:cNvSpPr/>
          <p:nvPr/>
        </p:nvSpPr>
        <p:spPr>
          <a:xfrm>
            <a:off x="548640" y="5102280"/>
            <a:ext cx="11063520" cy="56628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75" name="Text 144"/>
          <p:cNvSpPr/>
          <p:nvPr/>
        </p:nvSpPr>
        <p:spPr>
          <a:xfrm>
            <a:off x="777240" y="5102280"/>
            <a:ext cx="10606320" cy="566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e8804f"/>
                </a:solidFill>
                <a:latin typeface="Arial"/>
                <a:ea typeface="Arial"/>
              </a:rPr>
              <a:t>Why:  </a:t>
            </a:r>
            <a:r>
              <a:rPr b="0" lang="en-US" sz="1200" spc="-1" strike="noStrike">
                <a:solidFill>
                  <a:srgbClr val="edeff4"/>
                </a:solidFill>
                <a:latin typeface="Arial"/>
                <a:ea typeface="Arial"/>
              </a:rPr>
              <a:t>Move semantics that actually move (not just permit moving) make naive self-reference unsound — so the language forbids it by default.</a:t>
            </a:r>
            <a:endParaRPr b="0" lang="en-US" sz="1200" spc="-1" strike="noStrike">
              <a:solidFill>
                <a:srgbClr val="ffffff"/>
              </a:solidFill>
              <a:latin typeface="Arial"/>
            </a:endParaRPr>
          </a:p>
        </p:txBody>
      </p:sp>
      <p:sp>
        <p:nvSpPr>
          <p:cNvPr id="2376" name="Text 145"/>
          <p:cNvSpPr/>
          <p:nvPr/>
        </p:nvSpPr>
        <p:spPr>
          <a:xfrm>
            <a:off x="457200" y="653796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C++ Developers</a:t>
            </a:r>
            <a:endParaRPr b="0" lang="en-US" sz="1000" spc="-1" strike="noStrike">
              <a:solidFill>
                <a:srgbClr val="ffffff"/>
              </a:solidFill>
              <a:latin typeface="Arial"/>
            </a:endParaRPr>
          </a:p>
        </p:txBody>
      </p:sp>
      <p:sp>
        <p:nvSpPr>
          <p:cNvPr id="2377" name="Text 146"/>
          <p:cNvSpPr/>
          <p:nvPr/>
        </p:nvSpPr>
        <p:spPr>
          <a:xfrm>
            <a:off x="11521440" y="6537960"/>
            <a:ext cx="365040" cy="273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7</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378" name="Shape 81"/>
          <p:cNvSpPr/>
          <p:nvPr/>
        </p:nvSpPr>
        <p:spPr>
          <a:xfrm>
            <a:off x="548640" y="2651760"/>
            <a:ext cx="1370880" cy="1370880"/>
          </a:xfrm>
          <a:prstGeom prst="roundRect">
            <a:avLst>
              <a:gd name="adj" fmla="val 6667"/>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79" name="Text 147"/>
          <p:cNvSpPr/>
          <p:nvPr/>
        </p:nvSpPr>
        <p:spPr>
          <a:xfrm>
            <a:off x="548640" y="2651760"/>
            <a:ext cx="1370880" cy="13708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400" spc="-1" strike="noStrike">
                <a:solidFill>
                  <a:srgbClr val="e8804f"/>
                </a:solidFill>
                <a:latin typeface="Consolas"/>
                <a:ea typeface="Consolas"/>
              </a:rPr>
              <a:t>02</a:t>
            </a:r>
            <a:endParaRPr b="0" lang="en-US" sz="3400" spc="-1" strike="noStrike">
              <a:solidFill>
                <a:srgbClr val="ffffff"/>
              </a:solidFill>
              <a:latin typeface="Arial"/>
            </a:endParaRPr>
          </a:p>
        </p:txBody>
      </p:sp>
      <p:sp>
        <p:nvSpPr>
          <p:cNvPr id="2380" name="Text 148"/>
          <p:cNvSpPr/>
          <p:nvPr/>
        </p:nvSpPr>
        <p:spPr>
          <a:xfrm>
            <a:off x="2194560" y="2743200"/>
            <a:ext cx="91432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edeff4"/>
                </a:solidFill>
                <a:latin typeface="Arial"/>
                <a:ea typeface="Arial"/>
              </a:rPr>
              <a:t>Type System</a:t>
            </a:r>
            <a:endParaRPr b="0" lang="en-US" sz="3000" spc="-1" strike="noStrike">
              <a:solidFill>
                <a:srgbClr val="ffffff"/>
              </a:solidFill>
              <a:latin typeface="Arial"/>
            </a:endParaRPr>
          </a:p>
        </p:txBody>
      </p:sp>
      <p:sp>
        <p:nvSpPr>
          <p:cNvPr id="2381" name="Text 149"/>
          <p:cNvSpPr/>
          <p:nvPr/>
        </p:nvSpPr>
        <p:spPr>
          <a:xfrm>
            <a:off x="2194560" y="3429000"/>
            <a:ext cx="8686080" cy="5479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400" spc="-1" strike="noStrike">
                <a:solidFill>
                  <a:srgbClr val="9aa4b8"/>
                </a:solidFill>
                <a:latin typeface="Arial"/>
                <a:ea typeface="Arial"/>
              </a:rPr>
              <a:t>Conversions the compiler no longer does for you</a:t>
            </a:r>
            <a:endParaRPr b="0" lang="en-US" sz="1400" spc="-1" strike="noStrike">
              <a:solidFill>
                <a:srgbClr val="ffffff"/>
              </a:solidFill>
              <a:latin typeface="Arial"/>
            </a:endParaRPr>
          </a:p>
        </p:txBody>
      </p:sp>
      <p:sp>
        <p:nvSpPr>
          <p:cNvPr id="2382" name="Text 150"/>
          <p:cNvSpPr/>
          <p:nvPr/>
        </p:nvSpPr>
        <p:spPr>
          <a:xfrm>
            <a:off x="457200" y="653796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C++ Developers</a:t>
            </a:r>
            <a:endParaRPr b="0" lang="en-US" sz="1000" spc="-1" strike="noStrike">
              <a:solidFill>
                <a:srgbClr val="ffffff"/>
              </a:solidFill>
              <a:latin typeface="Arial"/>
            </a:endParaRPr>
          </a:p>
        </p:txBody>
      </p:sp>
      <p:sp>
        <p:nvSpPr>
          <p:cNvPr id="2383" name="Text 151"/>
          <p:cNvSpPr/>
          <p:nvPr/>
        </p:nvSpPr>
        <p:spPr>
          <a:xfrm>
            <a:off x="11521440" y="6537960"/>
            <a:ext cx="365040" cy="273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8</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384" name="Text 152"/>
          <p:cNvSpPr/>
          <p:nvPr/>
        </p:nvSpPr>
        <p:spPr>
          <a:xfrm>
            <a:off x="548640" y="384120"/>
            <a:ext cx="731448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7" strike="noStrike">
                <a:solidFill>
                  <a:srgbClr val="e8804f"/>
                </a:solidFill>
                <a:latin typeface="Arial"/>
                <a:ea typeface="Arial"/>
              </a:rPr>
              <a:t>TYPE SYSTEM</a:t>
            </a:r>
            <a:endParaRPr b="0" lang="en-US" sz="1300" spc="-1" strike="noStrike">
              <a:solidFill>
                <a:srgbClr val="ffffff"/>
              </a:solidFill>
              <a:latin typeface="Arial"/>
            </a:endParaRPr>
          </a:p>
        </p:txBody>
      </p:sp>
      <p:sp>
        <p:nvSpPr>
          <p:cNvPr id="2385" name="Text 153"/>
          <p:cNvSpPr/>
          <p:nvPr/>
        </p:nvSpPr>
        <p:spPr>
          <a:xfrm>
            <a:off x="548640" y="713160"/>
            <a:ext cx="1106352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edeff4"/>
                </a:solidFill>
                <a:latin typeface="Arial"/>
                <a:ea typeface="Arial"/>
              </a:rPr>
              <a:t>Implicit narrowing conversions</a:t>
            </a:r>
            <a:endParaRPr b="0" lang="en-US" sz="3000" spc="-1" strike="noStrike">
              <a:solidFill>
                <a:srgbClr val="ffffff"/>
              </a:solidFill>
              <a:latin typeface="Arial"/>
            </a:endParaRPr>
          </a:p>
        </p:txBody>
      </p:sp>
      <p:sp>
        <p:nvSpPr>
          <p:cNvPr id="2386" name="Shape 82"/>
          <p:cNvSpPr/>
          <p:nvPr/>
        </p:nvSpPr>
        <p:spPr>
          <a:xfrm>
            <a:off x="548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87" name="Shape 83"/>
          <p:cNvSpPr/>
          <p:nvPr/>
        </p:nvSpPr>
        <p:spPr>
          <a:xfrm>
            <a:off x="777240" y="1892880"/>
            <a:ext cx="383400" cy="383400"/>
          </a:xfrm>
          <a:prstGeom prst="roundRect">
            <a:avLst>
              <a:gd name="adj" fmla="val 119048"/>
            </a:avLst>
          </a:prstGeom>
          <a:solidFill>
            <a:srgbClr val="3a2020"/>
          </a:solidFill>
          <a:ln w="12700">
            <a:solidFill>
              <a:srgbClr val="e1575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88" name="Text 154"/>
          <p:cNvSpPr/>
          <p:nvPr/>
        </p:nvSpPr>
        <p:spPr>
          <a:xfrm>
            <a:off x="777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e15757"/>
                </a:solidFill>
                <a:latin typeface="Arial"/>
                <a:ea typeface="Arial"/>
              </a:rPr>
              <a:t>✗</a:t>
            </a:r>
            <a:endParaRPr b="0" lang="en-US" sz="1600" spc="-1" strike="noStrike">
              <a:solidFill>
                <a:srgbClr val="ffffff"/>
              </a:solidFill>
              <a:latin typeface="Arial"/>
            </a:endParaRPr>
          </a:p>
        </p:txBody>
      </p:sp>
      <p:sp>
        <p:nvSpPr>
          <p:cNvPr id="2389" name="Text 155"/>
          <p:cNvSpPr/>
          <p:nvPr/>
        </p:nvSpPr>
        <p:spPr>
          <a:xfrm>
            <a:off x="1280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3e8fe0"/>
                </a:solidFill>
                <a:latin typeface="Arial"/>
                <a:ea typeface="Arial"/>
              </a:rPr>
              <a:t>C++ TODAY</a:t>
            </a:r>
            <a:endParaRPr b="0" lang="en-US" sz="1300" spc="-1" strike="noStrike">
              <a:solidFill>
                <a:srgbClr val="ffffff"/>
              </a:solidFill>
              <a:latin typeface="Arial"/>
            </a:endParaRPr>
          </a:p>
        </p:txBody>
      </p:sp>
      <p:sp>
        <p:nvSpPr>
          <p:cNvPr id="2390" name="Text 156"/>
          <p:cNvSpPr/>
          <p:nvPr/>
        </p:nvSpPr>
        <p:spPr>
          <a:xfrm>
            <a:off x="822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int i = 3.9;      // silently -&gt; 3</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char c = 1000;    // silently truncated</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long l = someInt; // widens, fine</a:t>
            </a:r>
            <a:endParaRPr b="0" lang="en-US" sz="1250" spc="-1" strike="noStrike">
              <a:solidFill>
                <a:srgbClr val="ffffff"/>
              </a:solidFill>
              <a:latin typeface="Arial"/>
            </a:endParaRPr>
          </a:p>
        </p:txBody>
      </p:sp>
      <p:sp>
        <p:nvSpPr>
          <p:cNvPr id="2391" name="Text 157"/>
          <p:cNvSpPr/>
          <p:nvPr/>
        </p:nvSpPr>
        <p:spPr>
          <a:xfrm>
            <a:off x="822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Assigning a double to an int, or a large int to a char, compiles without complaint and quietly loses information.</a:t>
            </a:r>
            <a:endParaRPr b="0" lang="en-US" sz="1150" spc="-1" strike="noStrike">
              <a:solidFill>
                <a:srgbClr val="ffffff"/>
              </a:solidFill>
              <a:latin typeface="Arial"/>
            </a:endParaRPr>
          </a:p>
        </p:txBody>
      </p:sp>
      <p:sp>
        <p:nvSpPr>
          <p:cNvPr id="2392" name="Shape 84"/>
          <p:cNvSpPr/>
          <p:nvPr/>
        </p:nvSpPr>
        <p:spPr>
          <a:xfrm>
            <a:off x="6263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93" name="Shape 85"/>
          <p:cNvSpPr/>
          <p:nvPr/>
        </p:nvSpPr>
        <p:spPr>
          <a:xfrm>
            <a:off x="6492240" y="1892880"/>
            <a:ext cx="383400" cy="383400"/>
          </a:xfrm>
          <a:prstGeom prst="roundRect">
            <a:avLst>
              <a:gd name="adj" fmla="val 119048"/>
            </a:avLst>
          </a:prstGeom>
          <a:solidFill>
            <a:srgbClr val="1f3324"/>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94" name="Text 158"/>
          <p:cNvSpPr/>
          <p:nvPr/>
        </p:nvSpPr>
        <p:spPr>
          <a:xfrm>
            <a:off x="6492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58c27d"/>
                </a:solidFill>
                <a:latin typeface="Arial"/>
                <a:ea typeface="Arial"/>
              </a:rPr>
              <a:t>✓</a:t>
            </a:r>
            <a:endParaRPr b="0" lang="en-US" sz="1600" spc="-1" strike="noStrike">
              <a:solidFill>
                <a:srgbClr val="ffffff"/>
              </a:solidFill>
              <a:latin typeface="Arial"/>
            </a:endParaRPr>
          </a:p>
        </p:txBody>
      </p:sp>
      <p:sp>
        <p:nvSpPr>
          <p:cNvPr id="2395" name="Text 159"/>
          <p:cNvSpPr/>
          <p:nvPr/>
        </p:nvSpPr>
        <p:spPr>
          <a:xfrm>
            <a:off x="6995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e8804f"/>
                </a:solidFill>
                <a:latin typeface="Arial"/>
                <a:ea typeface="Arial"/>
              </a:rPr>
              <a:t>RUST INSTEAD</a:t>
            </a:r>
            <a:endParaRPr b="0" lang="en-US" sz="1300" spc="-1" strike="noStrike">
              <a:solidFill>
                <a:srgbClr val="ffffff"/>
              </a:solidFill>
              <a:latin typeface="Arial"/>
            </a:endParaRPr>
          </a:p>
        </p:txBody>
      </p:sp>
      <p:sp>
        <p:nvSpPr>
          <p:cNvPr id="2396" name="Text 160"/>
          <p:cNvSpPr/>
          <p:nvPr/>
        </p:nvSpPr>
        <p:spPr>
          <a:xfrm>
            <a:off x="6537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let i: i32 = 3.9;   // error: mismatched</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  types (f64 vs i32)</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let c: u8 = 1000;   // error: literal out</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  of range for u8</a:t>
            </a:r>
            <a:endParaRPr b="0" lang="en-US" sz="1250" spc="-1" strike="noStrike">
              <a:solidFill>
                <a:srgbClr val="ffffff"/>
              </a:solidFill>
              <a:latin typeface="Arial"/>
            </a:endParaRPr>
          </a:p>
        </p:txBody>
      </p:sp>
      <p:sp>
        <p:nvSpPr>
          <p:cNvPr id="2397" name="Text 161"/>
          <p:cNvSpPr/>
          <p:nvPr/>
        </p:nvSpPr>
        <p:spPr>
          <a:xfrm>
            <a:off x="6537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Numeric conversions must be spelled out with `as` or `TryFrom`, and `TryFrom` forces you to handle the out-of-range case.</a:t>
            </a:r>
            <a:endParaRPr b="0" lang="en-US" sz="1150" spc="-1" strike="noStrike">
              <a:solidFill>
                <a:srgbClr val="ffffff"/>
              </a:solidFill>
              <a:latin typeface="Arial"/>
            </a:endParaRPr>
          </a:p>
        </p:txBody>
      </p:sp>
      <p:sp>
        <p:nvSpPr>
          <p:cNvPr id="2398" name="Shape 86"/>
          <p:cNvSpPr/>
          <p:nvPr/>
        </p:nvSpPr>
        <p:spPr>
          <a:xfrm>
            <a:off x="548640" y="5102280"/>
            <a:ext cx="11063520" cy="56628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99" name="Text 162"/>
          <p:cNvSpPr/>
          <p:nvPr/>
        </p:nvSpPr>
        <p:spPr>
          <a:xfrm>
            <a:off x="777240" y="5102280"/>
            <a:ext cx="10606320" cy="566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e8804f"/>
                </a:solidFill>
                <a:latin typeface="Arial"/>
                <a:ea typeface="Arial"/>
              </a:rPr>
              <a:t>Why:  </a:t>
            </a:r>
            <a:r>
              <a:rPr b="0" lang="en-US" sz="1200" spc="-1" strike="noStrike">
                <a:solidFill>
                  <a:srgbClr val="edeff4"/>
                </a:solidFill>
                <a:latin typeface="Arial"/>
                <a:ea typeface="Arial"/>
              </a:rPr>
              <a:t>Narrowing is often unintentional. Making it explicit turns silent data loss into a decision you have to write down.</a:t>
            </a:r>
            <a:endParaRPr b="0" lang="en-US" sz="1200" spc="-1" strike="noStrike">
              <a:solidFill>
                <a:srgbClr val="ffffff"/>
              </a:solidFill>
              <a:latin typeface="Arial"/>
            </a:endParaRPr>
          </a:p>
        </p:txBody>
      </p:sp>
      <p:sp>
        <p:nvSpPr>
          <p:cNvPr id="2400" name="Text 163"/>
          <p:cNvSpPr/>
          <p:nvPr/>
        </p:nvSpPr>
        <p:spPr>
          <a:xfrm>
            <a:off x="457200" y="653796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C++ Developers</a:t>
            </a:r>
            <a:endParaRPr b="0" lang="en-US" sz="1000" spc="-1" strike="noStrike">
              <a:solidFill>
                <a:srgbClr val="ffffff"/>
              </a:solidFill>
              <a:latin typeface="Arial"/>
            </a:endParaRPr>
          </a:p>
        </p:txBody>
      </p:sp>
      <p:sp>
        <p:nvSpPr>
          <p:cNvPr id="2401" name="Text 164"/>
          <p:cNvSpPr/>
          <p:nvPr/>
        </p:nvSpPr>
        <p:spPr>
          <a:xfrm>
            <a:off x="11521440" y="6537960"/>
            <a:ext cx="365040" cy="273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9</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402" name="Text 165"/>
          <p:cNvSpPr/>
          <p:nvPr/>
        </p:nvSpPr>
        <p:spPr>
          <a:xfrm>
            <a:off x="548640" y="384120"/>
            <a:ext cx="731448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7" strike="noStrike">
                <a:solidFill>
                  <a:srgbClr val="e8804f"/>
                </a:solidFill>
                <a:latin typeface="Arial"/>
                <a:ea typeface="Arial"/>
              </a:rPr>
              <a:t>TYPE SYSTEM</a:t>
            </a:r>
            <a:endParaRPr b="0" lang="en-US" sz="1300" spc="-1" strike="noStrike">
              <a:solidFill>
                <a:srgbClr val="ffffff"/>
              </a:solidFill>
              <a:latin typeface="Arial"/>
            </a:endParaRPr>
          </a:p>
        </p:txBody>
      </p:sp>
      <p:sp>
        <p:nvSpPr>
          <p:cNvPr id="2403" name="Text 166"/>
          <p:cNvSpPr/>
          <p:nvPr/>
        </p:nvSpPr>
        <p:spPr>
          <a:xfrm>
            <a:off x="548640" y="713160"/>
            <a:ext cx="1106352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edeff4"/>
                </a:solidFill>
                <a:latin typeface="Arial"/>
                <a:ea typeface="Arial"/>
              </a:rPr>
              <a:t>Free int ↔ bool ↔ pointer coercion</a:t>
            </a:r>
            <a:endParaRPr b="0" lang="en-US" sz="3000" spc="-1" strike="noStrike">
              <a:solidFill>
                <a:srgbClr val="ffffff"/>
              </a:solidFill>
              <a:latin typeface="Arial"/>
            </a:endParaRPr>
          </a:p>
        </p:txBody>
      </p:sp>
      <p:sp>
        <p:nvSpPr>
          <p:cNvPr id="2404" name="Shape 87"/>
          <p:cNvSpPr/>
          <p:nvPr/>
        </p:nvSpPr>
        <p:spPr>
          <a:xfrm>
            <a:off x="548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05" name="Shape 88"/>
          <p:cNvSpPr/>
          <p:nvPr/>
        </p:nvSpPr>
        <p:spPr>
          <a:xfrm>
            <a:off x="777240" y="1892880"/>
            <a:ext cx="383400" cy="383400"/>
          </a:xfrm>
          <a:prstGeom prst="roundRect">
            <a:avLst>
              <a:gd name="adj" fmla="val 119048"/>
            </a:avLst>
          </a:prstGeom>
          <a:solidFill>
            <a:srgbClr val="3a2020"/>
          </a:solidFill>
          <a:ln w="12700">
            <a:solidFill>
              <a:srgbClr val="e1575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06" name="Text 167"/>
          <p:cNvSpPr/>
          <p:nvPr/>
        </p:nvSpPr>
        <p:spPr>
          <a:xfrm>
            <a:off x="777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e15757"/>
                </a:solidFill>
                <a:latin typeface="Arial"/>
                <a:ea typeface="Arial"/>
              </a:rPr>
              <a:t>✗</a:t>
            </a:r>
            <a:endParaRPr b="0" lang="en-US" sz="1600" spc="-1" strike="noStrike">
              <a:solidFill>
                <a:srgbClr val="ffffff"/>
              </a:solidFill>
              <a:latin typeface="Arial"/>
            </a:endParaRPr>
          </a:p>
        </p:txBody>
      </p:sp>
      <p:sp>
        <p:nvSpPr>
          <p:cNvPr id="2407" name="Text 168"/>
          <p:cNvSpPr/>
          <p:nvPr/>
        </p:nvSpPr>
        <p:spPr>
          <a:xfrm>
            <a:off x="1280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3e8fe0"/>
                </a:solidFill>
                <a:latin typeface="Arial"/>
                <a:ea typeface="Arial"/>
              </a:rPr>
              <a:t>C++ TODAY</a:t>
            </a:r>
            <a:endParaRPr b="0" lang="en-US" sz="1300" spc="-1" strike="noStrike">
              <a:solidFill>
                <a:srgbClr val="ffffff"/>
              </a:solidFill>
              <a:latin typeface="Arial"/>
            </a:endParaRPr>
          </a:p>
        </p:txBody>
      </p:sp>
      <p:sp>
        <p:nvSpPr>
          <p:cNvPr id="2408" name="Text 169"/>
          <p:cNvSpPr/>
          <p:nvPr/>
        </p:nvSpPr>
        <p:spPr>
          <a:xfrm>
            <a:off x="822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int n = 5;</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if (n) { ... }        // int -&gt; bool</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if (ptr) { ... }        // ptr -&gt; bool</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bool b = someFunctionPtr; // ptr -&gt; bool</a:t>
            </a:r>
            <a:endParaRPr b="0" lang="en-US" sz="1250" spc="-1" strike="noStrike">
              <a:solidFill>
                <a:srgbClr val="ffffff"/>
              </a:solidFill>
              <a:latin typeface="Arial"/>
            </a:endParaRPr>
          </a:p>
        </p:txBody>
      </p:sp>
      <p:sp>
        <p:nvSpPr>
          <p:cNvPr id="2409" name="Text 170"/>
          <p:cNvSpPr/>
          <p:nvPr/>
        </p:nvSpPr>
        <p:spPr>
          <a:xfrm>
            <a:off x="822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Integers, pointers, and enums all convert to bool in a condition. It's convenient, and it's also a common source of typos like `if (x = 5)`.</a:t>
            </a:r>
            <a:endParaRPr b="0" lang="en-US" sz="1150" spc="-1" strike="noStrike">
              <a:solidFill>
                <a:srgbClr val="ffffff"/>
              </a:solidFill>
              <a:latin typeface="Arial"/>
            </a:endParaRPr>
          </a:p>
        </p:txBody>
      </p:sp>
      <p:sp>
        <p:nvSpPr>
          <p:cNvPr id="2410" name="Shape 89"/>
          <p:cNvSpPr/>
          <p:nvPr/>
        </p:nvSpPr>
        <p:spPr>
          <a:xfrm>
            <a:off x="6263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11" name="Shape 90"/>
          <p:cNvSpPr/>
          <p:nvPr/>
        </p:nvSpPr>
        <p:spPr>
          <a:xfrm>
            <a:off x="6492240" y="1892880"/>
            <a:ext cx="383400" cy="383400"/>
          </a:xfrm>
          <a:prstGeom prst="roundRect">
            <a:avLst>
              <a:gd name="adj" fmla="val 119048"/>
            </a:avLst>
          </a:prstGeom>
          <a:solidFill>
            <a:srgbClr val="1f3324"/>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12" name="Text 171"/>
          <p:cNvSpPr/>
          <p:nvPr/>
        </p:nvSpPr>
        <p:spPr>
          <a:xfrm>
            <a:off x="6492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58c27d"/>
                </a:solidFill>
                <a:latin typeface="Arial"/>
                <a:ea typeface="Arial"/>
              </a:rPr>
              <a:t>✓</a:t>
            </a:r>
            <a:endParaRPr b="0" lang="en-US" sz="1600" spc="-1" strike="noStrike">
              <a:solidFill>
                <a:srgbClr val="ffffff"/>
              </a:solidFill>
              <a:latin typeface="Arial"/>
            </a:endParaRPr>
          </a:p>
        </p:txBody>
      </p:sp>
      <p:sp>
        <p:nvSpPr>
          <p:cNvPr id="2413" name="Text 172"/>
          <p:cNvSpPr/>
          <p:nvPr/>
        </p:nvSpPr>
        <p:spPr>
          <a:xfrm>
            <a:off x="6995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e8804f"/>
                </a:solidFill>
                <a:latin typeface="Arial"/>
                <a:ea typeface="Arial"/>
              </a:rPr>
              <a:t>RUST INSTEAD</a:t>
            </a:r>
            <a:endParaRPr b="0" lang="en-US" sz="1300" spc="-1" strike="noStrike">
              <a:solidFill>
                <a:srgbClr val="ffffff"/>
              </a:solidFill>
              <a:latin typeface="Arial"/>
            </a:endParaRPr>
          </a:p>
        </p:txBody>
      </p:sp>
      <p:sp>
        <p:nvSpPr>
          <p:cNvPr id="2414" name="Text 173"/>
          <p:cNvSpPr/>
          <p:nvPr/>
        </p:nvSpPr>
        <p:spPr>
          <a:xfrm>
            <a:off x="6537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let n = 5;</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if n { ... }   // error: expected bool,</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  found integer</a:t>
            </a:r>
            <a:endParaRPr b="0" lang="en-US" sz="1250" spc="-1" strike="noStrike">
              <a:solidFill>
                <a:srgbClr val="ffffff"/>
              </a:solidFill>
              <a:latin typeface="Arial"/>
            </a:endParaRPr>
          </a:p>
        </p:txBody>
      </p:sp>
      <p:sp>
        <p:nvSpPr>
          <p:cNvPr id="2415" name="Text 174"/>
          <p:cNvSpPr/>
          <p:nvPr/>
        </p:nvSpPr>
        <p:spPr>
          <a:xfrm>
            <a:off x="6537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Only an actual `bool` is a valid condition. `if n != 0` must be written out — and `=` inside `if` isn't legal syntax to begin with.</a:t>
            </a:r>
            <a:endParaRPr b="0" lang="en-US" sz="1150" spc="-1" strike="noStrike">
              <a:solidFill>
                <a:srgbClr val="ffffff"/>
              </a:solidFill>
              <a:latin typeface="Arial"/>
            </a:endParaRPr>
          </a:p>
        </p:txBody>
      </p:sp>
      <p:sp>
        <p:nvSpPr>
          <p:cNvPr id="2416" name="Shape 91"/>
          <p:cNvSpPr/>
          <p:nvPr/>
        </p:nvSpPr>
        <p:spPr>
          <a:xfrm>
            <a:off x="548640" y="5102280"/>
            <a:ext cx="11063520" cy="56628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17" name="Text 175"/>
          <p:cNvSpPr/>
          <p:nvPr/>
        </p:nvSpPr>
        <p:spPr>
          <a:xfrm>
            <a:off x="777240" y="5102280"/>
            <a:ext cx="10606320" cy="566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e8804f"/>
                </a:solidFill>
                <a:latin typeface="Arial"/>
                <a:ea typeface="Arial"/>
              </a:rPr>
              <a:t>Why:  </a:t>
            </a:r>
            <a:r>
              <a:rPr b="0" lang="en-US" sz="1200" spc="-1" strike="noStrike">
                <a:solidFill>
                  <a:srgbClr val="edeff4"/>
                </a:solidFill>
                <a:latin typeface="Arial"/>
                <a:ea typeface="Arial"/>
              </a:rPr>
              <a:t>A precise boolean type closes off an entire class of 'accidentally truthy' bugs that plague loosely-typed conditionals.</a:t>
            </a:r>
            <a:endParaRPr b="0" lang="en-US" sz="1200" spc="-1" strike="noStrike">
              <a:solidFill>
                <a:srgbClr val="ffffff"/>
              </a:solidFill>
              <a:latin typeface="Arial"/>
            </a:endParaRPr>
          </a:p>
        </p:txBody>
      </p:sp>
      <p:sp>
        <p:nvSpPr>
          <p:cNvPr id="2418" name="Text 176"/>
          <p:cNvSpPr/>
          <p:nvPr/>
        </p:nvSpPr>
        <p:spPr>
          <a:xfrm>
            <a:off x="457200" y="653796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C++ Developers</a:t>
            </a:r>
            <a:endParaRPr b="0" lang="en-US" sz="1000" spc="-1" strike="noStrike">
              <a:solidFill>
                <a:srgbClr val="ffffff"/>
              </a:solidFill>
              <a:latin typeface="Arial"/>
            </a:endParaRPr>
          </a:p>
        </p:txBody>
      </p:sp>
      <p:sp>
        <p:nvSpPr>
          <p:cNvPr id="2419" name="Text 177"/>
          <p:cNvSpPr/>
          <p:nvPr/>
        </p:nvSpPr>
        <p:spPr>
          <a:xfrm>
            <a:off x="11521440" y="6537960"/>
            <a:ext cx="365040" cy="273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10</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420" name="Text 178"/>
          <p:cNvSpPr/>
          <p:nvPr/>
        </p:nvSpPr>
        <p:spPr>
          <a:xfrm>
            <a:off x="548640" y="384120"/>
            <a:ext cx="731448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7" strike="noStrike">
                <a:solidFill>
                  <a:srgbClr val="e8804f"/>
                </a:solidFill>
                <a:latin typeface="Arial"/>
                <a:ea typeface="Arial"/>
              </a:rPr>
              <a:t>TYPE SYSTEM</a:t>
            </a:r>
            <a:endParaRPr b="0" lang="en-US" sz="1300" spc="-1" strike="noStrike">
              <a:solidFill>
                <a:srgbClr val="ffffff"/>
              </a:solidFill>
              <a:latin typeface="Arial"/>
            </a:endParaRPr>
          </a:p>
        </p:txBody>
      </p:sp>
      <p:sp>
        <p:nvSpPr>
          <p:cNvPr id="2421" name="Text 179"/>
          <p:cNvSpPr/>
          <p:nvPr/>
        </p:nvSpPr>
        <p:spPr>
          <a:xfrm>
            <a:off x="548640" y="713160"/>
            <a:ext cx="1106352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edeff4"/>
                </a:solidFill>
                <a:latin typeface="Arial"/>
                <a:ea typeface="Arial"/>
              </a:rPr>
              <a:t>Null as a valid reference</a:t>
            </a:r>
            <a:endParaRPr b="0" lang="en-US" sz="3000" spc="-1" strike="noStrike">
              <a:solidFill>
                <a:srgbClr val="ffffff"/>
              </a:solidFill>
              <a:latin typeface="Arial"/>
            </a:endParaRPr>
          </a:p>
        </p:txBody>
      </p:sp>
      <p:sp>
        <p:nvSpPr>
          <p:cNvPr id="2422" name="Shape 92"/>
          <p:cNvSpPr/>
          <p:nvPr/>
        </p:nvSpPr>
        <p:spPr>
          <a:xfrm>
            <a:off x="548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23" name="Shape 93"/>
          <p:cNvSpPr/>
          <p:nvPr/>
        </p:nvSpPr>
        <p:spPr>
          <a:xfrm>
            <a:off x="777240" y="1892880"/>
            <a:ext cx="383400" cy="383400"/>
          </a:xfrm>
          <a:prstGeom prst="roundRect">
            <a:avLst>
              <a:gd name="adj" fmla="val 119048"/>
            </a:avLst>
          </a:prstGeom>
          <a:solidFill>
            <a:srgbClr val="3a2020"/>
          </a:solidFill>
          <a:ln w="12700">
            <a:solidFill>
              <a:srgbClr val="e1575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24" name="Text 180"/>
          <p:cNvSpPr/>
          <p:nvPr/>
        </p:nvSpPr>
        <p:spPr>
          <a:xfrm>
            <a:off x="777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e15757"/>
                </a:solidFill>
                <a:latin typeface="Arial"/>
                <a:ea typeface="Arial"/>
              </a:rPr>
              <a:t>✗</a:t>
            </a:r>
            <a:endParaRPr b="0" lang="en-US" sz="1600" spc="-1" strike="noStrike">
              <a:solidFill>
                <a:srgbClr val="ffffff"/>
              </a:solidFill>
              <a:latin typeface="Arial"/>
            </a:endParaRPr>
          </a:p>
        </p:txBody>
      </p:sp>
      <p:sp>
        <p:nvSpPr>
          <p:cNvPr id="2425" name="Text 181"/>
          <p:cNvSpPr/>
          <p:nvPr/>
        </p:nvSpPr>
        <p:spPr>
          <a:xfrm>
            <a:off x="1280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3e8fe0"/>
                </a:solidFill>
                <a:latin typeface="Arial"/>
                <a:ea typeface="Arial"/>
              </a:rPr>
              <a:t>C++ TODAY</a:t>
            </a:r>
            <a:endParaRPr b="0" lang="en-US" sz="1300" spc="-1" strike="noStrike">
              <a:solidFill>
                <a:srgbClr val="ffffff"/>
              </a:solidFill>
              <a:latin typeface="Arial"/>
            </a:endParaRPr>
          </a:p>
        </p:txBody>
      </p:sp>
      <p:sp>
        <p:nvSpPr>
          <p:cNvPr id="2426" name="Text 182"/>
          <p:cNvSpPr/>
          <p:nvPr/>
        </p:nvSpPr>
        <p:spPr>
          <a:xfrm>
            <a:off x="822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Widget&amp; w = *ptr;   // ptr may be null</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w.doThing();          // crashes, maybe</a:t>
            </a:r>
            <a:endParaRPr b="0" lang="en-US" sz="1250" spc="-1" strike="noStrike">
              <a:solidFill>
                <a:srgbClr val="ffffff"/>
              </a:solidFill>
              <a:latin typeface="Arial"/>
            </a:endParaRPr>
          </a:p>
          <a:p>
            <a:pPr defTabSz="914400">
              <a:lnSpc>
                <a:spcPct val="125000"/>
              </a:lnSpc>
              <a:tabLst>
                <a:tab algn="l" pos="0"/>
              </a:tabLst>
            </a:pP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Widget* p = nullptr;  // fine, always</a:t>
            </a:r>
            <a:endParaRPr b="0" lang="en-US" sz="1250" spc="-1" strike="noStrike">
              <a:solidFill>
                <a:srgbClr val="ffffff"/>
              </a:solidFill>
              <a:latin typeface="Arial"/>
            </a:endParaRPr>
          </a:p>
        </p:txBody>
      </p:sp>
      <p:sp>
        <p:nvSpPr>
          <p:cNvPr id="2427" name="Text 183"/>
          <p:cNvSpPr/>
          <p:nvPr/>
        </p:nvSpPr>
        <p:spPr>
          <a:xfrm>
            <a:off x="822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A reference is supposed to never be null, but dereferencing a null pointer to bind one compiles and crashes only at use.</a:t>
            </a:r>
            <a:endParaRPr b="0" lang="en-US" sz="1150" spc="-1" strike="noStrike">
              <a:solidFill>
                <a:srgbClr val="ffffff"/>
              </a:solidFill>
              <a:latin typeface="Arial"/>
            </a:endParaRPr>
          </a:p>
        </p:txBody>
      </p:sp>
      <p:sp>
        <p:nvSpPr>
          <p:cNvPr id="2428" name="Shape 94"/>
          <p:cNvSpPr/>
          <p:nvPr/>
        </p:nvSpPr>
        <p:spPr>
          <a:xfrm>
            <a:off x="6263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29" name="Shape 95"/>
          <p:cNvSpPr/>
          <p:nvPr/>
        </p:nvSpPr>
        <p:spPr>
          <a:xfrm>
            <a:off x="6492240" y="1892880"/>
            <a:ext cx="383400" cy="383400"/>
          </a:xfrm>
          <a:prstGeom prst="roundRect">
            <a:avLst>
              <a:gd name="adj" fmla="val 119048"/>
            </a:avLst>
          </a:prstGeom>
          <a:solidFill>
            <a:srgbClr val="1f3324"/>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30" name="Text 184"/>
          <p:cNvSpPr/>
          <p:nvPr/>
        </p:nvSpPr>
        <p:spPr>
          <a:xfrm>
            <a:off x="6492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58c27d"/>
                </a:solidFill>
                <a:latin typeface="Arial"/>
                <a:ea typeface="Arial"/>
              </a:rPr>
              <a:t>✓</a:t>
            </a:r>
            <a:endParaRPr b="0" lang="en-US" sz="1600" spc="-1" strike="noStrike">
              <a:solidFill>
                <a:srgbClr val="ffffff"/>
              </a:solidFill>
              <a:latin typeface="Arial"/>
            </a:endParaRPr>
          </a:p>
        </p:txBody>
      </p:sp>
      <p:sp>
        <p:nvSpPr>
          <p:cNvPr id="2431" name="Text 185"/>
          <p:cNvSpPr/>
          <p:nvPr/>
        </p:nvSpPr>
        <p:spPr>
          <a:xfrm>
            <a:off x="6995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e8804f"/>
                </a:solidFill>
                <a:latin typeface="Arial"/>
                <a:ea typeface="Arial"/>
              </a:rPr>
              <a:t>RUST INSTEAD</a:t>
            </a:r>
            <a:endParaRPr b="0" lang="en-US" sz="1300" spc="-1" strike="noStrike">
              <a:solidFill>
                <a:srgbClr val="ffffff"/>
              </a:solidFill>
              <a:latin typeface="Arial"/>
            </a:endParaRPr>
          </a:p>
        </p:txBody>
      </p:sp>
      <p:sp>
        <p:nvSpPr>
          <p:cNvPr id="2432" name="Text 186"/>
          <p:cNvSpPr/>
          <p:nvPr/>
        </p:nvSpPr>
        <p:spPr>
          <a:xfrm>
            <a:off x="6537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let w: &amp;Widget = ...; // always valid,</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 enforced by the</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 compiler</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let maybe: Option&lt;&amp;Widget&gt; = None; // must</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 unwrap first</a:t>
            </a:r>
            <a:endParaRPr b="0" lang="en-US" sz="1250" spc="-1" strike="noStrike">
              <a:solidFill>
                <a:srgbClr val="ffffff"/>
              </a:solidFill>
              <a:latin typeface="Arial"/>
            </a:endParaRPr>
          </a:p>
        </p:txBody>
      </p:sp>
      <p:sp>
        <p:nvSpPr>
          <p:cNvPr id="2433" name="Text 187"/>
          <p:cNvSpPr/>
          <p:nvPr/>
        </p:nvSpPr>
        <p:spPr>
          <a:xfrm>
            <a:off x="6537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A `&amp;T` is guaranteed non-null. Absence is modeled with `Option&lt;T&gt;`, and you must explicitly handle the `None` case to get at the value.</a:t>
            </a:r>
            <a:endParaRPr b="0" lang="en-US" sz="1150" spc="-1" strike="noStrike">
              <a:solidFill>
                <a:srgbClr val="ffffff"/>
              </a:solidFill>
              <a:latin typeface="Arial"/>
            </a:endParaRPr>
          </a:p>
        </p:txBody>
      </p:sp>
      <p:sp>
        <p:nvSpPr>
          <p:cNvPr id="2434" name="Shape 96"/>
          <p:cNvSpPr/>
          <p:nvPr/>
        </p:nvSpPr>
        <p:spPr>
          <a:xfrm>
            <a:off x="548640" y="5102280"/>
            <a:ext cx="11063520" cy="56628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35" name="Text 188"/>
          <p:cNvSpPr/>
          <p:nvPr/>
        </p:nvSpPr>
        <p:spPr>
          <a:xfrm>
            <a:off x="777240" y="5102280"/>
            <a:ext cx="10606320" cy="566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e8804f"/>
                </a:solidFill>
                <a:latin typeface="Arial"/>
                <a:ea typeface="Arial"/>
              </a:rPr>
              <a:t>Why:  </a:t>
            </a:r>
            <a:r>
              <a:rPr b="0" lang="en-US" sz="1200" spc="-1" strike="noStrike">
                <a:solidFill>
                  <a:srgbClr val="edeff4"/>
                </a:solidFill>
                <a:latin typeface="Arial"/>
                <a:ea typeface="Arial"/>
              </a:rPr>
              <a:t>Tony Hoare called null references his 'billion-dollar mistake'. Rust encodes absence in the type instead of in a sentinel value.</a:t>
            </a:r>
            <a:endParaRPr b="0" lang="en-US" sz="1200" spc="-1" strike="noStrike">
              <a:solidFill>
                <a:srgbClr val="ffffff"/>
              </a:solidFill>
              <a:latin typeface="Arial"/>
            </a:endParaRPr>
          </a:p>
        </p:txBody>
      </p:sp>
      <p:sp>
        <p:nvSpPr>
          <p:cNvPr id="2436" name="Text 189"/>
          <p:cNvSpPr/>
          <p:nvPr/>
        </p:nvSpPr>
        <p:spPr>
          <a:xfrm>
            <a:off x="457200" y="653796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C++ Developers</a:t>
            </a:r>
            <a:endParaRPr b="0" lang="en-US" sz="1000" spc="-1" strike="noStrike">
              <a:solidFill>
                <a:srgbClr val="ffffff"/>
              </a:solidFill>
              <a:latin typeface="Arial"/>
            </a:endParaRPr>
          </a:p>
        </p:txBody>
      </p:sp>
      <p:sp>
        <p:nvSpPr>
          <p:cNvPr id="2437" name="Text 190"/>
          <p:cNvSpPr/>
          <p:nvPr/>
        </p:nvSpPr>
        <p:spPr>
          <a:xfrm>
            <a:off x="11521440" y="6537960"/>
            <a:ext cx="365040" cy="273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11</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438" name="Shape 97"/>
          <p:cNvSpPr/>
          <p:nvPr/>
        </p:nvSpPr>
        <p:spPr>
          <a:xfrm>
            <a:off x="548640" y="2651760"/>
            <a:ext cx="1370880" cy="1370880"/>
          </a:xfrm>
          <a:prstGeom prst="roundRect">
            <a:avLst>
              <a:gd name="adj" fmla="val 6667"/>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39" name="Text 191"/>
          <p:cNvSpPr/>
          <p:nvPr/>
        </p:nvSpPr>
        <p:spPr>
          <a:xfrm>
            <a:off x="548640" y="2651760"/>
            <a:ext cx="1370880" cy="13708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400" spc="-1" strike="noStrike">
                <a:solidFill>
                  <a:srgbClr val="e8804f"/>
                </a:solidFill>
                <a:latin typeface="Consolas"/>
                <a:ea typeface="Consolas"/>
              </a:rPr>
              <a:t>03</a:t>
            </a:r>
            <a:endParaRPr b="0" lang="en-US" sz="3400" spc="-1" strike="noStrike">
              <a:solidFill>
                <a:srgbClr val="ffffff"/>
              </a:solidFill>
              <a:latin typeface="Arial"/>
            </a:endParaRPr>
          </a:p>
        </p:txBody>
      </p:sp>
      <p:sp>
        <p:nvSpPr>
          <p:cNvPr id="2440" name="Text 192"/>
          <p:cNvSpPr/>
          <p:nvPr/>
        </p:nvSpPr>
        <p:spPr>
          <a:xfrm>
            <a:off x="2194560" y="2743200"/>
            <a:ext cx="91432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edeff4"/>
                </a:solidFill>
                <a:latin typeface="Arial"/>
                <a:ea typeface="Arial"/>
              </a:rPr>
              <a:t>OOP &amp; Generics</a:t>
            </a:r>
            <a:endParaRPr b="0" lang="en-US" sz="3000" spc="-1" strike="noStrike">
              <a:solidFill>
                <a:srgbClr val="ffffff"/>
              </a:solidFill>
              <a:latin typeface="Arial"/>
            </a:endParaRPr>
          </a:p>
        </p:txBody>
      </p:sp>
      <p:sp>
        <p:nvSpPr>
          <p:cNvPr id="2441" name="Text 193"/>
          <p:cNvSpPr/>
          <p:nvPr/>
        </p:nvSpPr>
        <p:spPr>
          <a:xfrm>
            <a:off x="2194560" y="3429000"/>
            <a:ext cx="8686080" cy="5479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400" spc="-1" strike="noStrike">
                <a:solidFill>
                  <a:srgbClr val="9aa4b8"/>
                </a:solidFill>
                <a:latin typeface="Arial"/>
                <a:ea typeface="Arial"/>
              </a:rPr>
              <a:t>Inheritance, overloading, and templates</a:t>
            </a:r>
            <a:endParaRPr b="0" lang="en-US" sz="1400" spc="-1" strike="noStrike">
              <a:solidFill>
                <a:srgbClr val="ffffff"/>
              </a:solidFill>
              <a:latin typeface="Arial"/>
            </a:endParaRPr>
          </a:p>
        </p:txBody>
      </p:sp>
      <p:sp>
        <p:nvSpPr>
          <p:cNvPr id="2442" name="Text 194"/>
          <p:cNvSpPr/>
          <p:nvPr/>
        </p:nvSpPr>
        <p:spPr>
          <a:xfrm>
            <a:off x="457200" y="653796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C++ Developers</a:t>
            </a:r>
            <a:endParaRPr b="0" lang="en-US" sz="1000" spc="-1" strike="noStrike">
              <a:solidFill>
                <a:srgbClr val="ffffff"/>
              </a:solidFill>
              <a:latin typeface="Arial"/>
            </a:endParaRPr>
          </a:p>
        </p:txBody>
      </p:sp>
      <p:sp>
        <p:nvSpPr>
          <p:cNvPr id="2443" name="Text 195"/>
          <p:cNvSpPr/>
          <p:nvPr/>
        </p:nvSpPr>
        <p:spPr>
          <a:xfrm>
            <a:off x="11521440" y="6537960"/>
            <a:ext cx="365040" cy="273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12</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444" name="Text 196"/>
          <p:cNvSpPr/>
          <p:nvPr/>
        </p:nvSpPr>
        <p:spPr>
          <a:xfrm>
            <a:off x="548640" y="384120"/>
            <a:ext cx="731448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7" strike="noStrike">
                <a:solidFill>
                  <a:srgbClr val="e8804f"/>
                </a:solidFill>
                <a:latin typeface="Arial"/>
                <a:ea typeface="Arial"/>
              </a:rPr>
              <a:t>OOP &amp; GENERICS</a:t>
            </a:r>
            <a:endParaRPr b="0" lang="en-US" sz="1300" spc="-1" strike="noStrike">
              <a:solidFill>
                <a:srgbClr val="ffffff"/>
              </a:solidFill>
              <a:latin typeface="Arial"/>
            </a:endParaRPr>
          </a:p>
        </p:txBody>
      </p:sp>
      <p:sp>
        <p:nvSpPr>
          <p:cNvPr id="2445" name="Text 197"/>
          <p:cNvSpPr/>
          <p:nvPr/>
        </p:nvSpPr>
        <p:spPr>
          <a:xfrm>
            <a:off x="548640" y="713160"/>
            <a:ext cx="1106352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edeff4"/>
                </a:solidFill>
                <a:latin typeface="Arial"/>
                <a:ea typeface="Arial"/>
              </a:rPr>
              <a:t>Multiple inheritance of implementation</a:t>
            </a:r>
            <a:endParaRPr b="0" lang="en-US" sz="3000" spc="-1" strike="noStrike">
              <a:solidFill>
                <a:srgbClr val="ffffff"/>
              </a:solidFill>
              <a:latin typeface="Arial"/>
            </a:endParaRPr>
          </a:p>
        </p:txBody>
      </p:sp>
      <p:sp>
        <p:nvSpPr>
          <p:cNvPr id="2446" name="Shape 98"/>
          <p:cNvSpPr/>
          <p:nvPr/>
        </p:nvSpPr>
        <p:spPr>
          <a:xfrm>
            <a:off x="548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47" name="Shape 99"/>
          <p:cNvSpPr/>
          <p:nvPr/>
        </p:nvSpPr>
        <p:spPr>
          <a:xfrm>
            <a:off x="777240" y="1892880"/>
            <a:ext cx="383400" cy="383400"/>
          </a:xfrm>
          <a:prstGeom prst="roundRect">
            <a:avLst>
              <a:gd name="adj" fmla="val 119048"/>
            </a:avLst>
          </a:prstGeom>
          <a:solidFill>
            <a:srgbClr val="3a2020"/>
          </a:solidFill>
          <a:ln w="12700">
            <a:solidFill>
              <a:srgbClr val="e1575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48" name="Text 198"/>
          <p:cNvSpPr/>
          <p:nvPr/>
        </p:nvSpPr>
        <p:spPr>
          <a:xfrm>
            <a:off x="777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e15757"/>
                </a:solidFill>
                <a:latin typeface="Arial"/>
                <a:ea typeface="Arial"/>
              </a:rPr>
              <a:t>✗</a:t>
            </a:r>
            <a:endParaRPr b="0" lang="en-US" sz="1600" spc="-1" strike="noStrike">
              <a:solidFill>
                <a:srgbClr val="ffffff"/>
              </a:solidFill>
              <a:latin typeface="Arial"/>
            </a:endParaRPr>
          </a:p>
        </p:txBody>
      </p:sp>
      <p:sp>
        <p:nvSpPr>
          <p:cNvPr id="2449" name="Text 199"/>
          <p:cNvSpPr/>
          <p:nvPr/>
        </p:nvSpPr>
        <p:spPr>
          <a:xfrm>
            <a:off x="1280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3e8fe0"/>
                </a:solidFill>
                <a:latin typeface="Arial"/>
                <a:ea typeface="Arial"/>
              </a:rPr>
              <a:t>C++ TODAY</a:t>
            </a:r>
            <a:endParaRPr b="0" lang="en-US" sz="1300" spc="-1" strike="noStrike">
              <a:solidFill>
                <a:srgbClr val="ffffff"/>
              </a:solidFill>
              <a:latin typeface="Arial"/>
            </a:endParaRPr>
          </a:p>
        </p:txBody>
      </p:sp>
      <p:sp>
        <p:nvSpPr>
          <p:cNvPr id="2450" name="Text 200"/>
          <p:cNvSpPr/>
          <p:nvPr/>
        </p:nvSpPr>
        <p:spPr>
          <a:xfrm>
            <a:off x="822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class Flying : public Animal,</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public Machine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 diamond problem, virtual bases,</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 ambiguous member lookup</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a:t>
            </a:r>
            <a:endParaRPr b="0" lang="en-US" sz="1250" spc="-1" strike="noStrike">
              <a:solidFill>
                <a:srgbClr val="ffffff"/>
              </a:solidFill>
              <a:latin typeface="Arial"/>
            </a:endParaRPr>
          </a:p>
        </p:txBody>
      </p:sp>
      <p:sp>
        <p:nvSpPr>
          <p:cNvPr id="2451" name="Text 201"/>
          <p:cNvSpPr/>
          <p:nvPr/>
        </p:nvSpPr>
        <p:spPr>
          <a:xfrm>
            <a:off x="822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You can inherit implementation from several classes at once, which is powerful but opens the door to the diamond problem and layout ambiguity.</a:t>
            </a:r>
            <a:endParaRPr b="0" lang="en-US" sz="1150" spc="-1" strike="noStrike">
              <a:solidFill>
                <a:srgbClr val="ffffff"/>
              </a:solidFill>
              <a:latin typeface="Arial"/>
            </a:endParaRPr>
          </a:p>
        </p:txBody>
      </p:sp>
      <p:sp>
        <p:nvSpPr>
          <p:cNvPr id="2452" name="Shape 100"/>
          <p:cNvSpPr/>
          <p:nvPr/>
        </p:nvSpPr>
        <p:spPr>
          <a:xfrm>
            <a:off x="6263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53" name="Shape 101"/>
          <p:cNvSpPr/>
          <p:nvPr/>
        </p:nvSpPr>
        <p:spPr>
          <a:xfrm>
            <a:off x="6492240" y="1892880"/>
            <a:ext cx="383400" cy="383400"/>
          </a:xfrm>
          <a:prstGeom prst="roundRect">
            <a:avLst>
              <a:gd name="adj" fmla="val 119048"/>
            </a:avLst>
          </a:prstGeom>
          <a:solidFill>
            <a:srgbClr val="1f3324"/>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54" name="Text 202"/>
          <p:cNvSpPr/>
          <p:nvPr/>
        </p:nvSpPr>
        <p:spPr>
          <a:xfrm>
            <a:off x="6492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58c27d"/>
                </a:solidFill>
                <a:latin typeface="Arial"/>
                <a:ea typeface="Arial"/>
              </a:rPr>
              <a:t>✓</a:t>
            </a:r>
            <a:endParaRPr b="0" lang="en-US" sz="1600" spc="-1" strike="noStrike">
              <a:solidFill>
                <a:srgbClr val="ffffff"/>
              </a:solidFill>
              <a:latin typeface="Arial"/>
            </a:endParaRPr>
          </a:p>
        </p:txBody>
      </p:sp>
      <p:sp>
        <p:nvSpPr>
          <p:cNvPr id="2455" name="Text 203"/>
          <p:cNvSpPr/>
          <p:nvPr/>
        </p:nvSpPr>
        <p:spPr>
          <a:xfrm>
            <a:off x="6995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e8804f"/>
                </a:solidFill>
                <a:latin typeface="Arial"/>
                <a:ea typeface="Arial"/>
              </a:rPr>
              <a:t>RUST INSTEAD</a:t>
            </a:r>
            <a:endParaRPr b="0" lang="en-US" sz="1300" spc="-1" strike="noStrike">
              <a:solidFill>
                <a:srgbClr val="ffffff"/>
              </a:solidFill>
              <a:latin typeface="Arial"/>
            </a:endParaRPr>
          </a:p>
        </p:txBody>
      </p:sp>
      <p:sp>
        <p:nvSpPr>
          <p:cNvPr id="2456" name="Text 204"/>
          <p:cNvSpPr/>
          <p:nvPr/>
        </p:nvSpPr>
        <p:spPr>
          <a:xfrm>
            <a:off x="6537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struct Bird;</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impl Animal for Bird { ...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impl Flies for Bird { ...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composition + trait impls,</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no base-class data inheritance</a:t>
            </a:r>
            <a:endParaRPr b="0" lang="en-US" sz="1250" spc="-1" strike="noStrike">
              <a:solidFill>
                <a:srgbClr val="ffffff"/>
              </a:solidFill>
              <a:latin typeface="Arial"/>
            </a:endParaRPr>
          </a:p>
        </p:txBody>
      </p:sp>
      <p:sp>
        <p:nvSpPr>
          <p:cNvPr id="2457" name="Text 205"/>
          <p:cNvSpPr/>
          <p:nvPr/>
        </p:nvSpPr>
        <p:spPr>
          <a:xfrm>
            <a:off x="6537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There is no struct inheritance at all. A type can implement any number of traits (interfaces + default methods), but never inherits another struct's fields.</a:t>
            </a:r>
            <a:endParaRPr b="0" lang="en-US" sz="1150" spc="-1" strike="noStrike">
              <a:solidFill>
                <a:srgbClr val="ffffff"/>
              </a:solidFill>
              <a:latin typeface="Arial"/>
            </a:endParaRPr>
          </a:p>
        </p:txBody>
      </p:sp>
      <p:sp>
        <p:nvSpPr>
          <p:cNvPr id="2458" name="Shape 102"/>
          <p:cNvSpPr/>
          <p:nvPr/>
        </p:nvSpPr>
        <p:spPr>
          <a:xfrm>
            <a:off x="548640" y="5102280"/>
            <a:ext cx="11063520" cy="56628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59" name="Text 206"/>
          <p:cNvSpPr/>
          <p:nvPr/>
        </p:nvSpPr>
        <p:spPr>
          <a:xfrm>
            <a:off x="777240" y="5102280"/>
            <a:ext cx="10606320" cy="566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e8804f"/>
                </a:solidFill>
                <a:latin typeface="Arial"/>
                <a:ea typeface="Arial"/>
              </a:rPr>
              <a:t>Why:  </a:t>
            </a:r>
            <a:r>
              <a:rPr b="0" lang="en-US" sz="1200" spc="-1" strike="noStrike">
                <a:solidFill>
                  <a:srgbClr val="edeff4"/>
                </a:solidFill>
                <a:latin typeface="Arial"/>
                <a:ea typeface="Arial"/>
              </a:rPr>
              <a:t>Composition and trait implementation give most of the reuse benefit without diamond-shaped ambiguity in field layout or method resolution.</a:t>
            </a:r>
            <a:endParaRPr b="0" lang="en-US" sz="1200" spc="-1" strike="noStrike">
              <a:solidFill>
                <a:srgbClr val="ffffff"/>
              </a:solidFill>
              <a:latin typeface="Arial"/>
            </a:endParaRPr>
          </a:p>
        </p:txBody>
      </p:sp>
      <p:sp>
        <p:nvSpPr>
          <p:cNvPr id="2460" name="Text 207"/>
          <p:cNvSpPr/>
          <p:nvPr/>
        </p:nvSpPr>
        <p:spPr>
          <a:xfrm>
            <a:off x="457200" y="653796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C++ Developers</a:t>
            </a:r>
            <a:endParaRPr b="0" lang="en-US" sz="1000" spc="-1" strike="noStrike">
              <a:solidFill>
                <a:srgbClr val="ffffff"/>
              </a:solidFill>
              <a:latin typeface="Arial"/>
            </a:endParaRPr>
          </a:p>
        </p:txBody>
      </p:sp>
      <p:sp>
        <p:nvSpPr>
          <p:cNvPr id="2461" name="Text 208"/>
          <p:cNvSpPr/>
          <p:nvPr/>
        </p:nvSpPr>
        <p:spPr>
          <a:xfrm>
            <a:off x="11521440" y="6537960"/>
            <a:ext cx="365040" cy="273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13</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462" name="Text 209"/>
          <p:cNvSpPr/>
          <p:nvPr/>
        </p:nvSpPr>
        <p:spPr>
          <a:xfrm>
            <a:off x="548640" y="384120"/>
            <a:ext cx="731448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7" strike="noStrike">
                <a:solidFill>
                  <a:srgbClr val="e8804f"/>
                </a:solidFill>
                <a:latin typeface="Arial"/>
                <a:ea typeface="Arial"/>
              </a:rPr>
              <a:t>OOP &amp; GENERICS</a:t>
            </a:r>
            <a:endParaRPr b="0" lang="en-US" sz="1300" spc="-1" strike="noStrike">
              <a:solidFill>
                <a:srgbClr val="ffffff"/>
              </a:solidFill>
              <a:latin typeface="Arial"/>
            </a:endParaRPr>
          </a:p>
        </p:txBody>
      </p:sp>
      <p:sp>
        <p:nvSpPr>
          <p:cNvPr id="2463" name="Text 210"/>
          <p:cNvSpPr/>
          <p:nvPr/>
        </p:nvSpPr>
        <p:spPr>
          <a:xfrm>
            <a:off x="548640" y="713160"/>
            <a:ext cx="1106352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edeff4"/>
                </a:solidFill>
                <a:latin typeface="Arial"/>
                <a:ea typeface="Arial"/>
              </a:rPr>
              <a:t>Ad-hoc function overloading</a:t>
            </a:r>
            <a:endParaRPr b="0" lang="en-US" sz="3000" spc="-1" strike="noStrike">
              <a:solidFill>
                <a:srgbClr val="ffffff"/>
              </a:solidFill>
              <a:latin typeface="Arial"/>
            </a:endParaRPr>
          </a:p>
        </p:txBody>
      </p:sp>
      <p:sp>
        <p:nvSpPr>
          <p:cNvPr id="2464" name="Shape 103"/>
          <p:cNvSpPr/>
          <p:nvPr/>
        </p:nvSpPr>
        <p:spPr>
          <a:xfrm>
            <a:off x="548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65" name="Shape 104"/>
          <p:cNvSpPr/>
          <p:nvPr/>
        </p:nvSpPr>
        <p:spPr>
          <a:xfrm>
            <a:off x="777240" y="1892880"/>
            <a:ext cx="383400" cy="383400"/>
          </a:xfrm>
          <a:prstGeom prst="roundRect">
            <a:avLst>
              <a:gd name="adj" fmla="val 119048"/>
            </a:avLst>
          </a:prstGeom>
          <a:solidFill>
            <a:srgbClr val="3a2020"/>
          </a:solidFill>
          <a:ln w="12700">
            <a:solidFill>
              <a:srgbClr val="e1575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66" name="Text 211"/>
          <p:cNvSpPr/>
          <p:nvPr/>
        </p:nvSpPr>
        <p:spPr>
          <a:xfrm>
            <a:off x="777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e15757"/>
                </a:solidFill>
                <a:latin typeface="Arial"/>
                <a:ea typeface="Arial"/>
              </a:rPr>
              <a:t>✗</a:t>
            </a:r>
            <a:endParaRPr b="0" lang="en-US" sz="1600" spc="-1" strike="noStrike">
              <a:solidFill>
                <a:srgbClr val="ffffff"/>
              </a:solidFill>
              <a:latin typeface="Arial"/>
            </a:endParaRPr>
          </a:p>
        </p:txBody>
      </p:sp>
      <p:sp>
        <p:nvSpPr>
          <p:cNvPr id="2467" name="Text 212"/>
          <p:cNvSpPr/>
          <p:nvPr/>
        </p:nvSpPr>
        <p:spPr>
          <a:xfrm>
            <a:off x="1280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3e8fe0"/>
                </a:solidFill>
                <a:latin typeface="Arial"/>
                <a:ea typeface="Arial"/>
              </a:rPr>
              <a:t>C++ TODAY</a:t>
            </a:r>
            <a:endParaRPr b="0" lang="en-US" sz="1300" spc="-1" strike="noStrike">
              <a:solidFill>
                <a:srgbClr val="ffffff"/>
              </a:solidFill>
              <a:latin typeface="Arial"/>
            </a:endParaRPr>
          </a:p>
        </p:txBody>
      </p:sp>
      <p:sp>
        <p:nvSpPr>
          <p:cNvPr id="2468" name="Text 213"/>
          <p:cNvSpPr/>
          <p:nvPr/>
        </p:nvSpPr>
        <p:spPr>
          <a:xfrm>
            <a:off x="822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void log(int x);</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void log(std::string x);</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void log(int x, int y);</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resolved by arity + type</a:t>
            </a:r>
            <a:endParaRPr b="0" lang="en-US" sz="1250" spc="-1" strike="noStrike">
              <a:solidFill>
                <a:srgbClr val="ffffff"/>
              </a:solidFill>
              <a:latin typeface="Arial"/>
            </a:endParaRPr>
          </a:p>
        </p:txBody>
      </p:sp>
      <p:sp>
        <p:nvSpPr>
          <p:cNvPr id="2469" name="Text 214"/>
          <p:cNvSpPr/>
          <p:nvPr/>
        </p:nvSpPr>
        <p:spPr>
          <a:xfrm>
            <a:off x="822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You can define many functions with the same name, differing in parameter count or type, and the compiler picks one via overload resolution.</a:t>
            </a:r>
            <a:endParaRPr b="0" lang="en-US" sz="1150" spc="-1" strike="noStrike">
              <a:solidFill>
                <a:srgbClr val="ffffff"/>
              </a:solidFill>
              <a:latin typeface="Arial"/>
            </a:endParaRPr>
          </a:p>
        </p:txBody>
      </p:sp>
      <p:sp>
        <p:nvSpPr>
          <p:cNvPr id="2470" name="Shape 105"/>
          <p:cNvSpPr/>
          <p:nvPr/>
        </p:nvSpPr>
        <p:spPr>
          <a:xfrm>
            <a:off x="6263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71" name="Shape 106"/>
          <p:cNvSpPr/>
          <p:nvPr/>
        </p:nvSpPr>
        <p:spPr>
          <a:xfrm>
            <a:off x="6492240" y="1892880"/>
            <a:ext cx="383400" cy="383400"/>
          </a:xfrm>
          <a:prstGeom prst="roundRect">
            <a:avLst>
              <a:gd name="adj" fmla="val 119048"/>
            </a:avLst>
          </a:prstGeom>
          <a:solidFill>
            <a:srgbClr val="1f3324"/>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72" name="Text 215"/>
          <p:cNvSpPr/>
          <p:nvPr/>
        </p:nvSpPr>
        <p:spPr>
          <a:xfrm>
            <a:off x="6492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58c27d"/>
                </a:solidFill>
                <a:latin typeface="Arial"/>
                <a:ea typeface="Arial"/>
              </a:rPr>
              <a:t>✓</a:t>
            </a:r>
            <a:endParaRPr b="0" lang="en-US" sz="1600" spc="-1" strike="noStrike">
              <a:solidFill>
                <a:srgbClr val="ffffff"/>
              </a:solidFill>
              <a:latin typeface="Arial"/>
            </a:endParaRPr>
          </a:p>
        </p:txBody>
      </p:sp>
      <p:sp>
        <p:nvSpPr>
          <p:cNvPr id="2473" name="Text 216"/>
          <p:cNvSpPr/>
          <p:nvPr/>
        </p:nvSpPr>
        <p:spPr>
          <a:xfrm>
            <a:off x="6995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e8804f"/>
                </a:solidFill>
                <a:latin typeface="Arial"/>
                <a:ea typeface="Arial"/>
              </a:rPr>
              <a:t>RUST INSTEAD</a:t>
            </a:r>
            <a:endParaRPr b="0" lang="en-US" sz="1300" spc="-1" strike="noStrike">
              <a:solidFill>
                <a:srgbClr val="ffffff"/>
              </a:solidFill>
              <a:latin typeface="Arial"/>
            </a:endParaRPr>
          </a:p>
        </p:txBody>
      </p:sp>
      <p:sp>
        <p:nvSpPr>
          <p:cNvPr id="2474" name="Text 217"/>
          <p:cNvSpPr/>
          <p:nvPr/>
        </p:nvSpPr>
        <p:spPr>
          <a:xfrm>
            <a:off x="6537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fn log(x: i32) { ...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fn log(x: &amp;str) { ...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error: log is defined</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multiple times</a:t>
            </a:r>
            <a:endParaRPr b="0" lang="en-US" sz="1250" spc="-1" strike="noStrike">
              <a:solidFill>
                <a:srgbClr val="ffffff"/>
              </a:solidFill>
              <a:latin typeface="Arial"/>
            </a:endParaRPr>
          </a:p>
        </p:txBody>
      </p:sp>
      <p:sp>
        <p:nvSpPr>
          <p:cNvPr id="2475" name="Text 218"/>
          <p:cNvSpPr/>
          <p:nvPr/>
        </p:nvSpPr>
        <p:spPr>
          <a:xfrm>
            <a:off x="6537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A given name resolves to exactly one function. Ad-hoc polymorphism instead goes through traits, generics, or enums with explicit variants.</a:t>
            </a:r>
            <a:endParaRPr b="0" lang="en-US" sz="1150" spc="-1" strike="noStrike">
              <a:solidFill>
                <a:srgbClr val="ffffff"/>
              </a:solidFill>
              <a:latin typeface="Arial"/>
            </a:endParaRPr>
          </a:p>
        </p:txBody>
      </p:sp>
      <p:sp>
        <p:nvSpPr>
          <p:cNvPr id="2476" name="Shape 107"/>
          <p:cNvSpPr/>
          <p:nvPr/>
        </p:nvSpPr>
        <p:spPr>
          <a:xfrm>
            <a:off x="548640" y="5102280"/>
            <a:ext cx="11063520" cy="56628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77" name="Text 219"/>
          <p:cNvSpPr/>
          <p:nvPr/>
        </p:nvSpPr>
        <p:spPr>
          <a:xfrm>
            <a:off x="777240" y="5102280"/>
            <a:ext cx="10606320" cy="566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e8804f"/>
                </a:solidFill>
                <a:latin typeface="Arial"/>
                <a:ea typeface="Arial"/>
              </a:rPr>
              <a:t>Why:  </a:t>
            </a:r>
            <a:r>
              <a:rPr b="0" lang="en-US" sz="1200" spc="-1" strike="noStrike">
                <a:solidFill>
                  <a:srgbClr val="edeff4"/>
                </a:solidFill>
                <a:latin typeface="Arial"/>
                <a:ea typeface="Arial"/>
              </a:rPr>
              <a:t>Overload resolution is a genuinely tricky spec (C++'s is famously subtle). Rust trades the convenience for one unambiguous name-to-function mapping.</a:t>
            </a:r>
            <a:endParaRPr b="0" lang="en-US" sz="1200" spc="-1" strike="noStrike">
              <a:solidFill>
                <a:srgbClr val="ffffff"/>
              </a:solidFill>
              <a:latin typeface="Arial"/>
            </a:endParaRPr>
          </a:p>
        </p:txBody>
      </p:sp>
      <p:sp>
        <p:nvSpPr>
          <p:cNvPr id="2478" name="Text 220"/>
          <p:cNvSpPr/>
          <p:nvPr/>
        </p:nvSpPr>
        <p:spPr>
          <a:xfrm>
            <a:off x="457200" y="653796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C++ Developers</a:t>
            </a:r>
            <a:endParaRPr b="0" lang="en-US" sz="1000" spc="-1" strike="noStrike">
              <a:solidFill>
                <a:srgbClr val="ffffff"/>
              </a:solidFill>
              <a:latin typeface="Arial"/>
            </a:endParaRPr>
          </a:p>
        </p:txBody>
      </p:sp>
      <p:sp>
        <p:nvSpPr>
          <p:cNvPr id="2479" name="Text 221"/>
          <p:cNvSpPr/>
          <p:nvPr/>
        </p:nvSpPr>
        <p:spPr>
          <a:xfrm>
            <a:off x="11521440" y="6537960"/>
            <a:ext cx="365040" cy="273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14</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480" name="Text 222"/>
          <p:cNvSpPr/>
          <p:nvPr/>
        </p:nvSpPr>
        <p:spPr>
          <a:xfrm>
            <a:off x="548640" y="384120"/>
            <a:ext cx="731448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7" strike="noStrike">
                <a:solidFill>
                  <a:srgbClr val="e8804f"/>
                </a:solidFill>
                <a:latin typeface="Arial"/>
                <a:ea typeface="Arial"/>
              </a:rPr>
              <a:t>OOP &amp; GENERICS</a:t>
            </a:r>
            <a:endParaRPr b="0" lang="en-US" sz="1300" spc="-1" strike="noStrike">
              <a:solidFill>
                <a:srgbClr val="ffffff"/>
              </a:solidFill>
              <a:latin typeface="Arial"/>
            </a:endParaRPr>
          </a:p>
        </p:txBody>
      </p:sp>
      <p:sp>
        <p:nvSpPr>
          <p:cNvPr id="2481" name="Text 223"/>
          <p:cNvSpPr/>
          <p:nvPr/>
        </p:nvSpPr>
        <p:spPr>
          <a:xfrm>
            <a:off x="548640" y="713160"/>
            <a:ext cx="1106352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edeff4"/>
                </a:solidFill>
                <a:latin typeface="Arial"/>
                <a:ea typeface="Arial"/>
              </a:rPr>
              <a:t>Implicit copy constructors with side effects</a:t>
            </a:r>
            <a:endParaRPr b="0" lang="en-US" sz="3000" spc="-1" strike="noStrike">
              <a:solidFill>
                <a:srgbClr val="ffffff"/>
              </a:solidFill>
              <a:latin typeface="Arial"/>
            </a:endParaRPr>
          </a:p>
        </p:txBody>
      </p:sp>
      <p:sp>
        <p:nvSpPr>
          <p:cNvPr id="2482" name="Shape 108"/>
          <p:cNvSpPr/>
          <p:nvPr/>
        </p:nvSpPr>
        <p:spPr>
          <a:xfrm>
            <a:off x="548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83" name="Shape 109"/>
          <p:cNvSpPr/>
          <p:nvPr/>
        </p:nvSpPr>
        <p:spPr>
          <a:xfrm>
            <a:off x="777240" y="1892880"/>
            <a:ext cx="383400" cy="383400"/>
          </a:xfrm>
          <a:prstGeom prst="roundRect">
            <a:avLst>
              <a:gd name="adj" fmla="val 119048"/>
            </a:avLst>
          </a:prstGeom>
          <a:solidFill>
            <a:srgbClr val="3a2020"/>
          </a:solidFill>
          <a:ln w="12700">
            <a:solidFill>
              <a:srgbClr val="e1575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84" name="Text 224"/>
          <p:cNvSpPr/>
          <p:nvPr/>
        </p:nvSpPr>
        <p:spPr>
          <a:xfrm>
            <a:off x="777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e15757"/>
                </a:solidFill>
                <a:latin typeface="Arial"/>
                <a:ea typeface="Arial"/>
              </a:rPr>
              <a:t>✗</a:t>
            </a:r>
            <a:endParaRPr b="0" lang="en-US" sz="1600" spc="-1" strike="noStrike">
              <a:solidFill>
                <a:srgbClr val="ffffff"/>
              </a:solidFill>
              <a:latin typeface="Arial"/>
            </a:endParaRPr>
          </a:p>
        </p:txBody>
      </p:sp>
      <p:sp>
        <p:nvSpPr>
          <p:cNvPr id="2485" name="Text 225"/>
          <p:cNvSpPr/>
          <p:nvPr/>
        </p:nvSpPr>
        <p:spPr>
          <a:xfrm>
            <a:off x="1280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3e8fe0"/>
                </a:solidFill>
                <a:latin typeface="Arial"/>
                <a:ea typeface="Arial"/>
              </a:rPr>
              <a:t>C++ TODAY</a:t>
            </a:r>
            <a:endParaRPr b="0" lang="en-US" sz="1300" spc="-1" strike="noStrike">
              <a:solidFill>
                <a:srgbClr val="ffffff"/>
              </a:solidFill>
              <a:latin typeface="Arial"/>
            </a:endParaRPr>
          </a:p>
        </p:txBody>
      </p:sp>
      <p:sp>
        <p:nvSpPr>
          <p:cNvPr id="2486" name="Text 226"/>
          <p:cNvSpPr/>
          <p:nvPr/>
        </p:nvSpPr>
        <p:spPr>
          <a:xfrm>
            <a:off x="822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Buffer a = makeBuffer();</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Buffer b = a;   // copy ctor runs</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 silently — deep copy,</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 ref-count bump, or bug</a:t>
            </a:r>
            <a:endParaRPr b="0" lang="en-US" sz="1250" spc="-1" strike="noStrike">
              <a:solidFill>
                <a:srgbClr val="ffffff"/>
              </a:solidFill>
              <a:latin typeface="Arial"/>
            </a:endParaRPr>
          </a:p>
        </p:txBody>
      </p:sp>
      <p:sp>
        <p:nvSpPr>
          <p:cNvPr id="2487" name="Text 227"/>
          <p:cNvSpPr/>
          <p:nvPr/>
        </p:nvSpPr>
        <p:spPr>
          <a:xfrm>
            <a:off x="822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Any type is copyable by default unless you delete the copy constructor, and that copy can run arbitrary logic every time you pass by value.</a:t>
            </a:r>
            <a:endParaRPr b="0" lang="en-US" sz="1150" spc="-1" strike="noStrike">
              <a:solidFill>
                <a:srgbClr val="ffffff"/>
              </a:solidFill>
              <a:latin typeface="Arial"/>
            </a:endParaRPr>
          </a:p>
        </p:txBody>
      </p:sp>
      <p:sp>
        <p:nvSpPr>
          <p:cNvPr id="2488" name="Shape 110"/>
          <p:cNvSpPr/>
          <p:nvPr/>
        </p:nvSpPr>
        <p:spPr>
          <a:xfrm>
            <a:off x="6263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89" name="Shape 111"/>
          <p:cNvSpPr/>
          <p:nvPr/>
        </p:nvSpPr>
        <p:spPr>
          <a:xfrm>
            <a:off x="6492240" y="1892880"/>
            <a:ext cx="383400" cy="383400"/>
          </a:xfrm>
          <a:prstGeom prst="roundRect">
            <a:avLst>
              <a:gd name="adj" fmla="val 119048"/>
            </a:avLst>
          </a:prstGeom>
          <a:solidFill>
            <a:srgbClr val="1f3324"/>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90" name="Text 228"/>
          <p:cNvSpPr/>
          <p:nvPr/>
        </p:nvSpPr>
        <p:spPr>
          <a:xfrm>
            <a:off x="6492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58c27d"/>
                </a:solidFill>
                <a:latin typeface="Arial"/>
                <a:ea typeface="Arial"/>
              </a:rPr>
              <a:t>✓</a:t>
            </a:r>
            <a:endParaRPr b="0" lang="en-US" sz="1600" spc="-1" strike="noStrike">
              <a:solidFill>
                <a:srgbClr val="ffffff"/>
              </a:solidFill>
              <a:latin typeface="Arial"/>
            </a:endParaRPr>
          </a:p>
        </p:txBody>
      </p:sp>
      <p:sp>
        <p:nvSpPr>
          <p:cNvPr id="2491" name="Text 229"/>
          <p:cNvSpPr/>
          <p:nvPr/>
        </p:nvSpPr>
        <p:spPr>
          <a:xfrm>
            <a:off x="6995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e8804f"/>
                </a:solidFill>
                <a:latin typeface="Arial"/>
                <a:ea typeface="Arial"/>
              </a:rPr>
              <a:t>RUST INSTEAD</a:t>
            </a:r>
            <a:endParaRPr b="0" lang="en-US" sz="1300" spc="-1" strike="noStrike">
              <a:solidFill>
                <a:srgbClr val="ffffff"/>
              </a:solidFill>
              <a:latin typeface="Arial"/>
            </a:endParaRPr>
          </a:p>
        </p:txBody>
      </p:sp>
      <p:sp>
        <p:nvSpPr>
          <p:cNvPr id="2492" name="Text 230"/>
          <p:cNvSpPr/>
          <p:nvPr/>
        </p:nvSpPr>
        <p:spPr>
          <a:xfrm>
            <a:off x="6537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let a = make_buffer();</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let b = a;      // move by default;</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 'a' is no longer usable</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Copy only if you #[derive(Copy)]</a:t>
            </a:r>
            <a:endParaRPr b="0" lang="en-US" sz="1250" spc="-1" strike="noStrike">
              <a:solidFill>
                <a:srgbClr val="ffffff"/>
              </a:solidFill>
              <a:latin typeface="Arial"/>
            </a:endParaRPr>
          </a:p>
        </p:txBody>
      </p:sp>
      <p:sp>
        <p:nvSpPr>
          <p:cNvPr id="2493" name="Text 231"/>
          <p:cNvSpPr/>
          <p:nvPr/>
        </p:nvSpPr>
        <p:spPr>
          <a:xfrm>
            <a:off x="6537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Assignment moves by default. A type is silently, bitwise-copyable only if you opt in with `#[derive(Copy)]`, which is restricted to simple data.</a:t>
            </a:r>
            <a:endParaRPr b="0" lang="en-US" sz="1150" spc="-1" strike="noStrike">
              <a:solidFill>
                <a:srgbClr val="ffffff"/>
              </a:solidFill>
              <a:latin typeface="Arial"/>
            </a:endParaRPr>
          </a:p>
        </p:txBody>
      </p:sp>
      <p:sp>
        <p:nvSpPr>
          <p:cNvPr id="2494" name="Shape 112"/>
          <p:cNvSpPr/>
          <p:nvPr/>
        </p:nvSpPr>
        <p:spPr>
          <a:xfrm>
            <a:off x="548640" y="5102280"/>
            <a:ext cx="11063520" cy="56628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95" name="Text 232"/>
          <p:cNvSpPr/>
          <p:nvPr/>
        </p:nvSpPr>
        <p:spPr>
          <a:xfrm>
            <a:off x="777240" y="5102280"/>
            <a:ext cx="10606320" cy="566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e8804f"/>
                </a:solidFill>
                <a:latin typeface="Arial"/>
                <a:ea typeface="Arial"/>
              </a:rPr>
              <a:t>Why:  </a:t>
            </a:r>
            <a:r>
              <a:rPr b="0" lang="en-US" sz="1200" spc="-1" strike="noStrike">
                <a:solidFill>
                  <a:srgbClr val="edeff4"/>
                </a:solidFill>
                <a:latin typeface="Arial"/>
                <a:ea typeface="Arial"/>
              </a:rPr>
              <a:t>Move-by-default avoids accidental deep copies and use-after-move bugs; copying with custom logic must go through an explicit `.clone()` call.</a:t>
            </a:r>
            <a:endParaRPr b="0" lang="en-US" sz="1200" spc="-1" strike="noStrike">
              <a:solidFill>
                <a:srgbClr val="ffffff"/>
              </a:solidFill>
              <a:latin typeface="Arial"/>
            </a:endParaRPr>
          </a:p>
        </p:txBody>
      </p:sp>
      <p:sp>
        <p:nvSpPr>
          <p:cNvPr id="2496" name="Text 233"/>
          <p:cNvSpPr/>
          <p:nvPr/>
        </p:nvSpPr>
        <p:spPr>
          <a:xfrm>
            <a:off x="457200" y="653796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C++ Developers</a:t>
            </a:r>
            <a:endParaRPr b="0" lang="en-US" sz="1000" spc="-1" strike="noStrike">
              <a:solidFill>
                <a:srgbClr val="ffffff"/>
              </a:solidFill>
              <a:latin typeface="Arial"/>
            </a:endParaRPr>
          </a:p>
        </p:txBody>
      </p:sp>
      <p:sp>
        <p:nvSpPr>
          <p:cNvPr id="2497" name="Text 234"/>
          <p:cNvSpPr/>
          <p:nvPr/>
        </p:nvSpPr>
        <p:spPr>
          <a:xfrm>
            <a:off x="11521440" y="6537960"/>
            <a:ext cx="365040" cy="273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498" name="Text 235"/>
          <p:cNvSpPr/>
          <p:nvPr/>
        </p:nvSpPr>
        <p:spPr>
          <a:xfrm>
            <a:off x="548640" y="384120"/>
            <a:ext cx="731448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7" strike="noStrike">
                <a:solidFill>
                  <a:srgbClr val="e8804f"/>
                </a:solidFill>
                <a:latin typeface="Arial"/>
                <a:ea typeface="Arial"/>
              </a:rPr>
              <a:t>OOP &amp; GENERICS</a:t>
            </a:r>
            <a:endParaRPr b="0" lang="en-US" sz="1300" spc="-1" strike="noStrike">
              <a:solidFill>
                <a:srgbClr val="ffffff"/>
              </a:solidFill>
              <a:latin typeface="Arial"/>
            </a:endParaRPr>
          </a:p>
        </p:txBody>
      </p:sp>
      <p:sp>
        <p:nvSpPr>
          <p:cNvPr id="2499" name="Text 236"/>
          <p:cNvSpPr/>
          <p:nvPr/>
        </p:nvSpPr>
        <p:spPr>
          <a:xfrm>
            <a:off x="548640" y="713160"/>
            <a:ext cx="1106352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edeff4"/>
                </a:solidFill>
                <a:latin typeface="Arial"/>
                <a:ea typeface="Arial"/>
              </a:rPr>
              <a:t>Partial template specialization</a:t>
            </a:r>
            <a:endParaRPr b="0" lang="en-US" sz="3000" spc="-1" strike="noStrike">
              <a:solidFill>
                <a:srgbClr val="ffffff"/>
              </a:solidFill>
              <a:latin typeface="Arial"/>
            </a:endParaRPr>
          </a:p>
        </p:txBody>
      </p:sp>
      <p:sp>
        <p:nvSpPr>
          <p:cNvPr id="2500" name="Shape 113"/>
          <p:cNvSpPr/>
          <p:nvPr/>
        </p:nvSpPr>
        <p:spPr>
          <a:xfrm>
            <a:off x="548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01" name="Shape 114"/>
          <p:cNvSpPr/>
          <p:nvPr/>
        </p:nvSpPr>
        <p:spPr>
          <a:xfrm>
            <a:off x="777240" y="1892880"/>
            <a:ext cx="383400" cy="383400"/>
          </a:xfrm>
          <a:prstGeom prst="roundRect">
            <a:avLst>
              <a:gd name="adj" fmla="val 119048"/>
            </a:avLst>
          </a:prstGeom>
          <a:solidFill>
            <a:srgbClr val="3a2020"/>
          </a:solidFill>
          <a:ln w="12700">
            <a:solidFill>
              <a:srgbClr val="e1575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02" name="Text 237"/>
          <p:cNvSpPr/>
          <p:nvPr/>
        </p:nvSpPr>
        <p:spPr>
          <a:xfrm>
            <a:off x="777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e15757"/>
                </a:solidFill>
                <a:latin typeface="Arial"/>
                <a:ea typeface="Arial"/>
              </a:rPr>
              <a:t>✗</a:t>
            </a:r>
            <a:endParaRPr b="0" lang="en-US" sz="1600" spc="-1" strike="noStrike">
              <a:solidFill>
                <a:srgbClr val="ffffff"/>
              </a:solidFill>
              <a:latin typeface="Arial"/>
            </a:endParaRPr>
          </a:p>
        </p:txBody>
      </p:sp>
      <p:sp>
        <p:nvSpPr>
          <p:cNvPr id="2503" name="Text 238"/>
          <p:cNvSpPr/>
          <p:nvPr/>
        </p:nvSpPr>
        <p:spPr>
          <a:xfrm>
            <a:off x="1280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3e8fe0"/>
                </a:solidFill>
                <a:latin typeface="Arial"/>
                <a:ea typeface="Arial"/>
              </a:rPr>
              <a:t>C++ TODAY</a:t>
            </a:r>
            <a:endParaRPr b="0" lang="en-US" sz="1300" spc="-1" strike="noStrike">
              <a:solidFill>
                <a:srgbClr val="ffffff"/>
              </a:solidFill>
              <a:latin typeface="Arial"/>
            </a:endParaRPr>
          </a:p>
        </p:txBody>
      </p:sp>
      <p:sp>
        <p:nvSpPr>
          <p:cNvPr id="2504" name="Text 239"/>
          <p:cNvSpPr/>
          <p:nvPr/>
        </p:nvSpPr>
        <p:spPr>
          <a:xfrm>
            <a:off x="822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template&lt;typename T, typename U&gt;</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struct Pair { ...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template&lt;typename T&gt;</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struct Pair&lt;T, int&gt; { ... }; // partial</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 specialization</a:t>
            </a:r>
            <a:endParaRPr b="0" lang="en-US" sz="1250" spc="-1" strike="noStrike">
              <a:solidFill>
                <a:srgbClr val="ffffff"/>
              </a:solidFill>
              <a:latin typeface="Arial"/>
            </a:endParaRPr>
          </a:p>
        </p:txBody>
      </p:sp>
      <p:sp>
        <p:nvSpPr>
          <p:cNvPr id="2505" name="Text 240"/>
          <p:cNvSpPr/>
          <p:nvPr/>
        </p:nvSpPr>
        <p:spPr>
          <a:xfrm>
            <a:off x="822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Templates can be partially specialized for specific patterns of type arguments, letting you customize behavior for a subset of instantiations.</a:t>
            </a:r>
            <a:endParaRPr b="0" lang="en-US" sz="1150" spc="-1" strike="noStrike">
              <a:solidFill>
                <a:srgbClr val="ffffff"/>
              </a:solidFill>
              <a:latin typeface="Arial"/>
            </a:endParaRPr>
          </a:p>
        </p:txBody>
      </p:sp>
      <p:sp>
        <p:nvSpPr>
          <p:cNvPr id="2506" name="Shape 115"/>
          <p:cNvSpPr/>
          <p:nvPr/>
        </p:nvSpPr>
        <p:spPr>
          <a:xfrm>
            <a:off x="6263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07" name="Shape 116"/>
          <p:cNvSpPr/>
          <p:nvPr/>
        </p:nvSpPr>
        <p:spPr>
          <a:xfrm>
            <a:off x="6492240" y="1892880"/>
            <a:ext cx="383400" cy="383400"/>
          </a:xfrm>
          <a:prstGeom prst="roundRect">
            <a:avLst>
              <a:gd name="adj" fmla="val 119048"/>
            </a:avLst>
          </a:prstGeom>
          <a:solidFill>
            <a:srgbClr val="1f3324"/>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08" name="Text 241"/>
          <p:cNvSpPr/>
          <p:nvPr/>
        </p:nvSpPr>
        <p:spPr>
          <a:xfrm>
            <a:off x="6492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58c27d"/>
                </a:solidFill>
                <a:latin typeface="Arial"/>
                <a:ea typeface="Arial"/>
              </a:rPr>
              <a:t>✓</a:t>
            </a:r>
            <a:endParaRPr b="0" lang="en-US" sz="1600" spc="-1" strike="noStrike">
              <a:solidFill>
                <a:srgbClr val="ffffff"/>
              </a:solidFill>
              <a:latin typeface="Arial"/>
            </a:endParaRPr>
          </a:p>
        </p:txBody>
      </p:sp>
      <p:sp>
        <p:nvSpPr>
          <p:cNvPr id="2509" name="Text 242"/>
          <p:cNvSpPr/>
          <p:nvPr/>
        </p:nvSpPr>
        <p:spPr>
          <a:xfrm>
            <a:off x="6995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e8804f"/>
                </a:solidFill>
                <a:latin typeface="Arial"/>
                <a:ea typeface="Arial"/>
              </a:rPr>
              <a:t>RUST INSTEAD</a:t>
            </a:r>
            <a:endParaRPr b="0" lang="en-US" sz="1300" spc="-1" strike="noStrike">
              <a:solidFill>
                <a:srgbClr val="ffffff"/>
              </a:solidFill>
              <a:latin typeface="Arial"/>
            </a:endParaRPr>
          </a:p>
        </p:txBody>
      </p:sp>
      <p:sp>
        <p:nvSpPr>
          <p:cNvPr id="2510" name="Text 243"/>
          <p:cNvSpPr/>
          <p:nvPr/>
        </p:nvSpPr>
        <p:spPr>
          <a:xfrm>
            <a:off x="6537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impl&lt;T&gt; Pair&lt;T, i32&gt;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 error: conflicting</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 implementations, no partial</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 specialization (stable)</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a:t>
            </a:r>
            <a:endParaRPr b="0" lang="en-US" sz="1250" spc="-1" strike="noStrike">
              <a:solidFill>
                <a:srgbClr val="ffffff"/>
              </a:solidFill>
              <a:latin typeface="Arial"/>
            </a:endParaRPr>
          </a:p>
        </p:txBody>
      </p:sp>
      <p:sp>
        <p:nvSpPr>
          <p:cNvPr id="2511" name="Text 244"/>
          <p:cNvSpPr/>
          <p:nvPr/>
        </p:nvSpPr>
        <p:spPr>
          <a:xfrm>
            <a:off x="6537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Generics use trait bounds instead of specialization. You express 'behaves differently for i32' through a trait implemented for i32, not a partial match.</a:t>
            </a:r>
            <a:endParaRPr b="0" lang="en-US" sz="1150" spc="-1" strike="noStrike">
              <a:solidFill>
                <a:srgbClr val="ffffff"/>
              </a:solidFill>
              <a:latin typeface="Arial"/>
            </a:endParaRPr>
          </a:p>
        </p:txBody>
      </p:sp>
      <p:sp>
        <p:nvSpPr>
          <p:cNvPr id="2512" name="Shape 117"/>
          <p:cNvSpPr/>
          <p:nvPr/>
        </p:nvSpPr>
        <p:spPr>
          <a:xfrm>
            <a:off x="548640" y="5102280"/>
            <a:ext cx="11063520" cy="56628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13" name="Text 245"/>
          <p:cNvSpPr/>
          <p:nvPr/>
        </p:nvSpPr>
        <p:spPr>
          <a:xfrm>
            <a:off x="777240" y="5102280"/>
            <a:ext cx="10606320" cy="566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e8804f"/>
                </a:solidFill>
                <a:latin typeface="Arial"/>
                <a:ea typeface="Arial"/>
              </a:rPr>
              <a:t>Why:  </a:t>
            </a:r>
            <a:r>
              <a:rPr b="0" lang="en-US" sz="1200" spc="-1" strike="noStrike">
                <a:solidFill>
                  <a:srgbClr val="edeff4"/>
                </a:solidFill>
                <a:latin typeface="Arial"/>
                <a:ea typeface="Arial"/>
              </a:rPr>
              <a:t>Specialization can make overload resolution order-dependent and hard to reason about; trait-bound generics keep instance selection unambiguous.</a:t>
            </a:r>
            <a:endParaRPr b="0" lang="en-US" sz="1200" spc="-1" strike="noStrike">
              <a:solidFill>
                <a:srgbClr val="ffffff"/>
              </a:solidFill>
              <a:latin typeface="Arial"/>
            </a:endParaRPr>
          </a:p>
        </p:txBody>
      </p:sp>
      <p:sp>
        <p:nvSpPr>
          <p:cNvPr id="2514" name="Text 246"/>
          <p:cNvSpPr/>
          <p:nvPr/>
        </p:nvSpPr>
        <p:spPr>
          <a:xfrm>
            <a:off x="457200" y="653796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C++ Developers</a:t>
            </a:r>
            <a:endParaRPr b="0" lang="en-US" sz="1000" spc="-1" strike="noStrike">
              <a:solidFill>
                <a:srgbClr val="ffffff"/>
              </a:solidFill>
              <a:latin typeface="Arial"/>
            </a:endParaRPr>
          </a:p>
        </p:txBody>
      </p:sp>
      <p:sp>
        <p:nvSpPr>
          <p:cNvPr id="2515" name="Text 247"/>
          <p:cNvSpPr/>
          <p:nvPr/>
        </p:nvSpPr>
        <p:spPr>
          <a:xfrm>
            <a:off x="11521440" y="6537960"/>
            <a:ext cx="365040" cy="273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16</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516" name="Text 248"/>
          <p:cNvSpPr/>
          <p:nvPr/>
        </p:nvSpPr>
        <p:spPr>
          <a:xfrm>
            <a:off x="548640" y="384120"/>
            <a:ext cx="731448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7" strike="noStrike">
                <a:solidFill>
                  <a:srgbClr val="e8804f"/>
                </a:solidFill>
                <a:latin typeface="Arial"/>
                <a:ea typeface="Arial"/>
              </a:rPr>
              <a:t>OOP &amp; GENERICS</a:t>
            </a:r>
            <a:endParaRPr b="0" lang="en-US" sz="1300" spc="-1" strike="noStrike">
              <a:solidFill>
                <a:srgbClr val="ffffff"/>
              </a:solidFill>
              <a:latin typeface="Arial"/>
            </a:endParaRPr>
          </a:p>
        </p:txBody>
      </p:sp>
      <p:sp>
        <p:nvSpPr>
          <p:cNvPr id="2517" name="Text 249"/>
          <p:cNvSpPr/>
          <p:nvPr/>
        </p:nvSpPr>
        <p:spPr>
          <a:xfrm>
            <a:off x="548640" y="713160"/>
            <a:ext cx="1106352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edeff4"/>
                </a:solidFill>
                <a:latin typeface="Arial"/>
                <a:ea typeface="Arial"/>
              </a:rPr>
              <a:t>Operator overloading on any type, any way</a:t>
            </a:r>
            <a:endParaRPr b="0" lang="en-US" sz="3000" spc="-1" strike="noStrike">
              <a:solidFill>
                <a:srgbClr val="ffffff"/>
              </a:solidFill>
              <a:latin typeface="Arial"/>
            </a:endParaRPr>
          </a:p>
        </p:txBody>
      </p:sp>
      <p:sp>
        <p:nvSpPr>
          <p:cNvPr id="2518" name="Shape 118"/>
          <p:cNvSpPr/>
          <p:nvPr/>
        </p:nvSpPr>
        <p:spPr>
          <a:xfrm>
            <a:off x="548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19" name="Shape 119"/>
          <p:cNvSpPr/>
          <p:nvPr/>
        </p:nvSpPr>
        <p:spPr>
          <a:xfrm>
            <a:off x="777240" y="1892880"/>
            <a:ext cx="383400" cy="383400"/>
          </a:xfrm>
          <a:prstGeom prst="roundRect">
            <a:avLst>
              <a:gd name="adj" fmla="val 119048"/>
            </a:avLst>
          </a:prstGeom>
          <a:solidFill>
            <a:srgbClr val="3a2020"/>
          </a:solidFill>
          <a:ln w="12700">
            <a:solidFill>
              <a:srgbClr val="e1575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20" name="Text 250"/>
          <p:cNvSpPr/>
          <p:nvPr/>
        </p:nvSpPr>
        <p:spPr>
          <a:xfrm>
            <a:off x="777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e15757"/>
                </a:solidFill>
                <a:latin typeface="Arial"/>
                <a:ea typeface="Arial"/>
              </a:rPr>
              <a:t>✗</a:t>
            </a:r>
            <a:endParaRPr b="0" lang="en-US" sz="1600" spc="-1" strike="noStrike">
              <a:solidFill>
                <a:srgbClr val="ffffff"/>
              </a:solidFill>
              <a:latin typeface="Arial"/>
            </a:endParaRPr>
          </a:p>
        </p:txBody>
      </p:sp>
      <p:sp>
        <p:nvSpPr>
          <p:cNvPr id="2521" name="Text 251"/>
          <p:cNvSpPr/>
          <p:nvPr/>
        </p:nvSpPr>
        <p:spPr>
          <a:xfrm>
            <a:off x="1280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3e8fe0"/>
                </a:solidFill>
                <a:latin typeface="Arial"/>
                <a:ea typeface="Arial"/>
              </a:rPr>
              <a:t>C++ TODAY</a:t>
            </a:r>
            <a:endParaRPr b="0" lang="en-US" sz="1300" spc="-1" strike="noStrike">
              <a:solidFill>
                <a:srgbClr val="ffffff"/>
              </a:solidFill>
              <a:latin typeface="Arial"/>
            </a:endParaRPr>
          </a:p>
        </p:txBody>
      </p:sp>
      <p:sp>
        <p:nvSpPr>
          <p:cNvPr id="2522" name="Text 252"/>
          <p:cNvSpPr/>
          <p:nvPr/>
        </p:nvSpPr>
        <p:spPr>
          <a:xfrm>
            <a:off x="822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Matrix operator+(const Matrix&amp;,</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const Vector&amp;);</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any semantics you like, for any</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pair of types",</a:t>
            </a:r>
            <a:endParaRPr b="0" lang="en-US" sz="1250" spc="-1" strike="noStrike">
              <a:solidFill>
                <a:srgbClr val="ffffff"/>
              </a:solidFill>
              <a:latin typeface="Arial"/>
            </a:endParaRPr>
          </a:p>
          <a:p>
            <a:pPr defTabSz="914400">
              <a:lnSpc>
                <a:spcPct val="125000"/>
              </a:lnSpc>
              <a:tabLst>
                <a:tab algn="l" pos="0"/>
              </a:tabLst>
            </a:pP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void operator+(int, int); // even this</a:t>
            </a:r>
            <a:endParaRPr b="0" lang="en-US" sz="1250" spc="-1" strike="noStrike">
              <a:solidFill>
                <a:srgbClr val="ffffff"/>
              </a:solidFill>
              <a:latin typeface="Arial"/>
            </a:endParaRPr>
          </a:p>
        </p:txBody>
      </p:sp>
      <p:sp>
        <p:nvSpPr>
          <p:cNvPr id="2523" name="Text 253"/>
          <p:cNvSpPr/>
          <p:nvPr/>
        </p:nvSpPr>
        <p:spPr>
          <a:xfrm>
            <a:off x="822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You can overload operators for arbitrary type combinations with arbitrary semantics — including surprising ones, like `+` that doesn't return a sum.</a:t>
            </a:r>
            <a:endParaRPr b="0" lang="en-US" sz="1150" spc="-1" strike="noStrike">
              <a:solidFill>
                <a:srgbClr val="ffffff"/>
              </a:solidFill>
              <a:latin typeface="Arial"/>
            </a:endParaRPr>
          </a:p>
        </p:txBody>
      </p:sp>
      <p:sp>
        <p:nvSpPr>
          <p:cNvPr id="2524" name="Shape 120"/>
          <p:cNvSpPr/>
          <p:nvPr/>
        </p:nvSpPr>
        <p:spPr>
          <a:xfrm>
            <a:off x="6263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25" name="Shape 121"/>
          <p:cNvSpPr/>
          <p:nvPr/>
        </p:nvSpPr>
        <p:spPr>
          <a:xfrm>
            <a:off x="6492240" y="1892880"/>
            <a:ext cx="383400" cy="383400"/>
          </a:xfrm>
          <a:prstGeom prst="roundRect">
            <a:avLst>
              <a:gd name="adj" fmla="val 119048"/>
            </a:avLst>
          </a:prstGeom>
          <a:solidFill>
            <a:srgbClr val="1f3324"/>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26" name="Text 254"/>
          <p:cNvSpPr/>
          <p:nvPr/>
        </p:nvSpPr>
        <p:spPr>
          <a:xfrm>
            <a:off x="6492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58c27d"/>
                </a:solidFill>
                <a:latin typeface="Arial"/>
                <a:ea typeface="Arial"/>
              </a:rPr>
              <a:t>✓</a:t>
            </a:r>
            <a:endParaRPr b="0" lang="en-US" sz="1600" spc="-1" strike="noStrike">
              <a:solidFill>
                <a:srgbClr val="ffffff"/>
              </a:solidFill>
              <a:latin typeface="Arial"/>
            </a:endParaRPr>
          </a:p>
        </p:txBody>
      </p:sp>
      <p:sp>
        <p:nvSpPr>
          <p:cNvPr id="2527" name="Text 255"/>
          <p:cNvSpPr/>
          <p:nvPr/>
        </p:nvSpPr>
        <p:spPr>
          <a:xfrm>
            <a:off x="6995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e8804f"/>
                </a:solidFill>
                <a:latin typeface="Arial"/>
                <a:ea typeface="Arial"/>
              </a:rPr>
              <a:t>RUST INSTEAD</a:t>
            </a:r>
            <a:endParaRPr b="0" lang="en-US" sz="1300" spc="-1" strike="noStrike">
              <a:solidFill>
                <a:srgbClr val="ffffff"/>
              </a:solidFill>
              <a:latin typeface="Arial"/>
            </a:endParaRPr>
          </a:p>
        </p:txBody>
      </p:sp>
      <p:sp>
        <p:nvSpPr>
          <p:cNvPr id="2528" name="Text 256"/>
          <p:cNvSpPr/>
          <p:nvPr/>
        </p:nvSpPr>
        <p:spPr>
          <a:xfrm>
            <a:off x="6537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impl Add&lt;Vector&gt; for Matrix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type Output = Matrix;</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fn add(self, v: Vector) -&gt; Matrix</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 ...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a:t>
            </a:r>
            <a:endParaRPr b="0" lang="en-US" sz="1250" spc="-1" strike="noStrike">
              <a:solidFill>
                <a:srgbClr val="ffffff"/>
              </a:solidFill>
              <a:latin typeface="Arial"/>
            </a:endParaRPr>
          </a:p>
        </p:txBody>
      </p:sp>
      <p:sp>
        <p:nvSpPr>
          <p:cNvPr id="2529" name="Text 257"/>
          <p:cNvSpPr/>
          <p:nvPr/>
        </p:nvSpPr>
        <p:spPr>
          <a:xfrm>
            <a:off x="6537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Operators are just trait methods (`Add`, `Mul`, ...) with a fixed shape: one method, one output type, implemented per-type via the standard trait.</a:t>
            </a:r>
            <a:endParaRPr b="0" lang="en-US" sz="1150" spc="-1" strike="noStrike">
              <a:solidFill>
                <a:srgbClr val="ffffff"/>
              </a:solidFill>
              <a:latin typeface="Arial"/>
            </a:endParaRPr>
          </a:p>
        </p:txBody>
      </p:sp>
      <p:sp>
        <p:nvSpPr>
          <p:cNvPr id="2530" name="Shape 122"/>
          <p:cNvSpPr/>
          <p:nvPr/>
        </p:nvSpPr>
        <p:spPr>
          <a:xfrm>
            <a:off x="548640" y="5102280"/>
            <a:ext cx="11063520" cy="56628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31" name="Text 258"/>
          <p:cNvSpPr/>
          <p:nvPr/>
        </p:nvSpPr>
        <p:spPr>
          <a:xfrm>
            <a:off x="777240" y="5102280"/>
            <a:ext cx="10606320" cy="566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e8804f"/>
                </a:solidFill>
                <a:latin typeface="Arial"/>
                <a:ea typeface="Arial"/>
              </a:rPr>
              <a:t>Why:  </a:t>
            </a:r>
            <a:r>
              <a:rPr b="0" lang="en-US" sz="1200" spc="-1" strike="noStrike">
                <a:solidFill>
                  <a:srgbClr val="edeff4"/>
                </a:solidFill>
                <a:latin typeface="Arial"/>
                <a:ea typeface="Arial"/>
              </a:rPr>
              <a:t>Routing every operator through a standard trait keeps `+` predictable across the whole ecosystem, at the cost of some C++-style creative freedom.</a:t>
            </a:r>
            <a:endParaRPr b="0" lang="en-US" sz="1200" spc="-1" strike="noStrike">
              <a:solidFill>
                <a:srgbClr val="ffffff"/>
              </a:solidFill>
              <a:latin typeface="Arial"/>
            </a:endParaRPr>
          </a:p>
        </p:txBody>
      </p:sp>
      <p:sp>
        <p:nvSpPr>
          <p:cNvPr id="2532" name="Text 259"/>
          <p:cNvSpPr/>
          <p:nvPr/>
        </p:nvSpPr>
        <p:spPr>
          <a:xfrm>
            <a:off x="457200" y="653796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C++ Developers</a:t>
            </a:r>
            <a:endParaRPr b="0" lang="en-US" sz="1000" spc="-1" strike="noStrike">
              <a:solidFill>
                <a:srgbClr val="ffffff"/>
              </a:solidFill>
              <a:latin typeface="Arial"/>
            </a:endParaRPr>
          </a:p>
        </p:txBody>
      </p:sp>
      <p:sp>
        <p:nvSpPr>
          <p:cNvPr id="2533" name="Text 260"/>
          <p:cNvSpPr/>
          <p:nvPr/>
        </p:nvSpPr>
        <p:spPr>
          <a:xfrm>
            <a:off x="11521440" y="6537960"/>
            <a:ext cx="365040" cy="273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17</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534" name="Shape 123"/>
          <p:cNvSpPr/>
          <p:nvPr/>
        </p:nvSpPr>
        <p:spPr>
          <a:xfrm>
            <a:off x="548640" y="2651760"/>
            <a:ext cx="1370880" cy="1370880"/>
          </a:xfrm>
          <a:prstGeom prst="roundRect">
            <a:avLst>
              <a:gd name="adj" fmla="val 6667"/>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35" name="Text 261"/>
          <p:cNvSpPr/>
          <p:nvPr/>
        </p:nvSpPr>
        <p:spPr>
          <a:xfrm>
            <a:off x="548640" y="2651760"/>
            <a:ext cx="1370880" cy="13708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400" spc="-1" strike="noStrike">
                <a:solidFill>
                  <a:srgbClr val="e8804f"/>
                </a:solidFill>
                <a:latin typeface="Consolas"/>
                <a:ea typeface="Consolas"/>
              </a:rPr>
              <a:t>04</a:t>
            </a:r>
            <a:endParaRPr b="0" lang="en-US" sz="3400" spc="-1" strike="noStrike">
              <a:solidFill>
                <a:srgbClr val="ffffff"/>
              </a:solidFill>
              <a:latin typeface="Arial"/>
            </a:endParaRPr>
          </a:p>
        </p:txBody>
      </p:sp>
      <p:sp>
        <p:nvSpPr>
          <p:cNvPr id="2536" name="Text 262"/>
          <p:cNvSpPr/>
          <p:nvPr/>
        </p:nvSpPr>
        <p:spPr>
          <a:xfrm>
            <a:off x="2194560" y="2743200"/>
            <a:ext cx="91432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edeff4"/>
                </a:solidFill>
                <a:latin typeface="Arial"/>
                <a:ea typeface="Arial"/>
              </a:rPr>
              <a:t>Control Flow &amp; State</a:t>
            </a:r>
            <a:endParaRPr b="0" lang="en-US" sz="3000" spc="-1" strike="noStrike">
              <a:solidFill>
                <a:srgbClr val="ffffff"/>
              </a:solidFill>
              <a:latin typeface="Arial"/>
            </a:endParaRPr>
          </a:p>
        </p:txBody>
      </p:sp>
      <p:sp>
        <p:nvSpPr>
          <p:cNvPr id="2537" name="Text 263"/>
          <p:cNvSpPr/>
          <p:nvPr/>
        </p:nvSpPr>
        <p:spPr>
          <a:xfrm>
            <a:off x="2194560" y="3429000"/>
            <a:ext cx="8686080" cy="5479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400" spc="-1" strike="noStrike">
                <a:solidFill>
                  <a:srgbClr val="9aa4b8"/>
                </a:solidFill>
                <a:latin typeface="Arial"/>
                <a:ea typeface="Arial"/>
              </a:rPr>
              <a:t>Exceptions, goto, and global mutability</a:t>
            </a:r>
            <a:endParaRPr b="0" lang="en-US" sz="1400" spc="-1" strike="noStrike">
              <a:solidFill>
                <a:srgbClr val="ffffff"/>
              </a:solidFill>
              <a:latin typeface="Arial"/>
            </a:endParaRPr>
          </a:p>
        </p:txBody>
      </p:sp>
      <p:sp>
        <p:nvSpPr>
          <p:cNvPr id="2538" name="Text 264"/>
          <p:cNvSpPr/>
          <p:nvPr/>
        </p:nvSpPr>
        <p:spPr>
          <a:xfrm>
            <a:off x="457200" y="653796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C++ Developers</a:t>
            </a:r>
            <a:endParaRPr b="0" lang="en-US" sz="1000" spc="-1" strike="noStrike">
              <a:solidFill>
                <a:srgbClr val="ffffff"/>
              </a:solidFill>
              <a:latin typeface="Arial"/>
            </a:endParaRPr>
          </a:p>
        </p:txBody>
      </p:sp>
      <p:sp>
        <p:nvSpPr>
          <p:cNvPr id="2539" name="Text 265"/>
          <p:cNvSpPr/>
          <p:nvPr/>
        </p:nvSpPr>
        <p:spPr>
          <a:xfrm>
            <a:off x="11521440" y="6537960"/>
            <a:ext cx="365040" cy="273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18</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540" name="Text 266"/>
          <p:cNvSpPr/>
          <p:nvPr/>
        </p:nvSpPr>
        <p:spPr>
          <a:xfrm>
            <a:off x="548640" y="384120"/>
            <a:ext cx="731448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7" strike="noStrike">
                <a:solidFill>
                  <a:srgbClr val="e8804f"/>
                </a:solidFill>
                <a:latin typeface="Arial"/>
                <a:ea typeface="Arial"/>
              </a:rPr>
              <a:t>CONTROL FLOW &amp; STATE</a:t>
            </a:r>
            <a:endParaRPr b="0" lang="en-US" sz="1300" spc="-1" strike="noStrike">
              <a:solidFill>
                <a:srgbClr val="ffffff"/>
              </a:solidFill>
              <a:latin typeface="Arial"/>
            </a:endParaRPr>
          </a:p>
        </p:txBody>
      </p:sp>
      <p:sp>
        <p:nvSpPr>
          <p:cNvPr id="2541" name="Text 267"/>
          <p:cNvSpPr/>
          <p:nvPr/>
        </p:nvSpPr>
        <p:spPr>
          <a:xfrm>
            <a:off x="548640" y="713160"/>
            <a:ext cx="1106352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edeff4"/>
                </a:solidFill>
                <a:latin typeface="Arial"/>
                <a:ea typeface="Arial"/>
              </a:rPr>
              <a:t>Exceptions and stack unwinding by default</a:t>
            </a:r>
            <a:endParaRPr b="0" lang="en-US" sz="3000" spc="-1" strike="noStrike">
              <a:solidFill>
                <a:srgbClr val="ffffff"/>
              </a:solidFill>
              <a:latin typeface="Arial"/>
            </a:endParaRPr>
          </a:p>
        </p:txBody>
      </p:sp>
      <p:sp>
        <p:nvSpPr>
          <p:cNvPr id="2542" name="Shape 124"/>
          <p:cNvSpPr/>
          <p:nvPr/>
        </p:nvSpPr>
        <p:spPr>
          <a:xfrm>
            <a:off x="548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43" name="Shape 125"/>
          <p:cNvSpPr/>
          <p:nvPr/>
        </p:nvSpPr>
        <p:spPr>
          <a:xfrm>
            <a:off x="777240" y="1892880"/>
            <a:ext cx="383400" cy="383400"/>
          </a:xfrm>
          <a:prstGeom prst="roundRect">
            <a:avLst>
              <a:gd name="adj" fmla="val 119048"/>
            </a:avLst>
          </a:prstGeom>
          <a:solidFill>
            <a:srgbClr val="3a2020"/>
          </a:solidFill>
          <a:ln w="12700">
            <a:solidFill>
              <a:srgbClr val="e1575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44" name="Text 268"/>
          <p:cNvSpPr/>
          <p:nvPr/>
        </p:nvSpPr>
        <p:spPr>
          <a:xfrm>
            <a:off x="777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e15757"/>
                </a:solidFill>
                <a:latin typeface="Arial"/>
                <a:ea typeface="Arial"/>
              </a:rPr>
              <a:t>✗</a:t>
            </a:r>
            <a:endParaRPr b="0" lang="en-US" sz="1600" spc="-1" strike="noStrike">
              <a:solidFill>
                <a:srgbClr val="ffffff"/>
              </a:solidFill>
              <a:latin typeface="Arial"/>
            </a:endParaRPr>
          </a:p>
        </p:txBody>
      </p:sp>
      <p:sp>
        <p:nvSpPr>
          <p:cNvPr id="2545" name="Text 269"/>
          <p:cNvSpPr/>
          <p:nvPr/>
        </p:nvSpPr>
        <p:spPr>
          <a:xfrm>
            <a:off x="1280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3e8fe0"/>
                </a:solidFill>
                <a:latin typeface="Arial"/>
                <a:ea typeface="Arial"/>
              </a:rPr>
              <a:t>C++ TODAY</a:t>
            </a:r>
            <a:endParaRPr b="0" lang="en-US" sz="1300" spc="-1" strike="noStrike">
              <a:solidFill>
                <a:srgbClr val="ffffff"/>
              </a:solidFill>
              <a:latin typeface="Arial"/>
            </a:endParaRPr>
          </a:p>
        </p:txBody>
      </p:sp>
      <p:sp>
        <p:nvSpPr>
          <p:cNvPr id="2546" name="Text 270"/>
          <p:cNvSpPr/>
          <p:nvPr/>
        </p:nvSpPr>
        <p:spPr>
          <a:xfrm>
            <a:off x="822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try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risky();</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catch (const std::exception&amp; e)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handle(e);</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or: let it propagate silently</a:t>
            </a:r>
            <a:endParaRPr b="0" lang="en-US" sz="1250" spc="-1" strike="noStrike">
              <a:solidFill>
                <a:srgbClr val="ffffff"/>
              </a:solidFill>
              <a:latin typeface="Arial"/>
            </a:endParaRPr>
          </a:p>
        </p:txBody>
      </p:sp>
      <p:sp>
        <p:nvSpPr>
          <p:cNvPr id="2547" name="Text 271"/>
          <p:cNvSpPr/>
          <p:nvPr/>
        </p:nvSpPr>
        <p:spPr>
          <a:xfrm>
            <a:off x="822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Any function can throw at any point unless marked noexcept, and callers can simply forget to catch — the error surfaces far from its source.</a:t>
            </a:r>
            <a:endParaRPr b="0" lang="en-US" sz="1150" spc="-1" strike="noStrike">
              <a:solidFill>
                <a:srgbClr val="ffffff"/>
              </a:solidFill>
              <a:latin typeface="Arial"/>
            </a:endParaRPr>
          </a:p>
        </p:txBody>
      </p:sp>
      <p:sp>
        <p:nvSpPr>
          <p:cNvPr id="2548" name="Shape 126"/>
          <p:cNvSpPr/>
          <p:nvPr/>
        </p:nvSpPr>
        <p:spPr>
          <a:xfrm>
            <a:off x="6263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49" name="Shape 127"/>
          <p:cNvSpPr/>
          <p:nvPr/>
        </p:nvSpPr>
        <p:spPr>
          <a:xfrm>
            <a:off x="6492240" y="1892880"/>
            <a:ext cx="383400" cy="383400"/>
          </a:xfrm>
          <a:prstGeom prst="roundRect">
            <a:avLst>
              <a:gd name="adj" fmla="val 119048"/>
            </a:avLst>
          </a:prstGeom>
          <a:solidFill>
            <a:srgbClr val="1f3324"/>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50" name="Text 272"/>
          <p:cNvSpPr/>
          <p:nvPr/>
        </p:nvSpPr>
        <p:spPr>
          <a:xfrm>
            <a:off x="6492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58c27d"/>
                </a:solidFill>
                <a:latin typeface="Arial"/>
                <a:ea typeface="Arial"/>
              </a:rPr>
              <a:t>✓</a:t>
            </a:r>
            <a:endParaRPr b="0" lang="en-US" sz="1600" spc="-1" strike="noStrike">
              <a:solidFill>
                <a:srgbClr val="ffffff"/>
              </a:solidFill>
              <a:latin typeface="Arial"/>
            </a:endParaRPr>
          </a:p>
        </p:txBody>
      </p:sp>
      <p:sp>
        <p:nvSpPr>
          <p:cNvPr id="2551" name="Text 273"/>
          <p:cNvSpPr/>
          <p:nvPr/>
        </p:nvSpPr>
        <p:spPr>
          <a:xfrm>
            <a:off x="6995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e8804f"/>
                </a:solidFill>
                <a:latin typeface="Arial"/>
                <a:ea typeface="Arial"/>
              </a:rPr>
              <a:t>RUST INSTEAD</a:t>
            </a:r>
            <a:endParaRPr b="0" lang="en-US" sz="1300" spc="-1" strike="noStrike">
              <a:solidFill>
                <a:srgbClr val="ffffff"/>
              </a:solidFill>
              <a:latin typeface="Arial"/>
            </a:endParaRPr>
          </a:p>
        </p:txBody>
      </p:sp>
      <p:sp>
        <p:nvSpPr>
          <p:cNvPr id="2552" name="Text 274"/>
          <p:cNvSpPr/>
          <p:nvPr/>
        </p:nvSpPr>
        <p:spPr>
          <a:xfrm>
            <a:off x="6537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fn risky() -&gt; Result&lt;Data, Error&gt; { ... }</a:t>
            </a:r>
            <a:endParaRPr b="0" lang="en-US" sz="1250" spc="-1" strike="noStrike">
              <a:solidFill>
                <a:srgbClr val="ffffff"/>
              </a:solidFill>
              <a:latin typeface="Arial"/>
            </a:endParaRPr>
          </a:p>
          <a:p>
            <a:pPr defTabSz="914400">
              <a:lnSpc>
                <a:spcPct val="125000"/>
              </a:lnSpc>
              <a:tabLst>
                <a:tab algn="l" pos="0"/>
              </a:tabLst>
            </a:pP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match risky()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Ok(d) =&gt; use_it(d),</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Err(e) =&gt; handle(e),</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a:t>
            </a:r>
            <a:endParaRPr b="0" lang="en-US" sz="1250" spc="-1" strike="noStrike">
              <a:solidFill>
                <a:srgbClr val="ffffff"/>
              </a:solidFill>
              <a:latin typeface="Arial"/>
            </a:endParaRPr>
          </a:p>
        </p:txBody>
      </p:sp>
      <p:sp>
        <p:nvSpPr>
          <p:cNvPr id="2553" name="Text 275"/>
          <p:cNvSpPr/>
          <p:nvPr/>
        </p:nvSpPr>
        <p:spPr>
          <a:xfrm>
            <a:off x="6537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Recoverable errors are ordinary return values (`Result&lt;T, E&gt;`), visible in the function signature. `panic!` exists but is for unrecoverable bugs, not control flow.</a:t>
            </a:r>
            <a:endParaRPr b="0" lang="en-US" sz="1150" spc="-1" strike="noStrike">
              <a:solidFill>
                <a:srgbClr val="ffffff"/>
              </a:solidFill>
              <a:latin typeface="Arial"/>
            </a:endParaRPr>
          </a:p>
        </p:txBody>
      </p:sp>
      <p:sp>
        <p:nvSpPr>
          <p:cNvPr id="2554" name="Shape 128"/>
          <p:cNvSpPr/>
          <p:nvPr/>
        </p:nvSpPr>
        <p:spPr>
          <a:xfrm>
            <a:off x="548640" y="5102280"/>
            <a:ext cx="11063520" cy="56628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55" name="Text 276"/>
          <p:cNvSpPr/>
          <p:nvPr/>
        </p:nvSpPr>
        <p:spPr>
          <a:xfrm>
            <a:off x="777240" y="5102280"/>
            <a:ext cx="10606320" cy="566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e8804f"/>
                </a:solidFill>
                <a:latin typeface="Arial"/>
                <a:ea typeface="Arial"/>
              </a:rPr>
              <a:t>Why:  </a:t>
            </a:r>
            <a:r>
              <a:rPr b="0" lang="en-US" sz="1200" spc="-1" strike="noStrike">
                <a:solidFill>
                  <a:srgbClr val="edeff4"/>
                </a:solidFill>
                <a:latin typeface="Arial"/>
                <a:ea typeface="Arial"/>
              </a:rPr>
              <a:t>Putting errors in the type signature means the compiler forces you to acknowledge them — nothing propagates invisibly through the call stack.</a:t>
            </a:r>
            <a:endParaRPr b="0" lang="en-US" sz="1200" spc="-1" strike="noStrike">
              <a:solidFill>
                <a:srgbClr val="ffffff"/>
              </a:solidFill>
              <a:latin typeface="Arial"/>
            </a:endParaRPr>
          </a:p>
        </p:txBody>
      </p:sp>
      <p:sp>
        <p:nvSpPr>
          <p:cNvPr id="2556" name="Text 277"/>
          <p:cNvSpPr/>
          <p:nvPr/>
        </p:nvSpPr>
        <p:spPr>
          <a:xfrm>
            <a:off x="457200" y="653796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C++ Developers</a:t>
            </a:r>
            <a:endParaRPr b="0" lang="en-US" sz="1000" spc="-1" strike="noStrike">
              <a:solidFill>
                <a:srgbClr val="ffffff"/>
              </a:solidFill>
              <a:latin typeface="Arial"/>
            </a:endParaRPr>
          </a:p>
        </p:txBody>
      </p:sp>
      <p:sp>
        <p:nvSpPr>
          <p:cNvPr id="2557" name="Text 278"/>
          <p:cNvSpPr/>
          <p:nvPr/>
        </p:nvSpPr>
        <p:spPr>
          <a:xfrm>
            <a:off x="11521440" y="6537960"/>
            <a:ext cx="365040" cy="273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19</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558" name="Text 279"/>
          <p:cNvSpPr/>
          <p:nvPr/>
        </p:nvSpPr>
        <p:spPr>
          <a:xfrm>
            <a:off x="548640" y="384120"/>
            <a:ext cx="731448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7" strike="noStrike">
                <a:solidFill>
                  <a:srgbClr val="e8804f"/>
                </a:solidFill>
                <a:latin typeface="Arial"/>
                <a:ea typeface="Arial"/>
              </a:rPr>
              <a:t>CONTROL FLOW &amp; STATE</a:t>
            </a:r>
            <a:endParaRPr b="0" lang="en-US" sz="1300" spc="-1" strike="noStrike">
              <a:solidFill>
                <a:srgbClr val="ffffff"/>
              </a:solidFill>
              <a:latin typeface="Arial"/>
            </a:endParaRPr>
          </a:p>
        </p:txBody>
      </p:sp>
      <p:sp>
        <p:nvSpPr>
          <p:cNvPr id="2559" name="Text 280"/>
          <p:cNvSpPr/>
          <p:nvPr/>
        </p:nvSpPr>
        <p:spPr>
          <a:xfrm>
            <a:off x="548640" y="713160"/>
            <a:ext cx="1106352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edeff4"/>
                </a:solidFill>
                <a:latin typeface="Arial"/>
                <a:ea typeface="Arial"/>
              </a:rPr>
              <a:t>The goto statement</a:t>
            </a:r>
            <a:endParaRPr b="0" lang="en-US" sz="3000" spc="-1" strike="noStrike">
              <a:solidFill>
                <a:srgbClr val="ffffff"/>
              </a:solidFill>
              <a:latin typeface="Arial"/>
            </a:endParaRPr>
          </a:p>
        </p:txBody>
      </p:sp>
      <p:sp>
        <p:nvSpPr>
          <p:cNvPr id="2560" name="Shape 129"/>
          <p:cNvSpPr/>
          <p:nvPr/>
        </p:nvSpPr>
        <p:spPr>
          <a:xfrm>
            <a:off x="548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61" name="Shape 130"/>
          <p:cNvSpPr/>
          <p:nvPr/>
        </p:nvSpPr>
        <p:spPr>
          <a:xfrm>
            <a:off x="777240" y="1892880"/>
            <a:ext cx="383400" cy="383400"/>
          </a:xfrm>
          <a:prstGeom prst="roundRect">
            <a:avLst>
              <a:gd name="adj" fmla="val 119048"/>
            </a:avLst>
          </a:prstGeom>
          <a:solidFill>
            <a:srgbClr val="3a2020"/>
          </a:solidFill>
          <a:ln w="12700">
            <a:solidFill>
              <a:srgbClr val="e1575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62" name="Text 281"/>
          <p:cNvSpPr/>
          <p:nvPr/>
        </p:nvSpPr>
        <p:spPr>
          <a:xfrm>
            <a:off x="777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e15757"/>
                </a:solidFill>
                <a:latin typeface="Arial"/>
                <a:ea typeface="Arial"/>
              </a:rPr>
              <a:t>✗</a:t>
            </a:r>
            <a:endParaRPr b="0" lang="en-US" sz="1600" spc="-1" strike="noStrike">
              <a:solidFill>
                <a:srgbClr val="ffffff"/>
              </a:solidFill>
              <a:latin typeface="Arial"/>
            </a:endParaRPr>
          </a:p>
        </p:txBody>
      </p:sp>
      <p:sp>
        <p:nvSpPr>
          <p:cNvPr id="2563" name="Text 282"/>
          <p:cNvSpPr/>
          <p:nvPr/>
        </p:nvSpPr>
        <p:spPr>
          <a:xfrm>
            <a:off x="1280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3e8fe0"/>
                </a:solidFill>
                <a:latin typeface="Arial"/>
                <a:ea typeface="Arial"/>
              </a:rPr>
              <a:t>C++ TODAY</a:t>
            </a:r>
            <a:endParaRPr b="0" lang="en-US" sz="1300" spc="-1" strike="noStrike">
              <a:solidFill>
                <a:srgbClr val="ffffff"/>
              </a:solidFill>
              <a:latin typeface="Arial"/>
            </a:endParaRPr>
          </a:p>
        </p:txBody>
      </p:sp>
      <p:sp>
        <p:nvSpPr>
          <p:cNvPr id="2564" name="Text 283"/>
          <p:cNvSpPr/>
          <p:nvPr/>
        </p:nvSpPr>
        <p:spPr>
          <a:xfrm>
            <a:off x="822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for (...)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for (...)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if (done) goto end;</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end:</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cleanup();</a:t>
            </a:r>
            <a:endParaRPr b="0" lang="en-US" sz="1250" spc="-1" strike="noStrike">
              <a:solidFill>
                <a:srgbClr val="ffffff"/>
              </a:solidFill>
              <a:latin typeface="Arial"/>
            </a:endParaRPr>
          </a:p>
        </p:txBody>
      </p:sp>
      <p:sp>
        <p:nvSpPr>
          <p:cNvPr id="2565" name="Text 284"/>
          <p:cNvSpPr/>
          <p:nvPr/>
        </p:nvSpPr>
        <p:spPr>
          <a:xfrm>
            <a:off x="822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goto still exists and is occasionally the pragmatic tool for breaking out of nested loops or centralizing cleanup code.</a:t>
            </a:r>
            <a:endParaRPr b="0" lang="en-US" sz="1150" spc="-1" strike="noStrike">
              <a:solidFill>
                <a:srgbClr val="ffffff"/>
              </a:solidFill>
              <a:latin typeface="Arial"/>
            </a:endParaRPr>
          </a:p>
        </p:txBody>
      </p:sp>
      <p:sp>
        <p:nvSpPr>
          <p:cNvPr id="2566" name="Shape 131"/>
          <p:cNvSpPr/>
          <p:nvPr/>
        </p:nvSpPr>
        <p:spPr>
          <a:xfrm>
            <a:off x="6263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67" name="Shape 132"/>
          <p:cNvSpPr/>
          <p:nvPr/>
        </p:nvSpPr>
        <p:spPr>
          <a:xfrm>
            <a:off x="6492240" y="1892880"/>
            <a:ext cx="383400" cy="383400"/>
          </a:xfrm>
          <a:prstGeom prst="roundRect">
            <a:avLst>
              <a:gd name="adj" fmla="val 119048"/>
            </a:avLst>
          </a:prstGeom>
          <a:solidFill>
            <a:srgbClr val="1f3324"/>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68" name="Text 285"/>
          <p:cNvSpPr/>
          <p:nvPr/>
        </p:nvSpPr>
        <p:spPr>
          <a:xfrm>
            <a:off x="6492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58c27d"/>
                </a:solidFill>
                <a:latin typeface="Arial"/>
                <a:ea typeface="Arial"/>
              </a:rPr>
              <a:t>✓</a:t>
            </a:r>
            <a:endParaRPr b="0" lang="en-US" sz="1600" spc="-1" strike="noStrike">
              <a:solidFill>
                <a:srgbClr val="ffffff"/>
              </a:solidFill>
              <a:latin typeface="Arial"/>
            </a:endParaRPr>
          </a:p>
        </p:txBody>
      </p:sp>
      <p:sp>
        <p:nvSpPr>
          <p:cNvPr id="2569" name="Text 286"/>
          <p:cNvSpPr/>
          <p:nvPr/>
        </p:nvSpPr>
        <p:spPr>
          <a:xfrm>
            <a:off x="6995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e8804f"/>
                </a:solidFill>
                <a:latin typeface="Arial"/>
                <a:ea typeface="Arial"/>
              </a:rPr>
              <a:t>RUST INSTEAD</a:t>
            </a:r>
            <a:endParaRPr b="0" lang="en-US" sz="1300" spc="-1" strike="noStrike">
              <a:solidFill>
                <a:srgbClr val="ffffff"/>
              </a:solidFill>
              <a:latin typeface="Arial"/>
            </a:endParaRPr>
          </a:p>
        </p:txBody>
      </p:sp>
      <p:sp>
        <p:nvSpPr>
          <p:cNvPr id="2570" name="Text 287"/>
          <p:cNvSpPr/>
          <p:nvPr/>
        </p:nvSpPr>
        <p:spPr>
          <a:xfrm>
            <a:off x="6537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'outer: for ...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for ...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if done { break 'outer;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cleanup();</a:t>
            </a:r>
            <a:endParaRPr b="0" lang="en-US" sz="1250" spc="-1" strike="noStrike">
              <a:solidFill>
                <a:srgbClr val="ffffff"/>
              </a:solidFill>
              <a:latin typeface="Arial"/>
            </a:endParaRPr>
          </a:p>
        </p:txBody>
      </p:sp>
      <p:sp>
        <p:nvSpPr>
          <p:cNvPr id="2571" name="Text 288"/>
          <p:cNvSpPr/>
          <p:nvPr/>
        </p:nvSpPr>
        <p:spPr>
          <a:xfrm>
            <a:off x="6537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There's no goto. Labeled loops (`'outer:`) give you multi-level break/continue, and RAII-style Drop handles cleanup automatically.</a:t>
            </a:r>
            <a:endParaRPr b="0" lang="en-US" sz="1150" spc="-1" strike="noStrike">
              <a:solidFill>
                <a:srgbClr val="ffffff"/>
              </a:solidFill>
              <a:latin typeface="Arial"/>
            </a:endParaRPr>
          </a:p>
        </p:txBody>
      </p:sp>
      <p:sp>
        <p:nvSpPr>
          <p:cNvPr id="2572" name="Shape 133"/>
          <p:cNvSpPr/>
          <p:nvPr/>
        </p:nvSpPr>
        <p:spPr>
          <a:xfrm>
            <a:off x="548640" y="5102280"/>
            <a:ext cx="11063520" cy="56628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73" name="Text 289"/>
          <p:cNvSpPr/>
          <p:nvPr/>
        </p:nvSpPr>
        <p:spPr>
          <a:xfrm>
            <a:off x="777240" y="5102280"/>
            <a:ext cx="10606320" cy="566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e8804f"/>
                </a:solidFill>
                <a:latin typeface="Arial"/>
                <a:ea typeface="Arial"/>
              </a:rPr>
              <a:t>Why:  </a:t>
            </a:r>
            <a:r>
              <a:rPr b="0" lang="en-US" sz="1200" spc="-1" strike="noStrike">
                <a:solidFill>
                  <a:srgbClr val="edeff4"/>
                </a:solidFill>
                <a:latin typeface="Arial"/>
                <a:ea typeface="Arial"/>
              </a:rPr>
              <a:t>Labeled breaks cover the legitimate goto use cases without allowing arbitrary jumps that make control flow hard to follow.</a:t>
            </a:r>
            <a:endParaRPr b="0" lang="en-US" sz="1200" spc="-1" strike="noStrike">
              <a:solidFill>
                <a:srgbClr val="ffffff"/>
              </a:solidFill>
              <a:latin typeface="Arial"/>
            </a:endParaRPr>
          </a:p>
        </p:txBody>
      </p:sp>
      <p:sp>
        <p:nvSpPr>
          <p:cNvPr id="2574" name="Text 290"/>
          <p:cNvSpPr/>
          <p:nvPr/>
        </p:nvSpPr>
        <p:spPr>
          <a:xfrm>
            <a:off x="457200" y="653796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C++ Developers</a:t>
            </a:r>
            <a:endParaRPr b="0" lang="en-US" sz="1000" spc="-1" strike="noStrike">
              <a:solidFill>
                <a:srgbClr val="ffffff"/>
              </a:solidFill>
              <a:latin typeface="Arial"/>
            </a:endParaRPr>
          </a:p>
        </p:txBody>
      </p:sp>
      <p:sp>
        <p:nvSpPr>
          <p:cNvPr id="2575" name="Text 291"/>
          <p:cNvSpPr/>
          <p:nvPr/>
        </p:nvSpPr>
        <p:spPr>
          <a:xfrm>
            <a:off x="11521440" y="6537960"/>
            <a:ext cx="365040" cy="273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20</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576" name="Text 292"/>
          <p:cNvSpPr/>
          <p:nvPr/>
        </p:nvSpPr>
        <p:spPr>
          <a:xfrm>
            <a:off x="548640" y="384120"/>
            <a:ext cx="731448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7" strike="noStrike">
                <a:solidFill>
                  <a:srgbClr val="e8804f"/>
                </a:solidFill>
                <a:latin typeface="Arial"/>
                <a:ea typeface="Arial"/>
              </a:rPr>
              <a:t>CONTROL FLOW &amp; STATE</a:t>
            </a:r>
            <a:endParaRPr b="0" lang="en-US" sz="1300" spc="-1" strike="noStrike">
              <a:solidFill>
                <a:srgbClr val="ffffff"/>
              </a:solidFill>
              <a:latin typeface="Arial"/>
            </a:endParaRPr>
          </a:p>
        </p:txBody>
      </p:sp>
      <p:sp>
        <p:nvSpPr>
          <p:cNvPr id="2577" name="Text 293"/>
          <p:cNvSpPr/>
          <p:nvPr/>
        </p:nvSpPr>
        <p:spPr>
          <a:xfrm>
            <a:off x="548640" y="713160"/>
            <a:ext cx="1106352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edeff4"/>
                </a:solidFill>
                <a:latin typeface="Arial"/>
                <a:ea typeface="Arial"/>
              </a:rPr>
              <a:t>Freely mutable global state</a:t>
            </a:r>
            <a:endParaRPr b="0" lang="en-US" sz="3000" spc="-1" strike="noStrike">
              <a:solidFill>
                <a:srgbClr val="ffffff"/>
              </a:solidFill>
              <a:latin typeface="Arial"/>
            </a:endParaRPr>
          </a:p>
        </p:txBody>
      </p:sp>
      <p:sp>
        <p:nvSpPr>
          <p:cNvPr id="2578" name="Shape 134"/>
          <p:cNvSpPr/>
          <p:nvPr/>
        </p:nvSpPr>
        <p:spPr>
          <a:xfrm>
            <a:off x="548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79" name="Shape 135"/>
          <p:cNvSpPr/>
          <p:nvPr/>
        </p:nvSpPr>
        <p:spPr>
          <a:xfrm>
            <a:off x="777240" y="1892880"/>
            <a:ext cx="383400" cy="383400"/>
          </a:xfrm>
          <a:prstGeom prst="roundRect">
            <a:avLst>
              <a:gd name="adj" fmla="val 119048"/>
            </a:avLst>
          </a:prstGeom>
          <a:solidFill>
            <a:srgbClr val="3a2020"/>
          </a:solidFill>
          <a:ln w="12700">
            <a:solidFill>
              <a:srgbClr val="e1575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80" name="Text 294"/>
          <p:cNvSpPr/>
          <p:nvPr/>
        </p:nvSpPr>
        <p:spPr>
          <a:xfrm>
            <a:off x="777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e15757"/>
                </a:solidFill>
                <a:latin typeface="Arial"/>
                <a:ea typeface="Arial"/>
              </a:rPr>
              <a:t>✗</a:t>
            </a:r>
            <a:endParaRPr b="0" lang="en-US" sz="1600" spc="-1" strike="noStrike">
              <a:solidFill>
                <a:srgbClr val="ffffff"/>
              </a:solidFill>
              <a:latin typeface="Arial"/>
            </a:endParaRPr>
          </a:p>
        </p:txBody>
      </p:sp>
      <p:sp>
        <p:nvSpPr>
          <p:cNvPr id="2581" name="Text 295"/>
          <p:cNvSpPr/>
          <p:nvPr/>
        </p:nvSpPr>
        <p:spPr>
          <a:xfrm>
            <a:off x="1280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3e8fe0"/>
                </a:solidFill>
                <a:latin typeface="Arial"/>
                <a:ea typeface="Arial"/>
              </a:rPr>
              <a:t>C++ TODAY</a:t>
            </a:r>
            <a:endParaRPr b="0" lang="en-US" sz="1300" spc="-1" strike="noStrike">
              <a:solidFill>
                <a:srgbClr val="ffffff"/>
              </a:solidFill>
              <a:latin typeface="Arial"/>
            </a:endParaRPr>
          </a:p>
        </p:txBody>
      </p:sp>
      <p:sp>
        <p:nvSpPr>
          <p:cNvPr id="2582" name="Text 296"/>
          <p:cNvSpPr/>
          <p:nvPr/>
        </p:nvSpPr>
        <p:spPr>
          <a:xfrm>
            <a:off x="822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int g_counter = 0;</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void increment() { g_counter++;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any thread, any time, no lock</a:t>
            </a:r>
            <a:endParaRPr b="0" lang="en-US" sz="1250" spc="-1" strike="noStrike">
              <a:solidFill>
                <a:srgbClr val="ffffff"/>
              </a:solidFill>
              <a:latin typeface="Arial"/>
            </a:endParaRPr>
          </a:p>
        </p:txBody>
      </p:sp>
      <p:sp>
        <p:nvSpPr>
          <p:cNvPr id="2583" name="Text 297"/>
          <p:cNvSpPr/>
          <p:nvPr/>
        </p:nvSpPr>
        <p:spPr>
          <a:xfrm>
            <a:off x="822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Global and static mutable variables are ordinary and can be written from anywhere, including from multiple threads with no compiler-enforced protection.</a:t>
            </a:r>
            <a:endParaRPr b="0" lang="en-US" sz="1150" spc="-1" strike="noStrike">
              <a:solidFill>
                <a:srgbClr val="ffffff"/>
              </a:solidFill>
              <a:latin typeface="Arial"/>
            </a:endParaRPr>
          </a:p>
        </p:txBody>
      </p:sp>
      <p:sp>
        <p:nvSpPr>
          <p:cNvPr id="2584" name="Shape 136"/>
          <p:cNvSpPr/>
          <p:nvPr/>
        </p:nvSpPr>
        <p:spPr>
          <a:xfrm>
            <a:off x="6263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85" name="Shape 137"/>
          <p:cNvSpPr/>
          <p:nvPr/>
        </p:nvSpPr>
        <p:spPr>
          <a:xfrm>
            <a:off x="6492240" y="1892880"/>
            <a:ext cx="383400" cy="383400"/>
          </a:xfrm>
          <a:prstGeom prst="roundRect">
            <a:avLst>
              <a:gd name="adj" fmla="val 119048"/>
            </a:avLst>
          </a:prstGeom>
          <a:solidFill>
            <a:srgbClr val="1f3324"/>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86" name="Text 298"/>
          <p:cNvSpPr/>
          <p:nvPr/>
        </p:nvSpPr>
        <p:spPr>
          <a:xfrm>
            <a:off x="6492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58c27d"/>
                </a:solidFill>
                <a:latin typeface="Arial"/>
                <a:ea typeface="Arial"/>
              </a:rPr>
              <a:t>✓</a:t>
            </a:r>
            <a:endParaRPr b="0" lang="en-US" sz="1600" spc="-1" strike="noStrike">
              <a:solidFill>
                <a:srgbClr val="ffffff"/>
              </a:solidFill>
              <a:latin typeface="Arial"/>
            </a:endParaRPr>
          </a:p>
        </p:txBody>
      </p:sp>
      <p:sp>
        <p:nvSpPr>
          <p:cNvPr id="2587" name="Text 299"/>
          <p:cNvSpPr/>
          <p:nvPr/>
        </p:nvSpPr>
        <p:spPr>
          <a:xfrm>
            <a:off x="6995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e8804f"/>
                </a:solidFill>
                <a:latin typeface="Arial"/>
                <a:ea typeface="Arial"/>
              </a:rPr>
              <a:t>RUST INSTEAD</a:t>
            </a:r>
            <a:endParaRPr b="0" lang="en-US" sz="1300" spc="-1" strike="noStrike">
              <a:solidFill>
                <a:srgbClr val="ffffff"/>
              </a:solidFill>
              <a:latin typeface="Arial"/>
            </a:endParaRPr>
          </a:p>
        </p:txBody>
      </p:sp>
      <p:sp>
        <p:nvSpPr>
          <p:cNvPr id="2588" name="Text 300"/>
          <p:cNvSpPr/>
          <p:nvPr/>
        </p:nvSpPr>
        <p:spPr>
          <a:xfrm>
            <a:off x="6537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static mut COUNTER: i32 = 0;</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reading/writing requires 'unsafe'</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idiomatic: AtomicI32 or</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Mutex&lt;i32&gt; instead</a:t>
            </a:r>
            <a:endParaRPr b="0" lang="en-US" sz="1250" spc="-1" strike="noStrike">
              <a:solidFill>
                <a:srgbClr val="ffffff"/>
              </a:solidFill>
              <a:latin typeface="Arial"/>
            </a:endParaRPr>
          </a:p>
        </p:txBody>
      </p:sp>
      <p:sp>
        <p:nvSpPr>
          <p:cNvPr id="2589" name="Text 301"/>
          <p:cNvSpPr/>
          <p:nvPr/>
        </p:nvSpPr>
        <p:spPr>
          <a:xfrm>
            <a:off x="6537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Mutable statics require an explicit `unsafe` block to touch. Idiomatic Rust reaches for atomics or a `Mutex`, which make synchronization part of the type.</a:t>
            </a:r>
            <a:endParaRPr b="0" lang="en-US" sz="1150" spc="-1" strike="noStrike">
              <a:solidFill>
                <a:srgbClr val="ffffff"/>
              </a:solidFill>
              <a:latin typeface="Arial"/>
            </a:endParaRPr>
          </a:p>
        </p:txBody>
      </p:sp>
      <p:sp>
        <p:nvSpPr>
          <p:cNvPr id="2590" name="Shape 138"/>
          <p:cNvSpPr/>
          <p:nvPr/>
        </p:nvSpPr>
        <p:spPr>
          <a:xfrm>
            <a:off x="548640" y="5102280"/>
            <a:ext cx="11063520" cy="56628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91" name="Text 302"/>
          <p:cNvSpPr/>
          <p:nvPr/>
        </p:nvSpPr>
        <p:spPr>
          <a:xfrm>
            <a:off x="777240" y="5102280"/>
            <a:ext cx="10606320" cy="566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e8804f"/>
                </a:solidFill>
                <a:latin typeface="Arial"/>
                <a:ea typeface="Arial"/>
              </a:rPr>
              <a:t>Why:  </a:t>
            </a:r>
            <a:r>
              <a:rPr b="0" lang="en-US" sz="1200" spc="-1" strike="noStrike">
                <a:solidFill>
                  <a:srgbClr val="edeff4"/>
                </a:solidFill>
                <a:latin typeface="Arial"/>
                <a:ea typeface="Arial"/>
              </a:rPr>
              <a:t>Data races on shared mutable state are undefined behavior in both languages — Rust just refuses to let you reach that state without saying `unsafe` first.</a:t>
            </a:r>
            <a:endParaRPr b="0" lang="en-US" sz="1200" spc="-1" strike="noStrike">
              <a:solidFill>
                <a:srgbClr val="ffffff"/>
              </a:solidFill>
              <a:latin typeface="Arial"/>
            </a:endParaRPr>
          </a:p>
        </p:txBody>
      </p:sp>
      <p:sp>
        <p:nvSpPr>
          <p:cNvPr id="2592" name="Text 303"/>
          <p:cNvSpPr/>
          <p:nvPr/>
        </p:nvSpPr>
        <p:spPr>
          <a:xfrm>
            <a:off x="457200" y="653796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C++ Developers</a:t>
            </a:r>
            <a:endParaRPr b="0" lang="en-US" sz="1000" spc="-1" strike="noStrike">
              <a:solidFill>
                <a:srgbClr val="ffffff"/>
              </a:solidFill>
              <a:latin typeface="Arial"/>
            </a:endParaRPr>
          </a:p>
        </p:txBody>
      </p:sp>
      <p:sp>
        <p:nvSpPr>
          <p:cNvPr id="2593" name="Text 304"/>
          <p:cNvSpPr/>
          <p:nvPr/>
        </p:nvSpPr>
        <p:spPr>
          <a:xfrm>
            <a:off x="11521440" y="6537960"/>
            <a:ext cx="365040" cy="273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21</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594" name="Text 305"/>
          <p:cNvSpPr/>
          <p:nvPr/>
        </p:nvSpPr>
        <p:spPr>
          <a:xfrm>
            <a:off x="548640" y="384120"/>
            <a:ext cx="731448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7" strike="noStrike">
                <a:solidFill>
                  <a:srgbClr val="e8804f"/>
                </a:solidFill>
                <a:latin typeface="Arial"/>
                <a:ea typeface="Arial"/>
              </a:rPr>
              <a:t>CONTROL FLOW &amp; STATE</a:t>
            </a:r>
            <a:endParaRPr b="0" lang="en-US" sz="1300" spc="-1" strike="noStrike">
              <a:solidFill>
                <a:srgbClr val="ffffff"/>
              </a:solidFill>
              <a:latin typeface="Arial"/>
            </a:endParaRPr>
          </a:p>
        </p:txBody>
      </p:sp>
      <p:sp>
        <p:nvSpPr>
          <p:cNvPr id="2595" name="Text 306"/>
          <p:cNvSpPr/>
          <p:nvPr/>
        </p:nvSpPr>
        <p:spPr>
          <a:xfrm>
            <a:off x="548640" y="713160"/>
            <a:ext cx="1106352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edeff4"/>
                </a:solidFill>
                <a:latin typeface="Arial"/>
                <a:ea typeface="Arial"/>
              </a:rPr>
              <a:t>Signed integer overflow as silent UB</a:t>
            </a:r>
            <a:endParaRPr b="0" lang="en-US" sz="3000" spc="-1" strike="noStrike">
              <a:solidFill>
                <a:srgbClr val="ffffff"/>
              </a:solidFill>
              <a:latin typeface="Arial"/>
            </a:endParaRPr>
          </a:p>
        </p:txBody>
      </p:sp>
      <p:sp>
        <p:nvSpPr>
          <p:cNvPr id="2596" name="Shape 139"/>
          <p:cNvSpPr/>
          <p:nvPr/>
        </p:nvSpPr>
        <p:spPr>
          <a:xfrm>
            <a:off x="548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97" name="Shape 140"/>
          <p:cNvSpPr/>
          <p:nvPr/>
        </p:nvSpPr>
        <p:spPr>
          <a:xfrm>
            <a:off x="777240" y="1892880"/>
            <a:ext cx="383400" cy="383400"/>
          </a:xfrm>
          <a:prstGeom prst="roundRect">
            <a:avLst>
              <a:gd name="adj" fmla="val 119048"/>
            </a:avLst>
          </a:prstGeom>
          <a:solidFill>
            <a:srgbClr val="3a2020"/>
          </a:solidFill>
          <a:ln w="12700">
            <a:solidFill>
              <a:srgbClr val="e1575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98" name="Text 307"/>
          <p:cNvSpPr/>
          <p:nvPr/>
        </p:nvSpPr>
        <p:spPr>
          <a:xfrm>
            <a:off x="777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e15757"/>
                </a:solidFill>
                <a:latin typeface="Arial"/>
                <a:ea typeface="Arial"/>
              </a:rPr>
              <a:t>✗</a:t>
            </a:r>
            <a:endParaRPr b="0" lang="en-US" sz="1600" spc="-1" strike="noStrike">
              <a:solidFill>
                <a:srgbClr val="ffffff"/>
              </a:solidFill>
              <a:latin typeface="Arial"/>
            </a:endParaRPr>
          </a:p>
        </p:txBody>
      </p:sp>
      <p:sp>
        <p:nvSpPr>
          <p:cNvPr id="2599" name="Text 308"/>
          <p:cNvSpPr/>
          <p:nvPr/>
        </p:nvSpPr>
        <p:spPr>
          <a:xfrm>
            <a:off x="1280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3e8fe0"/>
                </a:solidFill>
                <a:latin typeface="Arial"/>
                <a:ea typeface="Arial"/>
              </a:rPr>
              <a:t>C++ TODAY</a:t>
            </a:r>
            <a:endParaRPr b="0" lang="en-US" sz="1300" spc="-1" strike="noStrike">
              <a:solidFill>
                <a:srgbClr val="ffffff"/>
              </a:solidFill>
              <a:latin typeface="Arial"/>
            </a:endParaRPr>
          </a:p>
        </p:txBody>
      </p:sp>
      <p:sp>
        <p:nvSpPr>
          <p:cNvPr id="2600" name="Text 309"/>
          <p:cNvSpPr/>
          <p:nvPr/>
        </p:nvSpPr>
        <p:spPr>
          <a:xfrm>
            <a:off x="822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int x = INT_MAX;</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x = x + 1;  // UB — not defined to</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  wrap, may do anything</a:t>
            </a:r>
            <a:endParaRPr b="0" lang="en-US" sz="1250" spc="-1" strike="noStrike">
              <a:solidFill>
                <a:srgbClr val="ffffff"/>
              </a:solidFill>
              <a:latin typeface="Arial"/>
            </a:endParaRPr>
          </a:p>
        </p:txBody>
      </p:sp>
      <p:sp>
        <p:nvSpPr>
          <p:cNvPr id="2601" name="Text 310"/>
          <p:cNvSpPr/>
          <p:nvPr/>
        </p:nvSpPr>
        <p:spPr>
          <a:xfrm>
            <a:off x="822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Signed overflow is undefined behavior, not wraparound. Optimizers are allowed to assume it never happens, occasionally deleting the overflow check itself.</a:t>
            </a:r>
            <a:endParaRPr b="0" lang="en-US" sz="1150" spc="-1" strike="noStrike">
              <a:solidFill>
                <a:srgbClr val="ffffff"/>
              </a:solidFill>
              <a:latin typeface="Arial"/>
            </a:endParaRPr>
          </a:p>
        </p:txBody>
      </p:sp>
      <p:sp>
        <p:nvSpPr>
          <p:cNvPr id="2602" name="Shape 141"/>
          <p:cNvSpPr/>
          <p:nvPr/>
        </p:nvSpPr>
        <p:spPr>
          <a:xfrm>
            <a:off x="6263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03" name="Shape 142"/>
          <p:cNvSpPr/>
          <p:nvPr/>
        </p:nvSpPr>
        <p:spPr>
          <a:xfrm>
            <a:off x="6492240" y="1892880"/>
            <a:ext cx="383400" cy="383400"/>
          </a:xfrm>
          <a:prstGeom prst="roundRect">
            <a:avLst>
              <a:gd name="adj" fmla="val 119048"/>
            </a:avLst>
          </a:prstGeom>
          <a:solidFill>
            <a:srgbClr val="1f3324"/>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04" name="Text 311"/>
          <p:cNvSpPr/>
          <p:nvPr/>
        </p:nvSpPr>
        <p:spPr>
          <a:xfrm>
            <a:off x="6492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58c27d"/>
                </a:solidFill>
                <a:latin typeface="Arial"/>
                <a:ea typeface="Arial"/>
              </a:rPr>
              <a:t>✓</a:t>
            </a:r>
            <a:endParaRPr b="0" lang="en-US" sz="1600" spc="-1" strike="noStrike">
              <a:solidFill>
                <a:srgbClr val="ffffff"/>
              </a:solidFill>
              <a:latin typeface="Arial"/>
            </a:endParaRPr>
          </a:p>
        </p:txBody>
      </p:sp>
      <p:sp>
        <p:nvSpPr>
          <p:cNvPr id="2605" name="Text 312"/>
          <p:cNvSpPr/>
          <p:nvPr/>
        </p:nvSpPr>
        <p:spPr>
          <a:xfrm>
            <a:off x="6995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e8804f"/>
                </a:solidFill>
                <a:latin typeface="Arial"/>
                <a:ea typeface="Arial"/>
              </a:rPr>
              <a:t>RUST INSTEAD</a:t>
            </a:r>
            <a:endParaRPr b="0" lang="en-US" sz="1300" spc="-1" strike="noStrike">
              <a:solidFill>
                <a:srgbClr val="ffffff"/>
              </a:solidFill>
              <a:latin typeface="Arial"/>
            </a:endParaRPr>
          </a:p>
        </p:txBody>
      </p:sp>
      <p:sp>
        <p:nvSpPr>
          <p:cNvPr id="2606" name="Text 313"/>
          <p:cNvSpPr/>
          <p:nvPr/>
        </p:nvSpPr>
        <p:spPr>
          <a:xfrm>
            <a:off x="6537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let x = i32::MAX;</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let x = x + 1;</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debug: panics ("attempt to add</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with overflow")</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release: wraps, but must opt in</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via wrapping_add for clarity</a:t>
            </a:r>
            <a:endParaRPr b="0" lang="en-US" sz="1250" spc="-1" strike="noStrike">
              <a:solidFill>
                <a:srgbClr val="ffffff"/>
              </a:solidFill>
              <a:latin typeface="Arial"/>
            </a:endParaRPr>
          </a:p>
        </p:txBody>
      </p:sp>
      <p:sp>
        <p:nvSpPr>
          <p:cNvPr id="2607" name="Text 314"/>
          <p:cNvSpPr/>
          <p:nvPr/>
        </p:nvSpPr>
        <p:spPr>
          <a:xfrm>
            <a:off x="6537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Overflow is a checked panic in debug builds and a defined (two's-complement) wrap in release, with explicit `wrapping_`/`checked_`/`saturating_` methods for intent.</a:t>
            </a:r>
            <a:endParaRPr b="0" lang="en-US" sz="1150" spc="-1" strike="noStrike">
              <a:solidFill>
                <a:srgbClr val="ffffff"/>
              </a:solidFill>
              <a:latin typeface="Arial"/>
            </a:endParaRPr>
          </a:p>
        </p:txBody>
      </p:sp>
      <p:sp>
        <p:nvSpPr>
          <p:cNvPr id="2608" name="Shape 143"/>
          <p:cNvSpPr/>
          <p:nvPr/>
        </p:nvSpPr>
        <p:spPr>
          <a:xfrm>
            <a:off x="548640" y="5102280"/>
            <a:ext cx="11063520" cy="56628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09" name="Text 315"/>
          <p:cNvSpPr/>
          <p:nvPr/>
        </p:nvSpPr>
        <p:spPr>
          <a:xfrm>
            <a:off x="777240" y="5102280"/>
            <a:ext cx="10606320" cy="566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e8804f"/>
                </a:solidFill>
                <a:latin typeface="Arial"/>
                <a:ea typeface="Arial"/>
              </a:rPr>
              <a:t>Why:  </a:t>
            </a:r>
            <a:r>
              <a:rPr b="0" lang="en-US" sz="1200" spc="-1" strike="noStrike">
                <a:solidFill>
                  <a:srgbClr val="edeff4"/>
                </a:solidFill>
                <a:latin typeface="Arial"/>
                <a:ea typeface="Arial"/>
              </a:rPr>
              <a:t>Turning overflow into a defined, checkable operation removes one of the most notorious 'the optimizer broke my program' surprises in C++.</a:t>
            </a:r>
            <a:endParaRPr b="0" lang="en-US" sz="1200" spc="-1" strike="noStrike">
              <a:solidFill>
                <a:srgbClr val="ffffff"/>
              </a:solidFill>
              <a:latin typeface="Arial"/>
            </a:endParaRPr>
          </a:p>
        </p:txBody>
      </p:sp>
      <p:sp>
        <p:nvSpPr>
          <p:cNvPr id="2610" name="Text 316"/>
          <p:cNvSpPr/>
          <p:nvPr/>
        </p:nvSpPr>
        <p:spPr>
          <a:xfrm>
            <a:off x="457200" y="653796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C++ Developers</a:t>
            </a:r>
            <a:endParaRPr b="0" lang="en-US" sz="1000" spc="-1" strike="noStrike">
              <a:solidFill>
                <a:srgbClr val="ffffff"/>
              </a:solidFill>
              <a:latin typeface="Arial"/>
            </a:endParaRPr>
          </a:p>
        </p:txBody>
      </p:sp>
      <p:sp>
        <p:nvSpPr>
          <p:cNvPr id="2611" name="Text 317"/>
          <p:cNvSpPr/>
          <p:nvPr/>
        </p:nvSpPr>
        <p:spPr>
          <a:xfrm>
            <a:off x="11521440" y="6537960"/>
            <a:ext cx="365040" cy="273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22</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612" name="Text 318"/>
          <p:cNvSpPr/>
          <p:nvPr/>
        </p:nvSpPr>
        <p:spPr>
          <a:xfrm>
            <a:off x="548640" y="384120"/>
            <a:ext cx="731448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7" strike="noStrike">
                <a:solidFill>
                  <a:srgbClr val="e8804f"/>
                </a:solidFill>
                <a:latin typeface="Arial"/>
                <a:ea typeface="Arial"/>
              </a:rPr>
              <a:t>WRAP-UP</a:t>
            </a:r>
            <a:endParaRPr b="0" lang="en-US" sz="1300" spc="-1" strike="noStrike">
              <a:solidFill>
                <a:srgbClr val="ffffff"/>
              </a:solidFill>
              <a:latin typeface="Arial"/>
            </a:endParaRPr>
          </a:p>
        </p:txBody>
      </p:sp>
      <p:sp>
        <p:nvSpPr>
          <p:cNvPr id="2613" name="Text 319"/>
          <p:cNvSpPr/>
          <p:nvPr/>
        </p:nvSpPr>
        <p:spPr>
          <a:xfrm>
            <a:off x="548640" y="685800"/>
            <a:ext cx="1106352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edeff4"/>
                </a:solidFill>
                <a:latin typeface="Arial"/>
                <a:ea typeface="Arial"/>
              </a:rPr>
              <a:t>The pattern behind the list</a:t>
            </a:r>
            <a:endParaRPr b="0" lang="en-US" sz="3000" spc="-1" strike="noStrike">
              <a:solidFill>
                <a:srgbClr val="ffffff"/>
              </a:solidFill>
              <a:latin typeface="Arial"/>
            </a:endParaRPr>
          </a:p>
        </p:txBody>
      </p:sp>
      <p:sp>
        <p:nvSpPr>
          <p:cNvPr id="2614" name="Text 320"/>
          <p:cNvSpPr/>
          <p:nvPr/>
        </p:nvSpPr>
        <p:spPr>
          <a:xfrm>
            <a:off x="548640" y="1600200"/>
            <a:ext cx="1106352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30000"/>
              </a:lnSpc>
              <a:tabLst>
                <a:tab algn="l" pos="0"/>
              </a:tabLst>
            </a:pPr>
            <a:r>
              <a:rPr b="0" lang="en-US" sz="1400" spc="-1" strike="noStrike">
                <a:solidFill>
                  <a:srgbClr val="9aa4b8"/>
                </a:solidFill>
                <a:latin typeface="Arial"/>
                <a:ea typeface="Arial"/>
              </a:rPr>
              <a:t>Almost everything on this list isn't a missing feature — it's a C++ pattern whose safety depended on programmer discipline. Rust turns that discipline into a compiler check.</a:t>
            </a:r>
            <a:endParaRPr b="0" lang="en-US" sz="1400" spc="-1" strike="noStrike">
              <a:solidFill>
                <a:srgbClr val="ffffff"/>
              </a:solidFill>
              <a:latin typeface="Arial"/>
            </a:endParaRPr>
          </a:p>
        </p:txBody>
      </p:sp>
      <p:sp>
        <p:nvSpPr>
          <p:cNvPr id="2615" name="Shape 144"/>
          <p:cNvSpPr/>
          <p:nvPr/>
        </p:nvSpPr>
        <p:spPr>
          <a:xfrm>
            <a:off x="548640" y="2606040"/>
            <a:ext cx="5348520" cy="776520"/>
          </a:xfrm>
          <a:prstGeom prst="roundRect">
            <a:avLst>
              <a:gd name="adj" fmla="val 941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16" name="Shape 145"/>
          <p:cNvSpPr/>
          <p:nvPr/>
        </p:nvSpPr>
        <p:spPr>
          <a:xfrm>
            <a:off x="731520" y="2912400"/>
            <a:ext cx="163800" cy="163800"/>
          </a:xfrm>
          <a:prstGeom prst="roundRect">
            <a:avLst>
              <a:gd name="adj" fmla="val 277778"/>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17" name="Text 321"/>
          <p:cNvSpPr/>
          <p:nvPr/>
        </p:nvSpPr>
        <p:spPr>
          <a:xfrm>
            <a:off x="1051560" y="2679120"/>
            <a:ext cx="4617000" cy="630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0" lang="en-US" sz="1200" spc="-1" strike="noStrike">
                <a:solidFill>
                  <a:srgbClr val="edeff4"/>
                </a:solidFill>
                <a:latin typeface="Arial"/>
                <a:ea typeface="Arial"/>
              </a:rPr>
              <a:t>Ownership + borrowing replace manual lifetime discipline</a:t>
            </a:r>
            <a:endParaRPr b="0" lang="en-US" sz="1200" spc="-1" strike="noStrike">
              <a:solidFill>
                <a:srgbClr val="ffffff"/>
              </a:solidFill>
              <a:latin typeface="Arial"/>
            </a:endParaRPr>
          </a:p>
        </p:txBody>
      </p:sp>
      <p:sp>
        <p:nvSpPr>
          <p:cNvPr id="2618" name="Shape 146"/>
          <p:cNvSpPr/>
          <p:nvPr/>
        </p:nvSpPr>
        <p:spPr>
          <a:xfrm>
            <a:off x="6263640" y="2606040"/>
            <a:ext cx="5348520" cy="776520"/>
          </a:xfrm>
          <a:prstGeom prst="roundRect">
            <a:avLst>
              <a:gd name="adj" fmla="val 941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19" name="Shape 147"/>
          <p:cNvSpPr/>
          <p:nvPr/>
        </p:nvSpPr>
        <p:spPr>
          <a:xfrm>
            <a:off x="6446520" y="2912400"/>
            <a:ext cx="163800" cy="163800"/>
          </a:xfrm>
          <a:prstGeom prst="roundRect">
            <a:avLst>
              <a:gd name="adj" fmla="val 277778"/>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20" name="Text 322"/>
          <p:cNvSpPr/>
          <p:nvPr/>
        </p:nvSpPr>
        <p:spPr>
          <a:xfrm>
            <a:off x="6766560" y="2679120"/>
            <a:ext cx="4617000" cy="630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0" lang="en-US" sz="1200" spc="-1" strike="noStrike">
                <a:solidFill>
                  <a:srgbClr val="edeff4"/>
                </a:solidFill>
                <a:latin typeface="Arial"/>
                <a:ea typeface="Arial"/>
              </a:rPr>
              <a:t>Move-by-default replaces implicit deep copies</a:t>
            </a:r>
            <a:endParaRPr b="0" lang="en-US" sz="1200" spc="-1" strike="noStrike">
              <a:solidFill>
                <a:srgbClr val="ffffff"/>
              </a:solidFill>
              <a:latin typeface="Arial"/>
            </a:endParaRPr>
          </a:p>
        </p:txBody>
      </p:sp>
      <p:sp>
        <p:nvSpPr>
          <p:cNvPr id="2621" name="Shape 148"/>
          <p:cNvSpPr/>
          <p:nvPr/>
        </p:nvSpPr>
        <p:spPr>
          <a:xfrm>
            <a:off x="548640" y="3529440"/>
            <a:ext cx="5348520" cy="776520"/>
          </a:xfrm>
          <a:prstGeom prst="roundRect">
            <a:avLst>
              <a:gd name="adj" fmla="val 941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22" name="Shape 149"/>
          <p:cNvSpPr/>
          <p:nvPr/>
        </p:nvSpPr>
        <p:spPr>
          <a:xfrm>
            <a:off x="731520" y="3835800"/>
            <a:ext cx="163800" cy="163800"/>
          </a:xfrm>
          <a:prstGeom prst="roundRect">
            <a:avLst>
              <a:gd name="adj" fmla="val 277778"/>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23" name="Text 323"/>
          <p:cNvSpPr/>
          <p:nvPr/>
        </p:nvSpPr>
        <p:spPr>
          <a:xfrm>
            <a:off x="1051560" y="3602880"/>
            <a:ext cx="4617000" cy="630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0" lang="en-US" sz="1200" spc="-1" strike="noStrike">
                <a:solidFill>
                  <a:srgbClr val="edeff4"/>
                </a:solidFill>
                <a:latin typeface="Arial"/>
                <a:ea typeface="Arial"/>
              </a:rPr>
              <a:t>Result&lt;T, E&gt; replaces silent exception propagation</a:t>
            </a:r>
            <a:endParaRPr b="0" lang="en-US" sz="1200" spc="-1" strike="noStrike">
              <a:solidFill>
                <a:srgbClr val="ffffff"/>
              </a:solidFill>
              <a:latin typeface="Arial"/>
            </a:endParaRPr>
          </a:p>
        </p:txBody>
      </p:sp>
      <p:sp>
        <p:nvSpPr>
          <p:cNvPr id="2624" name="Shape 150"/>
          <p:cNvSpPr/>
          <p:nvPr/>
        </p:nvSpPr>
        <p:spPr>
          <a:xfrm>
            <a:off x="6263640" y="3529440"/>
            <a:ext cx="5348520" cy="776520"/>
          </a:xfrm>
          <a:prstGeom prst="roundRect">
            <a:avLst>
              <a:gd name="adj" fmla="val 941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25" name="Shape 151"/>
          <p:cNvSpPr/>
          <p:nvPr/>
        </p:nvSpPr>
        <p:spPr>
          <a:xfrm>
            <a:off x="6446520" y="3835800"/>
            <a:ext cx="163800" cy="163800"/>
          </a:xfrm>
          <a:prstGeom prst="roundRect">
            <a:avLst>
              <a:gd name="adj" fmla="val 277778"/>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26" name="Text 324"/>
          <p:cNvSpPr/>
          <p:nvPr/>
        </p:nvSpPr>
        <p:spPr>
          <a:xfrm>
            <a:off x="6766560" y="3602880"/>
            <a:ext cx="4617000" cy="630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0" lang="en-US" sz="1200" spc="-1" strike="noStrike">
                <a:solidFill>
                  <a:srgbClr val="edeff4"/>
                </a:solidFill>
                <a:latin typeface="Arial"/>
                <a:ea typeface="Arial"/>
              </a:rPr>
              <a:t>Traits + generics replace overloading and specialization</a:t>
            </a:r>
            <a:endParaRPr b="0" lang="en-US" sz="1200" spc="-1" strike="noStrike">
              <a:solidFill>
                <a:srgbClr val="ffffff"/>
              </a:solidFill>
              <a:latin typeface="Arial"/>
            </a:endParaRPr>
          </a:p>
        </p:txBody>
      </p:sp>
      <p:sp>
        <p:nvSpPr>
          <p:cNvPr id="2627" name="Shape 152"/>
          <p:cNvSpPr/>
          <p:nvPr/>
        </p:nvSpPr>
        <p:spPr>
          <a:xfrm>
            <a:off x="548640" y="4453200"/>
            <a:ext cx="5348520" cy="776520"/>
          </a:xfrm>
          <a:prstGeom prst="roundRect">
            <a:avLst>
              <a:gd name="adj" fmla="val 941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28" name="Shape 153"/>
          <p:cNvSpPr/>
          <p:nvPr/>
        </p:nvSpPr>
        <p:spPr>
          <a:xfrm>
            <a:off x="731520" y="4759560"/>
            <a:ext cx="163800" cy="163800"/>
          </a:xfrm>
          <a:prstGeom prst="roundRect">
            <a:avLst>
              <a:gd name="adj" fmla="val 277778"/>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29" name="Text 325"/>
          <p:cNvSpPr/>
          <p:nvPr/>
        </p:nvSpPr>
        <p:spPr>
          <a:xfrm>
            <a:off x="1051560" y="4526280"/>
            <a:ext cx="4617000" cy="630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0" lang="en-US" sz="1200" spc="-1" strike="noStrike">
                <a:solidFill>
                  <a:srgbClr val="edeff4"/>
                </a:solidFill>
                <a:latin typeface="Arial"/>
                <a:ea typeface="Arial"/>
              </a:rPr>
              <a:t>unsafe is still there — it's opt-in, not the default</a:t>
            </a:r>
            <a:endParaRPr b="0" lang="en-US" sz="1200" spc="-1" strike="noStrike">
              <a:solidFill>
                <a:srgbClr val="ffffff"/>
              </a:solidFill>
              <a:latin typeface="Arial"/>
            </a:endParaRPr>
          </a:p>
        </p:txBody>
      </p:sp>
      <p:sp>
        <p:nvSpPr>
          <p:cNvPr id="2630" name="Shape 154"/>
          <p:cNvSpPr/>
          <p:nvPr/>
        </p:nvSpPr>
        <p:spPr>
          <a:xfrm>
            <a:off x="6263640" y="4453200"/>
            <a:ext cx="5348520" cy="776520"/>
          </a:xfrm>
          <a:prstGeom prst="roundRect">
            <a:avLst>
              <a:gd name="adj" fmla="val 941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31" name="Shape 155"/>
          <p:cNvSpPr/>
          <p:nvPr/>
        </p:nvSpPr>
        <p:spPr>
          <a:xfrm>
            <a:off x="6446520" y="4759560"/>
            <a:ext cx="163800" cy="163800"/>
          </a:xfrm>
          <a:prstGeom prst="roundRect">
            <a:avLst>
              <a:gd name="adj" fmla="val 277778"/>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32" name="Text 326"/>
          <p:cNvSpPr/>
          <p:nvPr/>
        </p:nvSpPr>
        <p:spPr>
          <a:xfrm>
            <a:off x="6766560" y="4526280"/>
            <a:ext cx="4617000" cy="630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0" lang="en-US" sz="1200" spc="-1" strike="noStrike">
                <a:solidFill>
                  <a:srgbClr val="edeff4"/>
                </a:solidFill>
                <a:latin typeface="Arial"/>
                <a:ea typeface="Arial"/>
              </a:rPr>
              <a:t>Every rule here has an escape hatch for the 1% that needs it</a:t>
            </a:r>
            <a:endParaRPr b="0" lang="en-US" sz="1200" spc="-1" strike="noStrike">
              <a:solidFill>
                <a:srgbClr val="ffffff"/>
              </a:solidFill>
              <a:latin typeface="Arial"/>
            </a:endParaRPr>
          </a:p>
        </p:txBody>
      </p:sp>
      <p:sp>
        <p:nvSpPr>
          <p:cNvPr id="2633" name="Text 327"/>
          <p:cNvSpPr/>
          <p:nvPr/>
        </p:nvSpPr>
        <p:spPr>
          <a:xfrm>
            <a:off x="457200" y="653796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C++ Developers</a:t>
            </a:r>
            <a:endParaRPr b="0" lang="en-US" sz="1000" spc="-1" strike="noStrike">
              <a:solidFill>
                <a:srgbClr val="ffffff"/>
              </a:solidFill>
              <a:latin typeface="Arial"/>
            </a:endParaRPr>
          </a:p>
        </p:txBody>
      </p:sp>
      <p:sp>
        <p:nvSpPr>
          <p:cNvPr id="2634" name="Text 328"/>
          <p:cNvSpPr/>
          <p:nvPr/>
        </p:nvSpPr>
        <p:spPr>
          <a:xfrm>
            <a:off x="11521440" y="6537960"/>
            <a:ext cx="365040" cy="273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23</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635" name="Shape 0"/>
          <p:cNvSpPr/>
          <p:nvPr/>
        </p:nvSpPr>
        <p:spPr>
          <a:xfrm>
            <a:off x="548640" y="2651760"/>
            <a:ext cx="1370160" cy="1370160"/>
          </a:xfrm>
          <a:prstGeom prst="roundRect">
            <a:avLst>
              <a:gd name="adj" fmla="val 6667"/>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36" name="Text 1"/>
          <p:cNvSpPr/>
          <p:nvPr/>
        </p:nvSpPr>
        <p:spPr>
          <a:xfrm>
            <a:off x="548640" y="2651760"/>
            <a:ext cx="1370160" cy="1370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400" spc="-1" strike="noStrike">
                <a:solidFill>
                  <a:srgbClr val="e8804f"/>
                </a:solidFill>
                <a:latin typeface="Consolas"/>
                <a:ea typeface="Consolas"/>
              </a:rPr>
              <a:t>Labs</a:t>
            </a:r>
            <a:endParaRPr b="0" lang="en-US" sz="3400" spc="-1" strike="noStrike">
              <a:solidFill>
                <a:srgbClr val="ffffff"/>
              </a:solidFill>
              <a:latin typeface="Arial"/>
            </a:endParaRPr>
          </a:p>
        </p:txBody>
      </p:sp>
      <p:sp>
        <p:nvSpPr>
          <p:cNvPr id="2637" name="Text 2"/>
          <p:cNvSpPr/>
          <p:nvPr/>
        </p:nvSpPr>
        <p:spPr>
          <a:xfrm>
            <a:off x="2194560" y="2743200"/>
            <a:ext cx="932544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Time now to write code!</a:t>
            </a:r>
            <a:endParaRPr b="0" lang="en-US" sz="2800" spc="-1" strike="noStrike">
              <a:solidFill>
                <a:srgbClr val="ffffff"/>
              </a:solidFill>
              <a:latin typeface="Arial"/>
            </a:endParaRPr>
          </a:p>
        </p:txBody>
      </p:sp>
      <p:sp>
        <p:nvSpPr>
          <p:cNvPr id="2638" name="Text 3"/>
          <p:cNvSpPr/>
          <p:nvPr/>
        </p:nvSpPr>
        <p:spPr>
          <a:xfrm>
            <a:off x="2194560" y="3474720"/>
            <a:ext cx="8959680" cy="547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50" spc="-1" strike="noStrike">
                <a:solidFill>
                  <a:srgbClr val="9aa4b8"/>
                </a:solidFill>
                <a:latin typeface="Arial"/>
                <a:ea typeface="Arial"/>
              </a:rPr>
              <a:t>Solo or group flights </a:t>
            </a:r>
            <a:endParaRPr b="0" lang="en-US" sz="1350" spc="-1" strike="noStrike">
              <a:solidFill>
                <a:srgbClr val="ffffff"/>
              </a:solidFill>
              <a:latin typeface="Arial"/>
            </a:endParaRPr>
          </a:p>
        </p:txBody>
      </p:sp>
      <p:sp>
        <p:nvSpPr>
          <p:cNvPr id="2639" name="Text 4"/>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640" name="Text 5"/>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160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641" name="Shape 156"/>
          <p:cNvSpPr/>
          <p:nvPr/>
        </p:nvSpPr>
        <p:spPr>
          <a:xfrm>
            <a:off x="548640" y="2651760"/>
            <a:ext cx="1370160" cy="1370160"/>
          </a:xfrm>
          <a:prstGeom prst="roundRect">
            <a:avLst>
              <a:gd name="adj" fmla="val 6667"/>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42" name="Text 329"/>
          <p:cNvSpPr/>
          <p:nvPr/>
        </p:nvSpPr>
        <p:spPr>
          <a:xfrm>
            <a:off x="548640" y="2651760"/>
            <a:ext cx="1370160" cy="1370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400" spc="-1" strike="noStrike">
                <a:solidFill>
                  <a:srgbClr val="e8804f"/>
                </a:solidFill>
                <a:latin typeface="Consolas"/>
                <a:ea typeface="Consolas"/>
              </a:rPr>
              <a:t>17</a:t>
            </a:r>
            <a:endParaRPr b="0" lang="en-US" sz="3400" spc="-1" strike="noStrike">
              <a:solidFill>
                <a:srgbClr val="ffffff"/>
              </a:solidFill>
              <a:latin typeface="Arial"/>
            </a:endParaRPr>
          </a:p>
        </p:txBody>
      </p:sp>
      <p:sp>
        <p:nvSpPr>
          <p:cNvPr id="2643" name="Text 330"/>
          <p:cNvSpPr/>
          <p:nvPr/>
        </p:nvSpPr>
        <p:spPr>
          <a:xfrm>
            <a:off x="2194560" y="2743200"/>
            <a:ext cx="932544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Wrap-up &amp; Roadmap</a:t>
            </a:r>
            <a:endParaRPr b="0" lang="en-US" sz="2800" spc="-1" strike="noStrike">
              <a:solidFill>
                <a:srgbClr val="ffffff"/>
              </a:solidFill>
              <a:latin typeface="Arial"/>
            </a:endParaRPr>
          </a:p>
        </p:txBody>
      </p:sp>
      <p:sp>
        <p:nvSpPr>
          <p:cNvPr id="2644" name="Text 331"/>
          <p:cNvSpPr/>
          <p:nvPr/>
        </p:nvSpPr>
        <p:spPr>
          <a:xfrm>
            <a:off x="2194560" y="3474720"/>
            <a:ext cx="8959680" cy="547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50" spc="-1" strike="noStrike">
                <a:solidFill>
                  <a:srgbClr val="9aa4b8"/>
                </a:solidFill>
                <a:latin typeface="Arial"/>
                <a:ea typeface="Arial"/>
              </a:rPr>
              <a:t>What changed today, and where Days 2 and 3 take it</a:t>
            </a:r>
            <a:endParaRPr b="0" lang="en-US" sz="1350" spc="-1" strike="noStrike">
              <a:solidFill>
                <a:srgbClr val="ffffff"/>
              </a:solidFill>
              <a:latin typeface="Arial"/>
            </a:endParaRPr>
          </a:p>
        </p:txBody>
      </p:sp>
      <p:sp>
        <p:nvSpPr>
          <p:cNvPr id="2645" name="Text 332"/>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646" name="Text 333"/>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160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647"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WRAP-UP &amp; ROADMAP</a:t>
            </a:r>
            <a:endParaRPr b="0" lang="en-US" sz="1300" spc="-1" strike="noStrike">
              <a:solidFill>
                <a:srgbClr val="ffffff"/>
              </a:solidFill>
              <a:latin typeface="Arial"/>
            </a:endParaRPr>
          </a:p>
        </p:txBody>
      </p:sp>
      <p:sp>
        <p:nvSpPr>
          <p:cNvPr id="2648"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mental-model cheat sheet</a:t>
            </a:r>
            <a:endParaRPr b="0" lang="en-US" sz="2800" spc="-1" strike="noStrike">
              <a:solidFill>
                <a:srgbClr val="ffffff"/>
              </a:solidFill>
              <a:latin typeface="Arial"/>
            </a:endParaRPr>
          </a:p>
        </p:txBody>
      </p:sp>
      <p:graphicFrame>
        <p:nvGraphicFramePr>
          <p:cNvPr id="2649" name="Table 0"/>
          <p:cNvGraphicFramePr/>
          <p:nvPr/>
        </p:nvGraphicFramePr>
        <p:xfrm>
          <a:off x="548640" y="1691640"/>
          <a:ext cx="11063880" cy="3200400"/>
        </p:xfrm>
        <a:graphic>
          <a:graphicData uri="http://schemas.openxmlformats.org/drawingml/2006/table">
            <a:tbl>
              <a:tblPr/>
              <a:tblGrid>
                <a:gridCol w="3931920"/>
                <a:gridCol w="3108960"/>
                <a:gridCol w="4023360"/>
              </a:tblGrid>
              <a:tr h="457200">
                <a:tc>
                  <a:txBody>
                    <a:bodyPr lIns="126720" rIns="126720" anchor="ctr">
                      <a:noAutofit/>
                    </a:bodyPr>
                    <a:p>
                      <a:pPr defTabSz="914400">
                        <a:lnSpc>
                          <a:spcPct val="100000"/>
                        </a:lnSpc>
                        <a:tabLst>
                          <a:tab algn="l" pos="0"/>
                        </a:tabLst>
                      </a:pPr>
                      <a:r>
                        <a:rPr b="1" lang="en-US" sz="1250" spc="-1" strike="noStrike">
                          <a:solidFill>
                            <a:srgbClr val="e8804f"/>
                          </a:solidFill>
                          <a:latin typeface="Arial"/>
                          <a:ea typeface="Arial"/>
                        </a:rPr>
                        <a:t>Instead of thinking...</a:t>
                      </a:r>
                      <a:endParaRPr b="0" lang="en-US" sz="12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202a40"/>
                    </a:solidFill>
                  </a:tcPr>
                </a:tc>
                <a:tc>
                  <a:txBody>
                    <a:bodyPr lIns="126720" rIns="126720" anchor="ctr">
                      <a:noAutofit/>
                    </a:bodyPr>
                    <a:p>
                      <a:pPr defTabSz="914400">
                        <a:lnSpc>
                          <a:spcPct val="100000"/>
                        </a:lnSpc>
                        <a:tabLst>
                          <a:tab algn="l" pos="0"/>
                        </a:tabLst>
                      </a:pPr>
                      <a:r>
                        <a:rPr b="1" lang="en-US" sz="1250" spc="-1" strike="noStrike">
                          <a:solidFill>
                            <a:srgbClr val="e8804f"/>
                          </a:solidFill>
                          <a:latin typeface="Arial"/>
                          <a:ea typeface="Arial"/>
                        </a:rPr>
                        <a:t>...think</a:t>
                      </a:r>
                      <a:endParaRPr b="0" lang="en-US" sz="12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202a40"/>
                    </a:solidFill>
                  </a:tcPr>
                </a:tc>
                <a:tc>
                  <a:txBody>
                    <a:bodyPr lIns="126720" rIns="126720" anchor="ctr">
                      <a:noAutofit/>
                    </a:bodyPr>
                    <a:p>
                      <a:pPr defTabSz="914400">
                        <a:lnSpc>
                          <a:spcPct val="100000"/>
                        </a:lnSpc>
                        <a:tabLst>
                          <a:tab algn="l" pos="0"/>
                        </a:tabLst>
                      </a:pPr>
                      <a:r>
                        <a:rPr b="1" lang="en-US" sz="1250" spc="-1" strike="noStrike">
                          <a:solidFill>
                            <a:srgbClr val="e8804f"/>
                          </a:solidFill>
                          <a:latin typeface="Arial"/>
                          <a:ea typeface="Arial"/>
                        </a:rPr>
                        <a:t>Because</a:t>
                      </a:r>
                      <a:endParaRPr b="0" lang="en-US" sz="12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202a40"/>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Arial"/>
                          <a:ea typeface="Arial"/>
                        </a:rPr>
                        <a:t>"Did I remember to free this?"</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Arial"/>
                          <a:ea typeface="Arial"/>
                        </a:rPr>
                        <a:t>Ownership has exactly one owner</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Drop runs automatically, deterministically</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Arial"/>
                          <a:ea typeface="Arial"/>
                        </a:rPr>
                        <a:t>"Is this pointer still valid?"</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Arial"/>
                          <a:ea typeface="Arial"/>
                        </a:rPr>
                        <a:t>Does the borrow checker accept it?</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Lifetimes are verified, not assumed</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Arial"/>
                          <a:ea typeface="Arial"/>
                        </a:rPr>
                        <a:t>"Which mutex protects this?"</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Arial"/>
                          <a:ea typeface="Arial"/>
                        </a:rPr>
                        <a:t>Is it wrapped in Mutex&lt;T&gt;?</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The lock and the data are one type</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Arial"/>
                          <a:ea typeface="Arial"/>
                        </a:rPr>
                        <a:t>"Did I check for null?"</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Arial"/>
                          <a:ea typeface="Arial"/>
                        </a:rPr>
                        <a:t>Is it Option&lt;T&gt;?</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Absence is in the type, not a convention</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Arial"/>
                          <a:ea typeface="Arial"/>
                        </a:rPr>
                        <a:t>"What can this function throw?"</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Arial"/>
                          <a:ea typeface="Arial"/>
                        </a:rPr>
                        <a:t>What's in its Result&lt;T, E&gt;?</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Failure modes are in the signature</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Arial"/>
                          <a:ea typeface="Arial"/>
                        </a:rPr>
                        <a:t>"Which base class implements this?"</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Arial"/>
                          <a:ea typeface="Arial"/>
                        </a:rPr>
                        <a:t>Which trait, for which type?</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Behavior and hierarchy are decoupled</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bl>
          </a:graphicData>
        </a:graphic>
      </p:graphicFrame>
      <p:sp>
        <p:nvSpPr>
          <p:cNvPr id="2650" name="Text 2"/>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651" name="Text 3"/>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161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8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65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WRAP-UP &amp; ROADMAP</a:t>
            </a:r>
            <a:endParaRPr b="0" lang="en-US" sz="1300" spc="-1" strike="noStrike">
              <a:solidFill>
                <a:srgbClr val="ffffff"/>
              </a:solidFill>
              <a:latin typeface="Arial"/>
            </a:endParaRPr>
          </a:p>
        </p:txBody>
      </p:sp>
      <p:sp>
        <p:nvSpPr>
          <p:cNvPr id="2653"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Day 2 preview: going deeper</a:t>
            </a:r>
            <a:endParaRPr b="0" lang="en-US" sz="2800" spc="-1" strike="noStrike">
              <a:solidFill>
                <a:srgbClr val="ffffff"/>
              </a:solidFill>
              <a:latin typeface="Arial"/>
            </a:endParaRPr>
          </a:p>
        </p:txBody>
      </p:sp>
      <p:sp>
        <p:nvSpPr>
          <p:cNvPr id="2654"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55"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56"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Advanced traits and trait objects:  </a:t>
            </a:r>
            <a:r>
              <a:rPr b="0" lang="en-US" sz="1200" spc="-1" strike="noStrike">
                <a:solidFill>
                  <a:srgbClr val="9aa4b8"/>
                </a:solidFill>
                <a:latin typeface="Arial"/>
                <a:ea typeface="Arial"/>
              </a:rPr>
              <a:t>associated types, supertraits, and object safety in depth.</a:t>
            </a:r>
            <a:endParaRPr b="0" lang="en-US" sz="1200" spc="-1" strike="noStrike">
              <a:solidFill>
                <a:srgbClr val="ffffff"/>
              </a:solidFill>
              <a:latin typeface="Arial"/>
            </a:endParaRPr>
          </a:p>
        </p:txBody>
      </p:sp>
      <p:sp>
        <p:nvSpPr>
          <p:cNvPr id="2657"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58"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59"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Async/await, macros (declarative and procedural), and advanced unsafe/FFI patterns.  </a:t>
            </a:r>
            <a:endParaRPr b="0" lang="en-US" sz="1250" spc="-1" strike="noStrike">
              <a:solidFill>
                <a:srgbClr val="ffffff"/>
              </a:solidFill>
              <a:latin typeface="Arial"/>
            </a:endParaRPr>
          </a:p>
        </p:txBody>
      </p:sp>
      <p:sp>
        <p:nvSpPr>
          <p:cNvPr id="2660"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61"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62"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A hands-on workshop porting a real C++ module to Rust,  </a:t>
            </a:r>
            <a:r>
              <a:rPr b="0" lang="en-US" sz="1200" spc="-1" strike="noStrike">
                <a:solidFill>
                  <a:srgbClr val="9aa4b8"/>
                </a:solidFill>
                <a:latin typeface="Arial"/>
                <a:ea typeface="Arial"/>
              </a:rPr>
              <a:t>applying everything from today under time pressure.</a:t>
            </a:r>
            <a:endParaRPr b="0" lang="en-US" sz="1200" spc="-1" strike="noStrike">
              <a:solidFill>
                <a:srgbClr val="ffffff"/>
              </a:solidFill>
              <a:latin typeface="Arial"/>
            </a:endParaRPr>
          </a:p>
        </p:txBody>
      </p:sp>
      <p:sp>
        <p:nvSpPr>
          <p:cNvPr id="2663"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664"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162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9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665"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WRAP-UP &amp; ROADMAP</a:t>
            </a:r>
            <a:endParaRPr b="0" lang="en-US" sz="1300" spc="-1" strike="noStrike">
              <a:solidFill>
                <a:srgbClr val="ffffff"/>
              </a:solidFill>
              <a:latin typeface="Arial"/>
            </a:endParaRPr>
          </a:p>
        </p:txBody>
      </p:sp>
      <p:sp>
        <p:nvSpPr>
          <p:cNvPr id="2666"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Day 3 preview: Rust on the GPU</a:t>
            </a:r>
            <a:endParaRPr b="0" lang="en-US" sz="2800" spc="-1" strike="noStrike">
              <a:solidFill>
                <a:srgbClr val="ffffff"/>
              </a:solidFill>
              <a:latin typeface="Arial"/>
            </a:endParaRPr>
          </a:p>
        </p:txBody>
      </p:sp>
      <p:sp>
        <p:nvSpPr>
          <p:cNvPr id="2667"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68"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69"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A recap of the CUDA programming model, then the Rust GPU ecosystem:  </a:t>
            </a:r>
            <a:r>
              <a:rPr b="0" lang="en-US" sz="1200" spc="-1" strike="noStrike">
                <a:solidFill>
                  <a:srgbClr val="9aa4b8"/>
                </a:solidFill>
                <a:latin typeface="Arial"/>
                <a:ea typeface="Arial"/>
              </a:rPr>
              <a:t>rust-cuda, cudarc, and cust.</a:t>
            </a:r>
            <a:endParaRPr b="0" lang="en-US" sz="1200" spc="-1" strike="noStrike">
              <a:solidFill>
                <a:srgbClr val="ffffff"/>
              </a:solidFill>
              <a:latin typeface="Arial"/>
            </a:endParaRPr>
          </a:p>
        </p:txBody>
      </p:sp>
      <p:sp>
        <p:nvSpPr>
          <p:cNvPr id="2670"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71"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72"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Writing kernels where safety meets the hardware boundary,  </a:t>
            </a:r>
            <a:r>
              <a:rPr b="0" lang="en-US" sz="1200" spc="-1" strike="noStrike">
                <a:solidFill>
                  <a:srgbClr val="9aa4b8"/>
                </a:solidFill>
                <a:latin typeface="Arial"/>
                <a:ea typeface="Arial"/>
              </a:rPr>
              <a:t>and handling memory transfer and unified memory idiomatically.</a:t>
            </a:r>
            <a:endParaRPr b="0" lang="en-US" sz="1200" spc="-1" strike="noStrike">
              <a:solidFill>
                <a:srgbClr val="ffffff"/>
              </a:solidFill>
              <a:latin typeface="Arial"/>
            </a:endParaRPr>
          </a:p>
        </p:txBody>
      </p:sp>
      <p:sp>
        <p:nvSpPr>
          <p:cNvPr id="2673"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74"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75"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A capstone project: a Rust-hosted CUDA kernel,  </a:t>
            </a:r>
            <a:r>
              <a:rPr b="0" lang="en-US" sz="1200" spc="-1" strike="noStrike">
                <a:solidFill>
                  <a:srgbClr val="9aa4b8"/>
                </a:solidFill>
                <a:latin typeface="Arial"/>
                <a:ea typeface="Arial"/>
              </a:rPr>
              <a:t>benchmarked directly against a native CUDA C++ implementation.</a:t>
            </a:r>
            <a:endParaRPr b="0" lang="en-US" sz="1200" spc="-1" strike="noStrike">
              <a:solidFill>
                <a:srgbClr val="ffffff"/>
              </a:solidFill>
              <a:latin typeface="Arial"/>
            </a:endParaRPr>
          </a:p>
        </p:txBody>
      </p:sp>
      <p:sp>
        <p:nvSpPr>
          <p:cNvPr id="2676"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677"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163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9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678"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ce422b"/>
                </a:solidFill>
                <a:latin typeface="Arial"/>
                <a:ea typeface="Arial"/>
              </a:rPr>
              <a:t>WRAP-UP &amp; ROADMAP</a:t>
            </a:r>
            <a:endParaRPr b="0" lang="en-US" sz="1300" spc="-1" strike="noStrike">
              <a:solidFill>
                <a:srgbClr val="ffffff"/>
              </a:solidFill>
              <a:latin typeface="Arial"/>
            </a:endParaRPr>
          </a:p>
        </p:txBody>
      </p:sp>
      <p:sp>
        <p:nvSpPr>
          <p:cNvPr id="2679" name="Text 1"/>
          <p:cNvSpPr/>
          <p:nvPr/>
        </p:nvSpPr>
        <p:spPr>
          <a:xfrm>
            <a:off x="548640" y="2194560"/>
            <a:ext cx="11062800" cy="2101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3200" spc="-1" strike="noStrike">
                <a:solidFill>
                  <a:srgbClr val="edeff4"/>
                </a:solidFill>
                <a:latin typeface="Arial"/>
                <a:ea typeface="Arial"/>
              </a:rPr>
              <a:t>Everything today was one idea, applied consistently.</a:t>
            </a:r>
            <a:endParaRPr b="0" lang="en-US" sz="3200" spc="-1" strike="noStrike">
              <a:solidFill>
                <a:srgbClr val="ffffff"/>
              </a:solidFill>
              <a:latin typeface="Arial"/>
            </a:endParaRPr>
          </a:p>
        </p:txBody>
      </p:sp>
      <p:sp>
        <p:nvSpPr>
          <p:cNvPr id="2680" name="Text 2"/>
          <p:cNvSpPr/>
          <p:nvPr/>
        </p:nvSpPr>
        <p:spPr>
          <a:xfrm>
            <a:off x="548640" y="4434840"/>
            <a:ext cx="1033128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30000"/>
              </a:lnSpc>
              <a:tabLst>
                <a:tab algn="l" pos="0"/>
              </a:tabLst>
            </a:pPr>
            <a:r>
              <a:rPr b="0" lang="en-US" sz="1400" spc="-1" strike="noStrike">
                <a:solidFill>
                  <a:srgbClr val="9aa4b8"/>
                </a:solidFill>
                <a:latin typeface="Arial"/>
                <a:ea typeface="Arial"/>
              </a:rPr>
              <a:t>Discipline you already practice in C++ — RAII, careful aliasing, lock discipline, exhaustive switch statements — becomes a property the compiler verifies instead of one you maintain by habit. Tomorrow, we start applying that same idea to harder problems.</a:t>
            </a:r>
            <a:endParaRPr b="0" lang="en-US" sz="1400" spc="-1" strike="noStrike">
              <a:solidFill>
                <a:srgbClr val="ffffff"/>
              </a:solidFill>
              <a:latin typeface="Arial"/>
            </a:endParaRPr>
          </a:p>
        </p:txBody>
      </p:sp>
      <p:sp>
        <p:nvSpPr>
          <p:cNvPr id="2681" name="Text 3"/>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682" name="Text 4"/>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164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9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683"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WRAP-UP</a:t>
            </a:r>
            <a:endParaRPr b="0" lang="en-US" sz="1300" spc="-1" strike="noStrike">
              <a:solidFill>
                <a:srgbClr val="ffffff"/>
              </a:solidFill>
              <a:latin typeface="Arial"/>
            </a:endParaRPr>
          </a:p>
        </p:txBody>
      </p:sp>
      <p:sp>
        <p:nvSpPr>
          <p:cNvPr id="2684"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Thank you — see you for Day 2</a:t>
            </a:r>
            <a:endParaRPr b="0" lang="en-US" sz="2800" spc="-1" strike="noStrike">
              <a:solidFill>
                <a:srgbClr val="ffffff"/>
              </a:solidFill>
              <a:latin typeface="Arial"/>
            </a:endParaRPr>
          </a:p>
        </p:txBody>
      </p:sp>
      <p:sp>
        <p:nvSpPr>
          <p:cNvPr id="2685" name="Shape 2"/>
          <p:cNvSpPr/>
          <p:nvPr/>
        </p:nvSpPr>
        <p:spPr>
          <a:xfrm>
            <a:off x="548640" y="1828800"/>
            <a:ext cx="5347800" cy="775800"/>
          </a:xfrm>
          <a:prstGeom prst="roundRect">
            <a:avLst>
              <a:gd name="adj" fmla="val 941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86" name="Shape 3"/>
          <p:cNvSpPr/>
          <p:nvPr/>
        </p:nvSpPr>
        <p:spPr>
          <a:xfrm>
            <a:off x="731520" y="2135160"/>
            <a:ext cx="163080" cy="163080"/>
          </a:xfrm>
          <a:prstGeom prst="roundRect">
            <a:avLst>
              <a:gd name="adj" fmla="val 277778"/>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87" name="Text 4"/>
          <p:cNvSpPr/>
          <p:nvPr/>
        </p:nvSpPr>
        <p:spPr>
          <a:xfrm>
            <a:off x="1051560" y="1901880"/>
            <a:ext cx="4616280" cy="6296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0" lang="en-US" sz="1200" spc="-1" strike="noStrike">
                <a:solidFill>
                  <a:srgbClr val="edeff4"/>
                </a:solidFill>
                <a:latin typeface="Arial"/>
                <a:ea typeface="Arial"/>
              </a:rPr>
              <a:t>Bring your own C++ codebase snippets for the porting workshop</a:t>
            </a:r>
            <a:endParaRPr b="0" lang="en-US" sz="1200" spc="-1" strike="noStrike">
              <a:solidFill>
                <a:srgbClr val="ffffff"/>
              </a:solidFill>
              <a:latin typeface="Arial"/>
            </a:endParaRPr>
          </a:p>
        </p:txBody>
      </p:sp>
      <p:sp>
        <p:nvSpPr>
          <p:cNvPr id="2688" name="Shape 5"/>
          <p:cNvSpPr/>
          <p:nvPr/>
        </p:nvSpPr>
        <p:spPr>
          <a:xfrm>
            <a:off x="6263640" y="1828800"/>
            <a:ext cx="5347800" cy="775800"/>
          </a:xfrm>
          <a:prstGeom prst="roundRect">
            <a:avLst>
              <a:gd name="adj" fmla="val 941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89" name="Shape 6"/>
          <p:cNvSpPr/>
          <p:nvPr/>
        </p:nvSpPr>
        <p:spPr>
          <a:xfrm>
            <a:off x="6446520" y="2135160"/>
            <a:ext cx="163080" cy="163080"/>
          </a:xfrm>
          <a:prstGeom prst="roundRect">
            <a:avLst>
              <a:gd name="adj" fmla="val 277778"/>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90" name="Text 7"/>
          <p:cNvSpPr/>
          <p:nvPr/>
        </p:nvSpPr>
        <p:spPr>
          <a:xfrm>
            <a:off x="6766560" y="1901880"/>
            <a:ext cx="4616280" cy="6296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0" lang="en-US" sz="1200" spc="-1" strike="noStrike">
                <a:solidFill>
                  <a:srgbClr val="edeff4"/>
                </a:solidFill>
                <a:latin typeface="Arial"/>
                <a:ea typeface="Arial"/>
              </a:rPr>
              <a:t>Install rustup, cargo-clippy, and cargo-criterion before Day 2</a:t>
            </a:r>
            <a:endParaRPr b="0" lang="en-US" sz="1200" spc="-1" strike="noStrike">
              <a:solidFill>
                <a:srgbClr val="ffffff"/>
              </a:solidFill>
              <a:latin typeface="Arial"/>
            </a:endParaRPr>
          </a:p>
        </p:txBody>
      </p:sp>
      <p:sp>
        <p:nvSpPr>
          <p:cNvPr id="2691" name="Shape 8"/>
          <p:cNvSpPr/>
          <p:nvPr/>
        </p:nvSpPr>
        <p:spPr>
          <a:xfrm>
            <a:off x="548640" y="2752200"/>
            <a:ext cx="5347800" cy="775800"/>
          </a:xfrm>
          <a:prstGeom prst="roundRect">
            <a:avLst>
              <a:gd name="adj" fmla="val 941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92" name="Shape 9"/>
          <p:cNvSpPr/>
          <p:nvPr/>
        </p:nvSpPr>
        <p:spPr>
          <a:xfrm>
            <a:off x="731520" y="3058560"/>
            <a:ext cx="163080" cy="163080"/>
          </a:xfrm>
          <a:prstGeom prst="roundRect">
            <a:avLst>
              <a:gd name="adj" fmla="val 277778"/>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93" name="Text 10"/>
          <p:cNvSpPr/>
          <p:nvPr/>
        </p:nvSpPr>
        <p:spPr>
          <a:xfrm>
            <a:off x="1051560" y="2825640"/>
            <a:ext cx="4616280" cy="6296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0" lang="en-US" sz="1200" spc="-1" strike="noStrike">
                <a:solidFill>
                  <a:srgbClr val="edeff4"/>
                </a:solidFill>
                <a:latin typeface="Arial"/>
                <a:ea typeface="Arial"/>
              </a:rPr>
              <a:t>Review today's slides — Day 2 assumes this vocabulary is comfortable</a:t>
            </a:r>
            <a:endParaRPr b="0" lang="en-US" sz="1200" spc="-1" strike="noStrike">
              <a:solidFill>
                <a:srgbClr val="ffffff"/>
              </a:solidFill>
              <a:latin typeface="Arial"/>
            </a:endParaRPr>
          </a:p>
        </p:txBody>
      </p:sp>
      <p:sp>
        <p:nvSpPr>
          <p:cNvPr id="2694" name="Shape 11"/>
          <p:cNvSpPr/>
          <p:nvPr/>
        </p:nvSpPr>
        <p:spPr>
          <a:xfrm>
            <a:off x="6263640" y="2752200"/>
            <a:ext cx="5347800" cy="775800"/>
          </a:xfrm>
          <a:prstGeom prst="roundRect">
            <a:avLst>
              <a:gd name="adj" fmla="val 941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95" name="Shape 12"/>
          <p:cNvSpPr/>
          <p:nvPr/>
        </p:nvSpPr>
        <p:spPr>
          <a:xfrm>
            <a:off x="6446520" y="3058560"/>
            <a:ext cx="163080" cy="163080"/>
          </a:xfrm>
          <a:prstGeom prst="roundRect">
            <a:avLst>
              <a:gd name="adj" fmla="val 277778"/>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96" name="Text 13"/>
          <p:cNvSpPr/>
          <p:nvPr/>
        </p:nvSpPr>
        <p:spPr>
          <a:xfrm>
            <a:off x="6766560" y="2825640"/>
            <a:ext cx="4616280" cy="6296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0" lang="en-US" sz="1200" spc="-1" strike="noStrike">
                <a:solidFill>
                  <a:srgbClr val="edeff4"/>
                </a:solidFill>
                <a:latin typeface="Arial"/>
                <a:ea typeface="Arial"/>
              </a:rPr>
              <a:t>Questions between sessions: office hours posted on the course portal</a:t>
            </a:r>
            <a:endParaRPr b="0" lang="en-US" sz="1200" spc="-1" strike="noStrike">
              <a:solidFill>
                <a:srgbClr val="ffffff"/>
              </a:solidFill>
              <a:latin typeface="Arial"/>
            </a:endParaRPr>
          </a:p>
        </p:txBody>
      </p:sp>
      <p:sp>
        <p:nvSpPr>
          <p:cNvPr id="2697" name="Shape 14"/>
          <p:cNvSpPr/>
          <p:nvPr/>
        </p:nvSpPr>
        <p:spPr>
          <a:xfrm>
            <a:off x="548640" y="3675960"/>
            <a:ext cx="5347800" cy="775800"/>
          </a:xfrm>
          <a:prstGeom prst="roundRect">
            <a:avLst>
              <a:gd name="adj" fmla="val 941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98" name="Shape 15"/>
          <p:cNvSpPr/>
          <p:nvPr/>
        </p:nvSpPr>
        <p:spPr>
          <a:xfrm>
            <a:off x="731520" y="3982320"/>
            <a:ext cx="163080" cy="163080"/>
          </a:xfrm>
          <a:prstGeom prst="roundRect">
            <a:avLst>
              <a:gd name="adj" fmla="val 277778"/>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99" name="Text 16"/>
          <p:cNvSpPr/>
          <p:nvPr/>
        </p:nvSpPr>
        <p:spPr>
          <a:xfrm>
            <a:off x="1051560" y="3749040"/>
            <a:ext cx="4616280" cy="6296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0" lang="en-US" sz="1200" spc="-1" strike="noStrike">
                <a:solidFill>
                  <a:srgbClr val="edeff4"/>
                </a:solidFill>
                <a:latin typeface="Arial"/>
                <a:ea typeface="Arial"/>
              </a:rPr>
              <a:t>Day 3 requires a CUDA-capable machine — check the setup guide</a:t>
            </a:r>
            <a:endParaRPr b="0" lang="en-US" sz="1200" spc="-1" strike="noStrike">
              <a:solidFill>
                <a:srgbClr val="ffffff"/>
              </a:solidFill>
              <a:latin typeface="Arial"/>
            </a:endParaRPr>
          </a:p>
        </p:txBody>
      </p:sp>
      <p:sp>
        <p:nvSpPr>
          <p:cNvPr id="2700" name="Shape 17"/>
          <p:cNvSpPr/>
          <p:nvPr/>
        </p:nvSpPr>
        <p:spPr>
          <a:xfrm>
            <a:off x="6263640" y="3675960"/>
            <a:ext cx="5347800" cy="775800"/>
          </a:xfrm>
          <a:prstGeom prst="roundRect">
            <a:avLst>
              <a:gd name="adj" fmla="val 941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701" name="Shape 18"/>
          <p:cNvSpPr/>
          <p:nvPr/>
        </p:nvSpPr>
        <p:spPr>
          <a:xfrm>
            <a:off x="6446520" y="3982320"/>
            <a:ext cx="163080" cy="163080"/>
          </a:xfrm>
          <a:prstGeom prst="roundRect">
            <a:avLst>
              <a:gd name="adj" fmla="val 277778"/>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702" name="Text 19"/>
          <p:cNvSpPr/>
          <p:nvPr/>
        </p:nvSpPr>
        <p:spPr>
          <a:xfrm>
            <a:off x="6766560" y="3749040"/>
            <a:ext cx="4616280" cy="6296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0" lang="en-US" sz="1200" spc="-1" strike="noStrike">
                <a:solidFill>
                  <a:srgbClr val="edeff4"/>
                </a:solidFill>
                <a:latin typeface="Arial"/>
                <a:ea typeface="Arial"/>
              </a:rPr>
              <a:t>The capstone project brief will be shared at the start of Day 3</a:t>
            </a:r>
            <a:endParaRPr b="0" lang="en-US" sz="1200" spc="-1" strike="noStrike">
              <a:solidFill>
                <a:srgbClr val="ffffff"/>
              </a:solidFill>
              <a:latin typeface="Arial"/>
            </a:endParaRPr>
          </a:p>
        </p:txBody>
      </p:sp>
      <p:sp>
        <p:nvSpPr>
          <p:cNvPr id="2703" name="Text 20"/>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704" name="Text 21"/>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165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C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46304"/>
          </a:xfrm>
          <a:prstGeom prst="rect">
            <a:avLst/>
          </a:prstGeom>
          <a:solidFill>
            <a:srgbClr val="FF4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92000" cy="54864"/>
          </a:xfrm>
          <a:prstGeom prst="rect">
            <a:avLst/>
          </a:prstGeom>
          <a:solidFill>
            <a:srgbClr val="141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4206240" cy="201168"/>
          </a:xfrm>
          <a:prstGeom prst="rect">
            <a:avLst/>
          </a:prstGeom>
          <a:noFill/>
        </p:spPr>
        <p:txBody>
          <a:bodyPr wrap="none" lIns="0" rIns="0" tIns="0" bIns="0" anchor="t">
            <a:spAutoFit/>
          </a:bodyPr>
          <a:lstStyle/>
          <a:p>
            <a:pPr algn="l"/>
            <a:r>
              <a:rPr sz="1250" b="1">
                <a:solidFill>
                  <a:srgbClr val="FF743E"/>
                </a:solidFill>
                <a:latin typeface="Aptos"/>
              </a:rPr>
              <a:t>INSTRUCTOR FLIGHT CONTROL</a:t>
            </a:r>
          </a:p>
        </p:txBody>
      </p:sp>
      <p:sp>
        <p:nvSpPr>
          <p:cNvPr id="6" name="TextBox 5"/>
          <p:cNvSpPr txBox="1"/>
          <p:nvPr/>
        </p:nvSpPr>
        <p:spPr>
          <a:xfrm>
            <a:off x="566928" y="713232"/>
            <a:ext cx="7772400" cy="896112"/>
          </a:xfrm>
          <a:prstGeom prst="rect">
            <a:avLst/>
          </a:prstGeom>
          <a:noFill/>
        </p:spPr>
        <p:txBody>
          <a:bodyPr wrap="none" lIns="0" rIns="0" tIns="0" bIns="0" anchor="t">
            <a:spAutoFit/>
          </a:bodyPr>
          <a:lstStyle/>
          <a:p>
            <a:pPr algn="l"/>
            <a:r>
              <a:rPr sz="2900" b="1">
                <a:solidFill>
                  <a:srgbClr val="EFF3F9"/>
                </a:solidFill>
                <a:latin typeface="Aptos"/>
              </a:rPr>
              <a:t>Day 1 is a hub, not a railway</a:t>
            </a:r>
          </a:p>
        </p:txBody>
      </p:sp>
      <p:sp>
        <p:nvSpPr>
          <p:cNvPr id="7" name="TextBox 6"/>
          <p:cNvSpPr txBox="1"/>
          <p:nvPr/>
        </p:nvSpPr>
        <p:spPr>
          <a:xfrm>
            <a:off x="585216" y="1591056"/>
            <a:ext cx="8321040" cy="384048"/>
          </a:xfrm>
          <a:prstGeom prst="rect">
            <a:avLst/>
          </a:prstGeom>
          <a:noFill/>
        </p:spPr>
        <p:txBody>
          <a:bodyPr wrap="none" lIns="0" rIns="0" tIns="0" bIns="0" anchor="t">
            <a:spAutoFit/>
          </a:bodyPr>
          <a:lstStyle/>
          <a:p>
            <a:pPr algn="l"/>
            <a:r>
              <a:rPr sz="1460" b="0">
                <a:solidFill>
                  <a:srgbClr val="A8B3C4"/>
                </a:solidFill>
                <a:latin typeface="Aptos"/>
              </a:rPr>
              <a:t>Use the standard slides as anchors. Use the deep dives and Fix-Its as controlled detours when the room needs the why.</a:t>
            </a:r>
          </a:p>
        </p:txBody>
      </p:sp>
      <p:sp>
        <p:nvSpPr>
          <p:cNvPr id="8" name="Rounded Rectangle 7"/>
          <p:cNvSpPr/>
          <p:nvPr/>
        </p:nvSpPr>
        <p:spPr>
          <a:xfrm>
            <a:off x="566928" y="1975104"/>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975104"/>
            <a:ext cx="54864" cy="1664208"/>
          </a:xfrm>
          <a:prstGeom prst="rect">
            <a:avLst/>
          </a:prstGeom>
          <a:solidFill>
            <a:srgbClr val="F7C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139696"/>
            <a:ext cx="3172968" cy="274320"/>
          </a:xfrm>
          <a:prstGeom prst="rect">
            <a:avLst/>
          </a:prstGeom>
          <a:noFill/>
        </p:spPr>
        <p:txBody>
          <a:bodyPr wrap="none" lIns="0" rIns="0" tIns="0" bIns="0" anchor="t">
            <a:spAutoFit/>
          </a:bodyPr>
          <a:lstStyle/>
          <a:p>
            <a:pPr algn="l"/>
            <a:r>
              <a:rPr sz="1180" b="1">
                <a:solidFill>
                  <a:srgbClr val="F7C564"/>
                </a:solidFill>
                <a:latin typeface="Aptos"/>
              </a:rPr>
              <a:t>Trigger</a:t>
            </a:r>
          </a:p>
        </p:txBody>
      </p:sp>
      <p:sp>
        <p:nvSpPr>
          <p:cNvPr id="11" name="TextBox 10"/>
          <p:cNvSpPr txBox="1"/>
          <p:nvPr/>
        </p:nvSpPr>
        <p:spPr>
          <a:xfrm>
            <a:off x="786384" y="2542032"/>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Before slide 01: class is not calibrated yet.</a:t>
            </a:r>
          </a:p>
          <a:p>
            <a:pPr>
              <a:spcAft>
                <a:spcPts val="100"/>
              </a:spcAft>
            </a:pPr>
            <a:r>
              <a:rPr sz="1220" b="0">
                <a:solidFill>
                  <a:srgbClr val="A8B3C4"/>
                </a:solidFill>
                <a:latin typeface="Aptos"/>
              </a:rPr>
              <a:t>Set expectations: we will hop between C++, Rust, compiler, and exercises.</a:t>
            </a:r>
          </a:p>
        </p:txBody>
      </p:sp>
      <p:sp>
        <p:nvSpPr>
          <p:cNvPr id="12" name="Rounded Rectangle 11"/>
          <p:cNvSpPr/>
          <p:nvPr/>
        </p:nvSpPr>
        <p:spPr>
          <a:xfrm>
            <a:off x="4416552" y="1975104"/>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6552" y="1975104"/>
            <a:ext cx="54864" cy="1664208"/>
          </a:xfrm>
          <a:prstGeom prst="rect">
            <a:avLst/>
          </a:prstGeom>
          <a:solidFill>
            <a:srgbClr val="66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36008" y="2139696"/>
            <a:ext cx="3172968" cy="274320"/>
          </a:xfrm>
          <a:prstGeom prst="rect">
            <a:avLst/>
          </a:prstGeom>
          <a:noFill/>
        </p:spPr>
        <p:txBody>
          <a:bodyPr wrap="none" lIns="0" rIns="0" tIns="0" bIns="0" anchor="t">
            <a:spAutoFit/>
          </a:bodyPr>
          <a:lstStyle/>
          <a:p>
            <a:pPr algn="l"/>
            <a:r>
              <a:rPr sz="1180" b="1">
                <a:solidFill>
                  <a:srgbClr val="66A6FF"/>
                </a:solidFill>
                <a:latin typeface="Aptos"/>
              </a:rPr>
              <a:t>Pull in now</a:t>
            </a:r>
          </a:p>
        </p:txBody>
      </p:sp>
      <p:sp>
        <p:nvSpPr>
          <p:cNvPr id="15" name="TextBox 14"/>
          <p:cNvSpPr txBox="1"/>
          <p:nvPr/>
        </p:nvSpPr>
        <p:spPr>
          <a:xfrm>
            <a:off x="4636008" y="2542032"/>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Bird’s-Eye Map &amp; Missing Stacks deck</a:t>
            </a:r>
          </a:p>
          <a:p>
            <a:pPr>
              <a:spcAft>
                <a:spcPts val="100"/>
              </a:spcAft>
            </a:pPr>
            <a:r>
              <a:rPr sz="1220" b="0">
                <a:solidFill>
                  <a:srgbClr val="A8B3C4"/>
                </a:solidFill>
                <a:latin typeface="Aptos"/>
              </a:rPr>
              <a:t>Use only the map / philosophy slides if time is tight.</a:t>
            </a:r>
          </a:p>
        </p:txBody>
      </p:sp>
      <p:sp>
        <p:nvSpPr>
          <p:cNvPr id="16" name="Rounded Rectangle 15"/>
          <p:cNvSpPr/>
          <p:nvPr/>
        </p:nvSpPr>
        <p:spPr>
          <a:xfrm>
            <a:off x="566928" y="3858768"/>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3858768"/>
            <a:ext cx="54864" cy="1664208"/>
          </a:xfrm>
          <a:prstGeom prst="rect">
            <a:avLst/>
          </a:prstGeom>
          <a:solidFill>
            <a:srgbClr val="4E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023359"/>
            <a:ext cx="3172968" cy="274320"/>
          </a:xfrm>
          <a:prstGeom prst="rect">
            <a:avLst/>
          </a:prstGeom>
          <a:noFill/>
        </p:spPr>
        <p:txBody>
          <a:bodyPr wrap="none" lIns="0" rIns="0" tIns="0" bIns="0" anchor="t">
            <a:spAutoFit/>
          </a:bodyPr>
          <a:lstStyle/>
          <a:p>
            <a:pPr algn="l"/>
            <a:r>
              <a:rPr sz="1180" b="1">
                <a:solidFill>
                  <a:srgbClr val="4ECCA3"/>
                </a:solidFill>
                <a:latin typeface="Aptos"/>
              </a:rPr>
              <a:t>Exercise / check</a:t>
            </a:r>
          </a:p>
        </p:txBody>
      </p:sp>
      <p:sp>
        <p:nvSpPr>
          <p:cNvPr id="19" name="TextBox 18"/>
          <p:cNvSpPr txBox="1"/>
          <p:nvPr/>
        </p:nvSpPr>
        <p:spPr>
          <a:xfrm>
            <a:off x="786384" y="4425696"/>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No code yet.</a:t>
            </a:r>
          </a:p>
          <a:p>
            <a:pPr>
              <a:spcAft>
                <a:spcPts val="100"/>
              </a:spcAft>
            </a:pPr>
            <a:r>
              <a:rPr sz="1220" b="0">
                <a:solidFill>
                  <a:srgbClr val="A8B3C4"/>
                </a:solidFill>
                <a:latin typeface="Aptos"/>
              </a:rPr>
              <a:t>Ask: “What facts does a C++ programmer keep in their head?”</a:t>
            </a:r>
          </a:p>
        </p:txBody>
      </p:sp>
      <p:sp>
        <p:nvSpPr>
          <p:cNvPr id="20" name="Rounded Rectangle 19"/>
          <p:cNvSpPr/>
          <p:nvPr/>
        </p:nvSpPr>
        <p:spPr>
          <a:xfrm>
            <a:off x="4416552" y="3858768"/>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6552" y="3858768"/>
            <a:ext cx="54864" cy="1664208"/>
          </a:xfrm>
          <a:prstGeom prst="rect">
            <a:avLst/>
          </a:prstGeom>
          <a:solidFill>
            <a:srgbClr val="FF7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36008" y="4023359"/>
            <a:ext cx="3172968" cy="274320"/>
          </a:xfrm>
          <a:prstGeom prst="rect">
            <a:avLst/>
          </a:prstGeom>
          <a:noFill/>
        </p:spPr>
        <p:txBody>
          <a:bodyPr wrap="none" lIns="0" rIns="0" tIns="0" bIns="0" anchor="t">
            <a:spAutoFit/>
          </a:bodyPr>
          <a:lstStyle/>
          <a:p>
            <a:pPr algn="l"/>
            <a:r>
              <a:rPr sz="1180" b="1">
                <a:solidFill>
                  <a:srgbClr val="FF743E"/>
                </a:solidFill>
                <a:latin typeface="Aptos"/>
              </a:rPr>
              <a:t>Return anchor</a:t>
            </a:r>
          </a:p>
        </p:txBody>
      </p:sp>
      <p:sp>
        <p:nvSpPr>
          <p:cNvPr id="23" name="TextBox 22"/>
          <p:cNvSpPr txBox="1"/>
          <p:nvPr/>
        </p:nvSpPr>
        <p:spPr>
          <a:xfrm>
            <a:off x="4636008" y="4425696"/>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Return to Why Rust? once the course contract is clear.</a:t>
            </a:r>
          </a:p>
          <a:p>
            <a:pPr>
              <a:spcAft>
                <a:spcPts val="100"/>
              </a:spcAft>
            </a:pPr>
            <a:r>
              <a:rPr sz="1220" b="0">
                <a:solidFill>
                  <a:srgbClr val="A8B3C4"/>
                </a:solidFill>
                <a:latin typeface="Aptos"/>
              </a:rPr>
              <a:t>Core question: what can the compiler prove?</a:t>
            </a:r>
          </a:p>
        </p:txBody>
      </p:sp>
      <p:sp>
        <p:nvSpPr>
          <p:cNvPr id="24" name="Rounded Rectangle 23"/>
          <p:cNvSpPr/>
          <p:nvPr/>
        </p:nvSpPr>
        <p:spPr>
          <a:xfrm>
            <a:off x="8366760" y="2011680"/>
            <a:ext cx="3127248" cy="3291840"/>
          </a:xfrm>
          <a:prstGeom prst="roundRect">
            <a:avLst/>
          </a:prstGeom>
          <a:solidFill>
            <a:srgbClr val="121B2B"/>
          </a:solidFill>
          <a:ln w="12700">
            <a:solidFill>
              <a:srgbClr val="2F3F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668512" y="2304288"/>
            <a:ext cx="1353312" cy="301752"/>
          </a:xfrm>
          <a:prstGeom prst="roundRect">
            <a:avLst/>
          </a:prstGeom>
          <a:solidFill>
            <a:srgbClr val="161F2E"/>
          </a:solidFill>
          <a:ln w="15240">
            <a:solidFill>
              <a:srgbClr val="FF743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743E"/>
                </a:solidFill>
                <a:latin typeface="Aptos"/>
              </a:rPr>
              <a:t>COURSE COMPASS</a:t>
            </a:r>
          </a:p>
        </p:txBody>
      </p:sp>
      <p:sp>
        <p:nvSpPr>
          <p:cNvPr id="26" name="TextBox 25"/>
          <p:cNvSpPr txBox="1"/>
          <p:nvPr/>
        </p:nvSpPr>
        <p:spPr>
          <a:xfrm>
            <a:off x="8641080" y="2788920"/>
            <a:ext cx="2423160" cy="548640"/>
          </a:xfrm>
          <a:prstGeom prst="rect">
            <a:avLst/>
          </a:prstGeom>
          <a:noFill/>
        </p:spPr>
        <p:txBody>
          <a:bodyPr wrap="none" lIns="0" rIns="0" tIns="0" bIns="0" anchor="t">
            <a:spAutoFit/>
          </a:bodyPr>
          <a:lstStyle/>
          <a:p>
            <a:pPr algn="l"/>
            <a:r>
              <a:rPr sz="1300" b="1">
                <a:solidFill>
                  <a:srgbClr val="A8B3C4"/>
                </a:solidFill>
                <a:latin typeface="Aptos"/>
              </a:rPr>
              <a:t>Instructor move</a:t>
            </a:r>
          </a:p>
        </p:txBody>
      </p:sp>
      <p:sp>
        <p:nvSpPr>
          <p:cNvPr id="27" name="TextBox 26"/>
          <p:cNvSpPr txBox="1"/>
          <p:nvPr/>
        </p:nvSpPr>
        <p:spPr>
          <a:xfrm>
            <a:off x="8641080" y="3227832"/>
            <a:ext cx="2423160" cy="877824"/>
          </a:xfrm>
          <a:prstGeom prst="rect">
            <a:avLst/>
          </a:prstGeom>
          <a:noFill/>
        </p:spPr>
        <p:txBody>
          <a:bodyPr wrap="none" lIns="0" rIns="0" tIns="0" bIns="0" anchor="t">
            <a:spAutoFit/>
          </a:bodyPr>
          <a:lstStyle/>
          <a:p>
            <a:pPr algn="l"/>
            <a:r>
              <a:rPr sz="1600" b="0">
                <a:solidFill>
                  <a:srgbClr val="EFF3F9"/>
                </a:solidFill>
                <a:latin typeface="Aptos"/>
              </a:rPr>
              <a:t>Pause, choose the route, then return to the standard stack.</a:t>
            </a:r>
          </a:p>
        </p:txBody>
      </p:sp>
      <p:sp>
        <p:nvSpPr>
          <p:cNvPr id="28" name="TextBox 27"/>
          <p:cNvSpPr txBox="1"/>
          <p:nvPr/>
        </p:nvSpPr>
        <p:spPr>
          <a:xfrm>
            <a:off x="8641080" y="4315968"/>
            <a:ext cx="2423160" cy="310896"/>
          </a:xfrm>
          <a:prstGeom prst="rect">
            <a:avLst/>
          </a:prstGeom>
          <a:noFill/>
        </p:spPr>
        <p:txBody>
          <a:bodyPr wrap="none" lIns="0" rIns="0" tIns="0" bIns="0" anchor="t">
            <a:spAutoFit/>
          </a:bodyPr>
          <a:lstStyle/>
          <a:p>
            <a:pPr algn="l"/>
            <a:r>
              <a:rPr sz="1250" b="1">
                <a:solidFill>
                  <a:srgbClr val="A8B3C4"/>
                </a:solidFill>
                <a:latin typeface="Aptos"/>
              </a:rPr>
              <a:t>Suggested time</a:t>
            </a:r>
          </a:p>
        </p:txBody>
      </p:sp>
      <p:sp>
        <p:nvSpPr>
          <p:cNvPr id="29" name="TextBox 28"/>
          <p:cNvSpPr txBox="1"/>
          <p:nvPr/>
        </p:nvSpPr>
        <p:spPr>
          <a:xfrm>
            <a:off x="8641080" y="4617720"/>
            <a:ext cx="2423160" cy="402336"/>
          </a:xfrm>
          <a:prstGeom prst="rect">
            <a:avLst/>
          </a:prstGeom>
          <a:noFill/>
        </p:spPr>
        <p:txBody>
          <a:bodyPr wrap="none" lIns="0" rIns="0" tIns="0" bIns="0" anchor="t">
            <a:spAutoFit/>
          </a:bodyPr>
          <a:lstStyle/>
          <a:p>
            <a:pPr algn="l"/>
            <a:r>
              <a:rPr sz="1800" b="1">
                <a:solidFill>
                  <a:srgbClr val="FF743E"/>
                </a:solidFill>
                <a:latin typeface="Aptos"/>
              </a:rPr>
              <a:t>8–12 min</a:t>
            </a:r>
          </a:p>
        </p:txBody>
      </p:sp>
      <p:sp>
        <p:nvSpPr>
          <p:cNvPr id="30" name="TextBox 29"/>
          <p:cNvSpPr txBox="1"/>
          <p:nvPr/>
        </p:nvSpPr>
        <p:spPr>
          <a:xfrm>
            <a:off x="566928" y="6291072"/>
            <a:ext cx="5303520" cy="219456"/>
          </a:xfrm>
          <a:prstGeom prst="rect">
            <a:avLst/>
          </a:prstGeom>
          <a:noFill/>
        </p:spPr>
        <p:txBody>
          <a:bodyPr wrap="none" lIns="0" rIns="0" tIns="0" bIns="0" anchor="t">
            <a:spAutoFit/>
          </a:bodyPr>
          <a:lstStyle/>
          <a:p>
            <a:pPr algn="l"/>
            <a:r>
              <a:rPr sz="1050" b="0">
                <a:solidFill>
                  <a:srgbClr val="5E6E87"/>
                </a:solidFill>
                <a:latin typeface="Aptos"/>
              </a:rPr>
              <a:t>Rust for Experienced C++ Developers — navigation interleave</a:t>
            </a:r>
          </a:p>
        </p:txBody>
      </p:sp>
      <p:sp>
        <p:nvSpPr>
          <p:cNvPr id="31" name="TextBox 30"/>
          <p:cNvSpPr txBox="1"/>
          <p:nvPr/>
        </p:nvSpPr>
        <p:spPr>
          <a:xfrm>
            <a:off x="10040112" y="6272784"/>
            <a:ext cx="1463040" cy="256032"/>
          </a:xfrm>
          <a:prstGeom prst="rect">
            <a:avLst/>
          </a:prstGeom>
          <a:noFill/>
        </p:spPr>
        <p:txBody>
          <a:bodyPr wrap="none" lIns="0" rIns="0" tIns="0" bIns="0" anchor="t">
            <a:spAutoFit/>
          </a:bodyPr>
          <a:lstStyle/>
          <a:p>
            <a:pPr algn="r"/>
            <a:r>
              <a:rPr sz="1050" b="0">
                <a:solidFill>
                  <a:srgbClr val="5E6E87"/>
                </a:solidFill>
                <a:latin typeface="Aptos"/>
              </a:rPr>
              <a:t>jump-friendly</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C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46304"/>
          </a:xfrm>
          <a:prstGeom prst="rect">
            <a:avLst/>
          </a:prstGeom>
          <a:solidFill>
            <a:srgbClr val="FF4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92000" cy="54864"/>
          </a:xfrm>
          <a:prstGeom prst="rect">
            <a:avLst/>
          </a:prstGeom>
          <a:solidFill>
            <a:srgbClr val="141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4206240" cy="201168"/>
          </a:xfrm>
          <a:prstGeom prst="rect">
            <a:avLst/>
          </a:prstGeom>
          <a:noFill/>
        </p:spPr>
        <p:txBody>
          <a:bodyPr wrap="none" lIns="0" rIns="0" tIns="0" bIns="0" anchor="t">
            <a:spAutoFit/>
          </a:bodyPr>
          <a:lstStyle/>
          <a:p>
            <a:pPr algn="l"/>
            <a:r>
              <a:rPr sz="1250" b="1">
                <a:solidFill>
                  <a:srgbClr val="FF743E"/>
                </a:solidFill>
                <a:latin typeface="Aptos"/>
              </a:rPr>
              <a:t>TONE CHECKPOINT</a:t>
            </a:r>
          </a:p>
        </p:txBody>
      </p:sp>
      <p:sp>
        <p:nvSpPr>
          <p:cNvPr id="6" name="TextBox 5"/>
          <p:cNvSpPr txBox="1"/>
          <p:nvPr/>
        </p:nvSpPr>
        <p:spPr>
          <a:xfrm>
            <a:off x="566928" y="713232"/>
            <a:ext cx="7772400" cy="896112"/>
          </a:xfrm>
          <a:prstGeom prst="rect">
            <a:avLst/>
          </a:prstGeom>
          <a:noFill/>
        </p:spPr>
        <p:txBody>
          <a:bodyPr wrap="none" lIns="0" rIns="0" tIns="0" bIns="0" anchor="t">
            <a:spAutoFit/>
          </a:bodyPr>
          <a:lstStyle/>
          <a:p>
            <a:pPr algn="l"/>
            <a:r>
              <a:rPr sz="2900" b="1">
                <a:solidFill>
                  <a:srgbClr val="EFF3F9"/>
                </a:solidFill>
                <a:latin typeface="Aptos"/>
              </a:rPr>
              <a:t>Rust starts from good C++ discipline</a:t>
            </a:r>
          </a:p>
        </p:txBody>
      </p:sp>
      <p:sp>
        <p:nvSpPr>
          <p:cNvPr id="7" name="TextBox 6"/>
          <p:cNvSpPr txBox="1"/>
          <p:nvPr/>
        </p:nvSpPr>
        <p:spPr>
          <a:xfrm>
            <a:off x="585216" y="1591056"/>
            <a:ext cx="8321040" cy="384048"/>
          </a:xfrm>
          <a:prstGeom prst="rect">
            <a:avLst/>
          </a:prstGeom>
          <a:noFill/>
        </p:spPr>
        <p:txBody>
          <a:bodyPr wrap="none" lIns="0" rIns="0" tIns="0" bIns="0" anchor="t">
            <a:spAutoFit/>
          </a:bodyPr>
          <a:lstStyle/>
          <a:p>
            <a:pPr algn="l"/>
            <a:r>
              <a:rPr sz="1460" b="0">
                <a:solidFill>
                  <a:srgbClr val="A8B3C4"/>
                </a:solidFill>
                <a:latin typeface="Aptos"/>
              </a:rPr>
              <a:t>Do not sell Rust as “C++ is bad.” Sell it as: the compiler now shares more of the proof burden.</a:t>
            </a:r>
          </a:p>
        </p:txBody>
      </p:sp>
      <p:sp>
        <p:nvSpPr>
          <p:cNvPr id="8" name="Rounded Rectangle 7"/>
          <p:cNvSpPr/>
          <p:nvPr/>
        </p:nvSpPr>
        <p:spPr>
          <a:xfrm>
            <a:off x="566928" y="1975104"/>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975104"/>
            <a:ext cx="54864" cy="1664208"/>
          </a:xfrm>
          <a:prstGeom prst="rect">
            <a:avLst/>
          </a:prstGeom>
          <a:solidFill>
            <a:srgbClr val="F7C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139696"/>
            <a:ext cx="3172968" cy="274320"/>
          </a:xfrm>
          <a:prstGeom prst="rect">
            <a:avLst/>
          </a:prstGeom>
          <a:noFill/>
        </p:spPr>
        <p:txBody>
          <a:bodyPr wrap="none" lIns="0" rIns="0" tIns="0" bIns="0" anchor="t">
            <a:spAutoFit/>
          </a:bodyPr>
          <a:lstStyle/>
          <a:p>
            <a:pPr algn="l"/>
            <a:r>
              <a:rPr sz="1180" b="1">
                <a:solidFill>
                  <a:srgbClr val="F7C564"/>
                </a:solidFill>
                <a:latin typeface="Aptos"/>
              </a:rPr>
              <a:t>Trigger</a:t>
            </a:r>
          </a:p>
        </p:txBody>
      </p:sp>
      <p:sp>
        <p:nvSpPr>
          <p:cNvPr id="11" name="TextBox 10"/>
          <p:cNvSpPr txBox="1"/>
          <p:nvPr/>
        </p:nvSpPr>
        <p:spPr>
          <a:xfrm>
            <a:off x="786384" y="2542032"/>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Students push back: “We already do RAII, smart pointers, sanitizers.”</a:t>
            </a:r>
          </a:p>
          <a:p>
            <a:pPr>
              <a:spcAft>
                <a:spcPts val="100"/>
              </a:spcAft>
            </a:pPr>
            <a:r>
              <a:rPr sz="1220" b="0">
                <a:solidFill>
                  <a:srgbClr val="A8B3C4"/>
                </a:solidFill>
                <a:latin typeface="Aptos"/>
              </a:rPr>
              <a:t>Good — that is exactly the starting point.</a:t>
            </a:r>
          </a:p>
        </p:txBody>
      </p:sp>
      <p:sp>
        <p:nvSpPr>
          <p:cNvPr id="12" name="Rounded Rectangle 11"/>
          <p:cNvSpPr/>
          <p:nvPr/>
        </p:nvSpPr>
        <p:spPr>
          <a:xfrm>
            <a:off x="4416552" y="1975104"/>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6552" y="1975104"/>
            <a:ext cx="54864" cy="1664208"/>
          </a:xfrm>
          <a:prstGeom prst="rect">
            <a:avLst/>
          </a:prstGeom>
          <a:solidFill>
            <a:srgbClr val="66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36008" y="2139696"/>
            <a:ext cx="3172968" cy="274320"/>
          </a:xfrm>
          <a:prstGeom prst="rect">
            <a:avLst/>
          </a:prstGeom>
          <a:noFill/>
        </p:spPr>
        <p:txBody>
          <a:bodyPr wrap="none" lIns="0" rIns="0" tIns="0" bIns="0" anchor="t">
            <a:spAutoFit/>
          </a:bodyPr>
          <a:lstStyle/>
          <a:p>
            <a:pPr algn="l"/>
            <a:r>
              <a:rPr sz="1180" b="1">
                <a:solidFill>
                  <a:srgbClr val="66A6FF"/>
                </a:solidFill>
                <a:latin typeface="Aptos"/>
              </a:rPr>
              <a:t>Pull in now</a:t>
            </a:r>
          </a:p>
        </p:txBody>
      </p:sp>
      <p:sp>
        <p:nvSpPr>
          <p:cNvPr id="15" name="TextBox 14"/>
          <p:cNvSpPr txBox="1"/>
          <p:nvPr/>
        </p:nvSpPr>
        <p:spPr>
          <a:xfrm>
            <a:off x="4636008" y="2542032"/>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Memory Literacy Addendum</a:t>
            </a:r>
          </a:p>
          <a:p>
            <a:pPr>
              <a:spcAft>
                <a:spcPts val="100"/>
              </a:spcAft>
            </a:pPr>
            <a:r>
              <a:rPr sz="1220" b="0">
                <a:solidFill>
                  <a:srgbClr val="A8B3C4"/>
                </a:solidFill>
                <a:latin typeface="Aptos"/>
              </a:rPr>
              <a:t>Bird’s-Eye Map slide: “What does the compiler know?”</a:t>
            </a:r>
          </a:p>
        </p:txBody>
      </p:sp>
      <p:sp>
        <p:nvSpPr>
          <p:cNvPr id="16" name="Rounded Rectangle 15"/>
          <p:cNvSpPr/>
          <p:nvPr/>
        </p:nvSpPr>
        <p:spPr>
          <a:xfrm>
            <a:off x="566928" y="3858768"/>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3858768"/>
            <a:ext cx="54864" cy="1664208"/>
          </a:xfrm>
          <a:prstGeom prst="rect">
            <a:avLst/>
          </a:prstGeom>
          <a:solidFill>
            <a:srgbClr val="4E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023359"/>
            <a:ext cx="3172968" cy="274320"/>
          </a:xfrm>
          <a:prstGeom prst="rect">
            <a:avLst/>
          </a:prstGeom>
          <a:noFill/>
        </p:spPr>
        <p:txBody>
          <a:bodyPr wrap="none" lIns="0" rIns="0" tIns="0" bIns="0" anchor="t">
            <a:spAutoFit/>
          </a:bodyPr>
          <a:lstStyle/>
          <a:p>
            <a:pPr algn="l"/>
            <a:r>
              <a:rPr sz="1180" b="1">
                <a:solidFill>
                  <a:srgbClr val="4ECCA3"/>
                </a:solidFill>
                <a:latin typeface="Aptos"/>
              </a:rPr>
              <a:t>Exercise / check</a:t>
            </a:r>
          </a:p>
        </p:txBody>
      </p:sp>
      <p:sp>
        <p:nvSpPr>
          <p:cNvPr id="19" name="TextBox 18"/>
          <p:cNvSpPr txBox="1"/>
          <p:nvPr/>
        </p:nvSpPr>
        <p:spPr>
          <a:xfrm>
            <a:off x="786384" y="4425696"/>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Mini prompt: name one C++ rule that lives only in code review.</a:t>
            </a:r>
          </a:p>
          <a:p>
            <a:pPr>
              <a:spcAft>
                <a:spcPts val="100"/>
              </a:spcAft>
            </a:pPr>
            <a:r>
              <a:rPr sz="1220" b="0">
                <a:solidFill>
                  <a:srgbClr val="A8B3C4"/>
                </a:solidFill>
                <a:latin typeface="Aptos"/>
              </a:rPr>
              <a:t>Then ask how Rust encodes it.</a:t>
            </a:r>
          </a:p>
        </p:txBody>
      </p:sp>
      <p:sp>
        <p:nvSpPr>
          <p:cNvPr id="20" name="Rounded Rectangle 19"/>
          <p:cNvSpPr/>
          <p:nvPr/>
        </p:nvSpPr>
        <p:spPr>
          <a:xfrm>
            <a:off x="4416552" y="3858768"/>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6552" y="3858768"/>
            <a:ext cx="54864" cy="1664208"/>
          </a:xfrm>
          <a:prstGeom prst="rect">
            <a:avLst/>
          </a:prstGeom>
          <a:solidFill>
            <a:srgbClr val="FF7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36008" y="4023359"/>
            <a:ext cx="3172968" cy="274320"/>
          </a:xfrm>
          <a:prstGeom prst="rect">
            <a:avLst/>
          </a:prstGeom>
          <a:noFill/>
        </p:spPr>
        <p:txBody>
          <a:bodyPr wrap="none" lIns="0" rIns="0" tIns="0" bIns="0" anchor="t">
            <a:spAutoFit/>
          </a:bodyPr>
          <a:lstStyle/>
          <a:p>
            <a:pPr algn="l"/>
            <a:r>
              <a:rPr sz="1180" b="1">
                <a:solidFill>
                  <a:srgbClr val="FF743E"/>
                </a:solidFill>
                <a:latin typeface="Aptos"/>
              </a:rPr>
              <a:t>Return anchor</a:t>
            </a:r>
          </a:p>
        </p:txBody>
      </p:sp>
      <p:sp>
        <p:nvSpPr>
          <p:cNvPr id="23" name="TextBox 22"/>
          <p:cNvSpPr txBox="1"/>
          <p:nvPr/>
        </p:nvSpPr>
        <p:spPr>
          <a:xfrm>
            <a:off x="4636008" y="4425696"/>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Return to the remaining Why Rust slides.</a:t>
            </a:r>
          </a:p>
          <a:p>
            <a:pPr>
              <a:spcAft>
                <a:spcPts val="100"/>
              </a:spcAft>
            </a:pPr>
            <a:r>
              <a:rPr sz="1220" b="0">
                <a:solidFill>
                  <a:srgbClr val="A8B3C4"/>
                </a:solidFill>
                <a:latin typeface="Aptos"/>
              </a:rPr>
              <a:t>Keep the tone respectful: modern C++ is powerful; Rust changes the contract.</a:t>
            </a:r>
          </a:p>
        </p:txBody>
      </p:sp>
      <p:sp>
        <p:nvSpPr>
          <p:cNvPr id="24" name="Rounded Rectangle 23"/>
          <p:cNvSpPr/>
          <p:nvPr/>
        </p:nvSpPr>
        <p:spPr>
          <a:xfrm>
            <a:off x="8366760" y="2011680"/>
            <a:ext cx="3127248" cy="3291840"/>
          </a:xfrm>
          <a:prstGeom prst="roundRect">
            <a:avLst/>
          </a:prstGeom>
          <a:solidFill>
            <a:srgbClr val="121B2B"/>
          </a:solidFill>
          <a:ln w="12700">
            <a:solidFill>
              <a:srgbClr val="2F3F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668512" y="2304288"/>
            <a:ext cx="1353312" cy="301752"/>
          </a:xfrm>
          <a:prstGeom prst="roundRect">
            <a:avLst/>
          </a:prstGeom>
          <a:solidFill>
            <a:srgbClr val="161F2E"/>
          </a:solidFill>
          <a:ln w="15240">
            <a:solidFill>
              <a:srgbClr val="FF743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743E"/>
                </a:solidFill>
                <a:latin typeface="Aptos"/>
              </a:rPr>
              <a:t>FRAMING</a:t>
            </a:r>
          </a:p>
        </p:txBody>
      </p:sp>
      <p:sp>
        <p:nvSpPr>
          <p:cNvPr id="26" name="TextBox 25"/>
          <p:cNvSpPr txBox="1"/>
          <p:nvPr/>
        </p:nvSpPr>
        <p:spPr>
          <a:xfrm>
            <a:off x="8641080" y="2788920"/>
            <a:ext cx="2423160" cy="548640"/>
          </a:xfrm>
          <a:prstGeom prst="rect">
            <a:avLst/>
          </a:prstGeom>
          <a:noFill/>
        </p:spPr>
        <p:txBody>
          <a:bodyPr wrap="none" lIns="0" rIns="0" tIns="0" bIns="0" anchor="t">
            <a:spAutoFit/>
          </a:bodyPr>
          <a:lstStyle/>
          <a:p>
            <a:pPr algn="l"/>
            <a:r>
              <a:rPr sz="1300" b="1">
                <a:solidFill>
                  <a:srgbClr val="A8B3C4"/>
                </a:solidFill>
                <a:latin typeface="Aptos"/>
              </a:rPr>
              <a:t>Instructor move</a:t>
            </a:r>
          </a:p>
        </p:txBody>
      </p:sp>
      <p:sp>
        <p:nvSpPr>
          <p:cNvPr id="27" name="TextBox 26"/>
          <p:cNvSpPr txBox="1"/>
          <p:nvPr/>
        </p:nvSpPr>
        <p:spPr>
          <a:xfrm>
            <a:off x="8641080" y="3227832"/>
            <a:ext cx="2423160" cy="877824"/>
          </a:xfrm>
          <a:prstGeom prst="rect">
            <a:avLst/>
          </a:prstGeom>
          <a:noFill/>
        </p:spPr>
        <p:txBody>
          <a:bodyPr wrap="none" lIns="0" rIns="0" tIns="0" bIns="0" anchor="t">
            <a:spAutoFit/>
          </a:bodyPr>
          <a:lstStyle/>
          <a:p>
            <a:pPr algn="l"/>
            <a:r>
              <a:rPr sz="1600" b="0">
                <a:solidFill>
                  <a:srgbClr val="EFF3F9"/>
                </a:solidFill>
                <a:latin typeface="Aptos"/>
              </a:rPr>
              <a:t>Pause, choose the route, then return to the standard stack.</a:t>
            </a:r>
          </a:p>
        </p:txBody>
      </p:sp>
      <p:sp>
        <p:nvSpPr>
          <p:cNvPr id="28" name="TextBox 27"/>
          <p:cNvSpPr txBox="1"/>
          <p:nvPr/>
        </p:nvSpPr>
        <p:spPr>
          <a:xfrm>
            <a:off x="8641080" y="4315968"/>
            <a:ext cx="2423160" cy="310896"/>
          </a:xfrm>
          <a:prstGeom prst="rect">
            <a:avLst/>
          </a:prstGeom>
          <a:noFill/>
        </p:spPr>
        <p:txBody>
          <a:bodyPr wrap="none" lIns="0" rIns="0" tIns="0" bIns="0" anchor="t">
            <a:spAutoFit/>
          </a:bodyPr>
          <a:lstStyle/>
          <a:p>
            <a:pPr algn="l"/>
            <a:r>
              <a:rPr sz="1250" b="1">
                <a:solidFill>
                  <a:srgbClr val="A8B3C4"/>
                </a:solidFill>
                <a:latin typeface="Aptos"/>
              </a:rPr>
              <a:t>Suggested time</a:t>
            </a:r>
          </a:p>
        </p:txBody>
      </p:sp>
      <p:sp>
        <p:nvSpPr>
          <p:cNvPr id="29" name="TextBox 28"/>
          <p:cNvSpPr txBox="1"/>
          <p:nvPr/>
        </p:nvSpPr>
        <p:spPr>
          <a:xfrm>
            <a:off x="8641080" y="4617720"/>
            <a:ext cx="2423160" cy="402336"/>
          </a:xfrm>
          <a:prstGeom prst="rect">
            <a:avLst/>
          </a:prstGeom>
          <a:noFill/>
        </p:spPr>
        <p:txBody>
          <a:bodyPr wrap="none" lIns="0" rIns="0" tIns="0" bIns="0" anchor="t">
            <a:spAutoFit/>
          </a:bodyPr>
          <a:lstStyle/>
          <a:p>
            <a:pPr algn="l"/>
            <a:r>
              <a:rPr sz="1800" b="1">
                <a:solidFill>
                  <a:srgbClr val="FF743E"/>
                </a:solidFill>
                <a:latin typeface="Aptos"/>
              </a:rPr>
              <a:t>5–10 min</a:t>
            </a:r>
          </a:p>
        </p:txBody>
      </p:sp>
      <p:sp>
        <p:nvSpPr>
          <p:cNvPr id="30" name="TextBox 29"/>
          <p:cNvSpPr txBox="1"/>
          <p:nvPr/>
        </p:nvSpPr>
        <p:spPr>
          <a:xfrm>
            <a:off x="566928" y="6291072"/>
            <a:ext cx="5303520" cy="219456"/>
          </a:xfrm>
          <a:prstGeom prst="rect">
            <a:avLst/>
          </a:prstGeom>
          <a:noFill/>
        </p:spPr>
        <p:txBody>
          <a:bodyPr wrap="none" lIns="0" rIns="0" tIns="0" bIns="0" anchor="t">
            <a:spAutoFit/>
          </a:bodyPr>
          <a:lstStyle/>
          <a:p>
            <a:pPr algn="l"/>
            <a:r>
              <a:rPr sz="1050" b="0">
                <a:solidFill>
                  <a:srgbClr val="5E6E87"/>
                </a:solidFill>
                <a:latin typeface="Aptos"/>
              </a:rPr>
              <a:t>Rust for Experienced C++ Developers — navigation interleave</a:t>
            </a:r>
          </a:p>
        </p:txBody>
      </p:sp>
      <p:sp>
        <p:nvSpPr>
          <p:cNvPr id="31" name="TextBox 30"/>
          <p:cNvSpPr txBox="1"/>
          <p:nvPr/>
        </p:nvSpPr>
        <p:spPr>
          <a:xfrm>
            <a:off x="10040112" y="6272784"/>
            <a:ext cx="1463040" cy="256032"/>
          </a:xfrm>
          <a:prstGeom prst="rect">
            <a:avLst/>
          </a:prstGeom>
          <a:noFill/>
        </p:spPr>
        <p:txBody>
          <a:bodyPr wrap="none" lIns="0" rIns="0" tIns="0" bIns="0" anchor="t">
            <a:spAutoFit/>
          </a:bodyPr>
          <a:lstStyle/>
          <a:p>
            <a:pPr algn="r"/>
            <a:r>
              <a:rPr sz="1050" b="0">
                <a:solidFill>
                  <a:srgbClr val="5E6E87"/>
                </a:solidFill>
                <a:latin typeface="Aptos"/>
              </a:rPr>
              <a:t>jump-friendly</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C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46304"/>
          </a:xfrm>
          <a:prstGeom prst="rect">
            <a:avLst/>
          </a:prstGeom>
          <a:solidFill>
            <a:srgbClr val="FF4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92000" cy="54864"/>
          </a:xfrm>
          <a:prstGeom prst="rect">
            <a:avLst/>
          </a:prstGeom>
          <a:solidFill>
            <a:srgbClr val="141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4206240" cy="201168"/>
          </a:xfrm>
          <a:prstGeom prst="rect">
            <a:avLst/>
          </a:prstGeom>
          <a:noFill/>
        </p:spPr>
        <p:txBody>
          <a:bodyPr wrap="none" lIns="0" rIns="0" tIns="0" bIns="0" anchor="t">
            <a:spAutoFit/>
          </a:bodyPr>
          <a:lstStyle/>
          <a:p>
            <a:pPr algn="l"/>
            <a:r>
              <a:rPr sz="1250" b="1">
                <a:solidFill>
                  <a:srgbClr val="FF743E"/>
                </a:solidFill>
                <a:latin typeface="Aptos"/>
              </a:rPr>
              <a:t>OPTIONAL CONTEXT STACK</a:t>
            </a:r>
          </a:p>
        </p:txBody>
      </p:sp>
      <p:sp>
        <p:nvSpPr>
          <p:cNvPr id="6" name="TextBox 5"/>
          <p:cNvSpPr txBox="1"/>
          <p:nvPr/>
        </p:nvSpPr>
        <p:spPr>
          <a:xfrm>
            <a:off x="566928" y="713232"/>
            <a:ext cx="7772400" cy="896112"/>
          </a:xfrm>
          <a:prstGeom prst="rect">
            <a:avLst/>
          </a:prstGeom>
          <a:noFill/>
        </p:spPr>
        <p:txBody>
          <a:bodyPr wrap="none" lIns="0" rIns="0" tIns="0" bIns="0" anchor="t">
            <a:spAutoFit/>
          </a:bodyPr>
          <a:lstStyle/>
          <a:p>
            <a:pPr algn="l"/>
            <a:r>
              <a:rPr sz="2900" b="1">
                <a:solidFill>
                  <a:srgbClr val="EFF3F9"/>
                </a:solidFill>
                <a:latin typeface="Aptos"/>
              </a:rPr>
              <a:t>If the room wants the bigger map, pull up the bird’s-eye deck</a:t>
            </a:r>
          </a:p>
        </p:txBody>
      </p:sp>
      <p:sp>
        <p:nvSpPr>
          <p:cNvPr id="7" name="TextBox 6"/>
          <p:cNvSpPr txBox="1"/>
          <p:nvPr/>
        </p:nvSpPr>
        <p:spPr>
          <a:xfrm>
            <a:off x="585216" y="1591056"/>
            <a:ext cx="8321040" cy="384048"/>
          </a:xfrm>
          <a:prstGeom prst="rect">
            <a:avLst/>
          </a:prstGeom>
          <a:noFill/>
        </p:spPr>
        <p:txBody>
          <a:bodyPr wrap="none" lIns="0" rIns="0" tIns="0" bIns="0" anchor="t">
            <a:spAutoFit/>
          </a:bodyPr>
          <a:lstStyle/>
          <a:p>
            <a:pPr algn="l"/>
            <a:r>
              <a:rPr sz="1460" b="0">
                <a:solidFill>
                  <a:srgbClr val="A8B3C4"/>
                </a:solidFill>
                <a:latin typeface="Aptos"/>
              </a:rPr>
              <a:t>Good after the Rust pitch, before history/tooling, especially if students ask “where is this course going?”</a:t>
            </a:r>
          </a:p>
        </p:txBody>
      </p:sp>
      <p:sp>
        <p:nvSpPr>
          <p:cNvPr id="8" name="Rounded Rectangle 7"/>
          <p:cNvSpPr/>
          <p:nvPr/>
        </p:nvSpPr>
        <p:spPr>
          <a:xfrm>
            <a:off x="566928" y="1975104"/>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975104"/>
            <a:ext cx="54864" cy="1664208"/>
          </a:xfrm>
          <a:prstGeom prst="rect">
            <a:avLst/>
          </a:prstGeom>
          <a:solidFill>
            <a:srgbClr val="F7C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139696"/>
            <a:ext cx="3172968" cy="274320"/>
          </a:xfrm>
          <a:prstGeom prst="rect">
            <a:avLst/>
          </a:prstGeom>
          <a:noFill/>
        </p:spPr>
        <p:txBody>
          <a:bodyPr wrap="none" lIns="0" rIns="0" tIns="0" bIns="0" anchor="t">
            <a:spAutoFit/>
          </a:bodyPr>
          <a:lstStyle/>
          <a:p>
            <a:pPr algn="l"/>
            <a:r>
              <a:rPr sz="1180" b="1">
                <a:solidFill>
                  <a:srgbClr val="F7C564"/>
                </a:solidFill>
                <a:latin typeface="Aptos"/>
              </a:rPr>
              <a:t>Trigger</a:t>
            </a:r>
          </a:p>
        </p:txBody>
      </p:sp>
      <p:sp>
        <p:nvSpPr>
          <p:cNvPr id="11" name="TextBox 10"/>
          <p:cNvSpPr txBox="1"/>
          <p:nvPr/>
        </p:nvSpPr>
        <p:spPr>
          <a:xfrm>
            <a:off x="786384" y="2542032"/>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Class asks for roadmap, or you sense conceptual overload.</a:t>
            </a:r>
          </a:p>
          <a:p>
            <a:pPr>
              <a:spcAft>
                <a:spcPts val="100"/>
              </a:spcAft>
            </a:pPr>
            <a:r>
              <a:rPr sz="1220" b="0">
                <a:solidFill>
                  <a:srgbClr val="A8B3C4"/>
                </a:solidFill>
                <a:latin typeface="Aptos"/>
              </a:rPr>
              <a:t>They need topology more than details.</a:t>
            </a:r>
          </a:p>
        </p:txBody>
      </p:sp>
      <p:sp>
        <p:nvSpPr>
          <p:cNvPr id="12" name="Rounded Rectangle 11"/>
          <p:cNvSpPr/>
          <p:nvPr/>
        </p:nvSpPr>
        <p:spPr>
          <a:xfrm>
            <a:off x="4416552" y="1975104"/>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6552" y="1975104"/>
            <a:ext cx="54864" cy="1664208"/>
          </a:xfrm>
          <a:prstGeom prst="rect">
            <a:avLst/>
          </a:prstGeom>
          <a:solidFill>
            <a:srgbClr val="66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36008" y="2139696"/>
            <a:ext cx="3172968" cy="274320"/>
          </a:xfrm>
          <a:prstGeom prst="rect">
            <a:avLst/>
          </a:prstGeom>
          <a:noFill/>
        </p:spPr>
        <p:txBody>
          <a:bodyPr wrap="none" lIns="0" rIns="0" tIns="0" bIns="0" anchor="t">
            <a:spAutoFit/>
          </a:bodyPr>
          <a:lstStyle/>
          <a:p>
            <a:pPr algn="l"/>
            <a:r>
              <a:rPr sz="1180" b="1">
                <a:solidFill>
                  <a:srgbClr val="66A6FF"/>
                </a:solidFill>
                <a:latin typeface="Aptos"/>
              </a:rPr>
              <a:t>Pull in now</a:t>
            </a:r>
          </a:p>
        </p:txBody>
      </p:sp>
      <p:sp>
        <p:nvSpPr>
          <p:cNvPr id="15" name="TextBox 14"/>
          <p:cNvSpPr txBox="1"/>
          <p:nvPr/>
        </p:nvSpPr>
        <p:spPr>
          <a:xfrm>
            <a:off x="4636008" y="2542032"/>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Rust_CPP_Course_Birdseye_Map_and_Missing_Stacks.pptx</a:t>
            </a:r>
          </a:p>
          <a:p>
            <a:pPr>
              <a:spcAft>
                <a:spcPts val="100"/>
              </a:spcAft>
            </a:pPr>
            <a:r>
              <a:rPr sz="1220" b="0">
                <a:solidFill>
                  <a:srgbClr val="A8B3C4"/>
                </a:solidFill>
                <a:latin typeface="Aptos"/>
              </a:rPr>
              <a:t>Show the topic map and the missing stacks list.</a:t>
            </a:r>
          </a:p>
        </p:txBody>
      </p:sp>
      <p:sp>
        <p:nvSpPr>
          <p:cNvPr id="16" name="Rounded Rectangle 15"/>
          <p:cNvSpPr/>
          <p:nvPr/>
        </p:nvSpPr>
        <p:spPr>
          <a:xfrm>
            <a:off x="566928" y="3858768"/>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3858768"/>
            <a:ext cx="54864" cy="1664208"/>
          </a:xfrm>
          <a:prstGeom prst="rect">
            <a:avLst/>
          </a:prstGeom>
          <a:solidFill>
            <a:srgbClr val="4E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023359"/>
            <a:ext cx="3172968" cy="274320"/>
          </a:xfrm>
          <a:prstGeom prst="rect">
            <a:avLst/>
          </a:prstGeom>
          <a:noFill/>
        </p:spPr>
        <p:txBody>
          <a:bodyPr wrap="none" lIns="0" rIns="0" tIns="0" bIns="0" anchor="t">
            <a:spAutoFit/>
          </a:bodyPr>
          <a:lstStyle/>
          <a:p>
            <a:pPr algn="l"/>
            <a:r>
              <a:rPr sz="1180" b="1">
                <a:solidFill>
                  <a:srgbClr val="4ECCA3"/>
                </a:solidFill>
                <a:latin typeface="Aptos"/>
              </a:rPr>
              <a:t>Exercise / check</a:t>
            </a:r>
          </a:p>
        </p:txBody>
      </p:sp>
      <p:sp>
        <p:nvSpPr>
          <p:cNvPr id="19" name="TextBox 18"/>
          <p:cNvSpPr txBox="1"/>
          <p:nvPr/>
        </p:nvSpPr>
        <p:spPr>
          <a:xfrm>
            <a:off x="786384" y="4425696"/>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No Fix-It yet.</a:t>
            </a:r>
          </a:p>
          <a:p>
            <a:pPr>
              <a:spcAft>
                <a:spcPts val="100"/>
              </a:spcAft>
            </a:pPr>
            <a:r>
              <a:rPr sz="1220" b="0">
                <a:solidFill>
                  <a:srgbClr val="A8B3C4"/>
                </a:solidFill>
                <a:latin typeface="Aptos"/>
              </a:rPr>
              <a:t>Use one C++ pointer/ownership anecdote from the room.</a:t>
            </a:r>
          </a:p>
        </p:txBody>
      </p:sp>
      <p:sp>
        <p:nvSpPr>
          <p:cNvPr id="20" name="Rounded Rectangle 19"/>
          <p:cNvSpPr/>
          <p:nvPr/>
        </p:nvSpPr>
        <p:spPr>
          <a:xfrm>
            <a:off x="4416552" y="3858768"/>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6552" y="3858768"/>
            <a:ext cx="54864" cy="1664208"/>
          </a:xfrm>
          <a:prstGeom prst="rect">
            <a:avLst/>
          </a:prstGeom>
          <a:solidFill>
            <a:srgbClr val="FF7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36008" y="4023359"/>
            <a:ext cx="3172968" cy="274320"/>
          </a:xfrm>
          <a:prstGeom prst="rect">
            <a:avLst/>
          </a:prstGeom>
          <a:noFill/>
        </p:spPr>
        <p:txBody>
          <a:bodyPr wrap="none" lIns="0" rIns="0" tIns="0" bIns="0" anchor="t">
            <a:spAutoFit/>
          </a:bodyPr>
          <a:lstStyle/>
          <a:p>
            <a:pPr algn="l"/>
            <a:r>
              <a:rPr sz="1180" b="1">
                <a:solidFill>
                  <a:srgbClr val="FF743E"/>
                </a:solidFill>
                <a:latin typeface="Aptos"/>
              </a:rPr>
              <a:t>Return anchor</a:t>
            </a:r>
          </a:p>
        </p:txBody>
      </p:sp>
      <p:sp>
        <p:nvSpPr>
          <p:cNvPr id="23" name="TextBox 22"/>
          <p:cNvSpPr txBox="1"/>
          <p:nvPr/>
        </p:nvSpPr>
        <p:spPr>
          <a:xfrm>
            <a:off x="4636008" y="4425696"/>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Return to A Brief History of Rust or skip history if time is tight.</a:t>
            </a:r>
          </a:p>
          <a:p>
            <a:pPr>
              <a:spcAft>
                <a:spcPts val="100"/>
              </a:spcAft>
            </a:pPr>
            <a:r>
              <a:rPr sz="1220" b="0">
                <a:solidFill>
                  <a:srgbClr val="A8B3C4"/>
                </a:solidFill>
                <a:latin typeface="Aptos"/>
              </a:rPr>
              <a:t>The map is a navigation device, not a lecture block.</a:t>
            </a:r>
          </a:p>
        </p:txBody>
      </p:sp>
      <p:sp>
        <p:nvSpPr>
          <p:cNvPr id="24" name="Rounded Rectangle 23"/>
          <p:cNvSpPr/>
          <p:nvPr/>
        </p:nvSpPr>
        <p:spPr>
          <a:xfrm>
            <a:off x="8366760" y="2011680"/>
            <a:ext cx="3127248" cy="3291840"/>
          </a:xfrm>
          <a:prstGeom prst="roundRect">
            <a:avLst/>
          </a:prstGeom>
          <a:solidFill>
            <a:srgbClr val="121B2B"/>
          </a:solidFill>
          <a:ln w="12700">
            <a:solidFill>
              <a:srgbClr val="2F3F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668512" y="2304288"/>
            <a:ext cx="1353312" cy="301752"/>
          </a:xfrm>
          <a:prstGeom prst="roundRect">
            <a:avLst/>
          </a:prstGeom>
          <a:solidFill>
            <a:srgbClr val="161F2E"/>
          </a:solidFill>
          <a:ln w="15240">
            <a:solidFill>
              <a:srgbClr val="FF743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743E"/>
                </a:solidFill>
                <a:latin typeface="Aptos"/>
              </a:rPr>
              <a:t>MAP DETOUR</a:t>
            </a:r>
          </a:p>
        </p:txBody>
      </p:sp>
      <p:sp>
        <p:nvSpPr>
          <p:cNvPr id="26" name="TextBox 25"/>
          <p:cNvSpPr txBox="1"/>
          <p:nvPr/>
        </p:nvSpPr>
        <p:spPr>
          <a:xfrm>
            <a:off x="8641080" y="2788920"/>
            <a:ext cx="2423160" cy="548640"/>
          </a:xfrm>
          <a:prstGeom prst="rect">
            <a:avLst/>
          </a:prstGeom>
          <a:noFill/>
        </p:spPr>
        <p:txBody>
          <a:bodyPr wrap="none" lIns="0" rIns="0" tIns="0" bIns="0" anchor="t">
            <a:spAutoFit/>
          </a:bodyPr>
          <a:lstStyle/>
          <a:p>
            <a:pPr algn="l"/>
            <a:r>
              <a:rPr sz="1300" b="1">
                <a:solidFill>
                  <a:srgbClr val="A8B3C4"/>
                </a:solidFill>
                <a:latin typeface="Aptos"/>
              </a:rPr>
              <a:t>Instructor move</a:t>
            </a:r>
          </a:p>
        </p:txBody>
      </p:sp>
      <p:sp>
        <p:nvSpPr>
          <p:cNvPr id="27" name="TextBox 26"/>
          <p:cNvSpPr txBox="1"/>
          <p:nvPr/>
        </p:nvSpPr>
        <p:spPr>
          <a:xfrm>
            <a:off x="8641080" y="3227832"/>
            <a:ext cx="2423160" cy="877824"/>
          </a:xfrm>
          <a:prstGeom prst="rect">
            <a:avLst/>
          </a:prstGeom>
          <a:noFill/>
        </p:spPr>
        <p:txBody>
          <a:bodyPr wrap="none" lIns="0" rIns="0" tIns="0" bIns="0" anchor="t">
            <a:spAutoFit/>
          </a:bodyPr>
          <a:lstStyle/>
          <a:p>
            <a:pPr algn="l"/>
            <a:r>
              <a:rPr sz="1600" b="0">
                <a:solidFill>
                  <a:srgbClr val="EFF3F9"/>
                </a:solidFill>
                <a:latin typeface="Aptos"/>
              </a:rPr>
              <a:t>Pause, choose the route, then return to the standard stack.</a:t>
            </a:r>
          </a:p>
        </p:txBody>
      </p:sp>
      <p:sp>
        <p:nvSpPr>
          <p:cNvPr id="28" name="TextBox 27"/>
          <p:cNvSpPr txBox="1"/>
          <p:nvPr/>
        </p:nvSpPr>
        <p:spPr>
          <a:xfrm>
            <a:off x="8641080" y="4315968"/>
            <a:ext cx="2423160" cy="310896"/>
          </a:xfrm>
          <a:prstGeom prst="rect">
            <a:avLst/>
          </a:prstGeom>
          <a:noFill/>
        </p:spPr>
        <p:txBody>
          <a:bodyPr wrap="none" lIns="0" rIns="0" tIns="0" bIns="0" anchor="t">
            <a:spAutoFit/>
          </a:bodyPr>
          <a:lstStyle/>
          <a:p>
            <a:pPr algn="l"/>
            <a:r>
              <a:rPr sz="1250" b="1">
                <a:solidFill>
                  <a:srgbClr val="A8B3C4"/>
                </a:solidFill>
                <a:latin typeface="Aptos"/>
              </a:rPr>
              <a:t>Suggested time</a:t>
            </a:r>
          </a:p>
        </p:txBody>
      </p:sp>
      <p:sp>
        <p:nvSpPr>
          <p:cNvPr id="29" name="TextBox 28"/>
          <p:cNvSpPr txBox="1"/>
          <p:nvPr/>
        </p:nvSpPr>
        <p:spPr>
          <a:xfrm>
            <a:off x="8641080" y="4617720"/>
            <a:ext cx="2423160" cy="402336"/>
          </a:xfrm>
          <a:prstGeom prst="rect">
            <a:avLst/>
          </a:prstGeom>
          <a:noFill/>
        </p:spPr>
        <p:txBody>
          <a:bodyPr wrap="none" lIns="0" rIns="0" tIns="0" bIns="0" anchor="t">
            <a:spAutoFit/>
          </a:bodyPr>
          <a:lstStyle/>
          <a:p>
            <a:pPr algn="l"/>
            <a:r>
              <a:rPr sz="1800" b="1">
                <a:solidFill>
                  <a:srgbClr val="FF743E"/>
                </a:solidFill>
                <a:latin typeface="Aptos"/>
              </a:rPr>
              <a:t>10–15 min</a:t>
            </a:r>
          </a:p>
        </p:txBody>
      </p:sp>
      <p:sp>
        <p:nvSpPr>
          <p:cNvPr id="30" name="TextBox 29"/>
          <p:cNvSpPr txBox="1"/>
          <p:nvPr/>
        </p:nvSpPr>
        <p:spPr>
          <a:xfrm>
            <a:off x="566928" y="6291072"/>
            <a:ext cx="5303520" cy="219456"/>
          </a:xfrm>
          <a:prstGeom prst="rect">
            <a:avLst/>
          </a:prstGeom>
          <a:noFill/>
        </p:spPr>
        <p:txBody>
          <a:bodyPr wrap="none" lIns="0" rIns="0" tIns="0" bIns="0" anchor="t">
            <a:spAutoFit/>
          </a:bodyPr>
          <a:lstStyle/>
          <a:p>
            <a:pPr algn="l"/>
            <a:r>
              <a:rPr sz="1050" b="0">
                <a:solidFill>
                  <a:srgbClr val="5E6E87"/>
                </a:solidFill>
                <a:latin typeface="Aptos"/>
              </a:rPr>
              <a:t>Rust for Experienced C++ Developers — navigation interleave</a:t>
            </a:r>
          </a:p>
        </p:txBody>
      </p:sp>
      <p:sp>
        <p:nvSpPr>
          <p:cNvPr id="31" name="TextBox 30"/>
          <p:cNvSpPr txBox="1"/>
          <p:nvPr/>
        </p:nvSpPr>
        <p:spPr>
          <a:xfrm>
            <a:off x="10040112" y="6272784"/>
            <a:ext cx="1463040" cy="256032"/>
          </a:xfrm>
          <a:prstGeom prst="rect">
            <a:avLst/>
          </a:prstGeom>
          <a:noFill/>
        </p:spPr>
        <p:txBody>
          <a:bodyPr wrap="none" lIns="0" rIns="0" tIns="0" bIns="0" anchor="t">
            <a:spAutoFit/>
          </a:bodyPr>
          <a:lstStyle/>
          <a:p>
            <a:pPr algn="r"/>
            <a:r>
              <a:rPr sz="1050" b="0">
                <a:solidFill>
                  <a:srgbClr val="5E6E87"/>
                </a:solidFill>
                <a:latin typeface="Aptos"/>
              </a:rPr>
              <a:t>jump-friendly</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C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46304"/>
          </a:xfrm>
          <a:prstGeom prst="rect">
            <a:avLst/>
          </a:prstGeom>
          <a:solidFill>
            <a:srgbClr val="FF4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92000" cy="54864"/>
          </a:xfrm>
          <a:prstGeom prst="rect">
            <a:avLst/>
          </a:prstGeom>
          <a:solidFill>
            <a:srgbClr val="141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4206240" cy="201168"/>
          </a:xfrm>
          <a:prstGeom prst="rect">
            <a:avLst/>
          </a:prstGeom>
          <a:noFill/>
        </p:spPr>
        <p:txBody>
          <a:bodyPr wrap="none" lIns="0" rIns="0" tIns="0" bIns="0" anchor="t">
            <a:spAutoFit/>
          </a:bodyPr>
          <a:lstStyle/>
          <a:p>
            <a:pPr algn="l"/>
            <a:r>
              <a:rPr sz="1250" b="1">
                <a:solidFill>
                  <a:srgbClr val="FF743E"/>
                </a:solidFill>
                <a:latin typeface="Aptos"/>
              </a:rPr>
              <a:t>FOUNDATION GATE</a:t>
            </a:r>
          </a:p>
        </p:txBody>
      </p:sp>
      <p:sp>
        <p:nvSpPr>
          <p:cNvPr id="6" name="TextBox 5"/>
          <p:cNvSpPr txBox="1"/>
          <p:nvPr/>
        </p:nvSpPr>
        <p:spPr>
          <a:xfrm>
            <a:off x="566928" y="713232"/>
            <a:ext cx="7772400" cy="896112"/>
          </a:xfrm>
          <a:prstGeom prst="rect">
            <a:avLst/>
          </a:prstGeom>
          <a:noFill/>
        </p:spPr>
        <p:txBody>
          <a:bodyPr wrap="none" lIns="0" rIns="0" tIns="0" bIns="0" anchor="t">
            <a:spAutoFit/>
          </a:bodyPr>
          <a:lstStyle/>
          <a:p>
            <a:pPr algn="l"/>
            <a:r>
              <a:rPr sz="2900" b="1">
                <a:solidFill>
                  <a:srgbClr val="EFF3F9"/>
                </a:solidFill>
                <a:latin typeface="Aptos"/>
              </a:rPr>
              <a:t>Before data types: check memory literacy</a:t>
            </a:r>
          </a:p>
        </p:txBody>
      </p:sp>
      <p:sp>
        <p:nvSpPr>
          <p:cNvPr id="7" name="TextBox 6"/>
          <p:cNvSpPr txBox="1"/>
          <p:nvPr/>
        </p:nvSpPr>
        <p:spPr>
          <a:xfrm>
            <a:off x="585216" y="1591056"/>
            <a:ext cx="8321040" cy="384048"/>
          </a:xfrm>
          <a:prstGeom prst="rect">
            <a:avLst/>
          </a:prstGeom>
          <a:noFill/>
        </p:spPr>
        <p:txBody>
          <a:bodyPr wrap="none" lIns="0" rIns="0" tIns="0" bIns="0" anchor="t">
            <a:spAutoFit/>
          </a:bodyPr>
          <a:lstStyle/>
          <a:p>
            <a:pPr algn="l"/>
            <a:r>
              <a:rPr sz="1460" b="0">
                <a:solidFill>
                  <a:srgbClr val="A8B3C4"/>
                </a:solidFill>
                <a:latin typeface="Aptos"/>
              </a:rPr>
              <a:t>If malloc, stack/heap, layout, or “what actually exists in RAM” are shaky, fix that now.</a:t>
            </a:r>
          </a:p>
        </p:txBody>
      </p:sp>
      <p:sp>
        <p:nvSpPr>
          <p:cNvPr id="8" name="Rounded Rectangle 7"/>
          <p:cNvSpPr/>
          <p:nvPr/>
        </p:nvSpPr>
        <p:spPr>
          <a:xfrm>
            <a:off x="566928" y="1975104"/>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975104"/>
            <a:ext cx="54864" cy="1664208"/>
          </a:xfrm>
          <a:prstGeom prst="rect">
            <a:avLst/>
          </a:prstGeom>
          <a:solidFill>
            <a:srgbClr val="F7C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139696"/>
            <a:ext cx="3172968" cy="274320"/>
          </a:xfrm>
          <a:prstGeom prst="rect">
            <a:avLst/>
          </a:prstGeom>
          <a:noFill/>
        </p:spPr>
        <p:txBody>
          <a:bodyPr wrap="none" lIns="0" rIns="0" tIns="0" bIns="0" anchor="t">
            <a:spAutoFit/>
          </a:bodyPr>
          <a:lstStyle/>
          <a:p>
            <a:pPr algn="l"/>
            <a:r>
              <a:rPr sz="1180" b="1">
                <a:solidFill>
                  <a:srgbClr val="F7C564"/>
                </a:solidFill>
                <a:latin typeface="Aptos"/>
              </a:rPr>
              <a:t>Trigger</a:t>
            </a:r>
          </a:p>
        </p:txBody>
      </p:sp>
      <p:sp>
        <p:nvSpPr>
          <p:cNvPr id="11" name="TextBox 10"/>
          <p:cNvSpPr txBox="1"/>
          <p:nvPr/>
        </p:nvSpPr>
        <p:spPr>
          <a:xfrm>
            <a:off x="786384" y="2542032"/>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Students treat allocation as magic.</a:t>
            </a:r>
          </a:p>
          <a:p>
            <a:pPr>
              <a:spcAft>
                <a:spcPts val="100"/>
              </a:spcAft>
            </a:pPr>
            <a:r>
              <a:rPr sz="1220" b="0">
                <a:solidFill>
                  <a:srgbClr val="A8B3C4"/>
                </a:solidFill>
                <a:latin typeface="Aptos"/>
              </a:rPr>
              <a:t>Confusion between object, value, storage, address, pointer.</a:t>
            </a:r>
          </a:p>
        </p:txBody>
      </p:sp>
      <p:sp>
        <p:nvSpPr>
          <p:cNvPr id="12" name="Rounded Rectangle 11"/>
          <p:cNvSpPr/>
          <p:nvPr/>
        </p:nvSpPr>
        <p:spPr>
          <a:xfrm>
            <a:off x="4416552" y="1975104"/>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6552" y="1975104"/>
            <a:ext cx="54864" cy="1664208"/>
          </a:xfrm>
          <a:prstGeom prst="rect">
            <a:avLst/>
          </a:prstGeom>
          <a:solidFill>
            <a:srgbClr val="66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36008" y="2139696"/>
            <a:ext cx="3172968" cy="274320"/>
          </a:xfrm>
          <a:prstGeom prst="rect">
            <a:avLst/>
          </a:prstGeom>
          <a:noFill/>
        </p:spPr>
        <p:txBody>
          <a:bodyPr wrap="none" lIns="0" rIns="0" tIns="0" bIns="0" anchor="t">
            <a:spAutoFit/>
          </a:bodyPr>
          <a:lstStyle/>
          <a:p>
            <a:pPr algn="l"/>
            <a:r>
              <a:rPr sz="1180" b="1">
                <a:solidFill>
                  <a:srgbClr val="66A6FF"/>
                </a:solidFill>
                <a:latin typeface="Aptos"/>
              </a:rPr>
              <a:t>Pull in now</a:t>
            </a:r>
          </a:p>
        </p:txBody>
      </p:sp>
      <p:sp>
        <p:nvSpPr>
          <p:cNvPr id="15" name="TextBox 14"/>
          <p:cNvSpPr txBox="1"/>
          <p:nvPr/>
        </p:nvSpPr>
        <p:spPr>
          <a:xfrm>
            <a:off x="4636008" y="2542032"/>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Rust_CPP_Memory_Literacy_Addendum.pptx</a:t>
            </a:r>
          </a:p>
          <a:p>
            <a:pPr>
              <a:spcAft>
                <a:spcPts val="100"/>
              </a:spcAft>
            </a:pPr>
            <a:r>
              <a:rPr sz="1220" b="0">
                <a:solidFill>
                  <a:srgbClr val="A8B3C4"/>
                </a:solidFill>
                <a:latin typeface="Aptos"/>
              </a:rPr>
              <a:t>Focus on malloc, storage, lifetime, and why abstractions still sit on bytes.</a:t>
            </a:r>
          </a:p>
        </p:txBody>
      </p:sp>
      <p:sp>
        <p:nvSpPr>
          <p:cNvPr id="16" name="Rounded Rectangle 15"/>
          <p:cNvSpPr/>
          <p:nvPr/>
        </p:nvSpPr>
        <p:spPr>
          <a:xfrm>
            <a:off x="566928" y="3858768"/>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3858768"/>
            <a:ext cx="54864" cy="1664208"/>
          </a:xfrm>
          <a:prstGeom prst="rect">
            <a:avLst/>
          </a:prstGeom>
          <a:solidFill>
            <a:srgbClr val="4E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023359"/>
            <a:ext cx="3172968" cy="274320"/>
          </a:xfrm>
          <a:prstGeom prst="rect">
            <a:avLst/>
          </a:prstGeom>
          <a:noFill/>
        </p:spPr>
        <p:txBody>
          <a:bodyPr wrap="none" lIns="0" rIns="0" tIns="0" bIns="0" anchor="t">
            <a:spAutoFit/>
          </a:bodyPr>
          <a:lstStyle/>
          <a:p>
            <a:pPr algn="l"/>
            <a:r>
              <a:rPr sz="1180" b="1">
                <a:solidFill>
                  <a:srgbClr val="4ECCA3"/>
                </a:solidFill>
                <a:latin typeface="Aptos"/>
              </a:rPr>
              <a:t>Exercise / check</a:t>
            </a:r>
          </a:p>
        </p:txBody>
      </p:sp>
      <p:sp>
        <p:nvSpPr>
          <p:cNvPr id="19" name="TextBox 18"/>
          <p:cNvSpPr txBox="1"/>
          <p:nvPr/>
        </p:nvSpPr>
        <p:spPr>
          <a:xfrm>
            <a:off x="786384" y="4425696"/>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Ask them to draw String / Vec as pointer + length + capacity.</a:t>
            </a:r>
          </a:p>
          <a:p>
            <a:pPr>
              <a:spcAft>
                <a:spcPts val="100"/>
              </a:spcAft>
            </a:pPr>
            <a:r>
              <a:rPr sz="1220" b="0">
                <a:solidFill>
                  <a:srgbClr val="A8B3C4"/>
                </a:solidFill>
                <a:latin typeface="Aptos"/>
              </a:rPr>
              <a:t>Then compare to std::string / std::vector.</a:t>
            </a:r>
          </a:p>
        </p:txBody>
      </p:sp>
      <p:sp>
        <p:nvSpPr>
          <p:cNvPr id="20" name="Rounded Rectangle 19"/>
          <p:cNvSpPr/>
          <p:nvPr/>
        </p:nvSpPr>
        <p:spPr>
          <a:xfrm>
            <a:off x="4416552" y="3858768"/>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6552" y="3858768"/>
            <a:ext cx="54864" cy="1664208"/>
          </a:xfrm>
          <a:prstGeom prst="rect">
            <a:avLst/>
          </a:prstGeom>
          <a:solidFill>
            <a:srgbClr val="FF7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36008" y="4023359"/>
            <a:ext cx="3172968" cy="274320"/>
          </a:xfrm>
          <a:prstGeom prst="rect">
            <a:avLst/>
          </a:prstGeom>
          <a:noFill/>
        </p:spPr>
        <p:txBody>
          <a:bodyPr wrap="none" lIns="0" rIns="0" tIns="0" bIns="0" anchor="t">
            <a:spAutoFit/>
          </a:bodyPr>
          <a:lstStyle/>
          <a:p>
            <a:pPr algn="l"/>
            <a:r>
              <a:rPr sz="1180" b="1">
                <a:solidFill>
                  <a:srgbClr val="FF743E"/>
                </a:solidFill>
                <a:latin typeface="Aptos"/>
              </a:rPr>
              <a:t>Return anchor</a:t>
            </a:r>
          </a:p>
        </p:txBody>
      </p:sp>
      <p:sp>
        <p:nvSpPr>
          <p:cNvPr id="23" name="TextBox 22"/>
          <p:cNvSpPr txBox="1"/>
          <p:nvPr/>
        </p:nvSpPr>
        <p:spPr>
          <a:xfrm>
            <a:off x="4636008" y="4425696"/>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Return to Data Types &amp; Program Elements.</a:t>
            </a:r>
          </a:p>
          <a:p>
            <a:pPr>
              <a:spcAft>
                <a:spcPts val="100"/>
              </a:spcAft>
            </a:pPr>
            <a:r>
              <a:rPr sz="1220" b="0">
                <a:solidFill>
                  <a:srgbClr val="A8B3C4"/>
                </a:solidFill>
                <a:latin typeface="Aptos"/>
              </a:rPr>
              <a:t>Now UTF-8, slices, arrays, and shadowing have a place to land.</a:t>
            </a:r>
          </a:p>
        </p:txBody>
      </p:sp>
      <p:sp>
        <p:nvSpPr>
          <p:cNvPr id="24" name="Rounded Rectangle 23"/>
          <p:cNvSpPr/>
          <p:nvPr/>
        </p:nvSpPr>
        <p:spPr>
          <a:xfrm>
            <a:off x="8366760" y="2011680"/>
            <a:ext cx="3127248" cy="3291840"/>
          </a:xfrm>
          <a:prstGeom prst="roundRect">
            <a:avLst/>
          </a:prstGeom>
          <a:solidFill>
            <a:srgbClr val="121B2B"/>
          </a:solidFill>
          <a:ln w="12700">
            <a:solidFill>
              <a:srgbClr val="2F3F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668512" y="2304288"/>
            <a:ext cx="1353312" cy="301752"/>
          </a:xfrm>
          <a:prstGeom prst="roundRect">
            <a:avLst/>
          </a:prstGeom>
          <a:solidFill>
            <a:srgbClr val="161F2E"/>
          </a:solidFill>
          <a:ln w="15240">
            <a:solidFill>
              <a:srgbClr val="FF743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743E"/>
                </a:solidFill>
                <a:latin typeface="Aptos"/>
              </a:rPr>
              <a:t>DEEP DIVE</a:t>
            </a:r>
          </a:p>
        </p:txBody>
      </p:sp>
      <p:sp>
        <p:nvSpPr>
          <p:cNvPr id="26" name="TextBox 25"/>
          <p:cNvSpPr txBox="1"/>
          <p:nvPr/>
        </p:nvSpPr>
        <p:spPr>
          <a:xfrm>
            <a:off x="8641080" y="2788920"/>
            <a:ext cx="2423160" cy="548640"/>
          </a:xfrm>
          <a:prstGeom prst="rect">
            <a:avLst/>
          </a:prstGeom>
          <a:noFill/>
        </p:spPr>
        <p:txBody>
          <a:bodyPr wrap="none" lIns="0" rIns="0" tIns="0" bIns="0" anchor="t">
            <a:spAutoFit/>
          </a:bodyPr>
          <a:lstStyle/>
          <a:p>
            <a:pPr algn="l"/>
            <a:r>
              <a:rPr sz="1300" b="1">
                <a:solidFill>
                  <a:srgbClr val="A8B3C4"/>
                </a:solidFill>
                <a:latin typeface="Aptos"/>
              </a:rPr>
              <a:t>Instructor move</a:t>
            </a:r>
          </a:p>
        </p:txBody>
      </p:sp>
      <p:sp>
        <p:nvSpPr>
          <p:cNvPr id="27" name="TextBox 26"/>
          <p:cNvSpPr txBox="1"/>
          <p:nvPr/>
        </p:nvSpPr>
        <p:spPr>
          <a:xfrm>
            <a:off x="8641080" y="3227832"/>
            <a:ext cx="2423160" cy="877824"/>
          </a:xfrm>
          <a:prstGeom prst="rect">
            <a:avLst/>
          </a:prstGeom>
          <a:noFill/>
        </p:spPr>
        <p:txBody>
          <a:bodyPr wrap="none" lIns="0" rIns="0" tIns="0" bIns="0" anchor="t">
            <a:spAutoFit/>
          </a:bodyPr>
          <a:lstStyle/>
          <a:p>
            <a:pPr algn="l"/>
            <a:r>
              <a:rPr sz="1600" b="0">
                <a:solidFill>
                  <a:srgbClr val="EFF3F9"/>
                </a:solidFill>
                <a:latin typeface="Aptos"/>
              </a:rPr>
              <a:t>Pause, choose the route, then return to the standard stack.</a:t>
            </a:r>
          </a:p>
        </p:txBody>
      </p:sp>
      <p:sp>
        <p:nvSpPr>
          <p:cNvPr id="28" name="TextBox 27"/>
          <p:cNvSpPr txBox="1"/>
          <p:nvPr/>
        </p:nvSpPr>
        <p:spPr>
          <a:xfrm>
            <a:off x="8641080" y="4315968"/>
            <a:ext cx="2423160" cy="310896"/>
          </a:xfrm>
          <a:prstGeom prst="rect">
            <a:avLst/>
          </a:prstGeom>
          <a:noFill/>
        </p:spPr>
        <p:txBody>
          <a:bodyPr wrap="none" lIns="0" rIns="0" tIns="0" bIns="0" anchor="t">
            <a:spAutoFit/>
          </a:bodyPr>
          <a:lstStyle/>
          <a:p>
            <a:pPr algn="l"/>
            <a:r>
              <a:rPr sz="1250" b="1">
                <a:solidFill>
                  <a:srgbClr val="A8B3C4"/>
                </a:solidFill>
                <a:latin typeface="Aptos"/>
              </a:rPr>
              <a:t>Suggested time</a:t>
            </a:r>
          </a:p>
        </p:txBody>
      </p:sp>
      <p:sp>
        <p:nvSpPr>
          <p:cNvPr id="29" name="TextBox 28"/>
          <p:cNvSpPr txBox="1"/>
          <p:nvPr/>
        </p:nvSpPr>
        <p:spPr>
          <a:xfrm>
            <a:off x="8641080" y="4617720"/>
            <a:ext cx="2423160" cy="402336"/>
          </a:xfrm>
          <a:prstGeom prst="rect">
            <a:avLst/>
          </a:prstGeom>
          <a:noFill/>
        </p:spPr>
        <p:txBody>
          <a:bodyPr wrap="none" lIns="0" rIns="0" tIns="0" bIns="0" anchor="t">
            <a:spAutoFit/>
          </a:bodyPr>
          <a:lstStyle/>
          <a:p>
            <a:pPr algn="l"/>
            <a:r>
              <a:rPr sz="1800" b="1">
                <a:solidFill>
                  <a:srgbClr val="FF743E"/>
                </a:solidFill>
                <a:latin typeface="Aptos"/>
              </a:rPr>
              <a:t>15–30 min</a:t>
            </a:r>
          </a:p>
        </p:txBody>
      </p:sp>
      <p:sp>
        <p:nvSpPr>
          <p:cNvPr id="30" name="TextBox 29"/>
          <p:cNvSpPr txBox="1"/>
          <p:nvPr/>
        </p:nvSpPr>
        <p:spPr>
          <a:xfrm>
            <a:off x="566928" y="6291072"/>
            <a:ext cx="5303520" cy="219456"/>
          </a:xfrm>
          <a:prstGeom prst="rect">
            <a:avLst/>
          </a:prstGeom>
          <a:noFill/>
        </p:spPr>
        <p:txBody>
          <a:bodyPr wrap="none" lIns="0" rIns="0" tIns="0" bIns="0" anchor="t">
            <a:spAutoFit/>
          </a:bodyPr>
          <a:lstStyle/>
          <a:p>
            <a:pPr algn="l"/>
            <a:r>
              <a:rPr sz="1050" b="0">
                <a:solidFill>
                  <a:srgbClr val="5E6E87"/>
                </a:solidFill>
                <a:latin typeface="Aptos"/>
              </a:rPr>
              <a:t>Rust for Experienced C++ Developers — navigation interleave</a:t>
            </a:r>
          </a:p>
        </p:txBody>
      </p:sp>
      <p:sp>
        <p:nvSpPr>
          <p:cNvPr id="31" name="TextBox 30"/>
          <p:cNvSpPr txBox="1"/>
          <p:nvPr/>
        </p:nvSpPr>
        <p:spPr>
          <a:xfrm>
            <a:off x="10040112" y="6272784"/>
            <a:ext cx="1463040" cy="256032"/>
          </a:xfrm>
          <a:prstGeom prst="rect">
            <a:avLst/>
          </a:prstGeom>
          <a:noFill/>
        </p:spPr>
        <p:txBody>
          <a:bodyPr wrap="none" lIns="0" rIns="0" tIns="0" bIns="0" anchor="t">
            <a:spAutoFit/>
          </a:bodyPr>
          <a:lstStyle/>
          <a:p>
            <a:pPr algn="r"/>
            <a:r>
              <a:rPr sz="1050" b="0">
                <a:solidFill>
                  <a:srgbClr val="5E6E87"/>
                </a:solidFill>
                <a:latin typeface="Aptos"/>
              </a:rPr>
              <a:t>jump-friendly</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C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46304"/>
          </a:xfrm>
          <a:prstGeom prst="rect">
            <a:avLst/>
          </a:prstGeom>
          <a:solidFill>
            <a:srgbClr val="FF4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92000" cy="54864"/>
          </a:xfrm>
          <a:prstGeom prst="rect">
            <a:avLst/>
          </a:prstGeom>
          <a:solidFill>
            <a:srgbClr val="141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4206240" cy="201168"/>
          </a:xfrm>
          <a:prstGeom prst="rect">
            <a:avLst/>
          </a:prstGeom>
          <a:noFill/>
        </p:spPr>
        <p:txBody>
          <a:bodyPr wrap="none" lIns="0" rIns="0" tIns="0" bIns="0" anchor="t">
            <a:spAutoFit/>
          </a:bodyPr>
          <a:lstStyle/>
          <a:p>
            <a:pPr algn="l"/>
            <a:r>
              <a:rPr sz="1250" b="1">
                <a:solidFill>
                  <a:srgbClr val="FF743E"/>
                </a:solidFill>
                <a:latin typeface="Aptos"/>
              </a:rPr>
              <a:t>PACING NOTE</a:t>
            </a:r>
          </a:p>
        </p:txBody>
      </p:sp>
      <p:sp>
        <p:nvSpPr>
          <p:cNvPr id="6" name="TextBox 5"/>
          <p:cNvSpPr txBox="1"/>
          <p:nvPr/>
        </p:nvSpPr>
        <p:spPr>
          <a:xfrm>
            <a:off x="566928" y="713232"/>
            <a:ext cx="7772400" cy="896112"/>
          </a:xfrm>
          <a:prstGeom prst="rect">
            <a:avLst/>
          </a:prstGeom>
          <a:noFill/>
        </p:spPr>
        <p:txBody>
          <a:bodyPr wrap="none" lIns="0" rIns="0" tIns="0" bIns="0" anchor="t">
            <a:spAutoFit/>
          </a:bodyPr>
          <a:lstStyle/>
          <a:p>
            <a:pPr algn="l"/>
            <a:r>
              <a:rPr sz="2900" b="1">
                <a:solidFill>
                  <a:srgbClr val="EFF3F9"/>
                </a:solidFill>
                <a:latin typeface="Aptos"/>
              </a:rPr>
              <a:t>Fly through syntax; land only on semantic differences</a:t>
            </a:r>
          </a:p>
        </p:txBody>
      </p:sp>
      <p:sp>
        <p:nvSpPr>
          <p:cNvPr id="7" name="TextBox 6"/>
          <p:cNvSpPr txBox="1"/>
          <p:nvPr/>
        </p:nvSpPr>
        <p:spPr>
          <a:xfrm>
            <a:off x="585216" y="1591056"/>
            <a:ext cx="8321040" cy="384048"/>
          </a:xfrm>
          <a:prstGeom prst="rect">
            <a:avLst/>
          </a:prstGeom>
          <a:noFill/>
        </p:spPr>
        <p:txBody>
          <a:bodyPr wrap="none" lIns="0" rIns="0" tIns="0" bIns="0" anchor="t">
            <a:spAutoFit/>
          </a:bodyPr>
          <a:lstStyle/>
          <a:p>
            <a:pPr algn="l"/>
            <a:r>
              <a:rPr sz="1460" b="0">
                <a:solidFill>
                  <a:srgbClr val="A8B3C4"/>
                </a:solidFill>
                <a:latin typeface="Aptos"/>
              </a:rPr>
              <a:t>Experienced C++ developers do not need a beginner tour. They need to know where familiar spelling hides different contracts.</a:t>
            </a:r>
          </a:p>
        </p:txBody>
      </p:sp>
      <p:sp>
        <p:nvSpPr>
          <p:cNvPr id="8" name="Rounded Rectangle 7"/>
          <p:cNvSpPr/>
          <p:nvPr/>
        </p:nvSpPr>
        <p:spPr>
          <a:xfrm>
            <a:off x="566928" y="1975104"/>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975104"/>
            <a:ext cx="54864" cy="1664208"/>
          </a:xfrm>
          <a:prstGeom prst="rect">
            <a:avLst/>
          </a:prstGeom>
          <a:solidFill>
            <a:srgbClr val="F7C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139696"/>
            <a:ext cx="3172968" cy="274320"/>
          </a:xfrm>
          <a:prstGeom prst="rect">
            <a:avLst/>
          </a:prstGeom>
          <a:noFill/>
        </p:spPr>
        <p:txBody>
          <a:bodyPr wrap="none" lIns="0" rIns="0" tIns="0" bIns="0" anchor="t">
            <a:spAutoFit/>
          </a:bodyPr>
          <a:lstStyle/>
          <a:p>
            <a:pPr algn="l"/>
            <a:r>
              <a:rPr sz="1180" b="1">
                <a:solidFill>
                  <a:srgbClr val="F7C564"/>
                </a:solidFill>
                <a:latin typeface="Aptos"/>
              </a:rPr>
              <a:t>Trigger</a:t>
            </a:r>
          </a:p>
        </p:txBody>
      </p:sp>
      <p:sp>
        <p:nvSpPr>
          <p:cNvPr id="11" name="TextBox 10"/>
          <p:cNvSpPr txBox="1"/>
          <p:nvPr/>
        </p:nvSpPr>
        <p:spPr>
          <a:xfrm>
            <a:off x="786384" y="2542032"/>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The room is impatient during syntax.</a:t>
            </a:r>
          </a:p>
          <a:p>
            <a:pPr>
              <a:spcAft>
                <a:spcPts val="100"/>
              </a:spcAft>
            </a:pPr>
            <a:r>
              <a:rPr sz="1220" b="0">
                <a:solidFill>
                  <a:srgbClr val="A8B3C4"/>
                </a:solidFill>
                <a:latin typeface="Aptos"/>
              </a:rPr>
              <a:t>They understand loops/functions but miss mutability, expressions, enums.</a:t>
            </a:r>
          </a:p>
        </p:txBody>
      </p:sp>
      <p:sp>
        <p:nvSpPr>
          <p:cNvPr id="12" name="Rounded Rectangle 11"/>
          <p:cNvSpPr/>
          <p:nvPr/>
        </p:nvSpPr>
        <p:spPr>
          <a:xfrm>
            <a:off x="4416552" y="1975104"/>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6552" y="1975104"/>
            <a:ext cx="54864" cy="1664208"/>
          </a:xfrm>
          <a:prstGeom prst="rect">
            <a:avLst/>
          </a:prstGeom>
          <a:solidFill>
            <a:srgbClr val="66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36008" y="2139696"/>
            <a:ext cx="3172968" cy="274320"/>
          </a:xfrm>
          <a:prstGeom prst="rect">
            <a:avLst/>
          </a:prstGeom>
          <a:noFill/>
        </p:spPr>
        <p:txBody>
          <a:bodyPr wrap="none" lIns="0" rIns="0" tIns="0" bIns="0" anchor="t">
            <a:spAutoFit/>
          </a:bodyPr>
          <a:lstStyle/>
          <a:p>
            <a:pPr algn="l"/>
            <a:r>
              <a:rPr sz="1180" b="1">
                <a:solidFill>
                  <a:srgbClr val="66A6FF"/>
                </a:solidFill>
                <a:latin typeface="Aptos"/>
              </a:rPr>
              <a:t>Pull in now</a:t>
            </a:r>
          </a:p>
        </p:txBody>
      </p:sp>
      <p:sp>
        <p:nvSpPr>
          <p:cNvPr id="15" name="TextBox 14"/>
          <p:cNvSpPr txBox="1"/>
          <p:nvPr/>
        </p:nvSpPr>
        <p:spPr>
          <a:xfrm>
            <a:off x="4636008" y="2542032"/>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No external deck by default.</a:t>
            </a:r>
          </a:p>
          <a:p>
            <a:pPr>
              <a:spcAft>
                <a:spcPts val="100"/>
              </a:spcAft>
            </a:pPr>
            <a:r>
              <a:rPr sz="1220" b="0">
                <a:solidFill>
                  <a:srgbClr val="A8B3C4"/>
                </a:solidFill>
                <a:latin typeface="Aptos"/>
              </a:rPr>
              <a:t>Use this section as the Rosetta stone, not the main event.</a:t>
            </a:r>
          </a:p>
        </p:txBody>
      </p:sp>
      <p:sp>
        <p:nvSpPr>
          <p:cNvPr id="16" name="Rounded Rectangle 15"/>
          <p:cNvSpPr/>
          <p:nvPr/>
        </p:nvSpPr>
        <p:spPr>
          <a:xfrm>
            <a:off x="566928" y="3858768"/>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3858768"/>
            <a:ext cx="54864" cy="1664208"/>
          </a:xfrm>
          <a:prstGeom prst="rect">
            <a:avLst/>
          </a:prstGeom>
          <a:solidFill>
            <a:srgbClr val="4E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023359"/>
            <a:ext cx="3172968" cy="274320"/>
          </a:xfrm>
          <a:prstGeom prst="rect">
            <a:avLst/>
          </a:prstGeom>
          <a:noFill/>
        </p:spPr>
        <p:txBody>
          <a:bodyPr wrap="none" lIns="0" rIns="0" tIns="0" bIns="0" anchor="t">
            <a:spAutoFit/>
          </a:bodyPr>
          <a:lstStyle/>
          <a:p>
            <a:pPr algn="l"/>
            <a:r>
              <a:rPr sz="1180" b="1">
                <a:solidFill>
                  <a:srgbClr val="4ECCA3"/>
                </a:solidFill>
                <a:latin typeface="Aptos"/>
              </a:rPr>
              <a:t>Exercise / check</a:t>
            </a:r>
          </a:p>
        </p:txBody>
      </p:sp>
      <p:sp>
        <p:nvSpPr>
          <p:cNvPr id="19" name="TextBox 18"/>
          <p:cNvSpPr txBox="1"/>
          <p:nvPr/>
        </p:nvSpPr>
        <p:spPr>
          <a:xfrm>
            <a:off x="786384" y="4425696"/>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Use Practice Problem 1 or 2 only if the class needs a quick compiler interaction.</a:t>
            </a:r>
          </a:p>
          <a:p>
            <a:pPr>
              <a:spcAft>
                <a:spcPts val="100"/>
              </a:spcAft>
            </a:pPr>
            <a:r>
              <a:rPr sz="1220" b="0">
                <a:solidFill>
                  <a:srgbClr val="A8B3C4"/>
                </a:solidFill>
                <a:latin typeface="Aptos"/>
              </a:rPr>
              <a:t>Otherwise save energy for ownership.</a:t>
            </a:r>
          </a:p>
        </p:txBody>
      </p:sp>
      <p:sp>
        <p:nvSpPr>
          <p:cNvPr id="20" name="Rounded Rectangle 19"/>
          <p:cNvSpPr/>
          <p:nvPr/>
        </p:nvSpPr>
        <p:spPr>
          <a:xfrm>
            <a:off x="4416552" y="3858768"/>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6552" y="3858768"/>
            <a:ext cx="54864" cy="1664208"/>
          </a:xfrm>
          <a:prstGeom prst="rect">
            <a:avLst/>
          </a:prstGeom>
          <a:solidFill>
            <a:srgbClr val="FF7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36008" y="4023359"/>
            <a:ext cx="3172968" cy="274320"/>
          </a:xfrm>
          <a:prstGeom prst="rect">
            <a:avLst/>
          </a:prstGeom>
          <a:noFill/>
        </p:spPr>
        <p:txBody>
          <a:bodyPr wrap="none" lIns="0" rIns="0" tIns="0" bIns="0" anchor="t">
            <a:spAutoFit/>
          </a:bodyPr>
          <a:lstStyle/>
          <a:p>
            <a:pPr algn="l"/>
            <a:r>
              <a:rPr sz="1180" b="1">
                <a:solidFill>
                  <a:srgbClr val="FF743E"/>
                </a:solidFill>
                <a:latin typeface="Aptos"/>
              </a:rPr>
              <a:t>Return anchor</a:t>
            </a:r>
          </a:p>
        </p:txBody>
      </p:sp>
      <p:sp>
        <p:nvSpPr>
          <p:cNvPr id="23" name="TextBox 22"/>
          <p:cNvSpPr txBox="1"/>
          <p:nvPr/>
        </p:nvSpPr>
        <p:spPr>
          <a:xfrm>
            <a:off x="4636008" y="4425696"/>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Return to Syntax Orientation.</a:t>
            </a:r>
          </a:p>
          <a:p>
            <a:pPr>
              <a:spcAft>
                <a:spcPts val="100"/>
              </a:spcAft>
            </a:pPr>
            <a:r>
              <a:rPr sz="1220" b="0">
                <a:solidFill>
                  <a:srgbClr val="A8B3C4"/>
                </a:solidFill>
                <a:latin typeface="Aptos"/>
              </a:rPr>
              <a:t>Speed rule: syntax is a map; semantics are the route.</a:t>
            </a:r>
          </a:p>
        </p:txBody>
      </p:sp>
      <p:sp>
        <p:nvSpPr>
          <p:cNvPr id="24" name="Rounded Rectangle 23"/>
          <p:cNvSpPr/>
          <p:nvPr/>
        </p:nvSpPr>
        <p:spPr>
          <a:xfrm>
            <a:off x="8366760" y="2011680"/>
            <a:ext cx="3127248" cy="3291840"/>
          </a:xfrm>
          <a:prstGeom prst="roundRect">
            <a:avLst/>
          </a:prstGeom>
          <a:solidFill>
            <a:srgbClr val="121B2B"/>
          </a:solidFill>
          <a:ln w="12700">
            <a:solidFill>
              <a:srgbClr val="2F3F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668512" y="2304288"/>
            <a:ext cx="1353312" cy="301752"/>
          </a:xfrm>
          <a:prstGeom prst="roundRect">
            <a:avLst/>
          </a:prstGeom>
          <a:solidFill>
            <a:srgbClr val="161F2E"/>
          </a:solidFill>
          <a:ln w="15240">
            <a:solidFill>
              <a:srgbClr val="FF743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743E"/>
                </a:solidFill>
                <a:latin typeface="Aptos"/>
              </a:rPr>
              <a:t>PACE SETTER</a:t>
            </a:r>
          </a:p>
        </p:txBody>
      </p:sp>
      <p:sp>
        <p:nvSpPr>
          <p:cNvPr id="26" name="TextBox 25"/>
          <p:cNvSpPr txBox="1"/>
          <p:nvPr/>
        </p:nvSpPr>
        <p:spPr>
          <a:xfrm>
            <a:off x="8641080" y="2788920"/>
            <a:ext cx="2423160" cy="548640"/>
          </a:xfrm>
          <a:prstGeom prst="rect">
            <a:avLst/>
          </a:prstGeom>
          <a:noFill/>
        </p:spPr>
        <p:txBody>
          <a:bodyPr wrap="none" lIns="0" rIns="0" tIns="0" bIns="0" anchor="t">
            <a:spAutoFit/>
          </a:bodyPr>
          <a:lstStyle/>
          <a:p>
            <a:pPr algn="l"/>
            <a:r>
              <a:rPr sz="1300" b="1">
                <a:solidFill>
                  <a:srgbClr val="A8B3C4"/>
                </a:solidFill>
                <a:latin typeface="Aptos"/>
              </a:rPr>
              <a:t>Instructor move</a:t>
            </a:r>
          </a:p>
        </p:txBody>
      </p:sp>
      <p:sp>
        <p:nvSpPr>
          <p:cNvPr id="27" name="TextBox 26"/>
          <p:cNvSpPr txBox="1"/>
          <p:nvPr/>
        </p:nvSpPr>
        <p:spPr>
          <a:xfrm>
            <a:off x="8641080" y="3227832"/>
            <a:ext cx="2423160" cy="877824"/>
          </a:xfrm>
          <a:prstGeom prst="rect">
            <a:avLst/>
          </a:prstGeom>
          <a:noFill/>
        </p:spPr>
        <p:txBody>
          <a:bodyPr wrap="none" lIns="0" rIns="0" tIns="0" bIns="0" anchor="t">
            <a:spAutoFit/>
          </a:bodyPr>
          <a:lstStyle/>
          <a:p>
            <a:pPr algn="l"/>
            <a:r>
              <a:rPr sz="1600" b="0">
                <a:solidFill>
                  <a:srgbClr val="EFF3F9"/>
                </a:solidFill>
                <a:latin typeface="Aptos"/>
              </a:rPr>
              <a:t>Pause, choose the route, then return to the standard stack.</a:t>
            </a:r>
          </a:p>
        </p:txBody>
      </p:sp>
      <p:sp>
        <p:nvSpPr>
          <p:cNvPr id="28" name="TextBox 27"/>
          <p:cNvSpPr txBox="1"/>
          <p:nvPr/>
        </p:nvSpPr>
        <p:spPr>
          <a:xfrm>
            <a:off x="8641080" y="4315968"/>
            <a:ext cx="2423160" cy="310896"/>
          </a:xfrm>
          <a:prstGeom prst="rect">
            <a:avLst/>
          </a:prstGeom>
          <a:noFill/>
        </p:spPr>
        <p:txBody>
          <a:bodyPr wrap="none" lIns="0" rIns="0" tIns="0" bIns="0" anchor="t">
            <a:spAutoFit/>
          </a:bodyPr>
          <a:lstStyle/>
          <a:p>
            <a:pPr algn="l"/>
            <a:r>
              <a:rPr sz="1250" b="1">
                <a:solidFill>
                  <a:srgbClr val="A8B3C4"/>
                </a:solidFill>
                <a:latin typeface="Aptos"/>
              </a:rPr>
              <a:t>Suggested time</a:t>
            </a:r>
          </a:p>
        </p:txBody>
      </p:sp>
      <p:sp>
        <p:nvSpPr>
          <p:cNvPr id="29" name="TextBox 28"/>
          <p:cNvSpPr txBox="1"/>
          <p:nvPr/>
        </p:nvSpPr>
        <p:spPr>
          <a:xfrm>
            <a:off x="8641080" y="4617720"/>
            <a:ext cx="2423160" cy="402336"/>
          </a:xfrm>
          <a:prstGeom prst="rect">
            <a:avLst/>
          </a:prstGeom>
          <a:noFill/>
        </p:spPr>
        <p:txBody>
          <a:bodyPr wrap="none" lIns="0" rIns="0" tIns="0" bIns="0" anchor="t">
            <a:spAutoFit/>
          </a:bodyPr>
          <a:lstStyle/>
          <a:p>
            <a:pPr algn="l"/>
            <a:r>
              <a:rPr sz="1800" b="1">
                <a:solidFill>
                  <a:srgbClr val="FF743E"/>
                </a:solidFill>
                <a:latin typeface="Aptos"/>
              </a:rPr>
              <a:t>10–20 min</a:t>
            </a:r>
          </a:p>
        </p:txBody>
      </p:sp>
      <p:sp>
        <p:nvSpPr>
          <p:cNvPr id="30" name="TextBox 29"/>
          <p:cNvSpPr txBox="1"/>
          <p:nvPr/>
        </p:nvSpPr>
        <p:spPr>
          <a:xfrm>
            <a:off x="566928" y="6291072"/>
            <a:ext cx="5303520" cy="219456"/>
          </a:xfrm>
          <a:prstGeom prst="rect">
            <a:avLst/>
          </a:prstGeom>
          <a:noFill/>
        </p:spPr>
        <p:txBody>
          <a:bodyPr wrap="none" lIns="0" rIns="0" tIns="0" bIns="0" anchor="t">
            <a:spAutoFit/>
          </a:bodyPr>
          <a:lstStyle/>
          <a:p>
            <a:pPr algn="l"/>
            <a:r>
              <a:rPr sz="1050" b="0">
                <a:solidFill>
                  <a:srgbClr val="5E6E87"/>
                </a:solidFill>
                <a:latin typeface="Aptos"/>
              </a:rPr>
              <a:t>Rust for Experienced C++ Developers — navigation interleave</a:t>
            </a:r>
          </a:p>
        </p:txBody>
      </p:sp>
      <p:sp>
        <p:nvSpPr>
          <p:cNvPr id="31" name="TextBox 30"/>
          <p:cNvSpPr txBox="1"/>
          <p:nvPr/>
        </p:nvSpPr>
        <p:spPr>
          <a:xfrm>
            <a:off x="10040112" y="6272784"/>
            <a:ext cx="1463040" cy="256032"/>
          </a:xfrm>
          <a:prstGeom prst="rect">
            <a:avLst/>
          </a:prstGeom>
          <a:noFill/>
        </p:spPr>
        <p:txBody>
          <a:bodyPr wrap="none" lIns="0" rIns="0" tIns="0" bIns="0" anchor="t">
            <a:spAutoFit/>
          </a:bodyPr>
          <a:lstStyle/>
          <a:p>
            <a:pPr algn="r"/>
            <a:r>
              <a:rPr sz="1050" b="0">
                <a:solidFill>
                  <a:srgbClr val="5E6E87"/>
                </a:solidFill>
                <a:latin typeface="Aptos"/>
              </a:rPr>
              <a:t>jump-friendly</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C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46304"/>
          </a:xfrm>
          <a:prstGeom prst="rect">
            <a:avLst/>
          </a:prstGeom>
          <a:solidFill>
            <a:srgbClr val="FF4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92000" cy="54864"/>
          </a:xfrm>
          <a:prstGeom prst="rect">
            <a:avLst/>
          </a:prstGeom>
          <a:solidFill>
            <a:srgbClr val="141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4206240" cy="201168"/>
          </a:xfrm>
          <a:prstGeom prst="rect">
            <a:avLst/>
          </a:prstGeom>
          <a:noFill/>
        </p:spPr>
        <p:txBody>
          <a:bodyPr wrap="none" lIns="0" rIns="0" tIns="0" bIns="0" anchor="t">
            <a:spAutoFit/>
          </a:bodyPr>
          <a:lstStyle/>
          <a:p>
            <a:pPr algn="l"/>
            <a:r>
              <a:rPr sz="1250" b="1">
                <a:solidFill>
                  <a:srgbClr val="FF743E"/>
                </a:solidFill>
                <a:latin typeface="Aptos"/>
              </a:rPr>
              <a:t>DEEP DIVE + FIX-IT</a:t>
            </a:r>
          </a:p>
        </p:txBody>
      </p:sp>
      <p:sp>
        <p:nvSpPr>
          <p:cNvPr id="6" name="TextBox 5"/>
          <p:cNvSpPr txBox="1"/>
          <p:nvPr/>
        </p:nvSpPr>
        <p:spPr>
          <a:xfrm>
            <a:off x="566928" y="713232"/>
            <a:ext cx="7772400" cy="896112"/>
          </a:xfrm>
          <a:prstGeom prst="rect">
            <a:avLst/>
          </a:prstGeom>
          <a:noFill/>
        </p:spPr>
        <p:txBody>
          <a:bodyPr wrap="none" lIns="0" rIns="0" tIns="0" bIns="0" anchor="t">
            <a:spAutoFit/>
          </a:bodyPr>
          <a:lstStyle/>
          <a:p>
            <a:pPr algn="l"/>
            <a:r>
              <a:rPr sz="2900" b="1">
                <a:solidFill>
                  <a:srgbClr val="EFF3F9"/>
                </a:solidFill>
                <a:latin typeface="Aptos"/>
              </a:rPr>
              <a:t>Ownership and moves: the first real collision</a:t>
            </a:r>
          </a:p>
        </p:txBody>
      </p:sp>
      <p:sp>
        <p:nvSpPr>
          <p:cNvPr id="7" name="TextBox 6"/>
          <p:cNvSpPr txBox="1"/>
          <p:nvPr/>
        </p:nvSpPr>
        <p:spPr>
          <a:xfrm>
            <a:off x="585216" y="1591056"/>
            <a:ext cx="8321040" cy="384048"/>
          </a:xfrm>
          <a:prstGeom prst="rect">
            <a:avLst/>
          </a:prstGeom>
          <a:noFill/>
        </p:spPr>
        <p:txBody>
          <a:bodyPr wrap="none" lIns="0" rIns="0" tIns="0" bIns="0" anchor="t">
            <a:spAutoFit/>
          </a:bodyPr>
          <a:lstStyle/>
          <a:p>
            <a:pPr algn="l"/>
            <a:r>
              <a:rPr sz="1460" b="0">
                <a:solidFill>
                  <a:srgbClr val="A8B3C4"/>
                </a:solidFill>
                <a:latin typeface="Aptos"/>
              </a:rPr>
              <a:t>This is where Rust stops looking like “different syntax” and starts interrogating C++ habits.</a:t>
            </a:r>
          </a:p>
        </p:txBody>
      </p:sp>
      <p:sp>
        <p:nvSpPr>
          <p:cNvPr id="8" name="Rounded Rectangle 7"/>
          <p:cNvSpPr/>
          <p:nvPr/>
        </p:nvSpPr>
        <p:spPr>
          <a:xfrm>
            <a:off x="566928" y="1975104"/>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975104"/>
            <a:ext cx="54864" cy="1664208"/>
          </a:xfrm>
          <a:prstGeom prst="rect">
            <a:avLst/>
          </a:prstGeom>
          <a:solidFill>
            <a:srgbClr val="F7C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139696"/>
            <a:ext cx="3172968" cy="274320"/>
          </a:xfrm>
          <a:prstGeom prst="rect">
            <a:avLst/>
          </a:prstGeom>
          <a:noFill/>
        </p:spPr>
        <p:txBody>
          <a:bodyPr wrap="none" lIns="0" rIns="0" tIns="0" bIns="0" anchor="t">
            <a:spAutoFit/>
          </a:bodyPr>
          <a:lstStyle/>
          <a:p>
            <a:pPr algn="l"/>
            <a:r>
              <a:rPr sz="1180" b="1">
                <a:solidFill>
                  <a:srgbClr val="F7C564"/>
                </a:solidFill>
                <a:latin typeface="Aptos"/>
              </a:rPr>
              <a:t>Trigger</a:t>
            </a:r>
          </a:p>
        </p:txBody>
      </p:sp>
      <p:sp>
        <p:nvSpPr>
          <p:cNvPr id="11" name="TextBox 10"/>
          <p:cNvSpPr txBox="1"/>
          <p:nvPr/>
        </p:nvSpPr>
        <p:spPr>
          <a:xfrm>
            <a:off x="786384" y="2542032"/>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Students ask whether Rust move equals std::move.</a:t>
            </a:r>
          </a:p>
          <a:p>
            <a:pPr>
              <a:spcAft>
                <a:spcPts val="100"/>
              </a:spcAft>
            </a:pPr>
            <a:r>
              <a:rPr sz="1220" b="0">
                <a:solidFill>
                  <a:srgbClr val="A8B3C4"/>
                </a:solidFill>
                <a:latin typeface="Aptos"/>
              </a:rPr>
              <a:t>Any confusion around clone, Copy, Drop, moved-from use.</a:t>
            </a:r>
          </a:p>
        </p:txBody>
      </p:sp>
      <p:sp>
        <p:nvSpPr>
          <p:cNvPr id="12" name="Rounded Rectangle 11"/>
          <p:cNvSpPr/>
          <p:nvPr/>
        </p:nvSpPr>
        <p:spPr>
          <a:xfrm>
            <a:off x="4416552" y="1975104"/>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6552" y="1975104"/>
            <a:ext cx="54864" cy="1664208"/>
          </a:xfrm>
          <a:prstGeom prst="rect">
            <a:avLst/>
          </a:prstGeom>
          <a:solidFill>
            <a:srgbClr val="66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36008" y="2139696"/>
            <a:ext cx="3172968" cy="274320"/>
          </a:xfrm>
          <a:prstGeom prst="rect">
            <a:avLst/>
          </a:prstGeom>
          <a:noFill/>
        </p:spPr>
        <p:txBody>
          <a:bodyPr wrap="none" lIns="0" rIns="0" tIns="0" bIns="0" anchor="t">
            <a:spAutoFit/>
          </a:bodyPr>
          <a:lstStyle/>
          <a:p>
            <a:pPr algn="l"/>
            <a:r>
              <a:rPr sz="1180" b="1">
                <a:solidFill>
                  <a:srgbClr val="66A6FF"/>
                </a:solidFill>
                <a:latin typeface="Aptos"/>
              </a:rPr>
              <a:t>Pull in now</a:t>
            </a:r>
          </a:p>
        </p:txBody>
      </p:sp>
      <p:sp>
        <p:nvSpPr>
          <p:cNvPr id="15" name="TextBox 14"/>
          <p:cNvSpPr txBox="1"/>
          <p:nvPr/>
        </p:nvSpPr>
        <p:spPr>
          <a:xfrm>
            <a:off x="4636008" y="2542032"/>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Rust_CPP_Move_Semantics_Deep_Dive_with_Lab_Quiz.pptx</a:t>
            </a:r>
          </a:p>
          <a:p>
            <a:pPr>
              <a:spcAft>
                <a:spcPts val="100"/>
              </a:spcAft>
            </a:pPr>
            <a:r>
              <a:rPr sz="1220" b="0">
                <a:solidFill>
                  <a:srgbClr val="A8B3C4"/>
                </a:solidFill>
                <a:latin typeface="Aptos"/>
              </a:rPr>
              <a:t>Short version: use the deep dive only; long version: include lab + quiz.</a:t>
            </a:r>
          </a:p>
        </p:txBody>
      </p:sp>
      <p:sp>
        <p:nvSpPr>
          <p:cNvPr id="16" name="Rounded Rectangle 15"/>
          <p:cNvSpPr/>
          <p:nvPr/>
        </p:nvSpPr>
        <p:spPr>
          <a:xfrm>
            <a:off x="566928" y="3858768"/>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3858768"/>
            <a:ext cx="54864" cy="1664208"/>
          </a:xfrm>
          <a:prstGeom prst="rect">
            <a:avLst/>
          </a:prstGeom>
          <a:solidFill>
            <a:srgbClr val="4E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023359"/>
            <a:ext cx="3172968" cy="274320"/>
          </a:xfrm>
          <a:prstGeom prst="rect">
            <a:avLst/>
          </a:prstGeom>
          <a:noFill/>
        </p:spPr>
        <p:txBody>
          <a:bodyPr wrap="none" lIns="0" rIns="0" tIns="0" bIns="0" anchor="t">
            <a:spAutoFit/>
          </a:bodyPr>
          <a:lstStyle/>
          <a:p>
            <a:pPr algn="l"/>
            <a:r>
              <a:rPr sz="1180" b="1">
                <a:solidFill>
                  <a:srgbClr val="4ECCA3"/>
                </a:solidFill>
                <a:latin typeface="Aptos"/>
              </a:rPr>
              <a:t>Exercise / check</a:t>
            </a:r>
          </a:p>
        </p:txBody>
      </p:sp>
      <p:sp>
        <p:nvSpPr>
          <p:cNvPr id="19" name="TextBox 18"/>
          <p:cNvSpPr txBox="1"/>
          <p:nvPr/>
        </p:nvSpPr>
        <p:spPr>
          <a:xfrm>
            <a:off x="786384" y="4425696"/>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Do Fix-It 01: Ownership and Moves.</a:t>
            </a:r>
          </a:p>
          <a:p>
            <a:pPr>
              <a:spcAft>
                <a:spcPts val="100"/>
              </a:spcAft>
            </a:pPr>
            <a:r>
              <a:rPr sz="1220" b="0">
                <a:solidFill>
                  <a:srgbClr val="A8B3C4"/>
                </a:solidFill>
                <a:latin typeface="Aptos"/>
              </a:rPr>
              <a:t>Recommended: exercises 01–04 first; 05/08 if the room is strong.</a:t>
            </a:r>
          </a:p>
        </p:txBody>
      </p:sp>
      <p:sp>
        <p:nvSpPr>
          <p:cNvPr id="20" name="Rounded Rectangle 19"/>
          <p:cNvSpPr/>
          <p:nvPr/>
        </p:nvSpPr>
        <p:spPr>
          <a:xfrm>
            <a:off x="4416552" y="3858768"/>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6552" y="3858768"/>
            <a:ext cx="54864" cy="1664208"/>
          </a:xfrm>
          <a:prstGeom prst="rect">
            <a:avLst/>
          </a:prstGeom>
          <a:solidFill>
            <a:srgbClr val="FF7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36008" y="4023359"/>
            <a:ext cx="3172968" cy="274320"/>
          </a:xfrm>
          <a:prstGeom prst="rect">
            <a:avLst/>
          </a:prstGeom>
          <a:noFill/>
        </p:spPr>
        <p:txBody>
          <a:bodyPr wrap="none" lIns="0" rIns="0" tIns="0" bIns="0" anchor="t">
            <a:spAutoFit/>
          </a:bodyPr>
          <a:lstStyle/>
          <a:p>
            <a:pPr algn="l"/>
            <a:r>
              <a:rPr sz="1180" b="1">
                <a:solidFill>
                  <a:srgbClr val="FF743E"/>
                </a:solidFill>
                <a:latin typeface="Aptos"/>
              </a:rPr>
              <a:t>Return anchor</a:t>
            </a:r>
          </a:p>
        </p:txBody>
      </p:sp>
      <p:sp>
        <p:nvSpPr>
          <p:cNvPr id="23" name="TextBox 22"/>
          <p:cNvSpPr txBox="1"/>
          <p:nvPr/>
        </p:nvSpPr>
        <p:spPr>
          <a:xfrm>
            <a:off x="4636008" y="4425696"/>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Return to Ownership &amp; Move Semantics.</a:t>
            </a:r>
          </a:p>
          <a:p>
            <a:pPr>
              <a:spcAft>
                <a:spcPts val="100"/>
              </a:spcAft>
            </a:pPr>
            <a:r>
              <a:rPr sz="1220" b="0">
                <a:solidFill>
                  <a:srgbClr val="A8B3C4"/>
                </a:solidFill>
                <a:latin typeface="Aptos"/>
              </a:rPr>
              <a:t>Then hit unique_ptr/Box and shared_ptr/Rc/Arc mappings.</a:t>
            </a:r>
          </a:p>
        </p:txBody>
      </p:sp>
      <p:sp>
        <p:nvSpPr>
          <p:cNvPr id="24" name="Rounded Rectangle 23"/>
          <p:cNvSpPr/>
          <p:nvPr/>
        </p:nvSpPr>
        <p:spPr>
          <a:xfrm>
            <a:off x="8366760" y="2011680"/>
            <a:ext cx="3127248" cy="3291840"/>
          </a:xfrm>
          <a:prstGeom prst="roundRect">
            <a:avLst/>
          </a:prstGeom>
          <a:solidFill>
            <a:srgbClr val="121B2B"/>
          </a:solidFill>
          <a:ln w="12700">
            <a:solidFill>
              <a:srgbClr val="2F3F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668512" y="2304288"/>
            <a:ext cx="1353312" cy="301752"/>
          </a:xfrm>
          <a:prstGeom prst="roundRect">
            <a:avLst/>
          </a:prstGeom>
          <a:solidFill>
            <a:srgbClr val="161F2E"/>
          </a:solidFill>
          <a:ln w="15240">
            <a:solidFill>
              <a:srgbClr val="FF743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743E"/>
                </a:solidFill>
                <a:latin typeface="Aptos"/>
              </a:rPr>
              <a:t>CORE STACK</a:t>
            </a:r>
          </a:p>
        </p:txBody>
      </p:sp>
      <p:sp>
        <p:nvSpPr>
          <p:cNvPr id="26" name="TextBox 25"/>
          <p:cNvSpPr txBox="1"/>
          <p:nvPr/>
        </p:nvSpPr>
        <p:spPr>
          <a:xfrm>
            <a:off x="8641080" y="2788920"/>
            <a:ext cx="2423160" cy="548640"/>
          </a:xfrm>
          <a:prstGeom prst="rect">
            <a:avLst/>
          </a:prstGeom>
          <a:noFill/>
        </p:spPr>
        <p:txBody>
          <a:bodyPr wrap="none" lIns="0" rIns="0" tIns="0" bIns="0" anchor="t">
            <a:spAutoFit/>
          </a:bodyPr>
          <a:lstStyle/>
          <a:p>
            <a:pPr algn="l"/>
            <a:r>
              <a:rPr sz="1300" b="1">
                <a:solidFill>
                  <a:srgbClr val="A8B3C4"/>
                </a:solidFill>
                <a:latin typeface="Aptos"/>
              </a:rPr>
              <a:t>Instructor move</a:t>
            </a:r>
          </a:p>
        </p:txBody>
      </p:sp>
      <p:sp>
        <p:nvSpPr>
          <p:cNvPr id="27" name="TextBox 26"/>
          <p:cNvSpPr txBox="1"/>
          <p:nvPr/>
        </p:nvSpPr>
        <p:spPr>
          <a:xfrm>
            <a:off x="8641080" y="3227832"/>
            <a:ext cx="2423160" cy="877824"/>
          </a:xfrm>
          <a:prstGeom prst="rect">
            <a:avLst/>
          </a:prstGeom>
          <a:noFill/>
        </p:spPr>
        <p:txBody>
          <a:bodyPr wrap="none" lIns="0" rIns="0" tIns="0" bIns="0" anchor="t">
            <a:spAutoFit/>
          </a:bodyPr>
          <a:lstStyle/>
          <a:p>
            <a:pPr algn="l"/>
            <a:r>
              <a:rPr sz="1600" b="0">
                <a:solidFill>
                  <a:srgbClr val="EFF3F9"/>
                </a:solidFill>
                <a:latin typeface="Aptos"/>
              </a:rPr>
              <a:t>Pause, choose the route, then return to the standard stack.</a:t>
            </a:r>
          </a:p>
        </p:txBody>
      </p:sp>
      <p:sp>
        <p:nvSpPr>
          <p:cNvPr id="28" name="TextBox 27"/>
          <p:cNvSpPr txBox="1"/>
          <p:nvPr/>
        </p:nvSpPr>
        <p:spPr>
          <a:xfrm>
            <a:off x="8641080" y="4315968"/>
            <a:ext cx="2423160" cy="310896"/>
          </a:xfrm>
          <a:prstGeom prst="rect">
            <a:avLst/>
          </a:prstGeom>
          <a:noFill/>
        </p:spPr>
        <p:txBody>
          <a:bodyPr wrap="none" lIns="0" rIns="0" tIns="0" bIns="0" anchor="t">
            <a:spAutoFit/>
          </a:bodyPr>
          <a:lstStyle/>
          <a:p>
            <a:pPr algn="l"/>
            <a:r>
              <a:rPr sz="1250" b="1">
                <a:solidFill>
                  <a:srgbClr val="A8B3C4"/>
                </a:solidFill>
                <a:latin typeface="Aptos"/>
              </a:rPr>
              <a:t>Suggested time</a:t>
            </a:r>
          </a:p>
        </p:txBody>
      </p:sp>
      <p:sp>
        <p:nvSpPr>
          <p:cNvPr id="29" name="TextBox 28"/>
          <p:cNvSpPr txBox="1"/>
          <p:nvPr/>
        </p:nvSpPr>
        <p:spPr>
          <a:xfrm>
            <a:off x="8641080" y="4617720"/>
            <a:ext cx="2423160" cy="402336"/>
          </a:xfrm>
          <a:prstGeom prst="rect">
            <a:avLst/>
          </a:prstGeom>
          <a:noFill/>
        </p:spPr>
        <p:txBody>
          <a:bodyPr wrap="none" lIns="0" rIns="0" tIns="0" bIns="0" anchor="t">
            <a:spAutoFit/>
          </a:bodyPr>
          <a:lstStyle/>
          <a:p>
            <a:pPr algn="l"/>
            <a:r>
              <a:rPr sz="1800" b="1">
                <a:solidFill>
                  <a:srgbClr val="FF743E"/>
                </a:solidFill>
                <a:latin typeface="Aptos"/>
              </a:rPr>
              <a:t>25–60 min</a:t>
            </a:r>
          </a:p>
        </p:txBody>
      </p:sp>
      <p:sp>
        <p:nvSpPr>
          <p:cNvPr id="30" name="TextBox 29"/>
          <p:cNvSpPr txBox="1"/>
          <p:nvPr/>
        </p:nvSpPr>
        <p:spPr>
          <a:xfrm>
            <a:off x="566928" y="6291072"/>
            <a:ext cx="5303520" cy="219456"/>
          </a:xfrm>
          <a:prstGeom prst="rect">
            <a:avLst/>
          </a:prstGeom>
          <a:noFill/>
        </p:spPr>
        <p:txBody>
          <a:bodyPr wrap="none" lIns="0" rIns="0" tIns="0" bIns="0" anchor="t">
            <a:spAutoFit/>
          </a:bodyPr>
          <a:lstStyle/>
          <a:p>
            <a:pPr algn="l"/>
            <a:r>
              <a:rPr sz="1050" b="0">
                <a:solidFill>
                  <a:srgbClr val="5E6E87"/>
                </a:solidFill>
                <a:latin typeface="Aptos"/>
              </a:rPr>
              <a:t>Rust for Experienced C++ Developers — navigation interleave</a:t>
            </a:r>
          </a:p>
        </p:txBody>
      </p:sp>
      <p:sp>
        <p:nvSpPr>
          <p:cNvPr id="31" name="TextBox 30"/>
          <p:cNvSpPr txBox="1"/>
          <p:nvPr/>
        </p:nvSpPr>
        <p:spPr>
          <a:xfrm>
            <a:off x="10040112" y="6272784"/>
            <a:ext cx="1463040" cy="256032"/>
          </a:xfrm>
          <a:prstGeom prst="rect">
            <a:avLst/>
          </a:prstGeom>
          <a:noFill/>
        </p:spPr>
        <p:txBody>
          <a:bodyPr wrap="none" lIns="0" rIns="0" tIns="0" bIns="0" anchor="t">
            <a:spAutoFit/>
          </a:bodyPr>
          <a:lstStyle/>
          <a:p>
            <a:pPr algn="r"/>
            <a:r>
              <a:rPr sz="1050" b="0">
                <a:solidFill>
                  <a:srgbClr val="5E6E87"/>
                </a:solidFill>
                <a:latin typeface="Aptos"/>
              </a:rPr>
              <a:t>jump-friendly</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C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46304"/>
          </a:xfrm>
          <a:prstGeom prst="rect">
            <a:avLst/>
          </a:prstGeom>
          <a:solidFill>
            <a:srgbClr val="FF4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92000" cy="54864"/>
          </a:xfrm>
          <a:prstGeom prst="rect">
            <a:avLst/>
          </a:prstGeom>
          <a:solidFill>
            <a:srgbClr val="141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4206240" cy="201168"/>
          </a:xfrm>
          <a:prstGeom prst="rect">
            <a:avLst/>
          </a:prstGeom>
          <a:noFill/>
        </p:spPr>
        <p:txBody>
          <a:bodyPr wrap="none" lIns="0" rIns="0" tIns="0" bIns="0" anchor="t">
            <a:spAutoFit/>
          </a:bodyPr>
          <a:lstStyle/>
          <a:p>
            <a:pPr algn="l"/>
            <a:r>
              <a:rPr sz="1250" b="1">
                <a:solidFill>
                  <a:srgbClr val="FF743E"/>
                </a:solidFill>
                <a:latin typeface="Aptos"/>
              </a:rPr>
              <a:t>DEEP DIVE + FIX-IT</a:t>
            </a:r>
          </a:p>
        </p:txBody>
      </p:sp>
      <p:sp>
        <p:nvSpPr>
          <p:cNvPr id="6" name="TextBox 5"/>
          <p:cNvSpPr txBox="1"/>
          <p:nvPr/>
        </p:nvSpPr>
        <p:spPr>
          <a:xfrm>
            <a:off x="566928" y="713232"/>
            <a:ext cx="7772400" cy="896112"/>
          </a:xfrm>
          <a:prstGeom prst="rect">
            <a:avLst/>
          </a:prstGeom>
          <a:noFill/>
        </p:spPr>
        <p:txBody>
          <a:bodyPr wrap="none" lIns="0" rIns="0" tIns="0" bIns="0" anchor="t">
            <a:spAutoFit/>
          </a:bodyPr>
          <a:lstStyle/>
          <a:p>
            <a:pPr algn="l"/>
            <a:r>
              <a:rPr sz="2900" b="1">
                <a:solidFill>
                  <a:srgbClr val="EFF3F9"/>
                </a:solidFill>
                <a:latin typeface="Aptos"/>
              </a:rPr>
              <a:t>Pointers before borrowing: why Rust changed the model</a:t>
            </a:r>
          </a:p>
        </p:txBody>
      </p:sp>
      <p:sp>
        <p:nvSpPr>
          <p:cNvPr id="7" name="TextBox 6"/>
          <p:cNvSpPr txBox="1"/>
          <p:nvPr/>
        </p:nvSpPr>
        <p:spPr>
          <a:xfrm>
            <a:off x="585216" y="1591056"/>
            <a:ext cx="8321040" cy="384048"/>
          </a:xfrm>
          <a:prstGeom prst="rect">
            <a:avLst/>
          </a:prstGeom>
          <a:noFill/>
        </p:spPr>
        <p:txBody>
          <a:bodyPr wrap="none" lIns="0" rIns="0" tIns="0" bIns="0" anchor="t">
            <a:spAutoFit/>
          </a:bodyPr>
          <a:lstStyle/>
          <a:p>
            <a:pPr algn="l"/>
            <a:r>
              <a:rPr sz="1460" b="0">
                <a:solidFill>
                  <a:srgbClr val="A8B3C4"/>
                </a:solidFill>
                <a:latin typeface="Aptos"/>
              </a:rPr>
              <a:t>C/C++ pointers are powerful and beautiful — and the largest uncontrolled proof obligation in the room.</a:t>
            </a:r>
          </a:p>
        </p:txBody>
      </p:sp>
      <p:sp>
        <p:nvSpPr>
          <p:cNvPr id="8" name="Rounded Rectangle 7"/>
          <p:cNvSpPr/>
          <p:nvPr/>
        </p:nvSpPr>
        <p:spPr>
          <a:xfrm>
            <a:off x="566928" y="1975104"/>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975104"/>
            <a:ext cx="54864" cy="1664208"/>
          </a:xfrm>
          <a:prstGeom prst="rect">
            <a:avLst/>
          </a:prstGeom>
          <a:solidFill>
            <a:srgbClr val="F7C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139696"/>
            <a:ext cx="3172968" cy="274320"/>
          </a:xfrm>
          <a:prstGeom prst="rect">
            <a:avLst/>
          </a:prstGeom>
          <a:noFill/>
        </p:spPr>
        <p:txBody>
          <a:bodyPr wrap="none" lIns="0" rIns="0" tIns="0" bIns="0" anchor="t">
            <a:spAutoFit/>
          </a:bodyPr>
          <a:lstStyle/>
          <a:p>
            <a:pPr algn="l"/>
            <a:r>
              <a:rPr sz="1180" b="1">
                <a:solidFill>
                  <a:srgbClr val="F7C564"/>
                </a:solidFill>
                <a:latin typeface="Aptos"/>
              </a:rPr>
              <a:t>Trigger</a:t>
            </a:r>
          </a:p>
        </p:txBody>
      </p:sp>
      <p:sp>
        <p:nvSpPr>
          <p:cNvPr id="11" name="TextBox 10"/>
          <p:cNvSpPr txBox="1"/>
          <p:nvPr/>
        </p:nvSpPr>
        <p:spPr>
          <a:xfrm>
            <a:off x="786384" y="2542032"/>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Students reduce borrowing to syntax: &amp; and &amp;mut.</a:t>
            </a:r>
          </a:p>
          <a:p>
            <a:pPr>
              <a:spcAft>
                <a:spcPts val="100"/>
              </a:spcAft>
            </a:pPr>
            <a:r>
              <a:rPr sz="1220" b="0">
                <a:solidFill>
                  <a:srgbClr val="A8B3C4"/>
                </a:solidFill>
                <a:latin typeface="Aptos"/>
              </a:rPr>
              <a:t>They have not articulated address, lifetime, nullability, aliasing.</a:t>
            </a:r>
          </a:p>
        </p:txBody>
      </p:sp>
      <p:sp>
        <p:nvSpPr>
          <p:cNvPr id="12" name="Rounded Rectangle 11"/>
          <p:cNvSpPr/>
          <p:nvPr/>
        </p:nvSpPr>
        <p:spPr>
          <a:xfrm>
            <a:off x="4416552" y="1975104"/>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6552" y="1975104"/>
            <a:ext cx="54864" cy="1664208"/>
          </a:xfrm>
          <a:prstGeom prst="rect">
            <a:avLst/>
          </a:prstGeom>
          <a:solidFill>
            <a:srgbClr val="66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36008" y="2139696"/>
            <a:ext cx="3172968" cy="274320"/>
          </a:xfrm>
          <a:prstGeom prst="rect">
            <a:avLst/>
          </a:prstGeom>
          <a:noFill/>
        </p:spPr>
        <p:txBody>
          <a:bodyPr wrap="none" lIns="0" rIns="0" tIns="0" bIns="0" anchor="t">
            <a:spAutoFit/>
          </a:bodyPr>
          <a:lstStyle/>
          <a:p>
            <a:pPr algn="l"/>
            <a:r>
              <a:rPr sz="1180" b="1">
                <a:solidFill>
                  <a:srgbClr val="66A6FF"/>
                </a:solidFill>
                <a:latin typeface="Aptos"/>
              </a:rPr>
              <a:t>Pull in now</a:t>
            </a:r>
          </a:p>
        </p:txBody>
      </p:sp>
      <p:sp>
        <p:nvSpPr>
          <p:cNvPr id="15" name="TextBox 14"/>
          <p:cNvSpPr txBox="1"/>
          <p:nvPr/>
        </p:nvSpPr>
        <p:spPr>
          <a:xfrm>
            <a:off x="4636008" y="2542032"/>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Rust_CPP_Pointers_Addendum.pptx</a:t>
            </a:r>
          </a:p>
          <a:p>
            <a:pPr>
              <a:spcAft>
                <a:spcPts val="100"/>
              </a:spcAft>
            </a:pPr>
            <a:r>
              <a:rPr sz="1220" b="0">
                <a:solidFill>
                  <a:srgbClr val="A8B3C4"/>
                </a:solidFill>
                <a:latin typeface="Aptos"/>
              </a:rPr>
              <a:t>Then Rust_CPP_Aliasing_Borrowing_Lifetimes_Addendum.pptx if needed.</a:t>
            </a:r>
          </a:p>
        </p:txBody>
      </p:sp>
      <p:sp>
        <p:nvSpPr>
          <p:cNvPr id="16" name="Rounded Rectangle 15"/>
          <p:cNvSpPr/>
          <p:nvPr/>
        </p:nvSpPr>
        <p:spPr>
          <a:xfrm>
            <a:off x="566928" y="3858768"/>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3858768"/>
            <a:ext cx="54864" cy="1664208"/>
          </a:xfrm>
          <a:prstGeom prst="rect">
            <a:avLst/>
          </a:prstGeom>
          <a:solidFill>
            <a:srgbClr val="4E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023359"/>
            <a:ext cx="3172968" cy="274320"/>
          </a:xfrm>
          <a:prstGeom prst="rect">
            <a:avLst/>
          </a:prstGeom>
          <a:noFill/>
        </p:spPr>
        <p:txBody>
          <a:bodyPr wrap="none" lIns="0" rIns="0" tIns="0" bIns="0" anchor="t">
            <a:spAutoFit/>
          </a:bodyPr>
          <a:lstStyle/>
          <a:p>
            <a:pPr algn="l"/>
            <a:r>
              <a:rPr sz="1180" b="1">
                <a:solidFill>
                  <a:srgbClr val="4ECCA3"/>
                </a:solidFill>
                <a:latin typeface="Aptos"/>
              </a:rPr>
              <a:t>Exercise / check</a:t>
            </a:r>
          </a:p>
        </p:txBody>
      </p:sp>
      <p:sp>
        <p:nvSpPr>
          <p:cNvPr id="19" name="TextBox 18"/>
          <p:cNvSpPr txBox="1"/>
          <p:nvPr/>
        </p:nvSpPr>
        <p:spPr>
          <a:xfrm>
            <a:off x="786384" y="4425696"/>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Do Fix-It 02: Borrowing and References.</a:t>
            </a:r>
          </a:p>
          <a:p>
            <a:pPr>
              <a:spcAft>
                <a:spcPts val="100"/>
              </a:spcAft>
            </a:pPr>
            <a:r>
              <a:rPr sz="1220" b="0">
                <a:solidFill>
                  <a:srgbClr val="A8B3C4"/>
                </a:solidFill>
                <a:latin typeface="Aptos"/>
              </a:rPr>
              <a:t>Add Fix-It 03: Strings and Slices if &amp;str/String confusion appears.</a:t>
            </a:r>
          </a:p>
        </p:txBody>
      </p:sp>
      <p:sp>
        <p:nvSpPr>
          <p:cNvPr id="20" name="Rounded Rectangle 19"/>
          <p:cNvSpPr/>
          <p:nvPr/>
        </p:nvSpPr>
        <p:spPr>
          <a:xfrm>
            <a:off x="4416552" y="3858768"/>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6552" y="3858768"/>
            <a:ext cx="54864" cy="1664208"/>
          </a:xfrm>
          <a:prstGeom prst="rect">
            <a:avLst/>
          </a:prstGeom>
          <a:solidFill>
            <a:srgbClr val="FF7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36008" y="4023359"/>
            <a:ext cx="3172968" cy="274320"/>
          </a:xfrm>
          <a:prstGeom prst="rect">
            <a:avLst/>
          </a:prstGeom>
          <a:noFill/>
        </p:spPr>
        <p:txBody>
          <a:bodyPr wrap="none" lIns="0" rIns="0" tIns="0" bIns="0" anchor="t">
            <a:spAutoFit/>
          </a:bodyPr>
          <a:lstStyle/>
          <a:p>
            <a:pPr algn="l"/>
            <a:r>
              <a:rPr sz="1180" b="1">
                <a:solidFill>
                  <a:srgbClr val="FF743E"/>
                </a:solidFill>
                <a:latin typeface="Aptos"/>
              </a:rPr>
              <a:t>Return anchor</a:t>
            </a:r>
          </a:p>
        </p:txBody>
      </p:sp>
      <p:sp>
        <p:nvSpPr>
          <p:cNvPr id="23" name="TextBox 22"/>
          <p:cNvSpPr txBox="1"/>
          <p:nvPr/>
        </p:nvSpPr>
        <p:spPr>
          <a:xfrm>
            <a:off x="4636008" y="4425696"/>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Return to Borrowing &amp; Lifetimes.</a:t>
            </a:r>
          </a:p>
          <a:p>
            <a:pPr>
              <a:spcAft>
                <a:spcPts val="100"/>
              </a:spcAft>
            </a:pPr>
            <a:r>
              <a:rPr sz="1220" b="0">
                <a:solidFill>
                  <a:srgbClr val="A8B3C4"/>
                </a:solidFill>
                <a:latin typeface="Aptos"/>
              </a:rPr>
              <a:t>Then the borrow checker examples become explanations, not rules.</a:t>
            </a:r>
          </a:p>
        </p:txBody>
      </p:sp>
      <p:sp>
        <p:nvSpPr>
          <p:cNvPr id="24" name="Rounded Rectangle 23"/>
          <p:cNvSpPr/>
          <p:nvPr/>
        </p:nvSpPr>
        <p:spPr>
          <a:xfrm>
            <a:off x="8366760" y="2011680"/>
            <a:ext cx="3127248" cy="3291840"/>
          </a:xfrm>
          <a:prstGeom prst="roundRect">
            <a:avLst/>
          </a:prstGeom>
          <a:solidFill>
            <a:srgbClr val="121B2B"/>
          </a:solidFill>
          <a:ln w="12700">
            <a:solidFill>
              <a:srgbClr val="2F3F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668512" y="2304288"/>
            <a:ext cx="1353312" cy="301752"/>
          </a:xfrm>
          <a:prstGeom prst="roundRect">
            <a:avLst/>
          </a:prstGeom>
          <a:solidFill>
            <a:srgbClr val="161F2E"/>
          </a:solidFill>
          <a:ln w="15240">
            <a:solidFill>
              <a:srgbClr val="FF743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743E"/>
                </a:solidFill>
                <a:latin typeface="Aptos"/>
              </a:rPr>
              <a:t>CORE STACK</a:t>
            </a:r>
          </a:p>
        </p:txBody>
      </p:sp>
      <p:sp>
        <p:nvSpPr>
          <p:cNvPr id="26" name="TextBox 25"/>
          <p:cNvSpPr txBox="1"/>
          <p:nvPr/>
        </p:nvSpPr>
        <p:spPr>
          <a:xfrm>
            <a:off x="8641080" y="2788920"/>
            <a:ext cx="2423160" cy="548640"/>
          </a:xfrm>
          <a:prstGeom prst="rect">
            <a:avLst/>
          </a:prstGeom>
          <a:noFill/>
        </p:spPr>
        <p:txBody>
          <a:bodyPr wrap="none" lIns="0" rIns="0" tIns="0" bIns="0" anchor="t">
            <a:spAutoFit/>
          </a:bodyPr>
          <a:lstStyle/>
          <a:p>
            <a:pPr algn="l"/>
            <a:r>
              <a:rPr sz="1300" b="1">
                <a:solidFill>
                  <a:srgbClr val="A8B3C4"/>
                </a:solidFill>
                <a:latin typeface="Aptos"/>
              </a:rPr>
              <a:t>Instructor move</a:t>
            </a:r>
          </a:p>
        </p:txBody>
      </p:sp>
      <p:sp>
        <p:nvSpPr>
          <p:cNvPr id="27" name="TextBox 26"/>
          <p:cNvSpPr txBox="1"/>
          <p:nvPr/>
        </p:nvSpPr>
        <p:spPr>
          <a:xfrm>
            <a:off x="8641080" y="3227832"/>
            <a:ext cx="2423160" cy="877824"/>
          </a:xfrm>
          <a:prstGeom prst="rect">
            <a:avLst/>
          </a:prstGeom>
          <a:noFill/>
        </p:spPr>
        <p:txBody>
          <a:bodyPr wrap="none" lIns="0" rIns="0" tIns="0" bIns="0" anchor="t">
            <a:spAutoFit/>
          </a:bodyPr>
          <a:lstStyle/>
          <a:p>
            <a:pPr algn="l"/>
            <a:r>
              <a:rPr sz="1600" b="0">
                <a:solidFill>
                  <a:srgbClr val="EFF3F9"/>
                </a:solidFill>
                <a:latin typeface="Aptos"/>
              </a:rPr>
              <a:t>Pause, choose the route, then return to the standard stack.</a:t>
            </a:r>
          </a:p>
        </p:txBody>
      </p:sp>
      <p:sp>
        <p:nvSpPr>
          <p:cNvPr id="28" name="TextBox 27"/>
          <p:cNvSpPr txBox="1"/>
          <p:nvPr/>
        </p:nvSpPr>
        <p:spPr>
          <a:xfrm>
            <a:off x="8641080" y="4315968"/>
            <a:ext cx="2423160" cy="310896"/>
          </a:xfrm>
          <a:prstGeom prst="rect">
            <a:avLst/>
          </a:prstGeom>
          <a:noFill/>
        </p:spPr>
        <p:txBody>
          <a:bodyPr wrap="none" lIns="0" rIns="0" tIns="0" bIns="0" anchor="t">
            <a:spAutoFit/>
          </a:bodyPr>
          <a:lstStyle/>
          <a:p>
            <a:pPr algn="l"/>
            <a:r>
              <a:rPr sz="1250" b="1">
                <a:solidFill>
                  <a:srgbClr val="A8B3C4"/>
                </a:solidFill>
                <a:latin typeface="Aptos"/>
              </a:rPr>
              <a:t>Suggested time</a:t>
            </a:r>
          </a:p>
        </p:txBody>
      </p:sp>
      <p:sp>
        <p:nvSpPr>
          <p:cNvPr id="29" name="TextBox 28"/>
          <p:cNvSpPr txBox="1"/>
          <p:nvPr/>
        </p:nvSpPr>
        <p:spPr>
          <a:xfrm>
            <a:off x="8641080" y="4617720"/>
            <a:ext cx="2423160" cy="402336"/>
          </a:xfrm>
          <a:prstGeom prst="rect">
            <a:avLst/>
          </a:prstGeom>
          <a:noFill/>
        </p:spPr>
        <p:txBody>
          <a:bodyPr wrap="none" lIns="0" rIns="0" tIns="0" bIns="0" anchor="t">
            <a:spAutoFit/>
          </a:bodyPr>
          <a:lstStyle/>
          <a:p>
            <a:pPr algn="l"/>
            <a:r>
              <a:rPr sz="1800" b="1">
                <a:solidFill>
                  <a:srgbClr val="FF743E"/>
                </a:solidFill>
                <a:latin typeface="Aptos"/>
              </a:rPr>
              <a:t>30–70 min</a:t>
            </a:r>
          </a:p>
        </p:txBody>
      </p:sp>
      <p:sp>
        <p:nvSpPr>
          <p:cNvPr id="30" name="TextBox 29"/>
          <p:cNvSpPr txBox="1"/>
          <p:nvPr/>
        </p:nvSpPr>
        <p:spPr>
          <a:xfrm>
            <a:off x="566928" y="6291072"/>
            <a:ext cx="5303520" cy="219456"/>
          </a:xfrm>
          <a:prstGeom prst="rect">
            <a:avLst/>
          </a:prstGeom>
          <a:noFill/>
        </p:spPr>
        <p:txBody>
          <a:bodyPr wrap="none" lIns="0" rIns="0" tIns="0" bIns="0" anchor="t">
            <a:spAutoFit/>
          </a:bodyPr>
          <a:lstStyle/>
          <a:p>
            <a:pPr algn="l"/>
            <a:r>
              <a:rPr sz="1050" b="0">
                <a:solidFill>
                  <a:srgbClr val="5E6E87"/>
                </a:solidFill>
                <a:latin typeface="Aptos"/>
              </a:rPr>
              <a:t>Rust for Experienced C++ Developers — navigation interleave</a:t>
            </a:r>
          </a:p>
        </p:txBody>
      </p:sp>
      <p:sp>
        <p:nvSpPr>
          <p:cNvPr id="31" name="TextBox 30"/>
          <p:cNvSpPr txBox="1"/>
          <p:nvPr/>
        </p:nvSpPr>
        <p:spPr>
          <a:xfrm>
            <a:off x="10040112" y="6272784"/>
            <a:ext cx="1463040" cy="256032"/>
          </a:xfrm>
          <a:prstGeom prst="rect">
            <a:avLst/>
          </a:prstGeom>
          <a:noFill/>
        </p:spPr>
        <p:txBody>
          <a:bodyPr wrap="none" lIns="0" rIns="0" tIns="0" bIns="0" anchor="t">
            <a:spAutoFit/>
          </a:bodyPr>
          <a:lstStyle/>
          <a:p>
            <a:pPr algn="r"/>
            <a:r>
              <a:rPr sz="1050" b="0">
                <a:solidFill>
                  <a:srgbClr val="5E6E87"/>
                </a:solidFill>
                <a:latin typeface="Aptos"/>
              </a:rPr>
              <a:t>jump-friendly</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C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46304"/>
          </a:xfrm>
          <a:prstGeom prst="rect">
            <a:avLst/>
          </a:prstGeom>
          <a:solidFill>
            <a:srgbClr val="FF4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92000" cy="54864"/>
          </a:xfrm>
          <a:prstGeom prst="rect">
            <a:avLst/>
          </a:prstGeom>
          <a:solidFill>
            <a:srgbClr val="141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4206240" cy="201168"/>
          </a:xfrm>
          <a:prstGeom prst="rect">
            <a:avLst/>
          </a:prstGeom>
          <a:noFill/>
        </p:spPr>
        <p:txBody>
          <a:bodyPr wrap="none" lIns="0" rIns="0" tIns="0" bIns="0" anchor="t">
            <a:spAutoFit/>
          </a:bodyPr>
          <a:lstStyle/>
          <a:p>
            <a:pPr algn="l"/>
            <a:r>
              <a:rPr sz="1250" b="1">
                <a:solidFill>
                  <a:srgbClr val="FF743E"/>
                </a:solidFill>
                <a:latin typeface="Aptos"/>
              </a:rPr>
              <a:t>REPAIR LOOP</a:t>
            </a:r>
          </a:p>
        </p:txBody>
      </p:sp>
      <p:sp>
        <p:nvSpPr>
          <p:cNvPr id="6" name="TextBox 5"/>
          <p:cNvSpPr txBox="1"/>
          <p:nvPr/>
        </p:nvSpPr>
        <p:spPr>
          <a:xfrm>
            <a:off x="566928" y="713232"/>
            <a:ext cx="7772400" cy="896112"/>
          </a:xfrm>
          <a:prstGeom prst="rect">
            <a:avLst/>
          </a:prstGeom>
          <a:noFill/>
        </p:spPr>
        <p:txBody>
          <a:bodyPr wrap="none" lIns="0" rIns="0" tIns="0" bIns="0" anchor="t">
            <a:spAutoFit/>
          </a:bodyPr>
          <a:lstStyle/>
          <a:p>
            <a:pPr algn="l"/>
            <a:r>
              <a:rPr sz="2900" b="1">
                <a:solidFill>
                  <a:srgbClr val="EFF3F9"/>
                </a:solidFill>
                <a:latin typeface="Aptos"/>
              </a:rPr>
              <a:t>If lifetimes feel mystical, make time visible</a:t>
            </a:r>
          </a:p>
        </p:txBody>
      </p:sp>
      <p:sp>
        <p:nvSpPr>
          <p:cNvPr id="7" name="TextBox 6"/>
          <p:cNvSpPr txBox="1"/>
          <p:nvPr/>
        </p:nvSpPr>
        <p:spPr>
          <a:xfrm>
            <a:off x="585216" y="1591056"/>
            <a:ext cx="8321040" cy="384048"/>
          </a:xfrm>
          <a:prstGeom prst="rect">
            <a:avLst/>
          </a:prstGeom>
          <a:noFill/>
        </p:spPr>
        <p:txBody>
          <a:bodyPr wrap="none" lIns="0" rIns="0" tIns="0" bIns="0" anchor="t">
            <a:spAutoFit/>
          </a:bodyPr>
          <a:lstStyle/>
          <a:p>
            <a:pPr algn="l"/>
            <a:r>
              <a:rPr sz="1460" b="0">
                <a:solidFill>
                  <a:srgbClr val="A8B3C4"/>
                </a:solidFill>
                <a:latin typeface="Aptos"/>
              </a:rPr>
              <a:t>A reference is not “just an address.” It is an address plus a claim about time.</a:t>
            </a:r>
          </a:p>
        </p:txBody>
      </p:sp>
      <p:sp>
        <p:nvSpPr>
          <p:cNvPr id="8" name="Rounded Rectangle 7"/>
          <p:cNvSpPr/>
          <p:nvPr/>
        </p:nvSpPr>
        <p:spPr>
          <a:xfrm>
            <a:off x="566928" y="1975104"/>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975104"/>
            <a:ext cx="54864" cy="1664208"/>
          </a:xfrm>
          <a:prstGeom prst="rect">
            <a:avLst/>
          </a:prstGeom>
          <a:solidFill>
            <a:srgbClr val="F7C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139696"/>
            <a:ext cx="3172968" cy="274320"/>
          </a:xfrm>
          <a:prstGeom prst="rect">
            <a:avLst/>
          </a:prstGeom>
          <a:noFill/>
        </p:spPr>
        <p:txBody>
          <a:bodyPr wrap="none" lIns="0" rIns="0" tIns="0" bIns="0" anchor="t">
            <a:spAutoFit/>
          </a:bodyPr>
          <a:lstStyle/>
          <a:p>
            <a:pPr algn="l"/>
            <a:r>
              <a:rPr sz="1180" b="1">
                <a:solidFill>
                  <a:srgbClr val="F7C564"/>
                </a:solidFill>
                <a:latin typeface="Aptos"/>
              </a:rPr>
              <a:t>Trigger</a:t>
            </a:r>
          </a:p>
        </p:txBody>
      </p:sp>
      <p:sp>
        <p:nvSpPr>
          <p:cNvPr id="11" name="TextBox 10"/>
          <p:cNvSpPr txBox="1"/>
          <p:nvPr/>
        </p:nvSpPr>
        <p:spPr>
          <a:xfrm>
            <a:off x="786384" y="2542032"/>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Students fight lifetime errors or overuse cloning to escape them.</a:t>
            </a:r>
          </a:p>
          <a:p>
            <a:pPr>
              <a:spcAft>
                <a:spcPts val="100"/>
              </a:spcAft>
            </a:pPr>
            <a:r>
              <a:rPr sz="1220" b="0">
                <a:solidFill>
                  <a:srgbClr val="A8B3C4"/>
                </a:solidFill>
                <a:latin typeface="Aptos"/>
              </a:rPr>
              <a:t>They need the why behind returned references and structs holding references.</a:t>
            </a:r>
          </a:p>
        </p:txBody>
      </p:sp>
      <p:sp>
        <p:nvSpPr>
          <p:cNvPr id="12" name="Rounded Rectangle 11"/>
          <p:cNvSpPr/>
          <p:nvPr/>
        </p:nvSpPr>
        <p:spPr>
          <a:xfrm>
            <a:off x="4416552" y="1975104"/>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6552" y="1975104"/>
            <a:ext cx="54864" cy="1664208"/>
          </a:xfrm>
          <a:prstGeom prst="rect">
            <a:avLst/>
          </a:prstGeom>
          <a:solidFill>
            <a:srgbClr val="66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36008" y="2139696"/>
            <a:ext cx="3172968" cy="274320"/>
          </a:xfrm>
          <a:prstGeom prst="rect">
            <a:avLst/>
          </a:prstGeom>
          <a:noFill/>
        </p:spPr>
        <p:txBody>
          <a:bodyPr wrap="none" lIns="0" rIns="0" tIns="0" bIns="0" anchor="t">
            <a:spAutoFit/>
          </a:bodyPr>
          <a:lstStyle/>
          <a:p>
            <a:pPr algn="l"/>
            <a:r>
              <a:rPr sz="1180" b="1">
                <a:solidFill>
                  <a:srgbClr val="66A6FF"/>
                </a:solidFill>
                <a:latin typeface="Aptos"/>
              </a:rPr>
              <a:t>Pull in now</a:t>
            </a:r>
          </a:p>
        </p:txBody>
      </p:sp>
      <p:sp>
        <p:nvSpPr>
          <p:cNvPr id="15" name="TextBox 14"/>
          <p:cNvSpPr txBox="1"/>
          <p:nvPr/>
        </p:nvSpPr>
        <p:spPr>
          <a:xfrm>
            <a:off x="4636008" y="2542032"/>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Rust_CPP_Aliasing_Borrowing_Lifetimes_Addendum.pptx</a:t>
            </a:r>
          </a:p>
          <a:p>
            <a:pPr>
              <a:spcAft>
                <a:spcPts val="100"/>
              </a:spcAft>
            </a:pPr>
            <a:r>
              <a:rPr sz="1220" b="0">
                <a:solidFill>
                  <a:srgbClr val="A8B3C4"/>
                </a:solidFill>
                <a:latin typeface="Aptos"/>
              </a:rPr>
              <a:t>Use the “address plus time” and “borrow as loan” slides.</a:t>
            </a:r>
          </a:p>
        </p:txBody>
      </p:sp>
      <p:sp>
        <p:nvSpPr>
          <p:cNvPr id="16" name="Rounded Rectangle 15"/>
          <p:cNvSpPr/>
          <p:nvPr/>
        </p:nvSpPr>
        <p:spPr>
          <a:xfrm>
            <a:off x="566928" y="3858768"/>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3858768"/>
            <a:ext cx="54864" cy="1664208"/>
          </a:xfrm>
          <a:prstGeom prst="rect">
            <a:avLst/>
          </a:prstGeom>
          <a:solidFill>
            <a:srgbClr val="4E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023359"/>
            <a:ext cx="3172968" cy="274320"/>
          </a:xfrm>
          <a:prstGeom prst="rect">
            <a:avLst/>
          </a:prstGeom>
          <a:noFill/>
        </p:spPr>
        <p:txBody>
          <a:bodyPr wrap="none" lIns="0" rIns="0" tIns="0" bIns="0" anchor="t">
            <a:spAutoFit/>
          </a:bodyPr>
          <a:lstStyle/>
          <a:p>
            <a:pPr algn="l"/>
            <a:r>
              <a:rPr sz="1180" b="1">
                <a:solidFill>
                  <a:srgbClr val="4ECCA3"/>
                </a:solidFill>
                <a:latin typeface="Aptos"/>
              </a:rPr>
              <a:t>Exercise / check</a:t>
            </a:r>
          </a:p>
        </p:txBody>
      </p:sp>
      <p:sp>
        <p:nvSpPr>
          <p:cNvPr id="19" name="TextBox 18"/>
          <p:cNvSpPr txBox="1"/>
          <p:nvPr/>
        </p:nvSpPr>
        <p:spPr>
          <a:xfrm>
            <a:off x="786384" y="4425696"/>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Do Fix-It 08: Lifetimes.</a:t>
            </a:r>
          </a:p>
          <a:p>
            <a:pPr>
              <a:spcAft>
                <a:spcPts val="100"/>
              </a:spcAft>
            </a:pPr>
            <a:r>
              <a:rPr sz="1220" b="0">
                <a:solidFill>
                  <a:srgbClr val="A8B3C4"/>
                </a:solidFill>
                <a:latin typeface="Aptos"/>
              </a:rPr>
              <a:t>Use only 2–3 exercises; avoid turning Day 1 into lifetime hell.</a:t>
            </a:r>
          </a:p>
        </p:txBody>
      </p:sp>
      <p:sp>
        <p:nvSpPr>
          <p:cNvPr id="20" name="Rounded Rectangle 19"/>
          <p:cNvSpPr/>
          <p:nvPr/>
        </p:nvSpPr>
        <p:spPr>
          <a:xfrm>
            <a:off x="4416552" y="3858768"/>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6552" y="3858768"/>
            <a:ext cx="54864" cy="1664208"/>
          </a:xfrm>
          <a:prstGeom prst="rect">
            <a:avLst/>
          </a:prstGeom>
          <a:solidFill>
            <a:srgbClr val="FF7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36008" y="4023359"/>
            <a:ext cx="3172968" cy="274320"/>
          </a:xfrm>
          <a:prstGeom prst="rect">
            <a:avLst/>
          </a:prstGeom>
          <a:noFill/>
        </p:spPr>
        <p:txBody>
          <a:bodyPr wrap="none" lIns="0" rIns="0" tIns="0" bIns="0" anchor="t">
            <a:spAutoFit/>
          </a:bodyPr>
          <a:lstStyle/>
          <a:p>
            <a:pPr algn="l"/>
            <a:r>
              <a:rPr sz="1180" b="1">
                <a:solidFill>
                  <a:srgbClr val="FF743E"/>
                </a:solidFill>
                <a:latin typeface="Aptos"/>
              </a:rPr>
              <a:t>Return anchor</a:t>
            </a:r>
          </a:p>
        </p:txBody>
      </p:sp>
      <p:sp>
        <p:nvSpPr>
          <p:cNvPr id="23" name="TextBox 22"/>
          <p:cNvSpPr txBox="1"/>
          <p:nvPr/>
        </p:nvSpPr>
        <p:spPr>
          <a:xfrm>
            <a:off x="4636008" y="4425696"/>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Return to Type System: Enums, Option, Result, Match.</a:t>
            </a:r>
          </a:p>
          <a:p>
            <a:pPr>
              <a:spcAft>
                <a:spcPts val="100"/>
              </a:spcAft>
            </a:pPr>
            <a:r>
              <a:rPr sz="1220" b="0">
                <a:solidFill>
                  <a:srgbClr val="A8B3C4"/>
                </a:solidFill>
                <a:latin typeface="Aptos"/>
              </a:rPr>
              <a:t>Use Option/Result as a relief from reference-heavy thinking.</a:t>
            </a:r>
          </a:p>
        </p:txBody>
      </p:sp>
      <p:sp>
        <p:nvSpPr>
          <p:cNvPr id="24" name="Rounded Rectangle 23"/>
          <p:cNvSpPr/>
          <p:nvPr/>
        </p:nvSpPr>
        <p:spPr>
          <a:xfrm>
            <a:off x="8366760" y="2011680"/>
            <a:ext cx="3127248" cy="3291840"/>
          </a:xfrm>
          <a:prstGeom prst="roundRect">
            <a:avLst/>
          </a:prstGeom>
          <a:solidFill>
            <a:srgbClr val="121B2B"/>
          </a:solidFill>
          <a:ln w="12700">
            <a:solidFill>
              <a:srgbClr val="2F3F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668512" y="2304288"/>
            <a:ext cx="1353312" cy="301752"/>
          </a:xfrm>
          <a:prstGeom prst="roundRect">
            <a:avLst/>
          </a:prstGeom>
          <a:solidFill>
            <a:srgbClr val="161F2E"/>
          </a:solidFill>
          <a:ln w="15240">
            <a:solidFill>
              <a:srgbClr val="FF743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743E"/>
                </a:solidFill>
                <a:latin typeface="Aptos"/>
              </a:rPr>
              <a:t>REPAIR DETOUR</a:t>
            </a:r>
          </a:p>
        </p:txBody>
      </p:sp>
      <p:sp>
        <p:nvSpPr>
          <p:cNvPr id="26" name="TextBox 25"/>
          <p:cNvSpPr txBox="1"/>
          <p:nvPr/>
        </p:nvSpPr>
        <p:spPr>
          <a:xfrm>
            <a:off x="8641080" y="2788920"/>
            <a:ext cx="2423160" cy="548640"/>
          </a:xfrm>
          <a:prstGeom prst="rect">
            <a:avLst/>
          </a:prstGeom>
          <a:noFill/>
        </p:spPr>
        <p:txBody>
          <a:bodyPr wrap="none" lIns="0" rIns="0" tIns="0" bIns="0" anchor="t">
            <a:spAutoFit/>
          </a:bodyPr>
          <a:lstStyle/>
          <a:p>
            <a:pPr algn="l"/>
            <a:r>
              <a:rPr sz="1300" b="1">
                <a:solidFill>
                  <a:srgbClr val="A8B3C4"/>
                </a:solidFill>
                <a:latin typeface="Aptos"/>
              </a:rPr>
              <a:t>Instructor move</a:t>
            </a:r>
          </a:p>
        </p:txBody>
      </p:sp>
      <p:sp>
        <p:nvSpPr>
          <p:cNvPr id="27" name="TextBox 26"/>
          <p:cNvSpPr txBox="1"/>
          <p:nvPr/>
        </p:nvSpPr>
        <p:spPr>
          <a:xfrm>
            <a:off x="8641080" y="3227832"/>
            <a:ext cx="2423160" cy="877824"/>
          </a:xfrm>
          <a:prstGeom prst="rect">
            <a:avLst/>
          </a:prstGeom>
          <a:noFill/>
        </p:spPr>
        <p:txBody>
          <a:bodyPr wrap="none" lIns="0" rIns="0" tIns="0" bIns="0" anchor="t">
            <a:spAutoFit/>
          </a:bodyPr>
          <a:lstStyle/>
          <a:p>
            <a:pPr algn="l"/>
            <a:r>
              <a:rPr sz="1600" b="0">
                <a:solidFill>
                  <a:srgbClr val="EFF3F9"/>
                </a:solidFill>
                <a:latin typeface="Aptos"/>
              </a:rPr>
              <a:t>Pause, choose the route, then return to the standard stack.</a:t>
            </a:r>
          </a:p>
        </p:txBody>
      </p:sp>
      <p:sp>
        <p:nvSpPr>
          <p:cNvPr id="28" name="TextBox 27"/>
          <p:cNvSpPr txBox="1"/>
          <p:nvPr/>
        </p:nvSpPr>
        <p:spPr>
          <a:xfrm>
            <a:off x="8641080" y="4315968"/>
            <a:ext cx="2423160" cy="310896"/>
          </a:xfrm>
          <a:prstGeom prst="rect">
            <a:avLst/>
          </a:prstGeom>
          <a:noFill/>
        </p:spPr>
        <p:txBody>
          <a:bodyPr wrap="none" lIns="0" rIns="0" tIns="0" bIns="0" anchor="t">
            <a:spAutoFit/>
          </a:bodyPr>
          <a:lstStyle/>
          <a:p>
            <a:pPr algn="l"/>
            <a:r>
              <a:rPr sz="1250" b="1">
                <a:solidFill>
                  <a:srgbClr val="A8B3C4"/>
                </a:solidFill>
                <a:latin typeface="Aptos"/>
              </a:rPr>
              <a:t>Suggested time</a:t>
            </a:r>
          </a:p>
        </p:txBody>
      </p:sp>
      <p:sp>
        <p:nvSpPr>
          <p:cNvPr id="29" name="TextBox 28"/>
          <p:cNvSpPr txBox="1"/>
          <p:nvPr/>
        </p:nvSpPr>
        <p:spPr>
          <a:xfrm>
            <a:off x="8641080" y="4617720"/>
            <a:ext cx="2423160" cy="402336"/>
          </a:xfrm>
          <a:prstGeom prst="rect">
            <a:avLst/>
          </a:prstGeom>
          <a:noFill/>
        </p:spPr>
        <p:txBody>
          <a:bodyPr wrap="none" lIns="0" rIns="0" tIns="0" bIns="0" anchor="t">
            <a:spAutoFit/>
          </a:bodyPr>
          <a:lstStyle/>
          <a:p>
            <a:pPr algn="l"/>
            <a:r>
              <a:rPr sz="1800" b="1">
                <a:solidFill>
                  <a:srgbClr val="FF743E"/>
                </a:solidFill>
                <a:latin typeface="Aptos"/>
              </a:rPr>
              <a:t>15–35 min</a:t>
            </a:r>
          </a:p>
        </p:txBody>
      </p:sp>
      <p:sp>
        <p:nvSpPr>
          <p:cNvPr id="30" name="TextBox 29"/>
          <p:cNvSpPr txBox="1"/>
          <p:nvPr/>
        </p:nvSpPr>
        <p:spPr>
          <a:xfrm>
            <a:off x="566928" y="6291072"/>
            <a:ext cx="5303520" cy="219456"/>
          </a:xfrm>
          <a:prstGeom prst="rect">
            <a:avLst/>
          </a:prstGeom>
          <a:noFill/>
        </p:spPr>
        <p:txBody>
          <a:bodyPr wrap="none" lIns="0" rIns="0" tIns="0" bIns="0" anchor="t">
            <a:spAutoFit/>
          </a:bodyPr>
          <a:lstStyle/>
          <a:p>
            <a:pPr algn="l"/>
            <a:r>
              <a:rPr sz="1050" b="0">
                <a:solidFill>
                  <a:srgbClr val="5E6E87"/>
                </a:solidFill>
                <a:latin typeface="Aptos"/>
              </a:rPr>
              <a:t>Rust for Experienced C++ Developers — navigation interleave</a:t>
            </a:r>
          </a:p>
        </p:txBody>
      </p:sp>
      <p:sp>
        <p:nvSpPr>
          <p:cNvPr id="31" name="TextBox 30"/>
          <p:cNvSpPr txBox="1"/>
          <p:nvPr/>
        </p:nvSpPr>
        <p:spPr>
          <a:xfrm>
            <a:off x="10040112" y="6272784"/>
            <a:ext cx="1463040" cy="256032"/>
          </a:xfrm>
          <a:prstGeom prst="rect">
            <a:avLst/>
          </a:prstGeom>
          <a:noFill/>
        </p:spPr>
        <p:txBody>
          <a:bodyPr wrap="none" lIns="0" rIns="0" tIns="0" bIns="0" anchor="t">
            <a:spAutoFit/>
          </a:bodyPr>
          <a:lstStyle/>
          <a:p>
            <a:pPr algn="r"/>
            <a:r>
              <a:rPr sz="1050" b="0">
                <a:solidFill>
                  <a:srgbClr val="5E6E87"/>
                </a:solidFill>
                <a:latin typeface="Aptos"/>
              </a:rPr>
              <a:t>jump-friendly</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C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46304"/>
          </a:xfrm>
          <a:prstGeom prst="rect">
            <a:avLst/>
          </a:prstGeom>
          <a:solidFill>
            <a:srgbClr val="FF4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92000" cy="54864"/>
          </a:xfrm>
          <a:prstGeom prst="rect">
            <a:avLst/>
          </a:prstGeom>
          <a:solidFill>
            <a:srgbClr val="141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4206240" cy="201168"/>
          </a:xfrm>
          <a:prstGeom prst="rect">
            <a:avLst/>
          </a:prstGeom>
          <a:noFill/>
        </p:spPr>
        <p:txBody>
          <a:bodyPr wrap="none" lIns="0" rIns="0" tIns="0" bIns="0" anchor="t">
            <a:spAutoFit/>
          </a:bodyPr>
          <a:lstStyle/>
          <a:p>
            <a:pPr algn="l"/>
            <a:r>
              <a:rPr sz="1250" b="1">
                <a:solidFill>
                  <a:srgbClr val="FF743E"/>
                </a:solidFill>
                <a:latin typeface="Aptos"/>
              </a:rPr>
              <a:t>DEEP DIVE + FIX-IT</a:t>
            </a:r>
          </a:p>
        </p:txBody>
      </p:sp>
      <p:sp>
        <p:nvSpPr>
          <p:cNvPr id="6" name="TextBox 5"/>
          <p:cNvSpPr txBox="1"/>
          <p:nvPr/>
        </p:nvSpPr>
        <p:spPr>
          <a:xfrm>
            <a:off x="566928" y="713232"/>
            <a:ext cx="7772400" cy="896112"/>
          </a:xfrm>
          <a:prstGeom prst="rect">
            <a:avLst/>
          </a:prstGeom>
          <a:noFill/>
        </p:spPr>
        <p:txBody>
          <a:bodyPr wrap="none" lIns="0" rIns="0" tIns="0" bIns="0" anchor="t">
            <a:spAutoFit/>
          </a:bodyPr>
          <a:lstStyle/>
          <a:p>
            <a:pPr algn="l"/>
            <a:r>
              <a:rPr sz="2900" b="1">
                <a:solidFill>
                  <a:srgbClr val="EFF3F9"/>
                </a:solidFill>
                <a:latin typeface="Aptos"/>
              </a:rPr>
              <a:t>Types and invariants: make invalid states unrepresentable</a:t>
            </a:r>
          </a:p>
        </p:txBody>
      </p:sp>
      <p:sp>
        <p:nvSpPr>
          <p:cNvPr id="7" name="TextBox 6"/>
          <p:cNvSpPr txBox="1"/>
          <p:nvPr/>
        </p:nvSpPr>
        <p:spPr>
          <a:xfrm>
            <a:off x="585216" y="1591056"/>
            <a:ext cx="8321040" cy="384048"/>
          </a:xfrm>
          <a:prstGeom prst="rect">
            <a:avLst/>
          </a:prstGeom>
          <a:noFill/>
        </p:spPr>
        <p:txBody>
          <a:bodyPr wrap="none" lIns="0" rIns="0" tIns="0" bIns="0" anchor="t">
            <a:spAutoFit/>
          </a:bodyPr>
          <a:lstStyle/>
          <a:p>
            <a:pPr algn="l"/>
            <a:r>
              <a:rPr sz="1460" b="0">
                <a:solidFill>
                  <a:srgbClr val="A8B3C4"/>
                </a:solidFill>
                <a:latin typeface="Aptos"/>
              </a:rPr>
              <a:t>This is the bridge from “Rust prevents memory bugs” to “Rust improves API design.”</a:t>
            </a:r>
          </a:p>
        </p:txBody>
      </p:sp>
      <p:sp>
        <p:nvSpPr>
          <p:cNvPr id="8" name="Rounded Rectangle 7"/>
          <p:cNvSpPr/>
          <p:nvPr/>
        </p:nvSpPr>
        <p:spPr>
          <a:xfrm>
            <a:off x="566928" y="1975104"/>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975104"/>
            <a:ext cx="54864" cy="1664208"/>
          </a:xfrm>
          <a:prstGeom prst="rect">
            <a:avLst/>
          </a:prstGeom>
          <a:solidFill>
            <a:srgbClr val="F7C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139696"/>
            <a:ext cx="3172968" cy="274320"/>
          </a:xfrm>
          <a:prstGeom prst="rect">
            <a:avLst/>
          </a:prstGeom>
          <a:noFill/>
        </p:spPr>
        <p:txBody>
          <a:bodyPr wrap="none" lIns="0" rIns="0" tIns="0" bIns="0" anchor="t">
            <a:spAutoFit/>
          </a:bodyPr>
          <a:lstStyle/>
          <a:p>
            <a:pPr algn="l"/>
            <a:r>
              <a:rPr sz="1180" b="1">
                <a:solidFill>
                  <a:srgbClr val="F7C564"/>
                </a:solidFill>
                <a:latin typeface="Aptos"/>
              </a:rPr>
              <a:t>Trigger</a:t>
            </a:r>
          </a:p>
        </p:txBody>
      </p:sp>
      <p:sp>
        <p:nvSpPr>
          <p:cNvPr id="11" name="TextBox 10"/>
          <p:cNvSpPr txBox="1"/>
          <p:nvPr/>
        </p:nvSpPr>
        <p:spPr>
          <a:xfrm>
            <a:off x="786384" y="2542032"/>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Students understand enums syntactically but not design-wise.</a:t>
            </a:r>
          </a:p>
          <a:p>
            <a:pPr>
              <a:spcAft>
                <a:spcPts val="100"/>
              </a:spcAft>
            </a:pPr>
            <a:r>
              <a:rPr sz="1220" b="0">
                <a:solidFill>
                  <a:srgbClr val="A8B3C4"/>
                </a:solidFill>
                <a:latin typeface="Aptos"/>
              </a:rPr>
              <a:t>They ask why Option/Result/match are worth the ceremony.</a:t>
            </a:r>
          </a:p>
        </p:txBody>
      </p:sp>
      <p:sp>
        <p:nvSpPr>
          <p:cNvPr id="12" name="Rounded Rectangle 11"/>
          <p:cNvSpPr/>
          <p:nvPr/>
        </p:nvSpPr>
        <p:spPr>
          <a:xfrm>
            <a:off x="4416552" y="1975104"/>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6552" y="1975104"/>
            <a:ext cx="54864" cy="1664208"/>
          </a:xfrm>
          <a:prstGeom prst="rect">
            <a:avLst/>
          </a:prstGeom>
          <a:solidFill>
            <a:srgbClr val="66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36008" y="2139696"/>
            <a:ext cx="3172968" cy="274320"/>
          </a:xfrm>
          <a:prstGeom prst="rect">
            <a:avLst/>
          </a:prstGeom>
          <a:noFill/>
        </p:spPr>
        <p:txBody>
          <a:bodyPr wrap="none" lIns="0" rIns="0" tIns="0" bIns="0" anchor="t">
            <a:spAutoFit/>
          </a:bodyPr>
          <a:lstStyle/>
          <a:p>
            <a:pPr algn="l"/>
            <a:r>
              <a:rPr sz="1180" b="1">
                <a:solidFill>
                  <a:srgbClr val="66A6FF"/>
                </a:solidFill>
                <a:latin typeface="Aptos"/>
              </a:rPr>
              <a:t>Pull in now</a:t>
            </a:r>
          </a:p>
        </p:txBody>
      </p:sp>
      <p:sp>
        <p:nvSpPr>
          <p:cNvPr id="15" name="TextBox 14"/>
          <p:cNvSpPr txBox="1"/>
          <p:nvPr/>
        </p:nvSpPr>
        <p:spPr>
          <a:xfrm>
            <a:off x="4636008" y="2542032"/>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Rust_CPP_Types_Invariants_Addendum.pptx</a:t>
            </a:r>
          </a:p>
          <a:p>
            <a:pPr>
              <a:spcAft>
                <a:spcPts val="100"/>
              </a:spcAft>
            </a:pPr>
            <a:r>
              <a:rPr sz="1220" b="0">
                <a:solidFill>
                  <a:srgbClr val="A8B3C4"/>
                </a:solidFill>
                <a:latin typeface="Aptos"/>
              </a:rPr>
              <a:t>Focus on null, sentinel values, state machines, and exhaustive handling.</a:t>
            </a:r>
          </a:p>
        </p:txBody>
      </p:sp>
      <p:sp>
        <p:nvSpPr>
          <p:cNvPr id="16" name="Rounded Rectangle 15"/>
          <p:cNvSpPr/>
          <p:nvPr/>
        </p:nvSpPr>
        <p:spPr>
          <a:xfrm>
            <a:off x="566928" y="3858768"/>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3858768"/>
            <a:ext cx="54864" cy="1664208"/>
          </a:xfrm>
          <a:prstGeom prst="rect">
            <a:avLst/>
          </a:prstGeom>
          <a:solidFill>
            <a:srgbClr val="4E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023359"/>
            <a:ext cx="3172968" cy="274320"/>
          </a:xfrm>
          <a:prstGeom prst="rect">
            <a:avLst/>
          </a:prstGeom>
          <a:noFill/>
        </p:spPr>
        <p:txBody>
          <a:bodyPr wrap="none" lIns="0" rIns="0" tIns="0" bIns="0" anchor="t">
            <a:spAutoFit/>
          </a:bodyPr>
          <a:lstStyle/>
          <a:p>
            <a:pPr algn="l"/>
            <a:r>
              <a:rPr sz="1180" b="1">
                <a:solidFill>
                  <a:srgbClr val="4ECCA3"/>
                </a:solidFill>
                <a:latin typeface="Aptos"/>
              </a:rPr>
              <a:t>Exercise / check</a:t>
            </a:r>
          </a:p>
        </p:txBody>
      </p:sp>
      <p:sp>
        <p:nvSpPr>
          <p:cNvPr id="19" name="TextBox 18"/>
          <p:cNvSpPr txBox="1"/>
          <p:nvPr/>
        </p:nvSpPr>
        <p:spPr>
          <a:xfrm>
            <a:off x="786384" y="4425696"/>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Do Fix-It 04: Structs, Enums, and Patterns.</a:t>
            </a:r>
          </a:p>
          <a:p>
            <a:pPr>
              <a:spcAft>
                <a:spcPts val="100"/>
              </a:spcAft>
            </a:pPr>
            <a:r>
              <a:rPr sz="1220" b="0">
                <a:solidFill>
                  <a:srgbClr val="A8B3C4"/>
                </a:solidFill>
                <a:latin typeface="Aptos"/>
              </a:rPr>
              <a:t>Also Fix-It 05 when Result enters the conversation.</a:t>
            </a:r>
          </a:p>
        </p:txBody>
      </p:sp>
      <p:sp>
        <p:nvSpPr>
          <p:cNvPr id="20" name="Rounded Rectangle 19"/>
          <p:cNvSpPr/>
          <p:nvPr/>
        </p:nvSpPr>
        <p:spPr>
          <a:xfrm>
            <a:off x="4416552" y="3858768"/>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6552" y="3858768"/>
            <a:ext cx="54864" cy="1664208"/>
          </a:xfrm>
          <a:prstGeom prst="rect">
            <a:avLst/>
          </a:prstGeom>
          <a:solidFill>
            <a:srgbClr val="FF7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36008" y="4023359"/>
            <a:ext cx="3172968" cy="274320"/>
          </a:xfrm>
          <a:prstGeom prst="rect">
            <a:avLst/>
          </a:prstGeom>
          <a:noFill/>
        </p:spPr>
        <p:txBody>
          <a:bodyPr wrap="none" lIns="0" rIns="0" tIns="0" bIns="0" anchor="t">
            <a:spAutoFit/>
          </a:bodyPr>
          <a:lstStyle/>
          <a:p>
            <a:pPr algn="l"/>
            <a:r>
              <a:rPr sz="1180" b="1">
                <a:solidFill>
                  <a:srgbClr val="FF743E"/>
                </a:solidFill>
                <a:latin typeface="Aptos"/>
              </a:rPr>
              <a:t>Return anchor</a:t>
            </a:r>
          </a:p>
        </p:txBody>
      </p:sp>
      <p:sp>
        <p:nvSpPr>
          <p:cNvPr id="23" name="TextBox 22"/>
          <p:cNvSpPr txBox="1"/>
          <p:nvPr/>
        </p:nvSpPr>
        <p:spPr>
          <a:xfrm>
            <a:off x="4636008" y="4425696"/>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Return to the Type System section or jump to Error Handling.</a:t>
            </a:r>
          </a:p>
          <a:p>
            <a:pPr>
              <a:spcAft>
                <a:spcPts val="100"/>
              </a:spcAft>
            </a:pPr>
            <a:r>
              <a:rPr sz="1220" b="0">
                <a:solidFill>
                  <a:srgbClr val="A8B3C4"/>
                </a:solidFill>
                <a:latin typeface="Aptos"/>
              </a:rPr>
              <a:t>This is a natural branch point.</a:t>
            </a:r>
          </a:p>
        </p:txBody>
      </p:sp>
      <p:sp>
        <p:nvSpPr>
          <p:cNvPr id="24" name="Rounded Rectangle 23"/>
          <p:cNvSpPr/>
          <p:nvPr/>
        </p:nvSpPr>
        <p:spPr>
          <a:xfrm>
            <a:off x="8366760" y="2011680"/>
            <a:ext cx="3127248" cy="3291840"/>
          </a:xfrm>
          <a:prstGeom prst="roundRect">
            <a:avLst/>
          </a:prstGeom>
          <a:solidFill>
            <a:srgbClr val="121B2B"/>
          </a:solidFill>
          <a:ln w="12700">
            <a:solidFill>
              <a:srgbClr val="2F3F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668512" y="2304288"/>
            <a:ext cx="1353312" cy="301752"/>
          </a:xfrm>
          <a:prstGeom prst="roundRect">
            <a:avLst/>
          </a:prstGeom>
          <a:solidFill>
            <a:srgbClr val="161F2E"/>
          </a:solidFill>
          <a:ln w="15240">
            <a:solidFill>
              <a:srgbClr val="FF743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743E"/>
                </a:solidFill>
                <a:latin typeface="Aptos"/>
              </a:rPr>
              <a:t>DESIGN STACK</a:t>
            </a:r>
          </a:p>
        </p:txBody>
      </p:sp>
      <p:sp>
        <p:nvSpPr>
          <p:cNvPr id="26" name="TextBox 25"/>
          <p:cNvSpPr txBox="1"/>
          <p:nvPr/>
        </p:nvSpPr>
        <p:spPr>
          <a:xfrm>
            <a:off x="8641080" y="2788920"/>
            <a:ext cx="2423160" cy="548640"/>
          </a:xfrm>
          <a:prstGeom prst="rect">
            <a:avLst/>
          </a:prstGeom>
          <a:noFill/>
        </p:spPr>
        <p:txBody>
          <a:bodyPr wrap="none" lIns="0" rIns="0" tIns="0" bIns="0" anchor="t">
            <a:spAutoFit/>
          </a:bodyPr>
          <a:lstStyle/>
          <a:p>
            <a:pPr algn="l"/>
            <a:r>
              <a:rPr sz="1300" b="1">
                <a:solidFill>
                  <a:srgbClr val="A8B3C4"/>
                </a:solidFill>
                <a:latin typeface="Aptos"/>
              </a:rPr>
              <a:t>Instructor move</a:t>
            </a:r>
          </a:p>
        </p:txBody>
      </p:sp>
      <p:sp>
        <p:nvSpPr>
          <p:cNvPr id="27" name="TextBox 26"/>
          <p:cNvSpPr txBox="1"/>
          <p:nvPr/>
        </p:nvSpPr>
        <p:spPr>
          <a:xfrm>
            <a:off x="8641080" y="3227832"/>
            <a:ext cx="2423160" cy="877824"/>
          </a:xfrm>
          <a:prstGeom prst="rect">
            <a:avLst/>
          </a:prstGeom>
          <a:noFill/>
        </p:spPr>
        <p:txBody>
          <a:bodyPr wrap="none" lIns="0" rIns="0" tIns="0" bIns="0" anchor="t">
            <a:spAutoFit/>
          </a:bodyPr>
          <a:lstStyle/>
          <a:p>
            <a:pPr algn="l"/>
            <a:r>
              <a:rPr sz="1600" b="0">
                <a:solidFill>
                  <a:srgbClr val="EFF3F9"/>
                </a:solidFill>
                <a:latin typeface="Aptos"/>
              </a:rPr>
              <a:t>Pause, choose the route, then return to the standard stack.</a:t>
            </a:r>
          </a:p>
        </p:txBody>
      </p:sp>
      <p:sp>
        <p:nvSpPr>
          <p:cNvPr id="28" name="TextBox 27"/>
          <p:cNvSpPr txBox="1"/>
          <p:nvPr/>
        </p:nvSpPr>
        <p:spPr>
          <a:xfrm>
            <a:off x="8641080" y="4315968"/>
            <a:ext cx="2423160" cy="310896"/>
          </a:xfrm>
          <a:prstGeom prst="rect">
            <a:avLst/>
          </a:prstGeom>
          <a:noFill/>
        </p:spPr>
        <p:txBody>
          <a:bodyPr wrap="none" lIns="0" rIns="0" tIns="0" bIns="0" anchor="t">
            <a:spAutoFit/>
          </a:bodyPr>
          <a:lstStyle/>
          <a:p>
            <a:pPr algn="l"/>
            <a:r>
              <a:rPr sz="1250" b="1">
                <a:solidFill>
                  <a:srgbClr val="A8B3C4"/>
                </a:solidFill>
                <a:latin typeface="Aptos"/>
              </a:rPr>
              <a:t>Suggested time</a:t>
            </a:r>
          </a:p>
        </p:txBody>
      </p:sp>
      <p:sp>
        <p:nvSpPr>
          <p:cNvPr id="29" name="TextBox 28"/>
          <p:cNvSpPr txBox="1"/>
          <p:nvPr/>
        </p:nvSpPr>
        <p:spPr>
          <a:xfrm>
            <a:off x="8641080" y="4617720"/>
            <a:ext cx="2423160" cy="402336"/>
          </a:xfrm>
          <a:prstGeom prst="rect">
            <a:avLst/>
          </a:prstGeom>
          <a:noFill/>
        </p:spPr>
        <p:txBody>
          <a:bodyPr wrap="none" lIns="0" rIns="0" tIns="0" bIns="0" anchor="t">
            <a:spAutoFit/>
          </a:bodyPr>
          <a:lstStyle/>
          <a:p>
            <a:pPr algn="l"/>
            <a:r>
              <a:rPr sz="1800" b="1">
                <a:solidFill>
                  <a:srgbClr val="FF743E"/>
                </a:solidFill>
                <a:latin typeface="Aptos"/>
              </a:rPr>
              <a:t>20–45 min</a:t>
            </a:r>
          </a:p>
        </p:txBody>
      </p:sp>
      <p:sp>
        <p:nvSpPr>
          <p:cNvPr id="30" name="TextBox 29"/>
          <p:cNvSpPr txBox="1"/>
          <p:nvPr/>
        </p:nvSpPr>
        <p:spPr>
          <a:xfrm>
            <a:off x="566928" y="6291072"/>
            <a:ext cx="5303520" cy="219456"/>
          </a:xfrm>
          <a:prstGeom prst="rect">
            <a:avLst/>
          </a:prstGeom>
          <a:noFill/>
        </p:spPr>
        <p:txBody>
          <a:bodyPr wrap="none" lIns="0" rIns="0" tIns="0" bIns="0" anchor="t">
            <a:spAutoFit/>
          </a:bodyPr>
          <a:lstStyle/>
          <a:p>
            <a:pPr algn="l"/>
            <a:r>
              <a:rPr sz="1050" b="0">
                <a:solidFill>
                  <a:srgbClr val="5E6E87"/>
                </a:solidFill>
                <a:latin typeface="Aptos"/>
              </a:rPr>
              <a:t>Rust for Experienced C++ Developers — navigation interleave</a:t>
            </a:r>
          </a:p>
        </p:txBody>
      </p:sp>
      <p:sp>
        <p:nvSpPr>
          <p:cNvPr id="31" name="TextBox 30"/>
          <p:cNvSpPr txBox="1"/>
          <p:nvPr/>
        </p:nvSpPr>
        <p:spPr>
          <a:xfrm>
            <a:off x="10040112" y="6272784"/>
            <a:ext cx="1463040" cy="256032"/>
          </a:xfrm>
          <a:prstGeom prst="rect">
            <a:avLst/>
          </a:prstGeom>
          <a:noFill/>
        </p:spPr>
        <p:txBody>
          <a:bodyPr wrap="none" lIns="0" rIns="0" tIns="0" bIns="0" anchor="t">
            <a:spAutoFit/>
          </a:bodyPr>
          <a:lstStyle/>
          <a:p>
            <a:pPr algn="r"/>
            <a:r>
              <a:rPr sz="1050" b="0">
                <a:solidFill>
                  <a:srgbClr val="5E6E87"/>
                </a:solidFill>
                <a:latin typeface="Aptos"/>
              </a:rPr>
              <a:t>jump-friendly</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C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46304"/>
          </a:xfrm>
          <a:prstGeom prst="rect">
            <a:avLst/>
          </a:prstGeom>
          <a:solidFill>
            <a:srgbClr val="FF4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92000" cy="54864"/>
          </a:xfrm>
          <a:prstGeom prst="rect">
            <a:avLst/>
          </a:prstGeom>
          <a:solidFill>
            <a:srgbClr val="141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4206240" cy="201168"/>
          </a:xfrm>
          <a:prstGeom prst="rect">
            <a:avLst/>
          </a:prstGeom>
          <a:noFill/>
        </p:spPr>
        <p:txBody>
          <a:bodyPr wrap="none" lIns="0" rIns="0" tIns="0" bIns="0" anchor="t">
            <a:spAutoFit/>
          </a:bodyPr>
          <a:lstStyle/>
          <a:p>
            <a:pPr algn="l"/>
            <a:r>
              <a:rPr sz="1250" b="1">
                <a:solidFill>
                  <a:srgbClr val="FF743E"/>
                </a:solidFill>
                <a:latin typeface="Aptos"/>
              </a:rPr>
              <a:t>DEEP DIVE + FIX-IT</a:t>
            </a:r>
          </a:p>
        </p:txBody>
      </p:sp>
      <p:sp>
        <p:nvSpPr>
          <p:cNvPr id="6" name="TextBox 5"/>
          <p:cNvSpPr txBox="1"/>
          <p:nvPr/>
        </p:nvSpPr>
        <p:spPr>
          <a:xfrm>
            <a:off x="566928" y="713232"/>
            <a:ext cx="7772400" cy="896112"/>
          </a:xfrm>
          <a:prstGeom prst="rect">
            <a:avLst/>
          </a:prstGeom>
          <a:noFill/>
        </p:spPr>
        <p:txBody>
          <a:bodyPr wrap="none" lIns="0" rIns="0" tIns="0" bIns="0" anchor="t">
            <a:spAutoFit/>
          </a:bodyPr>
          <a:lstStyle/>
          <a:p>
            <a:pPr algn="l"/>
            <a:r>
              <a:rPr sz="2900" b="1">
                <a:solidFill>
                  <a:srgbClr val="EFF3F9"/>
                </a:solidFill>
                <a:latin typeface="Aptos"/>
              </a:rPr>
              <a:t>Traits, generics, polymorphism — and cost model</a:t>
            </a:r>
          </a:p>
        </p:txBody>
      </p:sp>
      <p:sp>
        <p:nvSpPr>
          <p:cNvPr id="7" name="TextBox 6"/>
          <p:cNvSpPr txBox="1"/>
          <p:nvPr/>
        </p:nvSpPr>
        <p:spPr>
          <a:xfrm>
            <a:off x="585216" y="1591056"/>
            <a:ext cx="8321040" cy="384048"/>
          </a:xfrm>
          <a:prstGeom prst="rect">
            <a:avLst/>
          </a:prstGeom>
          <a:noFill/>
        </p:spPr>
        <p:txBody>
          <a:bodyPr wrap="none" lIns="0" rIns="0" tIns="0" bIns="0" anchor="t">
            <a:spAutoFit/>
          </a:bodyPr>
          <a:lstStyle/>
          <a:p>
            <a:pPr algn="l"/>
            <a:r>
              <a:rPr sz="1460" b="0">
                <a:solidFill>
                  <a:srgbClr val="A8B3C4"/>
                </a:solidFill>
                <a:latin typeface="Aptos"/>
              </a:rPr>
              <a:t>For C++20 students, this is where concepts, templates, vtables, and monomorphization all line up.</a:t>
            </a:r>
          </a:p>
        </p:txBody>
      </p:sp>
      <p:sp>
        <p:nvSpPr>
          <p:cNvPr id="8" name="Rounded Rectangle 7"/>
          <p:cNvSpPr/>
          <p:nvPr/>
        </p:nvSpPr>
        <p:spPr>
          <a:xfrm>
            <a:off x="566928" y="1975104"/>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975104"/>
            <a:ext cx="54864" cy="1664208"/>
          </a:xfrm>
          <a:prstGeom prst="rect">
            <a:avLst/>
          </a:prstGeom>
          <a:solidFill>
            <a:srgbClr val="F7C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139696"/>
            <a:ext cx="3172968" cy="274320"/>
          </a:xfrm>
          <a:prstGeom prst="rect">
            <a:avLst/>
          </a:prstGeom>
          <a:noFill/>
        </p:spPr>
        <p:txBody>
          <a:bodyPr wrap="none" lIns="0" rIns="0" tIns="0" bIns="0" anchor="t">
            <a:spAutoFit/>
          </a:bodyPr>
          <a:lstStyle/>
          <a:p>
            <a:pPr algn="l"/>
            <a:r>
              <a:rPr sz="1180" b="1">
                <a:solidFill>
                  <a:srgbClr val="F7C564"/>
                </a:solidFill>
                <a:latin typeface="Aptos"/>
              </a:rPr>
              <a:t>Trigger</a:t>
            </a:r>
          </a:p>
        </p:txBody>
      </p:sp>
      <p:sp>
        <p:nvSpPr>
          <p:cNvPr id="11" name="TextBox 10"/>
          <p:cNvSpPr txBox="1"/>
          <p:nvPr/>
        </p:nvSpPr>
        <p:spPr>
          <a:xfrm>
            <a:off x="786384" y="2542032"/>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Students compare traits to abstract base classes only.</a:t>
            </a:r>
          </a:p>
          <a:p>
            <a:pPr>
              <a:spcAft>
                <a:spcPts val="100"/>
              </a:spcAft>
            </a:pPr>
            <a:r>
              <a:rPr sz="1220" b="0">
                <a:solidFill>
                  <a:srgbClr val="A8B3C4"/>
                </a:solidFill>
                <a:latin typeface="Aptos"/>
              </a:rPr>
              <a:t>They ask about performance, dyn Trait, or template instantiation.</a:t>
            </a:r>
          </a:p>
        </p:txBody>
      </p:sp>
      <p:sp>
        <p:nvSpPr>
          <p:cNvPr id="12" name="Rounded Rectangle 11"/>
          <p:cNvSpPr/>
          <p:nvPr/>
        </p:nvSpPr>
        <p:spPr>
          <a:xfrm>
            <a:off x="4416552" y="1975104"/>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6552" y="1975104"/>
            <a:ext cx="54864" cy="1664208"/>
          </a:xfrm>
          <a:prstGeom prst="rect">
            <a:avLst/>
          </a:prstGeom>
          <a:solidFill>
            <a:srgbClr val="66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36008" y="2139696"/>
            <a:ext cx="3172968" cy="274320"/>
          </a:xfrm>
          <a:prstGeom prst="rect">
            <a:avLst/>
          </a:prstGeom>
          <a:noFill/>
        </p:spPr>
        <p:txBody>
          <a:bodyPr wrap="none" lIns="0" rIns="0" tIns="0" bIns="0" anchor="t">
            <a:spAutoFit/>
          </a:bodyPr>
          <a:lstStyle/>
          <a:p>
            <a:pPr algn="l"/>
            <a:r>
              <a:rPr sz="1180" b="1">
                <a:solidFill>
                  <a:srgbClr val="66A6FF"/>
                </a:solidFill>
                <a:latin typeface="Aptos"/>
              </a:rPr>
              <a:t>Pull in now</a:t>
            </a:r>
          </a:p>
        </p:txBody>
      </p:sp>
      <p:sp>
        <p:nvSpPr>
          <p:cNvPr id="15" name="TextBox 14"/>
          <p:cNvSpPr txBox="1"/>
          <p:nvPr/>
        </p:nvSpPr>
        <p:spPr>
          <a:xfrm>
            <a:off x="4636008" y="2542032"/>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Rust_CPP_Traits_Generics_Layout_ZeroCost_Addendum.pptx</a:t>
            </a:r>
          </a:p>
          <a:p>
            <a:pPr>
              <a:spcAft>
                <a:spcPts val="100"/>
              </a:spcAft>
            </a:pPr>
            <a:r>
              <a:rPr sz="1220" b="0">
                <a:solidFill>
                  <a:srgbClr val="A8B3C4"/>
                </a:solidFill>
                <a:latin typeface="Aptos"/>
              </a:rPr>
              <a:t>Use traits first; layout/zero-cost when performance questions start.</a:t>
            </a:r>
          </a:p>
        </p:txBody>
      </p:sp>
      <p:sp>
        <p:nvSpPr>
          <p:cNvPr id="16" name="Rounded Rectangle 15"/>
          <p:cNvSpPr/>
          <p:nvPr/>
        </p:nvSpPr>
        <p:spPr>
          <a:xfrm>
            <a:off x="566928" y="3858768"/>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3858768"/>
            <a:ext cx="54864" cy="1664208"/>
          </a:xfrm>
          <a:prstGeom prst="rect">
            <a:avLst/>
          </a:prstGeom>
          <a:solidFill>
            <a:srgbClr val="4E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023359"/>
            <a:ext cx="3172968" cy="274320"/>
          </a:xfrm>
          <a:prstGeom prst="rect">
            <a:avLst/>
          </a:prstGeom>
          <a:noFill/>
        </p:spPr>
        <p:txBody>
          <a:bodyPr wrap="none" lIns="0" rIns="0" tIns="0" bIns="0" anchor="t">
            <a:spAutoFit/>
          </a:bodyPr>
          <a:lstStyle/>
          <a:p>
            <a:pPr algn="l"/>
            <a:r>
              <a:rPr sz="1180" b="1">
                <a:solidFill>
                  <a:srgbClr val="4ECCA3"/>
                </a:solidFill>
                <a:latin typeface="Aptos"/>
              </a:rPr>
              <a:t>Exercise / check</a:t>
            </a:r>
          </a:p>
        </p:txBody>
      </p:sp>
      <p:sp>
        <p:nvSpPr>
          <p:cNvPr id="19" name="TextBox 18"/>
          <p:cNvSpPr txBox="1"/>
          <p:nvPr/>
        </p:nvSpPr>
        <p:spPr>
          <a:xfrm>
            <a:off x="786384" y="4425696"/>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Do Fix-It 07: Traits and Generics.</a:t>
            </a:r>
          </a:p>
          <a:p>
            <a:pPr>
              <a:spcAft>
                <a:spcPts val="100"/>
              </a:spcAft>
            </a:pPr>
            <a:r>
              <a:rPr sz="1220" b="0">
                <a:solidFill>
                  <a:srgbClr val="A8B3C4"/>
                </a:solidFill>
                <a:latin typeface="Aptos"/>
              </a:rPr>
              <a:t>If time is short, do one static dispatch and one dyn Trait example.</a:t>
            </a:r>
          </a:p>
        </p:txBody>
      </p:sp>
      <p:sp>
        <p:nvSpPr>
          <p:cNvPr id="20" name="Rounded Rectangle 19"/>
          <p:cNvSpPr/>
          <p:nvPr/>
        </p:nvSpPr>
        <p:spPr>
          <a:xfrm>
            <a:off x="4416552" y="3858768"/>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6552" y="3858768"/>
            <a:ext cx="54864" cy="1664208"/>
          </a:xfrm>
          <a:prstGeom prst="rect">
            <a:avLst/>
          </a:prstGeom>
          <a:solidFill>
            <a:srgbClr val="FF7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36008" y="4023359"/>
            <a:ext cx="3172968" cy="274320"/>
          </a:xfrm>
          <a:prstGeom prst="rect">
            <a:avLst/>
          </a:prstGeom>
          <a:noFill/>
        </p:spPr>
        <p:txBody>
          <a:bodyPr wrap="none" lIns="0" rIns="0" tIns="0" bIns="0" anchor="t">
            <a:spAutoFit/>
          </a:bodyPr>
          <a:lstStyle/>
          <a:p>
            <a:pPr algn="l"/>
            <a:r>
              <a:rPr sz="1180" b="1">
                <a:solidFill>
                  <a:srgbClr val="FF743E"/>
                </a:solidFill>
                <a:latin typeface="Aptos"/>
              </a:rPr>
              <a:t>Return anchor</a:t>
            </a:r>
          </a:p>
        </p:txBody>
      </p:sp>
      <p:sp>
        <p:nvSpPr>
          <p:cNvPr id="23" name="TextBox 22"/>
          <p:cNvSpPr txBox="1"/>
          <p:nvPr/>
        </p:nvSpPr>
        <p:spPr>
          <a:xfrm>
            <a:off x="4636008" y="4425696"/>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Return to Traits &amp; Generics or continue directly into Error Handling.</a:t>
            </a:r>
          </a:p>
          <a:p>
            <a:pPr>
              <a:spcAft>
                <a:spcPts val="100"/>
              </a:spcAft>
            </a:pPr>
            <a:r>
              <a:rPr sz="1220" b="0">
                <a:solidFill>
                  <a:srgbClr val="A8B3C4"/>
                </a:solidFill>
                <a:latin typeface="Aptos"/>
              </a:rPr>
              <a:t>Keep dynamic vs static dispatch explicit.</a:t>
            </a:r>
          </a:p>
        </p:txBody>
      </p:sp>
      <p:sp>
        <p:nvSpPr>
          <p:cNvPr id="24" name="Rounded Rectangle 23"/>
          <p:cNvSpPr/>
          <p:nvPr/>
        </p:nvSpPr>
        <p:spPr>
          <a:xfrm>
            <a:off x="8366760" y="2011680"/>
            <a:ext cx="3127248" cy="3291840"/>
          </a:xfrm>
          <a:prstGeom prst="roundRect">
            <a:avLst/>
          </a:prstGeom>
          <a:solidFill>
            <a:srgbClr val="121B2B"/>
          </a:solidFill>
          <a:ln w="12700">
            <a:solidFill>
              <a:srgbClr val="2F3F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668512" y="2304288"/>
            <a:ext cx="1353312" cy="301752"/>
          </a:xfrm>
          <a:prstGeom prst="roundRect">
            <a:avLst/>
          </a:prstGeom>
          <a:solidFill>
            <a:srgbClr val="161F2E"/>
          </a:solidFill>
          <a:ln w="15240">
            <a:solidFill>
              <a:srgbClr val="FF743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743E"/>
                </a:solidFill>
                <a:latin typeface="Aptos"/>
              </a:rPr>
              <a:t>DEEP STACK</a:t>
            </a:r>
          </a:p>
        </p:txBody>
      </p:sp>
      <p:sp>
        <p:nvSpPr>
          <p:cNvPr id="26" name="TextBox 25"/>
          <p:cNvSpPr txBox="1"/>
          <p:nvPr/>
        </p:nvSpPr>
        <p:spPr>
          <a:xfrm>
            <a:off x="8641080" y="2788920"/>
            <a:ext cx="2423160" cy="548640"/>
          </a:xfrm>
          <a:prstGeom prst="rect">
            <a:avLst/>
          </a:prstGeom>
          <a:noFill/>
        </p:spPr>
        <p:txBody>
          <a:bodyPr wrap="none" lIns="0" rIns="0" tIns="0" bIns="0" anchor="t">
            <a:spAutoFit/>
          </a:bodyPr>
          <a:lstStyle/>
          <a:p>
            <a:pPr algn="l"/>
            <a:r>
              <a:rPr sz="1300" b="1">
                <a:solidFill>
                  <a:srgbClr val="A8B3C4"/>
                </a:solidFill>
                <a:latin typeface="Aptos"/>
              </a:rPr>
              <a:t>Instructor move</a:t>
            </a:r>
          </a:p>
        </p:txBody>
      </p:sp>
      <p:sp>
        <p:nvSpPr>
          <p:cNvPr id="27" name="TextBox 26"/>
          <p:cNvSpPr txBox="1"/>
          <p:nvPr/>
        </p:nvSpPr>
        <p:spPr>
          <a:xfrm>
            <a:off x="8641080" y="3227832"/>
            <a:ext cx="2423160" cy="877824"/>
          </a:xfrm>
          <a:prstGeom prst="rect">
            <a:avLst/>
          </a:prstGeom>
          <a:noFill/>
        </p:spPr>
        <p:txBody>
          <a:bodyPr wrap="none" lIns="0" rIns="0" tIns="0" bIns="0" anchor="t">
            <a:spAutoFit/>
          </a:bodyPr>
          <a:lstStyle/>
          <a:p>
            <a:pPr algn="l"/>
            <a:r>
              <a:rPr sz="1600" b="0">
                <a:solidFill>
                  <a:srgbClr val="EFF3F9"/>
                </a:solidFill>
                <a:latin typeface="Aptos"/>
              </a:rPr>
              <a:t>Pause, choose the route, then return to the standard stack.</a:t>
            </a:r>
          </a:p>
        </p:txBody>
      </p:sp>
      <p:sp>
        <p:nvSpPr>
          <p:cNvPr id="28" name="TextBox 27"/>
          <p:cNvSpPr txBox="1"/>
          <p:nvPr/>
        </p:nvSpPr>
        <p:spPr>
          <a:xfrm>
            <a:off x="8641080" y="4315968"/>
            <a:ext cx="2423160" cy="310896"/>
          </a:xfrm>
          <a:prstGeom prst="rect">
            <a:avLst/>
          </a:prstGeom>
          <a:noFill/>
        </p:spPr>
        <p:txBody>
          <a:bodyPr wrap="none" lIns="0" rIns="0" tIns="0" bIns="0" anchor="t">
            <a:spAutoFit/>
          </a:bodyPr>
          <a:lstStyle/>
          <a:p>
            <a:pPr algn="l"/>
            <a:r>
              <a:rPr sz="1250" b="1">
                <a:solidFill>
                  <a:srgbClr val="A8B3C4"/>
                </a:solidFill>
                <a:latin typeface="Aptos"/>
              </a:rPr>
              <a:t>Suggested time</a:t>
            </a:r>
          </a:p>
        </p:txBody>
      </p:sp>
      <p:sp>
        <p:nvSpPr>
          <p:cNvPr id="29" name="TextBox 28"/>
          <p:cNvSpPr txBox="1"/>
          <p:nvPr/>
        </p:nvSpPr>
        <p:spPr>
          <a:xfrm>
            <a:off x="8641080" y="4617720"/>
            <a:ext cx="2423160" cy="402336"/>
          </a:xfrm>
          <a:prstGeom prst="rect">
            <a:avLst/>
          </a:prstGeom>
          <a:noFill/>
        </p:spPr>
        <p:txBody>
          <a:bodyPr wrap="none" lIns="0" rIns="0" tIns="0" bIns="0" anchor="t">
            <a:spAutoFit/>
          </a:bodyPr>
          <a:lstStyle/>
          <a:p>
            <a:pPr algn="l"/>
            <a:r>
              <a:rPr sz="1800" b="1">
                <a:solidFill>
                  <a:srgbClr val="FF743E"/>
                </a:solidFill>
                <a:latin typeface="Aptos"/>
              </a:rPr>
              <a:t>25–55 min</a:t>
            </a:r>
          </a:p>
        </p:txBody>
      </p:sp>
      <p:sp>
        <p:nvSpPr>
          <p:cNvPr id="30" name="TextBox 29"/>
          <p:cNvSpPr txBox="1"/>
          <p:nvPr/>
        </p:nvSpPr>
        <p:spPr>
          <a:xfrm>
            <a:off x="566928" y="6291072"/>
            <a:ext cx="5303520" cy="219456"/>
          </a:xfrm>
          <a:prstGeom prst="rect">
            <a:avLst/>
          </a:prstGeom>
          <a:noFill/>
        </p:spPr>
        <p:txBody>
          <a:bodyPr wrap="none" lIns="0" rIns="0" tIns="0" bIns="0" anchor="t">
            <a:spAutoFit/>
          </a:bodyPr>
          <a:lstStyle/>
          <a:p>
            <a:pPr algn="l"/>
            <a:r>
              <a:rPr sz="1050" b="0">
                <a:solidFill>
                  <a:srgbClr val="5E6E87"/>
                </a:solidFill>
                <a:latin typeface="Aptos"/>
              </a:rPr>
              <a:t>Rust for Experienced C++ Developers — navigation interleave</a:t>
            </a:r>
          </a:p>
        </p:txBody>
      </p:sp>
      <p:sp>
        <p:nvSpPr>
          <p:cNvPr id="31" name="TextBox 30"/>
          <p:cNvSpPr txBox="1"/>
          <p:nvPr/>
        </p:nvSpPr>
        <p:spPr>
          <a:xfrm>
            <a:off x="10040112" y="6272784"/>
            <a:ext cx="1463040" cy="256032"/>
          </a:xfrm>
          <a:prstGeom prst="rect">
            <a:avLst/>
          </a:prstGeom>
          <a:noFill/>
        </p:spPr>
        <p:txBody>
          <a:bodyPr wrap="none" lIns="0" rIns="0" tIns="0" bIns="0" anchor="t">
            <a:spAutoFit/>
          </a:bodyPr>
          <a:lstStyle/>
          <a:p>
            <a:pPr algn="r"/>
            <a:r>
              <a:rPr sz="1050" b="0">
                <a:solidFill>
                  <a:srgbClr val="5E6E87"/>
                </a:solidFill>
                <a:latin typeface="Aptos"/>
              </a:rPr>
              <a:t>jump-friendly</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C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46304"/>
          </a:xfrm>
          <a:prstGeom prst="rect">
            <a:avLst/>
          </a:prstGeom>
          <a:solidFill>
            <a:srgbClr val="FF4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92000" cy="54864"/>
          </a:xfrm>
          <a:prstGeom prst="rect">
            <a:avLst/>
          </a:prstGeom>
          <a:solidFill>
            <a:srgbClr val="141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4206240" cy="201168"/>
          </a:xfrm>
          <a:prstGeom prst="rect">
            <a:avLst/>
          </a:prstGeom>
          <a:noFill/>
        </p:spPr>
        <p:txBody>
          <a:bodyPr wrap="none" lIns="0" rIns="0" tIns="0" bIns="0" anchor="t">
            <a:spAutoFit/>
          </a:bodyPr>
          <a:lstStyle/>
          <a:p>
            <a:pPr algn="l"/>
            <a:r>
              <a:rPr sz="1250" b="1">
                <a:solidFill>
                  <a:srgbClr val="FF743E"/>
                </a:solidFill>
                <a:latin typeface="Aptos"/>
              </a:rPr>
              <a:t>DEEP DIVE + FIX-IT</a:t>
            </a:r>
          </a:p>
        </p:txBody>
      </p:sp>
      <p:sp>
        <p:nvSpPr>
          <p:cNvPr id="6" name="TextBox 5"/>
          <p:cNvSpPr txBox="1"/>
          <p:nvPr/>
        </p:nvSpPr>
        <p:spPr>
          <a:xfrm>
            <a:off x="566928" y="713232"/>
            <a:ext cx="7772400" cy="896112"/>
          </a:xfrm>
          <a:prstGeom prst="rect">
            <a:avLst/>
          </a:prstGeom>
          <a:noFill/>
        </p:spPr>
        <p:txBody>
          <a:bodyPr wrap="none" lIns="0" rIns="0" tIns="0" bIns="0" anchor="t">
            <a:spAutoFit/>
          </a:bodyPr>
          <a:lstStyle/>
          <a:p>
            <a:pPr algn="l"/>
            <a:r>
              <a:rPr sz="2900" b="1">
                <a:solidFill>
                  <a:srgbClr val="EFF3F9"/>
                </a:solidFill>
                <a:latin typeface="Aptos"/>
              </a:rPr>
              <a:t>Failure semantics: errors are part of the contract</a:t>
            </a:r>
          </a:p>
        </p:txBody>
      </p:sp>
      <p:sp>
        <p:nvSpPr>
          <p:cNvPr id="7" name="TextBox 6"/>
          <p:cNvSpPr txBox="1"/>
          <p:nvPr/>
        </p:nvSpPr>
        <p:spPr>
          <a:xfrm>
            <a:off x="585216" y="1591056"/>
            <a:ext cx="8321040" cy="384048"/>
          </a:xfrm>
          <a:prstGeom prst="rect">
            <a:avLst/>
          </a:prstGeom>
          <a:noFill/>
        </p:spPr>
        <p:txBody>
          <a:bodyPr wrap="none" lIns="0" rIns="0" tIns="0" bIns="0" anchor="t">
            <a:spAutoFit/>
          </a:bodyPr>
          <a:lstStyle/>
          <a:p>
            <a:pPr algn="l"/>
            <a:r>
              <a:rPr sz="1460" b="0">
                <a:solidFill>
                  <a:srgbClr val="A8B3C4"/>
                </a:solidFill>
                <a:latin typeface="Aptos"/>
              </a:rPr>
              <a:t>The interesting question is not “How do I use ?” but “Which failures belong in the function type?”</a:t>
            </a:r>
          </a:p>
        </p:txBody>
      </p:sp>
      <p:sp>
        <p:nvSpPr>
          <p:cNvPr id="8" name="Rounded Rectangle 7"/>
          <p:cNvSpPr/>
          <p:nvPr/>
        </p:nvSpPr>
        <p:spPr>
          <a:xfrm>
            <a:off x="566928" y="1975104"/>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975104"/>
            <a:ext cx="54864" cy="1664208"/>
          </a:xfrm>
          <a:prstGeom prst="rect">
            <a:avLst/>
          </a:prstGeom>
          <a:solidFill>
            <a:srgbClr val="F7C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139696"/>
            <a:ext cx="3172968" cy="274320"/>
          </a:xfrm>
          <a:prstGeom prst="rect">
            <a:avLst/>
          </a:prstGeom>
          <a:noFill/>
        </p:spPr>
        <p:txBody>
          <a:bodyPr wrap="none" lIns="0" rIns="0" tIns="0" bIns="0" anchor="t">
            <a:spAutoFit/>
          </a:bodyPr>
          <a:lstStyle/>
          <a:p>
            <a:pPr algn="l"/>
            <a:r>
              <a:rPr sz="1180" b="1">
                <a:solidFill>
                  <a:srgbClr val="F7C564"/>
                </a:solidFill>
                <a:latin typeface="Aptos"/>
              </a:rPr>
              <a:t>Trigger</a:t>
            </a:r>
          </a:p>
        </p:txBody>
      </p:sp>
      <p:sp>
        <p:nvSpPr>
          <p:cNvPr id="11" name="TextBox 10"/>
          <p:cNvSpPr txBox="1"/>
          <p:nvPr/>
        </p:nvSpPr>
        <p:spPr>
          <a:xfrm>
            <a:off x="786384" y="2542032"/>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Students compare Result to exceptions/error codes.</a:t>
            </a:r>
          </a:p>
          <a:p>
            <a:pPr>
              <a:spcAft>
                <a:spcPts val="100"/>
              </a:spcAft>
            </a:pPr>
            <a:r>
              <a:rPr sz="1220" b="0">
                <a:solidFill>
                  <a:srgbClr val="A8B3C4"/>
                </a:solidFill>
                <a:latin typeface="Aptos"/>
              </a:rPr>
              <a:t>They ask about panic, anyhow, thiserror, or noexcept.</a:t>
            </a:r>
          </a:p>
        </p:txBody>
      </p:sp>
      <p:sp>
        <p:nvSpPr>
          <p:cNvPr id="12" name="Rounded Rectangle 11"/>
          <p:cNvSpPr/>
          <p:nvPr/>
        </p:nvSpPr>
        <p:spPr>
          <a:xfrm>
            <a:off x="4416552" y="1975104"/>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6552" y="1975104"/>
            <a:ext cx="54864" cy="1664208"/>
          </a:xfrm>
          <a:prstGeom prst="rect">
            <a:avLst/>
          </a:prstGeom>
          <a:solidFill>
            <a:srgbClr val="66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36008" y="2139696"/>
            <a:ext cx="3172968" cy="274320"/>
          </a:xfrm>
          <a:prstGeom prst="rect">
            <a:avLst/>
          </a:prstGeom>
          <a:noFill/>
        </p:spPr>
        <p:txBody>
          <a:bodyPr wrap="none" lIns="0" rIns="0" tIns="0" bIns="0" anchor="t">
            <a:spAutoFit/>
          </a:bodyPr>
          <a:lstStyle/>
          <a:p>
            <a:pPr algn="l"/>
            <a:r>
              <a:rPr sz="1180" b="1">
                <a:solidFill>
                  <a:srgbClr val="66A6FF"/>
                </a:solidFill>
                <a:latin typeface="Aptos"/>
              </a:rPr>
              <a:t>Pull in now</a:t>
            </a:r>
          </a:p>
        </p:txBody>
      </p:sp>
      <p:sp>
        <p:nvSpPr>
          <p:cNvPr id="15" name="TextBox 14"/>
          <p:cNvSpPr txBox="1"/>
          <p:nvPr/>
        </p:nvSpPr>
        <p:spPr>
          <a:xfrm>
            <a:off x="4636008" y="2542032"/>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Rust_CPP_Errors_Exceptions_Result_Failure_Addendum.pptx</a:t>
            </a:r>
          </a:p>
          <a:p>
            <a:pPr>
              <a:spcAft>
                <a:spcPts val="100"/>
              </a:spcAft>
            </a:pPr>
            <a:r>
              <a:rPr sz="1220" b="0">
                <a:solidFill>
                  <a:srgbClr val="A8B3C4"/>
                </a:solidFill>
                <a:latin typeface="Aptos"/>
              </a:rPr>
              <a:t>Emphasize recoverable vs unrecoverable and library vs application errors.</a:t>
            </a:r>
          </a:p>
        </p:txBody>
      </p:sp>
      <p:sp>
        <p:nvSpPr>
          <p:cNvPr id="16" name="Rounded Rectangle 15"/>
          <p:cNvSpPr/>
          <p:nvPr/>
        </p:nvSpPr>
        <p:spPr>
          <a:xfrm>
            <a:off x="566928" y="3858768"/>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3858768"/>
            <a:ext cx="54864" cy="1664208"/>
          </a:xfrm>
          <a:prstGeom prst="rect">
            <a:avLst/>
          </a:prstGeom>
          <a:solidFill>
            <a:srgbClr val="4E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023359"/>
            <a:ext cx="3172968" cy="274320"/>
          </a:xfrm>
          <a:prstGeom prst="rect">
            <a:avLst/>
          </a:prstGeom>
          <a:noFill/>
        </p:spPr>
        <p:txBody>
          <a:bodyPr wrap="none" lIns="0" rIns="0" tIns="0" bIns="0" anchor="t">
            <a:spAutoFit/>
          </a:bodyPr>
          <a:lstStyle/>
          <a:p>
            <a:pPr algn="l"/>
            <a:r>
              <a:rPr sz="1180" b="1">
                <a:solidFill>
                  <a:srgbClr val="4ECCA3"/>
                </a:solidFill>
                <a:latin typeface="Aptos"/>
              </a:rPr>
              <a:t>Exercise / check</a:t>
            </a:r>
          </a:p>
        </p:txBody>
      </p:sp>
      <p:sp>
        <p:nvSpPr>
          <p:cNvPr id="19" name="TextBox 18"/>
          <p:cNvSpPr txBox="1"/>
          <p:nvPr/>
        </p:nvSpPr>
        <p:spPr>
          <a:xfrm>
            <a:off x="786384" y="4425696"/>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Do Fix-It 05: Option, Result, and Error Handling.</a:t>
            </a:r>
          </a:p>
          <a:p>
            <a:pPr>
              <a:spcAft>
                <a:spcPts val="100"/>
              </a:spcAft>
            </a:pPr>
            <a:r>
              <a:rPr sz="1220" b="0">
                <a:solidFill>
                  <a:srgbClr val="A8B3C4"/>
                </a:solidFill>
                <a:latin typeface="Aptos"/>
              </a:rPr>
              <a:t>Ask: should this be Result, Option, panic, or impossible state?</a:t>
            </a:r>
          </a:p>
        </p:txBody>
      </p:sp>
      <p:sp>
        <p:nvSpPr>
          <p:cNvPr id="20" name="Rounded Rectangle 19"/>
          <p:cNvSpPr/>
          <p:nvPr/>
        </p:nvSpPr>
        <p:spPr>
          <a:xfrm>
            <a:off x="4416552" y="3858768"/>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6552" y="3858768"/>
            <a:ext cx="54864" cy="1664208"/>
          </a:xfrm>
          <a:prstGeom prst="rect">
            <a:avLst/>
          </a:prstGeom>
          <a:solidFill>
            <a:srgbClr val="FF7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36008" y="4023359"/>
            <a:ext cx="3172968" cy="274320"/>
          </a:xfrm>
          <a:prstGeom prst="rect">
            <a:avLst/>
          </a:prstGeom>
          <a:noFill/>
        </p:spPr>
        <p:txBody>
          <a:bodyPr wrap="none" lIns="0" rIns="0" tIns="0" bIns="0" anchor="t">
            <a:spAutoFit/>
          </a:bodyPr>
          <a:lstStyle/>
          <a:p>
            <a:pPr algn="l"/>
            <a:r>
              <a:rPr sz="1180" b="1">
                <a:solidFill>
                  <a:srgbClr val="FF743E"/>
                </a:solidFill>
                <a:latin typeface="Aptos"/>
              </a:rPr>
              <a:t>Return anchor</a:t>
            </a:r>
          </a:p>
        </p:txBody>
      </p:sp>
      <p:sp>
        <p:nvSpPr>
          <p:cNvPr id="23" name="TextBox 22"/>
          <p:cNvSpPr txBox="1"/>
          <p:nvPr/>
        </p:nvSpPr>
        <p:spPr>
          <a:xfrm>
            <a:off x="4636008" y="4425696"/>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Return to Error Handling or jump to Types &amp; Invariants for design repair.</a:t>
            </a:r>
          </a:p>
          <a:p>
            <a:pPr>
              <a:spcAft>
                <a:spcPts val="100"/>
              </a:spcAft>
            </a:pPr>
            <a:r>
              <a:rPr sz="1220" b="0">
                <a:solidFill>
                  <a:srgbClr val="A8B3C4"/>
                </a:solidFill>
                <a:latin typeface="Aptos"/>
              </a:rPr>
              <a:t>The two stacks reinforce each other.</a:t>
            </a:r>
          </a:p>
        </p:txBody>
      </p:sp>
      <p:sp>
        <p:nvSpPr>
          <p:cNvPr id="24" name="Rounded Rectangle 23"/>
          <p:cNvSpPr/>
          <p:nvPr/>
        </p:nvSpPr>
        <p:spPr>
          <a:xfrm>
            <a:off x="8366760" y="2011680"/>
            <a:ext cx="3127248" cy="3291840"/>
          </a:xfrm>
          <a:prstGeom prst="roundRect">
            <a:avLst/>
          </a:prstGeom>
          <a:solidFill>
            <a:srgbClr val="121B2B"/>
          </a:solidFill>
          <a:ln w="12700">
            <a:solidFill>
              <a:srgbClr val="2F3F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668512" y="2304288"/>
            <a:ext cx="1353312" cy="301752"/>
          </a:xfrm>
          <a:prstGeom prst="roundRect">
            <a:avLst/>
          </a:prstGeom>
          <a:solidFill>
            <a:srgbClr val="161F2E"/>
          </a:solidFill>
          <a:ln w="15240">
            <a:solidFill>
              <a:srgbClr val="FF743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743E"/>
                </a:solidFill>
                <a:latin typeface="Aptos"/>
              </a:rPr>
              <a:t>CONTRACT STACK</a:t>
            </a:r>
          </a:p>
        </p:txBody>
      </p:sp>
      <p:sp>
        <p:nvSpPr>
          <p:cNvPr id="26" name="TextBox 25"/>
          <p:cNvSpPr txBox="1"/>
          <p:nvPr/>
        </p:nvSpPr>
        <p:spPr>
          <a:xfrm>
            <a:off x="8641080" y="2788920"/>
            <a:ext cx="2423160" cy="548640"/>
          </a:xfrm>
          <a:prstGeom prst="rect">
            <a:avLst/>
          </a:prstGeom>
          <a:noFill/>
        </p:spPr>
        <p:txBody>
          <a:bodyPr wrap="none" lIns="0" rIns="0" tIns="0" bIns="0" anchor="t">
            <a:spAutoFit/>
          </a:bodyPr>
          <a:lstStyle/>
          <a:p>
            <a:pPr algn="l"/>
            <a:r>
              <a:rPr sz="1300" b="1">
                <a:solidFill>
                  <a:srgbClr val="A8B3C4"/>
                </a:solidFill>
                <a:latin typeface="Aptos"/>
              </a:rPr>
              <a:t>Instructor move</a:t>
            </a:r>
          </a:p>
        </p:txBody>
      </p:sp>
      <p:sp>
        <p:nvSpPr>
          <p:cNvPr id="27" name="TextBox 26"/>
          <p:cNvSpPr txBox="1"/>
          <p:nvPr/>
        </p:nvSpPr>
        <p:spPr>
          <a:xfrm>
            <a:off x="8641080" y="3227832"/>
            <a:ext cx="2423160" cy="877824"/>
          </a:xfrm>
          <a:prstGeom prst="rect">
            <a:avLst/>
          </a:prstGeom>
          <a:noFill/>
        </p:spPr>
        <p:txBody>
          <a:bodyPr wrap="none" lIns="0" rIns="0" tIns="0" bIns="0" anchor="t">
            <a:spAutoFit/>
          </a:bodyPr>
          <a:lstStyle/>
          <a:p>
            <a:pPr algn="l"/>
            <a:r>
              <a:rPr sz="1600" b="0">
                <a:solidFill>
                  <a:srgbClr val="EFF3F9"/>
                </a:solidFill>
                <a:latin typeface="Aptos"/>
              </a:rPr>
              <a:t>Pause, choose the route, then return to the standard stack.</a:t>
            </a:r>
          </a:p>
        </p:txBody>
      </p:sp>
      <p:sp>
        <p:nvSpPr>
          <p:cNvPr id="28" name="TextBox 27"/>
          <p:cNvSpPr txBox="1"/>
          <p:nvPr/>
        </p:nvSpPr>
        <p:spPr>
          <a:xfrm>
            <a:off x="8641080" y="4315968"/>
            <a:ext cx="2423160" cy="310896"/>
          </a:xfrm>
          <a:prstGeom prst="rect">
            <a:avLst/>
          </a:prstGeom>
          <a:noFill/>
        </p:spPr>
        <p:txBody>
          <a:bodyPr wrap="none" lIns="0" rIns="0" tIns="0" bIns="0" anchor="t">
            <a:spAutoFit/>
          </a:bodyPr>
          <a:lstStyle/>
          <a:p>
            <a:pPr algn="l"/>
            <a:r>
              <a:rPr sz="1250" b="1">
                <a:solidFill>
                  <a:srgbClr val="A8B3C4"/>
                </a:solidFill>
                <a:latin typeface="Aptos"/>
              </a:rPr>
              <a:t>Suggested time</a:t>
            </a:r>
          </a:p>
        </p:txBody>
      </p:sp>
      <p:sp>
        <p:nvSpPr>
          <p:cNvPr id="29" name="TextBox 28"/>
          <p:cNvSpPr txBox="1"/>
          <p:nvPr/>
        </p:nvSpPr>
        <p:spPr>
          <a:xfrm>
            <a:off x="8641080" y="4617720"/>
            <a:ext cx="2423160" cy="402336"/>
          </a:xfrm>
          <a:prstGeom prst="rect">
            <a:avLst/>
          </a:prstGeom>
          <a:noFill/>
        </p:spPr>
        <p:txBody>
          <a:bodyPr wrap="none" lIns="0" rIns="0" tIns="0" bIns="0" anchor="t">
            <a:spAutoFit/>
          </a:bodyPr>
          <a:lstStyle/>
          <a:p>
            <a:pPr algn="l"/>
            <a:r>
              <a:rPr sz="1800" b="1">
                <a:solidFill>
                  <a:srgbClr val="FF743E"/>
                </a:solidFill>
                <a:latin typeface="Aptos"/>
              </a:rPr>
              <a:t>25–50 min</a:t>
            </a:r>
          </a:p>
        </p:txBody>
      </p:sp>
      <p:sp>
        <p:nvSpPr>
          <p:cNvPr id="30" name="TextBox 29"/>
          <p:cNvSpPr txBox="1"/>
          <p:nvPr/>
        </p:nvSpPr>
        <p:spPr>
          <a:xfrm>
            <a:off x="566928" y="6291072"/>
            <a:ext cx="5303520" cy="219456"/>
          </a:xfrm>
          <a:prstGeom prst="rect">
            <a:avLst/>
          </a:prstGeom>
          <a:noFill/>
        </p:spPr>
        <p:txBody>
          <a:bodyPr wrap="none" lIns="0" rIns="0" tIns="0" bIns="0" anchor="t">
            <a:spAutoFit/>
          </a:bodyPr>
          <a:lstStyle/>
          <a:p>
            <a:pPr algn="l"/>
            <a:r>
              <a:rPr sz="1050" b="0">
                <a:solidFill>
                  <a:srgbClr val="5E6E87"/>
                </a:solidFill>
                <a:latin typeface="Aptos"/>
              </a:rPr>
              <a:t>Rust for Experienced C++ Developers — navigation interleave</a:t>
            </a:r>
          </a:p>
        </p:txBody>
      </p:sp>
      <p:sp>
        <p:nvSpPr>
          <p:cNvPr id="31" name="TextBox 30"/>
          <p:cNvSpPr txBox="1"/>
          <p:nvPr/>
        </p:nvSpPr>
        <p:spPr>
          <a:xfrm>
            <a:off x="10040112" y="6272784"/>
            <a:ext cx="1463040" cy="256032"/>
          </a:xfrm>
          <a:prstGeom prst="rect">
            <a:avLst/>
          </a:prstGeom>
          <a:noFill/>
        </p:spPr>
        <p:txBody>
          <a:bodyPr wrap="none" lIns="0" rIns="0" tIns="0" bIns="0" anchor="t">
            <a:spAutoFit/>
          </a:bodyPr>
          <a:lstStyle/>
          <a:p>
            <a:pPr algn="r"/>
            <a:r>
              <a:rPr sz="1050" b="0">
                <a:solidFill>
                  <a:srgbClr val="5E6E87"/>
                </a:solidFill>
                <a:latin typeface="Aptos"/>
              </a:rPr>
              <a:t>jump-friendly</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C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46304"/>
          </a:xfrm>
          <a:prstGeom prst="rect">
            <a:avLst/>
          </a:prstGeom>
          <a:solidFill>
            <a:srgbClr val="FF4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92000" cy="54864"/>
          </a:xfrm>
          <a:prstGeom prst="rect">
            <a:avLst/>
          </a:prstGeom>
          <a:solidFill>
            <a:srgbClr val="141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4206240" cy="201168"/>
          </a:xfrm>
          <a:prstGeom prst="rect">
            <a:avLst/>
          </a:prstGeom>
          <a:noFill/>
        </p:spPr>
        <p:txBody>
          <a:bodyPr wrap="none" lIns="0" rIns="0" tIns="0" bIns="0" anchor="t">
            <a:spAutoFit/>
          </a:bodyPr>
          <a:lstStyle/>
          <a:p>
            <a:pPr algn="l"/>
            <a:r>
              <a:rPr sz="1250" b="1">
                <a:solidFill>
                  <a:srgbClr val="FF743E"/>
                </a:solidFill>
                <a:latin typeface="Aptos"/>
              </a:rPr>
              <a:t>OPTIONAL PERFORMANCE STACK</a:t>
            </a:r>
          </a:p>
        </p:txBody>
      </p:sp>
      <p:sp>
        <p:nvSpPr>
          <p:cNvPr id="6" name="TextBox 5"/>
          <p:cNvSpPr txBox="1"/>
          <p:nvPr/>
        </p:nvSpPr>
        <p:spPr>
          <a:xfrm>
            <a:off x="566928" y="713232"/>
            <a:ext cx="7772400" cy="896112"/>
          </a:xfrm>
          <a:prstGeom prst="rect">
            <a:avLst/>
          </a:prstGeom>
          <a:noFill/>
        </p:spPr>
        <p:txBody>
          <a:bodyPr wrap="none" lIns="0" rIns="0" tIns="0" bIns="0" anchor="t">
            <a:spAutoFit/>
          </a:bodyPr>
          <a:lstStyle/>
          <a:p>
            <a:pPr algn="l"/>
            <a:r>
              <a:rPr sz="2900" b="1">
                <a:solidFill>
                  <a:srgbClr val="EFF3F9"/>
                </a:solidFill>
                <a:latin typeface="Aptos"/>
              </a:rPr>
              <a:t>Collections, iterators, and zero-cost abstraction</a:t>
            </a:r>
          </a:p>
        </p:txBody>
      </p:sp>
      <p:sp>
        <p:nvSpPr>
          <p:cNvPr id="7" name="TextBox 6"/>
          <p:cNvSpPr txBox="1"/>
          <p:nvPr/>
        </p:nvSpPr>
        <p:spPr>
          <a:xfrm>
            <a:off x="585216" y="1591056"/>
            <a:ext cx="8321040" cy="384048"/>
          </a:xfrm>
          <a:prstGeom prst="rect">
            <a:avLst/>
          </a:prstGeom>
          <a:noFill/>
        </p:spPr>
        <p:txBody>
          <a:bodyPr wrap="none" lIns="0" rIns="0" tIns="0" bIns="0" anchor="t">
            <a:spAutoFit/>
          </a:bodyPr>
          <a:lstStyle/>
          <a:p>
            <a:pPr algn="l"/>
            <a:r>
              <a:rPr sz="1460" b="0">
                <a:solidFill>
                  <a:srgbClr val="A8B3C4"/>
                </a:solidFill>
                <a:latin typeface="Aptos"/>
              </a:rPr>
              <a:t>If students trust hand-written loops more than iterator chains, inspect the abstraction boundary.</a:t>
            </a:r>
          </a:p>
        </p:txBody>
      </p:sp>
      <p:sp>
        <p:nvSpPr>
          <p:cNvPr id="8" name="Rounded Rectangle 7"/>
          <p:cNvSpPr/>
          <p:nvPr/>
        </p:nvSpPr>
        <p:spPr>
          <a:xfrm>
            <a:off x="566928" y="1975104"/>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975104"/>
            <a:ext cx="54864" cy="1664208"/>
          </a:xfrm>
          <a:prstGeom prst="rect">
            <a:avLst/>
          </a:prstGeom>
          <a:solidFill>
            <a:srgbClr val="F7C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139696"/>
            <a:ext cx="3172968" cy="274320"/>
          </a:xfrm>
          <a:prstGeom prst="rect">
            <a:avLst/>
          </a:prstGeom>
          <a:noFill/>
        </p:spPr>
        <p:txBody>
          <a:bodyPr wrap="none" lIns="0" rIns="0" tIns="0" bIns="0" anchor="t">
            <a:spAutoFit/>
          </a:bodyPr>
          <a:lstStyle/>
          <a:p>
            <a:pPr algn="l"/>
            <a:r>
              <a:rPr sz="1180" b="1">
                <a:solidFill>
                  <a:srgbClr val="F7C564"/>
                </a:solidFill>
                <a:latin typeface="Aptos"/>
              </a:rPr>
              <a:t>Trigger</a:t>
            </a:r>
          </a:p>
        </p:txBody>
      </p:sp>
      <p:sp>
        <p:nvSpPr>
          <p:cNvPr id="11" name="TextBox 10"/>
          <p:cNvSpPr txBox="1"/>
          <p:nvPr/>
        </p:nvSpPr>
        <p:spPr>
          <a:xfrm>
            <a:off x="786384" y="2542032"/>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Skepticism about iterator chains, collect, map/filter laziness, or generated code.</a:t>
            </a:r>
          </a:p>
          <a:p>
            <a:pPr>
              <a:spcAft>
                <a:spcPts val="100"/>
              </a:spcAft>
            </a:pPr>
            <a:r>
              <a:rPr sz="1220" b="0">
                <a:solidFill>
                  <a:srgbClr val="A8B3C4"/>
                </a:solidFill>
                <a:latin typeface="Aptos"/>
              </a:rPr>
              <a:t>Performance-oriented C++ reflexes kick in.</a:t>
            </a:r>
          </a:p>
        </p:txBody>
      </p:sp>
      <p:sp>
        <p:nvSpPr>
          <p:cNvPr id="12" name="Rounded Rectangle 11"/>
          <p:cNvSpPr/>
          <p:nvPr/>
        </p:nvSpPr>
        <p:spPr>
          <a:xfrm>
            <a:off x="4416552" y="1975104"/>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6552" y="1975104"/>
            <a:ext cx="54864" cy="1664208"/>
          </a:xfrm>
          <a:prstGeom prst="rect">
            <a:avLst/>
          </a:prstGeom>
          <a:solidFill>
            <a:srgbClr val="66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36008" y="2139696"/>
            <a:ext cx="3172968" cy="274320"/>
          </a:xfrm>
          <a:prstGeom prst="rect">
            <a:avLst/>
          </a:prstGeom>
          <a:noFill/>
        </p:spPr>
        <p:txBody>
          <a:bodyPr wrap="none" lIns="0" rIns="0" tIns="0" bIns="0" anchor="t">
            <a:spAutoFit/>
          </a:bodyPr>
          <a:lstStyle/>
          <a:p>
            <a:pPr algn="l"/>
            <a:r>
              <a:rPr sz="1180" b="1">
                <a:solidFill>
                  <a:srgbClr val="66A6FF"/>
                </a:solidFill>
                <a:latin typeface="Aptos"/>
              </a:rPr>
              <a:t>Pull in now</a:t>
            </a:r>
          </a:p>
        </p:txBody>
      </p:sp>
      <p:sp>
        <p:nvSpPr>
          <p:cNvPr id="15" name="TextBox 14"/>
          <p:cNvSpPr txBox="1"/>
          <p:nvPr/>
        </p:nvSpPr>
        <p:spPr>
          <a:xfrm>
            <a:off x="4636008" y="2542032"/>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Rust_CPP_Traits_Generics_Layout_ZeroCost_Addendum.pptx</a:t>
            </a:r>
          </a:p>
          <a:p>
            <a:pPr>
              <a:spcAft>
                <a:spcPts val="100"/>
              </a:spcAft>
            </a:pPr>
            <a:r>
              <a:rPr sz="1220" b="0">
                <a:solidFill>
                  <a:srgbClr val="A8B3C4"/>
                </a:solidFill>
                <a:latin typeface="Aptos"/>
              </a:rPr>
              <a:t>Use the Representation/Layout and Zero-Cost half.</a:t>
            </a:r>
          </a:p>
        </p:txBody>
      </p:sp>
      <p:sp>
        <p:nvSpPr>
          <p:cNvPr id="16" name="Rounded Rectangle 15"/>
          <p:cNvSpPr/>
          <p:nvPr/>
        </p:nvSpPr>
        <p:spPr>
          <a:xfrm>
            <a:off x="566928" y="3858768"/>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3858768"/>
            <a:ext cx="54864" cy="1664208"/>
          </a:xfrm>
          <a:prstGeom prst="rect">
            <a:avLst/>
          </a:prstGeom>
          <a:solidFill>
            <a:srgbClr val="4E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023359"/>
            <a:ext cx="3172968" cy="274320"/>
          </a:xfrm>
          <a:prstGeom prst="rect">
            <a:avLst/>
          </a:prstGeom>
          <a:noFill/>
        </p:spPr>
        <p:txBody>
          <a:bodyPr wrap="none" lIns="0" rIns="0" tIns="0" bIns="0" anchor="t">
            <a:spAutoFit/>
          </a:bodyPr>
          <a:lstStyle/>
          <a:p>
            <a:pPr algn="l"/>
            <a:r>
              <a:rPr sz="1180" b="1">
                <a:solidFill>
                  <a:srgbClr val="4ECCA3"/>
                </a:solidFill>
                <a:latin typeface="Aptos"/>
              </a:rPr>
              <a:t>Exercise / check</a:t>
            </a:r>
          </a:p>
        </p:txBody>
      </p:sp>
      <p:sp>
        <p:nvSpPr>
          <p:cNvPr id="19" name="TextBox 18"/>
          <p:cNvSpPr txBox="1"/>
          <p:nvPr/>
        </p:nvSpPr>
        <p:spPr>
          <a:xfrm>
            <a:off x="786384" y="4425696"/>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Do Fix-It 06: Collections and Iterators.</a:t>
            </a:r>
          </a:p>
          <a:p>
            <a:pPr>
              <a:spcAft>
                <a:spcPts val="100"/>
              </a:spcAft>
            </a:pPr>
            <a:r>
              <a:rPr sz="1220" b="0">
                <a:solidFill>
                  <a:srgbClr val="A8B3C4"/>
                </a:solidFill>
                <a:latin typeface="Aptos"/>
              </a:rPr>
              <a:t>Include the lazy iterator “prints nothing” trap.</a:t>
            </a:r>
          </a:p>
        </p:txBody>
      </p:sp>
      <p:sp>
        <p:nvSpPr>
          <p:cNvPr id="20" name="Rounded Rectangle 19"/>
          <p:cNvSpPr/>
          <p:nvPr/>
        </p:nvSpPr>
        <p:spPr>
          <a:xfrm>
            <a:off x="4416552" y="3858768"/>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6552" y="3858768"/>
            <a:ext cx="54864" cy="1664208"/>
          </a:xfrm>
          <a:prstGeom prst="rect">
            <a:avLst/>
          </a:prstGeom>
          <a:solidFill>
            <a:srgbClr val="FF7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36008" y="4023359"/>
            <a:ext cx="3172968" cy="274320"/>
          </a:xfrm>
          <a:prstGeom prst="rect">
            <a:avLst/>
          </a:prstGeom>
          <a:noFill/>
        </p:spPr>
        <p:txBody>
          <a:bodyPr wrap="none" lIns="0" rIns="0" tIns="0" bIns="0" anchor="t">
            <a:spAutoFit/>
          </a:bodyPr>
          <a:lstStyle/>
          <a:p>
            <a:pPr algn="l"/>
            <a:r>
              <a:rPr sz="1180" b="1">
                <a:solidFill>
                  <a:srgbClr val="FF743E"/>
                </a:solidFill>
                <a:latin typeface="Aptos"/>
              </a:rPr>
              <a:t>Return anchor</a:t>
            </a:r>
          </a:p>
        </p:txBody>
      </p:sp>
      <p:sp>
        <p:nvSpPr>
          <p:cNvPr id="23" name="TextBox 22"/>
          <p:cNvSpPr txBox="1"/>
          <p:nvPr/>
        </p:nvSpPr>
        <p:spPr>
          <a:xfrm>
            <a:off x="4636008" y="4425696"/>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Return to Collections &amp; Iterators.</a:t>
            </a:r>
          </a:p>
          <a:p>
            <a:pPr>
              <a:spcAft>
                <a:spcPts val="100"/>
              </a:spcAft>
            </a:pPr>
            <a:r>
              <a:rPr sz="1220" b="0">
                <a:solidFill>
                  <a:srgbClr val="A8B3C4"/>
                </a:solidFill>
                <a:latin typeface="Aptos"/>
              </a:rPr>
              <a:t>Then treat iterators as intent + optimization, not magic.</a:t>
            </a:r>
          </a:p>
        </p:txBody>
      </p:sp>
      <p:sp>
        <p:nvSpPr>
          <p:cNvPr id="24" name="Rounded Rectangle 23"/>
          <p:cNvSpPr/>
          <p:nvPr/>
        </p:nvSpPr>
        <p:spPr>
          <a:xfrm>
            <a:off x="8366760" y="2011680"/>
            <a:ext cx="3127248" cy="3291840"/>
          </a:xfrm>
          <a:prstGeom prst="roundRect">
            <a:avLst/>
          </a:prstGeom>
          <a:solidFill>
            <a:srgbClr val="121B2B"/>
          </a:solidFill>
          <a:ln w="12700">
            <a:solidFill>
              <a:srgbClr val="2F3F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668512" y="2304288"/>
            <a:ext cx="1353312" cy="301752"/>
          </a:xfrm>
          <a:prstGeom prst="roundRect">
            <a:avLst/>
          </a:prstGeom>
          <a:solidFill>
            <a:srgbClr val="161F2E"/>
          </a:solidFill>
          <a:ln w="15240">
            <a:solidFill>
              <a:srgbClr val="FF743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743E"/>
                </a:solidFill>
                <a:latin typeface="Aptos"/>
              </a:rPr>
              <a:t>PERFORMANCE</a:t>
            </a:r>
          </a:p>
        </p:txBody>
      </p:sp>
      <p:sp>
        <p:nvSpPr>
          <p:cNvPr id="26" name="TextBox 25"/>
          <p:cNvSpPr txBox="1"/>
          <p:nvPr/>
        </p:nvSpPr>
        <p:spPr>
          <a:xfrm>
            <a:off x="8641080" y="2788920"/>
            <a:ext cx="2423160" cy="548640"/>
          </a:xfrm>
          <a:prstGeom prst="rect">
            <a:avLst/>
          </a:prstGeom>
          <a:noFill/>
        </p:spPr>
        <p:txBody>
          <a:bodyPr wrap="none" lIns="0" rIns="0" tIns="0" bIns="0" anchor="t">
            <a:spAutoFit/>
          </a:bodyPr>
          <a:lstStyle/>
          <a:p>
            <a:pPr algn="l"/>
            <a:r>
              <a:rPr sz="1300" b="1">
                <a:solidFill>
                  <a:srgbClr val="A8B3C4"/>
                </a:solidFill>
                <a:latin typeface="Aptos"/>
              </a:rPr>
              <a:t>Instructor move</a:t>
            </a:r>
          </a:p>
        </p:txBody>
      </p:sp>
      <p:sp>
        <p:nvSpPr>
          <p:cNvPr id="27" name="TextBox 26"/>
          <p:cNvSpPr txBox="1"/>
          <p:nvPr/>
        </p:nvSpPr>
        <p:spPr>
          <a:xfrm>
            <a:off x="8641080" y="3227832"/>
            <a:ext cx="2423160" cy="877824"/>
          </a:xfrm>
          <a:prstGeom prst="rect">
            <a:avLst/>
          </a:prstGeom>
          <a:noFill/>
        </p:spPr>
        <p:txBody>
          <a:bodyPr wrap="none" lIns="0" rIns="0" tIns="0" bIns="0" anchor="t">
            <a:spAutoFit/>
          </a:bodyPr>
          <a:lstStyle/>
          <a:p>
            <a:pPr algn="l"/>
            <a:r>
              <a:rPr sz="1600" b="0">
                <a:solidFill>
                  <a:srgbClr val="EFF3F9"/>
                </a:solidFill>
                <a:latin typeface="Aptos"/>
              </a:rPr>
              <a:t>Pause, choose the route, then return to the standard stack.</a:t>
            </a:r>
          </a:p>
        </p:txBody>
      </p:sp>
      <p:sp>
        <p:nvSpPr>
          <p:cNvPr id="28" name="TextBox 27"/>
          <p:cNvSpPr txBox="1"/>
          <p:nvPr/>
        </p:nvSpPr>
        <p:spPr>
          <a:xfrm>
            <a:off x="8641080" y="4315968"/>
            <a:ext cx="2423160" cy="310896"/>
          </a:xfrm>
          <a:prstGeom prst="rect">
            <a:avLst/>
          </a:prstGeom>
          <a:noFill/>
        </p:spPr>
        <p:txBody>
          <a:bodyPr wrap="none" lIns="0" rIns="0" tIns="0" bIns="0" anchor="t">
            <a:spAutoFit/>
          </a:bodyPr>
          <a:lstStyle/>
          <a:p>
            <a:pPr algn="l"/>
            <a:r>
              <a:rPr sz="1250" b="1">
                <a:solidFill>
                  <a:srgbClr val="A8B3C4"/>
                </a:solidFill>
                <a:latin typeface="Aptos"/>
              </a:rPr>
              <a:t>Suggested time</a:t>
            </a:r>
          </a:p>
        </p:txBody>
      </p:sp>
      <p:sp>
        <p:nvSpPr>
          <p:cNvPr id="29" name="TextBox 28"/>
          <p:cNvSpPr txBox="1"/>
          <p:nvPr/>
        </p:nvSpPr>
        <p:spPr>
          <a:xfrm>
            <a:off x="8641080" y="4617720"/>
            <a:ext cx="2423160" cy="402336"/>
          </a:xfrm>
          <a:prstGeom prst="rect">
            <a:avLst/>
          </a:prstGeom>
          <a:noFill/>
        </p:spPr>
        <p:txBody>
          <a:bodyPr wrap="none" lIns="0" rIns="0" tIns="0" bIns="0" anchor="t">
            <a:spAutoFit/>
          </a:bodyPr>
          <a:lstStyle/>
          <a:p>
            <a:pPr algn="l"/>
            <a:r>
              <a:rPr sz="1800" b="1">
                <a:solidFill>
                  <a:srgbClr val="FF743E"/>
                </a:solidFill>
                <a:latin typeface="Aptos"/>
              </a:rPr>
              <a:t>15–35 min</a:t>
            </a:r>
          </a:p>
        </p:txBody>
      </p:sp>
      <p:sp>
        <p:nvSpPr>
          <p:cNvPr id="30" name="TextBox 29"/>
          <p:cNvSpPr txBox="1"/>
          <p:nvPr/>
        </p:nvSpPr>
        <p:spPr>
          <a:xfrm>
            <a:off x="566928" y="6291072"/>
            <a:ext cx="5303520" cy="219456"/>
          </a:xfrm>
          <a:prstGeom prst="rect">
            <a:avLst/>
          </a:prstGeom>
          <a:noFill/>
        </p:spPr>
        <p:txBody>
          <a:bodyPr wrap="none" lIns="0" rIns="0" tIns="0" bIns="0" anchor="t">
            <a:spAutoFit/>
          </a:bodyPr>
          <a:lstStyle/>
          <a:p>
            <a:pPr algn="l"/>
            <a:r>
              <a:rPr sz="1050" b="0">
                <a:solidFill>
                  <a:srgbClr val="5E6E87"/>
                </a:solidFill>
                <a:latin typeface="Aptos"/>
              </a:rPr>
              <a:t>Rust for Experienced C++ Developers — navigation interleave</a:t>
            </a:r>
          </a:p>
        </p:txBody>
      </p:sp>
      <p:sp>
        <p:nvSpPr>
          <p:cNvPr id="31" name="TextBox 30"/>
          <p:cNvSpPr txBox="1"/>
          <p:nvPr/>
        </p:nvSpPr>
        <p:spPr>
          <a:xfrm>
            <a:off x="10040112" y="6272784"/>
            <a:ext cx="1463040" cy="256032"/>
          </a:xfrm>
          <a:prstGeom prst="rect">
            <a:avLst/>
          </a:prstGeom>
          <a:noFill/>
        </p:spPr>
        <p:txBody>
          <a:bodyPr wrap="none" lIns="0" rIns="0" tIns="0" bIns="0" anchor="t">
            <a:spAutoFit/>
          </a:bodyPr>
          <a:lstStyle/>
          <a:p>
            <a:pPr algn="r"/>
            <a:r>
              <a:rPr sz="1050" b="0">
                <a:solidFill>
                  <a:srgbClr val="5E6E87"/>
                </a:solidFill>
                <a:latin typeface="Aptos"/>
              </a:rPr>
              <a:t>jump-friendly</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C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46304"/>
          </a:xfrm>
          <a:prstGeom prst="rect">
            <a:avLst/>
          </a:prstGeom>
          <a:solidFill>
            <a:srgbClr val="FF4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92000" cy="54864"/>
          </a:xfrm>
          <a:prstGeom prst="rect">
            <a:avLst/>
          </a:prstGeom>
          <a:solidFill>
            <a:srgbClr val="141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4206240" cy="201168"/>
          </a:xfrm>
          <a:prstGeom prst="rect">
            <a:avLst/>
          </a:prstGeom>
          <a:noFill/>
        </p:spPr>
        <p:txBody>
          <a:bodyPr wrap="none" lIns="0" rIns="0" tIns="0" bIns="0" anchor="t">
            <a:spAutoFit/>
          </a:bodyPr>
          <a:lstStyle/>
          <a:p>
            <a:pPr algn="l"/>
            <a:r>
              <a:rPr sz="1250" b="1">
                <a:solidFill>
                  <a:srgbClr val="FF743E"/>
                </a:solidFill>
                <a:latin typeface="Aptos"/>
              </a:rPr>
              <a:t>SKIP / PARK / RETURN</a:t>
            </a:r>
          </a:p>
        </p:txBody>
      </p:sp>
      <p:sp>
        <p:nvSpPr>
          <p:cNvPr id="6" name="TextBox 5"/>
          <p:cNvSpPr txBox="1"/>
          <p:nvPr/>
        </p:nvSpPr>
        <p:spPr>
          <a:xfrm>
            <a:off x="566928" y="713232"/>
            <a:ext cx="7772400" cy="896112"/>
          </a:xfrm>
          <a:prstGeom prst="rect">
            <a:avLst/>
          </a:prstGeom>
          <a:noFill/>
        </p:spPr>
        <p:txBody>
          <a:bodyPr wrap="none" lIns="0" rIns="0" tIns="0" bIns="0" anchor="t">
            <a:spAutoFit/>
          </a:bodyPr>
          <a:lstStyle/>
          <a:p>
            <a:pPr algn="l"/>
            <a:r>
              <a:rPr sz="2900" b="1">
                <a:solidFill>
                  <a:srgbClr val="EFF3F9"/>
                </a:solidFill>
                <a:latin typeface="Aptos"/>
              </a:rPr>
              <a:t>Modules and visibility: useful, but not always Day-1 critical</a:t>
            </a:r>
          </a:p>
        </p:txBody>
      </p:sp>
      <p:sp>
        <p:nvSpPr>
          <p:cNvPr id="7" name="TextBox 6"/>
          <p:cNvSpPr txBox="1"/>
          <p:nvPr/>
        </p:nvSpPr>
        <p:spPr>
          <a:xfrm>
            <a:off x="585216" y="1591056"/>
            <a:ext cx="8321040" cy="384048"/>
          </a:xfrm>
          <a:prstGeom prst="rect">
            <a:avLst/>
          </a:prstGeom>
          <a:noFill/>
        </p:spPr>
        <p:txBody>
          <a:bodyPr wrap="none" lIns="0" rIns="0" tIns="0" bIns="0" anchor="t">
            <a:spAutoFit/>
          </a:bodyPr>
          <a:lstStyle/>
          <a:p>
            <a:pPr algn="l"/>
            <a:r>
              <a:rPr sz="1460" b="0">
                <a:solidFill>
                  <a:srgbClr val="A8B3C4"/>
                </a:solidFill>
                <a:latin typeface="Aptos"/>
              </a:rPr>
              <a:t>This section answers project-organization pain. Use it now only if the room is already thinking in crates.</a:t>
            </a:r>
          </a:p>
        </p:txBody>
      </p:sp>
      <p:sp>
        <p:nvSpPr>
          <p:cNvPr id="8" name="Rounded Rectangle 7"/>
          <p:cNvSpPr/>
          <p:nvPr/>
        </p:nvSpPr>
        <p:spPr>
          <a:xfrm>
            <a:off x="566928" y="1975104"/>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975104"/>
            <a:ext cx="54864" cy="1664208"/>
          </a:xfrm>
          <a:prstGeom prst="rect">
            <a:avLst/>
          </a:prstGeom>
          <a:solidFill>
            <a:srgbClr val="F7C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139696"/>
            <a:ext cx="3172968" cy="274320"/>
          </a:xfrm>
          <a:prstGeom prst="rect">
            <a:avLst/>
          </a:prstGeom>
          <a:noFill/>
        </p:spPr>
        <p:txBody>
          <a:bodyPr wrap="none" lIns="0" rIns="0" tIns="0" bIns="0" anchor="t">
            <a:spAutoFit/>
          </a:bodyPr>
          <a:lstStyle/>
          <a:p>
            <a:pPr algn="l"/>
            <a:r>
              <a:rPr sz="1180" b="1">
                <a:solidFill>
                  <a:srgbClr val="F7C564"/>
                </a:solidFill>
                <a:latin typeface="Aptos"/>
              </a:rPr>
              <a:t>Trigger</a:t>
            </a:r>
          </a:p>
        </p:txBody>
      </p:sp>
      <p:sp>
        <p:nvSpPr>
          <p:cNvPr id="11" name="TextBox 10"/>
          <p:cNvSpPr txBox="1"/>
          <p:nvPr/>
        </p:nvSpPr>
        <p:spPr>
          <a:xfrm>
            <a:off x="786384" y="2542032"/>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Students ask about headers, ODR, pImpl, crate privacy, or multi-crate layout.</a:t>
            </a:r>
          </a:p>
          <a:p>
            <a:pPr>
              <a:spcAft>
                <a:spcPts val="100"/>
              </a:spcAft>
            </a:pPr>
            <a:r>
              <a:rPr sz="1220" b="0">
                <a:solidFill>
                  <a:srgbClr val="A8B3C4"/>
                </a:solidFill>
                <a:latin typeface="Aptos"/>
              </a:rPr>
              <a:t>Otherwise, keep moving.</a:t>
            </a:r>
          </a:p>
        </p:txBody>
      </p:sp>
      <p:sp>
        <p:nvSpPr>
          <p:cNvPr id="12" name="Rounded Rectangle 11"/>
          <p:cNvSpPr/>
          <p:nvPr/>
        </p:nvSpPr>
        <p:spPr>
          <a:xfrm>
            <a:off x="4416552" y="1975104"/>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6552" y="1975104"/>
            <a:ext cx="54864" cy="1664208"/>
          </a:xfrm>
          <a:prstGeom prst="rect">
            <a:avLst/>
          </a:prstGeom>
          <a:solidFill>
            <a:srgbClr val="66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36008" y="2139696"/>
            <a:ext cx="3172968" cy="274320"/>
          </a:xfrm>
          <a:prstGeom prst="rect">
            <a:avLst/>
          </a:prstGeom>
          <a:noFill/>
        </p:spPr>
        <p:txBody>
          <a:bodyPr wrap="none" lIns="0" rIns="0" tIns="0" bIns="0" anchor="t">
            <a:spAutoFit/>
          </a:bodyPr>
          <a:lstStyle/>
          <a:p>
            <a:pPr algn="l"/>
            <a:r>
              <a:rPr sz="1180" b="1">
                <a:solidFill>
                  <a:srgbClr val="66A6FF"/>
                </a:solidFill>
                <a:latin typeface="Aptos"/>
              </a:rPr>
              <a:t>Pull in now</a:t>
            </a:r>
          </a:p>
        </p:txBody>
      </p:sp>
      <p:sp>
        <p:nvSpPr>
          <p:cNvPr id="15" name="TextBox 14"/>
          <p:cNvSpPr txBox="1"/>
          <p:nvPr/>
        </p:nvSpPr>
        <p:spPr>
          <a:xfrm>
            <a:off x="4636008" y="2542032"/>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No deep-dive deck required.</a:t>
            </a:r>
          </a:p>
          <a:p>
            <a:pPr>
              <a:spcAft>
                <a:spcPts val="100"/>
              </a:spcAft>
            </a:pPr>
            <a:r>
              <a:rPr sz="1220" b="0">
                <a:solidFill>
                  <a:srgbClr val="A8B3C4"/>
                </a:solidFill>
                <a:latin typeface="Aptos"/>
              </a:rPr>
              <a:t>Maybe park as Day 2 setup: crates, workspaces, publishing.</a:t>
            </a:r>
          </a:p>
        </p:txBody>
      </p:sp>
      <p:sp>
        <p:nvSpPr>
          <p:cNvPr id="16" name="Rounded Rectangle 15"/>
          <p:cNvSpPr/>
          <p:nvPr/>
        </p:nvSpPr>
        <p:spPr>
          <a:xfrm>
            <a:off x="566928" y="3858768"/>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3858768"/>
            <a:ext cx="54864" cy="1664208"/>
          </a:xfrm>
          <a:prstGeom prst="rect">
            <a:avLst/>
          </a:prstGeom>
          <a:solidFill>
            <a:srgbClr val="4E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023359"/>
            <a:ext cx="3172968" cy="274320"/>
          </a:xfrm>
          <a:prstGeom prst="rect">
            <a:avLst/>
          </a:prstGeom>
          <a:noFill/>
        </p:spPr>
        <p:txBody>
          <a:bodyPr wrap="none" lIns="0" rIns="0" tIns="0" bIns="0" anchor="t">
            <a:spAutoFit/>
          </a:bodyPr>
          <a:lstStyle/>
          <a:p>
            <a:pPr algn="l"/>
            <a:r>
              <a:rPr sz="1180" b="1">
                <a:solidFill>
                  <a:srgbClr val="4ECCA3"/>
                </a:solidFill>
                <a:latin typeface="Aptos"/>
              </a:rPr>
              <a:t>Exercise / check</a:t>
            </a:r>
          </a:p>
        </p:txBody>
      </p:sp>
      <p:sp>
        <p:nvSpPr>
          <p:cNvPr id="19" name="TextBox 18"/>
          <p:cNvSpPr txBox="1"/>
          <p:nvPr/>
        </p:nvSpPr>
        <p:spPr>
          <a:xfrm>
            <a:off x="786384" y="4425696"/>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No Fix-It required unless students struggle with pub/mod/use.</a:t>
            </a:r>
          </a:p>
          <a:p>
            <a:pPr>
              <a:spcAft>
                <a:spcPts val="100"/>
              </a:spcAft>
            </a:pPr>
            <a:r>
              <a:rPr sz="1220" b="0">
                <a:solidFill>
                  <a:srgbClr val="A8B3C4"/>
                </a:solidFill>
                <a:latin typeface="Aptos"/>
              </a:rPr>
              <a:t>A tiny cargo demo is enough.</a:t>
            </a:r>
          </a:p>
        </p:txBody>
      </p:sp>
      <p:sp>
        <p:nvSpPr>
          <p:cNvPr id="20" name="Rounded Rectangle 19"/>
          <p:cNvSpPr/>
          <p:nvPr/>
        </p:nvSpPr>
        <p:spPr>
          <a:xfrm>
            <a:off x="4416552" y="3858768"/>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6552" y="3858768"/>
            <a:ext cx="54864" cy="1664208"/>
          </a:xfrm>
          <a:prstGeom prst="rect">
            <a:avLst/>
          </a:prstGeom>
          <a:solidFill>
            <a:srgbClr val="FF7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36008" y="4023359"/>
            <a:ext cx="3172968" cy="274320"/>
          </a:xfrm>
          <a:prstGeom prst="rect">
            <a:avLst/>
          </a:prstGeom>
          <a:noFill/>
        </p:spPr>
        <p:txBody>
          <a:bodyPr wrap="none" lIns="0" rIns="0" tIns="0" bIns="0" anchor="t">
            <a:spAutoFit/>
          </a:bodyPr>
          <a:lstStyle/>
          <a:p>
            <a:pPr algn="l"/>
            <a:r>
              <a:rPr sz="1180" b="1">
                <a:solidFill>
                  <a:srgbClr val="FF743E"/>
                </a:solidFill>
                <a:latin typeface="Aptos"/>
              </a:rPr>
              <a:t>Return anchor</a:t>
            </a:r>
          </a:p>
        </p:txBody>
      </p:sp>
      <p:sp>
        <p:nvSpPr>
          <p:cNvPr id="23" name="TextBox 22"/>
          <p:cNvSpPr txBox="1"/>
          <p:nvPr/>
        </p:nvSpPr>
        <p:spPr>
          <a:xfrm>
            <a:off x="4636008" y="4425696"/>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Return to Concurrency.</a:t>
            </a:r>
          </a:p>
          <a:p>
            <a:pPr>
              <a:spcAft>
                <a:spcPts val="100"/>
              </a:spcAft>
            </a:pPr>
            <a:r>
              <a:rPr sz="1220" b="0">
                <a:solidFill>
                  <a:srgbClr val="A8B3C4"/>
                </a:solidFill>
                <a:latin typeface="Aptos"/>
              </a:rPr>
              <a:t>This is a good place to recover time.</a:t>
            </a:r>
          </a:p>
        </p:txBody>
      </p:sp>
      <p:sp>
        <p:nvSpPr>
          <p:cNvPr id="24" name="Rounded Rectangle 23"/>
          <p:cNvSpPr/>
          <p:nvPr/>
        </p:nvSpPr>
        <p:spPr>
          <a:xfrm>
            <a:off x="8366760" y="2011680"/>
            <a:ext cx="3127248" cy="3291840"/>
          </a:xfrm>
          <a:prstGeom prst="roundRect">
            <a:avLst/>
          </a:prstGeom>
          <a:solidFill>
            <a:srgbClr val="121B2B"/>
          </a:solidFill>
          <a:ln w="12700">
            <a:solidFill>
              <a:srgbClr val="2F3F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668512" y="2304288"/>
            <a:ext cx="1353312" cy="301752"/>
          </a:xfrm>
          <a:prstGeom prst="roundRect">
            <a:avLst/>
          </a:prstGeom>
          <a:solidFill>
            <a:srgbClr val="161F2E"/>
          </a:solidFill>
          <a:ln w="15240">
            <a:solidFill>
              <a:srgbClr val="FF743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743E"/>
                </a:solidFill>
                <a:latin typeface="Aptos"/>
              </a:rPr>
              <a:t>TIME VALVE</a:t>
            </a:r>
          </a:p>
        </p:txBody>
      </p:sp>
      <p:sp>
        <p:nvSpPr>
          <p:cNvPr id="26" name="TextBox 25"/>
          <p:cNvSpPr txBox="1"/>
          <p:nvPr/>
        </p:nvSpPr>
        <p:spPr>
          <a:xfrm>
            <a:off x="8641080" y="2788920"/>
            <a:ext cx="2423160" cy="548640"/>
          </a:xfrm>
          <a:prstGeom prst="rect">
            <a:avLst/>
          </a:prstGeom>
          <a:noFill/>
        </p:spPr>
        <p:txBody>
          <a:bodyPr wrap="none" lIns="0" rIns="0" tIns="0" bIns="0" anchor="t">
            <a:spAutoFit/>
          </a:bodyPr>
          <a:lstStyle/>
          <a:p>
            <a:pPr algn="l"/>
            <a:r>
              <a:rPr sz="1300" b="1">
                <a:solidFill>
                  <a:srgbClr val="A8B3C4"/>
                </a:solidFill>
                <a:latin typeface="Aptos"/>
              </a:rPr>
              <a:t>Instructor move</a:t>
            </a:r>
          </a:p>
        </p:txBody>
      </p:sp>
      <p:sp>
        <p:nvSpPr>
          <p:cNvPr id="27" name="TextBox 26"/>
          <p:cNvSpPr txBox="1"/>
          <p:nvPr/>
        </p:nvSpPr>
        <p:spPr>
          <a:xfrm>
            <a:off x="8641080" y="3227832"/>
            <a:ext cx="2423160" cy="877824"/>
          </a:xfrm>
          <a:prstGeom prst="rect">
            <a:avLst/>
          </a:prstGeom>
          <a:noFill/>
        </p:spPr>
        <p:txBody>
          <a:bodyPr wrap="none" lIns="0" rIns="0" tIns="0" bIns="0" anchor="t">
            <a:spAutoFit/>
          </a:bodyPr>
          <a:lstStyle/>
          <a:p>
            <a:pPr algn="l"/>
            <a:r>
              <a:rPr sz="1600" b="0">
                <a:solidFill>
                  <a:srgbClr val="EFF3F9"/>
                </a:solidFill>
                <a:latin typeface="Aptos"/>
              </a:rPr>
              <a:t>Pause, choose the route, then return to the standard stack.</a:t>
            </a:r>
          </a:p>
        </p:txBody>
      </p:sp>
      <p:sp>
        <p:nvSpPr>
          <p:cNvPr id="28" name="TextBox 27"/>
          <p:cNvSpPr txBox="1"/>
          <p:nvPr/>
        </p:nvSpPr>
        <p:spPr>
          <a:xfrm>
            <a:off x="8641080" y="4315968"/>
            <a:ext cx="2423160" cy="310896"/>
          </a:xfrm>
          <a:prstGeom prst="rect">
            <a:avLst/>
          </a:prstGeom>
          <a:noFill/>
        </p:spPr>
        <p:txBody>
          <a:bodyPr wrap="none" lIns="0" rIns="0" tIns="0" bIns="0" anchor="t">
            <a:spAutoFit/>
          </a:bodyPr>
          <a:lstStyle/>
          <a:p>
            <a:pPr algn="l"/>
            <a:r>
              <a:rPr sz="1250" b="1">
                <a:solidFill>
                  <a:srgbClr val="A8B3C4"/>
                </a:solidFill>
                <a:latin typeface="Aptos"/>
              </a:rPr>
              <a:t>Suggested time</a:t>
            </a:r>
          </a:p>
        </p:txBody>
      </p:sp>
      <p:sp>
        <p:nvSpPr>
          <p:cNvPr id="29" name="TextBox 28"/>
          <p:cNvSpPr txBox="1"/>
          <p:nvPr/>
        </p:nvSpPr>
        <p:spPr>
          <a:xfrm>
            <a:off x="8641080" y="4617720"/>
            <a:ext cx="2423160" cy="402336"/>
          </a:xfrm>
          <a:prstGeom prst="rect">
            <a:avLst/>
          </a:prstGeom>
          <a:noFill/>
        </p:spPr>
        <p:txBody>
          <a:bodyPr wrap="none" lIns="0" rIns="0" tIns="0" bIns="0" anchor="t">
            <a:spAutoFit/>
          </a:bodyPr>
          <a:lstStyle/>
          <a:p>
            <a:pPr algn="l"/>
            <a:r>
              <a:rPr sz="1800" b="1">
                <a:solidFill>
                  <a:srgbClr val="FF743E"/>
                </a:solidFill>
                <a:latin typeface="Aptos"/>
              </a:rPr>
              <a:t>5–15 min</a:t>
            </a:r>
          </a:p>
        </p:txBody>
      </p:sp>
      <p:sp>
        <p:nvSpPr>
          <p:cNvPr id="30" name="TextBox 29"/>
          <p:cNvSpPr txBox="1"/>
          <p:nvPr/>
        </p:nvSpPr>
        <p:spPr>
          <a:xfrm>
            <a:off x="566928" y="6291072"/>
            <a:ext cx="5303520" cy="219456"/>
          </a:xfrm>
          <a:prstGeom prst="rect">
            <a:avLst/>
          </a:prstGeom>
          <a:noFill/>
        </p:spPr>
        <p:txBody>
          <a:bodyPr wrap="none" lIns="0" rIns="0" tIns="0" bIns="0" anchor="t">
            <a:spAutoFit/>
          </a:bodyPr>
          <a:lstStyle/>
          <a:p>
            <a:pPr algn="l"/>
            <a:r>
              <a:rPr sz="1050" b="0">
                <a:solidFill>
                  <a:srgbClr val="5E6E87"/>
                </a:solidFill>
                <a:latin typeface="Aptos"/>
              </a:rPr>
              <a:t>Rust for Experienced C++ Developers — navigation interleave</a:t>
            </a:r>
          </a:p>
        </p:txBody>
      </p:sp>
      <p:sp>
        <p:nvSpPr>
          <p:cNvPr id="31" name="TextBox 30"/>
          <p:cNvSpPr txBox="1"/>
          <p:nvPr/>
        </p:nvSpPr>
        <p:spPr>
          <a:xfrm>
            <a:off x="10040112" y="6272784"/>
            <a:ext cx="1463040" cy="256032"/>
          </a:xfrm>
          <a:prstGeom prst="rect">
            <a:avLst/>
          </a:prstGeom>
          <a:noFill/>
        </p:spPr>
        <p:txBody>
          <a:bodyPr wrap="none" lIns="0" rIns="0" tIns="0" bIns="0" anchor="t">
            <a:spAutoFit/>
          </a:bodyPr>
          <a:lstStyle/>
          <a:p>
            <a:pPr algn="r"/>
            <a:r>
              <a:rPr sz="1050" b="0">
                <a:solidFill>
                  <a:srgbClr val="5E6E87"/>
                </a:solidFill>
                <a:latin typeface="Aptos"/>
              </a:rPr>
              <a:t>jump-friendly</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C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46304"/>
          </a:xfrm>
          <a:prstGeom prst="rect">
            <a:avLst/>
          </a:prstGeom>
          <a:solidFill>
            <a:srgbClr val="FF4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92000" cy="54864"/>
          </a:xfrm>
          <a:prstGeom prst="rect">
            <a:avLst/>
          </a:prstGeom>
          <a:solidFill>
            <a:srgbClr val="141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4206240" cy="201168"/>
          </a:xfrm>
          <a:prstGeom prst="rect">
            <a:avLst/>
          </a:prstGeom>
          <a:noFill/>
        </p:spPr>
        <p:txBody>
          <a:bodyPr wrap="none" lIns="0" rIns="0" tIns="0" bIns="0" anchor="t">
            <a:spAutoFit/>
          </a:bodyPr>
          <a:lstStyle/>
          <a:p>
            <a:pPr algn="l"/>
            <a:r>
              <a:rPr sz="1250" b="1">
                <a:solidFill>
                  <a:srgbClr val="FF743E"/>
                </a:solidFill>
                <a:latin typeface="Aptos"/>
              </a:rPr>
              <a:t>DEEP DIVE + FIX-IT</a:t>
            </a:r>
          </a:p>
        </p:txBody>
      </p:sp>
      <p:sp>
        <p:nvSpPr>
          <p:cNvPr id="6" name="TextBox 5"/>
          <p:cNvSpPr txBox="1"/>
          <p:nvPr/>
        </p:nvSpPr>
        <p:spPr>
          <a:xfrm>
            <a:off x="566928" y="713232"/>
            <a:ext cx="7772400" cy="896112"/>
          </a:xfrm>
          <a:prstGeom prst="rect">
            <a:avLst/>
          </a:prstGeom>
          <a:noFill/>
        </p:spPr>
        <p:txBody>
          <a:bodyPr wrap="none" lIns="0" rIns="0" tIns="0" bIns="0" anchor="t">
            <a:spAutoFit/>
          </a:bodyPr>
          <a:lstStyle/>
          <a:p>
            <a:pPr algn="l"/>
            <a:r>
              <a:rPr sz="2900" b="1">
                <a:solidFill>
                  <a:srgbClr val="EFF3F9"/>
                </a:solidFill>
                <a:latin typeface="Aptos"/>
              </a:rPr>
              <a:t>Mutation and concurrency: ownership with two CPUs</a:t>
            </a:r>
          </a:p>
        </p:txBody>
      </p:sp>
      <p:sp>
        <p:nvSpPr>
          <p:cNvPr id="7" name="TextBox 6"/>
          <p:cNvSpPr txBox="1"/>
          <p:nvPr/>
        </p:nvSpPr>
        <p:spPr>
          <a:xfrm>
            <a:off x="585216" y="1591056"/>
            <a:ext cx="8321040" cy="384048"/>
          </a:xfrm>
          <a:prstGeom prst="rect">
            <a:avLst/>
          </a:prstGeom>
          <a:noFill/>
        </p:spPr>
        <p:txBody>
          <a:bodyPr wrap="none" lIns="0" rIns="0" tIns="0" bIns="0" anchor="t">
            <a:spAutoFit/>
          </a:bodyPr>
          <a:lstStyle/>
          <a:p>
            <a:pPr algn="l"/>
            <a:r>
              <a:rPr sz="1460" b="0">
                <a:solidFill>
                  <a:srgbClr val="A8B3C4"/>
                </a:solidFill>
                <a:latin typeface="Aptos"/>
              </a:rPr>
              <a:t>Shared mutable state is the ownership problem again, but with scheduling, synchronization, and memory ordering.</a:t>
            </a:r>
          </a:p>
        </p:txBody>
      </p:sp>
      <p:sp>
        <p:nvSpPr>
          <p:cNvPr id="8" name="Rounded Rectangle 7"/>
          <p:cNvSpPr/>
          <p:nvPr/>
        </p:nvSpPr>
        <p:spPr>
          <a:xfrm>
            <a:off x="566928" y="1975104"/>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975104"/>
            <a:ext cx="54864" cy="1664208"/>
          </a:xfrm>
          <a:prstGeom prst="rect">
            <a:avLst/>
          </a:prstGeom>
          <a:solidFill>
            <a:srgbClr val="F7C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139696"/>
            <a:ext cx="3172968" cy="274320"/>
          </a:xfrm>
          <a:prstGeom prst="rect">
            <a:avLst/>
          </a:prstGeom>
          <a:noFill/>
        </p:spPr>
        <p:txBody>
          <a:bodyPr wrap="none" lIns="0" rIns="0" tIns="0" bIns="0" anchor="t">
            <a:spAutoFit/>
          </a:bodyPr>
          <a:lstStyle/>
          <a:p>
            <a:pPr algn="l"/>
            <a:r>
              <a:rPr sz="1180" b="1">
                <a:solidFill>
                  <a:srgbClr val="F7C564"/>
                </a:solidFill>
                <a:latin typeface="Aptos"/>
              </a:rPr>
              <a:t>Trigger</a:t>
            </a:r>
          </a:p>
        </p:txBody>
      </p:sp>
      <p:sp>
        <p:nvSpPr>
          <p:cNvPr id="11" name="TextBox 10"/>
          <p:cNvSpPr txBox="1"/>
          <p:nvPr/>
        </p:nvSpPr>
        <p:spPr>
          <a:xfrm>
            <a:off x="786384" y="2542032"/>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Students assume Arc/shared_ptr makes data thread-safe.</a:t>
            </a:r>
          </a:p>
          <a:p>
            <a:pPr>
              <a:spcAft>
                <a:spcPts val="100"/>
              </a:spcAft>
            </a:pPr>
            <a:r>
              <a:rPr sz="1220" b="0">
                <a:solidFill>
                  <a:srgbClr val="A8B3C4"/>
                </a:solidFill>
                <a:latin typeface="Aptos"/>
              </a:rPr>
              <a:t>They ask why Mutex&lt;T&gt; owns the protected data.</a:t>
            </a:r>
          </a:p>
        </p:txBody>
      </p:sp>
      <p:sp>
        <p:nvSpPr>
          <p:cNvPr id="12" name="Rounded Rectangle 11"/>
          <p:cNvSpPr/>
          <p:nvPr/>
        </p:nvSpPr>
        <p:spPr>
          <a:xfrm>
            <a:off x="4416552" y="1975104"/>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6552" y="1975104"/>
            <a:ext cx="54864" cy="1664208"/>
          </a:xfrm>
          <a:prstGeom prst="rect">
            <a:avLst/>
          </a:prstGeom>
          <a:solidFill>
            <a:srgbClr val="66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36008" y="2139696"/>
            <a:ext cx="3172968" cy="274320"/>
          </a:xfrm>
          <a:prstGeom prst="rect">
            <a:avLst/>
          </a:prstGeom>
          <a:noFill/>
        </p:spPr>
        <p:txBody>
          <a:bodyPr wrap="none" lIns="0" rIns="0" tIns="0" bIns="0" anchor="t">
            <a:spAutoFit/>
          </a:bodyPr>
          <a:lstStyle/>
          <a:p>
            <a:pPr algn="l"/>
            <a:r>
              <a:rPr sz="1180" b="1">
                <a:solidFill>
                  <a:srgbClr val="66A6FF"/>
                </a:solidFill>
                <a:latin typeface="Aptos"/>
              </a:rPr>
              <a:t>Pull in now</a:t>
            </a:r>
          </a:p>
        </p:txBody>
      </p:sp>
      <p:sp>
        <p:nvSpPr>
          <p:cNvPr id="15" name="TextBox 14"/>
          <p:cNvSpPr txBox="1"/>
          <p:nvPr/>
        </p:nvSpPr>
        <p:spPr>
          <a:xfrm>
            <a:off x="4636008" y="2542032"/>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Rust_CPP_Mutation_Concurrency_Addendum.pptx</a:t>
            </a:r>
          </a:p>
          <a:p>
            <a:pPr>
              <a:spcAft>
                <a:spcPts val="100"/>
              </a:spcAft>
            </a:pPr>
            <a:r>
              <a:rPr sz="1220" b="0">
                <a:solidFill>
                  <a:srgbClr val="A8B3C4"/>
                </a:solidFill>
                <a:latin typeface="Aptos"/>
              </a:rPr>
              <a:t>Focus on shared XOR mutable, Mutex&lt;T&gt;, Send, Sync, Arc, channels.</a:t>
            </a:r>
          </a:p>
        </p:txBody>
      </p:sp>
      <p:sp>
        <p:nvSpPr>
          <p:cNvPr id="16" name="Rounded Rectangle 15"/>
          <p:cNvSpPr/>
          <p:nvPr/>
        </p:nvSpPr>
        <p:spPr>
          <a:xfrm>
            <a:off x="566928" y="3858768"/>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3858768"/>
            <a:ext cx="54864" cy="1664208"/>
          </a:xfrm>
          <a:prstGeom prst="rect">
            <a:avLst/>
          </a:prstGeom>
          <a:solidFill>
            <a:srgbClr val="4E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023359"/>
            <a:ext cx="3172968" cy="274320"/>
          </a:xfrm>
          <a:prstGeom prst="rect">
            <a:avLst/>
          </a:prstGeom>
          <a:noFill/>
        </p:spPr>
        <p:txBody>
          <a:bodyPr wrap="none" lIns="0" rIns="0" tIns="0" bIns="0" anchor="t">
            <a:spAutoFit/>
          </a:bodyPr>
          <a:lstStyle/>
          <a:p>
            <a:pPr algn="l"/>
            <a:r>
              <a:rPr sz="1180" b="1">
                <a:solidFill>
                  <a:srgbClr val="4ECCA3"/>
                </a:solidFill>
                <a:latin typeface="Aptos"/>
              </a:rPr>
              <a:t>Exercise / check</a:t>
            </a:r>
          </a:p>
        </p:txBody>
      </p:sp>
      <p:sp>
        <p:nvSpPr>
          <p:cNvPr id="19" name="TextBox 18"/>
          <p:cNvSpPr txBox="1"/>
          <p:nvPr/>
        </p:nvSpPr>
        <p:spPr>
          <a:xfrm>
            <a:off x="786384" y="4425696"/>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Do Fix-It 09: Smart Pointers and Interior Mutability.</a:t>
            </a:r>
          </a:p>
          <a:p>
            <a:pPr>
              <a:spcAft>
                <a:spcPts val="100"/>
              </a:spcAft>
            </a:pPr>
            <a:r>
              <a:rPr sz="1220" b="0">
                <a:solidFill>
                  <a:srgbClr val="A8B3C4"/>
                </a:solidFill>
                <a:latin typeface="Aptos"/>
              </a:rPr>
              <a:t>Then Fix-It 10: Threads, Channels, and Synchronization.</a:t>
            </a:r>
          </a:p>
        </p:txBody>
      </p:sp>
      <p:sp>
        <p:nvSpPr>
          <p:cNvPr id="20" name="Rounded Rectangle 19"/>
          <p:cNvSpPr/>
          <p:nvPr/>
        </p:nvSpPr>
        <p:spPr>
          <a:xfrm>
            <a:off x="4416552" y="3858768"/>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6552" y="3858768"/>
            <a:ext cx="54864" cy="1664208"/>
          </a:xfrm>
          <a:prstGeom prst="rect">
            <a:avLst/>
          </a:prstGeom>
          <a:solidFill>
            <a:srgbClr val="FF7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36008" y="4023359"/>
            <a:ext cx="3172968" cy="274320"/>
          </a:xfrm>
          <a:prstGeom prst="rect">
            <a:avLst/>
          </a:prstGeom>
          <a:noFill/>
        </p:spPr>
        <p:txBody>
          <a:bodyPr wrap="none" lIns="0" rIns="0" tIns="0" bIns="0" anchor="t">
            <a:spAutoFit/>
          </a:bodyPr>
          <a:lstStyle/>
          <a:p>
            <a:pPr algn="l"/>
            <a:r>
              <a:rPr sz="1180" b="1">
                <a:solidFill>
                  <a:srgbClr val="FF743E"/>
                </a:solidFill>
                <a:latin typeface="Aptos"/>
              </a:rPr>
              <a:t>Return anchor</a:t>
            </a:r>
          </a:p>
        </p:txBody>
      </p:sp>
      <p:sp>
        <p:nvSpPr>
          <p:cNvPr id="23" name="TextBox 22"/>
          <p:cNvSpPr txBox="1"/>
          <p:nvPr/>
        </p:nvSpPr>
        <p:spPr>
          <a:xfrm>
            <a:off x="4636008" y="4425696"/>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Return to Concurrency: Fearless by Construction.</a:t>
            </a:r>
          </a:p>
          <a:p>
            <a:pPr>
              <a:spcAft>
                <a:spcPts val="100"/>
              </a:spcAft>
            </a:pPr>
            <a:r>
              <a:rPr sz="1220" b="0">
                <a:solidFill>
                  <a:srgbClr val="A8B3C4"/>
                </a:solidFill>
                <a:latin typeface="Aptos"/>
              </a:rPr>
              <a:t>Use C++ examples to keep it grounded.</a:t>
            </a:r>
          </a:p>
        </p:txBody>
      </p:sp>
      <p:sp>
        <p:nvSpPr>
          <p:cNvPr id="24" name="Rounded Rectangle 23"/>
          <p:cNvSpPr/>
          <p:nvPr/>
        </p:nvSpPr>
        <p:spPr>
          <a:xfrm>
            <a:off x="8366760" y="2011680"/>
            <a:ext cx="3127248" cy="3291840"/>
          </a:xfrm>
          <a:prstGeom prst="roundRect">
            <a:avLst/>
          </a:prstGeom>
          <a:solidFill>
            <a:srgbClr val="121B2B"/>
          </a:solidFill>
          <a:ln w="12700">
            <a:solidFill>
              <a:srgbClr val="2F3F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668512" y="2304288"/>
            <a:ext cx="1353312" cy="301752"/>
          </a:xfrm>
          <a:prstGeom prst="roundRect">
            <a:avLst/>
          </a:prstGeom>
          <a:solidFill>
            <a:srgbClr val="161F2E"/>
          </a:solidFill>
          <a:ln w="15240">
            <a:solidFill>
              <a:srgbClr val="FF743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743E"/>
                </a:solidFill>
                <a:latin typeface="Aptos"/>
              </a:rPr>
              <a:t>CORE STACK</a:t>
            </a:r>
          </a:p>
        </p:txBody>
      </p:sp>
      <p:sp>
        <p:nvSpPr>
          <p:cNvPr id="26" name="TextBox 25"/>
          <p:cNvSpPr txBox="1"/>
          <p:nvPr/>
        </p:nvSpPr>
        <p:spPr>
          <a:xfrm>
            <a:off x="8641080" y="2788920"/>
            <a:ext cx="2423160" cy="548640"/>
          </a:xfrm>
          <a:prstGeom prst="rect">
            <a:avLst/>
          </a:prstGeom>
          <a:noFill/>
        </p:spPr>
        <p:txBody>
          <a:bodyPr wrap="none" lIns="0" rIns="0" tIns="0" bIns="0" anchor="t">
            <a:spAutoFit/>
          </a:bodyPr>
          <a:lstStyle/>
          <a:p>
            <a:pPr algn="l"/>
            <a:r>
              <a:rPr sz="1300" b="1">
                <a:solidFill>
                  <a:srgbClr val="A8B3C4"/>
                </a:solidFill>
                <a:latin typeface="Aptos"/>
              </a:rPr>
              <a:t>Instructor move</a:t>
            </a:r>
          </a:p>
        </p:txBody>
      </p:sp>
      <p:sp>
        <p:nvSpPr>
          <p:cNvPr id="27" name="TextBox 26"/>
          <p:cNvSpPr txBox="1"/>
          <p:nvPr/>
        </p:nvSpPr>
        <p:spPr>
          <a:xfrm>
            <a:off x="8641080" y="3227832"/>
            <a:ext cx="2423160" cy="877824"/>
          </a:xfrm>
          <a:prstGeom prst="rect">
            <a:avLst/>
          </a:prstGeom>
          <a:noFill/>
        </p:spPr>
        <p:txBody>
          <a:bodyPr wrap="none" lIns="0" rIns="0" tIns="0" bIns="0" anchor="t">
            <a:spAutoFit/>
          </a:bodyPr>
          <a:lstStyle/>
          <a:p>
            <a:pPr algn="l"/>
            <a:r>
              <a:rPr sz="1600" b="0">
                <a:solidFill>
                  <a:srgbClr val="EFF3F9"/>
                </a:solidFill>
                <a:latin typeface="Aptos"/>
              </a:rPr>
              <a:t>Pause, choose the route, then return to the standard stack.</a:t>
            </a:r>
          </a:p>
        </p:txBody>
      </p:sp>
      <p:sp>
        <p:nvSpPr>
          <p:cNvPr id="28" name="TextBox 27"/>
          <p:cNvSpPr txBox="1"/>
          <p:nvPr/>
        </p:nvSpPr>
        <p:spPr>
          <a:xfrm>
            <a:off x="8641080" y="4315968"/>
            <a:ext cx="2423160" cy="310896"/>
          </a:xfrm>
          <a:prstGeom prst="rect">
            <a:avLst/>
          </a:prstGeom>
          <a:noFill/>
        </p:spPr>
        <p:txBody>
          <a:bodyPr wrap="none" lIns="0" rIns="0" tIns="0" bIns="0" anchor="t">
            <a:spAutoFit/>
          </a:bodyPr>
          <a:lstStyle/>
          <a:p>
            <a:pPr algn="l"/>
            <a:r>
              <a:rPr sz="1250" b="1">
                <a:solidFill>
                  <a:srgbClr val="A8B3C4"/>
                </a:solidFill>
                <a:latin typeface="Aptos"/>
              </a:rPr>
              <a:t>Suggested time</a:t>
            </a:r>
          </a:p>
        </p:txBody>
      </p:sp>
      <p:sp>
        <p:nvSpPr>
          <p:cNvPr id="29" name="TextBox 28"/>
          <p:cNvSpPr txBox="1"/>
          <p:nvPr/>
        </p:nvSpPr>
        <p:spPr>
          <a:xfrm>
            <a:off x="8641080" y="4617720"/>
            <a:ext cx="2423160" cy="402336"/>
          </a:xfrm>
          <a:prstGeom prst="rect">
            <a:avLst/>
          </a:prstGeom>
          <a:noFill/>
        </p:spPr>
        <p:txBody>
          <a:bodyPr wrap="none" lIns="0" rIns="0" tIns="0" bIns="0" anchor="t">
            <a:spAutoFit/>
          </a:bodyPr>
          <a:lstStyle/>
          <a:p>
            <a:pPr algn="l"/>
            <a:r>
              <a:rPr sz="1800" b="1">
                <a:solidFill>
                  <a:srgbClr val="FF743E"/>
                </a:solidFill>
                <a:latin typeface="Aptos"/>
              </a:rPr>
              <a:t>30–70 min</a:t>
            </a:r>
          </a:p>
        </p:txBody>
      </p:sp>
      <p:sp>
        <p:nvSpPr>
          <p:cNvPr id="30" name="TextBox 29"/>
          <p:cNvSpPr txBox="1"/>
          <p:nvPr/>
        </p:nvSpPr>
        <p:spPr>
          <a:xfrm>
            <a:off x="566928" y="6291072"/>
            <a:ext cx="5303520" cy="219456"/>
          </a:xfrm>
          <a:prstGeom prst="rect">
            <a:avLst/>
          </a:prstGeom>
          <a:noFill/>
        </p:spPr>
        <p:txBody>
          <a:bodyPr wrap="none" lIns="0" rIns="0" tIns="0" bIns="0" anchor="t">
            <a:spAutoFit/>
          </a:bodyPr>
          <a:lstStyle/>
          <a:p>
            <a:pPr algn="l"/>
            <a:r>
              <a:rPr sz="1050" b="0">
                <a:solidFill>
                  <a:srgbClr val="5E6E87"/>
                </a:solidFill>
                <a:latin typeface="Aptos"/>
              </a:rPr>
              <a:t>Rust for Experienced C++ Developers — navigation interleave</a:t>
            </a:r>
          </a:p>
        </p:txBody>
      </p:sp>
      <p:sp>
        <p:nvSpPr>
          <p:cNvPr id="31" name="TextBox 30"/>
          <p:cNvSpPr txBox="1"/>
          <p:nvPr/>
        </p:nvSpPr>
        <p:spPr>
          <a:xfrm>
            <a:off x="10040112" y="6272784"/>
            <a:ext cx="1463040" cy="256032"/>
          </a:xfrm>
          <a:prstGeom prst="rect">
            <a:avLst/>
          </a:prstGeom>
          <a:noFill/>
        </p:spPr>
        <p:txBody>
          <a:bodyPr wrap="none" lIns="0" rIns="0" tIns="0" bIns="0" anchor="t">
            <a:spAutoFit/>
          </a:bodyPr>
          <a:lstStyle/>
          <a:p>
            <a:pPr algn="r"/>
            <a:r>
              <a:rPr sz="1050" b="0">
                <a:solidFill>
                  <a:srgbClr val="5E6E87"/>
                </a:solidFill>
                <a:latin typeface="Aptos"/>
              </a:rPr>
              <a:t>jump-friendly</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C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46304"/>
          </a:xfrm>
          <a:prstGeom prst="rect">
            <a:avLst/>
          </a:prstGeom>
          <a:solidFill>
            <a:srgbClr val="FF4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92000" cy="54864"/>
          </a:xfrm>
          <a:prstGeom prst="rect">
            <a:avLst/>
          </a:prstGeom>
          <a:solidFill>
            <a:srgbClr val="141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4206240" cy="201168"/>
          </a:xfrm>
          <a:prstGeom prst="rect">
            <a:avLst/>
          </a:prstGeom>
          <a:noFill/>
        </p:spPr>
        <p:txBody>
          <a:bodyPr wrap="none" lIns="0" rIns="0" tIns="0" bIns="0" anchor="t">
            <a:spAutoFit/>
          </a:bodyPr>
          <a:lstStyle/>
          <a:p>
            <a:pPr algn="l"/>
            <a:r>
              <a:rPr sz="1250" b="1">
                <a:solidFill>
                  <a:srgbClr val="FF743E"/>
                </a:solidFill>
                <a:latin typeface="Aptos"/>
              </a:rPr>
              <a:t>DEEP DIVE + DOMAIN BRIDGE</a:t>
            </a:r>
          </a:p>
        </p:txBody>
      </p:sp>
      <p:sp>
        <p:nvSpPr>
          <p:cNvPr id="6" name="TextBox 5"/>
          <p:cNvSpPr txBox="1"/>
          <p:nvPr/>
        </p:nvSpPr>
        <p:spPr>
          <a:xfrm>
            <a:off x="566928" y="713232"/>
            <a:ext cx="7772400" cy="896112"/>
          </a:xfrm>
          <a:prstGeom prst="rect">
            <a:avLst/>
          </a:prstGeom>
          <a:noFill/>
        </p:spPr>
        <p:txBody>
          <a:bodyPr wrap="none" lIns="0" rIns="0" tIns="0" bIns="0" anchor="t">
            <a:spAutoFit/>
          </a:bodyPr>
          <a:lstStyle/>
          <a:p>
            <a:pPr algn="l"/>
            <a:r>
              <a:rPr sz="2900" b="1">
                <a:solidFill>
                  <a:srgbClr val="EFF3F9"/>
                </a:solidFill>
                <a:latin typeface="Aptos"/>
              </a:rPr>
              <a:t>Unsafe and FFI: where Rust hands proof obligations back</a:t>
            </a:r>
          </a:p>
        </p:txBody>
      </p:sp>
      <p:sp>
        <p:nvSpPr>
          <p:cNvPr id="7" name="TextBox 6"/>
          <p:cNvSpPr txBox="1"/>
          <p:nvPr/>
        </p:nvSpPr>
        <p:spPr>
          <a:xfrm>
            <a:off x="585216" y="1591056"/>
            <a:ext cx="8321040" cy="384048"/>
          </a:xfrm>
          <a:prstGeom prst="rect">
            <a:avLst/>
          </a:prstGeom>
          <a:noFill/>
        </p:spPr>
        <p:txBody>
          <a:bodyPr wrap="none" lIns="0" rIns="0" tIns="0" bIns="0" anchor="t">
            <a:spAutoFit/>
          </a:bodyPr>
          <a:lstStyle/>
          <a:p>
            <a:pPr algn="l"/>
            <a:r>
              <a:rPr sz="1460" b="0">
                <a:solidFill>
                  <a:srgbClr val="A8B3C4"/>
                </a:solidFill>
                <a:latin typeface="Aptos"/>
              </a:rPr>
              <a:t>For medical imaging and robotics, this is not exotic — it is the normal boundary to C, C++, CUDA, image libraries, and hardware.</a:t>
            </a:r>
          </a:p>
        </p:txBody>
      </p:sp>
      <p:sp>
        <p:nvSpPr>
          <p:cNvPr id="8" name="Rounded Rectangle 7"/>
          <p:cNvSpPr/>
          <p:nvPr/>
        </p:nvSpPr>
        <p:spPr>
          <a:xfrm>
            <a:off x="566928" y="1975104"/>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975104"/>
            <a:ext cx="54864" cy="1664208"/>
          </a:xfrm>
          <a:prstGeom prst="rect">
            <a:avLst/>
          </a:prstGeom>
          <a:solidFill>
            <a:srgbClr val="F7C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139696"/>
            <a:ext cx="3172968" cy="274320"/>
          </a:xfrm>
          <a:prstGeom prst="rect">
            <a:avLst/>
          </a:prstGeom>
          <a:noFill/>
        </p:spPr>
        <p:txBody>
          <a:bodyPr wrap="none" lIns="0" rIns="0" tIns="0" bIns="0" anchor="t">
            <a:spAutoFit/>
          </a:bodyPr>
          <a:lstStyle/>
          <a:p>
            <a:pPr algn="l"/>
            <a:r>
              <a:rPr sz="1180" b="1">
                <a:solidFill>
                  <a:srgbClr val="F7C564"/>
                </a:solidFill>
                <a:latin typeface="Aptos"/>
              </a:rPr>
              <a:t>Trigger</a:t>
            </a:r>
          </a:p>
        </p:txBody>
      </p:sp>
      <p:sp>
        <p:nvSpPr>
          <p:cNvPr id="11" name="TextBox 10"/>
          <p:cNvSpPr txBox="1"/>
          <p:nvPr/>
        </p:nvSpPr>
        <p:spPr>
          <a:xfrm>
            <a:off x="786384" y="2542032"/>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Students ask how Rust talks to existing C++ imaging code, SDKs, CUDA, DICOM, OpenCV/ITK/VTK-style APIs, or device drivers.</a:t>
            </a:r>
          </a:p>
          <a:p>
            <a:pPr>
              <a:spcAft>
                <a:spcPts val="100"/>
              </a:spcAft>
            </a:pPr>
            <a:r>
              <a:rPr sz="1220" b="0">
                <a:solidFill>
                  <a:srgbClr val="A8B3C4"/>
                </a:solidFill>
                <a:latin typeface="Aptos"/>
              </a:rPr>
              <a:t>They need boundary discipline.</a:t>
            </a:r>
          </a:p>
        </p:txBody>
      </p:sp>
      <p:sp>
        <p:nvSpPr>
          <p:cNvPr id="12" name="Rounded Rectangle 11"/>
          <p:cNvSpPr/>
          <p:nvPr/>
        </p:nvSpPr>
        <p:spPr>
          <a:xfrm>
            <a:off x="4416552" y="1975104"/>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6552" y="1975104"/>
            <a:ext cx="54864" cy="1664208"/>
          </a:xfrm>
          <a:prstGeom prst="rect">
            <a:avLst/>
          </a:prstGeom>
          <a:solidFill>
            <a:srgbClr val="66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36008" y="2139696"/>
            <a:ext cx="3172968" cy="274320"/>
          </a:xfrm>
          <a:prstGeom prst="rect">
            <a:avLst/>
          </a:prstGeom>
          <a:noFill/>
        </p:spPr>
        <p:txBody>
          <a:bodyPr wrap="none" lIns="0" rIns="0" tIns="0" bIns="0" anchor="t">
            <a:spAutoFit/>
          </a:bodyPr>
          <a:lstStyle/>
          <a:p>
            <a:pPr algn="l"/>
            <a:r>
              <a:rPr sz="1180" b="1">
                <a:solidFill>
                  <a:srgbClr val="66A6FF"/>
                </a:solidFill>
                <a:latin typeface="Aptos"/>
              </a:rPr>
              <a:t>Pull in now</a:t>
            </a:r>
          </a:p>
        </p:txBody>
      </p:sp>
      <p:sp>
        <p:nvSpPr>
          <p:cNvPr id="15" name="TextBox 14"/>
          <p:cNvSpPr txBox="1"/>
          <p:nvPr/>
        </p:nvSpPr>
        <p:spPr>
          <a:xfrm>
            <a:off x="4636008" y="2542032"/>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Rust_CPP_Unsafe_Macros_Attributes_Addendum.pptx</a:t>
            </a:r>
          </a:p>
          <a:p>
            <a:pPr>
              <a:spcAft>
                <a:spcPts val="100"/>
              </a:spcAft>
            </a:pPr>
            <a:r>
              <a:rPr sz="1220" b="0">
                <a:solidFill>
                  <a:srgbClr val="A8B3C4"/>
                </a:solidFill>
                <a:latin typeface="Aptos"/>
              </a:rPr>
              <a:t>Then Rust_CPP_FFI_Imaging_Robotics_Addendum.pptx for the domain-specific version.</a:t>
            </a:r>
          </a:p>
        </p:txBody>
      </p:sp>
      <p:sp>
        <p:nvSpPr>
          <p:cNvPr id="16" name="Rounded Rectangle 15"/>
          <p:cNvSpPr/>
          <p:nvPr/>
        </p:nvSpPr>
        <p:spPr>
          <a:xfrm>
            <a:off x="566928" y="3858768"/>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3858768"/>
            <a:ext cx="54864" cy="1664208"/>
          </a:xfrm>
          <a:prstGeom prst="rect">
            <a:avLst/>
          </a:prstGeom>
          <a:solidFill>
            <a:srgbClr val="4E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023359"/>
            <a:ext cx="3172968" cy="274320"/>
          </a:xfrm>
          <a:prstGeom prst="rect">
            <a:avLst/>
          </a:prstGeom>
          <a:noFill/>
        </p:spPr>
        <p:txBody>
          <a:bodyPr wrap="none" lIns="0" rIns="0" tIns="0" bIns="0" anchor="t">
            <a:spAutoFit/>
          </a:bodyPr>
          <a:lstStyle/>
          <a:p>
            <a:pPr algn="l"/>
            <a:r>
              <a:rPr sz="1180" b="1">
                <a:solidFill>
                  <a:srgbClr val="4ECCA3"/>
                </a:solidFill>
                <a:latin typeface="Aptos"/>
              </a:rPr>
              <a:t>Exercise / check</a:t>
            </a:r>
          </a:p>
        </p:txBody>
      </p:sp>
      <p:sp>
        <p:nvSpPr>
          <p:cNvPr id="19" name="TextBox 18"/>
          <p:cNvSpPr txBox="1"/>
          <p:nvPr/>
        </p:nvSpPr>
        <p:spPr>
          <a:xfrm>
            <a:off x="786384" y="4425696"/>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Mini exercise: design the safe Rust wrapper around one raw C API.</a:t>
            </a:r>
          </a:p>
          <a:p>
            <a:pPr>
              <a:spcAft>
                <a:spcPts val="100"/>
              </a:spcAft>
            </a:pPr>
            <a:r>
              <a:rPr sz="1220" b="0">
                <a:solidFill>
                  <a:srgbClr val="A8B3C4"/>
                </a:solidFill>
                <a:latin typeface="Aptos"/>
              </a:rPr>
              <a:t>State ownership, lifetime, thread-safety, error model, and who frees memory.</a:t>
            </a:r>
          </a:p>
        </p:txBody>
      </p:sp>
      <p:sp>
        <p:nvSpPr>
          <p:cNvPr id="20" name="Rounded Rectangle 19"/>
          <p:cNvSpPr/>
          <p:nvPr/>
        </p:nvSpPr>
        <p:spPr>
          <a:xfrm>
            <a:off x="4416552" y="3858768"/>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6552" y="3858768"/>
            <a:ext cx="54864" cy="1664208"/>
          </a:xfrm>
          <a:prstGeom prst="rect">
            <a:avLst/>
          </a:prstGeom>
          <a:solidFill>
            <a:srgbClr val="FF7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36008" y="4023359"/>
            <a:ext cx="3172968" cy="274320"/>
          </a:xfrm>
          <a:prstGeom prst="rect">
            <a:avLst/>
          </a:prstGeom>
          <a:noFill/>
        </p:spPr>
        <p:txBody>
          <a:bodyPr wrap="none" lIns="0" rIns="0" tIns="0" bIns="0" anchor="t">
            <a:spAutoFit/>
          </a:bodyPr>
          <a:lstStyle/>
          <a:p>
            <a:pPr algn="l"/>
            <a:r>
              <a:rPr sz="1180" b="1">
                <a:solidFill>
                  <a:srgbClr val="FF743E"/>
                </a:solidFill>
                <a:latin typeface="Aptos"/>
              </a:rPr>
              <a:t>Return anchor</a:t>
            </a:r>
          </a:p>
        </p:txBody>
      </p:sp>
      <p:sp>
        <p:nvSpPr>
          <p:cNvPr id="23" name="TextBox 22"/>
          <p:cNvSpPr txBox="1"/>
          <p:nvPr/>
        </p:nvSpPr>
        <p:spPr>
          <a:xfrm>
            <a:off x="4636008" y="4425696"/>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Return to Unsafe Rust &amp; C++ Interop.</a:t>
            </a:r>
          </a:p>
          <a:p>
            <a:pPr>
              <a:spcAft>
                <a:spcPts val="100"/>
              </a:spcAft>
            </a:pPr>
            <a:r>
              <a:rPr sz="1220" b="0">
                <a:solidFill>
                  <a:srgbClr val="A8B3C4"/>
                </a:solidFill>
                <a:latin typeface="Aptos"/>
              </a:rPr>
              <a:t>This is the bridge toward Day 3 GPU work.</a:t>
            </a:r>
          </a:p>
        </p:txBody>
      </p:sp>
      <p:sp>
        <p:nvSpPr>
          <p:cNvPr id="24" name="Rounded Rectangle 23"/>
          <p:cNvSpPr/>
          <p:nvPr/>
        </p:nvSpPr>
        <p:spPr>
          <a:xfrm>
            <a:off x="8366760" y="2011680"/>
            <a:ext cx="3127248" cy="3291840"/>
          </a:xfrm>
          <a:prstGeom prst="roundRect">
            <a:avLst/>
          </a:prstGeom>
          <a:solidFill>
            <a:srgbClr val="121B2B"/>
          </a:solidFill>
          <a:ln w="12700">
            <a:solidFill>
              <a:srgbClr val="2F3F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668512" y="2304288"/>
            <a:ext cx="1353312" cy="301752"/>
          </a:xfrm>
          <a:prstGeom prst="roundRect">
            <a:avLst/>
          </a:prstGeom>
          <a:solidFill>
            <a:srgbClr val="161F2E"/>
          </a:solidFill>
          <a:ln w="15240">
            <a:solidFill>
              <a:srgbClr val="FF743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743E"/>
                </a:solidFill>
                <a:latin typeface="Aptos"/>
              </a:rPr>
              <a:t>DOMAIN STACK</a:t>
            </a:r>
          </a:p>
        </p:txBody>
      </p:sp>
      <p:sp>
        <p:nvSpPr>
          <p:cNvPr id="26" name="TextBox 25"/>
          <p:cNvSpPr txBox="1"/>
          <p:nvPr/>
        </p:nvSpPr>
        <p:spPr>
          <a:xfrm>
            <a:off x="8641080" y="2788920"/>
            <a:ext cx="2423160" cy="548640"/>
          </a:xfrm>
          <a:prstGeom prst="rect">
            <a:avLst/>
          </a:prstGeom>
          <a:noFill/>
        </p:spPr>
        <p:txBody>
          <a:bodyPr wrap="none" lIns="0" rIns="0" tIns="0" bIns="0" anchor="t">
            <a:spAutoFit/>
          </a:bodyPr>
          <a:lstStyle/>
          <a:p>
            <a:pPr algn="l"/>
            <a:r>
              <a:rPr sz="1300" b="1">
                <a:solidFill>
                  <a:srgbClr val="A8B3C4"/>
                </a:solidFill>
                <a:latin typeface="Aptos"/>
              </a:rPr>
              <a:t>Instructor move</a:t>
            </a:r>
          </a:p>
        </p:txBody>
      </p:sp>
      <p:sp>
        <p:nvSpPr>
          <p:cNvPr id="27" name="TextBox 26"/>
          <p:cNvSpPr txBox="1"/>
          <p:nvPr/>
        </p:nvSpPr>
        <p:spPr>
          <a:xfrm>
            <a:off x="8641080" y="3227832"/>
            <a:ext cx="2423160" cy="877824"/>
          </a:xfrm>
          <a:prstGeom prst="rect">
            <a:avLst/>
          </a:prstGeom>
          <a:noFill/>
        </p:spPr>
        <p:txBody>
          <a:bodyPr wrap="none" lIns="0" rIns="0" tIns="0" bIns="0" anchor="t">
            <a:spAutoFit/>
          </a:bodyPr>
          <a:lstStyle/>
          <a:p>
            <a:pPr algn="l"/>
            <a:r>
              <a:rPr sz="1600" b="0">
                <a:solidFill>
                  <a:srgbClr val="EFF3F9"/>
                </a:solidFill>
                <a:latin typeface="Aptos"/>
              </a:rPr>
              <a:t>Pause, choose the route, then return to the standard stack.</a:t>
            </a:r>
          </a:p>
        </p:txBody>
      </p:sp>
      <p:sp>
        <p:nvSpPr>
          <p:cNvPr id="28" name="TextBox 27"/>
          <p:cNvSpPr txBox="1"/>
          <p:nvPr/>
        </p:nvSpPr>
        <p:spPr>
          <a:xfrm>
            <a:off x="8641080" y="4315968"/>
            <a:ext cx="2423160" cy="310896"/>
          </a:xfrm>
          <a:prstGeom prst="rect">
            <a:avLst/>
          </a:prstGeom>
          <a:noFill/>
        </p:spPr>
        <p:txBody>
          <a:bodyPr wrap="none" lIns="0" rIns="0" tIns="0" bIns="0" anchor="t">
            <a:spAutoFit/>
          </a:bodyPr>
          <a:lstStyle/>
          <a:p>
            <a:pPr algn="l"/>
            <a:r>
              <a:rPr sz="1250" b="1">
                <a:solidFill>
                  <a:srgbClr val="A8B3C4"/>
                </a:solidFill>
                <a:latin typeface="Aptos"/>
              </a:rPr>
              <a:t>Suggested time</a:t>
            </a:r>
          </a:p>
        </p:txBody>
      </p:sp>
      <p:sp>
        <p:nvSpPr>
          <p:cNvPr id="29" name="TextBox 28"/>
          <p:cNvSpPr txBox="1"/>
          <p:nvPr/>
        </p:nvSpPr>
        <p:spPr>
          <a:xfrm>
            <a:off x="8641080" y="4617720"/>
            <a:ext cx="2423160" cy="402336"/>
          </a:xfrm>
          <a:prstGeom prst="rect">
            <a:avLst/>
          </a:prstGeom>
          <a:noFill/>
        </p:spPr>
        <p:txBody>
          <a:bodyPr wrap="none" lIns="0" rIns="0" tIns="0" bIns="0" anchor="t">
            <a:spAutoFit/>
          </a:bodyPr>
          <a:lstStyle/>
          <a:p>
            <a:pPr algn="l"/>
            <a:r>
              <a:rPr sz="1800" b="1">
                <a:solidFill>
                  <a:srgbClr val="FF743E"/>
                </a:solidFill>
                <a:latin typeface="Aptos"/>
              </a:rPr>
              <a:t>40–90 min</a:t>
            </a:r>
          </a:p>
        </p:txBody>
      </p:sp>
      <p:sp>
        <p:nvSpPr>
          <p:cNvPr id="30" name="TextBox 29"/>
          <p:cNvSpPr txBox="1"/>
          <p:nvPr/>
        </p:nvSpPr>
        <p:spPr>
          <a:xfrm>
            <a:off x="566928" y="6291072"/>
            <a:ext cx="5303520" cy="219456"/>
          </a:xfrm>
          <a:prstGeom prst="rect">
            <a:avLst/>
          </a:prstGeom>
          <a:noFill/>
        </p:spPr>
        <p:txBody>
          <a:bodyPr wrap="none" lIns="0" rIns="0" tIns="0" bIns="0" anchor="t">
            <a:spAutoFit/>
          </a:bodyPr>
          <a:lstStyle/>
          <a:p>
            <a:pPr algn="l"/>
            <a:r>
              <a:rPr sz="1050" b="0">
                <a:solidFill>
                  <a:srgbClr val="5E6E87"/>
                </a:solidFill>
                <a:latin typeface="Aptos"/>
              </a:rPr>
              <a:t>Rust for Experienced C++ Developers — navigation interleave</a:t>
            </a:r>
          </a:p>
        </p:txBody>
      </p:sp>
      <p:sp>
        <p:nvSpPr>
          <p:cNvPr id="31" name="TextBox 30"/>
          <p:cNvSpPr txBox="1"/>
          <p:nvPr/>
        </p:nvSpPr>
        <p:spPr>
          <a:xfrm>
            <a:off x="10040112" y="6272784"/>
            <a:ext cx="1463040" cy="256032"/>
          </a:xfrm>
          <a:prstGeom prst="rect">
            <a:avLst/>
          </a:prstGeom>
          <a:noFill/>
        </p:spPr>
        <p:txBody>
          <a:bodyPr wrap="none" lIns="0" rIns="0" tIns="0" bIns="0" anchor="t">
            <a:spAutoFit/>
          </a:bodyPr>
          <a:lstStyle/>
          <a:p>
            <a:pPr algn="r"/>
            <a:r>
              <a:rPr sz="1050" b="0">
                <a:solidFill>
                  <a:srgbClr val="5E6E87"/>
                </a:solidFill>
                <a:latin typeface="Aptos"/>
              </a:rPr>
              <a:t>jump-friendly</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C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46304"/>
          </a:xfrm>
          <a:prstGeom prst="rect">
            <a:avLst/>
          </a:prstGeom>
          <a:solidFill>
            <a:srgbClr val="FF4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92000" cy="54864"/>
          </a:xfrm>
          <a:prstGeom prst="rect">
            <a:avLst/>
          </a:prstGeom>
          <a:solidFill>
            <a:srgbClr val="141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4206240" cy="201168"/>
          </a:xfrm>
          <a:prstGeom prst="rect">
            <a:avLst/>
          </a:prstGeom>
          <a:noFill/>
        </p:spPr>
        <p:txBody>
          <a:bodyPr wrap="none" lIns="0" rIns="0" tIns="0" bIns="0" anchor="t">
            <a:spAutoFit/>
          </a:bodyPr>
          <a:lstStyle/>
          <a:p>
            <a:pPr algn="l"/>
            <a:r>
              <a:rPr sz="1250" b="1">
                <a:solidFill>
                  <a:srgbClr val="FF743E"/>
                </a:solidFill>
                <a:latin typeface="Aptos"/>
              </a:rPr>
              <a:t>DEMO BRANCH</a:t>
            </a:r>
          </a:p>
        </p:txBody>
      </p:sp>
      <p:sp>
        <p:nvSpPr>
          <p:cNvPr id="6" name="TextBox 5"/>
          <p:cNvSpPr txBox="1"/>
          <p:nvPr/>
        </p:nvSpPr>
        <p:spPr>
          <a:xfrm>
            <a:off x="566928" y="713232"/>
            <a:ext cx="7772400" cy="896112"/>
          </a:xfrm>
          <a:prstGeom prst="rect">
            <a:avLst/>
          </a:prstGeom>
          <a:noFill/>
        </p:spPr>
        <p:txBody>
          <a:bodyPr wrap="none" lIns="0" rIns="0" tIns="0" bIns="0" anchor="t">
            <a:spAutoFit/>
          </a:bodyPr>
          <a:lstStyle/>
          <a:p>
            <a:pPr algn="l"/>
            <a:r>
              <a:rPr sz="2900" b="1">
                <a:solidFill>
                  <a:srgbClr val="EFF3F9"/>
                </a:solidFill>
                <a:latin typeface="Aptos"/>
              </a:rPr>
              <a:t>Tooling and testing: choose demo over lecture</a:t>
            </a:r>
          </a:p>
        </p:txBody>
      </p:sp>
      <p:sp>
        <p:nvSpPr>
          <p:cNvPr id="7" name="TextBox 6"/>
          <p:cNvSpPr txBox="1"/>
          <p:nvPr/>
        </p:nvSpPr>
        <p:spPr>
          <a:xfrm>
            <a:off x="585216" y="1591056"/>
            <a:ext cx="8321040" cy="384048"/>
          </a:xfrm>
          <a:prstGeom prst="rect">
            <a:avLst/>
          </a:prstGeom>
          <a:noFill/>
        </p:spPr>
        <p:txBody>
          <a:bodyPr wrap="none" lIns="0" rIns="0" tIns="0" bIns="0" anchor="t">
            <a:spAutoFit/>
          </a:bodyPr>
          <a:lstStyle/>
          <a:p>
            <a:pPr algn="l"/>
            <a:r>
              <a:rPr sz="1460" b="0">
                <a:solidFill>
                  <a:srgbClr val="A8B3C4"/>
                </a:solidFill>
                <a:latin typeface="Aptos"/>
              </a:rPr>
              <a:t>Cargo, clippy, fmt, docs, and tests are best learned by seeing them break and help.</a:t>
            </a:r>
          </a:p>
        </p:txBody>
      </p:sp>
      <p:sp>
        <p:nvSpPr>
          <p:cNvPr id="8" name="Rounded Rectangle 7"/>
          <p:cNvSpPr/>
          <p:nvPr/>
        </p:nvSpPr>
        <p:spPr>
          <a:xfrm>
            <a:off x="566928" y="1975104"/>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975104"/>
            <a:ext cx="54864" cy="1664208"/>
          </a:xfrm>
          <a:prstGeom prst="rect">
            <a:avLst/>
          </a:prstGeom>
          <a:solidFill>
            <a:srgbClr val="F7C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139696"/>
            <a:ext cx="3172968" cy="274320"/>
          </a:xfrm>
          <a:prstGeom prst="rect">
            <a:avLst/>
          </a:prstGeom>
          <a:noFill/>
        </p:spPr>
        <p:txBody>
          <a:bodyPr wrap="none" lIns="0" rIns="0" tIns="0" bIns="0" anchor="t">
            <a:spAutoFit/>
          </a:bodyPr>
          <a:lstStyle/>
          <a:p>
            <a:pPr algn="l"/>
            <a:r>
              <a:rPr sz="1180" b="1">
                <a:solidFill>
                  <a:srgbClr val="F7C564"/>
                </a:solidFill>
                <a:latin typeface="Aptos"/>
              </a:rPr>
              <a:t>Trigger</a:t>
            </a:r>
          </a:p>
        </p:txBody>
      </p:sp>
      <p:sp>
        <p:nvSpPr>
          <p:cNvPr id="11" name="TextBox 10"/>
          <p:cNvSpPr txBox="1"/>
          <p:nvPr/>
        </p:nvSpPr>
        <p:spPr>
          <a:xfrm>
            <a:off x="786384" y="2542032"/>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Students ask “what does the workflow feel like?”</a:t>
            </a:r>
          </a:p>
          <a:p>
            <a:pPr>
              <a:spcAft>
                <a:spcPts val="100"/>
              </a:spcAft>
            </a:pPr>
            <a:r>
              <a:rPr sz="1220" b="0">
                <a:solidFill>
                  <a:srgbClr val="A8B3C4"/>
                </a:solidFill>
                <a:latin typeface="Aptos"/>
              </a:rPr>
              <a:t>Or they need confidence before the lab.</a:t>
            </a:r>
          </a:p>
        </p:txBody>
      </p:sp>
      <p:sp>
        <p:nvSpPr>
          <p:cNvPr id="12" name="Rounded Rectangle 11"/>
          <p:cNvSpPr/>
          <p:nvPr/>
        </p:nvSpPr>
        <p:spPr>
          <a:xfrm>
            <a:off x="4416552" y="1975104"/>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6552" y="1975104"/>
            <a:ext cx="54864" cy="1664208"/>
          </a:xfrm>
          <a:prstGeom prst="rect">
            <a:avLst/>
          </a:prstGeom>
          <a:solidFill>
            <a:srgbClr val="66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36008" y="2139696"/>
            <a:ext cx="3172968" cy="274320"/>
          </a:xfrm>
          <a:prstGeom prst="rect">
            <a:avLst/>
          </a:prstGeom>
          <a:noFill/>
        </p:spPr>
        <p:txBody>
          <a:bodyPr wrap="none" lIns="0" rIns="0" tIns="0" bIns="0" anchor="t">
            <a:spAutoFit/>
          </a:bodyPr>
          <a:lstStyle/>
          <a:p>
            <a:pPr algn="l"/>
            <a:r>
              <a:rPr sz="1180" b="1">
                <a:solidFill>
                  <a:srgbClr val="66A6FF"/>
                </a:solidFill>
                <a:latin typeface="Aptos"/>
              </a:rPr>
              <a:t>Pull in now</a:t>
            </a:r>
          </a:p>
        </p:txBody>
      </p:sp>
      <p:sp>
        <p:nvSpPr>
          <p:cNvPr id="15" name="TextBox 14"/>
          <p:cNvSpPr txBox="1"/>
          <p:nvPr/>
        </p:nvSpPr>
        <p:spPr>
          <a:xfrm>
            <a:off x="4636008" y="2542032"/>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No separate deep dive needed.</a:t>
            </a:r>
          </a:p>
          <a:p>
            <a:pPr>
              <a:spcAft>
                <a:spcPts val="100"/>
              </a:spcAft>
            </a:pPr>
            <a:r>
              <a:rPr sz="1220" b="0">
                <a:solidFill>
                  <a:srgbClr val="A8B3C4"/>
                </a:solidFill>
                <a:latin typeface="Aptos"/>
              </a:rPr>
              <a:t>Live demo: cargo check, cargo test, cargo clippy, cargo fmt.</a:t>
            </a:r>
          </a:p>
        </p:txBody>
      </p:sp>
      <p:sp>
        <p:nvSpPr>
          <p:cNvPr id="16" name="Rounded Rectangle 15"/>
          <p:cNvSpPr/>
          <p:nvPr/>
        </p:nvSpPr>
        <p:spPr>
          <a:xfrm>
            <a:off x="566928" y="3858768"/>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3858768"/>
            <a:ext cx="54864" cy="1664208"/>
          </a:xfrm>
          <a:prstGeom prst="rect">
            <a:avLst/>
          </a:prstGeom>
          <a:solidFill>
            <a:srgbClr val="4E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023359"/>
            <a:ext cx="3172968" cy="274320"/>
          </a:xfrm>
          <a:prstGeom prst="rect">
            <a:avLst/>
          </a:prstGeom>
          <a:noFill/>
        </p:spPr>
        <p:txBody>
          <a:bodyPr wrap="none" lIns="0" rIns="0" tIns="0" bIns="0" anchor="t">
            <a:spAutoFit/>
          </a:bodyPr>
          <a:lstStyle/>
          <a:p>
            <a:pPr algn="l"/>
            <a:r>
              <a:rPr sz="1180" b="1">
                <a:solidFill>
                  <a:srgbClr val="4ECCA3"/>
                </a:solidFill>
                <a:latin typeface="Aptos"/>
              </a:rPr>
              <a:t>Exercise / check</a:t>
            </a:r>
          </a:p>
        </p:txBody>
      </p:sp>
      <p:sp>
        <p:nvSpPr>
          <p:cNvPr id="19" name="TextBox 18"/>
          <p:cNvSpPr txBox="1"/>
          <p:nvPr/>
        </p:nvSpPr>
        <p:spPr>
          <a:xfrm>
            <a:off x="786384" y="4425696"/>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Pick one broken Fix-It and run cargo check live.</a:t>
            </a:r>
          </a:p>
          <a:p>
            <a:pPr>
              <a:spcAft>
                <a:spcPts val="100"/>
              </a:spcAft>
            </a:pPr>
            <a:r>
              <a:rPr sz="1220" b="0">
                <a:solidFill>
                  <a:srgbClr val="A8B3C4"/>
                </a:solidFill>
                <a:latin typeface="Aptos"/>
              </a:rPr>
              <a:t>Then show the compiler message as a teaching object.</a:t>
            </a:r>
          </a:p>
        </p:txBody>
      </p:sp>
      <p:sp>
        <p:nvSpPr>
          <p:cNvPr id="20" name="Rounded Rectangle 19"/>
          <p:cNvSpPr/>
          <p:nvPr/>
        </p:nvSpPr>
        <p:spPr>
          <a:xfrm>
            <a:off x="4416552" y="3858768"/>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6552" y="3858768"/>
            <a:ext cx="54864" cy="1664208"/>
          </a:xfrm>
          <a:prstGeom prst="rect">
            <a:avLst/>
          </a:prstGeom>
          <a:solidFill>
            <a:srgbClr val="FF7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36008" y="4023359"/>
            <a:ext cx="3172968" cy="274320"/>
          </a:xfrm>
          <a:prstGeom prst="rect">
            <a:avLst/>
          </a:prstGeom>
          <a:noFill/>
        </p:spPr>
        <p:txBody>
          <a:bodyPr wrap="none" lIns="0" rIns="0" tIns="0" bIns="0" anchor="t">
            <a:spAutoFit/>
          </a:bodyPr>
          <a:lstStyle/>
          <a:p>
            <a:pPr algn="l"/>
            <a:r>
              <a:rPr sz="1180" b="1">
                <a:solidFill>
                  <a:srgbClr val="FF743E"/>
                </a:solidFill>
                <a:latin typeface="Aptos"/>
              </a:rPr>
              <a:t>Return anchor</a:t>
            </a:r>
          </a:p>
        </p:txBody>
      </p:sp>
      <p:sp>
        <p:nvSpPr>
          <p:cNvPr id="23" name="TextBox 22"/>
          <p:cNvSpPr txBox="1"/>
          <p:nvPr/>
        </p:nvSpPr>
        <p:spPr>
          <a:xfrm>
            <a:off x="4636008" y="4425696"/>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Return to Practice Problems.</a:t>
            </a:r>
          </a:p>
          <a:p>
            <a:pPr>
              <a:spcAft>
                <a:spcPts val="100"/>
              </a:spcAft>
            </a:pPr>
            <a:r>
              <a:rPr sz="1220" b="0">
                <a:solidFill>
                  <a:srgbClr val="A8B3C4"/>
                </a:solidFill>
                <a:latin typeface="Aptos"/>
              </a:rPr>
              <a:t>This converts theory into muscle memory.</a:t>
            </a:r>
          </a:p>
        </p:txBody>
      </p:sp>
      <p:sp>
        <p:nvSpPr>
          <p:cNvPr id="24" name="Rounded Rectangle 23"/>
          <p:cNvSpPr/>
          <p:nvPr/>
        </p:nvSpPr>
        <p:spPr>
          <a:xfrm>
            <a:off x="8366760" y="2011680"/>
            <a:ext cx="3127248" cy="3291840"/>
          </a:xfrm>
          <a:prstGeom prst="roundRect">
            <a:avLst/>
          </a:prstGeom>
          <a:solidFill>
            <a:srgbClr val="121B2B"/>
          </a:solidFill>
          <a:ln w="12700">
            <a:solidFill>
              <a:srgbClr val="2F3F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668512" y="2304288"/>
            <a:ext cx="1353312" cy="301752"/>
          </a:xfrm>
          <a:prstGeom prst="roundRect">
            <a:avLst/>
          </a:prstGeom>
          <a:solidFill>
            <a:srgbClr val="161F2E"/>
          </a:solidFill>
          <a:ln w="15240">
            <a:solidFill>
              <a:srgbClr val="FF743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743E"/>
                </a:solidFill>
                <a:latin typeface="Aptos"/>
              </a:rPr>
              <a:t>DEMO</a:t>
            </a:r>
          </a:p>
        </p:txBody>
      </p:sp>
      <p:sp>
        <p:nvSpPr>
          <p:cNvPr id="26" name="TextBox 25"/>
          <p:cNvSpPr txBox="1"/>
          <p:nvPr/>
        </p:nvSpPr>
        <p:spPr>
          <a:xfrm>
            <a:off x="8641080" y="2788920"/>
            <a:ext cx="2423160" cy="548640"/>
          </a:xfrm>
          <a:prstGeom prst="rect">
            <a:avLst/>
          </a:prstGeom>
          <a:noFill/>
        </p:spPr>
        <p:txBody>
          <a:bodyPr wrap="none" lIns="0" rIns="0" tIns="0" bIns="0" anchor="t">
            <a:spAutoFit/>
          </a:bodyPr>
          <a:lstStyle/>
          <a:p>
            <a:pPr algn="l"/>
            <a:r>
              <a:rPr sz="1300" b="1">
                <a:solidFill>
                  <a:srgbClr val="A8B3C4"/>
                </a:solidFill>
                <a:latin typeface="Aptos"/>
              </a:rPr>
              <a:t>Instructor move</a:t>
            </a:r>
          </a:p>
        </p:txBody>
      </p:sp>
      <p:sp>
        <p:nvSpPr>
          <p:cNvPr id="27" name="TextBox 26"/>
          <p:cNvSpPr txBox="1"/>
          <p:nvPr/>
        </p:nvSpPr>
        <p:spPr>
          <a:xfrm>
            <a:off x="8641080" y="3227832"/>
            <a:ext cx="2423160" cy="877824"/>
          </a:xfrm>
          <a:prstGeom prst="rect">
            <a:avLst/>
          </a:prstGeom>
          <a:noFill/>
        </p:spPr>
        <p:txBody>
          <a:bodyPr wrap="none" lIns="0" rIns="0" tIns="0" bIns="0" anchor="t">
            <a:spAutoFit/>
          </a:bodyPr>
          <a:lstStyle/>
          <a:p>
            <a:pPr algn="l"/>
            <a:r>
              <a:rPr sz="1600" b="0">
                <a:solidFill>
                  <a:srgbClr val="EFF3F9"/>
                </a:solidFill>
                <a:latin typeface="Aptos"/>
              </a:rPr>
              <a:t>Pause, choose the route, then return to the standard stack.</a:t>
            </a:r>
          </a:p>
        </p:txBody>
      </p:sp>
      <p:sp>
        <p:nvSpPr>
          <p:cNvPr id="28" name="TextBox 27"/>
          <p:cNvSpPr txBox="1"/>
          <p:nvPr/>
        </p:nvSpPr>
        <p:spPr>
          <a:xfrm>
            <a:off x="8641080" y="4315968"/>
            <a:ext cx="2423160" cy="310896"/>
          </a:xfrm>
          <a:prstGeom prst="rect">
            <a:avLst/>
          </a:prstGeom>
          <a:noFill/>
        </p:spPr>
        <p:txBody>
          <a:bodyPr wrap="none" lIns="0" rIns="0" tIns="0" bIns="0" anchor="t">
            <a:spAutoFit/>
          </a:bodyPr>
          <a:lstStyle/>
          <a:p>
            <a:pPr algn="l"/>
            <a:r>
              <a:rPr sz="1250" b="1">
                <a:solidFill>
                  <a:srgbClr val="A8B3C4"/>
                </a:solidFill>
                <a:latin typeface="Aptos"/>
              </a:rPr>
              <a:t>Suggested time</a:t>
            </a:r>
          </a:p>
        </p:txBody>
      </p:sp>
      <p:sp>
        <p:nvSpPr>
          <p:cNvPr id="29" name="TextBox 28"/>
          <p:cNvSpPr txBox="1"/>
          <p:nvPr/>
        </p:nvSpPr>
        <p:spPr>
          <a:xfrm>
            <a:off x="8641080" y="4617720"/>
            <a:ext cx="2423160" cy="402336"/>
          </a:xfrm>
          <a:prstGeom prst="rect">
            <a:avLst/>
          </a:prstGeom>
          <a:noFill/>
        </p:spPr>
        <p:txBody>
          <a:bodyPr wrap="none" lIns="0" rIns="0" tIns="0" bIns="0" anchor="t">
            <a:spAutoFit/>
          </a:bodyPr>
          <a:lstStyle/>
          <a:p>
            <a:pPr algn="l"/>
            <a:r>
              <a:rPr sz="1800" b="1">
                <a:solidFill>
                  <a:srgbClr val="FF743E"/>
                </a:solidFill>
                <a:latin typeface="Aptos"/>
              </a:rPr>
              <a:t>10–25 min</a:t>
            </a:r>
          </a:p>
        </p:txBody>
      </p:sp>
      <p:sp>
        <p:nvSpPr>
          <p:cNvPr id="30" name="TextBox 29"/>
          <p:cNvSpPr txBox="1"/>
          <p:nvPr/>
        </p:nvSpPr>
        <p:spPr>
          <a:xfrm>
            <a:off x="566928" y="6291072"/>
            <a:ext cx="5303520" cy="219456"/>
          </a:xfrm>
          <a:prstGeom prst="rect">
            <a:avLst/>
          </a:prstGeom>
          <a:noFill/>
        </p:spPr>
        <p:txBody>
          <a:bodyPr wrap="none" lIns="0" rIns="0" tIns="0" bIns="0" anchor="t">
            <a:spAutoFit/>
          </a:bodyPr>
          <a:lstStyle/>
          <a:p>
            <a:pPr algn="l"/>
            <a:r>
              <a:rPr sz="1050" b="0">
                <a:solidFill>
                  <a:srgbClr val="5E6E87"/>
                </a:solidFill>
                <a:latin typeface="Aptos"/>
              </a:rPr>
              <a:t>Rust for Experienced C++ Developers — navigation interleave</a:t>
            </a:r>
          </a:p>
        </p:txBody>
      </p:sp>
      <p:sp>
        <p:nvSpPr>
          <p:cNvPr id="31" name="TextBox 30"/>
          <p:cNvSpPr txBox="1"/>
          <p:nvPr/>
        </p:nvSpPr>
        <p:spPr>
          <a:xfrm>
            <a:off x="10040112" y="6272784"/>
            <a:ext cx="1463040" cy="256032"/>
          </a:xfrm>
          <a:prstGeom prst="rect">
            <a:avLst/>
          </a:prstGeom>
          <a:noFill/>
        </p:spPr>
        <p:txBody>
          <a:bodyPr wrap="none" lIns="0" rIns="0" tIns="0" bIns="0" anchor="t">
            <a:spAutoFit/>
          </a:bodyPr>
          <a:lstStyle/>
          <a:p>
            <a:pPr algn="r"/>
            <a:r>
              <a:rPr sz="1050" b="0">
                <a:solidFill>
                  <a:srgbClr val="5E6E87"/>
                </a:solidFill>
                <a:latin typeface="Aptos"/>
              </a:rPr>
              <a:t>jump-friendly</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C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46304"/>
          </a:xfrm>
          <a:prstGeom prst="rect">
            <a:avLst/>
          </a:prstGeom>
          <a:solidFill>
            <a:srgbClr val="FF4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92000" cy="54864"/>
          </a:xfrm>
          <a:prstGeom prst="rect">
            <a:avLst/>
          </a:prstGeom>
          <a:solidFill>
            <a:srgbClr val="141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4206240" cy="201168"/>
          </a:xfrm>
          <a:prstGeom prst="rect">
            <a:avLst/>
          </a:prstGeom>
          <a:noFill/>
        </p:spPr>
        <p:txBody>
          <a:bodyPr wrap="none" lIns="0" rIns="0" tIns="0" bIns="0" anchor="t">
            <a:spAutoFit/>
          </a:bodyPr>
          <a:lstStyle/>
          <a:p>
            <a:pPr algn="l"/>
            <a:r>
              <a:rPr sz="1250" b="1">
                <a:solidFill>
                  <a:srgbClr val="FF743E"/>
                </a:solidFill>
                <a:latin typeface="Aptos"/>
              </a:rPr>
              <a:t>LAB SWITCHBOARD</a:t>
            </a:r>
          </a:p>
        </p:txBody>
      </p:sp>
      <p:sp>
        <p:nvSpPr>
          <p:cNvPr id="6" name="TextBox 5"/>
          <p:cNvSpPr txBox="1"/>
          <p:nvPr/>
        </p:nvSpPr>
        <p:spPr>
          <a:xfrm>
            <a:off x="566928" y="713232"/>
            <a:ext cx="7772400" cy="896112"/>
          </a:xfrm>
          <a:prstGeom prst="rect">
            <a:avLst/>
          </a:prstGeom>
          <a:noFill/>
        </p:spPr>
        <p:txBody>
          <a:bodyPr wrap="none" lIns="0" rIns="0" tIns="0" bIns="0" anchor="t">
            <a:spAutoFit/>
          </a:bodyPr>
          <a:lstStyle/>
          <a:p>
            <a:pPr algn="l"/>
            <a:r>
              <a:rPr sz="2900" b="1">
                <a:solidFill>
                  <a:srgbClr val="EFF3F9"/>
                </a:solidFill>
                <a:latin typeface="Aptos"/>
              </a:rPr>
              <a:t>Rust100 Fix-Its: choose by gap, not by chapter order</a:t>
            </a:r>
          </a:p>
        </p:txBody>
      </p:sp>
      <p:sp>
        <p:nvSpPr>
          <p:cNvPr id="7" name="TextBox 6"/>
          <p:cNvSpPr txBox="1"/>
          <p:nvPr/>
        </p:nvSpPr>
        <p:spPr>
          <a:xfrm>
            <a:off x="585216" y="1591056"/>
            <a:ext cx="8321040" cy="384048"/>
          </a:xfrm>
          <a:prstGeom prst="rect">
            <a:avLst/>
          </a:prstGeom>
          <a:noFill/>
        </p:spPr>
        <p:txBody>
          <a:bodyPr wrap="none" lIns="0" rIns="0" tIns="0" bIns="0" anchor="t">
            <a:spAutoFit/>
          </a:bodyPr>
          <a:lstStyle/>
          <a:p>
            <a:pPr algn="l"/>
            <a:r>
              <a:rPr sz="1460" b="0">
                <a:solidFill>
                  <a:srgbClr val="A8B3C4"/>
                </a:solidFill>
                <a:latin typeface="Aptos"/>
              </a:rPr>
              <a:t>The exercise set is your diagnostic instrument. Use it whenever the room needs to turn understanding into reflex.</a:t>
            </a:r>
          </a:p>
        </p:txBody>
      </p:sp>
      <p:sp>
        <p:nvSpPr>
          <p:cNvPr id="8" name="Rounded Rectangle 7"/>
          <p:cNvSpPr/>
          <p:nvPr/>
        </p:nvSpPr>
        <p:spPr>
          <a:xfrm>
            <a:off x="566928" y="1975104"/>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975104"/>
            <a:ext cx="54864" cy="1664208"/>
          </a:xfrm>
          <a:prstGeom prst="rect">
            <a:avLst/>
          </a:prstGeom>
          <a:solidFill>
            <a:srgbClr val="F7C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139696"/>
            <a:ext cx="3172968" cy="274320"/>
          </a:xfrm>
          <a:prstGeom prst="rect">
            <a:avLst/>
          </a:prstGeom>
          <a:noFill/>
        </p:spPr>
        <p:txBody>
          <a:bodyPr wrap="none" lIns="0" rIns="0" tIns="0" bIns="0" anchor="t">
            <a:spAutoFit/>
          </a:bodyPr>
          <a:lstStyle/>
          <a:p>
            <a:pPr algn="l"/>
            <a:r>
              <a:rPr sz="1180" b="1">
                <a:solidFill>
                  <a:srgbClr val="F7C564"/>
                </a:solidFill>
                <a:latin typeface="Aptos"/>
              </a:rPr>
              <a:t>Trigger</a:t>
            </a:r>
          </a:p>
        </p:txBody>
      </p:sp>
      <p:sp>
        <p:nvSpPr>
          <p:cNvPr id="11" name="TextBox 10"/>
          <p:cNvSpPr txBox="1"/>
          <p:nvPr/>
        </p:nvSpPr>
        <p:spPr>
          <a:xfrm>
            <a:off x="786384" y="2542032"/>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Class says “we get it” but compiler errors suggest otherwise.</a:t>
            </a:r>
          </a:p>
          <a:p>
            <a:pPr>
              <a:spcAft>
                <a:spcPts val="100"/>
              </a:spcAft>
            </a:pPr>
            <a:r>
              <a:rPr sz="1220" b="0">
                <a:solidFill>
                  <a:srgbClr val="A8B3C4"/>
                </a:solidFill>
                <a:latin typeface="Aptos"/>
              </a:rPr>
              <a:t>Or you need to reset attention with code.</a:t>
            </a:r>
          </a:p>
        </p:txBody>
      </p:sp>
      <p:sp>
        <p:nvSpPr>
          <p:cNvPr id="12" name="Rounded Rectangle 11"/>
          <p:cNvSpPr/>
          <p:nvPr/>
        </p:nvSpPr>
        <p:spPr>
          <a:xfrm>
            <a:off x="4416552" y="1975104"/>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6552" y="1975104"/>
            <a:ext cx="54864" cy="1664208"/>
          </a:xfrm>
          <a:prstGeom prst="rect">
            <a:avLst/>
          </a:prstGeom>
          <a:solidFill>
            <a:srgbClr val="66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36008" y="2139696"/>
            <a:ext cx="3172968" cy="274320"/>
          </a:xfrm>
          <a:prstGeom prst="rect">
            <a:avLst/>
          </a:prstGeom>
          <a:noFill/>
        </p:spPr>
        <p:txBody>
          <a:bodyPr wrap="none" lIns="0" rIns="0" tIns="0" bIns="0" anchor="t">
            <a:spAutoFit/>
          </a:bodyPr>
          <a:lstStyle/>
          <a:p>
            <a:pPr algn="l"/>
            <a:r>
              <a:rPr sz="1180" b="1">
                <a:solidFill>
                  <a:srgbClr val="66A6FF"/>
                </a:solidFill>
                <a:latin typeface="Aptos"/>
              </a:rPr>
              <a:t>Pull in now</a:t>
            </a:r>
          </a:p>
        </p:txBody>
      </p:sp>
      <p:sp>
        <p:nvSpPr>
          <p:cNvPr id="15" name="TextBox 14"/>
          <p:cNvSpPr txBox="1"/>
          <p:nvPr/>
        </p:nvSpPr>
        <p:spPr>
          <a:xfrm>
            <a:off x="4636008" y="2542032"/>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Repository: edzimmermann/Rust_course</a:t>
            </a:r>
          </a:p>
          <a:p>
            <a:pPr>
              <a:spcAft>
                <a:spcPts val="100"/>
              </a:spcAft>
            </a:pPr>
            <a:r>
              <a:rPr sz="1220" b="0">
                <a:solidFill>
                  <a:srgbClr val="A8B3C4"/>
                </a:solidFill>
                <a:latin typeface="Aptos"/>
              </a:rPr>
              <a:t>Folder: rust_cpp_fixit_100</a:t>
            </a:r>
          </a:p>
        </p:txBody>
      </p:sp>
      <p:sp>
        <p:nvSpPr>
          <p:cNvPr id="16" name="Rounded Rectangle 15"/>
          <p:cNvSpPr/>
          <p:nvPr/>
        </p:nvSpPr>
        <p:spPr>
          <a:xfrm>
            <a:off x="566928" y="3858768"/>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3858768"/>
            <a:ext cx="54864" cy="1664208"/>
          </a:xfrm>
          <a:prstGeom prst="rect">
            <a:avLst/>
          </a:prstGeom>
          <a:solidFill>
            <a:srgbClr val="4E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023359"/>
            <a:ext cx="3172968" cy="274320"/>
          </a:xfrm>
          <a:prstGeom prst="rect">
            <a:avLst/>
          </a:prstGeom>
          <a:noFill/>
        </p:spPr>
        <p:txBody>
          <a:bodyPr wrap="none" lIns="0" rIns="0" tIns="0" bIns="0" anchor="t">
            <a:spAutoFit/>
          </a:bodyPr>
          <a:lstStyle/>
          <a:p>
            <a:pPr algn="l"/>
            <a:r>
              <a:rPr sz="1180" b="1">
                <a:solidFill>
                  <a:srgbClr val="4ECCA3"/>
                </a:solidFill>
                <a:latin typeface="Aptos"/>
              </a:rPr>
              <a:t>Exercise / check</a:t>
            </a:r>
          </a:p>
        </p:txBody>
      </p:sp>
      <p:sp>
        <p:nvSpPr>
          <p:cNvPr id="19" name="TextBox 18"/>
          <p:cNvSpPr txBox="1"/>
          <p:nvPr/>
        </p:nvSpPr>
        <p:spPr>
          <a:xfrm>
            <a:off x="786384" y="4425696"/>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01 Ownership • 02 Borrowing • 03 Strings/Slices • 04 Enums/Patterns • 05 Result</a:t>
            </a:r>
          </a:p>
          <a:p>
            <a:pPr>
              <a:spcAft>
                <a:spcPts val="100"/>
              </a:spcAft>
            </a:pPr>
            <a:r>
              <a:rPr sz="1220" b="0">
                <a:solidFill>
                  <a:srgbClr val="A8B3C4"/>
                </a:solidFill>
                <a:latin typeface="Aptos"/>
              </a:rPr>
              <a:t>06 Iterators • 07 Traits • 08 Lifetimes • 09 Interior Mutability • 10 Threads</a:t>
            </a:r>
          </a:p>
        </p:txBody>
      </p:sp>
      <p:sp>
        <p:nvSpPr>
          <p:cNvPr id="20" name="Rounded Rectangle 19"/>
          <p:cNvSpPr/>
          <p:nvPr/>
        </p:nvSpPr>
        <p:spPr>
          <a:xfrm>
            <a:off x="4416552" y="3858768"/>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6552" y="3858768"/>
            <a:ext cx="54864" cy="1664208"/>
          </a:xfrm>
          <a:prstGeom prst="rect">
            <a:avLst/>
          </a:prstGeom>
          <a:solidFill>
            <a:srgbClr val="FF7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36008" y="4023359"/>
            <a:ext cx="3172968" cy="274320"/>
          </a:xfrm>
          <a:prstGeom prst="rect">
            <a:avLst/>
          </a:prstGeom>
          <a:noFill/>
        </p:spPr>
        <p:txBody>
          <a:bodyPr wrap="none" lIns="0" rIns="0" tIns="0" bIns="0" anchor="t">
            <a:spAutoFit/>
          </a:bodyPr>
          <a:lstStyle/>
          <a:p>
            <a:pPr algn="l"/>
            <a:r>
              <a:rPr sz="1180" b="1">
                <a:solidFill>
                  <a:srgbClr val="FF743E"/>
                </a:solidFill>
                <a:latin typeface="Aptos"/>
              </a:rPr>
              <a:t>Return anchor</a:t>
            </a:r>
          </a:p>
        </p:txBody>
      </p:sp>
      <p:sp>
        <p:nvSpPr>
          <p:cNvPr id="23" name="TextBox 22"/>
          <p:cNvSpPr txBox="1"/>
          <p:nvPr/>
        </p:nvSpPr>
        <p:spPr>
          <a:xfrm>
            <a:off x="4636008" y="4425696"/>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Return to any standard section after 1–3 exercises.</a:t>
            </a:r>
          </a:p>
          <a:p>
            <a:pPr>
              <a:spcAft>
                <a:spcPts val="100"/>
              </a:spcAft>
            </a:pPr>
            <a:r>
              <a:rPr sz="1220" b="0">
                <a:solidFill>
                  <a:srgbClr val="A8B3C4"/>
                </a:solidFill>
                <a:latin typeface="Aptos"/>
              </a:rPr>
              <a:t>Do not solve all 100 in sequence unless the class asks for workshop mode.</a:t>
            </a:r>
          </a:p>
        </p:txBody>
      </p:sp>
      <p:sp>
        <p:nvSpPr>
          <p:cNvPr id="24" name="Rounded Rectangle 23"/>
          <p:cNvSpPr/>
          <p:nvPr/>
        </p:nvSpPr>
        <p:spPr>
          <a:xfrm>
            <a:off x="8366760" y="2011680"/>
            <a:ext cx="3127248" cy="3291840"/>
          </a:xfrm>
          <a:prstGeom prst="roundRect">
            <a:avLst/>
          </a:prstGeom>
          <a:solidFill>
            <a:srgbClr val="121B2B"/>
          </a:solidFill>
          <a:ln w="12700">
            <a:solidFill>
              <a:srgbClr val="2F3F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668512" y="2304288"/>
            <a:ext cx="1353312" cy="301752"/>
          </a:xfrm>
          <a:prstGeom prst="roundRect">
            <a:avLst/>
          </a:prstGeom>
          <a:solidFill>
            <a:srgbClr val="161F2E"/>
          </a:solidFill>
          <a:ln w="15240">
            <a:solidFill>
              <a:srgbClr val="FF743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743E"/>
                </a:solidFill>
                <a:latin typeface="Aptos"/>
              </a:rPr>
              <a:t>FIX-IT HUB</a:t>
            </a:r>
          </a:p>
        </p:txBody>
      </p:sp>
      <p:sp>
        <p:nvSpPr>
          <p:cNvPr id="26" name="TextBox 25"/>
          <p:cNvSpPr txBox="1"/>
          <p:nvPr/>
        </p:nvSpPr>
        <p:spPr>
          <a:xfrm>
            <a:off x="8641080" y="2788920"/>
            <a:ext cx="2423160" cy="548640"/>
          </a:xfrm>
          <a:prstGeom prst="rect">
            <a:avLst/>
          </a:prstGeom>
          <a:noFill/>
        </p:spPr>
        <p:txBody>
          <a:bodyPr wrap="none" lIns="0" rIns="0" tIns="0" bIns="0" anchor="t">
            <a:spAutoFit/>
          </a:bodyPr>
          <a:lstStyle/>
          <a:p>
            <a:pPr algn="l"/>
            <a:r>
              <a:rPr sz="1300" b="1">
                <a:solidFill>
                  <a:srgbClr val="A8B3C4"/>
                </a:solidFill>
                <a:latin typeface="Aptos"/>
              </a:rPr>
              <a:t>Instructor move</a:t>
            </a:r>
          </a:p>
        </p:txBody>
      </p:sp>
      <p:sp>
        <p:nvSpPr>
          <p:cNvPr id="27" name="TextBox 26"/>
          <p:cNvSpPr txBox="1"/>
          <p:nvPr/>
        </p:nvSpPr>
        <p:spPr>
          <a:xfrm>
            <a:off x="8641080" y="3227832"/>
            <a:ext cx="2423160" cy="877824"/>
          </a:xfrm>
          <a:prstGeom prst="rect">
            <a:avLst/>
          </a:prstGeom>
          <a:noFill/>
        </p:spPr>
        <p:txBody>
          <a:bodyPr wrap="none" lIns="0" rIns="0" tIns="0" bIns="0" anchor="t">
            <a:spAutoFit/>
          </a:bodyPr>
          <a:lstStyle/>
          <a:p>
            <a:pPr algn="l"/>
            <a:r>
              <a:rPr sz="1600" b="0">
                <a:solidFill>
                  <a:srgbClr val="EFF3F9"/>
                </a:solidFill>
                <a:latin typeface="Aptos"/>
              </a:rPr>
              <a:t>Pause, choose the route, then return to the standard stack.</a:t>
            </a:r>
          </a:p>
        </p:txBody>
      </p:sp>
      <p:sp>
        <p:nvSpPr>
          <p:cNvPr id="28" name="TextBox 27"/>
          <p:cNvSpPr txBox="1"/>
          <p:nvPr/>
        </p:nvSpPr>
        <p:spPr>
          <a:xfrm>
            <a:off x="8641080" y="4315968"/>
            <a:ext cx="2423160" cy="310896"/>
          </a:xfrm>
          <a:prstGeom prst="rect">
            <a:avLst/>
          </a:prstGeom>
          <a:noFill/>
        </p:spPr>
        <p:txBody>
          <a:bodyPr wrap="none" lIns="0" rIns="0" tIns="0" bIns="0" anchor="t">
            <a:spAutoFit/>
          </a:bodyPr>
          <a:lstStyle/>
          <a:p>
            <a:pPr algn="l"/>
            <a:r>
              <a:rPr sz="1250" b="1">
                <a:solidFill>
                  <a:srgbClr val="A8B3C4"/>
                </a:solidFill>
                <a:latin typeface="Aptos"/>
              </a:rPr>
              <a:t>Suggested time</a:t>
            </a:r>
          </a:p>
        </p:txBody>
      </p:sp>
      <p:sp>
        <p:nvSpPr>
          <p:cNvPr id="29" name="TextBox 28"/>
          <p:cNvSpPr txBox="1"/>
          <p:nvPr/>
        </p:nvSpPr>
        <p:spPr>
          <a:xfrm>
            <a:off x="8641080" y="4617720"/>
            <a:ext cx="2423160" cy="402336"/>
          </a:xfrm>
          <a:prstGeom prst="rect">
            <a:avLst/>
          </a:prstGeom>
          <a:noFill/>
        </p:spPr>
        <p:txBody>
          <a:bodyPr wrap="none" lIns="0" rIns="0" tIns="0" bIns="0" anchor="t">
            <a:spAutoFit/>
          </a:bodyPr>
          <a:lstStyle/>
          <a:p>
            <a:pPr algn="l"/>
            <a:r>
              <a:rPr sz="1800" b="1">
                <a:solidFill>
                  <a:srgbClr val="FF743E"/>
                </a:solidFill>
                <a:latin typeface="Aptos"/>
              </a:rPr>
              <a:t>10–60 min</a:t>
            </a:r>
          </a:p>
        </p:txBody>
      </p:sp>
      <p:sp>
        <p:nvSpPr>
          <p:cNvPr id="30" name="TextBox 29"/>
          <p:cNvSpPr txBox="1"/>
          <p:nvPr/>
        </p:nvSpPr>
        <p:spPr>
          <a:xfrm>
            <a:off x="566928" y="6291072"/>
            <a:ext cx="5303520" cy="219456"/>
          </a:xfrm>
          <a:prstGeom prst="rect">
            <a:avLst/>
          </a:prstGeom>
          <a:noFill/>
        </p:spPr>
        <p:txBody>
          <a:bodyPr wrap="none" lIns="0" rIns="0" tIns="0" bIns="0" anchor="t">
            <a:spAutoFit/>
          </a:bodyPr>
          <a:lstStyle/>
          <a:p>
            <a:pPr algn="l"/>
            <a:r>
              <a:rPr sz="1050" b="0">
                <a:solidFill>
                  <a:srgbClr val="5E6E87"/>
                </a:solidFill>
                <a:latin typeface="Aptos"/>
              </a:rPr>
              <a:t>Rust for Experienced C++ Developers — navigation interleave</a:t>
            </a:r>
          </a:p>
        </p:txBody>
      </p:sp>
      <p:sp>
        <p:nvSpPr>
          <p:cNvPr id="31" name="TextBox 30"/>
          <p:cNvSpPr txBox="1"/>
          <p:nvPr/>
        </p:nvSpPr>
        <p:spPr>
          <a:xfrm>
            <a:off x="10040112" y="6272784"/>
            <a:ext cx="1463040" cy="256032"/>
          </a:xfrm>
          <a:prstGeom prst="rect">
            <a:avLst/>
          </a:prstGeom>
          <a:noFill/>
        </p:spPr>
        <p:txBody>
          <a:bodyPr wrap="none" lIns="0" rIns="0" tIns="0" bIns="0" anchor="t">
            <a:spAutoFit/>
          </a:bodyPr>
          <a:lstStyle/>
          <a:p>
            <a:pPr algn="r"/>
            <a:r>
              <a:rPr sz="1050" b="0">
                <a:solidFill>
                  <a:srgbClr val="5E6E87"/>
                </a:solidFill>
                <a:latin typeface="Aptos"/>
              </a:rPr>
              <a:t>jump-friendly</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C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46304"/>
          </a:xfrm>
          <a:prstGeom prst="rect">
            <a:avLst/>
          </a:prstGeom>
          <a:solidFill>
            <a:srgbClr val="FF4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92000" cy="54864"/>
          </a:xfrm>
          <a:prstGeom prst="rect">
            <a:avLst/>
          </a:prstGeom>
          <a:solidFill>
            <a:srgbClr val="141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4206240" cy="201168"/>
          </a:xfrm>
          <a:prstGeom prst="rect">
            <a:avLst/>
          </a:prstGeom>
          <a:noFill/>
        </p:spPr>
        <p:txBody>
          <a:bodyPr wrap="none" lIns="0" rIns="0" tIns="0" bIns="0" anchor="t">
            <a:spAutoFit/>
          </a:bodyPr>
          <a:lstStyle/>
          <a:p>
            <a:pPr algn="l"/>
            <a:r>
              <a:rPr sz="1250" b="1">
                <a:solidFill>
                  <a:srgbClr val="FF743E"/>
                </a:solidFill>
                <a:latin typeface="Aptos"/>
              </a:rPr>
              <a:t>DIAGNOSTIC DECK</a:t>
            </a:r>
          </a:p>
        </p:txBody>
      </p:sp>
      <p:sp>
        <p:nvSpPr>
          <p:cNvPr id="6" name="TextBox 5"/>
          <p:cNvSpPr txBox="1"/>
          <p:nvPr/>
        </p:nvSpPr>
        <p:spPr>
          <a:xfrm>
            <a:off x="566928" y="713232"/>
            <a:ext cx="7772400" cy="896112"/>
          </a:xfrm>
          <a:prstGeom prst="rect">
            <a:avLst/>
          </a:prstGeom>
          <a:noFill/>
        </p:spPr>
        <p:txBody>
          <a:bodyPr wrap="none" lIns="0" rIns="0" tIns="0" bIns="0" anchor="t">
            <a:spAutoFit/>
          </a:bodyPr>
          <a:lstStyle/>
          <a:p>
            <a:pPr algn="l"/>
            <a:r>
              <a:rPr sz="2900" b="1">
                <a:solidFill>
                  <a:srgbClr val="EFF3F9"/>
                </a:solidFill>
                <a:latin typeface="Aptos"/>
              </a:rPr>
              <a:t>What C++ lets you do — and why Rust refuses it</a:t>
            </a:r>
          </a:p>
        </p:txBody>
      </p:sp>
      <p:sp>
        <p:nvSpPr>
          <p:cNvPr id="7" name="TextBox 6"/>
          <p:cNvSpPr txBox="1"/>
          <p:nvPr/>
        </p:nvSpPr>
        <p:spPr>
          <a:xfrm>
            <a:off x="585216" y="1591056"/>
            <a:ext cx="8321040" cy="384048"/>
          </a:xfrm>
          <a:prstGeom prst="rect">
            <a:avLst/>
          </a:prstGeom>
          <a:noFill/>
        </p:spPr>
        <p:txBody>
          <a:bodyPr wrap="none" lIns="0" rIns="0" tIns="0" bIns="0" anchor="t">
            <a:spAutoFit/>
          </a:bodyPr>
          <a:lstStyle/>
          <a:p>
            <a:pPr algn="l"/>
            <a:r>
              <a:rPr sz="1460" b="0">
                <a:solidFill>
                  <a:srgbClr val="A8B3C4"/>
                </a:solidFill>
                <a:latin typeface="Aptos"/>
              </a:rPr>
              <a:t>Use this later section as a gap detector. Each slide answers “what can I no longer get away with?”</a:t>
            </a:r>
          </a:p>
        </p:txBody>
      </p:sp>
      <p:sp>
        <p:nvSpPr>
          <p:cNvPr id="8" name="Rounded Rectangle 7"/>
          <p:cNvSpPr/>
          <p:nvPr/>
        </p:nvSpPr>
        <p:spPr>
          <a:xfrm>
            <a:off x="566928" y="1975104"/>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975104"/>
            <a:ext cx="54864" cy="1664208"/>
          </a:xfrm>
          <a:prstGeom prst="rect">
            <a:avLst/>
          </a:prstGeom>
          <a:solidFill>
            <a:srgbClr val="F7C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139696"/>
            <a:ext cx="3172968" cy="274320"/>
          </a:xfrm>
          <a:prstGeom prst="rect">
            <a:avLst/>
          </a:prstGeom>
          <a:noFill/>
        </p:spPr>
        <p:txBody>
          <a:bodyPr wrap="none" lIns="0" rIns="0" tIns="0" bIns="0" anchor="t">
            <a:spAutoFit/>
          </a:bodyPr>
          <a:lstStyle/>
          <a:p>
            <a:pPr algn="l"/>
            <a:r>
              <a:rPr sz="1180" b="1">
                <a:solidFill>
                  <a:srgbClr val="F7C564"/>
                </a:solidFill>
                <a:latin typeface="Aptos"/>
              </a:rPr>
              <a:t>Trigger</a:t>
            </a:r>
          </a:p>
        </p:txBody>
      </p:sp>
      <p:sp>
        <p:nvSpPr>
          <p:cNvPr id="11" name="TextBox 10"/>
          <p:cNvSpPr txBox="1"/>
          <p:nvPr/>
        </p:nvSpPr>
        <p:spPr>
          <a:xfrm>
            <a:off x="786384" y="2542032"/>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Students say Rust is arbitrary or paternalistic.</a:t>
            </a:r>
          </a:p>
          <a:p>
            <a:pPr>
              <a:spcAft>
                <a:spcPts val="100"/>
              </a:spcAft>
            </a:pPr>
            <a:r>
              <a:rPr sz="1220" b="0">
                <a:solidFill>
                  <a:srgbClr val="A8B3C4"/>
                </a:solidFill>
                <a:latin typeface="Aptos"/>
              </a:rPr>
              <a:t>They need concrete C++ bug patterns paired with Rust rejections.</a:t>
            </a:r>
          </a:p>
        </p:txBody>
      </p:sp>
      <p:sp>
        <p:nvSpPr>
          <p:cNvPr id="12" name="Rounded Rectangle 11"/>
          <p:cNvSpPr/>
          <p:nvPr/>
        </p:nvSpPr>
        <p:spPr>
          <a:xfrm>
            <a:off x="4416552" y="1975104"/>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6552" y="1975104"/>
            <a:ext cx="54864" cy="1664208"/>
          </a:xfrm>
          <a:prstGeom prst="rect">
            <a:avLst/>
          </a:prstGeom>
          <a:solidFill>
            <a:srgbClr val="66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36008" y="2139696"/>
            <a:ext cx="3172968" cy="274320"/>
          </a:xfrm>
          <a:prstGeom prst="rect">
            <a:avLst/>
          </a:prstGeom>
          <a:noFill/>
        </p:spPr>
        <p:txBody>
          <a:bodyPr wrap="none" lIns="0" rIns="0" tIns="0" bIns="0" anchor="t">
            <a:spAutoFit/>
          </a:bodyPr>
          <a:lstStyle/>
          <a:p>
            <a:pPr algn="l"/>
            <a:r>
              <a:rPr sz="1180" b="1">
                <a:solidFill>
                  <a:srgbClr val="66A6FF"/>
                </a:solidFill>
                <a:latin typeface="Aptos"/>
              </a:rPr>
              <a:t>Pull in now</a:t>
            </a:r>
          </a:p>
        </p:txBody>
      </p:sp>
      <p:sp>
        <p:nvSpPr>
          <p:cNvPr id="15" name="TextBox 14"/>
          <p:cNvSpPr txBox="1"/>
          <p:nvPr/>
        </p:nvSpPr>
        <p:spPr>
          <a:xfrm>
            <a:off x="4636008" y="2542032"/>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Use the existing slides in this deck starting at “What you can no longer do.”</a:t>
            </a:r>
          </a:p>
          <a:p>
            <a:pPr>
              <a:spcAft>
                <a:spcPts val="100"/>
              </a:spcAft>
            </a:pPr>
            <a:r>
              <a:rPr sz="1220" b="0">
                <a:solidFill>
                  <a:srgbClr val="A8B3C4"/>
                </a:solidFill>
                <a:latin typeface="Aptos"/>
              </a:rPr>
              <a:t>Optional: jump back to matching deep dive.</a:t>
            </a:r>
          </a:p>
        </p:txBody>
      </p:sp>
      <p:sp>
        <p:nvSpPr>
          <p:cNvPr id="16" name="Rounded Rectangle 15"/>
          <p:cNvSpPr/>
          <p:nvPr/>
        </p:nvSpPr>
        <p:spPr>
          <a:xfrm>
            <a:off x="566928" y="3858768"/>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3858768"/>
            <a:ext cx="54864" cy="1664208"/>
          </a:xfrm>
          <a:prstGeom prst="rect">
            <a:avLst/>
          </a:prstGeom>
          <a:solidFill>
            <a:srgbClr val="4E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023359"/>
            <a:ext cx="3172968" cy="274320"/>
          </a:xfrm>
          <a:prstGeom prst="rect">
            <a:avLst/>
          </a:prstGeom>
          <a:noFill/>
        </p:spPr>
        <p:txBody>
          <a:bodyPr wrap="none" lIns="0" rIns="0" tIns="0" bIns="0" anchor="t">
            <a:spAutoFit/>
          </a:bodyPr>
          <a:lstStyle/>
          <a:p>
            <a:pPr algn="l"/>
            <a:r>
              <a:rPr sz="1180" b="1">
                <a:solidFill>
                  <a:srgbClr val="4ECCA3"/>
                </a:solidFill>
                <a:latin typeface="Aptos"/>
              </a:rPr>
              <a:t>Exercise / check</a:t>
            </a:r>
          </a:p>
        </p:txBody>
      </p:sp>
      <p:sp>
        <p:nvSpPr>
          <p:cNvPr id="19" name="TextBox 18"/>
          <p:cNvSpPr txBox="1"/>
          <p:nvPr/>
        </p:nvSpPr>
        <p:spPr>
          <a:xfrm>
            <a:off x="786384" y="4425696"/>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Pair each restriction slide with a matching Fix-It section.</a:t>
            </a:r>
          </a:p>
          <a:p>
            <a:pPr>
              <a:spcAft>
                <a:spcPts val="100"/>
              </a:spcAft>
            </a:pPr>
            <a:r>
              <a:rPr sz="1220" b="0">
                <a:solidFill>
                  <a:srgbClr val="A8B3C4"/>
                </a:solidFill>
                <a:latin typeface="Aptos"/>
              </a:rPr>
              <a:t>Example: aliasing slide -&gt; Fix-It 02; exceptions slide -&gt; Fix-It 05.</a:t>
            </a:r>
          </a:p>
        </p:txBody>
      </p:sp>
      <p:sp>
        <p:nvSpPr>
          <p:cNvPr id="20" name="Rounded Rectangle 19"/>
          <p:cNvSpPr/>
          <p:nvPr/>
        </p:nvSpPr>
        <p:spPr>
          <a:xfrm>
            <a:off x="4416552" y="3858768"/>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6552" y="3858768"/>
            <a:ext cx="54864" cy="1664208"/>
          </a:xfrm>
          <a:prstGeom prst="rect">
            <a:avLst/>
          </a:prstGeom>
          <a:solidFill>
            <a:srgbClr val="FF7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36008" y="4023359"/>
            <a:ext cx="3172968" cy="274320"/>
          </a:xfrm>
          <a:prstGeom prst="rect">
            <a:avLst/>
          </a:prstGeom>
          <a:noFill/>
        </p:spPr>
        <p:txBody>
          <a:bodyPr wrap="none" lIns="0" rIns="0" tIns="0" bIns="0" anchor="t">
            <a:spAutoFit/>
          </a:bodyPr>
          <a:lstStyle/>
          <a:p>
            <a:pPr algn="l"/>
            <a:r>
              <a:rPr sz="1180" b="1">
                <a:solidFill>
                  <a:srgbClr val="FF743E"/>
                </a:solidFill>
                <a:latin typeface="Aptos"/>
              </a:rPr>
              <a:t>Return anchor</a:t>
            </a:r>
          </a:p>
        </p:txBody>
      </p:sp>
      <p:sp>
        <p:nvSpPr>
          <p:cNvPr id="23" name="TextBox 22"/>
          <p:cNvSpPr txBox="1"/>
          <p:nvPr/>
        </p:nvSpPr>
        <p:spPr>
          <a:xfrm>
            <a:off x="4636008" y="4425696"/>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Return to Labs or Wrap-up.</a:t>
            </a:r>
          </a:p>
          <a:p>
            <a:pPr>
              <a:spcAft>
                <a:spcPts val="100"/>
              </a:spcAft>
            </a:pPr>
            <a:r>
              <a:rPr sz="1220" b="0">
                <a:solidFill>
                  <a:srgbClr val="A8B3C4"/>
                </a:solidFill>
                <a:latin typeface="Aptos"/>
              </a:rPr>
              <a:t>This is a consolidation tool, not another full lecture.</a:t>
            </a:r>
          </a:p>
        </p:txBody>
      </p:sp>
      <p:sp>
        <p:nvSpPr>
          <p:cNvPr id="24" name="Rounded Rectangle 23"/>
          <p:cNvSpPr/>
          <p:nvPr/>
        </p:nvSpPr>
        <p:spPr>
          <a:xfrm>
            <a:off x="8366760" y="2011680"/>
            <a:ext cx="3127248" cy="3291840"/>
          </a:xfrm>
          <a:prstGeom prst="roundRect">
            <a:avLst/>
          </a:prstGeom>
          <a:solidFill>
            <a:srgbClr val="121B2B"/>
          </a:solidFill>
          <a:ln w="12700">
            <a:solidFill>
              <a:srgbClr val="2F3F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668512" y="2304288"/>
            <a:ext cx="1353312" cy="301752"/>
          </a:xfrm>
          <a:prstGeom prst="roundRect">
            <a:avLst/>
          </a:prstGeom>
          <a:solidFill>
            <a:srgbClr val="161F2E"/>
          </a:solidFill>
          <a:ln w="15240">
            <a:solidFill>
              <a:srgbClr val="FF743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743E"/>
                </a:solidFill>
                <a:latin typeface="Aptos"/>
              </a:rPr>
              <a:t>DIAGNOSIS</a:t>
            </a:r>
          </a:p>
        </p:txBody>
      </p:sp>
      <p:sp>
        <p:nvSpPr>
          <p:cNvPr id="26" name="TextBox 25"/>
          <p:cNvSpPr txBox="1"/>
          <p:nvPr/>
        </p:nvSpPr>
        <p:spPr>
          <a:xfrm>
            <a:off x="8641080" y="2788920"/>
            <a:ext cx="2423160" cy="548640"/>
          </a:xfrm>
          <a:prstGeom prst="rect">
            <a:avLst/>
          </a:prstGeom>
          <a:noFill/>
        </p:spPr>
        <p:txBody>
          <a:bodyPr wrap="none" lIns="0" rIns="0" tIns="0" bIns="0" anchor="t">
            <a:spAutoFit/>
          </a:bodyPr>
          <a:lstStyle/>
          <a:p>
            <a:pPr algn="l"/>
            <a:r>
              <a:rPr sz="1300" b="1">
                <a:solidFill>
                  <a:srgbClr val="A8B3C4"/>
                </a:solidFill>
                <a:latin typeface="Aptos"/>
              </a:rPr>
              <a:t>Instructor move</a:t>
            </a:r>
          </a:p>
        </p:txBody>
      </p:sp>
      <p:sp>
        <p:nvSpPr>
          <p:cNvPr id="27" name="TextBox 26"/>
          <p:cNvSpPr txBox="1"/>
          <p:nvPr/>
        </p:nvSpPr>
        <p:spPr>
          <a:xfrm>
            <a:off x="8641080" y="3227832"/>
            <a:ext cx="2423160" cy="877824"/>
          </a:xfrm>
          <a:prstGeom prst="rect">
            <a:avLst/>
          </a:prstGeom>
          <a:noFill/>
        </p:spPr>
        <p:txBody>
          <a:bodyPr wrap="none" lIns="0" rIns="0" tIns="0" bIns="0" anchor="t">
            <a:spAutoFit/>
          </a:bodyPr>
          <a:lstStyle/>
          <a:p>
            <a:pPr algn="l"/>
            <a:r>
              <a:rPr sz="1600" b="0">
                <a:solidFill>
                  <a:srgbClr val="EFF3F9"/>
                </a:solidFill>
                <a:latin typeface="Aptos"/>
              </a:rPr>
              <a:t>Pause, choose the route, then return to the standard stack.</a:t>
            </a:r>
          </a:p>
        </p:txBody>
      </p:sp>
      <p:sp>
        <p:nvSpPr>
          <p:cNvPr id="28" name="TextBox 27"/>
          <p:cNvSpPr txBox="1"/>
          <p:nvPr/>
        </p:nvSpPr>
        <p:spPr>
          <a:xfrm>
            <a:off x="8641080" y="4315968"/>
            <a:ext cx="2423160" cy="310896"/>
          </a:xfrm>
          <a:prstGeom prst="rect">
            <a:avLst/>
          </a:prstGeom>
          <a:noFill/>
        </p:spPr>
        <p:txBody>
          <a:bodyPr wrap="none" lIns="0" rIns="0" tIns="0" bIns="0" anchor="t">
            <a:spAutoFit/>
          </a:bodyPr>
          <a:lstStyle/>
          <a:p>
            <a:pPr algn="l"/>
            <a:r>
              <a:rPr sz="1250" b="1">
                <a:solidFill>
                  <a:srgbClr val="A8B3C4"/>
                </a:solidFill>
                <a:latin typeface="Aptos"/>
              </a:rPr>
              <a:t>Suggested time</a:t>
            </a:r>
          </a:p>
        </p:txBody>
      </p:sp>
      <p:sp>
        <p:nvSpPr>
          <p:cNvPr id="29" name="TextBox 28"/>
          <p:cNvSpPr txBox="1"/>
          <p:nvPr/>
        </p:nvSpPr>
        <p:spPr>
          <a:xfrm>
            <a:off x="8641080" y="4617720"/>
            <a:ext cx="2423160" cy="402336"/>
          </a:xfrm>
          <a:prstGeom prst="rect">
            <a:avLst/>
          </a:prstGeom>
          <a:noFill/>
        </p:spPr>
        <p:txBody>
          <a:bodyPr wrap="none" lIns="0" rIns="0" tIns="0" bIns="0" anchor="t">
            <a:spAutoFit/>
          </a:bodyPr>
          <a:lstStyle/>
          <a:p>
            <a:pPr algn="l"/>
            <a:r>
              <a:rPr sz="1800" b="1">
                <a:solidFill>
                  <a:srgbClr val="FF743E"/>
                </a:solidFill>
                <a:latin typeface="Aptos"/>
              </a:rPr>
              <a:t>15–35 min</a:t>
            </a:r>
          </a:p>
        </p:txBody>
      </p:sp>
      <p:sp>
        <p:nvSpPr>
          <p:cNvPr id="30" name="TextBox 29"/>
          <p:cNvSpPr txBox="1"/>
          <p:nvPr/>
        </p:nvSpPr>
        <p:spPr>
          <a:xfrm>
            <a:off x="566928" y="6291072"/>
            <a:ext cx="5303520" cy="219456"/>
          </a:xfrm>
          <a:prstGeom prst="rect">
            <a:avLst/>
          </a:prstGeom>
          <a:noFill/>
        </p:spPr>
        <p:txBody>
          <a:bodyPr wrap="none" lIns="0" rIns="0" tIns="0" bIns="0" anchor="t">
            <a:spAutoFit/>
          </a:bodyPr>
          <a:lstStyle/>
          <a:p>
            <a:pPr algn="l"/>
            <a:r>
              <a:rPr sz="1050" b="0">
                <a:solidFill>
                  <a:srgbClr val="5E6E87"/>
                </a:solidFill>
                <a:latin typeface="Aptos"/>
              </a:rPr>
              <a:t>Rust for Experienced C++ Developers — navigation interleave</a:t>
            </a:r>
          </a:p>
        </p:txBody>
      </p:sp>
      <p:sp>
        <p:nvSpPr>
          <p:cNvPr id="31" name="TextBox 30"/>
          <p:cNvSpPr txBox="1"/>
          <p:nvPr/>
        </p:nvSpPr>
        <p:spPr>
          <a:xfrm>
            <a:off x="10040112" y="6272784"/>
            <a:ext cx="1463040" cy="256032"/>
          </a:xfrm>
          <a:prstGeom prst="rect">
            <a:avLst/>
          </a:prstGeom>
          <a:noFill/>
        </p:spPr>
        <p:txBody>
          <a:bodyPr wrap="none" lIns="0" rIns="0" tIns="0" bIns="0" anchor="t">
            <a:spAutoFit/>
          </a:bodyPr>
          <a:lstStyle/>
          <a:p>
            <a:pPr algn="r"/>
            <a:r>
              <a:rPr sz="1050" b="0">
                <a:solidFill>
                  <a:srgbClr val="5E6E87"/>
                </a:solidFill>
                <a:latin typeface="Aptos"/>
              </a:rPr>
              <a:t>jump-friendly</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C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46304"/>
          </a:xfrm>
          <a:prstGeom prst="rect">
            <a:avLst/>
          </a:prstGeom>
          <a:solidFill>
            <a:srgbClr val="FF4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92000" cy="54864"/>
          </a:xfrm>
          <a:prstGeom prst="rect">
            <a:avLst/>
          </a:prstGeom>
          <a:solidFill>
            <a:srgbClr val="141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384048"/>
            <a:ext cx="4206240" cy="201168"/>
          </a:xfrm>
          <a:prstGeom prst="rect">
            <a:avLst/>
          </a:prstGeom>
          <a:noFill/>
        </p:spPr>
        <p:txBody>
          <a:bodyPr wrap="none" lIns="0" rIns="0" tIns="0" bIns="0" anchor="t">
            <a:spAutoFit/>
          </a:bodyPr>
          <a:lstStyle/>
          <a:p>
            <a:pPr algn="l"/>
            <a:r>
              <a:rPr sz="1250" b="1">
                <a:solidFill>
                  <a:srgbClr val="FF743E"/>
                </a:solidFill>
                <a:latin typeface="Aptos"/>
              </a:rPr>
              <a:t>HANDS-ON ROUTE CHOOSER</a:t>
            </a:r>
          </a:p>
        </p:txBody>
      </p:sp>
      <p:sp>
        <p:nvSpPr>
          <p:cNvPr id="6" name="TextBox 5"/>
          <p:cNvSpPr txBox="1"/>
          <p:nvPr/>
        </p:nvSpPr>
        <p:spPr>
          <a:xfrm>
            <a:off x="566928" y="713232"/>
            <a:ext cx="7772400" cy="896112"/>
          </a:xfrm>
          <a:prstGeom prst="rect">
            <a:avLst/>
          </a:prstGeom>
          <a:noFill/>
        </p:spPr>
        <p:txBody>
          <a:bodyPr wrap="none" lIns="0" rIns="0" tIns="0" bIns="0" anchor="t">
            <a:spAutoFit/>
          </a:bodyPr>
          <a:lstStyle/>
          <a:p>
            <a:pPr algn="l"/>
            <a:r>
              <a:rPr sz="2900" b="1">
                <a:solidFill>
                  <a:srgbClr val="EFF3F9"/>
                </a:solidFill>
                <a:latin typeface="Aptos"/>
              </a:rPr>
              <a:t>Choose the lab route based on the room</a:t>
            </a:r>
          </a:p>
        </p:txBody>
      </p:sp>
      <p:sp>
        <p:nvSpPr>
          <p:cNvPr id="7" name="TextBox 6"/>
          <p:cNvSpPr txBox="1"/>
          <p:nvPr/>
        </p:nvSpPr>
        <p:spPr>
          <a:xfrm>
            <a:off x="585216" y="1591056"/>
            <a:ext cx="8321040" cy="384048"/>
          </a:xfrm>
          <a:prstGeom prst="rect">
            <a:avLst/>
          </a:prstGeom>
          <a:noFill/>
        </p:spPr>
        <p:txBody>
          <a:bodyPr wrap="none" lIns="0" rIns="0" tIns="0" bIns="0" anchor="t">
            <a:spAutoFit/>
          </a:bodyPr>
          <a:lstStyle/>
          <a:p>
            <a:pPr algn="l"/>
            <a:r>
              <a:rPr sz="1460" b="0">
                <a:solidFill>
                  <a:srgbClr val="A8B3C4"/>
                </a:solidFill>
                <a:latin typeface="Aptos"/>
              </a:rPr>
              <a:t>With 7-hour days, you can steer: syntax rescue, ownership drill, FFI design, or performance/concurrency route.</a:t>
            </a:r>
          </a:p>
        </p:txBody>
      </p:sp>
      <p:sp>
        <p:nvSpPr>
          <p:cNvPr id="8" name="Rounded Rectangle 7"/>
          <p:cNvSpPr/>
          <p:nvPr/>
        </p:nvSpPr>
        <p:spPr>
          <a:xfrm>
            <a:off x="566928" y="1975104"/>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975104"/>
            <a:ext cx="54864" cy="1664208"/>
          </a:xfrm>
          <a:prstGeom prst="rect">
            <a:avLst/>
          </a:prstGeom>
          <a:solidFill>
            <a:srgbClr val="F7C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139696"/>
            <a:ext cx="3172968" cy="274320"/>
          </a:xfrm>
          <a:prstGeom prst="rect">
            <a:avLst/>
          </a:prstGeom>
          <a:noFill/>
        </p:spPr>
        <p:txBody>
          <a:bodyPr wrap="none" lIns="0" rIns="0" tIns="0" bIns="0" anchor="t">
            <a:spAutoFit/>
          </a:bodyPr>
          <a:lstStyle/>
          <a:p>
            <a:pPr algn="l"/>
            <a:r>
              <a:rPr sz="1180" b="1">
                <a:solidFill>
                  <a:srgbClr val="F7C564"/>
                </a:solidFill>
                <a:latin typeface="Aptos"/>
              </a:rPr>
              <a:t>Trigger</a:t>
            </a:r>
          </a:p>
        </p:txBody>
      </p:sp>
      <p:sp>
        <p:nvSpPr>
          <p:cNvPr id="11" name="TextBox 10"/>
          <p:cNvSpPr txBox="1"/>
          <p:nvPr/>
        </p:nvSpPr>
        <p:spPr>
          <a:xfrm>
            <a:off x="786384" y="2542032"/>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Before labs, decide what the class needs most.</a:t>
            </a:r>
          </a:p>
          <a:p>
            <a:pPr>
              <a:spcAft>
                <a:spcPts val="100"/>
              </a:spcAft>
            </a:pPr>
            <a:r>
              <a:rPr sz="1220" b="0">
                <a:solidFill>
                  <a:srgbClr val="A8B3C4"/>
                </a:solidFill>
                <a:latin typeface="Aptos"/>
              </a:rPr>
              <a:t>Do not default to the same path for every cohort.</a:t>
            </a:r>
          </a:p>
        </p:txBody>
      </p:sp>
      <p:sp>
        <p:nvSpPr>
          <p:cNvPr id="12" name="Rounded Rectangle 11"/>
          <p:cNvSpPr/>
          <p:nvPr/>
        </p:nvSpPr>
        <p:spPr>
          <a:xfrm>
            <a:off x="4416552" y="1975104"/>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6552" y="1975104"/>
            <a:ext cx="54864" cy="1664208"/>
          </a:xfrm>
          <a:prstGeom prst="rect">
            <a:avLst/>
          </a:prstGeom>
          <a:solidFill>
            <a:srgbClr val="66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36008" y="2139696"/>
            <a:ext cx="3172968" cy="274320"/>
          </a:xfrm>
          <a:prstGeom prst="rect">
            <a:avLst/>
          </a:prstGeom>
          <a:noFill/>
        </p:spPr>
        <p:txBody>
          <a:bodyPr wrap="none" lIns="0" rIns="0" tIns="0" bIns="0" anchor="t">
            <a:spAutoFit/>
          </a:bodyPr>
          <a:lstStyle/>
          <a:p>
            <a:pPr algn="l"/>
            <a:r>
              <a:rPr sz="1180" b="1">
                <a:solidFill>
                  <a:srgbClr val="66A6FF"/>
                </a:solidFill>
                <a:latin typeface="Aptos"/>
              </a:rPr>
              <a:t>Pull in now</a:t>
            </a:r>
          </a:p>
        </p:txBody>
      </p:sp>
      <p:sp>
        <p:nvSpPr>
          <p:cNvPr id="15" name="TextBox 14"/>
          <p:cNvSpPr txBox="1"/>
          <p:nvPr/>
        </p:nvSpPr>
        <p:spPr>
          <a:xfrm>
            <a:off x="4636008" y="2542032"/>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Standard practice slides, Rust100, or one deep-dive lab.</a:t>
            </a:r>
          </a:p>
          <a:p>
            <a:pPr>
              <a:spcAft>
                <a:spcPts val="100"/>
              </a:spcAft>
            </a:pPr>
            <a:r>
              <a:rPr sz="1220" b="0">
                <a:solidFill>
                  <a:srgbClr val="A8B3C4"/>
                </a:solidFill>
                <a:latin typeface="Aptos"/>
              </a:rPr>
              <a:t>For Siemens/domain audience: prioritize FFI wrapper design + error contracts.</a:t>
            </a:r>
          </a:p>
        </p:txBody>
      </p:sp>
      <p:sp>
        <p:nvSpPr>
          <p:cNvPr id="16" name="Rounded Rectangle 15"/>
          <p:cNvSpPr/>
          <p:nvPr/>
        </p:nvSpPr>
        <p:spPr>
          <a:xfrm>
            <a:off x="566928" y="3858768"/>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3858768"/>
            <a:ext cx="54864" cy="1664208"/>
          </a:xfrm>
          <a:prstGeom prst="rect">
            <a:avLst/>
          </a:prstGeom>
          <a:solidFill>
            <a:srgbClr val="4E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023359"/>
            <a:ext cx="3172968" cy="274320"/>
          </a:xfrm>
          <a:prstGeom prst="rect">
            <a:avLst/>
          </a:prstGeom>
          <a:noFill/>
        </p:spPr>
        <p:txBody>
          <a:bodyPr wrap="none" lIns="0" rIns="0" tIns="0" bIns="0" anchor="t">
            <a:spAutoFit/>
          </a:bodyPr>
          <a:lstStyle/>
          <a:p>
            <a:pPr algn="l"/>
            <a:r>
              <a:rPr sz="1180" b="1">
                <a:solidFill>
                  <a:srgbClr val="4ECCA3"/>
                </a:solidFill>
                <a:latin typeface="Aptos"/>
              </a:rPr>
              <a:t>Exercise / check</a:t>
            </a:r>
          </a:p>
        </p:txBody>
      </p:sp>
      <p:sp>
        <p:nvSpPr>
          <p:cNvPr id="19" name="TextBox 18"/>
          <p:cNvSpPr txBox="1"/>
          <p:nvPr/>
        </p:nvSpPr>
        <p:spPr>
          <a:xfrm>
            <a:off x="786384" y="4425696"/>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Fast class: ownership + lifetimes + FFI wrapper.</a:t>
            </a:r>
          </a:p>
          <a:p>
            <a:pPr>
              <a:spcAft>
                <a:spcPts val="100"/>
              </a:spcAft>
            </a:pPr>
            <a:r>
              <a:rPr sz="1220" b="0">
                <a:solidFill>
                  <a:srgbClr val="A8B3C4"/>
                </a:solidFill>
                <a:latin typeface="Aptos"/>
              </a:rPr>
              <a:t>Mixed class: syntax + ownership + borrowing + Result.</a:t>
            </a:r>
          </a:p>
        </p:txBody>
      </p:sp>
      <p:sp>
        <p:nvSpPr>
          <p:cNvPr id="20" name="Rounded Rectangle 19"/>
          <p:cNvSpPr/>
          <p:nvPr/>
        </p:nvSpPr>
        <p:spPr>
          <a:xfrm>
            <a:off x="4416552" y="3858768"/>
            <a:ext cx="3611880" cy="1664208"/>
          </a:xfrm>
          <a:prstGeom prst="roundRect">
            <a:avLst/>
          </a:prstGeom>
          <a:solidFill>
            <a:srgbClr val="1C2636"/>
          </a:solidFill>
          <a:ln w="13970">
            <a:solidFill>
              <a:srgbClr val="3646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6552" y="3858768"/>
            <a:ext cx="54864" cy="1664208"/>
          </a:xfrm>
          <a:prstGeom prst="rect">
            <a:avLst/>
          </a:prstGeom>
          <a:solidFill>
            <a:srgbClr val="FF7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36008" y="4023359"/>
            <a:ext cx="3172968" cy="274320"/>
          </a:xfrm>
          <a:prstGeom prst="rect">
            <a:avLst/>
          </a:prstGeom>
          <a:noFill/>
        </p:spPr>
        <p:txBody>
          <a:bodyPr wrap="none" lIns="0" rIns="0" tIns="0" bIns="0" anchor="t">
            <a:spAutoFit/>
          </a:bodyPr>
          <a:lstStyle/>
          <a:p>
            <a:pPr algn="l"/>
            <a:r>
              <a:rPr sz="1180" b="1">
                <a:solidFill>
                  <a:srgbClr val="FF743E"/>
                </a:solidFill>
                <a:latin typeface="Aptos"/>
              </a:rPr>
              <a:t>Return anchor</a:t>
            </a:r>
          </a:p>
        </p:txBody>
      </p:sp>
      <p:sp>
        <p:nvSpPr>
          <p:cNvPr id="23" name="TextBox 22"/>
          <p:cNvSpPr txBox="1"/>
          <p:nvPr/>
        </p:nvSpPr>
        <p:spPr>
          <a:xfrm>
            <a:off x="4636008" y="4425696"/>
            <a:ext cx="3172968" cy="969264"/>
          </a:xfrm>
          <a:prstGeom prst="rect">
            <a:avLst/>
          </a:prstGeom>
          <a:noFill/>
        </p:spPr>
        <p:txBody>
          <a:bodyPr wrap="square" lIns="0" rIns="0" tIns="0" bIns="0">
            <a:spAutoFit/>
          </a:bodyPr>
          <a:lstStyle/>
          <a:p>
            <a:pPr>
              <a:spcAft>
                <a:spcPts val="100"/>
              </a:spcAft>
            </a:pPr>
            <a:r>
              <a:rPr sz="1220" b="0">
                <a:solidFill>
                  <a:srgbClr val="EFF3F9"/>
                </a:solidFill>
                <a:latin typeface="Aptos"/>
              </a:rPr>
              <a:t>Return to Wrap-up &amp; Roadmap.</a:t>
            </a:r>
          </a:p>
          <a:p>
            <a:pPr>
              <a:spcAft>
                <a:spcPts val="100"/>
              </a:spcAft>
            </a:pPr>
            <a:r>
              <a:rPr sz="1220" b="0">
                <a:solidFill>
                  <a:srgbClr val="A8B3C4"/>
                </a:solidFill>
                <a:latin typeface="Aptos"/>
              </a:rPr>
              <a:t>End by asking: which facts moved from programmer memory into types?</a:t>
            </a:r>
          </a:p>
        </p:txBody>
      </p:sp>
      <p:sp>
        <p:nvSpPr>
          <p:cNvPr id="24" name="Rounded Rectangle 23"/>
          <p:cNvSpPr/>
          <p:nvPr/>
        </p:nvSpPr>
        <p:spPr>
          <a:xfrm>
            <a:off x="8366760" y="2011680"/>
            <a:ext cx="3127248" cy="3291840"/>
          </a:xfrm>
          <a:prstGeom prst="roundRect">
            <a:avLst/>
          </a:prstGeom>
          <a:solidFill>
            <a:srgbClr val="121B2B"/>
          </a:solidFill>
          <a:ln w="12700">
            <a:solidFill>
              <a:srgbClr val="2F3F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668512" y="2304288"/>
            <a:ext cx="1353312" cy="301752"/>
          </a:xfrm>
          <a:prstGeom prst="roundRect">
            <a:avLst/>
          </a:prstGeom>
          <a:solidFill>
            <a:srgbClr val="161F2E"/>
          </a:solidFill>
          <a:ln w="15240">
            <a:solidFill>
              <a:srgbClr val="FF743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743E"/>
                </a:solidFill>
                <a:latin typeface="Aptos"/>
              </a:rPr>
              <a:t>LAB CONTROL</a:t>
            </a:r>
          </a:p>
        </p:txBody>
      </p:sp>
      <p:sp>
        <p:nvSpPr>
          <p:cNvPr id="26" name="TextBox 25"/>
          <p:cNvSpPr txBox="1"/>
          <p:nvPr/>
        </p:nvSpPr>
        <p:spPr>
          <a:xfrm>
            <a:off x="8641080" y="2788920"/>
            <a:ext cx="2423160" cy="548640"/>
          </a:xfrm>
          <a:prstGeom prst="rect">
            <a:avLst/>
          </a:prstGeom>
          <a:noFill/>
        </p:spPr>
        <p:txBody>
          <a:bodyPr wrap="none" lIns="0" rIns="0" tIns="0" bIns="0" anchor="t">
            <a:spAutoFit/>
          </a:bodyPr>
          <a:lstStyle/>
          <a:p>
            <a:pPr algn="l"/>
            <a:r>
              <a:rPr sz="1300" b="1">
                <a:solidFill>
                  <a:srgbClr val="A8B3C4"/>
                </a:solidFill>
                <a:latin typeface="Aptos"/>
              </a:rPr>
              <a:t>Instructor move</a:t>
            </a:r>
          </a:p>
        </p:txBody>
      </p:sp>
      <p:sp>
        <p:nvSpPr>
          <p:cNvPr id="27" name="TextBox 26"/>
          <p:cNvSpPr txBox="1"/>
          <p:nvPr/>
        </p:nvSpPr>
        <p:spPr>
          <a:xfrm>
            <a:off x="8641080" y="3227832"/>
            <a:ext cx="2423160" cy="877824"/>
          </a:xfrm>
          <a:prstGeom prst="rect">
            <a:avLst/>
          </a:prstGeom>
          <a:noFill/>
        </p:spPr>
        <p:txBody>
          <a:bodyPr wrap="none" lIns="0" rIns="0" tIns="0" bIns="0" anchor="t">
            <a:spAutoFit/>
          </a:bodyPr>
          <a:lstStyle/>
          <a:p>
            <a:pPr algn="l"/>
            <a:r>
              <a:rPr sz="1600" b="0">
                <a:solidFill>
                  <a:srgbClr val="EFF3F9"/>
                </a:solidFill>
                <a:latin typeface="Aptos"/>
              </a:rPr>
              <a:t>Pause, choose the route, then return to the standard stack.</a:t>
            </a:r>
          </a:p>
        </p:txBody>
      </p:sp>
      <p:sp>
        <p:nvSpPr>
          <p:cNvPr id="28" name="TextBox 27"/>
          <p:cNvSpPr txBox="1"/>
          <p:nvPr/>
        </p:nvSpPr>
        <p:spPr>
          <a:xfrm>
            <a:off x="8641080" y="4315968"/>
            <a:ext cx="2423160" cy="310896"/>
          </a:xfrm>
          <a:prstGeom prst="rect">
            <a:avLst/>
          </a:prstGeom>
          <a:noFill/>
        </p:spPr>
        <p:txBody>
          <a:bodyPr wrap="none" lIns="0" rIns="0" tIns="0" bIns="0" anchor="t">
            <a:spAutoFit/>
          </a:bodyPr>
          <a:lstStyle/>
          <a:p>
            <a:pPr algn="l"/>
            <a:r>
              <a:rPr sz="1250" b="1">
                <a:solidFill>
                  <a:srgbClr val="A8B3C4"/>
                </a:solidFill>
                <a:latin typeface="Aptos"/>
              </a:rPr>
              <a:t>Suggested time</a:t>
            </a:r>
          </a:p>
        </p:txBody>
      </p:sp>
      <p:sp>
        <p:nvSpPr>
          <p:cNvPr id="29" name="TextBox 28"/>
          <p:cNvSpPr txBox="1"/>
          <p:nvPr/>
        </p:nvSpPr>
        <p:spPr>
          <a:xfrm>
            <a:off x="8641080" y="4617720"/>
            <a:ext cx="2423160" cy="402336"/>
          </a:xfrm>
          <a:prstGeom prst="rect">
            <a:avLst/>
          </a:prstGeom>
          <a:noFill/>
        </p:spPr>
        <p:txBody>
          <a:bodyPr wrap="none" lIns="0" rIns="0" tIns="0" bIns="0" anchor="t">
            <a:spAutoFit/>
          </a:bodyPr>
          <a:lstStyle/>
          <a:p>
            <a:pPr algn="l"/>
            <a:r>
              <a:rPr sz="1800" b="1">
                <a:solidFill>
                  <a:srgbClr val="FF743E"/>
                </a:solidFill>
                <a:latin typeface="Aptos"/>
              </a:rPr>
              <a:t>45–120 min</a:t>
            </a:r>
          </a:p>
        </p:txBody>
      </p:sp>
      <p:sp>
        <p:nvSpPr>
          <p:cNvPr id="30" name="TextBox 29"/>
          <p:cNvSpPr txBox="1"/>
          <p:nvPr/>
        </p:nvSpPr>
        <p:spPr>
          <a:xfrm>
            <a:off x="566928" y="6291072"/>
            <a:ext cx="5303520" cy="219456"/>
          </a:xfrm>
          <a:prstGeom prst="rect">
            <a:avLst/>
          </a:prstGeom>
          <a:noFill/>
        </p:spPr>
        <p:txBody>
          <a:bodyPr wrap="none" lIns="0" rIns="0" tIns="0" bIns="0" anchor="t">
            <a:spAutoFit/>
          </a:bodyPr>
          <a:lstStyle/>
          <a:p>
            <a:pPr algn="l"/>
            <a:r>
              <a:rPr sz="1050" b="0">
                <a:solidFill>
                  <a:srgbClr val="5E6E87"/>
                </a:solidFill>
                <a:latin typeface="Aptos"/>
              </a:rPr>
              <a:t>Rust for Experienced C++ Developers — navigation interleave</a:t>
            </a:r>
          </a:p>
        </p:txBody>
      </p:sp>
      <p:sp>
        <p:nvSpPr>
          <p:cNvPr id="31" name="TextBox 30"/>
          <p:cNvSpPr txBox="1"/>
          <p:nvPr/>
        </p:nvSpPr>
        <p:spPr>
          <a:xfrm>
            <a:off x="10040112" y="6272784"/>
            <a:ext cx="1463040" cy="256032"/>
          </a:xfrm>
          <a:prstGeom prst="rect">
            <a:avLst/>
          </a:prstGeom>
          <a:noFill/>
        </p:spPr>
        <p:txBody>
          <a:bodyPr wrap="none" lIns="0" rIns="0" tIns="0" bIns="0" anchor="t">
            <a:spAutoFit/>
          </a:bodyPr>
          <a:lstStyle/>
          <a:p>
            <a:pPr algn="r"/>
            <a:r>
              <a:rPr sz="1050" b="0">
                <a:solidFill>
                  <a:srgbClr val="5E6E87"/>
                </a:solidFill>
                <a:latin typeface="Aptos"/>
              </a:rPr>
              <a:t>jump-friendly</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36_DynamicWavesLight">
  <a:themeElements>
    <a:clrScheme name="36_DynamicWavesLight">
      <a:dk1>
        <a:srgbClr val="53585f"/>
      </a:dk1>
      <a:lt1>
        <a:srgbClr val="5f3e0c"/>
      </a:lt1>
      <a:dk2>
        <a:srgbClr val="53585f"/>
      </a:dk2>
      <a:lt2>
        <a:srgbClr val="d5d5d5"/>
      </a:lt2>
      <a:accent1>
        <a:srgbClr val="9faaba"/>
      </a:accent1>
      <a:accent2>
        <a:srgbClr val="88a7b2"/>
      </a:accent2>
      <a:accent3>
        <a:srgbClr val="94b9a3"/>
      </a:accent3>
      <a:accent4>
        <a:srgbClr val="f0be5e"/>
      </a:accent4>
      <a:accent5>
        <a:srgbClr val="d5b7b7"/>
      </a:accent5>
      <a:accent6>
        <a:srgbClr val="b894b1"/>
      </a:accent6>
      <a:hlink>
        <a:srgbClr val="0000ff"/>
      </a:hlink>
      <a:folHlink>
        <a:srgbClr val="ff00ff"/>
      </a:folHlink>
    </a:clrScheme>
    <a:fontScheme name="36_DynamicWavesLight">
      <a:majorFont>
        <a:latin typeface="Produkt Extralight" pitchFamily="0" charset="1"/>
        <a:ea typeface="Produkt Extralight" pitchFamily="0" charset="1"/>
        <a:cs typeface="Produkt Extralight" pitchFamily="0" charset="1"/>
      </a:majorFont>
      <a:minorFont>
        <a:latin typeface="Produkt Extralight" pitchFamily="0" charset="1"/>
        <a:ea typeface="Produkt Extralight" pitchFamily="0" charset="1"/>
        <a:cs typeface="Produkt Extralight"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36_DynamicWavesLight">
  <a:themeElements>
    <a:clrScheme name="36_DynamicWavesLight">
      <a:dk1>
        <a:srgbClr val="53585f"/>
      </a:dk1>
      <a:lt1>
        <a:srgbClr val="5f3e0c"/>
      </a:lt1>
      <a:dk2>
        <a:srgbClr val="53585f"/>
      </a:dk2>
      <a:lt2>
        <a:srgbClr val="d5d5d5"/>
      </a:lt2>
      <a:accent1>
        <a:srgbClr val="9faaba"/>
      </a:accent1>
      <a:accent2>
        <a:srgbClr val="88a7b2"/>
      </a:accent2>
      <a:accent3>
        <a:srgbClr val="94b9a3"/>
      </a:accent3>
      <a:accent4>
        <a:srgbClr val="f0be5e"/>
      </a:accent4>
      <a:accent5>
        <a:srgbClr val="d5b7b7"/>
      </a:accent5>
      <a:accent6>
        <a:srgbClr val="b894b1"/>
      </a:accent6>
      <a:hlink>
        <a:srgbClr val="0000ff"/>
      </a:hlink>
      <a:folHlink>
        <a:srgbClr val="ff00ff"/>
      </a:folHlink>
    </a:clrScheme>
    <a:fontScheme name="36_DynamicWavesLight">
      <a:majorFont>
        <a:latin typeface="Produkt Extralight" pitchFamily="0" charset="1"/>
        <a:ea typeface="Produkt Extralight" pitchFamily="0" charset="1"/>
        <a:cs typeface="Produkt Extralight" pitchFamily="0" charset="1"/>
      </a:majorFont>
      <a:minorFont>
        <a:latin typeface="Produkt Extralight" pitchFamily="0" charset="1"/>
        <a:ea typeface="Produkt Extralight" pitchFamily="0" charset="1"/>
        <a:cs typeface="Produkt Extralight"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26</TotalTime>
  <Application>LibreOffice/24.2.5.2$MacOSX_AARCH64 LibreOffice_project/bffef4ea93e59bebbeaf7f431bb02b1a39ee8a59</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2026-08-29T21:34:38Z</dcterms:created>
  <dc:creator>PptxGenJS</dc:creator>
  <dc:description/>
  <dc:language>en-US</dc:language>
  <cp:lastModifiedBy/>
  <dcterms:modified xsi:type="dcterms:W3CDTF">2026-09-07T17:56:11Z</dcterms:modified>
  <cp:revision>8</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165</vt:i4>
  </property>
  <property fmtid="{D5CDD505-2E9C-101B-9397-08002B2CF9AE}" pid="3" name="PresentationFormat">
    <vt:lpwstr>On-screen Show (16:9)</vt:lpwstr>
  </property>
  <property fmtid="{D5CDD505-2E9C-101B-9397-08002B2CF9AE}" pid="4" name="Slides">
    <vt:i4>165</vt:i4>
  </property>
</Properties>
</file>