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5.jpeg" ContentType="image/jpeg"/>
  <Override PartName="/ppt/media/image4.png" ContentType="image/png"/>
  <Override PartName="/ppt/slides/_rels/slide77.xml.rels" ContentType="application/vnd.openxmlformats-package.relationships+xml"/>
  <Override PartName="/ppt/slides/_rels/slide66.xml.rels" ContentType="application/vnd.openxmlformats-package.relationships+xml"/>
  <Override PartName="/ppt/slides/_rels/slide98.xml.rels" ContentType="application/vnd.openxmlformats-package.relationships+xml"/>
  <Override PartName="/ppt/slides/_rels/slide157.xml.rels" ContentType="application/vnd.openxmlformats-package.relationships+xml"/>
  <Override PartName="/ppt/slides/_rels/slide27.xml.rels" ContentType="application/vnd.openxmlformats-package.relationships+xml"/>
  <Override PartName="/ppt/slides/_rels/slide65.xml.rels" ContentType="application/vnd.openxmlformats-package.relationships+xml"/>
  <Override PartName="/ppt/slides/_rels/slide99.xml.rels" ContentType="application/vnd.openxmlformats-package.relationships+xml"/>
  <Override PartName="/ppt/slides/_rels/slide150.xml.rels" ContentType="application/vnd.openxmlformats-package.relationships+xml"/>
  <Override PartName="/ppt/slides/_rels/slide20.xml.rels" ContentType="application/vnd.openxmlformats-package.relationships+xml"/>
  <Override PartName="/ppt/slides/_rels/slide158.xml.rels" ContentType="application/vnd.openxmlformats-package.relationships+xml"/>
  <Override PartName="/ppt/slides/_rels/slide28.xml.rels" ContentType="application/vnd.openxmlformats-package.relationships+xml"/>
  <Override PartName="/ppt/slides/_rels/slide76.xml.rels" ContentType="application/vnd.openxmlformats-package.relationships+xml"/>
  <Override PartName="/ppt/slides/_rels/slide88.xml.rels" ContentType="application/vnd.openxmlformats-package.relationships+xml"/>
  <Override PartName="/ppt/slides/_rels/slide80.xml.rels" ContentType="application/vnd.openxmlformats-package.relationships+xml"/>
  <Override PartName="/ppt/slides/_rels/slide87.xml.rels" ContentType="application/vnd.openxmlformats-package.relationships+xml"/>
  <Override PartName="/ppt/slides/_rels/slide86.xml.rels" ContentType="application/vnd.openxmlformats-package.relationships+xml"/>
  <Override PartName="/ppt/slides/_rels/slide85.xml.rels" ContentType="application/vnd.openxmlformats-package.relationships+xml"/>
  <Override PartName="/ppt/slides/_rels/slide64.xml.rels" ContentType="application/vnd.openxmlformats-package.relationships+xml"/>
  <Override PartName="/ppt/slides/_rels/slide84.xml.rels" ContentType="application/vnd.openxmlformats-package.relationships+xml"/>
  <Override PartName="/ppt/slides/_rels/slide63.xml.rels" ContentType="application/vnd.openxmlformats-package.relationships+xml"/>
  <Override PartName="/ppt/slides/_rels/slide83.xml.rels" ContentType="application/vnd.openxmlformats-package.relationships+xml"/>
  <Override PartName="/ppt/slides/_rels/slide82.xml.rels" ContentType="application/vnd.openxmlformats-package.relationships+xml"/>
  <Override PartName="/ppt/slides/_rels/slide192.xml.rels" ContentType="application/vnd.openxmlformats-package.relationships+xml"/>
  <Override PartName="/ppt/slides/_rels/slide62.xml.rels" ContentType="application/vnd.openxmlformats-package.relationships+xml"/>
  <Override PartName="/ppt/slides/_rels/slide171.xml.rels" ContentType="application/vnd.openxmlformats-package.relationships+xml"/>
  <Override PartName="/ppt/slides/_rels/slide41.xml.rels" ContentType="application/vnd.openxmlformats-package.relationships+xml"/>
  <Override PartName="/ppt/slides/_rels/slide81.xml.rels" ContentType="application/vnd.openxmlformats-package.relationships+xml"/>
  <Override PartName="/ppt/slides/_rels/slide191.xml.rels" ContentType="application/vnd.openxmlformats-package.relationships+xml"/>
  <Override PartName="/ppt/slides/_rels/slide61.xml.rels" ContentType="application/vnd.openxmlformats-package.relationships+xml"/>
  <Override PartName="/ppt/slides/_rels/slide170.xml.rels" ContentType="application/vnd.openxmlformats-package.relationships+xml"/>
  <Override PartName="/ppt/slides/_rels/slide40.xml.rels" ContentType="application/vnd.openxmlformats-package.relationships+xml"/>
  <Override PartName="/ppt/slides/_rels/slide60.xml.rels" ContentType="application/vnd.openxmlformats-package.relationships+xml"/>
  <Override PartName="/ppt/slides/_rels/slide190.xml.rels" ContentType="application/vnd.openxmlformats-package.relationships+xml"/>
  <Override PartName="/ppt/slides/_rels/slide78.xml.rels" ContentType="application/vnd.openxmlformats-package.relationships+xml"/>
  <Override PartName="/ppt/slides/_rels/slide168.xml.rels" ContentType="application/vnd.openxmlformats-package.relationships+xml"/>
  <Override PartName="/ppt/slides/_rels/slide38.xml.rels" ContentType="application/vnd.openxmlformats-package.relationships+xml"/>
  <Override PartName="/ppt/slides/_rels/slide58.xml.rels" ContentType="application/vnd.openxmlformats-package.relationships+xml"/>
  <Override PartName="/ppt/slides/_rels/slide188.xml.rels" ContentType="application/vnd.openxmlformats-package.relationships+xml"/>
  <Override PartName="/ppt/slides/_rels/slide167.xml.rels" ContentType="application/vnd.openxmlformats-package.relationships+xml"/>
  <Override PartName="/ppt/slides/_rels/slide37.xml.rels" ContentType="application/vnd.openxmlformats-package.relationships+xml"/>
  <Override PartName="/ppt/slides/_rels/slide57.xml.rels" ContentType="application/vnd.openxmlformats-package.relationships+xml"/>
  <Override PartName="/ppt/slides/_rels/slide187.xml.rels" ContentType="application/vnd.openxmlformats-package.relationships+xml"/>
  <Override PartName="/ppt/slides/_rels/slide166.xml.rels" ContentType="application/vnd.openxmlformats-package.relationships+xml"/>
  <Override PartName="/ppt/slides/_rels/slide36.xml.rels" ContentType="application/vnd.openxmlformats-package.relationships+xml"/>
  <Override PartName="/ppt/slides/_rels/slide56.xml.rels" ContentType="application/vnd.openxmlformats-package.relationships+xml"/>
  <Override PartName="/ppt/slides/_rels/slide186.xml.rels" ContentType="application/vnd.openxmlformats-package.relationships+xml"/>
  <Override PartName="/ppt/slides/_rels/slide165.xml.rels" ContentType="application/vnd.openxmlformats-package.relationships+xml"/>
  <Override PartName="/ppt/slides/_rels/slide35.xml.rels" ContentType="application/vnd.openxmlformats-package.relationships+xml"/>
  <Override PartName="/ppt/slides/_rels/slide55.xml.rels" ContentType="application/vnd.openxmlformats-package.relationships+xml"/>
  <Override PartName="/ppt/slides/_rels/slide185.xml.rels" ContentType="application/vnd.openxmlformats-package.relationships+xml"/>
  <Override PartName="/ppt/slides/_rels/slide75.xml.rels" ContentType="application/vnd.openxmlformats-package.relationships+xml"/>
  <Override PartName="/ppt/slides/_rels/slide164.xml.rels" ContentType="application/vnd.openxmlformats-package.relationships+xml"/>
  <Override PartName="/ppt/slides/_rels/slide34.xml.rels" ContentType="application/vnd.openxmlformats-package.relationships+xml"/>
  <Override PartName="/ppt/slides/_rels/slide54.xml.rels" ContentType="application/vnd.openxmlformats-package.relationships+xml"/>
  <Override PartName="/ppt/slides/_rels/slide184.xml.rels" ContentType="application/vnd.openxmlformats-package.relationships+xml"/>
  <Override PartName="/ppt/slides/_rels/slide74.xml.rels" ContentType="application/vnd.openxmlformats-package.relationships+xml"/>
  <Override PartName="/ppt/slides/_rels/slide163.xml.rels" ContentType="application/vnd.openxmlformats-package.relationships+xml"/>
  <Override PartName="/ppt/slides/_rels/slide33.xml.rels" ContentType="application/vnd.openxmlformats-package.relationships+xml"/>
  <Override PartName="/ppt/slides/_rels/slide53.xml.rels" ContentType="application/vnd.openxmlformats-package.relationships+xml"/>
  <Override PartName="/ppt/slides/_rels/slide183.xml.rels" ContentType="application/vnd.openxmlformats-package.relationships+xml"/>
  <Override PartName="/ppt/slides/_rels/slide73.xml.rels" ContentType="application/vnd.openxmlformats-package.relationships+xml"/>
  <Override PartName="/ppt/slides/_rels/slide162.xml.rels" ContentType="application/vnd.openxmlformats-package.relationships+xml"/>
  <Override PartName="/ppt/slides/_rels/slide32.xml.rels" ContentType="application/vnd.openxmlformats-package.relationships+xml"/>
  <Override PartName="/ppt/slides/_rels/slide52.xml.rels" ContentType="application/vnd.openxmlformats-package.relationships+xml"/>
  <Override PartName="/ppt/slides/_rels/slide182.xml.rels" ContentType="application/vnd.openxmlformats-package.relationships+xml"/>
  <Override PartName="/ppt/slides/_rels/slide72.xml.rels" ContentType="application/vnd.openxmlformats-package.relationships+xml"/>
  <Override PartName="/ppt/slides/_rels/slide161.xml.rels" ContentType="application/vnd.openxmlformats-package.relationships+xml"/>
  <Override PartName="/ppt/slides/_rels/slide31.xml.rels" ContentType="application/vnd.openxmlformats-package.relationships+xml"/>
  <Override PartName="/ppt/slides/_rels/slide51.xml.rels" ContentType="application/vnd.openxmlformats-package.relationships+xml"/>
  <Override PartName="/ppt/slides/_rels/slide181.xml.rels" ContentType="application/vnd.openxmlformats-package.relationships+xml"/>
  <Override PartName="/ppt/slides/_rels/slide71.xml.rels" ContentType="application/vnd.openxmlformats-package.relationships+xml"/>
  <Override PartName="/ppt/slides/_rels/slide160.xml.rels" ContentType="application/vnd.openxmlformats-package.relationships+xml"/>
  <Override PartName="/ppt/slides/_rels/slide30.xml.rels" ContentType="application/vnd.openxmlformats-package.relationships+xml"/>
  <Override PartName="/ppt/slides/_rels/slide50.xml.rels" ContentType="application/vnd.openxmlformats-package.relationships+xml"/>
  <Override PartName="/ppt/slides/_rels/slide180.xml.rels" ContentType="application/vnd.openxmlformats-package.relationships+xml"/>
  <Override PartName="/ppt/slides/_rels/slide68.xml.rels" ContentType="application/vnd.openxmlformats-package.relationships+xml"/>
  <Override PartName="/ppt/slides/_rels/slide178.xml.rels" ContentType="application/vnd.openxmlformats-package.relationships+xml"/>
  <Override PartName="/ppt/slides/_rels/slide48.xml.rels" ContentType="application/vnd.openxmlformats-package.relationships+xml"/>
  <Override PartName="/ppt/slides/_rels/slide70.xml.rels" ContentType="application/vnd.openxmlformats-package.relationships+xml"/>
  <Override PartName="/ppt/slides/_rels/slide67.xml.rels" ContentType="application/vnd.openxmlformats-package.relationships+xml"/>
  <Override PartName="/ppt/slides/_rels/slide177.xml.rels" ContentType="application/vnd.openxmlformats-package.relationships+xml"/>
  <Override PartName="/ppt/slides/_rels/slide47.xml.rels" ContentType="application/vnd.openxmlformats-package.relationships+xml"/>
  <Override PartName="/ppt/slides/_rels/slide156.xml.rels" ContentType="application/vnd.openxmlformats-package.relationships+xml"/>
  <Override PartName="/ppt/slides/_rels/slide26.xml.rels" ContentType="application/vnd.openxmlformats-package.relationships+xml"/>
  <Override PartName="/ppt/slides/_rels/slide46.xml.rels" ContentType="application/vnd.openxmlformats-package.relationships+xml"/>
  <Override PartName="/ppt/slides/_rels/slide176.xml.rels" ContentType="application/vnd.openxmlformats-package.relationships+xml"/>
  <Override PartName="/ppt/slides/_rels/slide155.xml.rels" ContentType="application/vnd.openxmlformats-package.relationships+xml"/>
  <Override PartName="/ppt/slides/_rels/slide25.xml.rels" ContentType="application/vnd.openxmlformats-package.relationships+xml"/>
  <Override PartName="/ppt/slides/_rels/slide45.xml.rels" ContentType="application/vnd.openxmlformats-package.relationships+xml"/>
  <Override PartName="/ppt/slides/_rels/slide175.xml.rels" ContentType="application/vnd.openxmlformats-package.relationships+xml"/>
  <Override PartName="/ppt/slides/_rels/slide154.xml.rels" ContentType="application/vnd.openxmlformats-package.relationships+xml"/>
  <Override PartName="/ppt/slides/_rels/slide24.xml.rels" ContentType="application/vnd.openxmlformats-package.relationships+xml"/>
  <Override PartName="/ppt/slides/_rels/slide44.xml.rels" ContentType="application/vnd.openxmlformats-package.relationships+xml"/>
  <Override PartName="/ppt/slides/_rels/slide174.xml.rels" ContentType="application/vnd.openxmlformats-package.relationships+xml"/>
  <Override PartName="/ppt/slides/_rels/slide43.xml.rels" ContentType="application/vnd.openxmlformats-package.relationships+xml"/>
  <Override PartName="/ppt/slides/_rels/slide173.xml.rels" ContentType="application/vnd.openxmlformats-package.relationships+xml"/>
  <Override PartName="/ppt/slides/_rels/slide42.xml.rels" ContentType="application/vnd.openxmlformats-package.relationships+xml"/>
  <Override PartName="/ppt/slides/_rels/slide172.xml.rels" ContentType="application/vnd.openxmlformats-package.relationships+xml"/>
  <Override PartName="/ppt/slides/_rels/slide18.xml.rels" ContentType="application/vnd.openxmlformats-package.relationships+xml"/>
  <Override PartName="/ppt/slides/_rels/slide148.xml.rels" ContentType="application/vnd.openxmlformats-package.relationships+xml"/>
  <Override PartName="/ppt/slides/_rels/slide17.xml.rels" ContentType="application/vnd.openxmlformats-package.relationships+xml"/>
  <Override PartName="/ppt/slides/_rels/slide147.xml.rels" ContentType="application/vnd.openxmlformats-package.relationships+xml"/>
  <Override PartName="/ppt/slides/_rels/slide16.xml.rels" ContentType="application/vnd.openxmlformats-package.relationships+xml"/>
  <Override PartName="/ppt/slides/_rels/slide146.xml.rels" ContentType="application/vnd.openxmlformats-package.relationships+xml"/>
  <Override PartName="/ppt/slides/_rels/slide15.xml.rels" ContentType="application/vnd.openxmlformats-package.relationships+xml"/>
  <Override PartName="/ppt/slides/_rels/slide145.xml.rels" ContentType="application/vnd.openxmlformats-package.relationships+xml"/>
  <Override PartName="/ppt/slides/_rels/slide14.xml.rels" ContentType="application/vnd.openxmlformats-package.relationships+xml"/>
  <Override PartName="/ppt/slides/_rels/slide144.xml.rels" ContentType="application/vnd.openxmlformats-package.relationships+xml"/>
  <Override PartName="/ppt/slides/_rels/slide13.xml.rels" ContentType="application/vnd.openxmlformats-package.relationships+xml"/>
  <Override PartName="/ppt/slides/_rels/slide143.xml.rels" ContentType="application/vnd.openxmlformats-package.relationships+xml"/>
  <Override PartName="/ppt/slides/_rels/slide12.xml.rels" ContentType="application/vnd.openxmlformats-package.relationships+xml"/>
  <Override PartName="/ppt/slides/_rels/slide142.xml.rels" ContentType="application/vnd.openxmlformats-package.relationships+xml"/>
  <Override PartName="/ppt/slides/_rels/slide11.xml.rels" ContentType="application/vnd.openxmlformats-package.relationships+xml"/>
  <Override PartName="/ppt/slides/_rels/slide141.xml.rels" ContentType="application/vnd.openxmlformats-package.relationships+xml"/>
  <Override PartName="/ppt/slides/_rels/slide138.xml.rels" ContentType="application/vnd.openxmlformats-package.relationships+xml"/>
  <Override PartName="/ppt/slides/_rels/slide137.xml.rels" ContentType="application/vnd.openxmlformats-package.relationships+xml"/>
  <Override PartName="/ppt/slides/_rels/slide136.xml.rels" ContentType="application/vnd.openxmlformats-package.relationships+xml"/>
  <Override PartName="/ppt/slides/_rels/slide135.xml.rels" ContentType="application/vnd.openxmlformats-package.relationships+xml"/>
  <Override PartName="/ppt/slides/_rels/slide134.xml.rels" ContentType="application/vnd.openxmlformats-package.relationships+xml"/>
  <Override PartName="/ppt/slides/_rels/slide153.xml.rels" ContentType="application/vnd.openxmlformats-package.relationships+xml"/>
  <Override PartName="/ppt/slides/_rels/slide23.xml.rels" ContentType="application/vnd.openxmlformats-package.relationships+xml"/>
  <Override PartName="/ppt/slides/_rels/slide133.xml.rels" ContentType="application/vnd.openxmlformats-package.relationships+xml"/>
  <Override PartName="/ppt/slides/_rels/slide152.xml.rels" ContentType="application/vnd.openxmlformats-package.relationships+xml"/>
  <Override PartName="/ppt/slides/_rels/slide22.xml.rels" ContentType="application/vnd.openxmlformats-package.relationships+xml"/>
  <Override PartName="/ppt/slides/_rels/slide132.xml.rels" ContentType="application/vnd.openxmlformats-package.relationships+xml"/>
  <Override PartName="/ppt/slides/_rels/slide151.xml.rels" ContentType="application/vnd.openxmlformats-package.relationships+xml"/>
  <Override PartName="/ppt/slides/_rels/slide21.xml.rels" ContentType="application/vnd.openxmlformats-package.relationships+xml"/>
  <Override PartName="/ppt/slides/_rels/slide131.xml.rels" ContentType="application/vnd.openxmlformats-package.relationships+xml"/>
  <Override PartName="/ppt/slides/_rels/slide120.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149.xml.rels" ContentType="application/vnd.openxmlformats-package.relationships+xml"/>
  <Override PartName="/ppt/slides/_rels/slide169.xml.rels" ContentType="application/vnd.openxmlformats-package.relationships+xml"/>
  <Override PartName="/ppt/slides/_rels/slide39.xml.rels" ContentType="application/vnd.openxmlformats-package.relationships+xml"/>
  <Override PartName="/ppt/slides/_rels/slide2.xml.rels" ContentType="application/vnd.openxmlformats-package.relationships+xml"/>
  <Override PartName="/ppt/slides/_rels/slide92.xml.rels" ContentType="application/vnd.openxmlformats-package.relationships+xml"/>
  <Override PartName="/ppt/slides/_rels/slide127.xml.rels" ContentType="application/vnd.openxmlformats-package.relationships+xml"/>
  <Override PartName="/ppt/slides/_rels/slide91.xml.rels" ContentType="application/vnd.openxmlformats-package.relationships+xml"/>
  <Override PartName="/ppt/slides/_rels/slide9.xml.rels" ContentType="application/vnd.openxmlformats-package.relationships+xml"/>
  <Override PartName="/ppt/slides/_rels/slide126.xml.rels" ContentType="application/vnd.openxmlformats-package.relationships+xml"/>
  <Override PartName="/ppt/slides/_rels/slide179.xml.rels" ContentType="application/vnd.openxmlformats-package.relationships+xml"/>
  <Override PartName="/ppt/slides/_rels/slide49.xml.rels" ContentType="application/vnd.openxmlformats-package.relationships+xml"/>
  <Override PartName="/ppt/slides/_rels/slide29.xml.rels" ContentType="application/vnd.openxmlformats-package.relationships+xml"/>
  <Override PartName="/ppt/slides/_rels/slide159.xml.rels" ContentType="application/vnd.openxmlformats-package.relationships+xml"/>
  <Override PartName="/ppt/slides/_rels/slide100.xml.rels" ContentType="application/vnd.openxmlformats-package.relationships+xml"/>
  <Override PartName="/ppt/slides/_rels/slide90.xml.rels" ContentType="application/vnd.openxmlformats-package.relationships+xml"/>
  <Override PartName="/ppt/slides/_rels/slide125.xml.rels" ContentType="application/vnd.openxmlformats-package.relationships+xml"/>
  <Override PartName="/ppt/slides/_rels/slide8.xml.rels" ContentType="application/vnd.openxmlformats-package.relationships+xml"/>
  <Override PartName="/ppt/slides/_rels/slide124.xml.rels" ContentType="application/vnd.openxmlformats-package.relationships+xml"/>
  <Override PartName="/ppt/slides/_rels/slide7.xml.rels" ContentType="application/vnd.openxmlformats-package.relationships+xml"/>
  <Override PartName="/ppt/slides/_rels/slide123.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22.xml.rels" ContentType="application/vnd.openxmlformats-package.relationships+xml"/>
  <Override PartName="/ppt/slides/_rels/slide10.xml.rels" ContentType="application/vnd.openxmlformats-package.relationships+xml"/>
  <Override PartName="/ppt/slides/_rels/slide140.xml.rels" ContentType="application/vnd.openxmlformats-package.relationships+xml"/>
  <Override PartName="/ppt/slides/_rels/slide89.xml.rels" ContentType="application/vnd.openxmlformats-package.relationships+xml"/>
  <Override PartName="/ppt/slides/_rels/slide4.xml.rels" ContentType="application/vnd.openxmlformats-package.relationships+xml"/>
  <Override PartName="/ppt/slides/_rels/slide121.xml.rels" ContentType="application/vnd.openxmlformats-package.relationships+xml"/>
  <Override PartName="/ppt/slides/_rels/slide139.xml.rels" ContentType="application/vnd.openxmlformats-package.relationships+xml"/>
  <Override PartName="/ppt/slides/_rels/slide115.xml.rels" ContentType="application/vnd.openxmlformats-package.relationships+xml"/>
  <Override PartName="/ppt/slides/_rels/slide114.xml.rels" ContentType="application/vnd.openxmlformats-package.relationships+xml"/>
  <Override PartName="/ppt/slides/_rels/slide113.xml.rels" ContentType="application/vnd.openxmlformats-package.relationships+xml"/>
  <Override PartName="/ppt/slides/_rels/slide116.xml.rels" ContentType="application/vnd.openxmlformats-package.relationships+xml"/>
  <Override PartName="/ppt/slides/_rels/slide1.xml.rels" ContentType="application/vnd.openxmlformats-package.relationships+xml"/>
  <Override PartName="/ppt/slides/_rels/slide105.xml.rels" ContentType="application/vnd.openxmlformats-package.relationships+xml"/>
  <Override PartName="/ppt/slides/_rels/slide104.xml.rels" ContentType="application/vnd.openxmlformats-package.relationships+xml"/>
  <Override PartName="/ppt/slides/_rels/slide97.xml.rels" ContentType="application/vnd.openxmlformats-package.relationships+xml"/>
  <Override PartName="/ppt/slides/_rels/slide103.xml.rels" ContentType="application/vnd.openxmlformats-package.relationships+xml"/>
  <Override PartName="/ppt/slides/_rels/slide96.xml.rels" ContentType="application/vnd.openxmlformats-package.relationships+xml"/>
  <Override PartName="/ppt/slides/_rels/slide102.xml.rels" ContentType="application/vnd.openxmlformats-package.relationships+xml"/>
  <Override PartName="/ppt/slides/_rels/slide112.xml.rels" ContentType="application/vnd.openxmlformats-package.relationships+xml"/>
  <Override PartName="/ppt/slides/_rels/slide111.xml.rels" ContentType="application/vnd.openxmlformats-package.relationships+xml"/>
  <Override PartName="/ppt/slides/_rels/slide101.xml.rels" ContentType="application/vnd.openxmlformats-package.relationships+xml"/>
  <Override PartName="/ppt/slides/_rels/slide95.xml.rels" ContentType="application/vnd.openxmlformats-package.relationships+xml"/>
  <Override PartName="/ppt/slides/_rels/slide108.xml.rels" ContentType="application/vnd.openxmlformats-package.relationships+xml"/>
  <Override PartName="/ppt/slides/_rels/slide59.xml.rels" ContentType="application/vnd.openxmlformats-package.relationships+xml"/>
  <Override PartName="/ppt/slides/_rels/slide189.xml.rels" ContentType="application/vnd.openxmlformats-package.relationships+xml"/>
  <Override PartName="/ppt/slides/_rels/slide130.xml.rels" ContentType="application/vnd.openxmlformats-package.relationships+xml"/>
  <Override PartName="/ppt/slides/_rels/slide79.xml.rels" ContentType="application/vnd.openxmlformats-package.relationships+xml"/>
  <Override PartName="/ppt/slides/_rels/slide110.xml.rels" ContentType="application/vnd.openxmlformats-package.relationships+xml"/>
  <Override PartName="/ppt/slides/_rels/slide129.xml.rels" ContentType="application/vnd.openxmlformats-package.relationships+xml"/>
  <Override PartName="/ppt/slides/_rels/slide94.xml.rels" ContentType="application/vnd.openxmlformats-package.relationships+xml"/>
  <Override PartName="/ppt/slides/_rels/slide118.xml.rels" ContentType="application/vnd.openxmlformats-package.relationships+xml"/>
  <Override PartName="/ppt/slides/_rels/slide107.xml.rels" ContentType="application/vnd.openxmlformats-package.relationships+xml"/>
  <Override PartName="/ppt/slides/_rels/slide69.xml.rels" ContentType="application/vnd.openxmlformats-package.relationships+xml"/>
  <Override PartName="/ppt/slides/_rels/slide119.xml.rels" ContentType="application/vnd.openxmlformats-package.relationships+xml"/>
  <Override PartName="/ppt/slides/_rels/slide128.xml.rels" ContentType="application/vnd.openxmlformats-package.relationships+xml"/>
  <Override PartName="/ppt/slides/_rels/slide93.xml.rels" ContentType="application/vnd.openxmlformats-package.relationships+xml"/>
  <Override PartName="/ppt/slides/_rels/slide109.xml.rels" ContentType="application/vnd.openxmlformats-package.relationships+xml"/>
  <Override PartName="/ppt/slides/_rels/slide117.xml.rels" ContentType="application/vnd.openxmlformats-package.relationships+xml"/>
  <Override PartName="/ppt/slides/_rels/slide106.xml.rels" ContentType="application/vnd.openxmlformats-package.relationships+xml"/>
  <Override PartName="/ppt/slides/slide16.xml" ContentType="application/vnd.openxmlformats-officedocument.presentationml.slide+xml"/>
  <Override PartName="/ppt/slides/slide106.xml" ContentType="application/vnd.openxmlformats-officedocument.presentationml.slide+xml"/>
  <Override PartName="/ppt/slides/slide91.xml" ContentType="application/vnd.openxmlformats-officedocument.presentationml.slide+xml"/>
  <Override PartName="/ppt/slides/slide18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69.xml" ContentType="application/vnd.openxmlformats-officedocument.presentationml.slide+xml"/>
  <Override PartName="/ppt/slides/slide159.xml" ContentType="application/vnd.openxmlformats-officedocument.presentationml.slide+xml"/>
  <Override PartName="/ppt/slides/slide17.xml" ContentType="application/vnd.openxmlformats-officedocument.presentationml.slide+xml"/>
  <Override PartName="/ppt/slides/slide107.xml" ContentType="application/vnd.openxmlformats-officedocument.presentationml.slide+xml"/>
  <Override PartName="/ppt/slides/slide92.xml" ContentType="application/vnd.openxmlformats-officedocument.presentationml.slide+xml"/>
  <Override PartName="/ppt/slides/slide182.xml" ContentType="application/vnd.openxmlformats-officedocument.presentationml.slide+xml"/>
  <Override PartName="/ppt/slides/slide11.xml" ContentType="application/vnd.openxmlformats-officedocument.presentationml.slide+xml"/>
  <Override PartName="/ppt/slides/slide10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08.xml" ContentType="application/vnd.openxmlformats-officedocument.presentationml.slide+xml"/>
  <Override PartName="/ppt/slides/slide93.xml" ContentType="application/vnd.openxmlformats-officedocument.presentationml.slide+xml"/>
  <Override PartName="/ppt/slides/slide183.xml" ContentType="application/vnd.openxmlformats-officedocument.presentationml.slide+xml"/>
  <Override PartName="/ppt/slides/slide19.xml" ContentType="application/vnd.openxmlformats-officedocument.presentationml.slide+xml"/>
  <Override PartName="/ppt/slides/slide109.xml" ContentType="application/vnd.openxmlformats-officedocument.presentationml.slide+xml"/>
  <Override PartName="/ppt/slides/slide5.xml" ContentType="application/vnd.openxmlformats-officedocument.presentationml.slide+xml"/>
  <Override PartName="/ppt/slides/slide94.xml" ContentType="application/vnd.openxmlformats-officedocument.presentationml.slide+xml"/>
  <Override PartName="/ppt/slides/slide184.xml" ContentType="application/vnd.openxmlformats-officedocument.presentationml.slide+xml"/>
  <Override PartName="/ppt/slides/slide6.xml" ContentType="application/vnd.openxmlformats-officedocument.presentationml.slide+xml"/>
  <Override PartName="/ppt/slides/slide95.xml" ContentType="application/vnd.openxmlformats-officedocument.presentationml.slide+xml"/>
  <Override PartName="/ppt/slides/slide185.xml" ContentType="application/vnd.openxmlformats-officedocument.presentationml.slide+xml"/>
  <Override PartName="/ppt/slides/slide7.xml" ContentType="application/vnd.openxmlformats-officedocument.presentationml.slide+xml"/>
  <Override PartName="/ppt/slides/slide96.xml" ContentType="application/vnd.openxmlformats-officedocument.presentationml.slide+xml"/>
  <Override PartName="/ppt/slides/slide186.xml" ContentType="application/vnd.openxmlformats-officedocument.presentationml.slide+xml"/>
  <Override PartName="/ppt/slides/slide8.xml" ContentType="application/vnd.openxmlformats-officedocument.presentationml.slide+xml"/>
  <Override PartName="/ppt/slides/slide97.xml" ContentType="application/vnd.openxmlformats-officedocument.presentationml.slide+xml"/>
  <Override PartName="/ppt/slides/slide187.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10.xml" ContentType="application/vnd.openxmlformats-officedocument.presentationml.slide+xml"/>
  <Override PartName="/ppt/slides/slide79.xml" ContentType="application/vnd.openxmlformats-officedocument.presentationml.slide+xml"/>
  <Override PartName="/ppt/slides/slide169.xml" ContentType="application/vnd.openxmlformats-officedocument.presentationml.slide+xml"/>
  <Override PartName="/ppt/slides/slide12.xml" ContentType="application/vnd.openxmlformats-officedocument.presentationml.slide+xml"/>
  <Override PartName="/ppt/slides/slide102.xml" ContentType="application/vnd.openxmlformats-officedocument.presentationml.slide+xml"/>
  <Override PartName="/ppt/slides/slide13.xml" ContentType="application/vnd.openxmlformats-officedocument.presentationml.slide+xml"/>
  <Override PartName="/ppt/slides/slide103.xml" ContentType="application/vnd.openxmlformats-officedocument.presentationml.slide+xml"/>
  <Override PartName="/ppt/slides/slide14.xml" ContentType="application/vnd.openxmlformats-officedocument.presentationml.slide+xml"/>
  <Override PartName="/ppt/slides/slide104.xml" ContentType="application/vnd.openxmlformats-officedocument.presentationml.slide+xml"/>
  <Override PartName="/ppt/slides/slide15.xml" ContentType="application/vnd.openxmlformats-officedocument.presentationml.slide+xml"/>
  <Override PartName="/ppt/slides/slide105.xml" ContentType="application/vnd.openxmlformats-officedocument.presentationml.slide+xml"/>
  <Override PartName="/ppt/slides/slide90.xml" ContentType="application/vnd.openxmlformats-officedocument.presentationml.slide+xml"/>
  <Override PartName="/ppt/slides/slide180.xml" ContentType="application/vnd.openxmlformats-officedocument.presentationml.slide+xml"/>
  <Override PartName="/ppt/slides/slide21.xml" ContentType="application/vnd.openxmlformats-officedocument.presentationml.slide+xml"/>
  <Override PartName="/ppt/slides/slide111.xml" ContentType="application/vnd.openxmlformats-officedocument.presentationml.slide+xml"/>
  <Override PartName="/ppt/slides/slide22.xml" ContentType="application/vnd.openxmlformats-officedocument.presentationml.slide+xml"/>
  <Override PartName="/ppt/slides/slide112.xml" ContentType="application/vnd.openxmlformats-officedocument.presentationml.slide+xml"/>
  <Override PartName="/ppt/slides/slide23.xml" ContentType="application/vnd.openxmlformats-officedocument.presentationml.slide+xml"/>
  <Override PartName="/ppt/slides/slide113.xml" ContentType="application/vnd.openxmlformats-officedocument.presentationml.slide+xml"/>
  <Override PartName="/ppt/slides/slide24.xml" ContentType="application/vnd.openxmlformats-officedocument.presentationml.slide+xml"/>
  <Override PartName="/ppt/slides/slide114.xml" ContentType="application/vnd.openxmlformats-officedocument.presentationml.slide+xml"/>
  <Override PartName="/ppt/slides/slide25.xml" ContentType="application/vnd.openxmlformats-officedocument.presentationml.slide+xml"/>
  <Override PartName="/ppt/slides/slide115.xml" ContentType="application/vnd.openxmlformats-officedocument.presentationml.slide+xml"/>
  <Override PartName="/ppt/slides/slide26.xml" ContentType="application/vnd.openxmlformats-officedocument.presentationml.slide+xml"/>
  <Override PartName="/ppt/slides/slide116.xml" ContentType="application/vnd.openxmlformats-officedocument.presentationml.slide+xml"/>
  <Override PartName="/ppt/slides/slide27.xml" ContentType="application/vnd.openxmlformats-officedocument.presentationml.slide+xml"/>
  <Override PartName="/ppt/slides/slide117.xml" ContentType="application/vnd.openxmlformats-officedocument.presentationml.slide+xml"/>
  <Override PartName="/ppt/slides/slide28.xml" ContentType="application/vnd.openxmlformats-officedocument.presentationml.slide+xml"/>
  <Override PartName="/ppt/slides/slide118.xml" ContentType="application/vnd.openxmlformats-officedocument.presentationml.slide+xml"/>
  <Override PartName="/ppt/slides/slide29.xml" ContentType="application/vnd.openxmlformats-officedocument.presentationml.slide+xml"/>
  <Override PartName="/ppt/slides/slide119.xml" ContentType="application/vnd.openxmlformats-officedocument.presentationml.slide+xml"/>
  <Override PartName="/ppt/slides/slide30.xml" ContentType="application/vnd.openxmlformats-officedocument.presentationml.slide+xml"/>
  <Override PartName="/ppt/slides/slide120.xml" ContentType="application/vnd.openxmlformats-officedocument.presentationml.slide+xml"/>
  <Override PartName="/ppt/slides/slide89.xml" ContentType="application/vnd.openxmlformats-officedocument.presentationml.slide+xml"/>
  <Override PartName="/ppt/slides/slide179.xml" ContentType="application/vnd.openxmlformats-officedocument.presentationml.slide+xml"/>
  <Override PartName="/ppt/slides/slide31.xml" ContentType="application/vnd.openxmlformats-officedocument.presentationml.slide+xml"/>
  <Override PartName="/ppt/slides/slide121.xml" ContentType="application/vnd.openxmlformats-officedocument.presentationml.slide+xml"/>
  <Override PartName="/ppt/slides/slide32.xml" ContentType="application/vnd.openxmlformats-officedocument.presentationml.slide+xml"/>
  <Override PartName="/ppt/slides/slide122.xml" ContentType="application/vnd.openxmlformats-officedocument.presentationml.slide+xml"/>
  <Override PartName="/ppt/slides/slide33.xml" ContentType="application/vnd.openxmlformats-officedocument.presentationml.slide+xml"/>
  <Override PartName="/ppt/slides/slide123.xml" ContentType="application/vnd.openxmlformats-officedocument.presentationml.slide+xml"/>
  <Override PartName="/ppt/slides/slide34.xml" ContentType="application/vnd.openxmlformats-officedocument.presentationml.slide+xml"/>
  <Override PartName="/ppt/slides/slide124.xml" ContentType="application/vnd.openxmlformats-officedocument.presentationml.slide+xml"/>
  <Override PartName="/ppt/slides/slide35.xml" ContentType="application/vnd.openxmlformats-officedocument.presentationml.slide+xml"/>
  <Override PartName="/ppt/slides/slide125.xml" ContentType="application/vnd.openxmlformats-officedocument.presentationml.slide+xml"/>
  <Override PartName="/ppt/slides/slide36.xml" ContentType="application/vnd.openxmlformats-officedocument.presentationml.slide+xml"/>
  <Override PartName="/ppt/slides/slide126.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127.xml" ContentType="application/vnd.openxmlformats-officedocument.presentationml.slide+xml"/>
  <Override PartName="/ppt/slides/slide38.xml" ContentType="application/vnd.openxmlformats-officedocument.presentationml.slide+xml"/>
  <Override PartName="/ppt/slides/slide2.xml" ContentType="application/vnd.openxmlformats-officedocument.presentationml.slide+xml"/>
  <Override PartName="/ppt/slides/slide128.xml" ContentType="application/vnd.openxmlformats-officedocument.presentationml.slide+xml"/>
  <Override PartName="/ppt/slides/slide39.xml" ContentType="application/vnd.openxmlformats-officedocument.presentationml.slide+xml"/>
  <Override PartName="/ppt/slides/slide3.xml" ContentType="application/vnd.openxmlformats-officedocument.presentationml.slide+xml"/>
  <Override PartName="/ppt/slides/slide129.xml" ContentType="application/vnd.openxmlformats-officedocument.presentationml.slide+xml"/>
  <Override PartName="/ppt/slides/slide40.xml" ContentType="application/vnd.openxmlformats-officedocument.presentationml.slide+xml"/>
  <Override PartName="/ppt/slides/slide130.xml" ContentType="application/vnd.openxmlformats-officedocument.presentationml.slide+xml"/>
  <Override PartName="/ppt/slides/slide41.xml" ContentType="application/vnd.openxmlformats-officedocument.presentationml.slide+xml"/>
  <Override PartName="/ppt/slides/slide131.xml" ContentType="application/vnd.openxmlformats-officedocument.presentationml.slide+xml"/>
  <Override PartName="/ppt/slides/slide42.xml" ContentType="application/vnd.openxmlformats-officedocument.presentationml.slide+xml"/>
  <Override PartName="/ppt/slides/slide132.xml" ContentType="application/vnd.openxmlformats-officedocument.presentationml.slide+xml"/>
  <Override PartName="/ppt/slides/slide43.xml" ContentType="application/vnd.openxmlformats-officedocument.presentationml.slide+xml"/>
  <Override PartName="/ppt/slides/slide133.xml" ContentType="application/vnd.openxmlformats-officedocument.presentationml.slide+xml"/>
  <Override PartName="/ppt/slides/slide44.xml" ContentType="application/vnd.openxmlformats-officedocument.presentationml.slide+xml"/>
  <Override PartName="/ppt/slides/slide134.xml" ContentType="application/vnd.openxmlformats-officedocument.presentationml.slide+xml"/>
  <Override PartName="/ppt/slides/slide45.xml" ContentType="application/vnd.openxmlformats-officedocument.presentationml.slide+xml"/>
  <Override PartName="/ppt/slides/slide135.xml" ContentType="application/vnd.openxmlformats-officedocument.presentationml.slide+xml"/>
  <Override PartName="/ppt/slides/slide46.xml" ContentType="application/vnd.openxmlformats-officedocument.presentationml.slide+xml"/>
  <Override PartName="/ppt/slides/slide136.xml" ContentType="application/vnd.openxmlformats-officedocument.presentationml.slide+xml"/>
  <Override PartName="/ppt/slides/slide47.xml" ContentType="application/vnd.openxmlformats-officedocument.presentationml.slide+xml"/>
  <Override PartName="/ppt/slides/slide137.xml" ContentType="application/vnd.openxmlformats-officedocument.presentationml.slide+xml"/>
  <Override PartName="/ppt/slides/slide50.xml" ContentType="application/vnd.openxmlformats-officedocument.presentationml.slide+xml"/>
  <Override PartName="/ppt/slides/slide140.xml" ContentType="application/vnd.openxmlformats-officedocument.presentationml.slide+xml"/>
  <Override PartName="/ppt/slides/slide51.xml" ContentType="application/vnd.openxmlformats-officedocument.presentationml.slide+xml"/>
  <Override PartName="/ppt/slides/slide141.xml" ContentType="application/vnd.openxmlformats-officedocument.presentationml.slide+xml"/>
  <Override PartName="/ppt/slides/slide52.xml" ContentType="application/vnd.openxmlformats-officedocument.presentationml.slide+xml"/>
  <Override PartName="/ppt/slides/slide142.xml" ContentType="application/vnd.openxmlformats-officedocument.presentationml.slide+xml"/>
  <Override PartName="/ppt/slides/slide53.xml" ContentType="application/vnd.openxmlformats-officedocument.presentationml.slide+xml"/>
  <Override PartName="/ppt/slides/slide143.xml" ContentType="application/vnd.openxmlformats-officedocument.presentationml.slide+xml"/>
  <Override PartName="/ppt/slides/slide54.xml" ContentType="application/vnd.openxmlformats-officedocument.presentationml.slide+xml"/>
  <Override PartName="/ppt/slides/slide144.xml" ContentType="application/vnd.openxmlformats-officedocument.presentationml.slide+xml"/>
  <Override PartName="/ppt/slides/slide55.xml" ContentType="application/vnd.openxmlformats-officedocument.presentationml.slide+xml"/>
  <Override PartName="/ppt/slides/slide145.xml" ContentType="application/vnd.openxmlformats-officedocument.presentationml.slide+xml"/>
  <Override PartName="/ppt/slides/slide56.xml" ContentType="application/vnd.openxmlformats-officedocument.presentationml.slide+xml"/>
  <Override PartName="/ppt/slides/slide146.xml" ContentType="application/vnd.openxmlformats-officedocument.presentationml.slide+xml"/>
  <Override PartName="/ppt/slides/slide57.xml" ContentType="application/vnd.openxmlformats-officedocument.presentationml.slide+xml"/>
  <Override PartName="/ppt/slides/slide147.xml" ContentType="application/vnd.openxmlformats-officedocument.presentationml.slide+xml"/>
  <Override PartName="/ppt/slides/slide58.xml" ContentType="application/vnd.openxmlformats-officedocument.presentationml.slide+xml"/>
  <Override PartName="/ppt/slides/slide148.xml" ContentType="application/vnd.openxmlformats-officedocument.presentationml.slide+xml"/>
  <Override PartName="/ppt/slides/slide59.xml" ContentType="application/vnd.openxmlformats-officedocument.presentationml.slide+xml"/>
  <Override PartName="/ppt/slides/slide149.xml" ContentType="application/vnd.openxmlformats-officedocument.presentationml.slide+xml"/>
  <Override PartName="/ppt/slides/slide60.xml" ContentType="application/vnd.openxmlformats-officedocument.presentationml.slide+xml"/>
  <Override PartName="/ppt/slides/slide150.xml" ContentType="application/vnd.openxmlformats-officedocument.presentationml.slide+xml"/>
  <Override PartName="/ppt/slides/slide61.xml" ContentType="application/vnd.openxmlformats-officedocument.presentationml.slide+xml"/>
  <Override PartName="/ppt/slides/slide151.xml" ContentType="application/vnd.openxmlformats-officedocument.presentationml.slide+xml"/>
  <Override PartName="/ppt/slides/slide62.xml" ContentType="application/vnd.openxmlformats-officedocument.presentationml.slide+xml"/>
  <Override PartName="/ppt/slides/slide152.xml" ContentType="application/vnd.openxmlformats-officedocument.presentationml.slide+xml"/>
  <Override PartName="/ppt/slides/slide63.xml" ContentType="application/vnd.openxmlformats-officedocument.presentationml.slide+xml"/>
  <Override PartName="/ppt/slides/slide153.xml" ContentType="application/vnd.openxmlformats-officedocument.presentationml.slide+xml"/>
  <Override PartName="/ppt/slides/slide64.xml" ContentType="application/vnd.openxmlformats-officedocument.presentationml.slide+xml"/>
  <Override PartName="/ppt/slides/slide154.xml" ContentType="application/vnd.openxmlformats-officedocument.presentationml.slide+xml"/>
  <Override PartName="/ppt/slides/slide65.xml" ContentType="application/vnd.openxmlformats-officedocument.presentationml.slide+xml"/>
  <Override PartName="/ppt/slides/slide155.xml" ContentType="application/vnd.openxmlformats-officedocument.presentationml.slide+xml"/>
  <Override PartName="/ppt/slides/slide66.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67.xml" ContentType="application/vnd.openxmlformats-officedocument.presentationml.slide+xml"/>
  <Override PartName="/ppt/slides/slide160.xml" ContentType="application/vnd.openxmlformats-officedocument.presentationml.slide+xml"/>
  <Override PartName="/ppt/slides/slide70.xml" ContentType="application/vnd.openxmlformats-officedocument.presentationml.slide+xml"/>
  <Override PartName="/ppt/slides/slide158.xml" ContentType="application/vnd.openxmlformats-officedocument.presentationml.slide+xml"/>
  <Override PartName="/ppt/slides/slide68.xml" ContentType="application/vnd.openxmlformats-officedocument.presentationml.slide+xml"/>
  <Override PartName="/ppt/slides/slide71.xml" ContentType="application/vnd.openxmlformats-officedocument.presentationml.slide+xml"/>
  <Override PartName="/ppt/slides/slide161.xml" ContentType="application/vnd.openxmlformats-officedocument.presentationml.slide+xml"/>
  <Override PartName="/ppt/slides/slide72.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73.xml" ContentType="application/vnd.openxmlformats-officedocument.presentationml.slide+xml"/>
  <Override PartName="/ppt/slides/slide138.xml" ContentType="application/vnd.openxmlformats-officedocument.presentationml.slide+xml"/>
  <Override PartName="/ppt/slides/slide48.xml" ContentType="application/vnd.openxmlformats-officedocument.presentationml.slide+xml"/>
  <Override PartName="/ppt/slides/slide164.xml" ContentType="application/vnd.openxmlformats-officedocument.presentationml.slide+xml"/>
  <Override PartName="/ppt/slides/slide74.xml" ContentType="application/vnd.openxmlformats-officedocument.presentationml.slide+xml"/>
  <Override PartName="/ppt/slides/slide139.xml" ContentType="application/vnd.openxmlformats-officedocument.presentationml.slide+xml"/>
  <Override PartName="/ppt/slides/slide49.xml" ContentType="application/vnd.openxmlformats-officedocument.presentationml.slide+xml"/>
  <Override PartName="/ppt/slides/slide190.xml" ContentType="application/vnd.openxmlformats-officedocument.presentationml.slide+xml"/>
  <Override PartName="/ppt/slides/slide75.xml" ContentType="application/vnd.openxmlformats-officedocument.presentationml.slide+xml"/>
  <Override PartName="/ppt/slides/slide165.xml" ContentType="application/vnd.openxmlformats-officedocument.presentationml.slide+xml"/>
  <Override PartName="/ppt/slides/slide76.xml" ContentType="application/vnd.openxmlformats-officedocument.presentationml.slide+xml"/>
  <Override PartName="/ppt/slides/slide166.xml" ContentType="application/vnd.openxmlformats-officedocument.presentationml.slide+xml"/>
  <Override PartName="/ppt/slides/slide77.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78.xml" ContentType="application/vnd.openxmlformats-officedocument.presentationml.slide+xml"/>
  <Override PartName="/ppt/slides/slide80.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81.xml" ContentType="application/vnd.openxmlformats-officedocument.presentationml.slide+xml"/>
  <Override PartName="/ppt/slides/slide84.xml" ContentType="application/vnd.openxmlformats-officedocument.presentationml.slide+xml"/>
  <Override PartName="/ppt/slides/slide174.xml" ContentType="application/vnd.openxmlformats-officedocument.presentationml.slide+xml"/>
  <Override PartName="/ppt/slides/slide176.xml" ContentType="application/vnd.openxmlformats-officedocument.presentationml.slide+xml"/>
  <Override PartName="/ppt/slides/slide86.xml" ContentType="application/vnd.openxmlformats-officedocument.presentationml.slide+xml"/>
  <Override PartName="/ppt/slides/slide177.xml" ContentType="application/vnd.openxmlformats-officedocument.presentationml.slide+xml"/>
  <Override PartName="/ppt/slides/slide87.xml" ContentType="application/vnd.openxmlformats-officedocument.presentationml.slide+xml"/>
  <Override PartName="/ppt/slides/slide192.xml" ContentType="application/vnd.openxmlformats-officedocument.presentationml.slide+xml"/>
  <Override PartName="/ppt/slides/slide82.xml" ContentType="application/vnd.openxmlformats-officedocument.presentationml.slide+xml"/>
  <Override PartName="/ppt/slides/slide172.xml" ContentType="application/vnd.openxmlformats-officedocument.presentationml.slide+xml"/>
  <Override PartName="/ppt/slides/slide188.xml" ContentType="application/vnd.openxmlformats-officedocument.presentationml.slide+xml"/>
  <Override PartName="/ppt/slides/slide98.xml" ContentType="application/vnd.openxmlformats-officedocument.presentationml.slide+xml"/>
  <Override PartName="/ppt/slides/slide178.xml" ContentType="application/vnd.openxmlformats-officedocument.presentationml.slide+xml"/>
  <Override PartName="/ppt/slides/slide88.xml" ContentType="application/vnd.openxmlformats-officedocument.presentationml.slide+xml"/>
  <Override PartName="/ppt/slides/slide191.xml" ContentType="application/vnd.openxmlformats-officedocument.presentationml.slide+xml"/>
  <Override PartName="/ppt/slides/slide83.xml" ContentType="application/vnd.openxmlformats-officedocument.presentationml.slide+xml"/>
  <Override PartName="/ppt/slides/slide173.xml" ContentType="application/vnd.openxmlformats-officedocument.presentationml.slide+xml"/>
  <Override PartName="/ppt/slides/slide189.xml" ContentType="application/vnd.openxmlformats-officedocument.presentationml.slide+xml"/>
  <Override PartName="/ppt/slides/slide99.xml" ContentType="application/vnd.openxmlformats-officedocument.presentationml.slide+xml"/>
  <Override PartName="/ppt/slides/slide85.xml" ContentType="application/vnd.openxmlformats-officedocument.presentationml.slide+xml"/>
  <Override PartName="/ppt/slides/slide175.xml" ContentType="application/vnd.openxmlformats-officedocument.presentationml.slide+xml"/>
  <Override PartName="/ppt/notesSlides/notesSlide38.xml" ContentType="application/vnd.openxmlformats-officedocument.presentationml.notesSlide+xml"/>
  <Override PartName="/ppt/notesSlides/notesSlide130.xml" ContentType="application/vnd.openxmlformats-officedocument.presentationml.notesSlide+xml"/>
  <Override PartName="/ppt/notesSlides/notesSlide12.xml" ContentType="application/vnd.openxmlformats-officedocument.presentationml.notesSlide+xml"/>
  <Override PartName="/ppt/notesSlides/notesSlide166.xml" ContentType="application/vnd.openxmlformats-officedocument.presentationml.notesSlide+xml"/>
  <Override PartName="/ppt/notesSlides/notesSlide98.xml" ContentType="application/vnd.openxmlformats-officedocument.presentationml.notesSlide+xml"/>
  <Override PartName="/ppt/notesSlides/notesSlide190.xml" ContentType="application/vnd.openxmlformats-officedocument.presentationml.notesSlide+xml"/>
  <Override PartName="/ppt/notesSlides/notesSlide22.xml" ContentType="application/vnd.openxmlformats-officedocument.presentationml.notesSlide+xml"/>
  <Override PartName="/ppt/notesSlides/notesSlide176.xml" ContentType="application/vnd.openxmlformats-officedocument.presentationml.notesSlide+xml"/>
  <Override PartName="/ppt/notesSlides/notesSlide24.xml" ContentType="application/vnd.openxmlformats-officedocument.presentationml.notesSlide+xml"/>
  <Override PartName="/ppt/notesSlides/notesSlide178.xml" ContentType="application/vnd.openxmlformats-officedocument.presentationml.notesSlide+xml"/>
  <Override PartName="/ppt/notesSlides/notesSlide25.xml" ContentType="application/vnd.openxmlformats-officedocument.presentationml.notesSlide+xml"/>
  <Override PartName="/ppt/notesSlides/notesSlide179.xml" ContentType="application/vnd.openxmlformats-officedocument.presentationml.notesSlide+xml"/>
  <Override PartName="/ppt/notesSlides/notesSlide10.xml" ContentType="application/vnd.openxmlformats-officedocument.presentationml.notesSlide+xml"/>
  <Override PartName="/ppt/notesSlides/notesSlide164.xml" ContentType="application/vnd.openxmlformats-officedocument.presentationml.notesSlide+xml"/>
  <Override PartName="/ppt/notesSlides/notesSlide69.xml" ContentType="application/vnd.openxmlformats-officedocument.presentationml.notesSlide+xml"/>
  <Override PartName="/ppt/notesSlides/notesSlide161.xml" ContentType="application/vnd.openxmlformats-officedocument.presentationml.notesSlide+xml"/>
  <Override PartName="/ppt/notesSlides/notesSlide11.xml" ContentType="application/vnd.openxmlformats-officedocument.presentationml.notesSlide+xml"/>
  <Override PartName="/ppt/notesSlides/notesSlide165.xml" ContentType="application/vnd.openxmlformats-officedocument.presentationml.notesSlide+xml"/>
  <Override PartName="/ppt/notesSlides/notesSlide13.xml" ContentType="application/vnd.openxmlformats-officedocument.presentationml.notesSlide+xml"/>
  <Override PartName="/ppt/notesSlides/notesSlide167.xml" ContentType="application/vnd.openxmlformats-officedocument.presentationml.notesSlide+xml"/>
  <Override PartName="/ppt/notesSlides/notesSlide14.xml" ContentType="application/vnd.openxmlformats-officedocument.presentationml.notesSlide+xml"/>
  <Override PartName="/ppt/notesSlides/notesSlide168.xml" ContentType="application/vnd.openxmlformats-officedocument.presentationml.notesSlide+xml"/>
  <Override PartName="/ppt/notesSlides/notesSlide15.xml" ContentType="application/vnd.openxmlformats-officedocument.presentationml.notesSlide+xml"/>
  <Override PartName="/ppt/notesSlides/notesSlide169.xml" ContentType="application/vnd.openxmlformats-officedocument.presentationml.notesSlide+xml"/>
  <Override PartName="/ppt/notesSlides/notesSlide90.xml" ContentType="application/vnd.openxmlformats-officedocument.presentationml.notesSlide+xml"/>
  <Override PartName="/ppt/notesSlides/notesSlide16.xml" ContentType="application/vnd.openxmlformats-officedocument.presentationml.notesSlide+xml"/>
  <Override PartName="/ppt/notesSlides/notesSlide91.xml" ContentType="application/vnd.openxmlformats-officedocument.presentationml.notesSlide+xml"/>
  <Override PartName="/ppt/notesSlides/notesSlide17.xml" ContentType="application/vnd.openxmlformats-officedocument.presentationml.notesSlide+xml"/>
  <Override PartName="/ppt/notesSlides/notesSlide92.xml" ContentType="application/vnd.openxmlformats-officedocument.presentationml.notesSlide+xml"/>
  <Override PartName="/ppt/notesSlides/notesSlide18.xml" ContentType="application/vnd.openxmlformats-officedocument.presentationml.notesSlide+xml"/>
  <Override PartName="/ppt/notesSlides/notesSlide110.xml" ContentType="application/vnd.openxmlformats-officedocument.presentationml.notesSlide+xml"/>
  <Override PartName="/ppt/notesSlides/notesSlide93.xml" ContentType="application/vnd.openxmlformats-officedocument.presentationml.notesSlide+xml"/>
  <Override PartName="/ppt/notesSlides/notesSlide19.xml" ContentType="application/vnd.openxmlformats-officedocument.presentationml.notesSlide+xml"/>
  <Override PartName="/ppt/notesSlides/notesSlide111.xml" ContentType="application/vnd.openxmlformats-officedocument.presentationml.notesSlide+xml"/>
  <Override PartName="/ppt/notesSlides/notesSlide94.xml" ContentType="application/vnd.openxmlformats-officedocument.presentationml.notesSlide+xml"/>
  <Override PartName="/ppt/notesSlides/notesSlide20.xml" ContentType="application/vnd.openxmlformats-officedocument.presentationml.notesSlide+xml"/>
  <Override PartName="/ppt/notesSlides/notesSlide174.xml" ContentType="application/vnd.openxmlformats-officedocument.presentationml.notesSlide+xml"/>
  <Override PartName="/ppt/notesSlides/notesSlide79.xml" ContentType="application/vnd.openxmlformats-officedocument.presentationml.notesSlide+xml"/>
  <Override PartName="/ppt/notesSlides/notesSlide171.xml" ContentType="application/vnd.openxmlformats-officedocument.presentationml.notesSlide+xml"/>
  <Override PartName="/ppt/notesSlides/notesSlide4.xml" ContentType="application/vnd.openxmlformats-officedocument.presentationml.notesSlide+xml"/>
  <Override PartName="/ppt/notesSlides/notesSlide96.xml" ContentType="application/vnd.openxmlformats-officedocument.presentationml.notesSlide+xml"/>
  <Override PartName="/ppt/notesSlides/notesSlide21.xml" ContentType="application/vnd.openxmlformats-officedocument.presentationml.notesSlide+xml"/>
  <Override PartName="/ppt/notesSlides/notesSlide175.xml" ContentType="application/vnd.openxmlformats-officedocument.presentationml.notesSlide+xml"/>
  <Override PartName="/ppt/notesSlides/notesSlide97.xml" ContentType="application/vnd.openxmlformats-officedocument.presentationml.notesSlide+xml"/>
  <Override PartName="/ppt/notesSlides/notesSlide23.xml" ContentType="application/vnd.openxmlformats-officedocument.presentationml.notesSlide+xml"/>
  <Override PartName="/ppt/notesSlides/notesSlide17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120.xml" ContentType="application/vnd.openxmlformats-officedocument.presentationml.notesSlide+xml"/>
  <Override PartName="/ppt/notesSlides/notesSlide29.xml" ContentType="application/vnd.openxmlformats-officedocument.presentationml.notesSlide+xml"/>
  <Override PartName="/ppt/notesSlides/notesSlide121.xml" ContentType="application/vnd.openxmlformats-officedocument.presentationml.notesSlide+xml"/>
  <Override PartName="/ppt/notesSlides/notesSlide30.xml" ContentType="application/vnd.openxmlformats-officedocument.presentationml.notesSlide+xml"/>
  <Override PartName="/ppt/notesSlides/notesSlide184.xml" ContentType="application/vnd.openxmlformats-officedocument.presentationml.notesSlide+xml"/>
  <Override PartName="/ppt/notesSlides/notesSlide89.xml" ContentType="application/vnd.openxmlformats-officedocument.presentationml.notesSlide+xml"/>
  <Override PartName="/ppt/notesSlides/notesSlide181.xml" ContentType="application/vnd.openxmlformats-officedocument.presentationml.notesSlide+xml"/>
  <Override PartName="/ppt/notesSlides/notesSlide31.xml" ContentType="application/vnd.openxmlformats-officedocument.presentationml.notesSlide+xml"/>
  <Override PartName="/ppt/notesSlides/notesSlide185.xml" ContentType="application/vnd.openxmlformats-officedocument.presentationml.notesSlide+xml"/>
  <Override PartName="/ppt/notesSlides/notesSlide32.xml" ContentType="application/vnd.openxmlformats-officedocument.presentationml.notesSlide+xml"/>
  <Override PartName="/ppt/notesSlides/notesSlide186.xml" ContentType="application/vnd.openxmlformats-officedocument.presentationml.notesSlide+xml"/>
  <Override PartName="/ppt/notesSlides/notesSlide33.xml" ContentType="application/vnd.openxmlformats-officedocument.presentationml.notesSlide+xml"/>
  <Override PartName="/ppt/notesSlides/notesSlide187.xml" ContentType="application/vnd.openxmlformats-officedocument.presentationml.notesSlide+xml"/>
  <Override PartName="/ppt/notesSlides/notesSlide34.xml" ContentType="application/vnd.openxmlformats-officedocument.presentationml.notesSlide+xml"/>
  <Override PartName="/ppt/notesSlides/notesSlide188.xml" ContentType="application/vnd.openxmlformats-officedocument.presentationml.notesSlide+xml"/>
  <Override PartName="/ppt/notesSlides/notesSlide35.xml" ContentType="application/vnd.openxmlformats-officedocument.presentationml.notesSlide+xml"/>
  <Override PartName="/ppt/notesSlides/notesSlide189.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131.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2.xml" ContentType="application/vnd.openxmlformats-officedocument.presentationml.notesSlide+xml"/>
  <Override PartName="/ppt/notesSlides/notesSlide191.xml" ContentType="application/vnd.openxmlformats-officedocument.presentationml.notesSlide+xml"/>
  <Override PartName="/ppt/notesSlides/notesSlide41.xml" ContentType="application/vnd.openxmlformats-officedocument.presentationml.notesSlide+xml"/>
  <Override PartName="/ppt/notesSlides/notesSlide6.xml" ContentType="application/vnd.openxmlformats-officedocument.presentationml.notesSlide+xml"/>
  <Override PartName="/ppt/notesSlides/notesSlide42.xml" ContentType="application/vnd.openxmlformats-officedocument.presentationml.notesSlide+xml"/>
  <Override PartName="/ppt/notesSlides/notesSlide7.xml" ContentType="application/vnd.openxmlformats-officedocument.presentationml.notesSlide+xml"/>
  <Override PartName="/ppt/notesSlides/notesSlide43.xml" ContentType="application/vnd.openxmlformats-officedocument.presentationml.notesSlide+xml"/>
  <Override PartName="/ppt/notesSlides/notesSlide8.xml" ContentType="application/vnd.openxmlformats-officedocument.presentationml.notesSlide+xml"/>
  <Override PartName="/ppt/notesSlides/notesSlide44.xml" ContentType="application/vnd.openxmlformats-officedocument.presentationml.notesSlide+xml"/>
  <Override PartName="/ppt/notesSlides/notesSlide9.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140.xml" ContentType="application/vnd.openxmlformats-officedocument.presentationml.notesSlide+xml"/>
  <Override PartName="/ppt/notesSlides/notesSlide49.xml" ContentType="application/vnd.openxmlformats-officedocument.presentationml.notesSlide+xml"/>
  <Override PartName="/ppt/notesSlides/notesSlide141.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150.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151.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160.xml" ContentType="application/vnd.openxmlformats-officedocument.presentationml.notesSlide+xml"/>
  <Override PartName="/ppt/notesSlides/notesSlide68.xml" ContentType="application/vnd.openxmlformats-officedocument.presentationml.notesSlide+xml"/>
  <Override PartName="/ppt/notesSlides/notesSlide67.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170.xml" ContentType="application/vnd.openxmlformats-officedocument.presentationml.notesSlide+xml"/>
  <Override PartName="/ppt/notesSlides/notesSlide78.xml" ContentType="application/vnd.openxmlformats-officedocument.presentationml.notesSlide+xml"/>
  <Override PartName="/ppt/notesSlides/notesSlide77.xml" ContentType="application/vnd.openxmlformats-officedocument.presentationml.notesSlide+xml"/>
  <Override PartName="/ppt/notesSlides/notesSlide83.xml" ContentType="application/vnd.openxmlformats-officedocument.presentationml.notesSlide+xml"/>
  <Override PartName="/ppt/notesSlides/notesSlide101.xml" ContentType="application/vnd.openxmlformats-officedocument.presentationml.notesSlide+xml"/>
  <Override PartName="/ppt/notesSlides/notesSlide84.xml" ContentType="application/vnd.openxmlformats-officedocument.presentationml.notesSlide+xml"/>
  <Override PartName="/ppt/notesSlides/notesSlide102.xml" ContentType="application/vnd.openxmlformats-officedocument.presentationml.notesSlide+xml"/>
  <Override PartName="/ppt/notesSlides/notesSlide85.xml" ContentType="application/vnd.openxmlformats-officedocument.presentationml.notesSlide+xml"/>
  <Override PartName="/ppt/notesSlides/notesSlide103.xml" ContentType="application/vnd.openxmlformats-officedocument.presentationml.notesSlide+xml"/>
  <Override PartName="/ppt/notesSlides/notesSlide86.xml" ContentType="application/vnd.openxmlformats-officedocument.presentationml.notesSlide+xml"/>
  <Override PartName="/ppt/notesSlides/notesSlide104.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180.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9.xml" ContentType="application/vnd.openxmlformats-officedocument.presentationml.notesSlide+xml"/>
  <Override PartName="/ppt/notesSlides/notesSlide112.xml" ContentType="application/vnd.openxmlformats-officedocument.presentationml.notesSlide+xml"/>
  <Override PartName="/ppt/notesSlides/notesSlide95.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92.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60.xml" ContentType="application/vnd.openxmlformats-officedocument.presentationml.notesSlide+xml"/>
  <Override PartName="/ppt/notesSlides/notesSlide137.xml" ContentType="application/vnd.openxmlformats-officedocument.presentationml.notesSlide+xml"/>
  <Override PartName="/ppt/notesSlides/notesSlide61.xml" ContentType="application/vnd.openxmlformats-officedocument.presentationml.notesSlide+xml"/>
  <Override PartName="/ppt/notesSlides/notesSlide138.xml" ContentType="application/vnd.openxmlformats-officedocument.presentationml.notesSlide+xml"/>
  <Override PartName="/ppt/notesSlides/notesSlide142.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07.xml" ContentType="application/vnd.openxmlformats-officedocument.presentationml.notesSlide+xml"/>
  <Override PartName="/ppt/notesSlides/notesSlide182.xml" ContentType="application/vnd.openxmlformats-officedocument.presentationml.notesSlide+xml"/>
  <Override PartName="/ppt/notesSlides/notesSlide72.xml" ContentType="application/vnd.openxmlformats-officedocument.presentationml.notesSlide+xml"/>
  <Override PartName="/ppt/notesSlides/notesSlide149.xml" ContentType="application/vnd.openxmlformats-officedocument.presentationml.notesSlide+xml"/>
  <Override PartName="/ppt/notesSlides/notesSlide119.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73.xml" ContentType="application/vnd.openxmlformats-officedocument.presentationml.notesSlide+xml"/>
  <Override PartName="/ppt/notesSlides/notesSlide81.xml" ContentType="application/vnd.openxmlformats-officedocument.presentationml.notesSlide+xml"/>
  <Override PartName="/ppt/notesSlides/notesSlide158.xml" ContentType="application/vnd.openxmlformats-officedocument.presentationml.notesSlide+xml"/>
  <Override PartName="/ppt/notesSlides/notesSlide82.xml" ContentType="application/vnd.openxmlformats-officedocument.presentationml.notesSlide+xml"/>
  <Override PartName="/ppt/notesSlides/notesSlide100.xml" ContentType="application/vnd.openxmlformats-officedocument.presentationml.notesSlide+xml"/>
  <Override PartName="/ppt/notesSlides/notesSlide159.xml" ContentType="application/vnd.openxmlformats-officedocument.presentationml.notesSlide+xml"/>
  <Override PartName="/ppt/notesSlides/notesSlide156.xml" ContentType="application/vnd.openxmlformats-officedocument.presentationml.notesSlide+xml"/>
  <Override PartName="/ppt/notesSlides/notesSlide70.xml" ContentType="application/vnd.openxmlformats-officedocument.presentationml.notesSlide+xml"/>
  <Override PartName="/ppt/notesSlides/notesSlide147.xml" ContentType="application/vnd.openxmlformats-officedocument.presentationml.notesSlide+xml"/>
  <Override PartName="/ppt/notesSlides/_rels/notesSlide143.xml.rels" ContentType="application/vnd.openxmlformats-package.relationships+xml"/>
  <Override PartName="/ppt/notesSlides/_rels/notesSlide71.xml.rels" ContentType="application/vnd.openxmlformats-package.relationships+xml"/>
  <Override PartName="/ppt/notesSlides/_rels/notesSlide186.xml.rels" ContentType="application/vnd.openxmlformats-package.relationships+xml"/>
  <Override PartName="/ppt/notesSlides/_rels/notesSlide163.xml.rels" ContentType="application/vnd.openxmlformats-package.relationships+xml"/>
  <Override PartName="/ppt/notesSlides/_rels/notesSlide148.xml.rels" ContentType="application/vnd.openxmlformats-package.relationships+xml"/>
  <Override PartName="/ppt/notesSlides/_rels/notesSlide33.xml.rels" ContentType="application/vnd.openxmlformats-package.relationships+xml"/>
  <Override PartName="/ppt/notesSlides/_rels/notesSlide76.xml.rels" ContentType="application/vnd.openxmlformats-package.relationships+xml"/>
  <Override PartName="/ppt/notesSlides/_rels/notesSlide183.xml.rels" ContentType="application/vnd.openxmlformats-package.relationships+xml"/>
  <Override PartName="/ppt/notesSlides/_rels/notesSlide108.xml.rels" ContentType="application/vnd.openxmlformats-package.relationships+xml"/>
  <Override PartName="/ppt/notesSlides/_rels/notesSlide172.xml.rels" ContentType="application/vnd.openxmlformats-package.relationships+xml"/>
  <Override PartName="/ppt/notesSlides/_rels/notesSlide139.xml.rels" ContentType="application/vnd.openxmlformats-package.relationships+xml"/>
  <Override PartName="/ppt/notesSlides/_rels/notesSlide24.xml.rels" ContentType="application/vnd.openxmlformats-package.relationships+xml"/>
  <Override PartName="/ppt/notesSlides/_rels/notesSlide67.xml.rels" ContentType="application/vnd.openxmlformats-package.relationships+xml"/>
  <Override PartName="/ppt/notesSlides/_rels/notesSlide120.xml.rels" ContentType="application/vnd.openxmlformats-package.relationships+xml"/>
  <Override PartName="/ppt/notesSlides/_rels/notesSlide157.xml.rels" ContentType="application/vnd.openxmlformats-package.relationships+xml"/>
  <Override PartName="/ppt/notesSlides/_rels/notesSlide42.xml.rels" ContentType="application/vnd.openxmlformats-package.relationships+xml"/>
  <Override PartName="/ppt/notesSlides/_rels/notesSlide85.xml.rels" ContentType="application/vnd.openxmlformats-package.relationships+xml"/>
  <Override PartName="/ppt/notesSlides/_rels/notesSlide162.xml.rels" ContentType="application/vnd.openxmlformats-package.relationships+xml"/>
  <Override PartName="/ppt/notesSlides/_rels/notesSlide129.xml.rels" ContentType="application/vnd.openxmlformats-package.relationships+xml"/>
  <Override PartName="/ppt/notesSlides/_rels/notesSlide14.xml.rels" ContentType="application/vnd.openxmlformats-package.relationships+xml"/>
  <Override PartName="/ppt/notesSlides/_rels/notesSlide57.xml.rels" ContentType="application/vnd.openxmlformats-package.relationships+xml"/>
  <Override PartName="/ppt/notesSlides/_rels/notesSlide110.xml.rels" ContentType="application/vnd.openxmlformats-package.relationships+xml"/>
  <Override PartName="/ppt/notesSlides/_rels/notesSlide147.xml.rels" ContentType="application/vnd.openxmlformats-package.relationships+xml"/>
  <Override PartName="/ppt/notesSlides/_rels/notesSlide32.xml.rels" ContentType="application/vnd.openxmlformats-package.relationships+xml"/>
  <Override PartName="/ppt/notesSlides/_rels/notesSlide75.xml.rels" ContentType="application/vnd.openxmlformats-package.relationships+xml"/>
  <Override PartName="/ppt/notesSlides/_rels/notesSlide156.xml.rels" ContentType="application/vnd.openxmlformats-package.relationships+xml"/>
  <Override PartName="/ppt/notesSlides/_rels/notesSlide41.xml.rels" ContentType="application/vnd.openxmlformats-package.relationships+xml"/>
  <Override PartName="/ppt/notesSlides/_rels/notesSlide84.xml.rels" ContentType="application/vnd.openxmlformats-package.relationships+xml"/>
  <Override PartName="/ppt/notesSlides/_rels/notesSlide159.xml.rels" ContentType="application/vnd.openxmlformats-package.relationships+xml"/>
  <Override PartName="/ppt/notesSlides/_rels/notesSlide44.xml.rels" ContentType="application/vnd.openxmlformats-package.relationships+xml"/>
  <Override PartName="/ppt/notesSlides/_rels/notesSlide100.xml.rels" ContentType="application/vnd.openxmlformats-package.relationships+xml"/>
  <Override PartName="/ppt/notesSlides/_rels/notesSlide47.xml.rels" ContentType="application/vnd.openxmlformats-package.relationships+xml"/>
  <Override PartName="/ppt/notesSlides/_rels/notesSlide87.xml.rels" ContentType="application/vnd.openxmlformats-package.relationships+xml"/>
  <Override PartName="/ppt/notesSlides/_rels/notesSlide140.xml.rels" ContentType="application/vnd.openxmlformats-package.relationships+xml"/>
  <Override PartName="/ppt/notesSlides/_rels/notesSlide158.xml.rels" ContentType="application/vnd.openxmlformats-package.relationships+xml"/>
  <Override PartName="/ppt/notesSlides/_rels/notesSlide43.xml.rels" ContentType="application/vnd.openxmlformats-package.relationships+xml"/>
  <Override PartName="/ppt/notesSlides/_rels/notesSlide86.xml.rels" ContentType="application/vnd.openxmlformats-package.relationships+xml"/>
  <Override PartName="/ppt/notesSlides/_rels/notesSlide173.xml.rels" ContentType="application/vnd.openxmlformats-package.relationships+xml"/>
  <Override PartName="/ppt/notesSlides/_rels/notesSlide155.xml.rels" ContentType="application/vnd.openxmlformats-package.relationships+xml"/>
  <Override PartName="/ppt/notesSlides/_rels/notesSlide40.xml.rels" ContentType="application/vnd.openxmlformats-package.relationships+xml"/>
  <Override PartName="/ppt/notesSlides/_rels/notesSlide83.xml.rels" ContentType="application/vnd.openxmlformats-package.relationships+xml"/>
  <Override PartName="/ppt/notesSlides/_rels/notesSlide154.xml.rels" ContentType="application/vnd.openxmlformats-package.relationships+xml"/>
  <Override PartName="/ppt/notesSlides/_rels/notesSlide82.xml.rels" ContentType="application/vnd.openxmlformats-package.relationships+xml"/>
  <Override PartName="/ppt/notesSlides/_rels/notesSlide153.xml.rels" ContentType="application/vnd.openxmlformats-package.relationships+xml"/>
  <Override PartName="/ppt/notesSlides/_rels/notesSlide81.xml.rels" ContentType="application/vnd.openxmlformats-package.relationships+xml"/>
  <Override PartName="/ppt/notesSlides/_rels/notesSlide152.xml.rels" ContentType="application/vnd.openxmlformats-package.relationships+xml"/>
  <Override PartName="/ppt/notesSlides/_rels/notesSlide99.xml.rels" ContentType="application/vnd.openxmlformats-package.relationships+xml"/>
  <Override PartName="/ppt/notesSlides/_rels/notesSlide80.xml.rels" ContentType="application/vnd.openxmlformats-package.relationships+xml"/>
  <Override PartName="/ppt/notesSlides/_rels/notesSlide119.xml.rels" ContentType="application/vnd.openxmlformats-package.relationships+xml"/>
  <Override PartName="/ppt/notesSlides/_rels/notesSlide149.xml.rels" ContentType="application/vnd.openxmlformats-package.relationships+xml"/>
  <Override PartName="/ppt/notesSlides/_rels/notesSlide34.xml.rels" ContentType="application/vnd.openxmlformats-package.relationships+xml"/>
  <Override PartName="/ppt/notesSlides/_rels/notesSlide77.xml.rels" ContentType="application/vnd.openxmlformats-package.relationships+xml"/>
  <Override PartName="/ppt/notesSlides/_rels/notesSlide130.xml.rels" ContentType="application/vnd.openxmlformats-package.relationships+xml"/>
  <Override PartName="/ppt/notesSlides/_rels/notesSlide182.xml.rels" ContentType="application/vnd.openxmlformats-package.relationships+xml"/>
  <Override PartName="/ppt/notesSlides/_rels/notesSlide107.xml.rels" ContentType="application/vnd.openxmlformats-package.relationships+xml"/>
  <Override PartName="/ppt/notesSlides/_rels/notesSlide146.xml.rels" ContentType="application/vnd.openxmlformats-package.relationships+xml"/>
  <Override PartName="/ppt/notesSlides/_rels/notesSlide31.xml.rels" ContentType="application/vnd.openxmlformats-package.relationships+xml"/>
  <Override PartName="/ppt/notesSlides/_rels/notesSlide74.xml.rels" ContentType="application/vnd.openxmlformats-package.relationships+xml"/>
  <Override PartName="/ppt/notesSlides/_rels/notesSlide189.xml.rels" ContentType="application/vnd.openxmlformats-package.relationships+xml"/>
  <Override PartName="/ppt/notesSlides/_rels/notesSlide145.xml.rels" ContentType="application/vnd.openxmlformats-package.relationships+xml"/>
  <Override PartName="/ppt/notesSlides/_rels/notesSlide30.xml.rels" ContentType="application/vnd.openxmlformats-package.relationships+xml"/>
  <Override PartName="/ppt/notesSlides/_rels/notesSlide73.xml.rels" ContentType="application/vnd.openxmlformats-package.relationships+xml"/>
  <Override PartName="/ppt/notesSlides/_rels/notesSlide188.xml.rels" ContentType="application/vnd.openxmlformats-package.relationships+xml"/>
  <Override PartName="/ppt/notesSlides/_rels/notesSlide144.xml.rels" ContentType="application/vnd.openxmlformats-package.relationships+xml"/>
  <Override PartName="/ppt/notesSlides/_rels/notesSlide72.xml.rels" ContentType="application/vnd.openxmlformats-package.relationships+xml"/>
  <Override PartName="/ppt/notesSlides/_rels/notesSlide187.xml.rels" ContentType="application/vnd.openxmlformats-package.relationships+xml"/>
  <Override PartName="/ppt/notesSlides/_rels/notesSlide142.xml.rels" ContentType="application/vnd.openxmlformats-package.relationships+xml"/>
  <Override PartName="/ppt/notesSlides/_rels/notesSlide89.xml.rels" ContentType="application/vnd.openxmlformats-package.relationships+xml"/>
  <Override PartName="/ppt/notesSlides/_rels/notesSlide70.xml.rels" ContentType="application/vnd.openxmlformats-package.relationships+xml"/>
  <Override PartName="/ppt/notesSlides/_rels/notesSlide185.xml.rels" ContentType="application/vnd.openxmlformats-package.relationships+xml"/>
  <Override PartName="/ppt/notesSlides/_rels/notesSlide138.xml.rels" ContentType="application/vnd.openxmlformats-package.relationships+xml"/>
  <Override PartName="/ppt/notesSlides/_rels/notesSlide23.xml.rels" ContentType="application/vnd.openxmlformats-package.relationships+xml"/>
  <Override PartName="/ppt/notesSlides/_rels/notesSlide66.xml.rels" ContentType="application/vnd.openxmlformats-package.relationships+xml"/>
  <Override PartName="/ppt/notesSlides/_rels/notesSlide137.xml.rels" ContentType="application/vnd.openxmlformats-package.relationships+xml"/>
  <Override PartName="/ppt/notesSlides/_rels/notesSlide22.xml.rels" ContentType="application/vnd.openxmlformats-package.relationships+xml"/>
  <Override PartName="/ppt/notesSlides/_rels/notesSlide65.xml.rels" ContentType="application/vnd.openxmlformats-package.relationships+xml"/>
  <Override PartName="/ppt/notesSlides/_rels/notesSlide136.xml.rels" ContentType="application/vnd.openxmlformats-package.relationships+xml"/>
  <Override PartName="/ppt/notesSlides/_rels/notesSlide21.xml.rels" ContentType="application/vnd.openxmlformats-package.relationships+xml"/>
  <Override PartName="/ppt/notesSlides/_rels/notesSlide64.xml.rels" ContentType="application/vnd.openxmlformats-package.relationships+xml"/>
  <Override PartName="/ppt/notesSlides/_rels/notesSlide179.xml.rels" ContentType="application/vnd.openxmlformats-package.relationships+xml"/>
  <Override PartName="/ppt/notesSlides/_rels/notesSlide135.xml.rels" ContentType="application/vnd.openxmlformats-package.relationships+xml"/>
  <Override PartName="/ppt/notesSlides/_rels/notesSlide20.xml.rels" ContentType="application/vnd.openxmlformats-package.relationships+xml"/>
  <Override PartName="/ppt/notesSlides/_rels/notesSlide63.xml.rels" ContentType="application/vnd.openxmlformats-package.relationships+xml"/>
  <Override PartName="/ppt/notesSlides/_rels/notesSlide178.xml.rels" ContentType="application/vnd.openxmlformats-package.relationships+xml"/>
  <Override PartName="/ppt/notesSlides/_rels/notesSlide134.xml.rels" ContentType="application/vnd.openxmlformats-package.relationships+xml"/>
  <Override PartName="/ppt/notesSlides/_rels/notesSlide62.xml.rels" ContentType="application/vnd.openxmlformats-package.relationships+xml"/>
  <Override PartName="/ppt/notesSlides/_rels/notesSlide177.xml.rels" ContentType="application/vnd.openxmlformats-package.relationships+xml"/>
  <Override PartName="/ppt/notesSlides/_rels/notesSlide133.xml.rels" ContentType="application/vnd.openxmlformats-package.relationships+xml"/>
  <Override PartName="/ppt/notesSlides/_rels/notesSlide61.xml.rels" ContentType="application/vnd.openxmlformats-package.relationships+xml"/>
  <Override PartName="/ppt/notesSlides/_rels/notesSlide176.xml.rels" ContentType="application/vnd.openxmlformats-package.relationships+xml"/>
  <Override PartName="/ppt/notesSlides/_rels/notesSlide132.xml.rels" ContentType="application/vnd.openxmlformats-package.relationships+xml"/>
  <Override PartName="/ppt/notesSlides/_rels/notesSlide79.xml.rels" ContentType="application/vnd.openxmlformats-package.relationships+xml"/>
  <Override PartName="/ppt/notesSlides/_rels/notesSlide13.xml.rels" ContentType="application/vnd.openxmlformats-package.relationships+xml"/>
  <Override PartName="/ppt/notesSlides/_rels/notesSlide128.xml.rels" ContentType="application/vnd.openxmlformats-package.relationships+xml"/>
  <Override PartName="/ppt/notesSlides/_rels/notesSlide56.xml.rels" ContentType="application/vnd.openxmlformats-package.relationships+xml"/>
  <Override PartName="/ppt/notesSlides/_rels/notesSlide12.xml.rels" ContentType="application/vnd.openxmlformats-package.relationships+xml"/>
  <Override PartName="/ppt/notesSlides/_rels/notesSlide127.xml.rels" ContentType="application/vnd.openxmlformats-package.relationships+xml"/>
  <Override PartName="/ppt/notesSlides/_rels/notesSlide55.xml.rels" ContentType="application/vnd.openxmlformats-package.relationships+xml"/>
  <Override PartName="/ppt/notesSlides/_rels/notesSlide11.xml.rels" ContentType="application/vnd.openxmlformats-package.relationships+xml"/>
  <Override PartName="/ppt/notesSlides/_rels/notesSlide126.xml.rels" ContentType="application/vnd.openxmlformats-package.relationships+xml"/>
  <Override PartName="/ppt/notesSlides/_rels/notesSlide169.xml.rels" ContentType="application/vnd.openxmlformats-package.relationships+xml"/>
  <Override PartName="/ppt/notesSlides/_rels/notesSlide54.xml.rels" ContentType="application/vnd.openxmlformats-package.relationships+xml"/>
  <Override PartName="/ppt/notesSlides/_rels/notesSlide10.xml.rels" ContentType="application/vnd.openxmlformats-package.relationships+xml"/>
  <Override PartName="/ppt/notesSlides/_rels/notesSlide125.xml.rels" ContentType="application/vnd.openxmlformats-package.relationships+xml"/>
  <Override PartName="/ppt/notesSlides/_rels/notesSlide168.xml.rels" ContentType="application/vnd.openxmlformats-package.relationships+xml"/>
  <Override PartName="/ppt/notesSlides/_rels/notesSlide53.xml.rels" ContentType="application/vnd.openxmlformats-package.relationships+xml"/>
  <Override PartName="/ppt/notesSlides/_rels/notesSlide122.xml.rels" ContentType="application/vnd.openxmlformats-package.relationships+xml"/>
  <Override PartName="/ppt/notesSlides/_rels/notesSlide69.xml.rels" ContentType="application/vnd.openxmlformats-package.relationships+xml"/>
  <Override PartName="/ppt/notesSlides/_rels/notesSlide114.xml.rels" ContentType="application/vnd.openxmlformats-package.relationships+xml"/>
  <Override PartName="/ppt/notesSlides/_rels/notesSlide113.xml.rels" ContentType="application/vnd.openxmlformats-package.relationships+xml"/>
  <Override PartName="/ppt/notesSlides/_rels/notesSlide105.xml.rels" ContentType="application/vnd.openxmlformats-package.relationships+xml"/>
  <Override PartName="/ppt/notesSlides/_rels/notesSlide180.xml.rels" ContentType="application/vnd.openxmlformats-package.relationships+xml"/>
  <Override PartName="/ppt/notesSlides/_rels/notesSlide104.xml.rels" ContentType="application/vnd.openxmlformats-package.relationships+xml"/>
  <Override PartName="/ppt/notesSlides/_rels/notesSlide103.xml.rels" ContentType="application/vnd.openxmlformats-package.relationships+xml"/>
  <Override PartName="/ppt/notesSlides/_rels/notesSlide102.xml.rels" ContentType="application/vnd.openxmlformats-package.relationships+xml"/>
  <Override PartName="/ppt/notesSlides/_rels/notesSlide49.xml.rels" ContentType="application/vnd.openxmlformats-package.relationships+xml"/>
  <Override PartName="/ppt/notesSlides/_rels/notesSlide48.xml.rels" ContentType="application/vnd.openxmlformats-package.relationships+xml"/>
  <Override PartName="/ppt/notesSlides/_rels/notesSlide101.xml.rels" ContentType="application/vnd.openxmlformats-package.relationships+xml"/>
  <Override PartName="/ppt/notesSlides/_rels/notesSlide88.xml.rels" ContentType="application/vnd.openxmlformats-package.relationships+xml"/>
  <Override PartName="/ppt/notesSlides/_rels/notesSlide141.xml.rels" ContentType="application/vnd.openxmlformats-package.relationships+xml"/>
  <Override PartName="/ppt/notesSlides/_rels/notesSlide170.xml.rels" ContentType="application/vnd.openxmlformats-package.relationships+xml"/>
  <Override PartName="/ppt/notesSlides/_rels/notesSlide131.xml.rels" ContentType="application/vnd.openxmlformats-package.relationships+xml"/>
  <Override PartName="/ppt/notesSlides/_rels/notesSlide78.xml.rels" ContentType="application/vnd.openxmlformats-package.relationships+xml"/>
  <Override PartName="/ppt/notesSlides/_rels/notesSlide160.xml.rels" ContentType="application/vnd.openxmlformats-package.relationships+xml"/>
  <Override PartName="/ppt/notesSlides/_rels/notesSlide68.xml.rels" ContentType="application/vnd.openxmlformats-package.relationships+xml"/>
  <Override PartName="/ppt/notesSlides/_rels/notesSlide121.xml.rels" ContentType="application/vnd.openxmlformats-package.relationships+xml"/>
  <Override PartName="/ppt/notesSlides/_rels/notesSlide98.xml.rels" ContentType="application/vnd.openxmlformats-package.relationships+xml"/>
  <Override PartName="/ppt/notesSlides/_rels/notesSlide151.xml.rels" ContentType="application/vnd.openxmlformats-package.relationships+xml"/>
  <Override PartName="/ppt/notesSlides/_rels/notesSlide59.xml.rels" ContentType="application/vnd.openxmlformats-package.relationships+xml"/>
  <Override PartName="/ppt/notesSlides/_rels/notesSlide112.xml.rels" ContentType="application/vnd.openxmlformats-package.relationships+xml"/>
  <Override PartName="/ppt/notesSlides/_rels/notesSlide150.xml.rels" ContentType="application/vnd.openxmlformats-package.relationships+xml"/>
  <Override PartName="/ppt/notesSlides/_rels/notesSlide97.xml.rels" ContentType="application/vnd.openxmlformats-package.relationships+xml"/>
  <Override PartName="/ppt/notesSlides/_rels/notesSlide95.xml.rels" ContentType="application/vnd.openxmlformats-package.relationships+xml"/>
  <Override PartName="/ppt/notesSlides/_rels/notesSlide52.xml.rels" ContentType="application/vnd.openxmlformats-package.relationships+xml"/>
  <Override PartName="/ppt/notesSlides/_rels/notesSlide167.xml.rels" ContentType="application/vnd.openxmlformats-package.relationships+xml"/>
  <Override PartName="/ppt/notesSlides/_rels/notesSlide19.xml.rels" ContentType="application/vnd.openxmlformats-package.relationships+xml"/>
  <Override PartName="/ppt/notesSlides/_rels/notesSlide94.xml.rels" ContentType="application/vnd.openxmlformats-package.relationships+xml"/>
  <Override PartName="/ppt/notesSlides/_rels/notesSlide51.xml.rels" ContentType="application/vnd.openxmlformats-package.relationships+xml"/>
  <Override PartName="/ppt/notesSlides/_rels/notesSlide166.xml.rels" ContentType="application/vnd.openxmlformats-package.relationships+xml"/>
  <Override PartName="/ppt/notesSlides/_rels/notesSlide18.xml.rels" ContentType="application/vnd.openxmlformats-package.relationships+xml"/>
  <Override PartName="/ppt/notesSlides/_rels/notesSlide93.xml.rels" ContentType="application/vnd.openxmlformats-package.relationships+xml"/>
  <Override PartName="/ppt/notesSlides/_rels/notesSlide50.xml.rels" ContentType="application/vnd.openxmlformats-package.relationships+xml"/>
  <Override PartName="/ppt/notesSlides/_rels/notesSlide165.xml.rels" ContentType="application/vnd.openxmlformats-package.relationships+xml"/>
  <Override PartName="/ppt/notesSlides/_rels/notesSlide118.xml.rels" ContentType="application/vnd.openxmlformats-package.relationships+xml"/>
  <Override PartName="/ppt/notesSlides/_rels/notesSlide46.xml.rels" ContentType="application/vnd.openxmlformats-package.relationships+xml"/>
  <Override PartName="/ppt/notesSlides/_rels/notesSlide117.xml.rels" ContentType="application/vnd.openxmlformats-package.relationships+xml"/>
  <Override PartName="/ppt/notesSlides/_rels/notesSlide192.xml.rels" ContentType="application/vnd.openxmlformats-package.relationships+xml"/>
  <Override PartName="/ppt/notesSlides/_rels/notesSlide45.xml.rels" ContentType="application/vnd.openxmlformats-package.relationship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29.xml.rels" ContentType="application/vnd.openxmlformats-package.relationships+xml"/>
  <Override PartName="/ppt/notesSlides/_rels/notesSlide116.xml.rels" ContentType="application/vnd.openxmlformats-package.relationships+xml"/>
  <Override PartName="/ppt/notesSlides/_rels/notesSlide191.xml.rels" ContentType="application/vnd.openxmlformats-package.relationships+xml"/>
  <Override PartName="/ppt/notesSlides/_rels/notesSlide2.xml.rels" ContentType="application/vnd.openxmlformats-package.relationships+xml"/>
  <Override PartName="/ppt/notesSlides/_rels/notesSlide25.xml.rels" ContentType="application/vnd.openxmlformats-package.relationships+xml"/>
  <Override PartName="/ppt/notesSlides/_rels/notesSlide60.xml.rels" ContentType="application/vnd.openxmlformats-package.relationships+xml"/>
  <Override PartName="/ppt/notesSlides/_rels/notesSlide175.xml.rels" ContentType="application/vnd.openxmlformats-package.relationships+xml"/>
  <Override PartName="/ppt/notesSlides/_rels/notesSlide5.xml.rels" ContentType="application/vnd.openxmlformats-package.relationships+xml"/>
  <Override PartName="/ppt/notesSlides/_rels/notesSlide28.xml.rels" ContentType="application/vnd.openxmlformats-package.relationships+xml"/>
  <Override PartName="/ppt/notesSlides/_rels/notesSlide39.xml.rels" ContentType="application/vnd.openxmlformats-package.relationships+xml"/>
  <Override PartName="/ppt/notesSlides/_rels/notesSlide36.xml.rels" ContentType="application/vnd.openxmlformats-package.relationships+xml"/>
  <Override PartName="/ppt/notesSlides/_rels/notesSlide15.xml.rels" ContentType="application/vnd.openxmlformats-package.relationships+xml"/>
  <Override PartName="/ppt/notesSlides/_rels/notesSlide90.xml.rels" ContentType="application/vnd.openxmlformats-package.relationships+xml"/>
  <Override PartName="/ppt/notesSlides/_rels/notesSlide106.xml.rels" ContentType="application/vnd.openxmlformats-package.relationships+xml"/>
  <Override PartName="/ppt/notesSlides/_rels/notesSlide181.xml.rels" ContentType="application/vnd.openxmlformats-package.relationships+xml"/>
  <Override PartName="/ppt/notesSlides/_rels/notesSlide109.xml.rels" ContentType="application/vnd.openxmlformats-package.relationships+xml"/>
  <Override PartName="/ppt/notesSlides/_rels/notesSlide37.xml.rels" ContentType="application/vnd.openxmlformats-package.relationships+xml"/>
  <Override PartName="/ppt/notesSlides/_rels/notesSlide184.xml.rels" ContentType="application/vnd.openxmlformats-package.relationships+xml"/>
  <Override PartName="/ppt/notesSlides/_rels/notesSlide27.xml.rels" ContentType="application/vnd.openxmlformats-package.relationships+xml"/>
  <Override PartName="/ppt/notesSlides/_rels/notesSlide4.xml.rels" ContentType="application/vnd.openxmlformats-package.relationships+xml"/>
  <Override PartName="/ppt/notesSlides/_rels/notesSlide96.xml.rels" ContentType="application/vnd.openxmlformats-package.relationships+xml"/>
  <Override PartName="/ppt/notesSlides/_rels/notesSlide174.xml.rels" ContentType="application/vnd.openxmlformats-package.relationships+xml"/>
  <Override PartName="/ppt/notesSlides/_rels/notesSlide171.xml.rels" ContentType="application/vnd.openxmlformats-package.relationships+xml"/>
  <Override PartName="/ppt/notesSlides/_rels/notesSlide124.xml.rels" ContentType="application/vnd.openxmlformats-package.relationships+xml"/>
  <Override PartName="/ppt/notesSlides/_rels/notesSlide8.xml.rels" ContentType="application/vnd.openxmlformats-package.relationships+xml"/>
  <Override PartName="/ppt/notesSlides/_rels/notesSlide164.xml.rels" ContentType="application/vnd.openxmlformats-package.relationships+xml"/>
  <Override PartName="/ppt/notesSlides/_rels/notesSlide17.xml.rels" ContentType="application/vnd.openxmlformats-package.relationships+xml"/>
  <Override PartName="/ppt/notesSlides/_rels/notesSlide92.xml.rels" ContentType="application/vnd.openxmlformats-package.relationships+xml"/>
  <Override PartName="/ppt/notesSlides/_rels/notesSlide111.xml.rels" ContentType="application/vnd.openxmlformats-package.relationships+xml"/>
  <Override PartName="/ppt/notesSlides/_rels/notesSlide58.xml.rels" ContentType="application/vnd.openxmlformats-package.relationships+xml"/>
  <Override PartName="/ppt/notesSlides/_rels/notesSlide16.xml.rels" ContentType="application/vnd.openxmlformats-package.relationships+xml"/>
  <Override PartName="/ppt/notesSlides/_rels/notesSlide91.xml.rels" ContentType="application/vnd.openxmlformats-package.relationships+xml"/>
  <Override PartName="/ppt/notesSlides/_rels/notesSlide26.xml.rels" ContentType="application/vnd.openxmlformats-package.relationships+xml"/>
  <Override PartName="/ppt/notesSlides/_rels/notesSlide38.xml.rels" ContentType="application/vnd.openxmlformats-package.relationships+xml"/>
  <Override PartName="/ppt/notesSlides/_rels/notesSlide115.xml.rels" ContentType="application/vnd.openxmlformats-package.relationships+xml"/>
  <Override PartName="/ppt/notesSlides/_rels/notesSlide190.xml.rels" ContentType="application/vnd.openxmlformats-package.relationships+xml"/>
  <Override PartName="/ppt/notesSlides/_rels/notesSlide35.xml.rels" ContentType="application/vnd.openxmlformats-package.relationships+xml"/>
  <Override PartName="/ppt/notesSlides/_rels/notesSlide161.xml.rels" ContentType="application/vnd.openxmlformats-package.relationships+xml"/>
  <Override PartName="/ppt/notesSlides/_rels/notesSlide123.xml.rels" ContentType="application/vnd.openxmlformats-package.relationships+xml"/>
  <Override PartName="/ppt/notesSlides/_rels/notesSlide7.xml.rels" ContentType="application/vnd.openxmlformats-package.relationships+xml"/>
  <Override PartName="/ppt/notesSlides/notesSlide129.xml" ContentType="application/vnd.openxmlformats-officedocument.presentationml.notesSlide+xml"/>
  <Override PartName="/ppt/notesSlides/notesSlide162.xml" ContentType="application/vnd.openxmlformats-officedocument.presentationml.notesSlide+xml"/>
  <Override PartName="/ppt/notesSlides/notesSlide80.xml" ContentType="application/vnd.openxmlformats-officedocument.presentationml.notesSlide+xml"/>
  <Override PartName="/ppt/notesSlides/notesSlide157.xml" ContentType="application/vnd.openxmlformats-officedocument.presentationml.notesSlide+xml"/>
  <Override PartName="/ppt/notesSlides/notesSlide62.xml" ContentType="application/vnd.openxmlformats-officedocument.presentationml.notesSlide+xml"/>
  <Override PartName="/ppt/notesSlides/notesSlide139.xml" ContentType="application/vnd.openxmlformats-officedocument.presentationml.notesSlide+xml"/>
  <Override PartName="/ppt/notesSlides/notesSlide172.xml" ContentType="application/vnd.openxmlformats-officedocument.presentationml.notesSlide+xml"/>
  <Override PartName="/ppt/notesSlides/notesSlide108.xml" ContentType="application/vnd.openxmlformats-officedocument.presentationml.notesSlide+xml"/>
  <Override PartName="/ppt/notesSlides/notesSlide183.xml" ContentType="application/vnd.openxmlformats-officedocument.presentationml.notesSlide+xml"/>
  <Override PartName="/ppt/notesSlides/notesSlide71.xml" ContentType="application/vnd.openxmlformats-officedocument.presentationml.notesSlide+xml"/>
  <Override PartName="/ppt/notesSlides/notesSlide148.xml" ContentType="application/vnd.openxmlformats-officedocument.presentationml.notesSlide+xml"/>
  <Override PartName="/ppt/notesSlides/notesSlide163.xml" ContentType="application/vnd.openxmlformats-officedocument.presentationml.notesSlide+xml"/>
  <Override PartName="/ppt/notesSlides/notesSlide14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sldImg"/>
          </p:nvPr>
        </p:nvSpPr>
        <p:spPr>
          <a:xfrm>
            <a:off x="-30323520" y="926640"/>
            <a:ext cx="30323520" cy="12960"/>
          </a:xfrm>
          <a:prstGeom prst="rect">
            <a:avLst/>
          </a:prstGeom>
          <a:noFill/>
          <a:ln w="0">
            <a:noFill/>
          </a:ln>
        </p:spPr>
        <p:txBody>
          <a:bodyPr lIns="0" rIns="0" tIns="0" bIns="0" anchor="ctr">
            <a:noAutofit/>
          </a:bodyPr>
          <a:p>
            <a:r>
              <a:rPr b="0" lang="en-US" sz="2280" spc="-1" strike="noStrike">
                <a:solidFill>
                  <a:schemeClr val="accent1">
                    <a:lumOff val="-32670"/>
                  </a:schemeClr>
                </a:solidFill>
                <a:latin typeface="Graphik Light"/>
              </a:rPr>
              <a:t>Click to move the slide</a:t>
            </a:r>
            <a:endParaRPr b="0" lang="en-US" sz="2280" spc="-1" strike="noStrike">
              <a:solidFill>
                <a:schemeClr val="accent1">
                  <a:lumOff val="-32670"/>
                </a:schemeClr>
              </a:solidFill>
              <a:latin typeface="Graphik Light"/>
            </a:endParaRPr>
          </a:p>
        </p:txBody>
      </p:sp>
      <p:sp>
        <p:nvSpPr>
          <p:cNvPr id="15" name="PlaceHolder 2"/>
          <p:cNvSpPr>
            <a:spLocks noGrp="1"/>
          </p:cNvSpPr>
          <p:nvPr>
            <p:ph type="body"/>
          </p:nvPr>
        </p:nvSpPr>
        <p:spPr>
          <a:xfrm>
            <a:off x="685800" y="5790960"/>
            <a:ext cx="5486040" cy="5486040"/>
          </a:xfrm>
          <a:prstGeom prst="rect">
            <a:avLst/>
          </a:prstGeom>
          <a:noFill/>
          <a:ln w="0">
            <a:noFill/>
          </a:ln>
        </p:spPr>
        <p:txBody>
          <a:bodyPr lIns="0" rIns="0" tIns="0" bIns="0" anchor="t">
            <a:noAutofit/>
          </a:bodyPr>
          <a:p>
            <a:pPr marL="216000" indent="-216000">
              <a:buNone/>
            </a:pPr>
            <a:r>
              <a:rPr b="0" lang="en-US" sz="3200" spc="-1" strike="noStrike">
                <a:solidFill>
                  <a:srgbClr val="000000"/>
                </a:solidFill>
                <a:latin typeface="Arial"/>
              </a:rPr>
              <a:t>Click to edit the notes format</a:t>
            </a:r>
            <a:endParaRPr b="0" lang="en-US" sz="3200" spc="-1" strike="noStrike">
              <a:solidFill>
                <a:srgbClr val="000000"/>
              </a:solidFill>
              <a:latin typeface="Arial"/>
            </a:endParaRPr>
          </a:p>
        </p:txBody>
      </p:sp>
      <p:sp>
        <p:nvSpPr>
          <p:cNvPr id="16" name="PlaceHolder 3"/>
          <p:cNvSpPr>
            <a:spLocks noGrp="1"/>
          </p:cNvSpPr>
          <p:nvPr>
            <p:ph type="hdr"/>
          </p:nvPr>
        </p:nvSpPr>
        <p:spPr>
          <a:xfrm>
            <a:off x="0" y="0"/>
            <a:ext cx="2976120" cy="60912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7" name="PlaceHolder 4"/>
          <p:cNvSpPr>
            <a:spLocks noGrp="1"/>
          </p:cNvSpPr>
          <p:nvPr>
            <p:ph type="dt" idx="3"/>
          </p:nvPr>
        </p:nvSpPr>
        <p:spPr>
          <a:xfrm>
            <a:off x="3881520" y="0"/>
            <a:ext cx="2976120" cy="60912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8" name="PlaceHolder 5"/>
          <p:cNvSpPr>
            <a:spLocks noGrp="1"/>
          </p:cNvSpPr>
          <p:nvPr>
            <p:ph type="ftr" idx="4"/>
          </p:nvPr>
        </p:nvSpPr>
        <p:spPr>
          <a:xfrm>
            <a:off x="0" y="11582280"/>
            <a:ext cx="2976120" cy="60912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6"/>
          <p:cNvSpPr>
            <a:spLocks noGrp="1"/>
          </p:cNvSpPr>
          <p:nvPr>
            <p:ph type="sldNum" idx="5"/>
          </p:nvPr>
        </p:nvSpPr>
        <p:spPr>
          <a:xfrm>
            <a:off x="3881520" y="11582280"/>
            <a:ext cx="2976120" cy="60912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C7A3887-7B60-483E-A59F-0AC5C35A745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7.xml.rels><?xml version="1.0" encoding="UTF-8"?>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
</Relationships>
</file>

<file path=ppt/notesSlides/_rels/notesSlide148.xml.rels><?xml version="1.0" encoding="UTF-8"?>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
</Relationships>
</file>

<file path=ppt/notesSlides/_rels/notesSlide149.xml.rels><?xml version="1.0" encoding="UTF-8"?>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_rels/notesSlide151.xml.rels><?xml version="1.0" encoding="UTF-8"?>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
</Relationships>
</file>

<file path=ppt/notesSlides/_rels/notesSlide152.xml.rels><?xml version="1.0" encoding="UTF-8"?>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
</Relationships>
</file>

<file path=ppt/notesSlides/_rels/notesSlide153.xml.rels><?xml version="1.0" encoding="UTF-8"?>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55.xml.rels><?xml version="1.0" encoding="UTF-8"?>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
</Relationships>
</file>

<file path=ppt/notesSlides/_rels/notesSlide156.xml.rels><?xml version="1.0" encoding="UTF-8"?>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
</Relationships>
</file>

<file path=ppt/notesSlides/_rels/notesSlide157.xml.rels><?xml version="1.0" encoding="UTF-8"?>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
</Relationships>
</file>

<file path=ppt/notesSlides/_rels/notesSlide158.xml.rels><?xml version="1.0" encoding="UTF-8"?>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
</Relationships>
</file>

<file path=ppt/notesSlides/_rels/notesSlide159.xml.rels><?xml version="1.0" encoding="UTF-8"?>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
</Relationships>
</file>

<file path=ppt/notesSlides/_rels/notesSlide160.xml.rels><?xml version="1.0" encoding="UTF-8"?>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
</Relationships>
</file>

<file path=ppt/notesSlides/_rels/notesSlide161.xml.rels><?xml version="1.0" encoding="UTF-8"?>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
</Relationships>
</file>

<file path=ppt/notesSlides/_rels/notesSlide162.xml.rels><?xml version="1.0" encoding="UTF-8"?>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
</Relationships>
</file>

<file path=ppt/notesSlides/_rels/notesSlide163.xml.rels><?xml version="1.0" encoding="UTF-8"?>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
</Relationships>
</file>

<file path=ppt/notesSlides/_rels/notesSlide164.xml.rels><?xml version="1.0" encoding="UTF-8"?>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
</Relationships>
</file>

<file path=ppt/notesSlides/_rels/notesSlide165.xml.rels><?xml version="1.0" encoding="UTF-8"?>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67.xml.rels><?xml version="1.0" encoding="UTF-8"?>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
</Relationships>
</file>

<file path=ppt/notesSlides/_rels/notesSlide168.xml.rels><?xml version="1.0" encoding="UTF-8"?>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
</Relationships>
</file>

<file path=ppt/notesSlides/_rels/notesSlide169.xml.rels><?xml version="1.0" encoding="UTF-8"?>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
</Relationships>
</file>

<file path=ppt/notesSlides/_rels/notesSlide170.xml.rels><?xml version="1.0" encoding="UTF-8"?>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
</Relationships>
</file>

<file path=ppt/notesSlides/_rels/notesSlide171.xml.rels><?xml version="1.0" encoding="UTF-8"?>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
</Relationships>
</file>

<file path=ppt/notesSlides/_rels/notesSlide172.xml.rels><?xml version="1.0" encoding="UTF-8"?>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5.xml.rels><?xml version="1.0" encoding="UTF-8"?>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_rels/notesSlide177.xml.rels><?xml version="1.0" encoding="UTF-8"?>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
</Relationships>
</file>

<file path=ppt/notesSlides/_rels/notesSlide178.xml.rels><?xml version="1.0" encoding="UTF-8"?>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0.xml.rels><?xml version="1.0" encoding="UTF-8"?>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
</Relationships>
</file>

<file path=ppt/notesSlides/_rels/notesSlide181.xml.rels><?xml version="1.0" encoding="UTF-8"?>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
</Relationships>
</file>

<file path=ppt/notesSlides/_rels/notesSlide182.xml.rels><?xml version="1.0" encoding="UTF-8"?>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
</Relationships>
</file>

<file path=ppt/notesSlides/_rels/notesSlide183.xml.rels><?xml version="1.0" encoding="UTF-8"?>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
</Relationships>
</file>

<file path=ppt/notesSlides/_rels/notesSlide184.xml.rels><?xml version="1.0" encoding="UTF-8"?>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
</Relationships>
</file>

<file path=ppt/notesSlides/_rels/notesSlide185.xml.rels><?xml version="1.0" encoding="UTF-8"?>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
</Relationships>
</file>

<file path=ppt/notesSlides/_rels/notesSlide186.xml.rels><?xml version="1.0" encoding="UTF-8"?>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
</Relationships>
</file>

<file path=ppt/notesSlides/_rels/notesSlide187.xml.rels><?xml version="1.0" encoding="UTF-8"?>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89.xml.rels><?xml version="1.0" encoding="UTF-8"?>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1.xml.rels><?xml version="1.0" encoding="UTF-8"?>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
</Relationships>
</file>

<file path=ppt/notesSlides/_rels/notesSlide192.xml.rels><?xml version="1.0" encoding="UTF-8"?>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5" name="PlaceHolder 1"/>
          <p:cNvSpPr>
            <a:spLocks noGrp="1"/>
          </p:cNvSpPr>
          <p:nvPr>
            <p:ph type="sldImg"/>
          </p:nvPr>
        </p:nvSpPr>
        <p:spPr>
          <a:xfrm>
            <a:off x="685800" y="1143000"/>
            <a:ext cx="5484960" cy="3084840"/>
          </a:xfrm>
          <a:prstGeom prst="rect">
            <a:avLst/>
          </a:prstGeom>
          <a:ln w="0">
            <a:noFill/>
          </a:ln>
        </p:spPr>
      </p:sp>
      <p:sp>
        <p:nvSpPr>
          <p:cNvPr id="270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07" name="PlaceHolder 3"/>
          <p:cNvSpPr>
            <a:spLocks noGrp="1"/>
          </p:cNvSpPr>
          <p:nvPr>
            <p:ph type="sldNum" idx="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8C5D83E-18BB-46D7-A0DC-4136D2AEC0D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8" name="PlaceHolder 1"/>
          <p:cNvSpPr>
            <a:spLocks noGrp="1"/>
          </p:cNvSpPr>
          <p:nvPr>
            <p:ph type="sldImg"/>
          </p:nvPr>
        </p:nvSpPr>
        <p:spPr>
          <a:xfrm>
            <a:off x="685800" y="1143000"/>
            <a:ext cx="5484960" cy="3084840"/>
          </a:xfrm>
          <a:prstGeom prst="rect">
            <a:avLst/>
          </a:prstGeom>
          <a:ln w="0">
            <a:noFill/>
          </a:ln>
        </p:spPr>
      </p:sp>
      <p:sp>
        <p:nvSpPr>
          <p:cNvPr id="270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0" name="PlaceHolder 3"/>
          <p:cNvSpPr>
            <a:spLocks noGrp="1"/>
          </p:cNvSpPr>
          <p:nvPr>
            <p:ph type="sldNum" idx="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F299CFE-981A-4D5A-8173-02E9A64EBE3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1" name="PlaceHolder 1"/>
          <p:cNvSpPr>
            <a:spLocks noGrp="1"/>
          </p:cNvSpPr>
          <p:nvPr>
            <p:ph type="sldImg"/>
          </p:nvPr>
        </p:nvSpPr>
        <p:spPr>
          <a:xfrm>
            <a:off x="685800" y="1143000"/>
            <a:ext cx="5484960" cy="3084840"/>
          </a:xfrm>
          <a:prstGeom prst="rect">
            <a:avLst/>
          </a:prstGeom>
          <a:ln w="0">
            <a:noFill/>
          </a:ln>
        </p:spPr>
      </p:sp>
      <p:sp>
        <p:nvSpPr>
          <p:cNvPr id="271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3" name="PlaceHolder 3"/>
          <p:cNvSpPr>
            <a:spLocks noGrp="1"/>
          </p:cNvSpPr>
          <p:nvPr>
            <p:ph type="sldNum" idx="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49038A2-250D-401E-9A9B-EF52AF44DFE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4" name="PlaceHolder 1"/>
          <p:cNvSpPr>
            <a:spLocks noGrp="1"/>
          </p:cNvSpPr>
          <p:nvPr>
            <p:ph type="sldImg"/>
          </p:nvPr>
        </p:nvSpPr>
        <p:spPr>
          <a:xfrm>
            <a:off x="685800" y="1143000"/>
            <a:ext cx="5484960" cy="3084840"/>
          </a:xfrm>
          <a:prstGeom prst="rect">
            <a:avLst/>
          </a:prstGeom>
          <a:ln w="0">
            <a:noFill/>
          </a:ln>
        </p:spPr>
      </p:sp>
      <p:sp>
        <p:nvSpPr>
          <p:cNvPr id="271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6" name="PlaceHolder 3"/>
          <p:cNvSpPr>
            <a:spLocks noGrp="1"/>
          </p:cNvSpPr>
          <p:nvPr>
            <p:ph type="sldNum" idx="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FF6732B-D724-4B5E-A62A-A84A145DF9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7" name="PlaceHolder 1"/>
          <p:cNvSpPr>
            <a:spLocks noGrp="1"/>
          </p:cNvSpPr>
          <p:nvPr>
            <p:ph type="sldImg"/>
          </p:nvPr>
        </p:nvSpPr>
        <p:spPr>
          <a:xfrm>
            <a:off x="685800" y="1143000"/>
            <a:ext cx="5484960" cy="3084840"/>
          </a:xfrm>
          <a:prstGeom prst="rect">
            <a:avLst/>
          </a:prstGeom>
          <a:ln w="0">
            <a:noFill/>
          </a:ln>
        </p:spPr>
      </p:sp>
      <p:sp>
        <p:nvSpPr>
          <p:cNvPr id="271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19" name="PlaceHolder 3"/>
          <p:cNvSpPr>
            <a:spLocks noGrp="1"/>
          </p:cNvSpPr>
          <p:nvPr>
            <p:ph type="sldNum" idx="1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EA8B9DE-3480-4D99-9163-5642BCA4E23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0" name="PlaceHolder 1"/>
          <p:cNvSpPr>
            <a:spLocks noGrp="1"/>
          </p:cNvSpPr>
          <p:nvPr>
            <p:ph type="sldImg"/>
          </p:nvPr>
        </p:nvSpPr>
        <p:spPr>
          <a:xfrm>
            <a:off x="685800" y="1143000"/>
            <a:ext cx="5484960" cy="3084840"/>
          </a:xfrm>
          <a:prstGeom prst="rect">
            <a:avLst/>
          </a:prstGeom>
          <a:ln w="0">
            <a:noFill/>
          </a:ln>
        </p:spPr>
      </p:sp>
      <p:sp>
        <p:nvSpPr>
          <p:cNvPr id="272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22" name="PlaceHolder 3"/>
          <p:cNvSpPr>
            <a:spLocks noGrp="1"/>
          </p:cNvSpPr>
          <p:nvPr>
            <p:ph type="sldNum" idx="1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BAF62CB-A85C-487E-8389-A74F783641E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3" name="PlaceHolder 1"/>
          <p:cNvSpPr>
            <a:spLocks noGrp="1"/>
          </p:cNvSpPr>
          <p:nvPr>
            <p:ph type="sldImg"/>
          </p:nvPr>
        </p:nvSpPr>
        <p:spPr>
          <a:xfrm>
            <a:off x="685800" y="1143000"/>
            <a:ext cx="5484960" cy="3084840"/>
          </a:xfrm>
          <a:prstGeom prst="rect">
            <a:avLst/>
          </a:prstGeom>
          <a:ln w="0">
            <a:noFill/>
          </a:ln>
        </p:spPr>
      </p:sp>
      <p:sp>
        <p:nvSpPr>
          <p:cNvPr id="272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25" name="PlaceHolder 3"/>
          <p:cNvSpPr>
            <a:spLocks noGrp="1"/>
          </p:cNvSpPr>
          <p:nvPr>
            <p:ph type="sldNum" idx="1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571E228-5307-48DB-8653-E45B0F0ADF3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6" name="PlaceHolder 1"/>
          <p:cNvSpPr>
            <a:spLocks noGrp="1"/>
          </p:cNvSpPr>
          <p:nvPr>
            <p:ph type="sldImg"/>
          </p:nvPr>
        </p:nvSpPr>
        <p:spPr>
          <a:xfrm>
            <a:off x="685800" y="1143000"/>
            <a:ext cx="5484960" cy="3084840"/>
          </a:xfrm>
          <a:prstGeom prst="rect">
            <a:avLst/>
          </a:prstGeom>
          <a:ln w="0">
            <a:noFill/>
          </a:ln>
        </p:spPr>
      </p:sp>
      <p:sp>
        <p:nvSpPr>
          <p:cNvPr id="272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28" name="PlaceHolder 3"/>
          <p:cNvSpPr>
            <a:spLocks noGrp="1"/>
          </p:cNvSpPr>
          <p:nvPr>
            <p:ph type="sldNum" idx="1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D78C673-CC23-4548-B3A1-31FFDCE042C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9" name="PlaceHolder 1"/>
          <p:cNvSpPr>
            <a:spLocks noGrp="1"/>
          </p:cNvSpPr>
          <p:nvPr>
            <p:ph type="sldImg"/>
          </p:nvPr>
        </p:nvSpPr>
        <p:spPr>
          <a:xfrm>
            <a:off x="685800" y="1143000"/>
            <a:ext cx="5484960" cy="3084840"/>
          </a:xfrm>
          <a:prstGeom prst="rect">
            <a:avLst/>
          </a:prstGeom>
          <a:ln w="0">
            <a:noFill/>
          </a:ln>
        </p:spPr>
      </p:sp>
      <p:sp>
        <p:nvSpPr>
          <p:cNvPr id="273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1" name="PlaceHolder 3"/>
          <p:cNvSpPr>
            <a:spLocks noGrp="1"/>
          </p:cNvSpPr>
          <p:nvPr>
            <p:ph type="sldNum" idx="1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297194B-DF3D-4C2D-82D6-9437010A6DA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2" name="PlaceHolder 1"/>
          <p:cNvSpPr>
            <a:spLocks noGrp="1"/>
          </p:cNvSpPr>
          <p:nvPr>
            <p:ph type="sldImg"/>
          </p:nvPr>
        </p:nvSpPr>
        <p:spPr>
          <a:xfrm>
            <a:off x="685800" y="1143000"/>
            <a:ext cx="5484960" cy="3084840"/>
          </a:xfrm>
          <a:prstGeom prst="rect">
            <a:avLst/>
          </a:prstGeom>
          <a:ln w="0">
            <a:noFill/>
          </a:ln>
        </p:spPr>
      </p:sp>
      <p:sp>
        <p:nvSpPr>
          <p:cNvPr id="273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4" name="PlaceHolder 3"/>
          <p:cNvSpPr>
            <a:spLocks noGrp="1"/>
          </p:cNvSpPr>
          <p:nvPr>
            <p:ph type="sldNum" idx="1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05468BE-3F85-45E5-97D9-2D0B4C87532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5" name="PlaceHolder 1"/>
          <p:cNvSpPr>
            <a:spLocks noGrp="1"/>
          </p:cNvSpPr>
          <p:nvPr>
            <p:ph type="sldImg"/>
          </p:nvPr>
        </p:nvSpPr>
        <p:spPr>
          <a:xfrm>
            <a:off x="685800" y="1143000"/>
            <a:ext cx="5484960" cy="3084840"/>
          </a:xfrm>
          <a:prstGeom prst="rect">
            <a:avLst/>
          </a:prstGeom>
          <a:ln w="0">
            <a:noFill/>
          </a:ln>
        </p:spPr>
      </p:sp>
      <p:sp>
        <p:nvSpPr>
          <p:cNvPr id="273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37" name="PlaceHolder 3"/>
          <p:cNvSpPr>
            <a:spLocks noGrp="1"/>
          </p:cNvSpPr>
          <p:nvPr>
            <p:ph type="sldNum" idx="1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7394A36-330F-4060-8D3A-12B70F002E3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8" name="PlaceHolder 1"/>
          <p:cNvSpPr>
            <a:spLocks noGrp="1"/>
          </p:cNvSpPr>
          <p:nvPr>
            <p:ph type="sldImg"/>
          </p:nvPr>
        </p:nvSpPr>
        <p:spPr>
          <a:xfrm>
            <a:off x="685800" y="1143000"/>
            <a:ext cx="5484960" cy="3084840"/>
          </a:xfrm>
          <a:prstGeom prst="rect">
            <a:avLst/>
          </a:prstGeom>
          <a:ln w="0">
            <a:noFill/>
          </a:ln>
        </p:spPr>
      </p:sp>
      <p:sp>
        <p:nvSpPr>
          <p:cNvPr id="273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0" name="PlaceHolder 3"/>
          <p:cNvSpPr>
            <a:spLocks noGrp="1"/>
          </p:cNvSpPr>
          <p:nvPr>
            <p:ph type="sldNum" idx="1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C2DC1B5-28E7-4D77-846C-61963B36BF7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1" name="PlaceHolder 1"/>
          <p:cNvSpPr>
            <a:spLocks noGrp="1"/>
          </p:cNvSpPr>
          <p:nvPr>
            <p:ph type="sldImg"/>
          </p:nvPr>
        </p:nvSpPr>
        <p:spPr>
          <a:xfrm>
            <a:off x="685800" y="1143000"/>
            <a:ext cx="5484960" cy="3084840"/>
          </a:xfrm>
          <a:prstGeom prst="rect">
            <a:avLst/>
          </a:prstGeom>
          <a:ln w="0">
            <a:noFill/>
          </a:ln>
        </p:spPr>
      </p:sp>
      <p:sp>
        <p:nvSpPr>
          <p:cNvPr id="274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3" name="PlaceHolder 3"/>
          <p:cNvSpPr>
            <a:spLocks noGrp="1"/>
          </p:cNvSpPr>
          <p:nvPr>
            <p:ph type="sldNum" idx="1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A8B4B70-00B0-4DBB-A21E-87A6F33BF7B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4" name="PlaceHolder 1"/>
          <p:cNvSpPr>
            <a:spLocks noGrp="1"/>
          </p:cNvSpPr>
          <p:nvPr>
            <p:ph type="sldImg"/>
          </p:nvPr>
        </p:nvSpPr>
        <p:spPr>
          <a:xfrm>
            <a:off x="685800" y="1143000"/>
            <a:ext cx="5484960" cy="3084840"/>
          </a:xfrm>
          <a:prstGeom prst="rect">
            <a:avLst/>
          </a:prstGeom>
          <a:ln w="0">
            <a:noFill/>
          </a:ln>
        </p:spPr>
      </p:sp>
      <p:sp>
        <p:nvSpPr>
          <p:cNvPr id="274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6" name="PlaceHolder 3"/>
          <p:cNvSpPr>
            <a:spLocks noGrp="1"/>
          </p:cNvSpPr>
          <p:nvPr>
            <p:ph type="sldNum" idx="1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4944B29-0BF6-43F1-AE5C-52B590FF298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7" name="PlaceHolder 1"/>
          <p:cNvSpPr>
            <a:spLocks noGrp="1"/>
          </p:cNvSpPr>
          <p:nvPr>
            <p:ph type="sldImg"/>
          </p:nvPr>
        </p:nvSpPr>
        <p:spPr>
          <a:xfrm>
            <a:off x="685800" y="1143000"/>
            <a:ext cx="5484960" cy="3084840"/>
          </a:xfrm>
          <a:prstGeom prst="rect">
            <a:avLst/>
          </a:prstGeom>
          <a:ln w="0">
            <a:noFill/>
          </a:ln>
        </p:spPr>
      </p:sp>
      <p:sp>
        <p:nvSpPr>
          <p:cNvPr id="274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49" name="PlaceHolder 3"/>
          <p:cNvSpPr>
            <a:spLocks noGrp="1"/>
          </p:cNvSpPr>
          <p:nvPr>
            <p:ph type="sldNum" idx="2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897D5CB-A0E8-432A-9C9D-CF73A056EB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0" name="PlaceHolder 1"/>
          <p:cNvSpPr>
            <a:spLocks noGrp="1"/>
          </p:cNvSpPr>
          <p:nvPr>
            <p:ph type="sldImg"/>
          </p:nvPr>
        </p:nvSpPr>
        <p:spPr>
          <a:xfrm>
            <a:off x="685800" y="1143000"/>
            <a:ext cx="5484960" cy="3084840"/>
          </a:xfrm>
          <a:prstGeom prst="rect">
            <a:avLst/>
          </a:prstGeom>
          <a:ln w="0">
            <a:noFill/>
          </a:ln>
        </p:spPr>
      </p:sp>
      <p:sp>
        <p:nvSpPr>
          <p:cNvPr id="275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52" name="PlaceHolder 3"/>
          <p:cNvSpPr>
            <a:spLocks noGrp="1"/>
          </p:cNvSpPr>
          <p:nvPr>
            <p:ph type="sldNum" idx="2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B1DFF5D-36D5-456B-A10F-7209337C12A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3" name="PlaceHolder 1"/>
          <p:cNvSpPr>
            <a:spLocks noGrp="1"/>
          </p:cNvSpPr>
          <p:nvPr>
            <p:ph type="sldImg"/>
          </p:nvPr>
        </p:nvSpPr>
        <p:spPr>
          <a:xfrm>
            <a:off x="685800" y="1143000"/>
            <a:ext cx="5484960" cy="3084840"/>
          </a:xfrm>
          <a:prstGeom prst="rect">
            <a:avLst/>
          </a:prstGeom>
          <a:ln w="0">
            <a:noFill/>
          </a:ln>
        </p:spPr>
      </p:sp>
      <p:sp>
        <p:nvSpPr>
          <p:cNvPr id="275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55" name="PlaceHolder 3"/>
          <p:cNvSpPr>
            <a:spLocks noGrp="1"/>
          </p:cNvSpPr>
          <p:nvPr>
            <p:ph type="sldNum" idx="2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3BFE145-6A80-4466-ACB4-958F0C6E025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6" name="PlaceHolder 1"/>
          <p:cNvSpPr>
            <a:spLocks noGrp="1"/>
          </p:cNvSpPr>
          <p:nvPr>
            <p:ph type="sldImg"/>
          </p:nvPr>
        </p:nvSpPr>
        <p:spPr>
          <a:xfrm>
            <a:off x="685800" y="1143000"/>
            <a:ext cx="5484960" cy="3084840"/>
          </a:xfrm>
          <a:prstGeom prst="rect">
            <a:avLst/>
          </a:prstGeom>
          <a:ln w="0">
            <a:noFill/>
          </a:ln>
        </p:spPr>
      </p:sp>
      <p:sp>
        <p:nvSpPr>
          <p:cNvPr id="275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58" name="PlaceHolder 3"/>
          <p:cNvSpPr>
            <a:spLocks noGrp="1"/>
          </p:cNvSpPr>
          <p:nvPr>
            <p:ph type="sldNum" idx="2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B05F853-2464-44C3-A0D4-591884C5033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9" name="PlaceHolder 1"/>
          <p:cNvSpPr>
            <a:spLocks noGrp="1"/>
          </p:cNvSpPr>
          <p:nvPr>
            <p:ph type="sldImg"/>
          </p:nvPr>
        </p:nvSpPr>
        <p:spPr>
          <a:xfrm>
            <a:off x="685800" y="1143000"/>
            <a:ext cx="5484960" cy="3084840"/>
          </a:xfrm>
          <a:prstGeom prst="rect">
            <a:avLst/>
          </a:prstGeom>
          <a:ln w="0">
            <a:noFill/>
          </a:ln>
        </p:spPr>
      </p:sp>
      <p:sp>
        <p:nvSpPr>
          <p:cNvPr id="276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1" name="PlaceHolder 3"/>
          <p:cNvSpPr>
            <a:spLocks noGrp="1"/>
          </p:cNvSpPr>
          <p:nvPr>
            <p:ph type="sldNum" idx="2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D1A785B-D757-4C11-9EA0-577BD16BABE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2" name="PlaceHolder 1"/>
          <p:cNvSpPr>
            <a:spLocks noGrp="1"/>
          </p:cNvSpPr>
          <p:nvPr>
            <p:ph type="sldImg"/>
          </p:nvPr>
        </p:nvSpPr>
        <p:spPr>
          <a:xfrm>
            <a:off x="685800" y="1143000"/>
            <a:ext cx="5484960" cy="3084840"/>
          </a:xfrm>
          <a:prstGeom prst="rect">
            <a:avLst/>
          </a:prstGeom>
          <a:ln w="0">
            <a:noFill/>
          </a:ln>
        </p:spPr>
      </p:sp>
      <p:sp>
        <p:nvSpPr>
          <p:cNvPr id="276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4" name="PlaceHolder 3"/>
          <p:cNvSpPr>
            <a:spLocks noGrp="1"/>
          </p:cNvSpPr>
          <p:nvPr>
            <p:ph type="sldNum" idx="2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4840E77-F150-45D9-8938-EA6A13F557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5" name="PlaceHolder 1"/>
          <p:cNvSpPr>
            <a:spLocks noGrp="1"/>
          </p:cNvSpPr>
          <p:nvPr>
            <p:ph type="sldImg"/>
          </p:nvPr>
        </p:nvSpPr>
        <p:spPr>
          <a:xfrm>
            <a:off x="685800" y="1143000"/>
            <a:ext cx="5484960" cy="3084840"/>
          </a:xfrm>
          <a:prstGeom prst="rect">
            <a:avLst/>
          </a:prstGeom>
          <a:ln w="0">
            <a:noFill/>
          </a:ln>
        </p:spPr>
      </p:sp>
      <p:sp>
        <p:nvSpPr>
          <p:cNvPr id="276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67" name="PlaceHolder 3"/>
          <p:cNvSpPr>
            <a:spLocks noGrp="1"/>
          </p:cNvSpPr>
          <p:nvPr>
            <p:ph type="sldNum" idx="2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AE16F3B-EB4C-49A3-959F-A9DE3FAA14C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8" name="PlaceHolder 1"/>
          <p:cNvSpPr>
            <a:spLocks noGrp="1"/>
          </p:cNvSpPr>
          <p:nvPr>
            <p:ph type="sldImg"/>
          </p:nvPr>
        </p:nvSpPr>
        <p:spPr>
          <a:xfrm>
            <a:off x="685800" y="1143000"/>
            <a:ext cx="5484960" cy="3084840"/>
          </a:xfrm>
          <a:prstGeom prst="rect">
            <a:avLst/>
          </a:prstGeom>
          <a:ln w="0">
            <a:noFill/>
          </a:ln>
        </p:spPr>
      </p:sp>
      <p:sp>
        <p:nvSpPr>
          <p:cNvPr id="276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0" name="PlaceHolder 3"/>
          <p:cNvSpPr>
            <a:spLocks noGrp="1"/>
          </p:cNvSpPr>
          <p:nvPr>
            <p:ph type="sldNum" idx="2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57857F5-3B81-4EDD-BE44-89BB350DB02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1" name="PlaceHolder 1"/>
          <p:cNvSpPr>
            <a:spLocks noGrp="1"/>
          </p:cNvSpPr>
          <p:nvPr>
            <p:ph type="sldImg"/>
          </p:nvPr>
        </p:nvSpPr>
        <p:spPr>
          <a:xfrm>
            <a:off x="685800" y="1143000"/>
            <a:ext cx="5484960" cy="3084840"/>
          </a:xfrm>
          <a:prstGeom prst="rect">
            <a:avLst/>
          </a:prstGeom>
          <a:ln w="0">
            <a:noFill/>
          </a:ln>
        </p:spPr>
      </p:sp>
      <p:sp>
        <p:nvSpPr>
          <p:cNvPr id="277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3" name="PlaceHolder 3"/>
          <p:cNvSpPr>
            <a:spLocks noGrp="1"/>
          </p:cNvSpPr>
          <p:nvPr>
            <p:ph type="sldNum" idx="2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F6DC9D5-F12E-471C-8AC5-E5D000C908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4" name="PlaceHolder 1"/>
          <p:cNvSpPr>
            <a:spLocks noGrp="1"/>
          </p:cNvSpPr>
          <p:nvPr>
            <p:ph type="sldImg"/>
          </p:nvPr>
        </p:nvSpPr>
        <p:spPr>
          <a:xfrm>
            <a:off x="685800" y="1143000"/>
            <a:ext cx="5484960" cy="3084840"/>
          </a:xfrm>
          <a:prstGeom prst="rect">
            <a:avLst/>
          </a:prstGeom>
          <a:ln w="0">
            <a:noFill/>
          </a:ln>
        </p:spPr>
      </p:sp>
      <p:sp>
        <p:nvSpPr>
          <p:cNvPr id="277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6" name="PlaceHolder 3"/>
          <p:cNvSpPr>
            <a:spLocks noGrp="1"/>
          </p:cNvSpPr>
          <p:nvPr>
            <p:ph type="sldNum" idx="2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D39F4F1-5472-4A03-A9D5-A3A5FDE2373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7" name="PlaceHolder 1"/>
          <p:cNvSpPr>
            <a:spLocks noGrp="1"/>
          </p:cNvSpPr>
          <p:nvPr>
            <p:ph type="sldImg"/>
          </p:nvPr>
        </p:nvSpPr>
        <p:spPr>
          <a:xfrm>
            <a:off x="685800" y="1143000"/>
            <a:ext cx="5484960" cy="3084840"/>
          </a:xfrm>
          <a:prstGeom prst="rect">
            <a:avLst/>
          </a:prstGeom>
          <a:ln w="0">
            <a:noFill/>
          </a:ln>
        </p:spPr>
      </p:sp>
      <p:sp>
        <p:nvSpPr>
          <p:cNvPr id="277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79" name="PlaceHolder 3"/>
          <p:cNvSpPr>
            <a:spLocks noGrp="1"/>
          </p:cNvSpPr>
          <p:nvPr>
            <p:ph type="sldNum" idx="3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B7C745-ED19-4470-B7BF-F3F807CDF60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0" name="PlaceHolder 1"/>
          <p:cNvSpPr>
            <a:spLocks noGrp="1"/>
          </p:cNvSpPr>
          <p:nvPr>
            <p:ph type="sldImg"/>
          </p:nvPr>
        </p:nvSpPr>
        <p:spPr>
          <a:xfrm>
            <a:off x="685800" y="1143000"/>
            <a:ext cx="5484960" cy="3084840"/>
          </a:xfrm>
          <a:prstGeom prst="rect">
            <a:avLst/>
          </a:prstGeom>
          <a:ln w="0">
            <a:noFill/>
          </a:ln>
        </p:spPr>
      </p:sp>
      <p:sp>
        <p:nvSpPr>
          <p:cNvPr id="278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82" name="PlaceHolder 3"/>
          <p:cNvSpPr>
            <a:spLocks noGrp="1"/>
          </p:cNvSpPr>
          <p:nvPr>
            <p:ph type="sldNum" idx="3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6645F4F-07D7-43EB-8333-39F37606F8E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3" name="PlaceHolder 1"/>
          <p:cNvSpPr>
            <a:spLocks noGrp="1"/>
          </p:cNvSpPr>
          <p:nvPr>
            <p:ph type="sldImg"/>
          </p:nvPr>
        </p:nvSpPr>
        <p:spPr>
          <a:xfrm>
            <a:off x="685800" y="1143000"/>
            <a:ext cx="5484960" cy="3084840"/>
          </a:xfrm>
          <a:prstGeom prst="rect">
            <a:avLst/>
          </a:prstGeom>
          <a:ln w="0">
            <a:noFill/>
          </a:ln>
        </p:spPr>
      </p:sp>
      <p:sp>
        <p:nvSpPr>
          <p:cNvPr id="278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85" name="PlaceHolder 3"/>
          <p:cNvSpPr>
            <a:spLocks noGrp="1"/>
          </p:cNvSpPr>
          <p:nvPr>
            <p:ph type="sldNum" idx="3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792FB1B-FF60-4540-B82E-7A69E5478C5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6" name="PlaceHolder 1"/>
          <p:cNvSpPr>
            <a:spLocks noGrp="1"/>
          </p:cNvSpPr>
          <p:nvPr>
            <p:ph type="sldImg"/>
          </p:nvPr>
        </p:nvSpPr>
        <p:spPr>
          <a:xfrm>
            <a:off x="685800" y="1143000"/>
            <a:ext cx="5484960" cy="3084840"/>
          </a:xfrm>
          <a:prstGeom prst="rect">
            <a:avLst/>
          </a:prstGeom>
          <a:ln w="0">
            <a:noFill/>
          </a:ln>
        </p:spPr>
      </p:sp>
      <p:sp>
        <p:nvSpPr>
          <p:cNvPr id="278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88" name="PlaceHolder 3"/>
          <p:cNvSpPr>
            <a:spLocks noGrp="1"/>
          </p:cNvSpPr>
          <p:nvPr>
            <p:ph type="sldNum" idx="3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1E251AF-199E-4967-9D54-9B28D5F5196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9" name="PlaceHolder 1"/>
          <p:cNvSpPr>
            <a:spLocks noGrp="1"/>
          </p:cNvSpPr>
          <p:nvPr>
            <p:ph type="sldImg"/>
          </p:nvPr>
        </p:nvSpPr>
        <p:spPr>
          <a:xfrm>
            <a:off x="685800" y="1143000"/>
            <a:ext cx="5484960" cy="3084840"/>
          </a:xfrm>
          <a:prstGeom prst="rect">
            <a:avLst/>
          </a:prstGeom>
          <a:ln w="0">
            <a:noFill/>
          </a:ln>
        </p:spPr>
      </p:sp>
      <p:sp>
        <p:nvSpPr>
          <p:cNvPr id="279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1" name="PlaceHolder 3"/>
          <p:cNvSpPr>
            <a:spLocks noGrp="1"/>
          </p:cNvSpPr>
          <p:nvPr>
            <p:ph type="sldNum" idx="3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85A27CF-9BB2-4624-B62D-9EC4343F563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2" name="PlaceHolder 1"/>
          <p:cNvSpPr>
            <a:spLocks noGrp="1"/>
          </p:cNvSpPr>
          <p:nvPr>
            <p:ph type="sldImg"/>
          </p:nvPr>
        </p:nvSpPr>
        <p:spPr>
          <a:xfrm>
            <a:off x="685800" y="1143000"/>
            <a:ext cx="5484960" cy="3084840"/>
          </a:xfrm>
          <a:prstGeom prst="rect">
            <a:avLst/>
          </a:prstGeom>
          <a:ln w="0">
            <a:noFill/>
          </a:ln>
        </p:spPr>
      </p:sp>
      <p:sp>
        <p:nvSpPr>
          <p:cNvPr id="279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4" name="PlaceHolder 3"/>
          <p:cNvSpPr>
            <a:spLocks noGrp="1"/>
          </p:cNvSpPr>
          <p:nvPr>
            <p:ph type="sldNum" idx="3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59A5430-A953-4651-84CB-B65E3FFD1F8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5" name="PlaceHolder 1"/>
          <p:cNvSpPr>
            <a:spLocks noGrp="1"/>
          </p:cNvSpPr>
          <p:nvPr>
            <p:ph type="sldImg"/>
          </p:nvPr>
        </p:nvSpPr>
        <p:spPr>
          <a:xfrm>
            <a:off x="685800" y="1143000"/>
            <a:ext cx="5484960" cy="3084840"/>
          </a:xfrm>
          <a:prstGeom prst="rect">
            <a:avLst/>
          </a:prstGeom>
          <a:ln w="0">
            <a:noFill/>
          </a:ln>
        </p:spPr>
      </p:sp>
      <p:sp>
        <p:nvSpPr>
          <p:cNvPr id="279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797" name="PlaceHolder 3"/>
          <p:cNvSpPr>
            <a:spLocks noGrp="1"/>
          </p:cNvSpPr>
          <p:nvPr>
            <p:ph type="sldNum" idx="3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2329B7B-F170-4966-B667-E033A0EF1DC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8" name="PlaceHolder 1"/>
          <p:cNvSpPr>
            <a:spLocks noGrp="1"/>
          </p:cNvSpPr>
          <p:nvPr>
            <p:ph type="sldImg"/>
          </p:nvPr>
        </p:nvSpPr>
        <p:spPr>
          <a:xfrm>
            <a:off x="685800" y="1143000"/>
            <a:ext cx="5484960" cy="3084840"/>
          </a:xfrm>
          <a:prstGeom prst="rect">
            <a:avLst/>
          </a:prstGeom>
          <a:ln w="0">
            <a:noFill/>
          </a:ln>
        </p:spPr>
      </p:sp>
      <p:sp>
        <p:nvSpPr>
          <p:cNvPr id="279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0" name="PlaceHolder 3"/>
          <p:cNvSpPr>
            <a:spLocks noGrp="1"/>
          </p:cNvSpPr>
          <p:nvPr>
            <p:ph type="sldNum" idx="3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CAC9268-3408-4673-9670-89DF5B2AE5F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1" name="PlaceHolder 1"/>
          <p:cNvSpPr>
            <a:spLocks noGrp="1"/>
          </p:cNvSpPr>
          <p:nvPr>
            <p:ph type="sldImg"/>
          </p:nvPr>
        </p:nvSpPr>
        <p:spPr>
          <a:xfrm>
            <a:off x="685800" y="1143000"/>
            <a:ext cx="5484960" cy="3084840"/>
          </a:xfrm>
          <a:prstGeom prst="rect">
            <a:avLst/>
          </a:prstGeom>
          <a:ln w="0">
            <a:noFill/>
          </a:ln>
        </p:spPr>
      </p:sp>
      <p:sp>
        <p:nvSpPr>
          <p:cNvPr id="280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3" name="PlaceHolder 3"/>
          <p:cNvSpPr>
            <a:spLocks noGrp="1"/>
          </p:cNvSpPr>
          <p:nvPr>
            <p:ph type="sldNum" idx="3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2BCC73A-D075-488B-B1E2-95C78A053C7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4" name="PlaceHolder 1"/>
          <p:cNvSpPr>
            <a:spLocks noGrp="1"/>
          </p:cNvSpPr>
          <p:nvPr>
            <p:ph type="sldImg"/>
          </p:nvPr>
        </p:nvSpPr>
        <p:spPr>
          <a:xfrm>
            <a:off x="685800" y="1143000"/>
            <a:ext cx="5484960" cy="3084840"/>
          </a:xfrm>
          <a:prstGeom prst="rect">
            <a:avLst/>
          </a:prstGeom>
          <a:ln w="0">
            <a:noFill/>
          </a:ln>
        </p:spPr>
      </p:sp>
      <p:sp>
        <p:nvSpPr>
          <p:cNvPr id="280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6" name="PlaceHolder 3"/>
          <p:cNvSpPr>
            <a:spLocks noGrp="1"/>
          </p:cNvSpPr>
          <p:nvPr>
            <p:ph type="sldNum" idx="3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E8D3723-CF2D-40EE-A557-1EF50D5B7A5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7" name="PlaceHolder 1"/>
          <p:cNvSpPr>
            <a:spLocks noGrp="1"/>
          </p:cNvSpPr>
          <p:nvPr>
            <p:ph type="sldImg"/>
          </p:nvPr>
        </p:nvSpPr>
        <p:spPr>
          <a:xfrm>
            <a:off x="685800" y="1143000"/>
            <a:ext cx="5484960" cy="3084840"/>
          </a:xfrm>
          <a:prstGeom prst="rect">
            <a:avLst/>
          </a:prstGeom>
          <a:ln w="0">
            <a:noFill/>
          </a:ln>
        </p:spPr>
      </p:sp>
      <p:sp>
        <p:nvSpPr>
          <p:cNvPr id="280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09" name="PlaceHolder 3"/>
          <p:cNvSpPr>
            <a:spLocks noGrp="1"/>
          </p:cNvSpPr>
          <p:nvPr>
            <p:ph type="sldNum" idx="4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913BF26-93EC-4785-AB8B-289D06AF092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0" name="PlaceHolder 1"/>
          <p:cNvSpPr>
            <a:spLocks noGrp="1"/>
          </p:cNvSpPr>
          <p:nvPr>
            <p:ph type="sldImg"/>
          </p:nvPr>
        </p:nvSpPr>
        <p:spPr>
          <a:xfrm>
            <a:off x="685800" y="1143000"/>
            <a:ext cx="5484960" cy="3084840"/>
          </a:xfrm>
          <a:prstGeom prst="rect">
            <a:avLst/>
          </a:prstGeom>
          <a:ln w="0">
            <a:noFill/>
          </a:ln>
        </p:spPr>
      </p:sp>
      <p:sp>
        <p:nvSpPr>
          <p:cNvPr id="281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12" name="PlaceHolder 3"/>
          <p:cNvSpPr>
            <a:spLocks noGrp="1"/>
          </p:cNvSpPr>
          <p:nvPr>
            <p:ph type="sldNum" idx="4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B117155-4F06-4084-AD71-5B9FC41DCFB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3" name="PlaceHolder 1"/>
          <p:cNvSpPr>
            <a:spLocks noGrp="1"/>
          </p:cNvSpPr>
          <p:nvPr>
            <p:ph type="sldImg"/>
          </p:nvPr>
        </p:nvSpPr>
        <p:spPr>
          <a:xfrm>
            <a:off x="685800" y="1143000"/>
            <a:ext cx="5484960" cy="3084840"/>
          </a:xfrm>
          <a:prstGeom prst="rect">
            <a:avLst/>
          </a:prstGeom>
          <a:ln w="0">
            <a:noFill/>
          </a:ln>
        </p:spPr>
      </p:sp>
      <p:sp>
        <p:nvSpPr>
          <p:cNvPr id="281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15" name="PlaceHolder 3"/>
          <p:cNvSpPr>
            <a:spLocks noGrp="1"/>
          </p:cNvSpPr>
          <p:nvPr>
            <p:ph type="sldNum" idx="4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3A1877B-9B18-4C20-AF0C-6263115C578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6" name="PlaceHolder 1"/>
          <p:cNvSpPr>
            <a:spLocks noGrp="1"/>
          </p:cNvSpPr>
          <p:nvPr>
            <p:ph type="sldImg"/>
          </p:nvPr>
        </p:nvSpPr>
        <p:spPr>
          <a:xfrm>
            <a:off x="685800" y="1143000"/>
            <a:ext cx="5484960" cy="3084840"/>
          </a:xfrm>
          <a:prstGeom prst="rect">
            <a:avLst/>
          </a:prstGeom>
          <a:ln w="0">
            <a:noFill/>
          </a:ln>
        </p:spPr>
      </p:sp>
      <p:sp>
        <p:nvSpPr>
          <p:cNvPr id="281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18" name="PlaceHolder 3"/>
          <p:cNvSpPr>
            <a:spLocks noGrp="1"/>
          </p:cNvSpPr>
          <p:nvPr>
            <p:ph type="sldNum" idx="4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330A223-51AE-4DB8-BBA1-960877E605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9" name="PlaceHolder 1"/>
          <p:cNvSpPr>
            <a:spLocks noGrp="1"/>
          </p:cNvSpPr>
          <p:nvPr>
            <p:ph type="sldImg"/>
          </p:nvPr>
        </p:nvSpPr>
        <p:spPr>
          <a:xfrm>
            <a:off x="685800" y="1143000"/>
            <a:ext cx="5484960" cy="3084840"/>
          </a:xfrm>
          <a:prstGeom prst="rect">
            <a:avLst/>
          </a:prstGeom>
          <a:ln w="0">
            <a:noFill/>
          </a:ln>
        </p:spPr>
      </p:sp>
      <p:sp>
        <p:nvSpPr>
          <p:cNvPr id="282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1" name="PlaceHolder 3"/>
          <p:cNvSpPr>
            <a:spLocks noGrp="1"/>
          </p:cNvSpPr>
          <p:nvPr>
            <p:ph type="sldNum" idx="4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DB7DF51-8FD0-4423-8761-2AF1E3F2B93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2" name="PlaceHolder 1"/>
          <p:cNvSpPr>
            <a:spLocks noGrp="1"/>
          </p:cNvSpPr>
          <p:nvPr>
            <p:ph type="sldImg"/>
          </p:nvPr>
        </p:nvSpPr>
        <p:spPr>
          <a:xfrm>
            <a:off x="685800" y="1143000"/>
            <a:ext cx="5484960" cy="3084840"/>
          </a:xfrm>
          <a:prstGeom prst="rect">
            <a:avLst/>
          </a:prstGeom>
          <a:ln w="0">
            <a:noFill/>
          </a:ln>
        </p:spPr>
      </p:sp>
      <p:sp>
        <p:nvSpPr>
          <p:cNvPr id="282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4" name="PlaceHolder 3"/>
          <p:cNvSpPr>
            <a:spLocks noGrp="1"/>
          </p:cNvSpPr>
          <p:nvPr>
            <p:ph type="sldNum" idx="4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3882088-EF16-43CE-8555-F9E670B3A58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5" name="PlaceHolder 1"/>
          <p:cNvSpPr>
            <a:spLocks noGrp="1"/>
          </p:cNvSpPr>
          <p:nvPr>
            <p:ph type="sldImg"/>
          </p:nvPr>
        </p:nvSpPr>
        <p:spPr>
          <a:xfrm>
            <a:off x="685800" y="1143000"/>
            <a:ext cx="5484960" cy="3084840"/>
          </a:xfrm>
          <a:prstGeom prst="rect">
            <a:avLst/>
          </a:prstGeom>
          <a:ln w="0">
            <a:noFill/>
          </a:ln>
        </p:spPr>
      </p:sp>
      <p:sp>
        <p:nvSpPr>
          <p:cNvPr id="282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27" name="PlaceHolder 3"/>
          <p:cNvSpPr>
            <a:spLocks noGrp="1"/>
          </p:cNvSpPr>
          <p:nvPr>
            <p:ph type="sldNum" idx="4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DBBF1B0-FA6B-4016-B8E0-728EC0ECE73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8" name="PlaceHolder 1"/>
          <p:cNvSpPr>
            <a:spLocks noGrp="1"/>
          </p:cNvSpPr>
          <p:nvPr>
            <p:ph type="sldImg"/>
          </p:nvPr>
        </p:nvSpPr>
        <p:spPr>
          <a:xfrm>
            <a:off x="685800" y="1143000"/>
            <a:ext cx="5484960" cy="3084840"/>
          </a:xfrm>
          <a:prstGeom prst="rect">
            <a:avLst/>
          </a:prstGeom>
          <a:ln w="0">
            <a:noFill/>
          </a:ln>
        </p:spPr>
      </p:sp>
      <p:sp>
        <p:nvSpPr>
          <p:cNvPr id="282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0" name="PlaceHolder 3"/>
          <p:cNvSpPr>
            <a:spLocks noGrp="1"/>
          </p:cNvSpPr>
          <p:nvPr>
            <p:ph type="sldNum" idx="4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4C481C8-8D45-4B24-B18A-C15203104D1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1" name="PlaceHolder 1"/>
          <p:cNvSpPr>
            <a:spLocks noGrp="1"/>
          </p:cNvSpPr>
          <p:nvPr>
            <p:ph type="sldImg"/>
          </p:nvPr>
        </p:nvSpPr>
        <p:spPr>
          <a:xfrm>
            <a:off x="685800" y="1143000"/>
            <a:ext cx="5484960" cy="3084840"/>
          </a:xfrm>
          <a:prstGeom prst="rect">
            <a:avLst/>
          </a:prstGeom>
          <a:ln w="0">
            <a:noFill/>
          </a:ln>
        </p:spPr>
      </p:sp>
      <p:sp>
        <p:nvSpPr>
          <p:cNvPr id="283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3" name="PlaceHolder 3"/>
          <p:cNvSpPr>
            <a:spLocks noGrp="1"/>
          </p:cNvSpPr>
          <p:nvPr>
            <p:ph type="sldNum" idx="4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64C9EE3-5CD7-4D49-860D-D03EE47C6D7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4" name="PlaceHolder 1"/>
          <p:cNvSpPr>
            <a:spLocks noGrp="1"/>
          </p:cNvSpPr>
          <p:nvPr>
            <p:ph type="sldImg"/>
          </p:nvPr>
        </p:nvSpPr>
        <p:spPr>
          <a:xfrm>
            <a:off x="685800" y="1143000"/>
            <a:ext cx="5484960" cy="3084840"/>
          </a:xfrm>
          <a:prstGeom prst="rect">
            <a:avLst/>
          </a:prstGeom>
          <a:ln w="0">
            <a:noFill/>
          </a:ln>
        </p:spPr>
      </p:sp>
      <p:sp>
        <p:nvSpPr>
          <p:cNvPr id="283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6" name="PlaceHolder 3"/>
          <p:cNvSpPr>
            <a:spLocks noGrp="1"/>
          </p:cNvSpPr>
          <p:nvPr>
            <p:ph type="sldNum" idx="4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C5A45CE-176D-4D35-8C7B-08285A81CE0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7" name="PlaceHolder 1"/>
          <p:cNvSpPr>
            <a:spLocks noGrp="1"/>
          </p:cNvSpPr>
          <p:nvPr>
            <p:ph type="sldImg"/>
          </p:nvPr>
        </p:nvSpPr>
        <p:spPr>
          <a:xfrm>
            <a:off x="685800" y="1143000"/>
            <a:ext cx="5484960" cy="3084840"/>
          </a:xfrm>
          <a:prstGeom prst="rect">
            <a:avLst/>
          </a:prstGeom>
          <a:ln w="0">
            <a:noFill/>
          </a:ln>
        </p:spPr>
      </p:sp>
      <p:sp>
        <p:nvSpPr>
          <p:cNvPr id="283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39" name="PlaceHolder 3"/>
          <p:cNvSpPr>
            <a:spLocks noGrp="1"/>
          </p:cNvSpPr>
          <p:nvPr>
            <p:ph type="sldNum" idx="5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536A54D-8D08-43FB-81CF-A97251556FF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0" name="PlaceHolder 1"/>
          <p:cNvSpPr>
            <a:spLocks noGrp="1"/>
          </p:cNvSpPr>
          <p:nvPr>
            <p:ph type="sldImg"/>
          </p:nvPr>
        </p:nvSpPr>
        <p:spPr>
          <a:xfrm>
            <a:off x="685800" y="1143000"/>
            <a:ext cx="5484960" cy="3084840"/>
          </a:xfrm>
          <a:prstGeom prst="rect">
            <a:avLst/>
          </a:prstGeom>
          <a:ln w="0">
            <a:noFill/>
          </a:ln>
        </p:spPr>
      </p:sp>
      <p:sp>
        <p:nvSpPr>
          <p:cNvPr id="284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42" name="PlaceHolder 3"/>
          <p:cNvSpPr>
            <a:spLocks noGrp="1"/>
          </p:cNvSpPr>
          <p:nvPr>
            <p:ph type="sldNum" idx="5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95576AB-05E4-44AA-80AE-571B188DB3B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3" name="PlaceHolder 1"/>
          <p:cNvSpPr>
            <a:spLocks noGrp="1"/>
          </p:cNvSpPr>
          <p:nvPr>
            <p:ph type="sldImg"/>
          </p:nvPr>
        </p:nvSpPr>
        <p:spPr>
          <a:xfrm>
            <a:off x="685800" y="1143000"/>
            <a:ext cx="5484960" cy="3084840"/>
          </a:xfrm>
          <a:prstGeom prst="rect">
            <a:avLst/>
          </a:prstGeom>
          <a:ln w="0">
            <a:noFill/>
          </a:ln>
        </p:spPr>
      </p:sp>
      <p:sp>
        <p:nvSpPr>
          <p:cNvPr id="284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45" name="PlaceHolder 3"/>
          <p:cNvSpPr>
            <a:spLocks noGrp="1"/>
          </p:cNvSpPr>
          <p:nvPr>
            <p:ph type="sldNum" idx="5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818B7F7-311F-4689-B160-0603A889F53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6" name="PlaceHolder 1"/>
          <p:cNvSpPr>
            <a:spLocks noGrp="1"/>
          </p:cNvSpPr>
          <p:nvPr>
            <p:ph type="sldImg"/>
          </p:nvPr>
        </p:nvSpPr>
        <p:spPr>
          <a:xfrm>
            <a:off x="685800" y="1143000"/>
            <a:ext cx="5484960" cy="3084840"/>
          </a:xfrm>
          <a:prstGeom prst="rect">
            <a:avLst/>
          </a:prstGeom>
          <a:ln w="0">
            <a:noFill/>
          </a:ln>
        </p:spPr>
      </p:sp>
      <p:sp>
        <p:nvSpPr>
          <p:cNvPr id="284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48" name="PlaceHolder 3"/>
          <p:cNvSpPr>
            <a:spLocks noGrp="1"/>
          </p:cNvSpPr>
          <p:nvPr>
            <p:ph type="sldNum" idx="5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3D36461-8FE1-49B5-B18E-456B25A74DA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9" name="PlaceHolder 1"/>
          <p:cNvSpPr>
            <a:spLocks noGrp="1"/>
          </p:cNvSpPr>
          <p:nvPr>
            <p:ph type="sldImg"/>
          </p:nvPr>
        </p:nvSpPr>
        <p:spPr>
          <a:xfrm>
            <a:off x="685800" y="1143000"/>
            <a:ext cx="5484960" cy="3084840"/>
          </a:xfrm>
          <a:prstGeom prst="rect">
            <a:avLst/>
          </a:prstGeom>
          <a:ln w="0">
            <a:noFill/>
          </a:ln>
        </p:spPr>
      </p:sp>
      <p:sp>
        <p:nvSpPr>
          <p:cNvPr id="285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1" name="PlaceHolder 3"/>
          <p:cNvSpPr>
            <a:spLocks noGrp="1"/>
          </p:cNvSpPr>
          <p:nvPr>
            <p:ph type="sldNum" idx="5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59B77C2-02C9-46B7-880B-18604E8969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2" name="PlaceHolder 1"/>
          <p:cNvSpPr>
            <a:spLocks noGrp="1"/>
          </p:cNvSpPr>
          <p:nvPr>
            <p:ph type="sldImg"/>
          </p:nvPr>
        </p:nvSpPr>
        <p:spPr>
          <a:xfrm>
            <a:off x="685800" y="1143000"/>
            <a:ext cx="5484960" cy="3084840"/>
          </a:xfrm>
          <a:prstGeom prst="rect">
            <a:avLst/>
          </a:prstGeom>
          <a:ln w="0">
            <a:noFill/>
          </a:ln>
        </p:spPr>
      </p:sp>
      <p:sp>
        <p:nvSpPr>
          <p:cNvPr id="285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4" name="PlaceHolder 3"/>
          <p:cNvSpPr>
            <a:spLocks noGrp="1"/>
          </p:cNvSpPr>
          <p:nvPr>
            <p:ph type="sldNum" idx="5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B059721-D5D5-437D-B6C3-3F60EC27D29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5" name="PlaceHolder 1"/>
          <p:cNvSpPr>
            <a:spLocks noGrp="1"/>
          </p:cNvSpPr>
          <p:nvPr>
            <p:ph type="sldImg"/>
          </p:nvPr>
        </p:nvSpPr>
        <p:spPr>
          <a:xfrm>
            <a:off x="685800" y="1143000"/>
            <a:ext cx="5484960" cy="3084840"/>
          </a:xfrm>
          <a:prstGeom prst="rect">
            <a:avLst/>
          </a:prstGeom>
          <a:ln w="0">
            <a:noFill/>
          </a:ln>
        </p:spPr>
      </p:sp>
      <p:sp>
        <p:nvSpPr>
          <p:cNvPr id="285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57" name="PlaceHolder 3"/>
          <p:cNvSpPr>
            <a:spLocks noGrp="1"/>
          </p:cNvSpPr>
          <p:nvPr>
            <p:ph type="sldNum" idx="5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472AE3A-DE16-4BFE-8D64-C8A71973E64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8" name="PlaceHolder 1"/>
          <p:cNvSpPr>
            <a:spLocks noGrp="1"/>
          </p:cNvSpPr>
          <p:nvPr>
            <p:ph type="sldImg"/>
          </p:nvPr>
        </p:nvSpPr>
        <p:spPr>
          <a:xfrm>
            <a:off x="685800" y="1143000"/>
            <a:ext cx="5484960" cy="3084840"/>
          </a:xfrm>
          <a:prstGeom prst="rect">
            <a:avLst/>
          </a:prstGeom>
          <a:ln w="0">
            <a:noFill/>
          </a:ln>
        </p:spPr>
      </p:sp>
      <p:sp>
        <p:nvSpPr>
          <p:cNvPr id="285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0" name="PlaceHolder 3"/>
          <p:cNvSpPr>
            <a:spLocks noGrp="1"/>
          </p:cNvSpPr>
          <p:nvPr>
            <p:ph type="sldNum" idx="5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1F365E0-9978-403B-B534-BA6D464A647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1" name="PlaceHolder 1"/>
          <p:cNvSpPr>
            <a:spLocks noGrp="1"/>
          </p:cNvSpPr>
          <p:nvPr>
            <p:ph type="sldImg"/>
          </p:nvPr>
        </p:nvSpPr>
        <p:spPr>
          <a:xfrm>
            <a:off x="685800" y="1143000"/>
            <a:ext cx="5484960" cy="3084840"/>
          </a:xfrm>
          <a:prstGeom prst="rect">
            <a:avLst/>
          </a:prstGeom>
          <a:ln w="0">
            <a:noFill/>
          </a:ln>
        </p:spPr>
      </p:sp>
      <p:sp>
        <p:nvSpPr>
          <p:cNvPr id="286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3" name="PlaceHolder 3"/>
          <p:cNvSpPr>
            <a:spLocks noGrp="1"/>
          </p:cNvSpPr>
          <p:nvPr>
            <p:ph type="sldNum" idx="5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42465B8-29BD-4362-BD47-ADFE91E4A43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4" name="PlaceHolder 1"/>
          <p:cNvSpPr>
            <a:spLocks noGrp="1"/>
          </p:cNvSpPr>
          <p:nvPr>
            <p:ph type="sldImg"/>
          </p:nvPr>
        </p:nvSpPr>
        <p:spPr>
          <a:xfrm>
            <a:off x="685800" y="1143000"/>
            <a:ext cx="5484960" cy="3084840"/>
          </a:xfrm>
          <a:prstGeom prst="rect">
            <a:avLst/>
          </a:prstGeom>
          <a:ln w="0">
            <a:noFill/>
          </a:ln>
        </p:spPr>
      </p:sp>
      <p:sp>
        <p:nvSpPr>
          <p:cNvPr id="286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6" name="PlaceHolder 3"/>
          <p:cNvSpPr>
            <a:spLocks noGrp="1"/>
          </p:cNvSpPr>
          <p:nvPr>
            <p:ph type="sldNum" idx="5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DABCB05-38E1-40AB-A61A-7D103149A7E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7" name="PlaceHolder 1"/>
          <p:cNvSpPr>
            <a:spLocks noGrp="1"/>
          </p:cNvSpPr>
          <p:nvPr>
            <p:ph type="sldImg"/>
          </p:nvPr>
        </p:nvSpPr>
        <p:spPr>
          <a:xfrm>
            <a:off x="685800" y="1143000"/>
            <a:ext cx="5484960" cy="3084840"/>
          </a:xfrm>
          <a:prstGeom prst="rect">
            <a:avLst/>
          </a:prstGeom>
          <a:ln w="0">
            <a:noFill/>
          </a:ln>
        </p:spPr>
      </p:sp>
      <p:sp>
        <p:nvSpPr>
          <p:cNvPr id="286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69" name="PlaceHolder 3"/>
          <p:cNvSpPr>
            <a:spLocks noGrp="1"/>
          </p:cNvSpPr>
          <p:nvPr>
            <p:ph type="sldNum" idx="6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63A31AB-FCC1-4644-9E74-51440ABE47F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0" name="PlaceHolder 1"/>
          <p:cNvSpPr>
            <a:spLocks noGrp="1"/>
          </p:cNvSpPr>
          <p:nvPr>
            <p:ph type="sldImg"/>
          </p:nvPr>
        </p:nvSpPr>
        <p:spPr>
          <a:xfrm>
            <a:off x="685800" y="1143000"/>
            <a:ext cx="5484960" cy="3084840"/>
          </a:xfrm>
          <a:prstGeom prst="rect">
            <a:avLst/>
          </a:prstGeom>
          <a:ln w="0">
            <a:noFill/>
          </a:ln>
        </p:spPr>
      </p:sp>
      <p:sp>
        <p:nvSpPr>
          <p:cNvPr id="287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2" name="PlaceHolder 3"/>
          <p:cNvSpPr>
            <a:spLocks noGrp="1"/>
          </p:cNvSpPr>
          <p:nvPr>
            <p:ph type="sldNum" idx="6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A39A31B-42FC-49AE-B624-122123020C5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3" name="PlaceHolder 1"/>
          <p:cNvSpPr>
            <a:spLocks noGrp="1"/>
          </p:cNvSpPr>
          <p:nvPr>
            <p:ph type="sldImg"/>
          </p:nvPr>
        </p:nvSpPr>
        <p:spPr>
          <a:xfrm>
            <a:off x="685800" y="1143000"/>
            <a:ext cx="5484960" cy="3084840"/>
          </a:xfrm>
          <a:prstGeom prst="rect">
            <a:avLst/>
          </a:prstGeom>
          <a:ln w="0">
            <a:noFill/>
          </a:ln>
        </p:spPr>
      </p:sp>
      <p:sp>
        <p:nvSpPr>
          <p:cNvPr id="287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5" name="PlaceHolder 3"/>
          <p:cNvSpPr>
            <a:spLocks noGrp="1"/>
          </p:cNvSpPr>
          <p:nvPr>
            <p:ph type="sldNum" idx="6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9493431-4115-4DD5-B2EC-1E1905AC130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6" name="PlaceHolder 1"/>
          <p:cNvSpPr>
            <a:spLocks noGrp="1"/>
          </p:cNvSpPr>
          <p:nvPr>
            <p:ph type="sldImg"/>
          </p:nvPr>
        </p:nvSpPr>
        <p:spPr>
          <a:xfrm>
            <a:off x="685800" y="1143000"/>
            <a:ext cx="5484960" cy="3084840"/>
          </a:xfrm>
          <a:prstGeom prst="rect">
            <a:avLst/>
          </a:prstGeom>
          <a:ln w="0">
            <a:noFill/>
          </a:ln>
        </p:spPr>
      </p:sp>
      <p:sp>
        <p:nvSpPr>
          <p:cNvPr id="287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78" name="PlaceHolder 3"/>
          <p:cNvSpPr>
            <a:spLocks noGrp="1"/>
          </p:cNvSpPr>
          <p:nvPr>
            <p:ph type="sldNum" idx="6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B350837-238D-4C2C-8407-71BB1B6ADB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9" name="PlaceHolder 1"/>
          <p:cNvSpPr>
            <a:spLocks noGrp="1"/>
          </p:cNvSpPr>
          <p:nvPr>
            <p:ph type="sldImg"/>
          </p:nvPr>
        </p:nvSpPr>
        <p:spPr>
          <a:xfrm>
            <a:off x="685800" y="1143000"/>
            <a:ext cx="5484960" cy="3084840"/>
          </a:xfrm>
          <a:prstGeom prst="rect">
            <a:avLst/>
          </a:prstGeom>
          <a:ln w="0">
            <a:noFill/>
          </a:ln>
        </p:spPr>
      </p:sp>
      <p:sp>
        <p:nvSpPr>
          <p:cNvPr id="288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1" name="PlaceHolder 3"/>
          <p:cNvSpPr>
            <a:spLocks noGrp="1"/>
          </p:cNvSpPr>
          <p:nvPr>
            <p:ph type="sldNum" idx="6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C54E8B5-9ABE-4F27-9BCA-8149C33B2D3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2" name="PlaceHolder 1"/>
          <p:cNvSpPr>
            <a:spLocks noGrp="1"/>
          </p:cNvSpPr>
          <p:nvPr>
            <p:ph type="sldImg"/>
          </p:nvPr>
        </p:nvSpPr>
        <p:spPr>
          <a:xfrm>
            <a:off x="685800" y="1143000"/>
            <a:ext cx="5484960" cy="3084840"/>
          </a:xfrm>
          <a:prstGeom prst="rect">
            <a:avLst/>
          </a:prstGeom>
          <a:ln w="0">
            <a:noFill/>
          </a:ln>
        </p:spPr>
      </p:sp>
      <p:sp>
        <p:nvSpPr>
          <p:cNvPr id="288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4" name="PlaceHolder 3"/>
          <p:cNvSpPr>
            <a:spLocks noGrp="1"/>
          </p:cNvSpPr>
          <p:nvPr>
            <p:ph type="sldNum" idx="6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D8D5316-F2BC-4BCF-9673-E642773A22D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5" name="PlaceHolder 1"/>
          <p:cNvSpPr>
            <a:spLocks noGrp="1"/>
          </p:cNvSpPr>
          <p:nvPr>
            <p:ph type="sldImg"/>
          </p:nvPr>
        </p:nvSpPr>
        <p:spPr>
          <a:xfrm>
            <a:off x="685800" y="1143000"/>
            <a:ext cx="5484960" cy="3084840"/>
          </a:xfrm>
          <a:prstGeom prst="rect">
            <a:avLst/>
          </a:prstGeom>
          <a:ln w="0">
            <a:noFill/>
          </a:ln>
        </p:spPr>
      </p:sp>
      <p:sp>
        <p:nvSpPr>
          <p:cNvPr id="288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87" name="PlaceHolder 3"/>
          <p:cNvSpPr>
            <a:spLocks noGrp="1"/>
          </p:cNvSpPr>
          <p:nvPr>
            <p:ph type="sldNum" idx="6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8BB0B1B-182A-40D1-A04B-B17CB6CB0D0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8" name="PlaceHolder 1"/>
          <p:cNvSpPr>
            <a:spLocks noGrp="1"/>
          </p:cNvSpPr>
          <p:nvPr>
            <p:ph type="sldImg"/>
          </p:nvPr>
        </p:nvSpPr>
        <p:spPr>
          <a:xfrm>
            <a:off x="685800" y="1143000"/>
            <a:ext cx="5484960" cy="3084840"/>
          </a:xfrm>
          <a:prstGeom prst="rect">
            <a:avLst/>
          </a:prstGeom>
          <a:ln w="0">
            <a:noFill/>
          </a:ln>
        </p:spPr>
      </p:sp>
      <p:sp>
        <p:nvSpPr>
          <p:cNvPr id="288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0" name="PlaceHolder 3"/>
          <p:cNvSpPr>
            <a:spLocks noGrp="1"/>
          </p:cNvSpPr>
          <p:nvPr>
            <p:ph type="sldNum" idx="6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98AB24D-0D8B-4FC4-BF5C-5777BB51AE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1" name="PlaceHolder 1"/>
          <p:cNvSpPr>
            <a:spLocks noGrp="1"/>
          </p:cNvSpPr>
          <p:nvPr>
            <p:ph type="sldImg"/>
          </p:nvPr>
        </p:nvSpPr>
        <p:spPr>
          <a:xfrm>
            <a:off x="685800" y="1143000"/>
            <a:ext cx="5484960" cy="3084840"/>
          </a:xfrm>
          <a:prstGeom prst="rect">
            <a:avLst/>
          </a:prstGeom>
          <a:ln w="0">
            <a:noFill/>
          </a:ln>
        </p:spPr>
      </p:sp>
      <p:sp>
        <p:nvSpPr>
          <p:cNvPr id="289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3" name="PlaceHolder 3"/>
          <p:cNvSpPr>
            <a:spLocks noGrp="1"/>
          </p:cNvSpPr>
          <p:nvPr>
            <p:ph type="sldNum" idx="6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F36712C-C284-4A85-95D8-434CA3E5C86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4" name="PlaceHolder 1"/>
          <p:cNvSpPr>
            <a:spLocks noGrp="1"/>
          </p:cNvSpPr>
          <p:nvPr>
            <p:ph type="sldImg"/>
          </p:nvPr>
        </p:nvSpPr>
        <p:spPr>
          <a:xfrm>
            <a:off x="685800" y="1143000"/>
            <a:ext cx="5484960" cy="3084840"/>
          </a:xfrm>
          <a:prstGeom prst="rect">
            <a:avLst/>
          </a:prstGeom>
          <a:ln w="0">
            <a:noFill/>
          </a:ln>
        </p:spPr>
      </p:sp>
      <p:sp>
        <p:nvSpPr>
          <p:cNvPr id="289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6" name="PlaceHolder 3"/>
          <p:cNvSpPr>
            <a:spLocks noGrp="1"/>
          </p:cNvSpPr>
          <p:nvPr>
            <p:ph type="sldNum" idx="6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ECEC86-DBCA-481D-83B6-665FDB6B781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7" name="PlaceHolder 1"/>
          <p:cNvSpPr>
            <a:spLocks noGrp="1"/>
          </p:cNvSpPr>
          <p:nvPr>
            <p:ph type="sldImg"/>
          </p:nvPr>
        </p:nvSpPr>
        <p:spPr>
          <a:xfrm>
            <a:off x="685800" y="1143000"/>
            <a:ext cx="5484960" cy="3084840"/>
          </a:xfrm>
          <a:prstGeom prst="rect">
            <a:avLst/>
          </a:prstGeom>
          <a:ln w="0">
            <a:noFill/>
          </a:ln>
        </p:spPr>
      </p:sp>
      <p:sp>
        <p:nvSpPr>
          <p:cNvPr id="289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899" name="PlaceHolder 3"/>
          <p:cNvSpPr>
            <a:spLocks noGrp="1"/>
          </p:cNvSpPr>
          <p:nvPr>
            <p:ph type="sldNum" idx="7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9F12A57-1DD6-4D6C-961D-23268FF5F3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0" name="PlaceHolder 1"/>
          <p:cNvSpPr>
            <a:spLocks noGrp="1"/>
          </p:cNvSpPr>
          <p:nvPr>
            <p:ph type="sldImg"/>
          </p:nvPr>
        </p:nvSpPr>
        <p:spPr>
          <a:xfrm>
            <a:off x="685800" y="1143000"/>
            <a:ext cx="5484960" cy="3084840"/>
          </a:xfrm>
          <a:prstGeom prst="rect">
            <a:avLst/>
          </a:prstGeom>
          <a:ln w="0">
            <a:noFill/>
          </a:ln>
        </p:spPr>
      </p:sp>
      <p:sp>
        <p:nvSpPr>
          <p:cNvPr id="290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02" name="PlaceHolder 3"/>
          <p:cNvSpPr>
            <a:spLocks noGrp="1"/>
          </p:cNvSpPr>
          <p:nvPr>
            <p:ph type="sldNum" idx="7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3F54608-6F34-4BD3-892D-D8E97F1E85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3" name="PlaceHolder 1"/>
          <p:cNvSpPr>
            <a:spLocks noGrp="1"/>
          </p:cNvSpPr>
          <p:nvPr>
            <p:ph type="sldImg"/>
          </p:nvPr>
        </p:nvSpPr>
        <p:spPr>
          <a:xfrm>
            <a:off x="685800" y="1143000"/>
            <a:ext cx="5484960" cy="3084840"/>
          </a:xfrm>
          <a:prstGeom prst="rect">
            <a:avLst/>
          </a:prstGeom>
          <a:ln w="0">
            <a:noFill/>
          </a:ln>
        </p:spPr>
      </p:sp>
      <p:sp>
        <p:nvSpPr>
          <p:cNvPr id="290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05" name="PlaceHolder 3"/>
          <p:cNvSpPr>
            <a:spLocks noGrp="1"/>
          </p:cNvSpPr>
          <p:nvPr>
            <p:ph type="sldNum" idx="7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AFB2F07-6824-4D82-A4DD-CC67F43C4C6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6" name="PlaceHolder 1"/>
          <p:cNvSpPr>
            <a:spLocks noGrp="1"/>
          </p:cNvSpPr>
          <p:nvPr>
            <p:ph type="sldImg"/>
          </p:nvPr>
        </p:nvSpPr>
        <p:spPr>
          <a:xfrm>
            <a:off x="685800" y="1143000"/>
            <a:ext cx="5484960" cy="3084840"/>
          </a:xfrm>
          <a:prstGeom prst="rect">
            <a:avLst/>
          </a:prstGeom>
          <a:ln w="0">
            <a:noFill/>
          </a:ln>
        </p:spPr>
      </p:sp>
      <p:sp>
        <p:nvSpPr>
          <p:cNvPr id="290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08" name="PlaceHolder 3"/>
          <p:cNvSpPr>
            <a:spLocks noGrp="1"/>
          </p:cNvSpPr>
          <p:nvPr>
            <p:ph type="sldNum" idx="7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E0B65FA-5C58-4845-A67D-52B25F0BA41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9" name="PlaceHolder 1"/>
          <p:cNvSpPr>
            <a:spLocks noGrp="1"/>
          </p:cNvSpPr>
          <p:nvPr>
            <p:ph type="sldImg"/>
          </p:nvPr>
        </p:nvSpPr>
        <p:spPr>
          <a:xfrm>
            <a:off x="685800" y="1143000"/>
            <a:ext cx="5484960" cy="3084840"/>
          </a:xfrm>
          <a:prstGeom prst="rect">
            <a:avLst/>
          </a:prstGeom>
          <a:ln w="0">
            <a:noFill/>
          </a:ln>
        </p:spPr>
      </p:sp>
      <p:sp>
        <p:nvSpPr>
          <p:cNvPr id="291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1" name="PlaceHolder 3"/>
          <p:cNvSpPr>
            <a:spLocks noGrp="1"/>
          </p:cNvSpPr>
          <p:nvPr>
            <p:ph type="sldNum" idx="7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D4D7E36-ABFE-463D-BF26-90C1BEC1685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2" name="PlaceHolder 1"/>
          <p:cNvSpPr>
            <a:spLocks noGrp="1"/>
          </p:cNvSpPr>
          <p:nvPr>
            <p:ph type="sldImg"/>
          </p:nvPr>
        </p:nvSpPr>
        <p:spPr>
          <a:xfrm>
            <a:off x="685800" y="1143000"/>
            <a:ext cx="5484960" cy="3084840"/>
          </a:xfrm>
          <a:prstGeom prst="rect">
            <a:avLst/>
          </a:prstGeom>
          <a:ln w="0">
            <a:noFill/>
          </a:ln>
        </p:spPr>
      </p:sp>
      <p:sp>
        <p:nvSpPr>
          <p:cNvPr id="291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4" name="PlaceHolder 3"/>
          <p:cNvSpPr>
            <a:spLocks noGrp="1"/>
          </p:cNvSpPr>
          <p:nvPr>
            <p:ph type="sldNum" idx="7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D336BFA-C88D-4B38-B413-2F8A2A68A61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5" name="PlaceHolder 1"/>
          <p:cNvSpPr>
            <a:spLocks noGrp="1"/>
          </p:cNvSpPr>
          <p:nvPr>
            <p:ph type="sldImg"/>
          </p:nvPr>
        </p:nvSpPr>
        <p:spPr>
          <a:xfrm>
            <a:off x="685800" y="1143000"/>
            <a:ext cx="5484960" cy="3084840"/>
          </a:xfrm>
          <a:prstGeom prst="rect">
            <a:avLst/>
          </a:prstGeom>
          <a:ln w="0">
            <a:noFill/>
          </a:ln>
        </p:spPr>
      </p:sp>
      <p:sp>
        <p:nvSpPr>
          <p:cNvPr id="291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17" name="PlaceHolder 3"/>
          <p:cNvSpPr>
            <a:spLocks noGrp="1"/>
          </p:cNvSpPr>
          <p:nvPr>
            <p:ph type="sldNum" idx="7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BDE31BD-2CD7-4D74-B046-4AA6DA7E149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8" name="PlaceHolder 1"/>
          <p:cNvSpPr>
            <a:spLocks noGrp="1"/>
          </p:cNvSpPr>
          <p:nvPr>
            <p:ph type="sldImg"/>
          </p:nvPr>
        </p:nvSpPr>
        <p:spPr>
          <a:xfrm>
            <a:off x="685800" y="1143000"/>
            <a:ext cx="5484960" cy="3084840"/>
          </a:xfrm>
          <a:prstGeom prst="rect">
            <a:avLst/>
          </a:prstGeom>
          <a:ln w="0">
            <a:noFill/>
          </a:ln>
        </p:spPr>
      </p:sp>
      <p:sp>
        <p:nvSpPr>
          <p:cNvPr id="291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0" name="PlaceHolder 3"/>
          <p:cNvSpPr>
            <a:spLocks noGrp="1"/>
          </p:cNvSpPr>
          <p:nvPr>
            <p:ph type="sldNum" idx="7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14644A-3E5B-4AB4-B7D7-99DC2BA60C1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1" name="PlaceHolder 1"/>
          <p:cNvSpPr>
            <a:spLocks noGrp="1"/>
          </p:cNvSpPr>
          <p:nvPr>
            <p:ph type="sldImg"/>
          </p:nvPr>
        </p:nvSpPr>
        <p:spPr>
          <a:xfrm>
            <a:off x="685800" y="1143000"/>
            <a:ext cx="5484960" cy="3084840"/>
          </a:xfrm>
          <a:prstGeom prst="rect">
            <a:avLst/>
          </a:prstGeom>
          <a:ln w="0">
            <a:noFill/>
          </a:ln>
        </p:spPr>
      </p:sp>
      <p:sp>
        <p:nvSpPr>
          <p:cNvPr id="292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3" name="PlaceHolder 3"/>
          <p:cNvSpPr>
            <a:spLocks noGrp="1"/>
          </p:cNvSpPr>
          <p:nvPr>
            <p:ph type="sldNum" idx="7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C647960-61EA-40B1-A920-144B1B9F2D4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4" name="PlaceHolder 1"/>
          <p:cNvSpPr>
            <a:spLocks noGrp="1"/>
          </p:cNvSpPr>
          <p:nvPr>
            <p:ph type="sldImg"/>
          </p:nvPr>
        </p:nvSpPr>
        <p:spPr>
          <a:xfrm>
            <a:off x="685800" y="1143000"/>
            <a:ext cx="5484960" cy="3084840"/>
          </a:xfrm>
          <a:prstGeom prst="rect">
            <a:avLst/>
          </a:prstGeom>
          <a:ln w="0">
            <a:noFill/>
          </a:ln>
        </p:spPr>
      </p:sp>
      <p:sp>
        <p:nvSpPr>
          <p:cNvPr id="292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6" name="PlaceHolder 3"/>
          <p:cNvSpPr>
            <a:spLocks noGrp="1"/>
          </p:cNvSpPr>
          <p:nvPr>
            <p:ph type="sldNum" idx="7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20F50FE-631D-440B-B7E6-6FB86EA620C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7" name="PlaceHolder 1"/>
          <p:cNvSpPr>
            <a:spLocks noGrp="1"/>
          </p:cNvSpPr>
          <p:nvPr>
            <p:ph type="sldImg"/>
          </p:nvPr>
        </p:nvSpPr>
        <p:spPr>
          <a:xfrm>
            <a:off x="685800" y="1143000"/>
            <a:ext cx="5484960" cy="3084840"/>
          </a:xfrm>
          <a:prstGeom prst="rect">
            <a:avLst/>
          </a:prstGeom>
          <a:ln w="0">
            <a:noFill/>
          </a:ln>
        </p:spPr>
      </p:sp>
      <p:sp>
        <p:nvSpPr>
          <p:cNvPr id="292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29" name="PlaceHolder 3"/>
          <p:cNvSpPr>
            <a:spLocks noGrp="1"/>
          </p:cNvSpPr>
          <p:nvPr>
            <p:ph type="sldNum" idx="8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7AF1BDF-11C1-4E17-A1E2-847036DAB68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0" name="PlaceHolder 1"/>
          <p:cNvSpPr>
            <a:spLocks noGrp="1"/>
          </p:cNvSpPr>
          <p:nvPr>
            <p:ph type="sldImg"/>
          </p:nvPr>
        </p:nvSpPr>
        <p:spPr>
          <a:xfrm>
            <a:off x="685800" y="1143000"/>
            <a:ext cx="5484960" cy="3084840"/>
          </a:xfrm>
          <a:prstGeom prst="rect">
            <a:avLst/>
          </a:prstGeom>
          <a:ln w="0">
            <a:noFill/>
          </a:ln>
        </p:spPr>
      </p:sp>
      <p:sp>
        <p:nvSpPr>
          <p:cNvPr id="293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32" name="PlaceHolder 3"/>
          <p:cNvSpPr>
            <a:spLocks noGrp="1"/>
          </p:cNvSpPr>
          <p:nvPr>
            <p:ph type="sldNum" idx="8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59D83BE-9ED5-4D4A-90FC-E1FA9BE55F4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3" name="PlaceHolder 1"/>
          <p:cNvSpPr>
            <a:spLocks noGrp="1"/>
          </p:cNvSpPr>
          <p:nvPr>
            <p:ph type="sldImg"/>
          </p:nvPr>
        </p:nvSpPr>
        <p:spPr>
          <a:xfrm>
            <a:off x="685800" y="1143000"/>
            <a:ext cx="5484960" cy="3084840"/>
          </a:xfrm>
          <a:prstGeom prst="rect">
            <a:avLst/>
          </a:prstGeom>
          <a:ln w="0">
            <a:noFill/>
          </a:ln>
        </p:spPr>
      </p:sp>
      <p:sp>
        <p:nvSpPr>
          <p:cNvPr id="293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35" name="PlaceHolder 3"/>
          <p:cNvSpPr>
            <a:spLocks noGrp="1"/>
          </p:cNvSpPr>
          <p:nvPr>
            <p:ph type="sldNum" idx="8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48EC1CC-B255-443E-B08D-8E24F6AD770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6" name="PlaceHolder 1"/>
          <p:cNvSpPr>
            <a:spLocks noGrp="1"/>
          </p:cNvSpPr>
          <p:nvPr>
            <p:ph type="sldImg"/>
          </p:nvPr>
        </p:nvSpPr>
        <p:spPr>
          <a:xfrm>
            <a:off x="685800" y="1143000"/>
            <a:ext cx="5484960" cy="3084840"/>
          </a:xfrm>
          <a:prstGeom prst="rect">
            <a:avLst/>
          </a:prstGeom>
          <a:ln w="0">
            <a:noFill/>
          </a:ln>
        </p:spPr>
      </p:sp>
      <p:sp>
        <p:nvSpPr>
          <p:cNvPr id="293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38" name="PlaceHolder 3"/>
          <p:cNvSpPr>
            <a:spLocks noGrp="1"/>
          </p:cNvSpPr>
          <p:nvPr>
            <p:ph type="sldNum" idx="8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1B77EC3-0D7C-4BE1-983D-7D275606CCD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9" name="PlaceHolder 1"/>
          <p:cNvSpPr>
            <a:spLocks noGrp="1"/>
          </p:cNvSpPr>
          <p:nvPr>
            <p:ph type="sldImg"/>
          </p:nvPr>
        </p:nvSpPr>
        <p:spPr>
          <a:xfrm>
            <a:off x="685800" y="1143000"/>
            <a:ext cx="5484960" cy="3084840"/>
          </a:xfrm>
          <a:prstGeom prst="rect">
            <a:avLst/>
          </a:prstGeom>
          <a:ln w="0">
            <a:noFill/>
          </a:ln>
        </p:spPr>
      </p:sp>
      <p:sp>
        <p:nvSpPr>
          <p:cNvPr id="294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1" name="PlaceHolder 3"/>
          <p:cNvSpPr>
            <a:spLocks noGrp="1"/>
          </p:cNvSpPr>
          <p:nvPr>
            <p:ph type="sldNum" idx="8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9C41C4-B2F9-4ECC-A83F-2D348F4CF2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2" name="PlaceHolder 1"/>
          <p:cNvSpPr>
            <a:spLocks noGrp="1"/>
          </p:cNvSpPr>
          <p:nvPr>
            <p:ph type="sldImg"/>
          </p:nvPr>
        </p:nvSpPr>
        <p:spPr>
          <a:xfrm>
            <a:off x="685800" y="1143000"/>
            <a:ext cx="5484960" cy="3084840"/>
          </a:xfrm>
          <a:prstGeom prst="rect">
            <a:avLst/>
          </a:prstGeom>
          <a:ln w="0">
            <a:noFill/>
          </a:ln>
        </p:spPr>
      </p:sp>
      <p:sp>
        <p:nvSpPr>
          <p:cNvPr id="294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4" name="PlaceHolder 3"/>
          <p:cNvSpPr>
            <a:spLocks noGrp="1"/>
          </p:cNvSpPr>
          <p:nvPr>
            <p:ph type="sldNum" idx="8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A7F7295-9265-4021-BA14-A7BA7304CF5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5" name="PlaceHolder 1"/>
          <p:cNvSpPr>
            <a:spLocks noGrp="1"/>
          </p:cNvSpPr>
          <p:nvPr>
            <p:ph type="sldImg"/>
          </p:nvPr>
        </p:nvSpPr>
        <p:spPr>
          <a:xfrm>
            <a:off x="685800" y="1143000"/>
            <a:ext cx="5484960" cy="3084840"/>
          </a:xfrm>
          <a:prstGeom prst="rect">
            <a:avLst/>
          </a:prstGeom>
          <a:ln w="0">
            <a:noFill/>
          </a:ln>
        </p:spPr>
      </p:sp>
      <p:sp>
        <p:nvSpPr>
          <p:cNvPr id="294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47" name="PlaceHolder 3"/>
          <p:cNvSpPr>
            <a:spLocks noGrp="1"/>
          </p:cNvSpPr>
          <p:nvPr>
            <p:ph type="sldNum" idx="8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DA890B4-0BC2-42F2-9FB0-CF89367E815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8" name="PlaceHolder 1"/>
          <p:cNvSpPr>
            <a:spLocks noGrp="1"/>
          </p:cNvSpPr>
          <p:nvPr>
            <p:ph type="sldImg"/>
          </p:nvPr>
        </p:nvSpPr>
        <p:spPr>
          <a:xfrm>
            <a:off x="685800" y="1143000"/>
            <a:ext cx="5484960" cy="3084840"/>
          </a:xfrm>
          <a:prstGeom prst="rect">
            <a:avLst/>
          </a:prstGeom>
          <a:ln w="0">
            <a:noFill/>
          </a:ln>
        </p:spPr>
      </p:sp>
      <p:sp>
        <p:nvSpPr>
          <p:cNvPr id="294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0" name="PlaceHolder 3"/>
          <p:cNvSpPr>
            <a:spLocks noGrp="1"/>
          </p:cNvSpPr>
          <p:nvPr>
            <p:ph type="sldNum" idx="8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1E28C6F-FE8C-4545-A715-63A33FB7202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1" name="PlaceHolder 1"/>
          <p:cNvSpPr>
            <a:spLocks noGrp="1"/>
          </p:cNvSpPr>
          <p:nvPr>
            <p:ph type="sldImg"/>
          </p:nvPr>
        </p:nvSpPr>
        <p:spPr>
          <a:xfrm>
            <a:off x="685800" y="1143000"/>
            <a:ext cx="5484960" cy="3084840"/>
          </a:xfrm>
          <a:prstGeom prst="rect">
            <a:avLst/>
          </a:prstGeom>
          <a:ln w="0">
            <a:noFill/>
          </a:ln>
        </p:spPr>
      </p:sp>
      <p:sp>
        <p:nvSpPr>
          <p:cNvPr id="295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3" name="PlaceHolder 3"/>
          <p:cNvSpPr>
            <a:spLocks noGrp="1"/>
          </p:cNvSpPr>
          <p:nvPr>
            <p:ph type="sldNum" idx="8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D84D54C-7C63-4FE2-88C0-91E83D8E8C2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4" name="PlaceHolder 1"/>
          <p:cNvSpPr>
            <a:spLocks noGrp="1"/>
          </p:cNvSpPr>
          <p:nvPr>
            <p:ph type="sldImg"/>
          </p:nvPr>
        </p:nvSpPr>
        <p:spPr>
          <a:xfrm>
            <a:off x="685800" y="1143000"/>
            <a:ext cx="5484960" cy="3084840"/>
          </a:xfrm>
          <a:prstGeom prst="rect">
            <a:avLst/>
          </a:prstGeom>
          <a:ln w="0">
            <a:noFill/>
          </a:ln>
        </p:spPr>
      </p:sp>
      <p:sp>
        <p:nvSpPr>
          <p:cNvPr id="295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6" name="PlaceHolder 3"/>
          <p:cNvSpPr>
            <a:spLocks noGrp="1"/>
          </p:cNvSpPr>
          <p:nvPr>
            <p:ph type="sldNum" idx="8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9EFA513-8A70-496B-8CBC-FA4447A2973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7" name="PlaceHolder 1"/>
          <p:cNvSpPr>
            <a:spLocks noGrp="1"/>
          </p:cNvSpPr>
          <p:nvPr>
            <p:ph type="sldImg"/>
          </p:nvPr>
        </p:nvSpPr>
        <p:spPr>
          <a:xfrm>
            <a:off x="685800" y="1143000"/>
            <a:ext cx="5484960" cy="3084840"/>
          </a:xfrm>
          <a:prstGeom prst="rect">
            <a:avLst/>
          </a:prstGeom>
          <a:ln w="0">
            <a:noFill/>
          </a:ln>
        </p:spPr>
      </p:sp>
      <p:sp>
        <p:nvSpPr>
          <p:cNvPr id="295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59" name="PlaceHolder 3"/>
          <p:cNvSpPr>
            <a:spLocks noGrp="1"/>
          </p:cNvSpPr>
          <p:nvPr>
            <p:ph type="sldNum" idx="9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B6B477D-4CC8-478D-A9F9-923DAADE7CD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0" name="PlaceHolder 1"/>
          <p:cNvSpPr>
            <a:spLocks noGrp="1"/>
          </p:cNvSpPr>
          <p:nvPr>
            <p:ph type="sldImg"/>
          </p:nvPr>
        </p:nvSpPr>
        <p:spPr>
          <a:xfrm>
            <a:off x="685800" y="1143000"/>
            <a:ext cx="5484960" cy="3084840"/>
          </a:xfrm>
          <a:prstGeom prst="rect">
            <a:avLst/>
          </a:prstGeom>
          <a:ln w="0">
            <a:noFill/>
          </a:ln>
        </p:spPr>
      </p:sp>
      <p:sp>
        <p:nvSpPr>
          <p:cNvPr id="296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62" name="PlaceHolder 3"/>
          <p:cNvSpPr>
            <a:spLocks noGrp="1"/>
          </p:cNvSpPr>
          <p:nvPr>
            <p:ph type="sldNum" idx="9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58AF9EF-E38F-40D8-9C2C-15FD00D491A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3" name="PlaceHolder 1"/>
          <p:cNvSpPr>
            <a:spLocks noGrp="1"/>
          </p:cNvSpPr>
          <p:nvPr>
            <p:ph type="sldImg"/>
          </p:nvPr>
        </p:nvSpPr>
        <p:spPr>
          <a:xfrm>
            <a:off x="685800" y="1143000"/>
            <a:ext cx="5484960" cy="3084840"/>
          </a:xfrm>
          <a:prstGeom prst="rect">
            <a:avLst/>
          </a:prstGeom>
          <a:ln w="0">
            <a:noFill/>
          </a:ln>
        </p:spPr>
      </p:sp>
      <p:sp>
        <p:nvSpPr>
          <p:cNvPr id="296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65" name="PlaceHolder 3"/>
          <p:cNvSpPr>
            <a:spLocks noGrp="1"/>
          </p:cNvSpPr>
          <p:nvPr>
            <p:ph type="sldNum" idx="9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AED053B-8913-41C8-9A27-EF4F04622D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6" name="PlaceHolder 1"/>
          <p:cNvSpPr>
            <a:spLocks noGrp="1"/>
          </p:cNvSpPr>
          <p:nvPr>
            <p:ph type="sldImg"/>
          </p:nvPr>
        </p:nvSpPr>
        <p:spPr>
          <a:xfrm>
            <a:off x="685800" y="1143000"/>
            <a:ext cx="5484960" cy="3084840"/>
          </a:xfrm>
          <a:prstGeom prst="rect">
            <a:avLst/>
          </a:prstGeom>
          <a:ln w="0">
            <a:noFill/>
          </a:ln>
        </p:spPr>
      </p:sp>
      <p:sp>
        <p:nvSpPr>
          <p:cNvPr id="296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68" name="PlaceHolder 3"/>
          <p:cNvSpPr>
            <a:spLocks noGrp="1"/>
          </p:cNvSpPr>
          <p:nvPr>
            <p:ph type="sldNum" idx="9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DEDD1D5-30DA-4015-B920-BADF1D2EDA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9" name="PlaceHolder 1"/>
          <p:cNvSpPr>
            <a:spLocks noGrp="1"/>
          </p:cNvSpPr>
          <p:nvPr>
            <p:ph type="sldImg"/>
          </p:nvPr>
        </p:nvSpPr>
        <p:spPr>
          <a:xfrm>
            <a:off x="685800" y="1143000"/>
            <a:ext cx="5484960" cy="3084840"/>
          </a:xfrm>
          <a:prstGeom prst="rect">
            <a:avLst/>
          </a:prstGeom>
          <a:ln w="0">
            <a:noFill/>
          </a:ln>
        </p:spPr>
      </p:sp>
      <p:sp>
        <p:nvSpPr>
          <p:cNvPr id="297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1" name="PlaceHolder 3"/>
          <p:cNvSpPr>
            <a:spLocks noGrp="1"/>
          </p:cNvSpPr>
          <p:nvPr>
            <p:ph type="sldNum" idx="9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98452B2-D207-4DDF-82A3-D18A577DE41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2" name="PlaceHolder 1"/>
          <p:cNvSpPr>
            <a:spLocks noGrp="1"/>
          </p:cNvSpPr>
          <p:nvPr>
            <p:ph type="sldImg"/>
          </p:nvPr>
        </p:nvSpPr>
        <p:spPr>
          <a:xfrm>
            <a:off x="685800" y="1143000"/>
            <a:ext cx="5484960" cy="3084840"/>
          </a:xfrm>
          <a:prstGeom prst="rect">
            <a:avLst/>
          </a:prstGeom>
          <a:ln w="0">
            <a:noFill/>
          </a:ln>
        </p:spPr>
      </p:sp>
      <p:sp>
        <p:nvSpPr>
          <p:cNvPr id="297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4" name="PlaceHolder 3"/>
          <p:cNvSpPr>
            <a:spLocks noGrp="1"/>
          </p:cNvSpPr>
          <p:nvPr>
            <p:ph type="sldNum" idx="9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4E1E163-45F3-4BB3-9AB1-F6394B3B135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5" name="PlaceHolder 1"/>
          <p:cNvSpPr>
            <a:spLocks noGrp="1"/>
          </p:cNvSpPr>
          <p:nvPr>
            <p:ph type="sldImg"/>
          </p:nvPr>
        </p:nvSpPr>
        <p:spPr>
          <a:xfrm>
            <a:off x="685800" y="1143000"/>
            <a:ext cx="5484960" cy="3084840"/>
          </a:xfrm>
          <a:prstGeom prst="rect">
            <a:avLst/>
          </a:prstGeom>
          <a:ln w="0">
            <a:noFill/>
          </a:ln>
        </p:spPr>
      </p:sp>
      <p:sp>
        <p:nvSpPr>
          <p:cNvPr id="297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77" name="PlaceHolder 3"/>
          <p:cNvSpPr>
            <a:spLocks noGrp="1"/>
          </p:cNvSpPr>
          <p:nvPr>
            <p:ph type="sldNum" idx="9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42765C-111A-4A76-827A-01D91E3EC7B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8" name="PlaceHolder 1"/>
          <p:cNvSpPr>
            <a:spLocks noGrp="1"/>
          </p:cNvSpPr>
          <p:nvPr>
            <p:ph type="sldImg"/>
          </p:nvPr>
        </p:nvSpPr>
        <p:spPr>
          <a:xfrm>
            <a:off x="685800" y="1143000"/>
            <a:ext cx="5484960" cy="3084840"/>
          </a:xfrm>
          <a:prstGeom prst="rect">
            <a:avLst/>
          </a:prstGeom>
          <a:ln w="0">
            <a:noFill/>
          </a:ln>
        </p:spPr>
      </p:sp>
      <p:sp>
        <p:nvSpPr>
          <p:cNvPr id="297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0" name="PlaceHolder 3"/>
          <p:cNvSpPr>
            <a:spLocks noGrp="1"/>
          </p:cNvSpPr>
          <p:nvPr>
            <p:ph type="sldNum" idx="9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8955673-BC49-4FC3-8149-2C5F0E53E4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1" name="PlaceHolder 1"/>
          <p:cNvSpPr>
            <a:spLocks noGrp="1"/>
          </p:cNvSpPr>
          <p:nvPr>
            <p:ph type="sldImg"/>
          </p:nvPr>
        </p:nvSpPr>
        <p:spPr>
          <a:xfrm>
            <a:off x="685800" y="1143000"/>
            <a:ext cx="5484960" cy="3084840"/>
          </a:xfrm>
          <a:prstGeom prst="rect">
            <a:avLst/>
          </a:prstGeom>
          <a:ln w="0">
            <a:noFill/>
          </a:ln>
        </p:spPr>
      </p:sp>
      <p:sp>
        <p:nvSpPr>
          <p:cNvPr id="298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3" name="PlaceHolder 3"/>
          <p:cNvSpPr>
            <a:spLocks noGrp="1"/>
          </p:cNvSpPr>
          <p:nvPr>
            <p:ph type="sldNum" idx="9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7A8A168-5D56-4F45-A40E-A98D3721F2B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4" name="PlaceHolder 1"/>
          <p:cNvSpPr>
            <a:spLocks noGrp="1"/>
          </p:cNvSpPr>
          <p:nvPr>
            <p:ph type="sldImg"/>
          </p:nvPr>
        </p:nvSpPr>
        <p:spPr>
          <a:xfrm>
            <a:off x="685800" y="1143000"/>
            <a:ext cx="5484960" cy="3084840"/>
          </a:xfrm>
          <a:prstGeom prst="rect">
            <a:avLst/>
          </a:prstGeom>
          <a:ln w="0">
            <a:noFill/>
          </a:ln>
        </p:spPr>
      </p:sp>
      <p:sp>
        <p:nvSpPr>
          <p:cNvPr id="298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6" name="PlaceHolder 3"/>
          <p:cNvSpPr>
            <a:spLocks noGrp="1"/>
          </p:cNvSpPr>
          <p:nvPr>
            <p:ph type="sldNum" idx="9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A809EE3-C2CB-40EA-83FA-F37FD7C96DB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7" name="PlaceHolder 1"/>
          <p:cNvSpPr>
            <a:spLocks noGrp="1"/>
          </p:cNvSpPr>
          <p:nvPr>
            <p:ph type="sldImg"/>
          </p:nvPr>
        </p:nvSpPr>
        <p:spPr>
          <a:xfrm>
            <a:off x="685800" y="1143000"/>
            <a:ext cx="5484960" cy="3084840"/>
          </a:xfrm>
          <a:prstGeom prst="rect">
            <a:avLst/>
          </a:prstGeom>
          <a:ln w="0">
            <a:noFill/>
          </a:ln>
        </p:spPr>
      </p:sp>
      <p:sp>
        <p:nvSpPr>
          <p:cNvPr id="298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89" name="PlaceHolder 3"/>
          <p:cNvSpPr>
            <a:spLocks noGrp="1"/>
          </p:cNvSpPr>
          <p:nvPr>
            <p:ph type="sldNum" idx="10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29CE834-4233-410F-81C2-2208742F389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0" name="PlaceHolder 1"/>
          <p:cNvSpPr>
            <a:spLocks noGrp="1"/>
          </p:cNvSpPr>
          <p:nvPr>
            <p:ph type="sldImg"/>
          </p:nvPr>
        </p:nvSpPr>
        <p:spPr>
          <a:xfrm>
            <a:off x="685800" y="1143000"/>
            <a:ext cx="5484960" cy="3084840"/>
          </a:xfrm>
          <a:prstGeom prst="rect">
            <a:avLst/>
          </a:prstGeom>
          <a:ln w="0">
            <a:noFill/>
          </a:ln>
        </p:spPr>
      </p:sp>
      <p:sp>
        <p:nvSpPr>
          <p:cNvPr id="299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92" name="PlaceHolder 3"/>
          <p:cNvSpPr>
            <a:spLocks noGrp="1"/>
          </p:cNvSpPr>
          <p:nvPr>
            <p:ph type="sldNum" idx="10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8297C53-2D76-4A71-9BFD-7AA2E5F1E0E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3" name="PlaceHolder 1"/>
          <p:cNvSpPr>
            <a:spLocks noGrp="1"/>
          </p:cNvSpPr>
          <p:nvPr>
            <p:ph type="sldImg"/>
          </p:nvPr>
        </p:nvSpPr>
        <p:spPr>
          <a:xfrm>
            <a:off x="685800" y="1143000"/>
            <a:ext cx="5484960" cy="3084840"/>
          </a:xfrm>
          <a:prstGeom prst="rect">
            <a:avLst/>
          </a:prstGeom>
          <a:ln w="0">
            <a:noFill/>
          </a:ln>
        </p:spPr>
      </p:sp>
      <p:sp>
        <p:nvSpPr>
          <p:cNvPr id="299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95" name="PlaceHolder 3"/>
          <p:cNvSpPr>
            <a:spLocks noGrp="1"/>
          </p:cNvSpPr>
          <p:nvPr>
            <p:ph type="sldNum" idx="10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2D8541E-9A28-48D3-9855-EAF44B3E0D9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6" name="PlaceHolder 1"/>
          <p:cNvSpPr>
            <a:spLocks noGrp="1"/>
          </p:cNvSpPr>
          <p:nvPr>
            <p:ph type="sldImg"/>
          </p:nvPr>
        </p:nvSpPr>
        <p:spPr>
          <a:xfrm>
            <a:off x="685800" y="1143000"/>
            <a:ext cx="5484960" cy="3084840"/>
          </a:xfrm>
          <a:prstGeom prst="rect">
            <a:avLst/>
          </a:prstGeom>
          <a:ln w="0">
            <a:noFill/>
          </a:ln>
        </p:spPr>
      </p:sp>
      <p:sp>
        <p:nvSpPr>
          <p:cNvPr id="299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998" name="PlaceHolder 3"/>
          <p:cNvSpPr>
            <a:spLocks noGrp="1"/>
          </p:cNvSpPr>
          <p:nvPr>
            <p:ph type="sldNum" idx="10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1C74409-2142-499A-AE13-058998C51C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9" name="PlaceHolder 1"/>
          <p:cNvSpPr>
            <a:spLocks noGrp="1"/>
          </p:cNvSpPr>
          <p:nvPr>
            <p:ph type="sldImg"/>
          </p:nvPr>
        </p:nvSpPr>
        <p:spPr>
          <a:xfrm>
            <a:off x="685800" y="1143000"/>
            <a:ext cx="5484960" cy="3084840"/>
          </a:xfrm>
          <a:prstGeom prst="rect">
            <a:avLst/>
          </a:prstGeom>
          <a:ln w="0">
            <a:noFill/>
          </a:ln>
        </p:spPr>
      </p:sp>
      <p:sp>
        <p:nvSpPr>
          <p:cNvPr id="300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1" name="PlaceHolder 3"/>
          <p:cNvSpPr>
            <a:spLocks noGrp="1"/>
          </p:cNvSpPr>
          <p:nvPr>
            <p:ph type="sldNum" idx="10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768B1D6-8F06-4E70-AD1D-9DA0AB50471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2" name="PlaceHolder 1"/>
          <p:cNvSpPr>
            <a:spLocks noGrp="1"/>
          </p:cNvSpPr>
          <p:nvPr>
            <p:ph type="sldImg"/>
          </p:nvPr>
        </p:nvSpPr>
        <p:spPr>
          <a:xfrm>
            <a:off x="685800" y="1143000"/>
            <a:ext cx="5484960" cy="3084840"/>
          </a:xfrm>
          <a:prstGeom prst="rect">
            <a:avLst/>
          </a:prstGeom>
          <a:ln w="0">
            <a:noFill/>
          </a:ln>
        </p:spPr>
      </p:sp>
      <p:sp>
        <p:nvSpPr>
          <p:cNvPr id="300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4" name="PlaceHolder 3"/>
          <p:cNvSpPr>
            <a:spLocks noGrp="1"/>
          </p:cNvSpPr>
          <p:nvPr>
            <p:ph type="sldNum" idx="10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B18CE16-A4CF-4EB8-ABAA-45D38E2B387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5" name="PlaceHolder 1"/>
          <p:cNvSpPr>
            <a:spLocks noGrp="1"/>
          </p:cNvSpPr>
          <p:nvPr>
            <p:ph type="sldImg"/>
          </p:nvPr>
        </p:nvSpPr>
        <p:spPr>
          <a:xfrm>
            <a:off x="685800" y="1143000"/>
            <a:ext cx="5484960" cy="3084840"/>
          </a:xfrm>
          <a:prstGeom prst="rect">
            <a:avLst/>
          </a:prstGeom>
          <a:ln w="0">
            <a:noFill/>
          </a:ln>
        </p:spPr>
      </p:sp>
      <p:sp>
        <p:nvSpPr>
          <p:cNvPr id="300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07" name="PlaceHolder 3"/>
          <p:cNvSpPr>
            <a:spLocks noGrp="1"/>
          </p:cNvSpPr>
          <p:nvPr>
            <p:ph type="sldNum" idx="10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ECECB95-F327-48D6-90A4-5710219555D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8" name="PlaceHolder 1"/>
          <p:cNvSpPr>
            <a:spLocks noGrp="1"/>
          </p:cNvSpPr>
          <p:nvPr>
            <p:ph type="sldImg"/>
          </p:nvPr>
        </p:nvSpPr>
        <p:spPr>
          <a:xfrm>
            <a:off x="685800" y="1143000"/>
            <a:ext cx="5484960" cy="3084840"/>
          </a:xfrm>
          <a:prstGeom prst="rect">
            <a:avLst/>
          </a:prstGeom>
          <a:ln w="0">
            <a:noFill/>
          </a:ln>
        </p:spPr>
      </p:sp>
      <p:sp>
        <p:nvSpPr>
          <p:cNvPr id="300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0" name="PlaceHolder 3"/>
          <p:cNvSpPr>
            <a:spLocks noGrp="1"/>
          </p:cNvSpPr>
          <p:nvPr>
            <p:ph type="sldNum" idx="10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527FAD8-5E11-4647-B536-DFE033FBE8E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1" name="PlaceHolder 1"/>
          <p:cNvSpPr>
            <a:spLocks noGrp="1"/>
          </p:cNvSpPr>
          <p:nvPr>
            <p:ph type="sldImg"/>
          </p:nvPr>
        </p:nvSpPr>
        <p:spPr>
          <a:xfrm>
            <a:off x="685800" y="1143000"/>
            <a:ext cx="5484960" cy="3084840"/>
          </a:xfrm>
          <a:prstGeom prst="rect">
            <a:avLst/>
          </a:prstGeom>
          <a:ln w="0">
            <a:noFill/>
          </a:ln>
        </p:spPr>
      </p:sp>
      <p:sp>
        <p:nvSpPr>
          <p:cNvPr id="301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3" name="PlaceHolder 3"/>
          <p:cNvSpPr>
            <a:spLocks noGrp="1"/>
          </p:cNvSpPr>
          <p:nvPr>
            <p:ph type="sldNum" idx="10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28EA178-FB0E-4023-BE34-C2272AB675A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4" name="PlaceHolder 1"/>
          <p:cNvSpPr>
            <a:spLocks noGrp="1"/>
          </p:cNvSpPr>
          <p:nvPr>
            <p:ph type="sldImg"/>
          </p:nvPr>
        </p:nvSpPr>
        <p:spPr>
          <a:xfrm>
            <a:off x="685800" y="1143000"/>
            <a:ext cx="5484960" cy="3084840"/>
          </a:xfrm>
          <a:prstGeom prst="rect">
            <a:avLst/>
          </a:prstGeom>
          <a:ln w="0">
            <a:noFill/>
          </a:ln>
        </p:spPr>
      </p:sp>
      <p:sp>
        <p:nvSpPr>
          <p:cNvPr id="301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6" name="PlaceHolder 3"/>
          <p:cNvSpPr>
            <a:spLocks noGrp="1"/>
          </p:cNvSpPr>
          <p:nvPr>
            <p:ph type="sldNum" idx="10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7639DBC-6E6F-48EE-B132-D98B4CC9906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7" name="PlaceHolder 1"/>
          <p:cNvSpPr>
            <a:spLocks noGrp="1"/>
          </p:cNvSpPr>
          <p:nvPr>
            <p:ph type="sldImg"/>
          </p:nvPr>
        </p:nvSpPr>
        <p:spPr>
          <a:xfrm>
            <a:off x="685800" y="1143000"/>
            <a:ext cx="5484960" cy="3084840"/>
          </a:xfrm>
          <a:prstGeom prst="rect">
            <a:avLst/>
          </a:prstGeom>
          <a:ln w="0">
            <a:noFill/>
          </a:ln>
        </p:spPr>
      </p:sp>
      <p:sp>
        <p:nvSpPr>
          <p:cNvPr id="301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19" name="PlaceHolder 3"/>
          <p:cNvSpPr>
            <a:spLocks noGrp="1"/>
          </p:cNvSpPr>
          <p:nvPr>
            <p:ph type="sldNum" idx="11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45B0C34-E217-4FE6-8840-7993D4991A9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0" name="PlaceHolder 1"/>
          <p:cNvSpPr>
            <a:spLocks noGrp="1"/>
          </p:cNvSpPr>
          <p:nvPr>
            <p:ph type="sldImg"/>
          </p:nvPr>
        </p:nvSpPr>
        <p:spPr>
          <a:xfrm>
            <a:off x="685800" y="1143000"/>
            <a:ext cx="5484960" cy="3084840"/>
          </a:xfrm>
          <a:prstGeom prst="rect">
            <a:avLst/>
          </a:prstGeom>
          <a:ln w="0">
            <a:noFill/>
          </a:ln>
        </p:spPr>
      </p:sp>
      <p:sp>
        <p:nvSpPr>
          <p:cNvPr id="302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22" name="PlaceHolder 3"/>
          <p:cNvSpPr>
            <a:spLocks noGrp="1"/>
          </p:cNvSpPr>
          <p:nvPr>
            <p:ph type="sldNum" idx="11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66726CC-20DA-4DEB-BD73-68653F2F8AC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3" name="PlaceHolder 1"/>
          <p:cNvSpPr>
            <a:spLocks noGrp="1"/>
          </p:cNvSpPr>
          <p:nvPr>
            <p:ph type="sldImg"/>
          </p:nvPr>
        </p:nvSpPr>
        <p:spPr>
          <a:xfrm>
            <a:off x="685800" y="1143000"/>
            <a:ext cx="5484960" cy="3084840"/>
          </a:xfrm>
          <a:prstGeom prst="rect">
            <a:avLst/>
          </a:prstGeom>
          <a:ln w="0">
            <a:noFill/>
          </a:ln>
        </p:spPr>
      </p:sp>
      <p:sp>
        <p:nvSpPr>
          <p:cNvPr id="302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25" name="PlaceHolder 3"/>
          <p:cNvSpPr>
            <a:spLocks noGrp="1"/>
          </p:cNvSpPr>
          <p:nvPr>
            <p:ph type="sldNum" idx="11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B0E1F2A-1DE0-4C5C-8D20-40A171869B5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6" name="PlaceHolder 1"/>
          <p:cNvSpPr>
            <a:spLocks noGrp="1"/>
          </p:cNvSpPr>
          <p:nvPr>
            <p:ph type="sldImg"/>
          </p:nvPr>
        </p:nvSpPr>
        <p:spPr>
          <a:xfrm>
            <a:off x="685800" y="1143000"/>
            <a:ext cx="5484960" cy="3084840"/>
          </a:xfrm>
          <a:prstGeom prst="rect">
            <a:avLst/>
          </a:prstGeom>
          <a:ln w="0">
            <a:noFill/>
          </a:ln>
        </p:spPr>
      </p:sp>
      <p:sp>
        <p:nvSpPr>
          <p:cNvPr id="302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28" name="PlaceHolder 3"/>
          <p:cNvSpPr>
            <a:spLocks noGrp="1"/>
          </p:cNvSpPr>
          <p:nvPr>
            <p:ph type="sldNum" idx="11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99F9CD5-BDD4-41B7-AB85-C1F08359729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9" name="PlaceHolder 1"/>
          <p:cNvSpPr>
            <a:spLocks noGrp="1"/>
          </p:cNvSpPr>
          <p:nvPr>
            <p:ph type="sldImg"/>
          </p:nvPr>
        </p:nvSpPr>
        <p:spPr>
          <a:xfrm>
            <a:off x="685800" y="1143000"/>
            <a:ext cx="5484960" cy="3084840"/>
          </a:xfrm>
          <a:prstGeom prst="rect">
            <a:avLst/>
          </a:prstGeom>
          <a:ln w="0">
            <a:noFill/>
          </a:ln>
        </p:spPr>
      </p:sp>
      <p:sp>
        <p:nvSpPr>
          <p:cNvPr id="303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1" name="PlaceHolder 3"/>
          <p:cNvSpPr>
            <a:spLocks noGrp="1"/>
          </p:cNvSpPr>
          <p:nvPr>
            <p:ph type="sldNum" idx="11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F546423-781C-438D-A7E3-55F26D39402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2" name="PlaceHolder 1"/>
          <p:cNvSpPr>
            <a:spLocks noGrp="1"/>
          </p:cNvSpPr>
          <p:nvPr>
            <p:ph type="sldImg"/>
          </p:nvPr>
        </p:nvSpPr>
        <p:spPr>
          <a:xfrm>
            <a:off x="685800" y="1143000"/>
            <a:ext cx="5484960" cy="3084840"/>
          </a:xfrm>
          <a:prstGeom prst="rect">
            <a:avLst/>
          </a:prstGeom>
          <a:ln w="0">
            <a:noFill/>
          </a:ln>
        </p:spPr>
      </p:sp>
      <p:sp>
        <p:nvSpPr>
          <p:cNvPr id="303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4" name="PlaceHolder 3"/>
          <p:cNvSpPr>
            <a:spLocks noGrp="1"/>
          </p:cNvSpPr>
          <p:nvPr>
            <p:ph type="sldNum" idx="11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AE4985-8BB3-4AC6-A5C7-9F2D7D5D59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5" name="PlaceHolder 1"/>
          <p:cNvSpPr>
            <a:spLocks noGrp="1"/>
          </p:cNvSpPr>
          <p:nvPr>
            <p:ph type="sldImg"/>
          </p:nvPr>
        </p:nvSpPr>
        <p:spPr>
          <a:xfrm>
            <a:off x="685800" y="1143000"/>
            <a:ext cx="5484960" cy="3084840"/>
          </a:xfrm>
          <a:prstGeom prst="rect">
            <a:avLst/>
          </a:prstGeom>
          <a:ln w="0">
            <a:noFill/>
          </a:ln>
        </p:spPr>
      </p:sp>
      <p:sp>
        <p:nvSpPr>
          <p:cNvPr id="303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37" name="PlaceHolder 3"/>
          <p:cNvSpPr>
            <a:spLocks noGrp="1"/>
          </p:cNvSpPr>
          <p:nvPr>
            <p:ph type="sldNum" idx="11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9868C30-4413-4DF9-A672-3672ABD625A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8" name="PlaceHolder 1"/>
          <p:cNvSpPr>
            <a:spLocks noGrp="1"/>
          </p:cNvSpPr>
          <p:nvPr>
            <p:ph type="sldImg"/>
          </p:nvPr>
        </p:nvSpPr>
        <p:spPr>
          <a:xfrm>
            <a:off x="685800" y="1143000"/>
            <a:ext cx="5484960" cy="3084840"/>
          </a:xfrm>
          <a:prstGeom prst="rect">
            <a:avLst/>
          </a:prstGeom>
          <a:ln w="0">
            <a:noFill/>
          </a:ln>
        </p:spPr>
      </p:sp>
      <p:sp>
        <p:nvSpPr>
          <p:cNvPr id="303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0" name="PlaceHolder 3"/>
          <p:cNvSpPr>
            <a:spLocks noGrp="1"/>
          </p:cNvSpPr>
          <p:nvPr>
            <p:ph type="sldNum" idx="11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4FBFE3F-683A-4B47-8F2B-F6A5B0211AB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1" name="PlaceHolder 1"/>
          <p:cNvSpPr>
            <a:spLocks noGrp="1"/>
          </p:cNvSpPr>
          <p:nvPr>
            <p:ph type="sldImg"/>
          </p:nvPr>
        </p:nvSpPr>
        <p:spPr>
          <a:xfrm>
            <a:off x="685800" y="1143000"/>
            <a:ext cx="5484960" cy="3084840"/>
          </a:xfrm>
          <a:prstGeom prst="rect">
            <a:avLst/>
          </a:prstGeom>
          <a:ln w="0">
            <a:noFill/>
          </a:ln>
        </p:spPr>
      </p:sp>
      <p:sp>
        <p:nvSpPr>
          <p:cNvPr id="304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3" name="PlaceHolder 3"/>
          <p:cNvSpPr>
            <a:spLocks noGrp="1"/>
          </p:cNvSpPr>
          <p:nvPr>
            <p:ph type="sldNum" idx="11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8F20865-4025-418B-9655-9AFF905F7D5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4" name="PlaceHolder 1"/>
          <p:cNvSpPr>
            <a:spLocks noGrp="1"/>
          </p:cNvSpPr>
          <p:nvPr>
            <p:ph type="sldImg"/>
          </p:nvPr>
        </p:nvSpPr>
        <p:spPr>
          <a:xfrm>
            <a:off x="685800" y="1143000"/>
            <a:ext cx="5484960" cy="3084840"/>
          </a:xfrm>
          <a:prstGeom prst="rect">
            <a:avLst/>
          </a:prstGeom>
          <a:ln w="0">
            <a:noFill/>
          </a:ln>
        </p:spPr>
      </p:sp>
      <p:sp>
        <p:nvSpPr>
          <p:cNvPr id="304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6" name="PlaceHolder 3"/>
          <p:cNvSpPr>
            <a:spLocks noGrp="1"/>
          </p:cNvSpPr>
          <p:nvPr>
            <p:ph type="sldNum" idx="11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6EF1BFA-1FE6-4C29-8523-BB3072B24C9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7" name="PlaceHolder 1"/>
          <p:cNvSpPr>
            <a:spLocks noGrp="1"/>
          </p:cNvSpPr>
          <p:nvPr>
            <p:ph type="sldImg"/>
          </p:nvPr>
        </p:nvSpPr>
        <p:spPr>
          <a:xfrm>
            <a:off x="685800" y="1143000"/>
            <a:ext cx="5484960" cy="3084840"/>
          </a:xfrm>
          <a:prstGeom prst="rect">
            <a:avLst/>
          </a:prstGeom>
          <a:ln w="0">
            <a:noFill/>
          </a:ln>
        </p:spPr>
      </p:sp>
      <p:sp>
        <p:nvSpPr>
          <p:cNvPr id="304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49" name="PlaceHolder 3"/>
          <p:cNvSpPr>
            <a:spLocks noGrp="1"/>
          </p:cNvSpPr>
          <p:nvPr>
            <p:ph type="sldNum" idx="12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2F7AE45-DB7A-4227-8A40-6F99EBCF9B7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0" name="PlaceHolder 1"/>
          <p:cNvSpPr>
            <a:spLocks noGrp="1"/>
          </p:cNvSpPr>
          <p:nvPr>
            <p:ph type="sldImg"/>
          </p:nvPr>
        </p:nvSpPr>
        <p:spPr>
          <a:xfrm>
            <a:off x="685800" y="1143000"/>
            <a:ext cx="5484960" cy="3084840"/>
          </a:xfrm>
          <a:prstGeom prst="rect">
            <a:avLst/>
          </a:prstGeom>
          <a:ln w="0">
            <a:noFill/>
          </a:ln>
        </p:spPr>
      </p:sp>
      <p:sp>
        <p:nvSpPr>
          <p:cNvPr id="305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52" name="PlaceHolder 3"/>
          <p:cNvSpPr>
            <a:spLocks noGrp="1"/>
          </p:cNvSpPr>
          <p:nvPr>
            <p:ph type="sldNum" idx="12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709BEA8-93E5-4F19-9AB0-C698AEAEBA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3" name="PlaceHolder 1"/>
          <p:cNvSpPr>
            <a:spLocks noGrp="1"/>
          </p:cNvSpPr>
          <p:nvPr>
            <p:ph type="sldImg"/>
          </p:nvPr>
        </p:nvSpPr>
        <p:spPr>
          <a:xfrm>
            <a:off x="685800" y="1143000"/>
            <a:ext cx="5484960" cy="3084840"/>
          </a:xfrm>
          <a:prstGeom prst="rect">
            <a:avLst/>
          </a:prstGeom>
          <a:ln w="0">
            <a:noFill/>
          </a:ln>
        </p:spPr>
      </p:sp>
      <p:sp>
        <p:nvSpPr>
          <p:cNvPr id="305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55" name="PlaceHolder 3"/>
          <p:cNvSpPr>
            <a:spLocks noGrp="1"/>
          </p:cNvSpPr>
          <p:nvPr>
            <p:ph type="sldNum" idx="12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D5B793B-1579-48AB-BF58-09FA9212771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6" name="PlaceHolder 1"/>
          <p:cNvSpPr>
            <a:spLocks noGrp="1"/>
          </p:cNvSpPr>
          <p:nvPr>
            <p:ph type="sldImg"/>
          </p:nvPr>
        </p:nvSpPr>
        <p:spPr>
          <a:xfrm>
            <a:off x="685800" y="1143000"/>
            <a:ext cx="5484960" cy="3084840"/>
          </a:xfrm>
          <a:prstGeom prst="rect">
            <a:avLst/>
          </a:prstGeom>
          <a:ln w="0">
            <a:noFill/>
          </a:ln>
        </p:spPr>
      </p:sp>
      <p:sp>
        <p:nvSpPr>
          <p:cNvPr id="305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58" name="PlaceHolder 3"/>
          <p:cNvSpPr>
            <a:spLocks noGrp="1"/>
          </p:cNvSpPr>
          <p:nvPr>
            <p:ph type="sldNum" idx="12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BAA5FA6-411A-46E9-A512-ADDF6BB71F6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9" name="PlaceHolder 1"/>
          <p:cNvSpPr>
            <a:spLocks noGrp="1"/>
          </p:cNvSpPr>
          <p:nvPr>
            <p:ph type="sldImg"/>
          </p:nvPr>
        </p:nvSpPr>
        <p:spPr>
          <a:xfrm>
            <a:off x="685800" y="1143000"/>
            <a:ext cx="5484960" cy="3084840"/>
          </a:xfrm>
          <a:prstGeom prst="rect">
            <a:avLst/>
          </a:prstGeom>
          <a:ln w="0">
            <a:noFill/>
          </a:ln>
        </p:spPr>
      </p:sp>
      <p:sp>
        <p:nvSpPr>
          <p:cNvPr id="306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1" name="PlaceHolder 3"/>
          <p:cNvSpPr>
            <a:spLocks noGrp="1"/>
          </p:cNvSpPr>
          <p:nvPr>
            <p:ph type="sldNum" idx="12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D98D48A-C4CE-4C02-857F-C3E71B047D8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2" name="PlaceHolder 1"/>
          <p:cNvSpPr>
            <a:spLocks noGrp="1"/>
          </p:cNvSpPr>
          <p:nvPr>
            <p:ph type="sldImg"/>
          </p:nvPr>
        </p:nvSpPr>
        <p:spPr>
          <a:xfrm>
            <a:off x="685800" y="1143000"/>
            <a:ext cx="5484960" cy="3084840"/>
          </a:xfrm>
          <a:prstGeom prst="rect">
            <a:avLst/>
          </a:prstGeom>
          <a:ln w="0">
            <a:noFill/>
          </a:ln>
        </p:spPr>
      </p:sp>
      <p:sp>
        <p:nvSpPr>
          <p:cNvPr id="306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4" name="PlaceHolder 3"/>
          <p:cNvSpPr>
            <a:spLocks noGrp="1"/>
          </p:cNvSpPr>
          <p:nvPr>
            <p:ph type="sldNum" idx="12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B585DD4-55D0-4B7B-A754-BD0DA6A8353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5" name="PlaceHolder 1"/>
          <p:cNvSpPr>
            <a:spLocks noGrp="1"/>
          </p:cNvSpPr>
          <p:nvPr>
            <p:ph type="sldImg"/>
          </p:nvPr>
        </p:nvSpPr>
        <p:spPr>
          <a:xfrm>
            <a:off x="685800" y="1143000"/>
            <a:ext cx="5484960" cy="3084840"/>
          </a:xfrm>
          <a:prstGeom prst="rect">
            <a:avLst/>
          </a:prstGeom>
          <a:ln w="0">
            <a:noFill/>
          </a:ln>
        </p:spPr>
      </p:sp>
      <p:sp>
        <p:nvSpPr>
          <p:cNvPr id="306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67" name="PlaceHolder 3"/>
          <p:cNvSpPr>
            <a:spLocks noGrp="1"/>
          </p:cNvSpPr>
          <p:nvPr>
            <p:ph type="sldNum" idx="12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FF9B406-B5B2-416C-8C64-2682F8F2B2F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8" name="PlaceHolder 1"/>
          <p:cNvSpPr>
            <a:spLocks noGrp="1"/>
          </p:cNvSpPr>
          <p:nvPr>
            <p:ph type="sldImg"/>
          </p:nvPr>
        </p:nvSpPr>
        <p:spPr>
          <a:xfrm>
            <a:off x="685800" y="1143000"/>
            <a:ext cx="5484960" cy="3084840"/>
          </a:xfrm>
          <a:prstGeom prst="rect">
            <a:avLst/>
          </a:prstGeom>
          <a:ln w="0">
            <a:noFill/>
          </a:ln>
        </p:spPr>
      </p:sp>
      <p:sp>
        <p:nvSpPr>
          <p:cNvPr id="306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0" name="PlaceHolder 3"/>
          <p:cNvSpPr>
            <a:spLocks noGrp="1"/>
          </p:cNvSpPr>
          <p:nvPr>
            <p:ph type="sldNum" idx="12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125E92F-3D80-4110-AFBE-9BF12BA0F2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1" name="PlaceHolder 1"/>
          <p:cNvSpPr>
            <a:spLocks noGrp="1"/>
          </p:cNvSpPr>
          <p:nvPr>
            <p:ph type="sldImg"/>
          </p:nvPr>
        </p:nvSpPr>
        <p:spPr>
          <a:xfrm>
            <a:off x="685800" y="1143000"/>
            <a:ext cx="5484960" cy="3084840"/>
          </a:xfrm>
          <a:prstGeom prst="rect">
            <a:avLst/>
          </a:prstGeom>
          <a:ln w="0">
            <a:noFill/>
          </a:ln>
        </p:spPr>
      </p:sp>
      <p:sp>
        <p:nvSpPr>
          <p:cNvPr id="307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3" name="PlaceHolder 3"/>
          <p:cNvSpPr>
            <a:spLocks noGrp="1"/>
          </p:cNvSpPr>
          <p:nvPr>
            <p:ph type="sldNum" idx="12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80AD731-8B7D-4FC5-B259-E24F5745B46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4" name="PlaceHolder 1"/>
          <p:cNvSpPr>
            <a:spLocks noGrp="1"/>
          </p:cNvSpPr>
          <p:nvPr>
            <p:ph type="sldImg"/>
          </p:nvPr>
        </p:nvSpPr>
        <p:spPr>
          <a:xfrm>
            <a:off x="685800" y="1143000"/>
            <a:ext cx="5484960" cy="3084840"/>
          </a:xfrm>
          <a:prstGeom prst="rect">
            <a:avLst/>
          </a:prstGeom>
          <a:ln w="0">
            <a:noFill/>
          </a:ln>
        </p:spPr>
      </p:sp>
      <p:sp>
        <p:nvSpPr>
          <p:cNvPr id="307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6" name="PlaceHolder 3"/>
          <p:cNvSpPr>
            <a:spLocks noGrp="1"/>
          </p:cNvSpPr>
          <p:nvPr>
            <p:ph type="sldNum" idx="12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95610B-4EB0-4EA1-BBCF-188304B2AAF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7" name="PlaceHolder 1"/>
          <p:cNvSpPr>
            <a:spLocks noGrp="1"/>
          </p:cNvSpPr>
          <p:nvPr>
            <p:ph type="sldImg"/>
          </p:nvPr>
        </p:nvSpPr>
        <p:spPr>
          <a:xfrm>
            <a:off x="685800" y="1143000"/>
            <a:ext cx="5484960" cy="3084840"/>
          </a:xfrm>
          <a:prstGeom prst="rect">
            <a:avLst/>
          </a:prstGeom>
          <a:ln w="0">
            <a:noFill/>
          </a:ln>
        </p:spPr>
      </p:sp>
      <p:sp>
        <p:nvSpPr>
          <p:cNvPr id="307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79" name="PlaceHolder 3"/>
          <p:cNvSpPr>
            <a:spLocks noGrp="1"/>
          </p:cNvSpPr>
          <p:nvPr>
            <p:ph type="sldNum" idx="13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B590849-09C4-48B5-9623-606C8715800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0" name="PlaceHolder 1"/>
          <p:cNvSpPr>
            <a:spLocks noGrp="1"/>
          </p:cNvSpPr>
          <p:nvPr>
            <p:ph type="sldImg"/>
          </p:nvPr>
        </p:nvSpPr>
        <p:spPr>
          <a:xfrm>
            <a:off x="685800" y="1143000"/>
            <a:ext cx="5484960" cy="3084840"/>
          </a:xfrm>
          <a:prstGeom prst="rect">
            <a:avLst/>
          </a:prstGeom>
          <a:ln w="0">
            <a:noFill/>
          </a:ln>
        </p:spPr>
      </p:sp>
      <p:sp>
        <p:nvSpPr>
          <p:cNvPr id="308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82" name="PlaceHolder 3"/>
          <p:cNvSpPr>
            <a:spLocks noGrp="1"/>
          </p:cNvSpPr>
          <p:nvPr>
            <p:ph type="sldNum" idx="13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4BCB3D-2C0E-4F84-B14E-2F0BA587D88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3" name="PlaceHolder 1"/>
          <p:cNvSpPr>
            <a:spLocks noGrp="1"/>
          </p:cNvSpPr>
          <p:nvPr>
            <p:ph type="sldImg"/>
          </p:nvPr>
        </p:nvSpPr>
        <p:spPr>
          <a:xfrm>
            <a:off x="685800" y="1143000"/>
            <a:ext cx="5484960" cy="3084840"/>
          </a:xfrm>
          <a:prstGeom prst="rect">
            <a:avLst/>
          </a:prstGeom>
          <a:ln w="0">
            <a:noFill/>
          </a:ln>
        </p:spPr>
      </p:sp>
      <p:sp>
        <p:nvSpPr>
          <p:cNvPr id="308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85" name="PlaceHolder 3"/>
          <p:cNvSpPr>
            <a:spLocks noGrp="1"/>
          </p:cNvSpPr>
          <p:nvPr>
            <p:ph type="sldNum" idx="13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03EAFC5-BAC3-491E-978D-8EC3DE0FE02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6" name="PlaceHolder 1"/>
          <p:cNvSpPr>
            <a:spLocks noGrp="1"/>
          </p:cNvSpPr>
          <p:nvPr>
            <p:ph type="sldImg"/>
          </p:nvPr>
        </p:nvSpPr>
        <p:spPr>
          <a:xfrm>
            <a:off x="685800" y="1143000"/>
            <a:ext cx="5484960" cy="3084840"/>
          </a:xfrm>
          <a:prstGeom prst="rect">
            <a:avLst/>
          </a:prstGeom>
          <a:ln w="0">
            <a:noFill/>
          </a:ln>
        </p:spPr>
      </p:sp>
      <p:sp>
        <p:nvSpPr>
          <p:cNvPr id="308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88" name="PlaceHolder 3"/>
          <p:cNvSpPr>
            <a:spLocks noGrp="1"/>
          </p:cNvSpPr>
          <p:nvPr>
            <p:ph type="sldNum" idx="13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48D452-48D0-42F9-8BCE-190213D8CA9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9" name="PlaceHolder 1"/>
          <p:cNvSpPr>
            <a:spLocks noGrp="1"/>
          </p:cNvSpPr>
          <p:nvPr>
            <p:ph type="sldImg"/>
          </p:nvPr>
        </p:nvSpPr>
        <p:spPr>
          <a:xfrm>
            <a:off x="685800" y="1143000"/>
            <a:ext cx="5484960" cy="3084840"/>
          </a:xfrm>
          <a:prstGeom prst="rect">
            <a:avLst/>
          </a:prstGeom>
          <a:ln w="0">
            <a:noFill/>
          </a:ln>
        </p:spPr>
      </p:sp>
      <p:sp>
        <p:nvSpPr>
          <p:cNvPr id="309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91" name="PlaceHolder 3"/>
          <p:cNvSpPr>
            <a:spLocks noGrp="1"/>
          </p:cNvSpPr>
          <p:nvPr>
            <p:ph type="sldNum" idx="13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7150902-B4BA-4404-89EF-43672FE960C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2" name="PlaceHolder 1"/>
          <p:cNvSpPr>
            <a:spLocks noGrp="1"/>
          </p:cNvSpPr>
          <p:nvPr>
            <p:ph type="sldImg"/>
          </p:nvPr>
        </p:nvSpPr>
        <p:spPr>
          <a:xfrm>
            <a:off x="685800" y="1143000"/>
            <a:ext cx="5484960" cy="3084840"/>
          </a:xfrm>
          <a:prstGeom prst="rect">
            <a:avLst/>
          </a:prstGeom>
          <a:ln w="0">
            <a:noFill/>
          </a:ln>
        </p:spPr>
      </p:sp>
      <p:sp>
        <p:nvSpPr>
          <p:cNvPr id="309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94" name="PlaceHolder 3"/>
          <p:cNvSpPr>
            <a:spLocks noGrp="1"/>
          </p:cNvSpPr>
          <p:nvPr>
            <p:ph type="sldNum" idx="13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0FBFCF9-D6AE-4AF7-B7A3-AB594C1AF57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5" name="PlaceHolder 1"/>
          <p:cNvSpPr>
            <a:spLocks noGrp="1"/>
          </p:cNvSpPr>
          <p:nvPr>
            <p:ph type="sldImg"/>
          </p:nvPr>
        </p:nvSpPr>
        <p:spPr>
          <a:xfrm>
            <a:off x="685800" y="1143000"/>
            <a:ext cx="5484960" cy="3084840"/>
          </a:xfrm>
          <a:prstGeom prst="rect">
            <a:avLst/>
          </a:prstGeom>
          <a:ln w="0">
            <a:noFill/>
          </a:ln>
        </p:spPr>
      </p:sp>
      <p:sp>
        <p:nvSpPr>
          <p:cNvPr id="309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097" name="PlaceHolder 3"/>
          <p:cNvSpPr>
            <a:spLocks noGrp="1"/>
          </p:cNvSpPr>
          <p:nvPr>
            <p:ph type="sldNum" idx="13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597DB9F-26EA-4F78-B736-35B7A3DBAF3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8" name="PlaceHolder 1"/>
          <p:cNvSpPr>
            <a:spLocks noGrp="1"/>
          </p:cNvSpPr>
          <p:nvPr>
            <p:ph type="sldImg"/>
          </p:nvPr>
        </p:nvSpPr>
        <p:spPr>
          <a:xfrm>
            <a:off x="685800" y="1143000"/>
            <a:ext cx="5484960" cy="3084840"/>
          </a:xfrm>
          <a:prstGeom prst="rect">
            <a:avLst/>
          </a:prstGeom>
          <a:ln w="0">
            <a:noFill/>
          </a:ln>
        </p:spPr>
      </p:sp>
      <p:sp>
        <p:nvSpPr>
          <p:cNvPr id="309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0" name="PlaceHolder 3"/>
          <p:cNvSpPr>
            <a:spLocks noGrp="1"/>
          </p:cNvSpPr>
          <p:nvPr>
            <p:ph type="sldNum" idx="13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3E82998-457D-4ACD-BD07-AECD152F0F1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1" name="PlaceHolder 1"/>
          <p:cNvSpPr>
            <a:spLocks noGrp="1"/>
          </p:cNvSpPr>
          <p:nvPr>
            <p:ph type="sldImg"/>
          </p:nvPr>
        </p:nvSpPr>
        <p:spPr>
          <a:xfrm>
            <a:off x="685800" y="1143000"/>
            <a:ext cx="5484960" cy="3084840"/>
          </a:xfrm>
          <a:prstGeom prst="rect">
            <a:avLst/>
          </a:prstGeom>
          <a:ln w="0">
            <a:noFill/>
          </a:ln>
        </p:spPr>
      </p:sp>
      <p:sp>
        <p:nvSpPr>
          <p:cNvPr id="310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3" name="PlaceHolder 3"/>
          <p:cNvSpPr>
            <a:spLocks noGrp="1"/>
          </p:cNvSpPr>
          <p:nvPr>
            <p:ph type="sldNum" idx="13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C2CEFF5-40B1-41A6-8A29-40FC6579ACA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4" name="PlaceHolder 1"/>
          <p:cNvSpPr>
            <a:spLocks noGrp="1"/>
          </p:cNvSpPr>
          <p:nvPr>
            <p:ph type="sldImg"/>
          </p:nvPr>
        </p:nvSpPr>
        <p:spPr>
          <a:xfrm>
            <a:off x="685800" y="1143000"/>
            <a:ext cx="5484960" cy="3084840"/>
          </a:xfrm>
          <a:prstGeom prst="rect">
            <a:avLst/>
          </a:prstGeom>
          <a:ln w="0">
            <a:noFill/>
          </a:ln>
        </p:spPr>
      </p:sp>
      <p:sp>
        <p:nvSpPr>
          <p:cNvPr id="310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6" name="PlaceHolder 3"/>
          <p:cNvSpPr>
            <a:spLocks noGrp="1"/>
          </p:cNvSpPr>
          <p:nvPr>
            <p:ph type="sldNum" idx="13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8DA9B5-5047-43C1-BF3B-637016A96D0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7" name="PlaceHolder 1"/>
          <p:cNvSpPr>
            <a:spLocks noGrp="1"/>
          </p:cNvSpPr>
          <p:nvPr>
            <p:ph type="sldImg"/>
          </p:nvPr>
        </p:nvSpPr>
        <p:spPr>
          <a:xfrm>
            <a:off x="685800" y="1143000"/>
            <a:ext cx="5484960" cy="3084840"/>
          </a:xfrm>
          <a:prstGeom prst="rect">
            <a:avLst/>
          </a:prstGeom>
          <a:ln w="0">
            <a:noFill/>
          </a:ln>
        </p:spPr>
      </p:sp>
      <p:sp>
        <p:nvSpPr>
          <p:cNvPr id="310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09" name="PlaceHolder 3"/>
          <p:cNvSpPr>
            <a:spLocks noGrp="1"/>
          </p:cNvSpPr>
          <p:nvPr>
            <p:ph type="sldNum" idx="14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62A3B41-5326-4941-8C4B-BE125261354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0" name="PlaceHolder 1"/>
          <p:cNvSpPr>
            <a:spLocks noGrp="1"/>
          </p:cNvSpPr>
          <p:nvPr>
            <p:ph type="sldImg"/>
          </p:nvPr>
        </p:nvSpPr>
        <p:spPr>
          <a:xfrm>
            <a:off x="685800" y="1143000"/>
            <a:ext cx="5484960" cy="3084840"/>
          </a:xfrm>
          <a:prstGeom prst="rect">
            <a:avLst/>
          </a:prstGeom>
          <a:ln w="0">
            <a:noFill/>
          </a:ln>
        </p:spPr>
      </p:sp>
      <p:sp>
        <p:nvSpPr>
          <p:cNvPr id="311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12" name="PlaceHolder 3"/>
          <p:cNvSpPr>
            <a:spLocks noGrp="1"/>
          </p:cNvSpPr>
          <p:nvPr>
            <p:ph type="sldNum" idx="14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8367494-517D-410F-8D7E-932411556F8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3" name="PlaceHolder 1"/>
          <p:cNvSpPr>
            <a:spLocks noGrp="1"/>
          </p:cNvSpPr>
          <p:nvPr>
            <p:ph type="sldImg"/>
          </p:nvPr>
        </p:nvSpPr>
        <p:spPr>
          <a:xfrm>
            <a:off x="685800" y="1143000"/>
            <a:ext cx="5484960" cy="3084840"/>
          </a:xfrm>
          <a:prstGeom prst="rect">
            <a:avLst/>
          </a:prstGeom>
          <a:ln w="0">
            <a:noFill/>
          </a:ln>
        </p:spPr>
      </p:sp>
      <p:sp>
        <p:nvSpPr>
          <p:cNvPr id="311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15" name="PlaceHolder 3"/>
          <p:cNvSpPr>
            <a:spLocks noGrp="1"/>
          </p:cNvSpPr>
          <p:nvPr>
            <p:ph type="sldNum" idx="14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9E7F6DF-49B5-4C87-97D5-83D3F64DE68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6" name="PlaceHolder 1"/>
          <p:cNvSpPr>
            <a:spLocks noGrp="1"/>
          </p:cNvSpPr>
          <p:nvPr>
            <p:ph type="sldImg"/>
          </p:nvPr>
        </p:nvSpPr>
        <p:spPr>
          <a:xfrm>
            <a:off x="685800" y="1143000"/>
            <a:ext cx="5484960" cy="3084840"/>
          </a:xfrm>
          <a:prstGeom prst="rect">
            <a:avLst/>
          </a:prstGeom>
          <a:ln w="0">
            <a:noFill/>
          </a:ln>
        </p:spPr>
      </p:sp>
      <p:sp>
        <p:nvSpPr>
          <p:cNvPr id="311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18" name="PlaceHolder 3"/>
          <p:cNvSpPr>
            <a:spLocks noGrp="1"/>
          </p:cNvSpPr>
          <p:nvPr>
            <p:ph type="sldNum" idx="14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9340E23-57F2-427E-8D96-DE25CB7E775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9" name="PlaceHolder 1"/>
          <p:cNvSpPr>
            <a:spLocks noGrp="1"/>
          </p:cNvSpPr>
          <p:nvPr>
            <p:ph type="sldImg"/>
          </p:nvPr>
        </p:nvSpPr>
        <p:spPr>
          <a:xfrm>
            <a:off x="685800" y="1143000"/>
            <a:ext cx="5484960" cy="3084840"/>
          </a:xfrm>
          <a:prstGeom prst="rect">
            <a:avLst/>
          </a:prstGeom>
          <a:ln w="0">
            <a:noFill/>
          </a:ln>
        </p:spPr>
      </p:sp>
      <p:sp>
        <p:nvSpPr>
          <p:cNvPr id="312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21" name="PlaceHolder 3"/>
          <p:cNvSpPr>
            <a:spLocks noGrp="1"/>
          </p:cNvSpPr>
          <p:nvPr>
            <p:ph type="sldNum" idx="14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0F963D-A211-4C4E-896D-353C67E6A87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2" name="PlaceHolder 1"/>
          <p:cNvSpPr>
            <a:spLocks noGrp="1"/>
          </p:cNvSpPr>
          <p:nvPr>
            <p:ph type="sldImg"/>
          </p:nvPr>
        </p:nvSpPr>
        <p:spPr>
          <a:xfrm>
            <a:off x="685800" y="1143000"/>
            <a:ext cx="5484960" cy="3084840"/>
          </a:xfrm>
          <a:prstGeom prst="rect">
            <a:avLst/>
          </a:prstGeom>
          <a:ln w="0">
            <a:noFill/>
          </a:ln>
        </p:spPr>
      </p:sp>
      <p:sp>
        <p:nvSpPr>
          <p:cNvPr id="312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24" name="PlaceHolder 3"/>
          <p:cNvSpPr>
            <a:spLocks noGrp="1"/>
          </p:cNvSpPr>
          <p:nvPr>
            <p:ph type="sldNum" idx="14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DB1E7D8-E3A5-4DD4-B2F3-29A2C4E9A7C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5" name="PlaceHolder 1"/>
          <p:cNvSpPr>
            <a:spLocks noGrp="1"/>
          </p:cNvSpPr>
          <p:nvPr>
            <p:ph type="sldImg"/>
          </p:nvPr>
        </p:nvSpPr>
        <p:spPr>
          <a:xfrm>
            <a:off x="685800" y="1143000"/>
            <a:ext cx="5484960" cy="3084840"/>
          </a:xfrm>
          <a:prstGeom prst="rect">
            <a:avLst/>
          </a:prstGeom>
          <a:ln w="0">
            <a:noFill/>
          </a:ln>
        </p:spPr>
      </p:sp>
      <p:sp>
        <p:nvSpPr>
          <p:cNvPr id="312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27" name="PlaceHolder 3"/>
          <p:cNvSpPr>
            <a:spLocks noGrp="1"/>
          </p:cNvSpPr>
          <p:nvPr>
            <p:ph type="sldNum" idx="14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4449698-5DA5-45CD-8391-6273E74F867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8" name="PlaceHolder 1"/>
          <p:cNvSpPr>
            <a:spLocks noGrp="1"/>
          </p:cNvSpPr>
          <p:nvPr>
            <p:ph type="sldImg"/>
          </p:nvPr>
        </p:nvSpPr>
        <p:spPr>
          <a:xfrm>
            <a:off x="685800" y="1143000"/>
            <a:ext cx="5484960" cy="3084840"/>
          </a:xfrm>
          <a:prstGeom prst="rect">
            <a:avLst/>
          </a:prstGeom>
          <a:ln w="0">
            <a:noFill/>
          </a:ln>
        </p:spPr>
      </p:sp>
      <p:sp>
        <p:nvSpPr>
          <p:cNvPr id="312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0" name="PlaceHolder 3"/>
          <p:cNvSpPr>
            <a:spLocks noGrp="1"/>
          </p:cNvSpPr>
          <p:nvPr>
            <p:ph type="sldNum" idx="14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716768E-94A9-4767-B981-81503CCC743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1" name="PlaceHolder 1"/>
          <p:cNvSpPr>
            <a:spLocks noGrp="1"/>
          </p:cNvSpPr>
          <p:nvPr>
            <p:ph type="sldImg"/>
          </p:nvPr>
        </p:nvSpPr>
        <p:spPr>
          <a:xfrm>
            <a:off x="685800" y="1143000"/>
            <a:ext cx="5484960" cy="3084840"/>
          </a:xfrm>
          <a:prstGeom prst="rect">
            <a:avLst/>
          </a:prstGeom>
          <a:ln w="0">
            <a:noFill/>
          </a:ln>
        </p:spPr>
      </p:sp>
      <p:sp>
        <p:nvSpPr>
          <p:cNvPr id="313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3" name="PlaceHolder 3"/>
          <p:cNvSpPr>
            <a:spLocks noGrp="1"/>
          </p:cNvSpPr>
          <p:nvPr>
            <p:ph type="sldNum" idx="14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7A3B922-07F9-4331-9772-34F62C0E252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4" name="PlaceHolder 1"/>
          <p:cNvSpPr>
            <a:spLocks noGrp="1"/>
          </p:cNvSpPr>
          <p:nvPr>
            <p:ph type="sldImg"/>
          </p:nvPr>
        </p:nvSpPr>
        <p:spPr>
          <a:xfrm>
            <a:off x="685800" y="1143000"/>
            <a:ext cx="5484960" cy="3084840"/>
          </a:xfrm>
          <a:prstGeom prst="rect">
            <a:avLst/>
          </a:prstGeom>
          <a:ln w="0">
            <a:noFill/>
          </a:ln>
        </p:spPr>
      </p:sp>
      <p:sp>
        <p:nvSpPr>
          <p:cNvPr id="313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6" name="PlaceHolder 3"/>
          <p:cNvSpPr>
            <a:spLocks noGrp="1"/>
          </p:cNvSpPr>
          <p:nvPr>
            <p:ph type="sldNum" idx="14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B0EDB8A-B2B8-486C-A6CF-E174EC18C4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7" name="PlaceHolder 1"/>
          <p:cNvSpPr>
            <a:spLocks noGrp="1"/>
          </p:cNvSpPr>
          <p:nvPr>
            <p:ph type="sldImg"/>
          </p:nvPr>
        </p:nvSpPr>
        <p:spPr>
          <a:xfrm>
            <a:off x="685800" y="1143000"/>
            <a:ext cx="5484960" cy="3084840"/>
          </a:xfrm>
          <a:prstGeom prst="rect">
            <a:avLst/>
          </a:prstGeom>
          <a:ln w="0">
            <a:noFill/>
          </a:ln>
        </p:spPr>
      </p:sp>
      <p:sp>
        <p:nvSpPr>
          <p:cNvPr id="313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39" name="PlaceHolder 3"/>
          <p:cNvSpPr>
            <a:spLocks noGrp="1"/>
          </p:cNvSpPr>
          <p:nvPr>
            <p:ph type="sldNum" idx="15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5AD406E-09F0-4B86-B34C-014BE2A17B4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0" name="PlaceHolder 1"/>
          <p:cNvSpPr>
            <a:spLocks noGrp="1"/>
          </p:cNvSpPr>
          <p:nvPr>
            <p:ph type="sldImg"/>
          </p:nvPr>
        </p:nvSpPr>
        <p:spPr>
          <a:xfrm>
            <a:off x="685800" y="1143000"/>
            <a:ext cx="5484960" cy="3084840"/>
          </a:xfrm>
          <a:prstGeom prst="rect">
            <a:avLst/>
          </a:prstGeom>
          <a:ln w="0">
            <a:noFill/>
          </a:ln>
        </p:spPr>
      </p:sp>
      <p:sp>
        <p:nvSpPr>
          <p:cNvPr id="314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42" name="PlaceHolder 3"/>
          <p:cNvSpPr>
            <a:spLocks noGrp="1"/>
          </p:cNvSpPr>
          <p:nvPr>
            <p:ph type="sldNum" idx="15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D691E2A-77BB-41F3-8F51-C39EA844673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3" name="PlaceHolder 1"/>
          <p:cNvSpPr>
            <a:spLocks noGrp="1"/>
          </p:cNvSpPr>
          <p:nvPr>
            <p:ph type="sldImg"/>
          </p:nvPr>
        </p:nvSpPr>
        <p:spPr>
          <a:xfrm>
            <a:off x="685800" y="1143000"/>
            <a:ext cx="5484960" cy="3084840"/>
          </a:xfrm>
          <a:prstGeom prst="rect">
            <a:avLst/>
          </a:prstGeom>
          <a:ln w="0">
            <a:noFill/>
          </a:ln>
        </p:spPr>
      </p:sp>
      <p:sp>
        <p:nvSpPr>
          <p:cNvPr id="314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45" name="PlaceHolder 3"/>
          <p:cNvSpPr>
            <a:spLocks noGrp="1"/>
          </p:cNvSpPr>
          <p:nvPr>
            <p:ph type="sldNum" idx="15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C8F8173-B1AB-475D-BD43-ACC5654E042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6" name="PlaceHolder 1"/>
          <p:cNvSpPr>
            <a:spLocks noGrp="1"/>
          </p:cNvSpPr>
          <p:nvPr>
            <p:ph type="sldImg"/>
          </p:nvPr>
        </p:nvSpPr>
        <p:spPr>
          <a:xfrm>
            <a:off x="685800" y="1143000"/>
            <a:ext cx="5484960" cy="3084840"/>
          </a:xfrm>
          <a:prstGeom prst="rect">
            <a:avLst/>
          </a:prstGeom>
          <a:ln w="0">
            <a:noFill/>
          </a:ln>
        </p:spPr>
      </p:sp>
      <p:sp>
        <p:nvSpPr>
          <p:cNvPr id="314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48" name="PlaceHolder 3"/>
          <p:cNvSpPr>
            <a:spLocks noGrp="1"/>
          </p:cNvSpPr>
          <p:nvPr>
            <p:ph type="sldNum" idx="15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E1EDF9A-5476-4C40-9A68-58AC8A7BA11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9" name="PlaceHolder 1"/>
          <p:cNvSpPr>
            <a:spLocks noGrp="1"/>
          </p:cNvSpPr>
          <p:nvPr>
            <p:ph type="sldImg"/>
          </p:nvPr>
        </p:nvSpPr>
        <p:spPr>
          <a:xfrm>
            <a:off x="685800" y="1143000"/>
            <a:ext cx="5484960" cy="3084840"/>
          </a:xfrm>
          <a:prstGeom prst="rect">
            <a:avLst/>
          </a:prstGeom>
          <a:ln w="0">
            <a:noFill/>
          </a:ln>
        </p:spPr>
      </p:sp>
      <p:sp>
        <p:nvSpPr>
          <p:cNvPr id="315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51" name="PlaceHolder 3"/>
          <p:cNvSpPr>
            <a:spLocks noGrp="1"/>
          </p:cNvSpPr>
          <p:nvPr>
            <p:ph type="sldNum" idx="15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21B4EB2-DE06-465A-80D5-DE3CBBDB5AD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2" name="PlaceHolder 1"/>
          <p:cNvSpPr>
            <a:spLocks noGrp="1"/>
          </p:cNvSpPr>
          <p:nvPr>
            <p:ph type="sldImg"/>
          </p:nvPr>
        </p:nvSpPr>
        <p:spPr>
          <a:xfrm>
            <a:off x="685800" y="1143000"/>
            <a:ext cx="5484960" cy="3084840"/>
          </a:xfrm>
          <a:prstGeom prst="rect">
            <a:avLst/>
          </a:prstGeom>
          <a:ln w="0">
            <a:noFill/>
          </a:ln>
        </p:spPr>
      </p:sp>
      <p:sp>
        <p:nvSpPr>
          <p:cNvPr id="315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54" name="PlaceHolder 3"/>
          <p:cNvSpPr>
            <a:spLocks noGrp="1"/>
          </p:cNvSpPr>
          <p:nvPr>
            <p:ph type="sldNum" idx="15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32E5692-8D7B-4B43-A350-F0595B22A1B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5" name="PlaceHolder 1"/>
          <p:cNvSpPr>
            <a:spLocks noGrp="1"/>
          </p:cNvSpPr>
          <p:nvPr>
            <p:ph type="sldImg"/>
          </p:nvPr>
        </p:nvSpPr>
        <p:spPr>
          <a:xfrm>
            <a:off x="685800" y="1143000"/>
            <a:ext cx="5484960" cy="3084840"/>
          </a:xfrm>
          <a:prstGeom prst="rect">
            <a:avLst/>
          </a:prstGeom>
          <a:ln w="0">
            <a:noFill/>
          </a:ln>
        </p:spPr>
      </p:sp>
      <p:sp>
        <p:nvSpPr>
          <p:cNvPr id="3156"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57" name="PlaceHolder 3"/>
          <p:cNvSpPr>
            <a:spLocks noGrp="1"/>
          </p:cNvSpPr>
          <p:nvPr>
            <p:ph type="sldNum" idx="156"/>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E7499EC-3E35-4533-93A0-D5C4ED2E930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8" name="PlaceHolder 1"/>
          <p:cNvSpPr>
            <a:spLocks noGrp="1"/>
          </p:cNvSpPr>
          <p:nvPr>
            <p:ph type="sldImg"/>
          </p:nvPr>
        </p:nvSpPr>
        <p:spPr>
          <a:xfrm>
            <a:off x="685800" y="1143000"/>
            <a:ext cx="5484960" cy="3084840"/>
          </a:xfrm>
          <a:prstGeom prst="rect">
            <a:avLst/>
          </a:prstGeom>
          <a:ln w="0">
            <a:noFill/>
          </a:ln>
        </p:spPr>
      </p:sp>
      <p:sp>
        <p:nvSpPr>
          <p:cNvPr id="3159"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0" name="PlaceHolder 3"/>
          <p:cNvSpPr>
            <a:spLocks noGrp="1"/>
          </p:cNvSpPr>
          <p:nvPr>
            <p:ph type="sldNum" idx="157"/>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F15DC3F-603D-4FCB-A1A6-58FF51DDEEB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1" name="PlaceHolder 1"/>
          <p:cNvSpPr>
            <a:spLocks noGrp="1"/>
          </p:cNvSpPr>
          <p:nvPr>
            <p:ph type="sldImg"/>
          </p:nvPr>
        </p:nvSpPr>
        <p:spPr>
          <a:xfrm>
            <a:off x="685800" y="1143000"/>
            <a:ext cx="5484960" cy="3084840"/>
          </a:xfrm>
          <a:prstGeom prst="rect">
            <a:avLst/>
          </a:prstGeom>
          <a:ln w="0">
            <a:noFill/>
          </a:ln>
        </p:spPr>
      </p:sp>
      <p:sp>
        <p:nvSpPr>
          <p:cNvPr id="3162"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3" name="PlaceHolder 3"/>
          <p:cNvSpPr>
            <a:spLocks noGrp="1"/>
          </p:cNvSpPr>
          <p:nvPr>
            <p:ph type="sldNum" idx="158"/>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211428F-DE55-44E7-90A9-6D0DAF62111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4" name="PlaceHolder 1"/>
          <p:cNvSpPr>
            <a:spLocks noGrp="1"/>
          </p:cNvSpPr>
          <p:nvPr>
            <p:ph type="sldImg"/>
          </p:nvPr>
        </p:nvSpPr>
        <p:spPr>
          <a:xfrm>
            <a:off x="685800" y="1143000"/>
            <a:ext cx="5484960" cy="3084840"/>
          </a:xfrm>
          <a:prstGeom prst="rect">
            <a:avLst/>
          </a:prstGeom>
          <a:ln w="0">
            <a:noFill/>
          </a:ln>
        </p:spPr>
      </p:sp>
      <p:sp>
        <p:nvSpPr>
          <p:cNvPr id="316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6" name="PlaceHolder 3"/>
          <p:cNvSpPr>
            <a:spLocks noGrp="1"/>
          </p:cNvSpPr>
          <p:nvPr>
            <p:ph type="sldNum" idx="15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F5562D4-2A7E-46C5-884C-0208396CA34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7" name="PlaceHolder 1"/>
          <p:cNvSpPr>
            <a:spLocks noGrp="1"/>
          </p:cNvSpPr>
          <p:nvPr>
            <p:ph type="sldImg"/>
          </p:nvPr>
        </p:nvSpPr>
        <p:spPr>
          <a:xfrm>
            <a:off x="685800" y="1143000"/>
            <a:ext cx="5484960" cy="3084840"/>
          </a:xfrm>
          <a:prstGeom prst="rect">
            <a:avLst/>
          </a:prstGeom>
          <a:ln w="0">
            <a:noFill/>
          </a:ln>
        </p:spPr>
      </p:sp>
      <p:sp>
        <p:nvSpPr>
          <p:cNvPr id="316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69" name="PlaceHolder 3"/>
          <p:cNvSpPr>
            <a:spLocks noGrp="1"/>
          </p:cNvSpPr>
          <p:nvPr>
            <p:ph type="sldNum" idx="16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6839429-EB4F-407C-BA18-E3681EE12D1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0" name="PlaceHolder 1"/>
          <p:cNvSpPr>
            <a:spLocks noGrp="1"/>
          </p:cNvSpPr>
          <p:nvPr>
            <p:ph type="sldImg"/>
          </p:nvPr>
        </p:nvSpPr>
        <p:spPr>
          <a:xfrm>
            <a:off x="685800" y="1143000"/>
            <a:ext cx="5484960" cy="3084840"/>
          </a:xfrm>
          <a:prstGeom prst="rect">
            <a:avLst/>
          </a:prstGeom>
          <a:ln w="0">
            <a:noFill/>
          </a:ln>
        </p:spPr>
      </p:sp>
      <p:sp>
        <p:nvSpPr>
          <p:cNvPr id="317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72" name="PlaceHolder 3"/>
          <p:cNvSpPr>
            <a:spLocks noGrp="1"/>
          </p:cNvSpPr>
          <p:nvPr>
            <p:ph type="sldNum" idx="16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5447D69-A3ED-4871-AD85-E5DBE98CCE2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3" name="PlaceHolder 1"/>
          <p:cNvSpPr>
            <a:spLocks noGrp="1"/>
          </p:cNvSpPr>
          <p:nvPr>
            <p:ph type="sldImg"/>
          </p:nvPr>
        </p:nvSpPr>
        <p:spPr>
          <a:xfrm>
            <a:off x="685800" y="1143000"/>
            <a:ext cx="5484960" cy="3084840"/>
          </a:xfrm>
          <a:prstGeom prst="rect">
            <a:avLst/>
          </a:prstGeom>
          <a:ln w="0">
            <a:noFill/>
          </a:ln>
        </p:spPr>
      </p:sp>
      <p:sp>
        <p:nvSpPr>
          <p:cNvPr id="317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75" name="PlaceHolder 3"/>
          <p:cNvSpPr>
            <a:spLocks noGrp="1"/>
          </p:cNvSpPr>
          <p:nvPr>
            <p:ph type="sldNum" idx="16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F0669FA-8690-4DDF-A0B5-ACBB752FB7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6" name="PlaceHolder 1"/>
          <p:cNvSpPr>
            <a:spLocks noGrp="1"/>
          </p:cNvSpPr>
          <p:nvPr>
            <p:ph type="sldImg"/>
          </p:nvPr>
        </p:nvSpPr>
        <p:spPr>
          <a:xfrm>
            <a:off x="685800" y="1143000"/>
            <a:ext cx="5484960" cy="3084840"/>
          </a:xfrm>
          <a:prstGeom prst="rect">
            <a:avLst/>
          </a:prstGeom>
          <a:ln w="0">
            <a:noFill/>
          </a:ln>
        </p:spPr>
      </p:sp>
      <p:sp>
        <p:nvSpPr>
          <p:cNvPr id="317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78" name="PlaceHolder 3"/>
          <p:cNvSpPr>
            <a:spLocks noGrp="1"/>
          </p:cNvSpPr>
          <p:nvPr>
            <p:ph type="sldNum" idx="16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FB96BA3-B4C6-45F2-A361-EF37B400D76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9" name="PlaceHolder 1"/>
          <p:cNvSpPr>
            <a:spLocks noGrp="1"/>
          </p:cNvSpPr>
          <p:nvPr>
            <p:ph type="sldImg"/>
          </p:nvPr>
        </p:nvSpPr>
        <p:spPr>
          <a:xfrm>
            <a:off x="685800" y="1143000"/>
            <a:ext cx="5484960" cy="3084840"/>
          </a:xfrm>
          <a:prstGeom prst="rect">
            <a:avLst/>
          </a:prstGeom>
          <a:ln w="0">
            <a:noFill/>
          </a:ln>
        </p:spPr>
      </p:sp>
      <p:sp>
        <p:nvSpPr>
          <p:cNvPr id="318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81" name="PlaceHolder 3"/>
          <p:cNvSpPr>
            <a:spLocks noGrp="1"/>
          </p:cNvSpPr>
          <p:nvPr>
            <p:ph type="sldNum" idx="16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49BACAE-81FE-43F0-A754-7016DBECC91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2" name="PlaceHolder 1"/>
          <p:cNvSpPr>
            <a:spLocks noGrp="1"/>
          </p:cNvSpPr>
          <p:nvPr>
            <p:ph type="sldImg"/>
          </p:nvPr>
        </p:nvSpPr>
        <p:spPr>
          <a:xfrm>
            <a:off x="685800" y="1143000"/>
            <a:ext cx="5484960" cy="3084840"/>
          </a:xfrm>
          <a:prstGeom prst="rect">
            <a:avLst/>
          </a:prstGeom>
          <a:ln w="0">
            <a:noFill/>
          </a:ln>
        </p:spPr>
      </p:sp>
      <p:sp>
        <p:nvSpPr>
          <p:cNvPr id="318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84" name="PlaceHolder 3"/>
          <p:cNvSpPr>
            <a:spLocks noGrp="1"/>
          </p:cNvSpPr>
          <p:nvPr>
            <p:ph type="sldNum" idx="16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CED5B10-722E-41F5-952F-C1B96E32ACB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5" name="PlaceHolder 1"/>
          <p:cNvSpPr>
            <a:spLocks noGrp="1"/>
          </p:cNvSpPr>
          <p:nvPr>
            <p:ph type="sldImg"/>
          </p:nvPr>
        </p:nvSpPr>
        <p:spPr>
          <a:xfrm>
            <a:off x="685800" y="1143000"/>
            <a:ext cx="5485680" cy="3085560"/>
          </a:xfrm>
          <a:prstGeom prst="rect">
            <a:avLst/>
          </a:prstGeom>
          <a:ln w="0">
            <a:noFill/>
          </a:ln>
        </p:spPr>
      </p:sp>
      <p:sp>
        <p:nvSpPr>
          <p:cNvPr id="31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87" name="PlaceHolder 3"/>
          <p:cNvSpPr>
            <a:spLocks noGrp="1"/>
          </p:cNvSpPr>
          <p:nvPr>
            <p:ph type="sldNum" idx="16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1E79125-6E1E-42ED-8A77-9559580324C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8" name="PlaceHolder 1"/>
          <p:cNvSpPr>
            <a:spLocks noGrp="1"/>
          </p:cNvSpPr>
          <p:nvPr>
            <p:ph type="sldImg"/>
          </p:nvPr>
        </p:nvSpPr>
        <p:spPr>
          <a:xfrm>
            <a:off x="685800" y="1143000"/>
            <a:ext cx="5485680" cy="3085560"/>
          </a:xfrm>
          <a:prstGeom prst="rect">
            <a:avLst/>
          </a:prstGeom>
          <a:ln w="0">
            <a:noFill/>
          </a:ln>
        </p:spPr>
      </p:sp>
      <p:sp>
        <p:nvSpPr>
          <p:cNvPr id="318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0" name="PlaceHolder 3"/>
          <p:cNvSpPr>
            <a:spLocks noGrp="1"/>
          </p:cNvSpPr>
          <p:nvPr>
            <p:ph type="sldNum" idx="16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E07DC8F-4EAA-4AC7-AC2C-AEA630FB6C3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1" name="PlaceHolder 1"/>
          <p:cNvSpPr>
            <a:spLocks noGrp="1"/>
          </p:cNvSpPr>
          <p:nvPr>
            <p:ph type="sldImg"/>
          </p:nvPr>
        </p:nvSpPr>
        <p:spPr>
          <a:xfrm>
            <a:off x="685800" y="1143000"/>
            <a:ext cx="5485680" cy="3085560"/>
          </a:xfrm>
          <a:prstGeom prst="rect">
            <a:avLst/>
          </a:prstGeom>
          <a:ln w="0">
            <a:noFill/>
          </a:ln>
        </p:spPr>
      </p:sp>
      <p:sp>
        <p:nvSpPr>
          <p:cNvPr id="319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3" name="PlaceHolder 3"/>
          <p:cNvSpPr>
            <a:spLocks noGrp="1"/>
          </p:cNvSpPr>
          <p:nvPr>
            <p:ph type="sldNum" idx="16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2859FB24-2569-4C6A-B1E9-D8320AB9427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4" name="PlaceHolder 1"/>
          <p:cNvSpPr>
            <a:spLocks noGrp="1"/>
          </p:cNvSpPr>
          <p:nvPr>
            <p:ph type="sldImg"/>
          </p:nvPr>
        </p:nvSpPr>
        <p:spPr>
          <a:xfrm>
            <a:off x="685800" y="1143000"/>
            <a:ext cx="5485680" cy="3085560"/>
          </a:xfrm>
          <a:prstGeom prst="rect">
            <a:avLst/>
          </a:prstGeom>
          <a:ln w="0">
            <a:noFill/>
          </a:ln>
        </p:spPr>
      </p:sp>
      <p:sp>
        <p:nvSpPr>
          <p:cNvPr id="319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6" name="PlaceHolder 3"/>
          <p:cNvSpPr>
            <a:spLocks noGrp="1"/>
          </p:cNvSpPr>
          <p:nvPr>
            <p:ph type="sldNum" idx="16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0D6179D-169C-495E-A0D2-B1D74763901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7" name="PlaceHolder 1"/>
          <p:cNvSpPr>
            <a:spLocks noGrp="1"/>
          </p:cNvSpPr>
          <p:nvPr>
            <p:ph type="sldImg"/>
          </p:nvPr>
        </p:nvSpPr>
        <p:spPr>
          <a:xfrm>
            <a:off x="685800" y="1143000"/>
            <a:ext cx="5485680" cy="3085560"/>
          </a:xfrm>
          <a:prstGeom prst="rect">
            <a:avLst/>
          </a:prstGeom>
          <a:ln w="0">
            <a:noFill/>
          </a:ln>
        </p:spPr>
      </p:sp>
      <p:sp>
        <p:nvSpPr>
          <p:cNvPr id="319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199" name="PlaceHolder 3"/>
          <p:cNvSpPr>
            <a:spLocks noGrp="1"/>
          </p:cNvSpPr>
          <p:nvPr>
            <p:ph type="sldNum" idx="17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089673C-A66A-42B1-AD98-F78CD12DF51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0" name="PlaceHolder 1"/>
          <p:cNvSpPr>
            <a:spLocks noGrp="1"/>
          </p:cNvSpPr>
          <p:nvPr>
            <p:ph type="sldImg"/>
          </p:nvPr>
        </p:nvSpPr>
        <p:spPr>
          <a:xfrm>
            <a:off x="685800" y="1143000"/>
            <a:ext cx="5485680" cy="3085560"/>
          </a:xfrm>
          <a:prstGeom prst="rect">
            <a:avLst/>
          </a:prstGeom>
          <a:ln w="0">
            <a:noFill/>
          </a:ln>
        </p:spPr>
      </p:sp>
      <p:sp>
        <p:nvSpPr>
          <p:cNvPr id="320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02" name="PlaceHolder 3"/>
          <p:cNvSpPr>
            <a:spLocks noGrp="1"/>
          </p:cNvSpPr>
          <p:nvPr>
            <p:ph type="sldNum" idx="17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18EE8CC-503C-453C-803C-CF34770A252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3" name="PlaceHolder 1"/>
          <p:cNvSpPr>
            <a:spLocks noGrp="1"/>
          </p:cNvSpPr>
          <p:nvPr>
            <p:ph type="sldImg"/>
          </p:nvPr>
        </p:nvSpPr>
        <p:spPr>
          <a:xfrm>
            <a:off x="685800" y="1143000"/>
            <a:ext cx="5485680" cy="3085560"/>
          </a:xfrm>
          <a:prstGeom prst="rect">
            <a:avLst/>
          </a:prstGeom>
          <a:ln w="0">
            <a:noFill/>
          </a:ln>
        </p:spPr>
      </p:sp>
      <p:sp>
        <p:nvSpPr>
          <p:cNvPr id="320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05" name="PlaceHolder 3"/>
          <p:cNvSpPr>
            <a:spLocks noGrp="1"/>
          </p:cNvSpPr>
          <p:nvPr>
            <p:ph type="sldNum" idx="17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EE7FA75-7A49-4C0F-AFDE-11571258891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6" name="PlaceHolder 1"/>
          <p:cNvSpPr>
            <a:spLocks noGrp="1"/>
          </p:cNvSpPr>
          <p:nvPr>
            <p:ph type="sldImg"/>
          </p:nvPr>
        </p:nvSpPr>
        <p:spPr>
          <a:xfrm>
            <a:off x="685800" y="1143000"/>
            <a:ext cx="5485680" cy="3085560"/>
          </a:xfrm>
          <a:prstGeom prst="rect">
            <a:avLst/>
          </a:prstGeom>
          <a:ln w="0">
            <a:noFill/>
          </a:ln>
        </p:spPr>
      </p:sp>
      <p:sp>
        <p:nvSpPr>
          <p:cNvPr id="320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08" name="PlaceHolder 3"/>
          <p:cNvSpPr>
            <a:spLocks noGrp="1"/>
          </p:cNvSpPr>
          <p:nvPr>
            <p:ph type="sldNum" idx="17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661DA75-2514-4D56-9D1F-9D00821801A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9" name="PlaceHolder 1"/>
          <p:cNvSpPr>
            <a:spLocks noGrp="1"/>
          </p:cNvSpPr>
          <p:nvPr>
            <p:ph type="sldImg"/>
          </p:nvPr>
        </p:nvSpPr>
        <p:spPr>
          <a:xfrm>
            <a:off x="685800" y="1143000"/>
            <a:ext cx="5485680" cy="3085560"/>
          </a:xfrm>
          <a:prstGeom prst="rect">
            <a:avLst/>
          </a:prstGeom>
          <a:ln w="0">
            <a:noFill/>
          </a:ln>
        </p:spPr>
      </p:sp>
      <p:sp>
        <p:nvSpPr>
          <p:cNvPr id="321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11" name="PlaceHolder 3"/>
          <p:cNvSpPr>
            <a:spLocks noGrp="1"/>
          </p:cNvSpPr>
          <p:nvPr>
            <p:ph type="sldNum" idx="17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6CAB9A1-DD91-4DD6-8850-B0D486BB19E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2" name="PlaceHolder 1"/>
          <p:cNvSpPr>
            <a:spLocks noGrp="1"/>
          </p:cNvSpPr>
          <p:nvPr>
            <p:ph type="sldImg"/>
          </p:nvPr>
        </p:nvSpPr>
        <p:spPr>
          <a:xfrm>
            <a:off x="685800" y="1143000"/>
            <a:ext cx="5485680" cy="3085560"/>
          </a:xfrm>
          <a:prstGeom prst="rect">
            <a:avLst/>
          </a:prstGeom>
          <a:ln w="0">
            <a:noFill/>
          </a:ln>
        </p:spPr>
      </p:sp>
      <p:sp>
        <p:nvSpPr>
          <p:cNvPr id="321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14" name="PlaceHolder 3"/>
          <p:cNvSpPr>
            <a:spLocks noGrp="1"/>
          </p:cNvSpPr>
          <p:nvPr>
            <p:ph type="sldNum" idx="17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DD3329A9-06B8-4378-AF32-30C19FAC627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5" name="PlaceHolder 1"/>
          <p:cNvSpPr>
            <a:spLocks noGrp="1"/>
          </p:cNvSpPr>
          <p:nvPr>
            <p:ph type="sldImg"/>
          </p:nvPr>
        </p:nvSpPr>
        <p:spPr>
          <a:xfrm>
            <a:off x="685800" y="1143000"/>
            <a:ext cx="5485680" cy="3085560"/>
          </a:xfrm>
          <a:prstGeom prst="rect">
            <a:avLst/>
          </a:prstGeom>
          <a:ln w="0">
            <a:noFill/>
          </a:ln>
        </p:spPr>
      </p:sp>
      <p:sp>
        <p:nvSpPr>
          <p:cNvPr id="321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17" name="PlaceHolder 3"/>
          <p:cNvSpPr>
            <a:spLocks noGrp="1"/>
          </p:cNvSpPr>
          <p:nvPr>
            <p:ph type="sldNum" idx="17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4B7314D-89FB-4129-950D-B21E7B43A99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8" name="PlaceHolder 1"/>
          <p:cNvSpPr>
            <a:spLocks noGrp="1"/>
          </p:cNvSpPr>
          <p:nvPr>
            <p:ph type="sldImg"/>
          </p:nvPr>
        </p:nvSpPr>
        <p:spPr>
          <a:xfrm>
            <a:off x="685800" y="1143000"/>
            <a:ext cx="5485680" cy="3085560"/>
          </a:xfrm>
          <a:prstGeom prst="rect">
            <a:avLst/>
          </a:prstGeom>
          <a:ln w="0">
            <a:noFill/>
          </a:ln>
        </p:spPr>
      </p:sp>
      <p:sp>
        <p:nvSpPr>
          <p:cNvPr id="321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0" name="PlaceHolder 3"/>
          <p:cNvSpPr>
            <a:spLocks noGrp="1"/>
          </p:cNvSpPr>
          <p:nvPr>
            <p:ph type="sldNum" idx="17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6612E80-8B32-4CD8-954B-1E6463DE5D5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1" name="PlaceHolder 1"/>
          <p:cNvSpPr>
            <a:spLocks noGrp="1"/>
          </p:cNvSpPr>
          <p:nvPr>
            <p:ph type="sldImg"/>
          </p:nvPr>
        </p:nvSpPr>
        <p:spPr>
          <a:xfrm>
            <a:off x="685800" y="1143000"/>
            <a:ext cx="5485680" cy="3085560"/>
          </a:xfrm>
          <a:prstGeom prst="rect">
            <a:avLst/>
          </a:prstGeom>
          <a:ln w="0">
            <a:noFill/>
          </a:ln>
        </p:spPr>
      </p:sp>
      <p:sp>
        <p:nvSpPr>
          <p:cNvPr id="322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3" name="PlaceHolder 3"/>
          <p:cNvSpPr>
            <a:spLocks noGrp="1"/>
          </p:cNvSpPr>
          <p:nvPr>
            <p:ph type="sldNum" idx="17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BDF1591-2EDE-4E9F-A8D3-9B67228A794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4" name="PlaceHolder 1"/>
          <p:cNvSpPr>
            <a:spLocks noGrp="1"/>
          </p:cNvSpPr>
          <p:nvPr>
            <p:ph type="sldImg"/>
          </p:nvPr>
        </p:nvSpPr>
        <p:spPr>
          <a:xfrm>
            <a:off x="685800" y="1143000"/>
            <a:ext cx="5485680" cy="3085560"/>
          </a:xfrm>
          <a:prstGeom prst="rect">
            <a:avLst/>
          </a:prstGeom>
          <a:ln w="0">
            <a:noFill/>
          </a:ln>
        </p:spPr>
      </p:sp>
      <p:sp>
        <p:nvSpPr>
          <p:cNvPr id="322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6" name="PlaceHolder 3"/>
          <p:cNvSpPr>
            <a:spLocks noGrp="1"/>
          </p:cNvSpPr>
          <p:nvPr>
            <p:ph type="sldNum" idx="17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43599E4-6150-41C6-B6BB-48A2E476674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7" name="PlaceHolder 1"/>
          <p:cNvSpPr>
            <a:spLocks noGrp="1"/>
          </p:cNvSpPr>
          <p:nvPr>
            <p:ph type="sldImg"/>
          </p:nvPr>
        </p:nvSpPr>
        <p:spPr>
          <a:xfrm>
            <a:off x="685800" y="1143000"/>
            <a:ext cx="5485680" cy="3085560"/>
          </a:xfrm>
          <a:prstGeom prst="rect">
            <a:avLst/>
          </a:prstGeom>
          <a:ln w="0">
            <a:noFill/>
          </a:ln>
        </p:spPr>
      </p:sp>
      <p:sp>
        <p:nvSpPr>
          <p:cNvPr id="322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29" name="PlaceHolder 3"/>
          <p:cNvSpPr>
            <a:spLocks noGrp="1"/>
          </p:cNvSpPr>
          <p:nvPr>
            <p:ph type="sldNum" idx="18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5CA1A1D-804A-4EE1-8C9E-0C6ADBA6C86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0" name="PlaceHolder 1"/>
          <p:cNvSpPr>
            <a:spLocks noGrp="1"/>
          </p:cNvSpPr>
          <p:nvPr>
            <p:ph type="sldImg"/>
          </p:nvPr>
        </p:nvSpPr>
        <p:spPr>
          <a:xfrm>
            <a:off x="685800" y="1143000"/>
            <a:ext cx="5485680" cy="3085560"/>
          </a:xfrm>
          <a:prstGeom prst="rect">
            <a:avLst/>
          </a:prstGeom>
          <a:ln w="0">
            <a:noFill/>
          </a:ln>
        </p:spPr>
      </p:sp>
      <p:sp>
        <p:nvSpPr>
          <p:cNvPr id="323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32" name="PlaceHolder 3"/>
          <p:cNvSpPr>
            <a:spLocks noGrp="1"/>
          </p:cNvSpPr>
          <p:nvPr>
            <p:ph type="sldNum" idx="18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14BF1F2-2BD5-4402-8E05-C0BCCA49229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3" name="PlaceHolder 1"/>
          <p:cNvSpPr>
            <a:spLocks noGrp="1"/>
          </p:cNvSpPr>
          <p:nvPr>
            <p:ph type="sldImg"/>
          </p:nvPr>
        </p:nvSpPr>
        <p:spPr>
          <a:xfrm>
            <a:off x="685800" y="1143000"/>
            <a:ext cx="5485680" cy="3085560"/>
          </a:xfrm>
          <a:prstGeom prst="rect">
            <a:avLst/>
          </a:prstGeom>
          <a:ln w="0">
            <a:noFill/>
          </a:ln>
        </p:spPr>
      </p:sp>
      <p:sp>
        <p:nvSpPr>
          <p:cNvPr id="323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35" name="PlaceHolder 3"/>
          <p:cNvSpPr>
            <a:spLocks noGrp="1"/>
          </p:cNvSpPr>
          <p:nvPr>
            <p:ph type="sldNum" idx="18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649CB4C-C677-494B-98A6-6930B03921D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6" name="PlaceHolder 1"/>
          <p:cNvSpPr>
            <a:spLocks noGrp="1"/>
          </p:cNvSpPr>
          <p:nvPr>
            <p:ph type="sldImg"/>
          </p:nvPr>
        </p:nvSpPr>
        <p:spPr>
          <a:xfrm>
            <a:off x="685800" y="1143000"/>
            <a:ext cx="5485680" cy="3085560"/>
          </a:xfrm>
          <a:prstGeom prst="rect">
            <a:avLst/>
          </a:prstGeom>
          <a:ln w="0">
            <a:noFill/>
          </a:ln>
        </p:spPr>
      </p:sp>
      <p:sp>
        <p:nvSpPr>
          <p:cNvPr id="32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38" name="PlaceHolder 3"/>
          <p:cNvSpPr>
            <a:spLocks noGrp="1"/>
          </p:cNvSpPr>
          <p:nvPr>
            <p:ph type="sldNum" idx="18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50D99CC-16D2-4073-9FC4-993771D2552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9" name="PlaceHolder 1"/>
          <p:cNvSpPr>
            <a:spLocks noGrp="1"/>
          </p:cNvSpPr>
          <p:nvPr>
            <p:ph type="sldImg"/>
          </p:nvPr>
        </p:nvSpPr>
        <p:spPr>
          <a:xfrm>
            <a:off x="685800" y="1143000"/>
            <a:ext cx="5485680" cy="3085560"/>
          </a:xfrm>
          <a:prstGeom prst="rect">
            <a:avLst/>
          </a:prstGeom>
          <a:ln w="0">
            <a:noFill/>
          </a:ln>
        </p:spPr>
      </p:sp>
      <p:sp>
        <p:nvSpPr>
          <p:cNvPr id="324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41" name="PlaceHolder 3"/>
          <p:cNvSpPr>
            <a:spLocks noGrp="1"/>
          </p:cNvSpPr>
          <p:nvPr>
            <p:ph type="sldNum" idx="18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0208551-39A0-4D2E-9CF7-05E723188F4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2" name="PlaceHolder 1"/>
          <p:cNvSpPr>
            <a:spLocks noGrp="1"/>
          </p:cNvSpPr>
          <p:nvPr>
            <p:ph type="sldImg"/>
          </p:nvPr>
        </p:nvSpPr>
        <p:spPr>
          <a:xfrm>
            <a:off x="685800" y="1143000"/>
            <a:ext cx="5485680" cy="3085560"/>
          </a:xfrm>
          <a:prstGeom prst="rect">
            <a:avLst/>
          </a:prstGeom>
          <a:ln w="0">
            <a:noFill/>
          </a:ln>
        </p:spPr>
      </p:sp>
      <p:sp>
        <p:nvSpPr>
          <p:cNvPr id="324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44" name="PlaceHolder 3"/>
          <p:cNvSpPr>
            <a:spLocks noGrp="1"/>
          </p:cNvSpPr>
          <p:nvPr>
            <p:ph type="sldNum" idx="18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3CFAF7F-8667-4632-A04A-A401F63B0DA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5" name="PlaceHolder 1"/>
          <p:cNvSpPr>
            <a:spLocks noGrp="1"/>
          </p:cNvSpPr>
          <p:nvPr>
            <p:ph type="sldImg"/>
          </p:nvPr>
        </p:nvSpPr>
        <p:spPr>
          <a:xfrm>
            <a:off x="685800" y="1143000"/>
            <a:ext cx="5485680" cy="3085560"/>
          </a:xfrm>
          <a:prstGeom prst="rect">
            <a:avLst/>
          </a:prstGeom>
          <a:ln w="0">
            <a:noFill/>
          </a:ln>
        </p:spPr>
      </p:sp>
      <p:sp>
        <p:nvSpPr>
          <p:cNvPr id="324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47" name="PlaceHolder 3"/>
          <p:cNvSpPr>
            <a:spLocks noGrp="1"/>
          </p:cNvSpPr>
          <p:nvPr>
            <p:ph type="sldNum" idx="18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5F2B453-3264-4ECD-88D3-F2FA99260C5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8" name="PlaceHolder 1"/>
          <p:cNvSpPr>
            <a:spLocks noGrp="1"/>
          </p:cNvSpPr>
          <p:nvPr>
            <p:ph type="sldImg"/>
          </p:nvPr>
        </p:nvSpPr>
        <p:spPr>
          <a:xfrm>
            <a:off x="685800" y="1143000"/>
            <a:ext cx="5485680" cy="3085560"/>
          </a:xfrm>
          <a:prstGeom prst="rect">
            <a:avLst/>
          </a:prstGeom>
          <a:ln w="0">
            <a:noFill/>
          </a:ln>
        </p:spPr>
      </p:sp>
      <p:sp>
        <p:nvSpPr>
          <p:cNvPr id="324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0" name="PlaceHolder 3"/>
          <p:cNvSpPr>
            <a:spLocks noGrp="1"/>
          </p:cNvSpPr>
          <p:nvPr>
            <p:ph type="sldNum" idx="18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A1516B1-8BD7-4A1F-B17D-747942D5398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1" name="PlaceHolder 1"/>
          <p:cNvSpPr>
            <a:spLocks noGrp="1"/>
          </p:cNvSpPr>
          <p:nvPr>
            <p:ph type="sldImg"/>
          </p:nvPr>
        </p:nvSpPr>
        <p:spPr>
          <a:xfrm>
            <a:off x="685800" y="1143000"/>
            <a:ext cx="5485680" cy="3085560"/>
          </a:xfrm>
          <a:prstGeom prst="rect">
            <a:avLst/>
          </a:prstGeom>
          <a:ln w="0">
            <a:noFill/>
          </a:ln>
        </p:spPr>
      </p:sp>
      <p:sp>
        <p:nvSpPr>
          <p:cNvPr id="325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3" name="PlaceHolder 3"/>
          <p:cNvSpPr>
            <a:spLocks noGrp="1"/>
          </p:cNvSpPr>
          <p:nvPr>
            <p:ph type="sldNum" idx="18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6171FD8C-1371-4C0D-B2D1-3C23A01A6EB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4" name="PlaceHolder 1"/>
          <p:cNvSpPr>
            <a:spLocks noGrp="1"/>
          </p:cNvSpPr>
          <p:nvPr>
            <p:ph type="sldImg"/>
          </p:nvPr>
        </p:nvSpPr>
        <p:spPr>
          <a:xfrm>
            <a:off x="685800" y="1143000"/>
            <a:ext cx="5484960" cy="3084840"/>
          </a:xfrm>
          <a:prstGeom prst="rect">
            <a:avLst/>
          </a:prstGeom>
          <a:ln w="0">
            <a:noFill/>
          </a:ln>
        </p:spPr>
      </p:sp>
      <p:sp>
        <p:nvSpPr>
          <p:cNvPr id="3255"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6" name="PlaceHolder 3"/>
          <p:cNvSpPr>
            <a:spLocks noGrp="1"/>
          </p:cNvSpPr>
          <p:nvPr>
            <p:ph type="sldNum" idx="189"/>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BC65DA3-456F-4F5F-A9AA-892A516160D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7" name="PlaceHolder 1"/>
          <p:cNvSpPr>
            <a:spLocks noGrp="1"/>
          </p:cNvSpPr>
          <p:nvPr>
            <p:ph type="sldImg"/>
          </p:nvPr>
        </p:nvSpPr>
        <p:spPr>
          <a:xfrm>
            <a:off x="685800" y="1143000"/>
            <a:ext cx="5484960" cy="3084840"/>
          </a:xfrm>
          <a:prstGeom prst="rect">
            <a:avLst/>
          </a:prstGeom>
          <a:ln w="0">
            <a:noFill/>
          </a:ln>
        </p:spPr>
      </p:sp>
      <p:sp>
        <p:nvSpPr>
          <p:cNvPr id="3258"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59" name="PlaceHolder 3"/>
          <p:cNvSpPr>
            <a:spLocks noGrp="1"/>
          </p:cNvSpPr>
          <p:nvPr>
            <p:ph type="sldNum" idx="190"/>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904F384-EBA0-4256-8530-59F7691F138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0" name="PlaceHolder 1"/>
          <p:cNvSpPr>
            <a:spLocks noGrp="1"/>
          </p:cNvSpPr>
          <p:nvPr>
            <p:ph type="sldImg"/>
          </p:nvPr>
        </p:nvSpPr>
        <p:spPr>
          <a:xfrm>
            <a:off x="685800" y="1143000"/>
            <a:ext cx="5484960" cy="3084840"/>
          </a:xfrm>
          <a:prstGeom prst="rect">
            <a:avLst/>
          </a:prstGeom>
          <a:ln w="0">
            <a:noFill/>
          </a:ln>
        </p:spPr>
      </p:sp>
      <p:sp>
        <p:nvSpPr>
          <p:cNvPr id="3261"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62" name="PlaceHolder 3"/>
          <p:cNvSpPr>
            <a:spLocks noGrp="1"/>
          </p:cNvSpPr>
          <p:nvPr>
            <p:ph type="sldNum" idx="191"/>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99B21B4-22EB-49FC-9705-41829C53343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3" name="PlaceHolder 1"/>
          <p:cNvSpPr>
            <a:spLocks noGrp="1"/>
          </p:cNvSpPr>
          <p:nvPr>
            <p:ph type="sldImg"/>
          </p:nvPr>
        </p:nvSpPr>
        <p:spPr>
          <a:xfrm>
            <a:off x="685800" y="1143000"/>
            <a:ext cx="5484960" cy="3084840"/>
          </a:xfrm>
          <a:prstGeom prst="rect">
            <a:avLst/>
          </a:prstGeom>
          <a:ln w="0">
            <a:noFill/>
          </a:ln>
        </p:spPr>
      </p:sp>
      <p:sp>
        <p:nvSpPr>
          <p:cNvPr id="3264"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65" name="PlaceHolder 3"/>
          <p:cNvSpPr>
            <a:spLocks noGrp="1"/>
          </p:cNvSpPr>
          <p:nvPr>
            <p:ph type="sldNum" idx="192"/>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CB76B7E-D936-4570-8A09-9FC8ADE868D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6" name="PlaceHolder 1"/>
          <p:cNvSpPr>
            <a:spLocks noGrp="1"/>
          </p:cNvSpPr>
          <p:nvPr>
            <p:ph type="sldImg"/>
          </p:nvPr>
        </p:nvSpPr>
        <p:spPr>
          <a:xfrm>
            <a:off x="685800" y="1143000"/>
            <a:ext cx="5484960" cy="3084840"/>
          </a:xfrm>
          <a:prstGeom prst="rect">
            <a:avLst/>
          </a:prstGeom>
          <a:ln w="0">
            <a:noFill/>
          </a:ln>
        </p:spPr>
      </p:sp>
      <p:sp>
        <p:nvSpPr>
          <p:cNvPr id="3267"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68" name="PlaceHolder 3"/>
          <p:cNvSpPr>
            <a:spLocks noGrp="1"/>
          </p:cNvSpPr>
          <p:nvPr>
            <p:ph type="sldNum" idx="193"/>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CF4A6AA-EB91-4FFF-8F12-1973A90B856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9" name="PlaceHolder 1"/>
          <p:cNvSpPr>
            <a:spLocks noGrp="1"/>
          </p:cNvSpPr>
          <p:nvPr>
            <p:ph type="sldImg"/>
          </p:nvPr>
        </p:nvSpPr>
        <p:spPr>
          <a:xfrm>
            <a:off x="685800" y="1143000"/>
            <a:ext cx="5484960" cy="3084840"/>
          </a:xfrm>
          <a:prstGeom prst="rect">
            <a:avLst/>
          </a:prstGeom>
          <a:ln w="0">
            <a:noFill/>
          </a:ln>
        </p:spPr>
      </p:sp>
      <p:sp>
        <p:nvSpPr>
          <p:cNvPr id="3270"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71" name="PlaceHolder 3"/>
          <p:cNvSpPr>
            <a:spLocks noGrp="1"/>
          </p:cNvSpPr>
          <p:nvPr>
            <p:ph type="sldNum" idx="194"/>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023F14B-FABD-459D-A335-7CBB13788C3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2" name="PlaceHolder 1"/>
          <p:cNvSpPr>
            <a:spLocks noGrp="1"/>
          </p:cNvSpPr>
          <p:nvPr>
            <p:ph type="sldImg"/>
          </p:nvPr>
        </p:nvSpPr>
        <p:spPr>
          <a:xfrm>
            <a:off x="685800" y="1143000"/>
            <a:ext cx="5484960" cy="3084840"/>
          </a:xfrm>
          <a:prstGeom prst="rect">
            <a:avLst/>
          </a:prstGeom>
          <a:ln w="0">
            <a:noFill/>
          </a:ln>
        </p:spPr>
      </p:sp>
      <p:sp>
        <p:nvSpPr>
          <p:cNvPr id="3273" name="PlaceHolder 2"/>
          <p:cNvSpPr>
            <a:spLocks noGrp="1"/>
          </p:cNvSpPr>
          <p:nvPr>
            <p:ph type="body"/>
          </p:nvPr>
        </p:nvSpPr>
        <p:spPr>
          <a:xfrm>
            <a:off x="685800" y="4400640"/>
            <a:ext cx="5484960" cy="359892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3274" name="PlaceHolder 3"/>
          <p:cNvSpPr>
            <a:spLocks noGrp="1"/>
          </p:cNvSpPr>
          <p:nvPr>
            <p:ph type="sldNum" idx="195"/>
          </p:nvPr>
        </p:nvSpPr>
        <p:spPr>
          <a:xfrm>
            <a:off x="3884760" y="868536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16336BA-EF42-4F76-B44A-CBDB77A6D30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1934995E-07F4-4960-A31C-33C74F1895E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515D860B-C4B3-425A-AF92-9482E900E9F1}"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png"/><Relationship Id="rId3"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ffffff"/>
                </a:solidFill>
                <a:latin typeface="Arial"/>
              </a:rPr>
              <a:t>Click to edit the title text format</a:t>
            </a:r>
            <a:endParaRPr b="0" lang="en-US" sz="4400" spc="-1" strike="noStrike">
              <a:solidFill>
                <a:srgbClr val="ffffff"/>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rgbClr val="ffffff"/>
                </a:solidFill>
                <a:latin typeface="Arial"/>
              </a:rPr>
              <a:t>Click to edit the outline text format</a:t>
            </a:r>
            <a:endParaRPr b="0" lang="en-US" sz="3200" spc="-1" strike="noStrike">
              <a:solidFill>
                <a:srgbClr val="ffffff"/>
              </a:solidFill>
              <a:latin typeface="Arial"/>
            </a:endParaRPr>
          </a:p>
          <a:p>
            <a:pPr lvl="1" marL="864000" indent="-324000">
              <a:spcBef>
                <a:spcPts val="1134"/>
              </a:spcBef>
              <a:buClr>
                <a:srgbClr val="ffffff"/>
              </a:buClr>
              <a:buSzPct val="75000"/>
              <a:buFont typeface="Symbol" charset="2"/>
              <a:buChar char=""/>
            </a:pPr>
            <a:r>
              <a:rPr b="0" lang="en-US" sz="2800" spc="-1" strike="noStrike">
                <a:solidFill>
                  <a:srgbClr val="ffffff"/>
                </a:solidFill>
                <a:latin typeface="Arial"/>
              </a:rPr>
              <a:t>Second Outline Level</a:t>
            </a:r>
            <a:endParaRPr b="0" lang="en-US" sz="2800" spc="-1" strike="noStrike">
              <a:solidFill>
                <a:srgbClr val="ffffff"/>
              </a:solidFill>
              <a:latin typeface="Arial"/>
            </a:endParaRPr>
          </a:p>
          <a:p>
            <a:pPr lvl="2" marL="1296000" indent="-288000">
              <a:spcBef>
                <a:spcPts val="850"/>
              </a:spcBef>
              <a:buClr>
                <a:srgbClr val="ffffff"/>
              </a:buClr>
              <a:buSzPct val="45000"/>
              <a:buFont typeface="Wingdings" charset="2"/>
              <a:buChar char=""/>
            </a:pPr>
            <a:r>
              <a:rPr b="0" lang="en-US" sz="2400" spc="-1" strike="noStrike">
                <a:solidFill>
                  <a:srgbClr val="ffffff"/>
                </a:solidFill>
                <a:latin typeface="Arial"/>
              </a:rPr>
              <a:t>Third Outline Level</a:t>
            </a:r>
            <a:endParaRPr b="0" lang="en-US" sz="2400" spc="-1" strike="noStrike">
              <a:solidFill>
                <a:srgbClr val="ffffff"/>
              </a:solidFill>
              <a:latin typeface="Arial"/>
            </a:endParaRPr>
          </a:p>
          <a:p>
            <a:pPr lvl="3" marL="1728000" indent="-216000">
              <a:spcBef>
                <a:spcPts val="567"/>
              </a:spcBef>
              <a:buClr>
                <a:srgbClr val="ffffff"/>
              </a:buClr>
              <a:buSzPct val="75000"/>
              <a:buFont typeface="Symbol" charset="2"/>
              <a:buChar char=""/>
            </a:pPr>
            <a:r>
              <a:rPr b="0" lang="en-US" sz="2000" spc="-1" strike="noStrike">
                <a:solidFill>
                  <a:srgbClr val="ffffff"/>
                </a:solidFill>
                <a:latin typeface="Arial"/>
              </a:rPr>
              <a:t>Fourth Outline Level</a:t>
            </a:r>
            <a:endParaRPr b="0" lang="en-US" sz="2000" spc="-1" strike="noStrike">
              <a:solidFill>
                <a:srgbClr val="ffffff"/>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ffffff"/>
                </a:solidFill>
                <a:latin typeface="Arial"/>
              </a:rPr>
              <a:t>Fifth Outline Level</a:t>
            </a:r>
            <a:endParaRPr b="0" lang="en-US" sz="2000" spc="-1" strike="noStrike">
              <a:solidFill>
                <a:srgbClr val="ffffff"/>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ffffff"/>
                </a:solidFill>
                <a:latin typeface="Arial"/>
              </a:rPr>
              <a:t>Sixth Outline Level</a:t>
            </a:r>
            <a:endParaRPr b="0" lang="en-US" sz="2000" spc="-1" strike="noStrike">
              <a:solidFill>
                <a:srgbClr val="ffffff"/>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ffffff"/>
                </a:solidFill>
                <a:latin typeface="Arial"/>
              </a:rPr>
              <a:t>Seventh Outline Level</a:t>
            </a:r>
            <a:endParaRPr b="0" lang="en-US" sz="2000" spc="-1" strike="noStrike">
              <a:solidFill>
                <a:srgbClr val="ffffff"/>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603000" y="6134400"/>
            <a:ext cx="10985400" cy="330120"/>
          </a:xfrm>
          <a:prstGeom prst="rect">
            <a:avLst/>
          </a:prstGeom>
          <a:noFill/>
          <a:ln w="12600">
            <a:noFill/>
          </a:ln>
        </p:spPr>
        <p:txBody>
          <a:bodyPr lIns="45720" rIns="45720" tIns="45720" bIns="45720" anchor="b">
            <a:noAutofit/>
          </a:bodyPr>
          <a:p>
            <a:pPr indent="0" defTabSz="825480">
              <a:lnSpc>
                <a:spcPct val="100000"/>
              </a:lnSpc>
              <a:buNone/>
              <a:tabLst>
                <a:tab algn="l" pos="0"/>
              </a:tabLst>
            </a:pPr>
            <a:r>
              <a:rPr b="0" lang="en-US" sz="3300" spc="-1" strike="noStrike">
                <a:solidFill>
                  <a:schemeClr val="accent1">
                    <a:lumOff val="-32670"/>
                  </a:schemeClr>
                </a:solidFill>
                <a:latin typeface="Produkt Light"/>
                <a:ea typeface="Produkt Light"/>
              </a:rPr>
              <a:t>Author and Date</a:t>
            </a:r>
            <a:endParaRPr b="0" lang="en-US" sz="3300" spc="-1" strike="noStrike">
              <a:solidFill>
                <a:schemeClr val="accent1">
                  <a:lumOff val="-32670"/>
                </a:schemeClr>
              </a:solidFill>
              <a:latin typeface="Graphik Light"/>
            </a:endParaRPr>
          </a:p>
        </p:txBody>
      </p:sp>
      <p:sp>
        <p:nvSpPr>
          <p:cNvPr id="3" name="PlaceHolder 2"/>
          <p:cNvSpPr>
            <a:spLocks noGrp="1"/>
          </p:cNvSpPr>
          <p:nvPr>
            <p:ph type="body"/>
          </p:nvPr>
        </p:nvSpPr>
        <p:spPr>
          <a:xfrm>
            <a:off x="603000" y="3676680"/>
            <a:ext cx="10985400" cy="1003320"/>
          </a:xfrm>
          <a:prstGeom prst="rect">
            <a:avLst/>
          </a:prstGeom>
          <a:noFill/>
          <a:ln w="12600">
            <a:noFill/>
          </a:ln>
        </p:spPr>
        <p:txBody>
          <a:bodyPr lIns="50760" rIns="50760" tIns="50760" bIns="50760" anchor="t">
            <a:noAutofit/>
          </a:bodyPr>
          <a:p>
            <a:pPr indent="0" defTabSz="825480">
              <a:lnSpc>
                <a:spcPct val="100000"/>
              </a:lnSpc>
              <a:buNone/>
              <a:tabLst>
                <a:tab algn="l" pos="0"/>
              </a:tabLst>
            </a:pPr>
            <a:r>
              <a:rPr b="0" lang="en-US" sz="5500" spc="-1" strike="noStrike">
                <a:solidFill>
                  <a:schemeClr val="accent1">
                    <a:lumOff val="-32670"/>
                  </a:schemeClr>
                </a:solidFill>
                <a:latin typeface="Produkt Extralight"/>
                <a:ea typeface="Produkt Extralight"/>
              </a:rPr>
              <a:t>Presentation Subtitle</a:t>
            </a: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a:p>
            <a:pPr indent="0" defTabSz="825480">
              <a:lnSpc>
                <a:spcPct val="100000"/>
              </a:lnSpc>
              <a:buNone/>
              <a:tabLst>
                <a:tab algn="l" pos="0"/>
              </a:tabLst>
            </a:pPr>
            <a:endParaRPr b="0" lang="en-US" sz="5500" spc="-1" strike="noStrike">
              <a:solidFill>
                <a:schemeClr val="accent1">
                  <a:lumOff val="-32670"/>
                </a:schemeClr>
              </a:solidFill>
              <a:latin typeface="Graphik Light"/>
            </a:endParaRPr>
          </a:p>
        </p:txBody>
      </p:sp>
      <p:sp>
        <p:nvSpPr>
          <p:cNvPr id="4" name="PlaceHolder 3"/>
          <p:cNvSpPr>
            <a:spLocks noGrp="1"/>
          </p:cNvSpPr>
          <p:nvPr>
            <p:ph type="title"/>
          </p:nvPr>
        </p:nvSpPr>
        <p:spPr>
          <a:xfrm>
            <a:off x="603000" y="1307880"/>
            <a:ext cx="10985400" cy="2324160"/>
          </a:xfrm>
          <a:prstGeom prst="rect">
            <a:avLst/>
          </a:prstGeom>
          <a:noFill/>
          <a:ln w="12600">
            <a:noFill/>
          </a:ln>
        </p:spPr>
        <p:txBody>
          <a:bodyPr lIns="50760" rIns="50760" tIns="50760" bIns="50760" anchor="b">
            <a:noAutofit/>
          </a:bodyPr>
          <a:p>
            <a:pPr indent="0" defTabSz="355680">
              <a:lnSpc>
                <a:spcPct val="90000"/>
              </a:lnSpc>
              <a:buNone/>
              <a:tabLst>
                <a:tab algn="l" pos="0"/>
              </a:tabLst>
            </a:pPr>
            <a:r>
              <a:rPr b="0" lang="en-US" sz="12000" spc="-120" strike="noStrike">
                <a:solidFill>
                  <a:schemeClr val="accent1">
                    <a:lumOff val="-32670"/>
                  </a:schemeClr>
                </a:solidFill>
                <a:latin typeface="Produkt Extralight"/>
                <a:ea typeface="Produkt Extralight"/>
              </a:rPr>
              <a:t>Presentation Title</a:t>
            </a:r>
            <a:endParaRPr b="0" lang="en-US" sz="12000" spc="-1" strike="noStrike">
              <a:solidFill>
                <a:schemeClr val="accent1">
                  <a:lumOff val="-32670"/>
                </a:schemeClr>
              </a:solidFill>
              <a:latin typeface="Graphik Light"/>
            </a:endParaRPr>
          </a:p>
        </p:txBody>
      </p:sp>
      <p:sp>
        <p:nvSpPr>
          <p:cNvPr id="5" name="PlaceHolder 4"/>
          <p:cNvSpPr>
            <a:spLocks noGrp="1"/>
          </p:cNvSpPr>
          <p:nvPr>
            <p:ph type="sldNum" idx="1"/>
          </p:nvPr>
        </p:nvSpPr>
        <p:spPr>
          <a:xfrm>
            <a:off x="11779200" y="6230160"/>
            <a:ext cx="194400" cy="214560"/>
          </a:xfrm>
          <a:prstGeom prst="rect">
            <a:avLst/>
          </a:prstGeom>
          <a:noFill/>
          <a:ln w="12600">
            <a:noFill/>
          </a:ln>
        </p:spPr>
        <p:txBody>
          <a:bodyPr lIns="50760" rIns="50760" tIns="50760" bIns="50760" anchor="b">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1152360" y="828720"/>
            <a:ext cx="9887040" cy="644760"/>
          </a:xfrm>
          <a:prstGeom prst="rect">
            <a:avLst/>
          </a:prstGeom>
          <a:noFill/>
          <a:ln w="12600">
            <a:noFill/>
          </a:ln>
        </p:spPr>
        <p:txBody>
          <a:bodyPr lIns="45720" rIns="45720" tIns="45720" bIns="45720" anchor="t">
            <a:noAutofit/>
          </a:bodyPr>
          <a:p>
            <a:pPr indent="0" defTabSz="2438280">
              <a:lnSpc>
                <a:spcPct val="80000"/>
              </a:lnSpc>
              <a:buNone/>
              <a:tabLst>
                <a:tab algn="l" pos="0"/>
              </a:tabLst>
            </a:pPr>
            <a:r>
              <a:rPr b="1" lang="en-US" sz="8000" spc="-160" strike="noStrike">
                <a:solidFill>
                  <a:srgbClr val="000000"/>
                </a:solidFill>
                <a:latin typeface="Helvetica Neue"/>
                <a:ea typeface="Helvetica Neue"/>
              </a:rPr>
              <a:t>Slide Title</a:t>
            </a:r>
            <a:endParaRPr b="0" lang="en-US" sz="8000" spc="-1" strike="noStrike">
              <a:solidFill>
                <a:schemeClr val="accent1">
                  <a:lumOff val="-32670"/>
                </a:schemeClr>
              </a:solidFill>
              <a:latin typeface="Graphik Light"/>
            </a:endParaRPr>
          </a:p>
        </p:txBody>
      </p:sp>
      <p:sp>
        <p:nvSpPr>
          <p:cNvPr id="9" name="PlaceHolder 2"/>
          <p:cNvSpPr>
            <a:spLocks noGrp="1"/>
          </p:cNvSpPr>
          <p:nvPr>
            <p:ph type="body"/>
          </p:nvPr>
        </p:nvSpPr>
        <p:spPr>
          <a:xfrm>
            <a:off x="1152360" y="1410480"/>
            <a:ext cx="9887040" cy="420480"/>
          </a:xfrm>
          <a:prstGeom prst="rect">
            <a:avLst/>
          </a:prstGeom>
          <a:noFill/>
          <a:ln w="12600">
            <a:noFill/>
          </a:ln>
        </p:spPr>
        <p:txBody>
          <a:bodyPr lIns="41040" rIns="41040" tIns="41040" bIns="41040" anchor="t">
            <a:noAutofit/>
          </a:bodyPr>
          <a:p>
            <a:pPr indent="0" defTabSz="800640">
              <a:lnSpc>
                <a:spcPct val="100000"/>
              </a:lnSpc>
              <a:buNone/>
              <a:tabLst>
                <a:tab algn="l" pos="0"/>
              </a:tabLst>
            </a:pPr>
            <a:r>
              <a:rPr b="1" lang="en-US" sz="5050" spc="-1" strike="noStrike">
                <a:solidFill>
                  <a:srgbClr val="000000"/>
                </a:solidFill>
                <a:latin typeface="Helvetica Neue"/>
                <a:ea typeface="Helvetica Neue"/>
              </a:rPr>
              <a:t>Slide Subtitle</a:t>
            </a:r>
            <a:endParaRPr b="0" lang="en-US" sz="5050" spc="-1" strike="noStrike">
              <a:solidFill>
                <a:schemeClr val="accent1">
                  <a:lumOff val="-32670"/>
                </a:schemeClr>
              </a:solidFill>
              <a:latin typeface="Graphik Light"/>
            </a:endParaRPr>
          </a:p>
        </p:txBody>
      </p:sp>
      <p:sp>
        <p:nvSpPr>
          <p:cNvPr id="10" name="PlaceHolder 3"/>
          <p:cNvSpPr>
            <a:spLocks noGrp="1"/>
          </p:cNvSpPr>
          <p:nvPr>
            <p:ph type="body"/>
          </p:nvPr>
        </p:nvSpPr>
        <p:spPr>
          <a:xfrm>
            <a:off x="1152360" y="2254680"/>
            <a:ext cx="9887040" cy="3715200"/>
          </a:xfrm>
          <a:prstGeom prst="rect">
            <a:avLst/>
          </a:prstGeom>
          <a:noFill/>
          <a:ln w="12600">
            <a:noFill/>
          </a:ln>
        </p:spPr>
        <p:txBody>
          <a:bodyPr lIns="45720" rIns="45720" tIns="45720" bIns="45720" anchor="t">
            <a:noAutofit/>
          </a:bodyPr>
          <a:p>
            <a:pPr marL="609480" indent="-609480" defTabSz="2438280">
              <a:lnSpc>
                <a:spcPct val="90000"/>
              </a:lnSpc>
              <a:spcBef>
                <a:spcPts val="4501"/>
              </a:spcBef>
              <a:buClr>
                <a:srgbClr val="000000"/>
              </a:buClr>
              <a:buSzPct val="123000"/>
              <a:buFont typeface="Symbol" charset="2"/>
              <a:buChar char=""/>
            </a:pPr>
            <a:r>
              <a:rPr b="0" lang="en-US" sz="4800" spc="-1" strike="noStrike">
                <a:solidFill>
                  <a:srgbClr val="000000"/>
                </a:solidFill>
                <a:latin typeface="Helvetica Neue"/>
                <a:ea typeface="Helvetica Neue"/>
              </a:rPr>
              <a:t>Slide bullet text</a:t>
            </a: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a:p>
            <a:pPr indent="0" defTabSz="2438280">
              <a:lnSpc>
                <a:spcPct val="90000"/>
              </a:lnSpc>
              <a:spcBef>
                <a:spcPts val="4501"/>
              </a:spcBef>
              <a:buNone/>
            </a:pPr>
            <a:endParaRPr b="0" lang="en-US" sz="4800" spc="-1" strike="noStrike">
              <a:solidFill>
                <a:schemeClr val="accent1">
                  <a:lumOff val="-32670"/>
                </a:schemeClr>
              </a:solidFill>
              <a:latin typeface="Graphik Light"/>
            </a:endParaRPr>
          </a:p>
        </p:txBody>
      </p:sp>
      <p:sp>
        <p:nvSpPr>
          <p:cNvPr id="11" name="PlaceHolder 4"/>
          <p:cNvSpPr>
            <a:spLocks noGrp="1"/>
          </p:cNvSpPr>
          <p:nvPr>
            <p:ph type="sldNum" idx="2"/>
          </p:nvPr>
        </p:nvSpPr>
        <p:spPr>
          <a:xfrm>
            <a:off x="6010560" y="6240600"/>
            <a:ext cx="164880" cy="156960"/>
          </a:xfrm>
          <a:prstGeom prst="rect">
            <a:avLst/>
          </a:prstGeom>
          <a:noFill/>
          <a:ln w="12600">
            <a:noFill/>
          </a:ln>
        </p:spPr>
        <p:txBody>
          <a:bodyPr lIns="45720" rIns="45720" tIns="45720" bIns="45720" anchor="b">
            <a:noAutofit/>
          </a:bodyPr>
          <a:p>
            <a:pPr indent="0">
              <a:buNone/>
            </a:pPr>
            <a:endParaRPr b="0" lang="en-US" sz="16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
</Relationships>
</file>

<file path=ppt/slides/_rels/slide1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
</Relationships>
</file>

<file path=ppt/slides/_rels/slide1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
</Relationships>
</file>

<file path=ppt/slides/_rels/slide18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
</Relationships>
</file>

<file path=ppt/slides/_rels/slide18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
</Relationships>
</file>

<file path=ppt/slides/_rels/slide18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
</Relationships>
</file>

<file path=ppt/slides/_rels/slide19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 name="PlaceHolder 1"/>
          <p:cNvSpPr>
            <a:spLocks noGrp="1"/>
          </p:cNvSpPr>
          <p:nvPr>
            <p:ph/>
          </p:nvPr>
        </p:nvSpPr>
        <p:spPr>
          <a:xfrm>
            <a:off x="603000" y="6134400"/>
            <a:ext cx="10985400" cy="330120"/>
          </a:xfrm>
          <a:prstGeom prst="rect">
            <a:avLst/>
          </a:prstGeom>
          <a:noFill/>
          <a:ln w="12600">
            <a:noFill/>
          </a:ln>
        </p:spPr>
        <p:txBody>
          <a:bodyPr lIns="45720" rIns="45720" tIns="45720" bIns="45720" anchor="b">
            <a:noAutofit/>
          </a:bodyPr>
          <a:p>
            <a:pPr indent="0" defTabSz="825480">
              <a:lnSpc>
                <a:spcPct val="100000"/>
              </a:lnSpc>
              <a:buNone/>
              <a:tabLst>
                <a:tab algn="l" pos="0"/>
              </a:tabLst>
            </a:pPr>
            <a:r>
              <a:rPr b="0" lang="en-US" sz="3300" spc="-1" strike="noStrike">
                <a:solidFill>
                  <a:schemeClr val="accent4">
                    <a:lumOff val="9850"/>
                  </a:schemeClr>
                </a:solidFill>
                <a:latin typeface="Produkt Light"/>
                <a:ea typeface="Produkt Light"/>
              </a:rPr>
              <a:t>Edward C. Zimmermann, 15 Sept 2026</a:t>
            </a:r>
            <a:endParaRPr b="0" lang="en-US" sz="3300" spc="-1" strike="noStrike">
              <a:solidFill>
                <a:schemeClr val="accent1">
                  <a:lumOff val="-32670"/>
                </a:schemeClr>
              </a:solidFill>
              <a:latin typeface="Graphik Light"/>
            </a:endParaRPr>
          </a:p>
        </p:txBody>
      </p:sp>
      <p:sp>
        <p:nvSpPr>
          <p:cNvPr id="21" name="PlaceHolder 2"/>
          <p:cNvSpPr>
            <a:spLocks noGrp="1"/>
          </p:cNvSpPr>
          <p:nvPr>
            <p:ph type="subTitle"/>
          </p:nvPr>
        </p:nvSpPr>
        <p:spPr>
          <a:xfrm>
            <a:off x="603000" y="3676680"/>
            <a:ext cx="10985400" cy="1003320"/>
          </a:xfrm>
          <a:prstGeom prst="rect">
            <a:avLst/>
          </a:prstGeom>
          <a:noFill/>
          <a:ln w="12600">
            <a:noFill/>
          </a:ln>
        </p:spPr>
        <p:txBody>
          <a:bodyPr lIns="50760" rIns="50760" tIns="50760" bIns="50760" anchor="t">
            <a:noAutofit/>
          </a:bodyPr>
          <a:p>
            <a:pPr indent="0" defTabSz="825480">
              <a:lnSpc>
                <a:spcPct val="100000"/>
              </a:lnSpc>
              <a:buNone/>
              <a:tabLst>
                <a:tab algn="l" pos="0"/>
              </a:tabLst>
            </a:pPr>
            <a:r>
              <a:rPr b="0" lang="en-US" sz="4800" spc="-1" strike="noStrike">
                <a:solidFill>
                  <a:schemeClr val="accent4">
                    <a:lumOff val="9850"/>
                  </a:schemeClr>
                </a:solidFill>
                <a:latin typeface="Produkt Extralight"/>
                <a:ea typeface="Produkt Extralight"/>
              </a:rPr>
              <a:t>Rust for Advanced C++ Developers.</a:t>
            </a:r>
            <a:endParaRPr b="0" lang="en-US" sz="4800" spc="-1" strike="noStrike">
              <a:solidFill>
                <a:srgbClr val="ffffff"/>
              </a:solidFill>
              <a:latin typeface="Arial"/>
            </a:endParaRPr>
          </a:p>
        </p:txBody>
      </p:sp>
      <p:sp>
        <p:nvSpPr>
          <p:cNvPr id="22" name="PlaceHolder 3"/>
          <p:cNvSpPr>
            <a:spLocks noGrp="1"/>
          </p:cNvSpPr>
          <p:nvPr>
            <p:ph type="title"/>
          </p:nvPr>
        </p:nvSpPr>
        <p:spPr>
          <a:xfrm>
            <a:off x="603000" y="1307880"/>
            <a:ext cx="10985400" cy="2324160"/>
          </a:xfrm>
          <a:prstGeom prst="rect">
            <a:avLst/>
          </a:prstGeom>
          <a:noFill/>
          <a:ln w="12600">
            <a:noFill/>
          </a:ln>
        </p:spPr>
        <p:txBody>
          <a:bodyPr lIns="50760" rIns="50760" tIns="50760" bIns="50760" anchor="b">
            <a:noAutofit/>
          </a:bodyPr>
          <a:p>
            <a:pPr indent="0" defTabSz="355680">
              <a:lnSpc>
                <a:spcPct val="90000"/>
              </a:lnSpc>
              <a:buNone/>
              <a:tabLst>
                <a:tab algn="l" pos="0"/>
              </a:tabLst>
            </a:pPr>
            <a:r>
              <a:rPr b="0" lang="en-US" sz="8750" spc="-120" strike="noStrike">
                <a:solidFill>
                  <a:srgbClr val="ffffff"/>
                </a:solidFill>
                <a:latin typeface="Produkt Extralight"/>
                <a:ea typeface="Produkt Extralight"/>
              </a:rPr>
              <a:t>Introduction to Rust</a:t>
            </a:r>
            <a:endParaRPr b="0" lang="en-US" sz="8750" spc="-1" strike="noStrike">
              <a:solidFill>
                <a:schemeClr val="accent1">
                  <a:lumOff val="-32670"/>
                </a:schemeClr>
              </a:solidFill>
              <a:latin typeface="Graphik Ligh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 name="Text 0"/>
          <p:cNvSpPr/>
          <p:nvPr/>
        </p:nvSpPr>
        <p:spPr>
          <a:xfrm>
            <a:off x="548640" y="1508760"/>
            <a:ext cx="7313760" cy="1004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200" spc="-1" strike="noStrike">
                <a:solidFill>
                  <a:srgbClr val="e8804f"/>
                </a:solidFill>
                <a:latin typeface="Arial"/>
                <a:ea typeface="Arial"/>
              </a:rPr>
              <a:t>RUST</a:t>
            </a:r>
            <a:endParaRPr b="0" lang="en-US" sz="5200" spc="-1" strike="noStrike">
              <a:solidFill>
                <a:srgbClr val="ffffff"/>
              </a:solidFill>
              <a:latin typeface="Arial"/>
            </a:endParaRPr>
          </a:p>
        </p:txBody>
      </p:sp>
      <p:sp>
        <p:nvSpPr>
          <p:cNvPr id="24" name="Text 1"/>
          <p:cNvSpPr/>
          <p:nvPr/>
        </p:nvSpPr>
        <p:spPr>
          <a:xfrm>
            <a:off x="548640" y="2286000"/>
            <a:ext cx="959976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2200" spc="-1" strike="noStrike">
                <a:solidFill>
                  <a:srgbClr val="edeff4"/>
                </a:solidFill>
                <a:latin typeface="Arial"/>
                <a:ea typeface="Arial"/>
              </a:rPr>
              <a:t>An Introduction for Experienced C++ Developers</a:t>
            </a:r>
            <a:endParaRPr b="0" lang="en-US" sz="2200" spc="-1" strike="noStrike">
              <a:solidFill>
                <a:srgbClr val="ffffff"/>
              </a:solidFill>
              <a:latin typeface="Arial"/>
            </a:endParaRPr>
          </a:p>
        </p:txBody>
      </p:sp>
      <p:sp>
        <p:nvSpPr>
          <p:cNvPr id="25" name="Text 2"/>
          <p:cNvSpPr/>
          <p:nvPr/>
        </p:nvSpPr>
        <p:spPr>
          <a:xfrm>
            <a:off x="548640" y="2788920"/>
            <a:ext cx="8228160" cy="410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400" spc="-1" strike="noStrike">
                <a:solidFill>
                  <a:srgbClr val="9aa4b8"/>
                </a:solidFill>
                <a:latin typeface="Arial"/>
                <a:ea typeface="Arial"/>
              </a:rPr>
              <a:t>Three-Day Intensive Course — Day 1: Foundations</a:t>
            </a:r>
            <a:endParaRPr b="0" lang="en-US" sz="1400" spc="-1" strike="noStrike">
              <a:solidFill>
                <a:srgbClr val="ffffff"/>
              </a:solidFill>
              <a:latin typeface="Arial"/>
            </a:endParaRPr>
          </a:p>
        </p:txBody>
      </p:sp>
      <p:sp>
        <p:nvSpPr>
          <p:cNvPr id="26" name="Shape 3"/>
          <p:cNvSpPr/>
          <p:nvPr/>
        </p:nvSpPr>
        <p:spPr>
          <a:xfrm>
            <a:off x="548640" y="3657600"/>
            <a:ext cx="11062800" cy="1415880"/>
          </a:xfrm>
          <a:prstGeom prst="roundRect">
            <a:avLst>
              <a:gd name="adj" fmla="val 516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 name="Text 4"/>
          <p:cNvSpPr/>
          <p:nvPr/>
        </p:nvSpPr>
        <p:spPr>
          <a:xfrm>
            <a:off x="54864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Ownership &amp; Borrowing</a:t>
            </a:r>
            <a:endParaRPr b="0" lang="en-US" sz="1150" spc="-1" strike="noStrike">
              <a:solidFill>
                <a:srgbClr val="ffffff"/>
              </a:solidFill>
              <a:latin typeface="Arial"/>
            </a:endParaRPr>
          </a:p>
        </p:txBody>
      </p:sp>
      <p:sp>
        <p:nvSpPr>
          <p:cNvPr id="28" name="Text 5"/>
          <p:cNvSpPr/>
          <p:nvPr/>
        </p:nvSpPr>
        <p:spPr>
          <a:xfrm>
            <a:off x="276156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Traits &amp; Generics</a:t>
            </a:r>
            <a:endParaRPr b="0" lang="en-US" sz="1150" spc="-1" strike="noStrike">
              <a:solidFill>
                <a:srgbClr val="ffffff"/>
              </a:solidFill>
              <a:latin typeface="Arial"/>
            </a:endParaRPr>
          </a:p>
        </p:txBody>
      </p:sp>
      <p:sp>
        <p:nvSpPr>
          <p:cNvPr id="29" name="Shape 6"/>
          <p:cNvSpPr/>
          <p:nvPr/>
        </p:nvSpPr>
        <p:spPr>
          <a:xfrm>
            <a:off x="276120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0" name="Text 7"/>
          <p:cNvSpPr/>
          <p:nvPr/>
        </p:nvSpPr>
        <p:spPr>
          <a:xfrm>
            <a:off x="497448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Fearless Concurrency</a:t>
            </a:r>
            <a:endParaRPr b="0" lang="en-US" sz="1150" spc="-1" strike="noStrike">
              <a:solidFill>
                <a:srgbClr val="ffffff"/>
              </a:solidFill>
              <a:latin typeface="Arial"/>
            </a:endParaRPr>
          </a:p>
        </p:txBody>
      </p:sp>
      <p:sp>
        <p:nvSpPr>
          <p:cNvPr id="31" name="Shape 8"/>
          <p:cNvSpPr/>
          <p:nvPr/>
        </p:nvSpPr>
        <p:spPr>
          <a:xfrm>
            <a:off x="497412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2" name="Text 9"/>
          <p:cNvSpPr/>
          <p:nvPr/>
        </p:nvSpPr>
        <p:spPr>
          <a:xfrm>
            <a:off x="718704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50" spc="-1" strike="noStrike">
                <a:solidFill>
                  <a:srgbClr val="edeff4"/>
                </a:solidFill>
                <a:latin typeface="Arial"/>
                <a:ea typeface="Arial"/>
              </a:rPr>
              <a:t>Unsafe &amp; FFI</a:t>
            </a:r>
            <a:endParaRPr b="0" lang="en-US" sz="1150" spc="-1" strike="noStrike">
              <a:solidFill>
                <a:srgbClr val="ffffff"/>
              </a:solidFill>
              <a:latin typeface="Arial"/>
            </a:endParaRPr>
          </a:p>
        </p:txBody>
      </p:sp>
      <p:sp>
        <p:nvSpPr>
          <p:cNvPr id="33" name="Shape 10"/>
          <p:cNvSpPr/>
          <p:nvPr/>
        </p:nvSpPr>
        <p:spPr>
          <a:xfrm>
            <a:off x="718704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4" name="Text 11"/>
          <p:cNvSpPr/>
          <p:nvPr/>
        </p:nvSpPr>
        <p:spPr>
          <a:xfrm>
            <a:off x="9399960" y="3931920"/>
            <a:ext cx="2211480" cy="867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e8804f"/>
                </a:solidFill>
                <a:latin typeface="Arial"/>
                <a:ea typeface="Arial"/>
              </a:rPr>
              <a:t>Toward CUDA in Rust</a:t>
            </a:r>
            <a:endParaRPr b="0" lang="en-US" sz="1150" spc="-1" strike="noStrike">
              <a:solidFill>
                <a:srgbClr val="ffffff"/>
              </a:solidFill>
              <a:latin typeface="Arial"/>
            </a:endParaRPr>
          </a:p>
        </p:txBody>
      </p:sp>
      <p:sp>
        <p:nvSpPr>
          <p:cNvPr id="35" name="Shape 12"/>
          <p:cNvSpPr/>
          <p:nvPr/>
        </p:nvSpPr>
        <p:spPr>
          <a:xfrm>
            <a:off x="9399960" y="3794760"/>
            <a:ext cx="360" cy="1143000"/>
          </a:xfrm>
          <a:prstGeom prst="line">
            <a:avLst/>
          </a:prstGeom>
          <a:ln w="12700">
            <a:solidFill>
              <a:srgbClr val="2b355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 name="Text 13"/>
          <p:cNvSpPr/>
          <p:nvPr/>
        </p:nvSpPr>
        <p:spPr>
          <a:xfrm>
            <a:off x="548640" y="5349240"/>
            <a:ext cx="10056960" cy="638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300" spc="-1" strike="noStrike">
                <a:solidFill>
                  <a:srgbClr val="9aa4b8"/>
                </a:solidFill>
                <a:latin typeface="Arial"/>
                <a:ea typeface="Arial"/>
              </a:rPr>
              <a:t>You already know C++17/20. This deck builds the map from what you know to what's different — and why it's worth learning.</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1152360" y="741600"/>
            <a:ext cx="9887040" cy="644760"/>
          </a:xfrm>
          <a:prstGeom prst="rect">
            <a:avLst/>
          </a:prstGeom>
          <a:noFill/>
          <a:ln w="12600">
            <a:noFill/>
          </a:ln>
        </p:spPr>
        <p:txBody>
          <a:bodyPr lIns="45720" rIns="45720" tIns="45720" bIns="45720" anchor="t">
            <a:noAutofit/>
          </a:bodyPr>
          <a:p>
            <a:pPr indent="0">
              <a:buNone/>
            </a:pPr>
            <a:r>
              <a:rPr b="0" lang="en-US" sz="2280" spc="-1" strike="noStrike">
                <a:solidFill>
                  <a:schemeClr val="accent1">
                    <a:lumOff val="-32670"/>
                  </a:schemeClr>
                </a:solidFill>
                <a:latin typeface="Graphik Light"/>
              </a:rPr>
              <a:t>Edward C. Zimmermann</a:t>
            </a:r>
            <a:endParaRPr b="0" lang="en-US" sz="2280" spc="-1" strike="noStrike">
              <a:solidFill>
                <a:schemeClr val="accent1">
                  <a:lumOff val="-32670"/>
                </a:schemeClr>
              </a:solidFill>
              <a:latin typeface="Graphik Light"/>
            </a:endParaRPr>
          </a:p>
        </p:txBody>
      </p:sp>
      <p:sp>
        <p:nvSpPr>
          <p:cNvPr id="38" name="PlaceHolder 2"/>
          <p:cNvSpPr>
            <a:spLocks noGrp="1"/>
          </p:cNvSpPr>
          <p:nvPr>
            <p:ph/>
          </p:nvPr>
        </p:nvSpPr>
        <p:spPr>
          <a:xfrm>
            <a:off x="857160" y="1412280"/>
            <a:ext cx="9887040" cy="4302720"/>
          </a:xfrm>
          <a:prstGeom prst="rect">
            <a:avLst/>
          </a:prstGeom>
          <a:noFill/>
          <a:ln w="12600">
            <a:noFill/>
          </a:ln>
        </p:spPr>
        <p:txBody>
          <a:bodyPr lIns="45720" rIns="45720" tIns="45720" bIns="45720" anchor="t">
            <a:noAutofit/>
          </a:bodyPr>
          <a:p>
            <a:pPr indent="0" algn="ctr" defTabSz="808920">
              <a:lnSpc>
                <a:spcPct val="100000"/>
              </a:lnSpc>
              <a:buNone/>
              <a:tabLst>
                <a:tab algn="l" pos="0"/>
              </a:tabLst>
            </a:pPr>
            <a:endParaRPr b="0" lang="en-US" sz="2740" spc="-1" strike="noStrike">
              <a:solidFill>
                <a:schemeClr val="accent1">
                  <a:lumOff val="-32670"/>
                </a:schemeClr>
              </a:solidFill>
              <a:latin typeface="Graphik Light"/>
            </a:endParaRPr>
          </a:p>
          <a:p>
            <a:pPr indent="0" algn="ctr" defTabSz="808920">
              <a:lnSpc>
                <a:spcPct val="100000"/>
              </a:lnSpc>
              <a:buNone/>
              <a:tabLst>
                <a:tab algn="l" pos="0"/>
              </a:tabLst>
            </a:pPr>
            <a:r>
              <a:rPr b="0" lang="en-US" sz="2100" spc="-1" strike="noStrike">
                <a:solidFill>
                  <a:srgbClr val="000000"/>
                </a:solidFill>
                <a:latin typeface="Chalkboard"/>
                <a:ea typeface="Chalkboard"/>
              </a:rPr>
              <a:t>A dominant focus of Ed's R&amp;D over the past 20+ years has been text retrieval, metadata, data mining, knowledge discovery, pattern recognition, NLP and machine learning. He has been a part of many publicaly funded projects, worked with German, EU and UN organizations and collaborated with a number of research institutes and national scientific agencies. His name is also associated with a large number of open source software packages. He has spoken at a number of conferences including several GTCs (NVIDIA’s GPU Conference) as well as FOSDEMs (the largest open source conference in the world)</a:t>
            </a:r>
            <a:r>
              <a:rPr b="0" lang="en-US" sz="2740" spc="-1" strike="noStrike">
                <a:solidFill>
                  <a:srgbClr val="000000"/>
                </a:solidFill>
                <a:latin typeface="Chalkboard"/>
                <a:ea typeface="Chalkboard"/>
              </a:rPr>
              <a:t>. </a:t>
            </a:r>
            <a:endParaRPr b="0" lang="en-US" sz="2740" spc="-1" strike="noStrike">
              <a:solidFill>
                <a:schemeClr val="accent1">
                  <a:lumOff val="-32670"/>
                </a:schemeClr>
              </a:solidFill>
              <a:latin typeface="Graphik Light"/>
            </a:endParaRPr>
          </a:p>
          <a:p>
            <a:pPr indent="0" algn="ctr" defTabSz="808920">
              <a:lnSpc>
                <a:spcPct val="100000"/>
              </a:lnSpc>
              <a:buNone/>
              <a:tabLst>
                <a:tab algn="l" pos="0"/>
              </a:tabLst>
            </a:pPr>
            <a:endParaRPr b="0" lang="en-US" sz="2740" spc="-1" strike="noStrike">
              <a:solidFill>
                <a:schemeClr val="accent1">
                  <a:lumOff val="-32670"/>
                </a:schemeClr>
              </a:solidFill>
              <a:latin typeface="Graphik Light"/>
            </a:endParaRPr>
          </a:p>
          <a:p>
            <a:pPr indent="0" algn="ctr" defTabSz="808920">
              <a:lnSpc>
                <a:spcPct val="100000"/>
              </a:lnSpc>
              <a:buNone/>
              <a:tabLst>
                <a:tab algn="l" pos="0"/>
              </a:tabLst>
            </a:pPr>
            <a:r>
              <a:rPr b="0" lang="en-US" sz="1800" spc="-1" strike="noStrike">
                <a:solidFill>
                  <a:srgbClr val="000000"/>
                </a:solidFill>
                <a:latin typeface="Chalkboard"/>
                <a:ea typeface="Chalkboard"/>
              </a:rPr>
              <a:t>His current projects for the public good have received numerous grants from the European Union (Next Generation Initiative), German research (BMBF, NLnet Foundation, SERI (Swiss State Secretariat for Research and Innovation) as well as the Mercator Foundation (Switzerland).</a:t>
            </a:r>
            <a:endParaRPr b="0" lang="en-US" sz="1800" spc="-1" strike="noStrike">
              <a:solidFill>
                <a:schemeClr val="accent1">
                  <a:lumOff val="-32670"/>
                </a:schemeClr>
              </a:solidFill>
              <a:latin typeface="Graphik Light"/>
            </a:endParaRPr>
          </a:p>
        </p:txBody>
      </p:sp>
      <p:pic>
        <p:nvPicPr>
          <p:cNvPr id="39" name="e0e8a0da1f8de022a0b56a776066f1635812b734c07f91d926a21b781cc2f3de.jpg 1" descr="e0e8a0da1f8de022a0b56a776066f1635812b734c07f91d926a21b781cc2f3de.jpg"/>
          <p:cNvPicPr/>
          <p:nvPr/>
        </p:nvPicPr>
        <p:blipFill>
          <a:blip r:embed="rId2"/>
          <a:stretch/>
        </p:blipFill>
        <p:spPr>
          <a:xfrm>
            <a:off x="10744200" y="228600"/>
            <a:ext cx="1257120" cy="1028520"/>
          </a:xfrm>
          <a:prstGeom prst="rect">
            <a:avLst/>
          </a:prstGeom>
          <a:ln w="12700">
            <a:noFill/>
          </a:ln>
        </p:spPr>
      </p:pic>
    </p:spTree>
  </p:cSld>
  <p:transition spd="med">
    <p:pull dir="r"/>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iterate type="el">
                                    <p:tmAbs val="0"/>
                                  </p:iterate>
                                  <p:childTnLst>
                                    <p:set>
                                      <p:cBhvr>
                                        <p:cTn id="6" fill="hold"/>
                                        <p:tgtEl>
                                          <p:spTgt spid="38"/>
                                        </p:tgtEl>
                                        <p:attrNameLst>
                                          <p:attrName>style.visibility</p:attrName>
                                        </p:attrNameLst>
                                      </p:cBhvr>
                                      <p:to>
                                        <p:strVal val="visible"/>
                                      </p:to>
                                    </p:set>
                                  </p:childTnLst>
                                </p:cTn>
                              </p:par>
                              <p:par>
                                <p:cTn id="7" nodeType="withEffect" fill="hold" presetClass="entr" presetID="1">
                                  <p:stCondLst>
                                    <p:cond delay="0"/>
                                  </p:stCondLst>
                                  <p:iterate type="el">
                                    <p:tmAbs val="0"/>
                                  </p:iterate>
                                  <p:childTnLst>
                                    <p:set>
                                      <p:cBhvr>
                                        <p:cTn id="8" fill="hold"/>
                                        <p:tgtEl>
                                          <p:spTgt spid="3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1">
                                  <p:stCondLst>
                                    <p:cond delay="0"/>
                                  </p:stCondLst>
                                  <p:iterate type="el">
                                    <p:tmAbs val="0"/>
                                  </p:iterate>
                                  <p:childTnLst>
                                    <p:set>
                                      <p:cBhvr>
                                        <p:cTn id="12" fill="hold"/>
                                        <p:tgtEl>
                                          <p:spTgt spid="3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
                                  <p:stCondLst>
                                    <p:cond delay="0"/>
                                  </p:stCondLst>
                                  <p:iterate type="el">
                                    <p:tmAbs val="0"/>
                                  </p:iterate>
                                  <p:childTnLst>
                                    <p:set>
                                      <p:cBhvr>
                                        <p:cTn id="16" fill="hold"/>
                                        <p:tgtEl>
                                          <p:spTgt spid="3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1">
                                  <p:stCondLst>
                                    <p:cond delay="0"/>
                                  </p:stCondLst>
                                  <p:iterate type="el">
                                    <p:tmAbs val="0"/>
                                  </p:iterate>
                                  <p:childTnLst>
                                    <p:set>
                                      <p:cBhvr>
                                        <p:cTn id="20" fill="hold"/>
                                        <p:tgtEl>
                                          <p:spTgt spid="3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iterate type="el">
                                    <p:tmAbs val="0"/>
                                  </p:iterate>
                                  <p:childTnLst>
                                    <p:set>
                                      <p:cBhvr>
                                        <p:cTn id="24" fill="hold"/>
                                        <p:tgtEl>
                                          <p:spTgt spid="3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COURSE ROADMAP</a:t>
            </a:r>
            <a:endParaRPr b="0" lang="en-US" sz="1300" spc="-1" strike="noStrike">
              <a:solidFill>
                <a:srgbClr val="ffffff"/>
              </a:solidFill>
              <a:latin typeface="Arial"/>
            </a:endParaRPr>
          </a:p>
        </p:txBody>
      </p:sp>
      <p:sp>
        <p:nvSpPr>
          <p:cNvPr id="4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Three days, ground up to GPU</a:t>
            </a:r>
            <a:endParaRPr b="0" lang="en-US" sz="2800" spc="-1" strike="noStrike">
              <a:solidFill>
                <a:srgbClr val="ffffff"/>
              </a:solidFill>
              <a:latin typeface="Arial"/>
            </a:endParaRPr>
          </a:p>
        </p:txBody>
      </p:sp>
      <p:sp>
        <p:nvSpPr>
          <p:cNvPr id="42" name="Shape 2"/>
          <p:cNvSpPr/>
          <p:nvPr/>
        </p:nvSpPr>
        <p:spPr>
          <a:xfrm>
            <a:off x="548640" y="1691640"/>
            <a:ext cx="3564720" cy="4479120"/>
          </a:xfrm>
          <a:prstGeom prst="roundRect">
            <a:avLst>
              <a:gd name="adj" fmla="val 2308"/>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 name="Text 3"/>
          <p:cNvSpPr/>
          <p:nvPr/>
        </p:nvSpPr>
        <p:spPr>
          <a:xfrm>
            <a:off x="777240" y="1892880"/>
            <a:ext cx="310752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DAY 1</a:t>
            </a:r>
            <a:endParaRPr b="0" lang="en-US" sz="1300" spc="-1" strike="noStrike">
              <a:solidFill>
                <a:srgbClr val="ffffff"/>
              </a:solidFill>
              <a:latin typeface="Arial"/>
            </a:endParaRPr>
          </a:p>
        </p:txBody>
      </p:sp>
      <p:sp>
        <p:nvSpPr>
          <p:cNvPr id="44" name="Text 4"/>
          <p:cNvSpPr/>
          <p:nvPr/>
        </p:nvSpPr>
        <p:spPr>
          <a:xfrm>
            <a:off x="777240" y="2194560"/>
            <a:ext cx="310752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edeff4"/>
                </a:solidFill>
                <a:latin typeface="Arial"/>
                <a:ea typeface="Arial"/>
              </a:rPr>
              <a:t>Foundations</a:t>
            </a:r>
            <a:endParaRPr b="0" lang="en-US" sz="1700" spc="-1" strike="noStrike">
              <a:solidFill>
                <a:srgbClr val="ffffff"/>
              </a:solidFill>
              <a:latin typeface="Arial"/>
            </a:endParaRPr>
          </a:p>
        </p:txBody>
      </p:sp>
      <p:sp>
        <p:nvSpPr>
          <p:cNvPr id="45" name="Text 5"/>
          <p:cNvSpPr/>
          <p:nvPr/>
        </p:nvSpPr>
        <p:spPr>
          <a:xfrm>
            <a:off x="777240" y="2743200"/>
            <a:ext cx="3107520" cy="3290400"/>
          </a:xfrm>
          <a:prstGeom prst="rect">
            <a:avLst/>
          </a:prstGeom>
          <a:noFill/>
          <a:ln w="0">
            <a:noFill/>
          </a:ln>
        </p:spPr>
        <p:style>
          <a:lnRef idx="0"/>
          <a:fillRef idx="0"/>
          <a:effectRef idx="0"/>
          <a:fontRef idx="minor"/>
        </p:style>
        <p:txBody>
          <a:bodyPr lIns="90000" rIns="90000" tIns="45000" bIns="45000" anchor="t">
            <a:noAutofit/>
          </a:bodyPr>
          <a:p>
            <a:pPr defTabSz="914400">
              <a:lnSpc>
                <a:spcPct val="110000"/>
              </a:lnSpc>
              <a:spcAft>
                <a:spcPts val="400"/>
              </a:spcAft>
              <a:tabLst>
                <a:tab algn="l" pos="0"/>
              </a:tabLst>
            </a:pPr>
            <a:r>
              <a:rPr b="0" lang="en-US" sz="950" spc="-1" strike="noStrike">
                <a:solidFill>
                  <a:srgbClr val="9aa4b8"/>
                </a:solidFill>
                <a:latin typeface="Arial"/>
                <a:ea typeface="Arial"/>
              </a:rPr>
              <a:t>1.  Why Rust (beyond memory safety)</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2.  A brief history of Rust</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3.  Toolchain &amp; project model</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4.  Data types &amp; program elements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5.  Syntax orientation</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6.  Ownership &amp; move semantics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7.  Borrowing &amp; lifetimes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8.  Type system: enums &amp; pattern matching</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9.  Traits &amp; generics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10.  Error handling</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11.  Collections &amp; iterators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12.  Modules &amp; visibility</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13.  Concurrency basics</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14.  Unsafe &amp; C++ interop</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15.  Tooling &amp; testing</a:t>
            </a:r>
            <a:endParaRPr b="0" lang="en-US" sz="950" spc="-1" strike="noStrike">
              <a:solidFill>
                <a:srgbClr val="ffffff"/>
              </a:solidFill>
              <a:latin typeface="Arial"/>
            </a:endParaRPr>
          </a:p>
          <a:p>
            <a:pPr defTabSz="914400">
              <a:lnSpc>
                <a:spcPct val="110000"/>
              </a:lnSpc>
              <a:spcAft>
                <a:spcPts val="400"/>
              </a:spcAft>
              <a:tabLst>
                <a:tab algn="l" pos="0"/>
              </a:tabLst>
            </a:pPr>
            <a:r>
              <a:rPr b="0" lang="en-US" sz="950" spc="-1" strike="noStrike">
                <a:solidFill>
                  <a:srgbClr val="9aa4b8"/>
                </a:solidFill>
                <a:latin typeface="Arial"/>
                <a:ea typeface="Arial"/>
              </a:rPr>
              <a:t>16.  Practice problems</a:t>
            </a:r>
            <a:endParaRPr b="0" lang="en-US" sz="950" spc="-1" strike="noStrike">
              <a:solidFill>
                <a:srgbClr val="ffffff"/>
              </a:solidFill>
              <a:latin typeface="Arial"/>
            </a:endParaRPr>
          </a:p>
        </p:txBody>
      </p:sp>
      <p:sp>
        <p:nvSpPr>
          <p:cNvPr id="46" name="Shape 6"/>
          <p:cNvSpPr/>
          <p:nvPr/>
        </p:nvSpPr>
        <p:spPr>
          <a:xfrm>
            <a:off x="4297680" y="1691640"/>
            <a:ext cx="3564720" cy="4479120"/>
          </a:xfrm>
          <a:prstGeom prst="roundRect">
            <a:avLst>
              <a:gd name="adj" fmla="val 2308"/>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7" name="Text 7"/>
          <p:cNvSpPr/>
          <p:nvPr/>
        </p:nvSpPr>
        <p:spPr>
          <a:xfrm>
            <a:off x="4526280" y="1892880"/>
            <a:ext cx="310752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9aa4b8"/>
                </a:solidFill>
                <a:latin typeface="Arial"/>
                <a:ea typeface="Arial"/>
              </a:rPr>
              <a:t>DAY 2</a:t>
            </a:r>
            <a:endParaRPr b="0" lang="en-US" sz="1300" spc="-1" strike="noStrike">
              <a:solidFill>
                <a:srgbClr val="ffffff"/>
              </a:solidFill>
              <a:latin typeface="Arial"/>
            </a:endParaRPr>
          </a:p>
        </p:txBody>
      </p:sp>
      <p:sp>
        <p:nvSpPr>
          <p:cNvPr id="48" name="Text 8"/>
          <p:cNvSpPr/>
          <p:nvPr/>
        </p:nvSpPr>
        <p:spPr>
          <a:xfrm>
            <a:off x="4526280" y="2194560"/>
            <a:ext cx="310752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edeff4"/>
                </a:solidFill>
                <a:latin typeface="Arial"/>
                <a:ea typeface="Arial"/>
              </a:rPr>
              <a:t>Going Deeper</a:t>
            </a:r>
            <a:endParaRPr b="0" lang="en-US" sz="1700" spc="-1" strike="noStrike">
              <a:solidFill>
                <a:srgbClr val="ffffff"/>
              </a:solidFill>
              <a:latin typeface="Arial"/>
            </a:endParaRPr>
          </a:p>
        </p:txBody>
      </p:sp>
      <p:sp>
        <p:nvSpPr>
          <p:cNvPr id="49" name="Text 9"/>
          <p:cNvSpPr/>
          <p:nvPr/>
        </p:nvSpPr>
        <p:spPr>
          <a:xfrm>
            <a:off x="4526280" y="2743200"/>
            <a:ext cx="3107520" cy="3290400"/>
          </a:xfrm>
          <a:prstGeom prst="rect">
            <a:avLst/>
          </a:prstGeom>
          <a:noFill/>
          <a:ln w="0">
            <a:noFill/>
          </a:ln>
        </p:spPr>
        <p:style>
          <a:lnRef idx="0"/>
          <a:fillRef idx="0"/>
          <a:effectRef idx="0"/>
          <a:fontRef idx="minor"/>
        </p:style>
        <p:txBody>
          <a:bodyPr lIns="90000" rIns="90000" tIns="45000" bIns="45000" anchor="t">
            <a:noAutofit/>
          </a:bodyPr>
          <a:p>
            <a:pPr defTabSz="914400">
              <a:lnSpc>
                <a:spcPct val="110000"/>
              </a:lnSpc>
              <a:spcAft>
                <a:spcPts val="901"/>
              </a:spcAft>
              <a:tabLst>
                <a:tab algn="l" pos="0"/>
              </a:tabLst>
            </a:pPr>
            <a:r>
              <a:rPr b="0" lang="en-US" sz="1200" spc="-1" strike="noStrike">
                <a:solidFill>
                  <a:srgbClr val="9aa4b8"/>
                </a:solidFill>
                <a:latin typeface="Arial"/>
                <a:ea typeface="Arial"/>
              </a:rPr>
              <a:t>1.  Advanced traits &amp; trait objects</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2.  Async/await in depth</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3.  Macros: declarative &amp; procedural</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4.  Advanced unsafe &amp; FFI patterns</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5.  Performance tuning &amp; profiling</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6.  Design patterns in idiomatic Rust</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7.  Building &amp; publishing crates</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8.  Workshop: porting a C++ module</a:t>
            </a:r>
            <a:endParaRPr b="0" lang="en-US" sz="1200" spc="-1" strike="noStrike">
              <a:solidFill>
                <a:srgbClr val="ffffff"/>
              </a:solidFill>
              <a:latin typeface="Arial"/>
            </a:endParaRPr>
          </a:p>
        </p:txBody>
      </p:sp>
      <p:sp>
        <p:nvSpPr>
          <p:cNvPr id="50" name="Shape 10"/>
          <p:cNvSpPr/>
          <p:nvPr/>
        </p:nvSpPr>
        <p:spPr>
          <a:xfrm>
            <a:off x="8046720" y="1691640"/>
            <a:ext cx="3564720" cy="4479120"/>
          </a:xfrm>
          <a:prstGeom prst="roundRect">
            <a:avLst>
              <a:gd name="adj" fmla="val 2308"/>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 name="Text 11"/>
          <p:cNvSpPr/>
          <p:nvPr/>
        </p:nvSpPr>
        <p:spPr>
          <a:xfrm>
            <a:off x="8275320" y="1892880"/>
            <a:ext cx="310752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9aa4b8"/>
                </a:solidFill>
                <a:latin typeface="Arial"/>
                <a:ea typeface="Arial"/>
              </a:rPr>
              <a:t>DAY 3</a:t>
            </a:r>
            <a:endParaRPr b="0" lang="en-US" sz="1300" spc="-1" strike="noStrike">
              <a:solidFill>
                <a:srgbClr val="ffffff"/>
              </a:solidFill>
              <a:latin typeface="Arial"/>
            </a:endParaRPr>
          </a:p>
        </p:txBody>
      </p:sp>
      <p:sp>
        <p:nvSpPr>
          <p:cNvPr id="52" name="Text 12"/>
          <p:cNvSpPr/>
          <p:nvPr/>
        </p:nvSpPr>
        <p:spPr>
          <a:xfrm>
            <a:off x="8275320" y="2194560"/>
            <a:ext cx="310752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700" spc="-1" strike="noStrike">
                <a:solidFill>
                  <a:srgbClr val="edeff4"/>
                </a:solidFill>
                <a:latin typeface="Arial"/>
                <a:ea typeface="Arial"/>
              </a:rPr>
              <a:t>Rust on the GPU</a:t>
            </a:r>
            <a:endParaRPr b="0" lang="en-US" sz="1700" spc="-1" strike="noStrike">
              <a:solidFill>
                <a:srgbClr val="ffffff"/>
              </a:solidFill>
              <a:latin typeface="Arial"/>
            </a:endParaRPr>
          </a:p>
        </p:txBody>
      </p:sp>
      <p:sp>
        <p:nvSpPr>
          <p:cNvPr id="53" name="Text 13"/>
          <p:cNvSpPr/>
          <p:nvPr/>
        </p:nvSpPr>
        <p:spPr>
          <a:xfrm>
            <a:off x="8275320" y="2743200"/>
            <a:ext cx="3107520" cy="3290400"/>
          </a:xfrm>
          <a:prstGeom prst="rect">
            <a:avLst/>
          </a:prstGeom>
          <a:noFill/>
          <a:ln w="0">
            <a:noFill/>
          </a:ln>
        </p:spPr>
        <p:style>
          <a:lnRef idx="0"/>
          <a:fillRef idx="0"/>
          <a:effectRef idx="0"/>
          <a:fontRef idx="minor"/>
        </p:style>
        <p:txBody>
          <a:bodyPr lIns="90000" rIns="90000" tIns="45000" bIns="45000" anchor="t">
            <a:noAutofit/>
          </a:bodyPr>
          <a:p>
            <a:pPr defTabSz="914400">
              <a:lnSpc>
                <a:spcPct val="110000"/>
              </a:lnSpc>
              <a:spcAft>
                <a:spcPts val="901"/>
              </a:spcAft>
              <a:tabLst>
                <a:tab algn="l" pos="0"/>
              </a:tabLst>
            </a:pPr>
            <a:r>
              <a:rPr b="0" lang="en-US" sz="1200" spc="-1" strike="noStrike">
                <a:solidFill>
                  <a:srgbClr val="9aa4b8"/>
                </a:solidFill>
                <a:latin typeface="Arial"/>
                <a:ea typeface="Arial"/>
              </a:rPr>
              <a:t>1.  CUDA programming model recap</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2.  Rust GPU ecosystem overview</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3.  rust-cuda / cudarc / cust</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4.  Writing kernels: safety at the boundary</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5.  Memory transfer &amp; unified memory in Rust</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6.  Interop with existing CUDA C++ code</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7.  Benchmarking against native CUDA C++</a:t>
            </a:r>
            <a:endParaRPr b="0" lang="en-US" sz="1200" spc="-1" strike="noStrike">
              <a:solidFill>
                <a:srgbClr val="ffffff"/>
              </a:solidFill>
              <a:latin typeface="Arial"/>
            </a:endParaRPr>
          </a:p>
          <a:p>
            <a:pPr defTabSz="914400">
              <a:lnSpc>
                <a:spcPct val="110000"/>
              </a:lnSpc>
              <a:spcAft>
                <a:spcPts val="901"/>
              </a:spcAft>
              <a:tabLst>
                <a:tab algn="l" pos="0"/>
              </a:tabLst>
            </a:pPr>
            <a:r>
              <a:rPr b="0" lang="en-US" sz="1200" spc="-1" strike="noStrike">
                <a:solidFill>
                  <a:srgbClr val="9aa4b8"/>
                </a:solidFill>
                <a:latin typeface="Arial"/>
                <a:ea typeface="Arial"/>
              </a:rPr>
              <a:t>8.  Capstone: a Rust-hosted CUDA kernel</a:t>
            </a:r>
            <a:endParaRPr b="0" lang="en-US" sz="1200" spc="-1" strike="noStrike">
              <a:solidFill>
                <a:srgbClr val="ffffff"/>
              </a:solidFill>
              <a:latin typeface="Arial"/>
            </a:endParaRPr>
          </a:p>
        </p:txBody>
      </p:sp>
      <p:sp>
        <p:nvSpPr>
          <p:cNvPr id="54" name="Text 1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5" name="Text 1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TODAY — DAY 1</a:t>
            </a:r>
            <a:endParaRPr b="0" lang="en-US" sz="1300" spc="-1" strike="noStrike">
              <a:solidFill>
                <a:srgbClr val="ffffff"/>
              </a:solidFill>
              <a:latin typeface="Arial"/>
            </a:endParaRPr>
          </a:p>
        </p:txBody>
      </p:sp>
      <p:sp>
        <p:nvSpPr>
          <p:cNvPr id="5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we'll cover today</a:t>
            </a:r>
            <a:endParaRPr b="0" lang="en-US" sz="2800" spc="-1" strike="noStrike">
              <a:solidFill>
                <a:srgbClr val="ffffff"/>
              </a:solidFill>
              <a:latin typeface="Arial"/>
            </a:endParaRPr>
          </a:p>
        </p:txBody>
      </p:sp>
      <p:sp>
        <p:nvSpPr>
          <p:cNvPr id="58" name="Shape 2"/>
          <p:cNvSpPr/>
          <p:nvPr/>
        </p:nvSpPr>
        <p:spPr>
          <a:xfrm>
            <a:off x="548640" y="169164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 name="Text 3"/>
          <p:cNvSpPr/>
          <p:nvPr/>
        </p:nvSpPr>
        <p:spPr>
          <a:xfrm>
            <a:off x="731520" y="169164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01</a:t>
            </a:r>
            <a:endParaRPr b="0" lang="en-US" sz="1400" spc="-1" strike="noStrike">
              <a:solidFill>
                <a:srgbClr val="ffffff"/>
              </a:solidFill>
              <a:latin typeface="Arial"/>
            </a:endParaRPr>
          </a:p>
        </p:txBody>
      </p:sp>
      <p:sp>
        <p:nvSpPr>
          <p:cNvPr id="60" name="Text 4"/>
          <p:cNvSpPr/>
          <p:nvPr/>
        </p:nvSpPr>
        <p:spPr>
          <a:xfrm>
            <a:off x="1463040" y="17283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Why Rust?</a:t>
            </a:r>
            <a:endParaRPr b="0" lang="en-US" sz="1100" spc="-1" strike="noStrike">
              <a:solidFill>
                <a:srgbClr val="ffffff"/>
              </a:solidFill>
              <a:latin typeface="Arial"/>
            </a:endParaRPr>
          </a:p>
        </p:txBody>
      </p:sp>
      <p:sp>
        <p:nvSpPr>
          <p:cNvPr id="61" name="Text 5"/>
          <p:cNvSpPr/>
          <p:nvPr/>
        </p:nvSpPr>
        <p:spPr>
          <a:xfrm>
            <a:off x="1463040" y="19112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Beyond memory safety, for C++ veterans</a:t>
            </a:r>
            <a:endParaRPr b="0" lang="en-US" sz="850" spc="-1" strike="noStrike">
              <a:solidFill>
                <a:srgbClr val="ffffff"/>
              </a:solidFill>
              <a:latin typeface="Arial"/>
            </a:endParaRPr>
          </a:p>
        </p:txBody>
      </p:sp>
      <p:sp>
        <p:nvSpPr>
          <p:cNvPr id="62" name="Shape 6"/>
          <p:cNvSpPr/>
          <p:nvPr/>
        </p:nvSpPr>
        <p:spPr>
          <a:xfrm>
            <a:off x="6263640" y="169164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 name="Text 7"/>
          <p:cNvSpPr/>
          <p:nvPr/>
        </p:nvSpPr>
        <p:spPr>
          <a:xfrm>
            <a:off x="6446520" y="169164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02</a:t>
            </a:r>
            <a:endParaRPr b="0" lang="en-US" sz="1400" spc="-1" strike="noStrike">
              <a:solidFill>
                <a:srgbClr val="ffffff"/>
              </a:solidFill>
              <a:latin typeface="Arial"/>
            </a:endParaRPr>
          </a:p>
        </p:txBody>
      </p:sp>
      <p:sp>
        <p:nvSpPr>
          <p:cNvPr id="64" name="Text 8"/>
          <p:cNvSpPr/>
          <p:nvPr/>
        </p:nvSpPr>
        <p:spPr>
          <a:xfrm>
            <a:off x="7178040" y="17283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A Brief History of Rust</a:t>
            </a:r>
            <a:endParaRPr b="0" lang="en-US" sz="1100" spc="-1" strike="noStrike">
              <a:solidFill>
                <a:srgbClr val="ffffff"/>
              </a:solidFill>
              <a:latin typeface="Arial"/>
            </a:endParaRPr>
          </a:p>
        </p:txBody>
      </p:sp>
      <p:sp>
        <p:nvSpPr>
          <p:cNvPr id="65" name="Text 9"/>
          <p:cNvSpPr/>
          <p:nvPr/>
        </p:nvSpPr>
        <p:spPr>
          <a:xfrm>
            <a:off x="7178040" y="19112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Mozilla, LLVM, and how we got here</a:t>
            </a:r>
            <a:endParaRPr b="0" lang="en-US" sz="850" spc="-1" strike="noStrike">
              <a:solidFill>
                <a:srgbClr val="ffffff"/>
              </a:solidFill>
              <a:latin typeface="Arial"/>
            </a:endParaRPr>
          </a:p>
        </p:txBody>
      </p:sp>
      <p:sp>
        <p:nvSpPr>
          <p:cNvPr id="66" name="Shape 10"/>
          <p:cNvSpPr/>
          <p:nvPr/>
        </p:nvSpPr>
        <p:spPr>
          <a:xfrm>
            <a:off x="548640" y="21996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7" name="Text 11"/>
          <p:cNvSpPr/>
          <p:nvPr/>
        </p:nvSpPr>
        <p:spPr>
          <a:xfrm>
            <a:off x="731520" y="21996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03</a:t>
            </a:r>
            <a:endParaRPr b="0" lang="en-US" sz="1400" spc="-1" strike="noStrike">
              <a:solidFill>
                <a:srgbClr val="ffffff"/>
              </a:solidFill>
              <a:latin typeface="Arial"/>
            </a:endParaRPr>
          </a:p>
        </p:txBody>
      </p:sp>
      <p:sp>
        <p:nvSpPr>
          <p:cNvPr id="68" name="Text 12"/>
          <p:cNvSpPr/>
          <p:nvPr/>
        </p:nvSpPr>
        <p:spPr>
          <a:xfrm>
            <a:off x="1463040" y="22363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Toolchain &amp; Project Model</a:t>
            </a:r>
            <a:endParaRPr b="0" lang="en-US" sz="1100" spc="-1" strike="noStrike">
              <a:solidFill>
                <a:srgbClr val="ffffff"/>
              </a:solidFill>
              <a:latin typeface="Arial"/>
            </a:endParaRPr>
          </a:p>
        </p:txBody>
      </p:sp>
      <p:sp>
        <p:nvSpPr>
          <p:cNvPr id="69" name="Text 13"/>
          <p:cNvSpPr/>
          <p:nvPr/>
        </p:nvSpPr>
        <p:spPr>
          <a:xfrm>
            <a:off x="1463040" y="24192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cargo, crates, editions</a:t>
            </a:r>
            <a:endParaRPr b="0" lang="en-US" sz="850" spc="-1" strike="noStrike">
              <a:solidFill>
                <a:srgbClr val="ffffff"/>
              </a:solidFill>
              <a:latin typeface="Arial"/>
            </a:endParaRPr>
          </a:p>
        </p:txBody>
      </p:sp>
      <p:sp>
        <p:nvSpPr>
          <p:cNvPr id="70" name="Shape 14"/>
          <p:cNvSpPr/>
          <p:nvPr/>
        </p:nvSpPr>
        <p:spPr>
          <a:xfrm>
            <a:off x="6263640" y="21996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 name="Text 15"/>
          <p:cNvSpPr/>
          <p:nvPr/>
        </p:nvSpPr>
        <p:spPr>
          <a:xfrm>
            <a:off x="6446520" y="21996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04</a:t>
            </a:r>
            <a:endParaRPr b="0" lang="en-US" sz="1400" spc="-1" strike="noStrike">
              <a:solidFill>
                <a:srgbClr val="ffffff"/>
              </a:solidFill>
              <a:latin typeface="Arial"/>
            </a:endParaRPr>
          </a:p>
        </p:txBody>
      </p:sp>
      <p:sp>
        <p:nvSpPr>
          <p:cNvPr id="72" name="Text 16"/>
          <p:cNvSpPr/>
          <p:nvPr/>
        </p:nvSpPr>
        <p:spPr>
          <a:xfrm>
            <a:off x="7178040" y="22363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Data Types &amp; Program Elements</a:t>
            </a:r>
            <a:endParaRPr b="0" lang="en-US" sz="1100" spc="-1" strike="noStrike">
              <a:solidFill>
                <a:srgbClr val="ffffff"/>
              </a:solidFill>
              <a:latin typeface="Arial"/>
            </a:endParaRPr>
          </a:p>
        </p:txBody>
      </p:sp>
      <p:sp>
        <p:nvSpPr>
          <p:cNvPr id="73" name="Text 17"/>
          <p:cNvSpPr/>
          <p:nvPr/>
        </p:nvSpPr>
        <p:spPr>
          <a:xfrm>
            <a:off x="7178040" y="24192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The building blocks, in depth</a:t>
            </a:r>
            <a:endParaRPr b="0" lang="en-US" sz="850" spc="-1" strike="noStrike">
              <a:solidFill>
                <a:srgbClr val="ffffff"/>
              </a:solidFill>
              <a:latin typeface="Arial"/>
            </a:endParaRPr>
          </a:p>
        </p:txBody>
      </p:sp>
      <p:sp>
        <p:nvSpPr>
          <p:cNvPr id="74" name="Shape 18"/>
          <p:cNvSpPr/>
          <p:nvPr/>
        </p:nvSpPr>
        <p:spPr>
          <a:xfrm>
            <a:off x="548640" y="27075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Text 19"/>
          <p:cNvSpPr/>
          <p:nvPr/>
        </p:nvSpPr>
        <p:spPr>
          <a:xfrm>
            <a:off x="731520" y="27075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05</a:t>
            </a:r>
            <a:endParaRPr b="0" lang="en-US" sz="1400" spc="-1" strike="noStrike">
              <a:solidFill>
                <a:srgbClr val="ffffff"/>
              </a:solidFill>
              <a:latin typeface="Arial"/>
            </a:endParaRPr>
          </a:p>
        </p:txBody>
      </p:sp>
      <p:sp>
        <p:nvSpPr>
          <p:cNvPr id="76" name="Text 20"/>
          <p:cNvSpPr/>
          <p:nvPr/>
        </p:nvSpPr>
        <p:spPr>
          <a:xfrm>
            <a:off x="1463040" y="27442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Syntax Orientation</a:t>
            </a:r>
            <a:endParaRPr b="0" lang="en-US" sz="1100" spc="-1" strike="noStrike">
              <a:solidFill>
                <a:srgbClr val="ffffff"/>
              </a:solidFill>
              <a:latin typeface="Arial"/>
            </a:endParaRPr>
          </a:p>
        </p:txBody>
      </p:sp>
      <p:sp>
        <p:nvSpPr>
          <p:cNvPr id="77" name="Text 21"/>
          <p:cNvSpPr/>
          <p:nvPr/>
        </p:nvSpPr>
        <p:spPr>
          <a:xfrm>
            <a:off x="1463040" y="29271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A Rosetta stone for C++ eyes</a:t>
            </a:r>
            <a:endParaRPr b="0" lang="en-US" sz="850" spc="-1" strike="noStrike">
              <a:solidFill>
                <a:srgbClr val="ffffff"/>
              </a:solidFill>
              <a:latin typeface="Arial"/>
            </a:endParaRPr>
          </a:p>
        </p:txBody>
      </p:sp>
      <p:sp>
        <p:nvSpPr>
          <p:cNvPr id="78" name="Shape 22"/>
          <p:cNvSpPr/>
          <p:nvPr/>
        </p:nvSpPr>
        <p:spPr>
          <a:xfrm>
            <a:off x="6263640" y="27075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 name="Text 23"/>
          <p:cNvSpPr/>
          <p:nvPr/>
        </p:nvSpPr>
        <p:spPr>
          <a:xfrm>
            <a:off x="6446520" y="27075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06</a:t>
            </a:r>
            <a:endParaRPr b="0" lang="en-US" sz="1400" spc="-1" strike="noStrike">
              <a:solidFill>
                <a:srgbClr val="ffffff"/>
              </a:solidFill>
              <a:latin typeface="Arial"/>
            </a:endParaRPr>
          </a:p>
        </p:txBody>
      </p:sp>
      <p:sp>
        <p:nvSpPr>
          <p:cNvPr id="80" name="Text 24"/>
          <p:cNvSpPr/>
          <p:nvPr/>
        </p:nvSpPr>
        <p:spPr>
          <a:xfrm>
            <a:off x="7178040" y="27442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Ownership &amp; Move Semantics</a:t>
            </a:r>
            <a:endParaRPr b="0" lang="en-US" sz="1100" spc="-1" strike="noStrike">
              <a:solidFill>
                <a:srgbClr val="ffffff"/>
              </a:solidFill>
              <a:latin typeface="Arial"/>
            </a:endParaRPr>
          </a:p>
        </p:txBody>
      </p:sp>
      <p:sp>
        <p:nvSpPr>
          <p:cNvPr id="81" name="Text 25"/>
          <p:cNvSpPr/>
          <p:nvPr/>
        </p:nvSpPr>
        <p:spPr>
          <a:xfrm>
            <a:off x="7178040" y="29271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Move-by-default, formalized</a:t>
            </a:r>
            <a:endParaRPr b="0" lang="en-US" sz="850" spc="-1" strike="noStrike">
              <a:solidFill>
                <a:srgbClr val="ffffff"/>
              </a:solidFill>
              <a:latin typeface="Arial"/>
            </a:endParaRPr>
          </a:p>
        </p:txBody>
      </p:sp>
      <p:sp>
        <p:nvSpPr>
          <p:cNvPr id="82" name="Shape 26"/>
          <p:cNvSpPr/>
          <p:nvPr/>
        </p:nvSpPr>
        <p:spPr>
          <a:xfrm>
            <a:off x="548640" y="32155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 name="Text 27"/>
          <p:cNvSpPr/>
          <p:nvPr/>
        </p:nvSpPr>
        <p:spPr>
          <a:xfrm>
            <a:off x="731520" y="32155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07</a:t>
            </a:r>
            <a:endParaRPr b="0" lang="en-US" sz="1400" spc="-1" strike="noStrike">
              <a:solidFill>
                <a:srgbClr val="ffffff"/>
              </a:solidFill>
              <a:latin typeface="Arial"/>
            </a:endParaRPr>
          </a:p>
        </p:txBody>
      </p:sp>
      <p:sp>
        <p:nvSpPr>
          <p:cNvPr id="84" name="Text 28"/>
          <p:cNvSpPr/>
          <p:nvPr/>
        </p:nvSpPr>
        <p:spPr>
          <a:xfrm>
            <a:off x="1463040" y="325224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Borrowing &amp; Lifetimes</a:t>
            </a:r>
            <a:endParaRPr b="0" lang="en-US" sz="1100" spc="-1" strike="noStrike">
              <a:solidFill>
                <a:srgbClr val="ffffff"/>
              </a:solidFill>
              <a:latin typeface="Arial"/>
            </a:endParaRPr>
          </a:p>
        </p:txBody>
      </p:sp>
      <p:sp>
        <p:nvSpPr>
          <p:cNvPr id="85" name="Text 29"/>
          <p:cNvSpPr/>
          <p:nvPr/>
        </p:nvSpPr>
        <p:spPr>
          <a:xfrm>
            <a:off x="1463040" y="343512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Aliasing rules, enforced</a:t>
            </a:r>
            <a:endParaRPr b="0" lang="en-US" sz="850" spc="-1" strike="noStrike">
              <a:solidFill>
                <a:srgbClr val="ffffff"/>
              </a:solidFill>
              <a:latin typeface="Arial"/>
            </a:endParaRPr>
          </a:p>
        </p:txBody>
      </p:sp>
      <p:sp>
        <p:nvSpPr>
          <p:cNvPr id="86" name="Shape 30"/>
          <p:cNvSpPr/>
          <p:nvPr/>
        </p:nvSpPr>
        <p:spPr>
          <a:xfrm>
            <a:off x="6263640" y="32155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 name="Text 31"/>
          <p:cNvSpPr/>
          <p:nvPr/>
        </p:nvSpPr>
        <p:spPr>
          <a:xfrm>
            <a:off x="6446520" y="32155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08</a:t>
            </a:r>
            <a:endParaRPr b="0" lang="en-US" sz="1400" spc="-1" strike="noStrike">
              <a:solidFill>
                <a:srgbClr val="ffffff"/>
              </a:solidFill>
              <a:latin typeface="Arial"/>
            </a:endParaRPr>
          </a:p>
        </p:txBody>
      </p:sp>
      <p:sp>
        <p:nvSpPr>
          <p:cNvPr id="88" name="Text 32"/>
          <p:cNvSpPr/>
          <p:nvPr/>
        </p:nvSpPr>
        <p:spPr>
          <a:xfrm>
            <a:off x="7178040" y="325224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Type System</a:t>
            </a:r>
            <a:endParaRPr b="0" lang="en-US" sz="1100" spc="-1" strike="noStrike">
              <a:solidFill>
                <a:srgbClr val="ffffff"/>
              </a:solidFill>
              <a:latin typeface="Arial"/>
            </a:endParaRPr>
          </a:p>
        </p:txBody>
      </p:sp>
      <p:sp>
        <p:nvSpPr>
          <p:cNvPr id="89" name="Text 33"/>
          <p:cNvSpPr/>
          <p:nvPr/>
        </p:nvSpPr>
        <p:spPr>
          <a:xfrm>
            <a:off x="7178040" y="343512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Enums, Option, Result, match</a:t>
            </a:r>
            <a:endParaRPr b="0" lang="en-US" sz="850" spc="-1" strike="noStrike">
              <a:solidFill>
                <a:srgbClr val="ffffff"/>
              </a:solidFill>
              <a:latin typeface="Arial"/>
            </a:endParaRPr>
          </a:p>
        </p:txBody>
      </p:sp>
      <p:sp>
        <p:nvSpPr>
          <p:cNvPr id="90" name="Shape 34"/>
          <p:cNvSpPr/>
          <p:nvPr/>
        </p:nvSpPr>
        <p:spPr>
          <a:xfrm>
            <a:off x="548640" y="372348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 name="Text 35"/>
          <p:cNvSpPr/>
          <p:nvPr/>
        </p:nvSpPr>
        <p:spPr>
          <a:xfrm>
            <a:off x="731520" y="372348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09</a:t>
            </a:r>
            <a:endParaRPr b="0" lang="en-US" sz="1400" spc="-1" strike="noStrike">
              <a:solidFill>
                <a:srgbClr val="ffffff"/>
              </a:solidFill>
              <a:latin typeface="Arial"/>
            </a:endParaRPr>
          </a:p>
        </p:txBody>
      </p:sp>
      <p:sp>
        <p:nvSpPr>
          <p:cNvPr id="92" name="Text 36"/>
          <p:cNvSpPr/>
          <p:nvPr/>
        </p:nvSpPr>
        <p:spPr>
          <a:xfrm>
            <a:off x="1463040" y="376020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Traits &amp; Generics</a:t>
            </a:r>
            <a:endParaRPr b="0" lang="en-US" sz="1100" spc="-1" strike="noStrike">
              <a:solidFill>
                <a:srgbClr val="ffffff"/>
              </a:solidFill>
              <a:latin typeface="Arial"/>
            </a:endParaRPr>
          </a:p>
        </p:txBody>
      </p:sp>
      <p:sp>
        <p:nvSpPr>
          <p:cNvPr id="93" name="Text 37"/>
          <p:cNvSpPr/>
          <p:nvPr/>
        </p:nvSpPr>
        <p:spPr>
          <a:xfrm>
            <a:off x="1463040" y="394308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Interfaces and templates, reimagined</a:t>
            </a:r>
            <a:endParaRPr b="0" lang="en-US" sz="850" spc="-1" strike="noStrike">
              <a:solidFill>
                <a:srgbClr val="ffffff"/>
              </a:solidFill>
              <a:latin typeface="Arial"/>
            </a:endParaRPr>
          </a:p>
        </p:txBody>
      </p:sp>
      <p:sp>
        <p:nvSpPr>
          <p:cNvPr id="94" name="Shape 38"/>
          <p:cNvSpPr/>
          <p:nvPr/>
        </p:nvSpPr>
        <p:spPr>
          <a:xfrm>
            <a:off x="6263640" y="372348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 name="Text 39"/>
          <p:cNvSpPr/>
          <p:nvPr/>
        </p:nvSpPr>
        <p:spPr>
          <a:xfrm>
            <a:off x="6446520" y="372348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10</a:t>
            </a:r>
            <a:endParaRPr b="0" lang="en-US" sz="1400" spc="-1" strike="noStrike">
              <a:solidFill>
                <a:srgbClr val="ffffff"/>
              </a:solidFill>
              <a:latin typeface="Arial"/>
            </a:endParaRPr>
          </a:p>
        </p:txBody>
      </p:sp>
      <p:sp>
        <p:nvSpPr>
          <p:cNvPr id="96" name="Text 40"/>
          <p:cNvSpPr/>
          <p:nvPr/>
        </p:nvSpPr>
        <p:spPr>
          <a:xfrm>
            <a:off x="7178040" y="376020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Error Handling</a:t>
            </a:r>
            <a:endParaRPr b="0" lang="en-US" sz="1100" spc="-1" strike="noStrike">
              <a:solidFill>
                <a:srgbClr val="ffffff"/>
              </a:solidFill>
              <a:latin typeface="Arial"/>
            </a:endParaRPr>
          </a:p>
        </p:txBody>
      </p:sp>
      <p:sp>
        <p:nvSpPr>
          <p:cNvPr id="97" name="Text 41"/>
          <p:cNvSpPr/>
          <p:nvPr/>
        </p:nvSpPr>
        <p:spPr>
          <a:xfrm>
            <a:off x="7178040" y="394308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Result, ?, and panics</a:t>
            </a:r>
            <a:endParaRPr b="0" lang="en-US" sz="850" spc="-1" strike="noStrike">
              <a:solidFill>
                <a:srgbClr val="ffffff"/>
              </a:solidFill>
              <a:latin typeface="Arial"/>
            </a:endParaRPr>
          </a:p>
        </p:txBody>
      </p:sp>
      <p:sp>
        <p:nvSpPr>
          <p:cNvPr id="98" name="Shape 42"/>
          <p:cNvSpPr/>
          <p:nvPr/>
        </p:nvSpPr>
        <p:spPr>
          <a:xfrm>
            <a:off x="548640" y="42318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 name="Text 43"/>
          <p:cNvSpPr/>
          <p:nvPr/>
        </p:nvSpPr>
        <p:spPr>
          <a:xfrm>
            <a:off x="731520" y="42318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11</a:t>
            </a:r>
            <a:endParaRPr b="0" lang="en-US" sz="1400" spc="-1" strike="noStrike">
              <a:solidFill>
                <a:srgbClr val="ffffff"/>
              </a:solidFill>
              <a:latin typeface="Arial"/>
            </a:endParaRPr>
          </a:p>
        </p:txBody>
      </p:sp>
      <p:sp>
        <p:nvSpPr>
          <p:cNvPr id="100" name="Text 44"/>
          <p:cNvSpPr/>
          <p:nvPr/>
        </p:nvSpPr>
        <p:spPr>
          <a:xfrm>
            <a:off x="1463040" y="42681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Collections &amp; Iterators</a:t>
            </a:r>
            <a:endParaRPr b="0" lang="en-US" sz="1100" spc="-1" strike="noStrike">
              <a:solidFill>
                <a:srgbClr val="ffffff"/>
              </a:solidFill>
              <a:latin typeface="Arial"/>
            </a:endParaRPr>
          </a:p>
        </p:txBody>
      </p:sp>
      <p:sp>
        <p:nvSpPr>
          <p:cNvPr id="101" name="Text 45"/>
          <p:cNvSpPr/>
          <p:nvPr/>
        </p:nvSpPr>
        <p:spPr>
          <a:xfrm>
            <a:off x="1463040" y="44510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The STL, Rust-flavored</a:t>
            </a:r>
            <a:endParaRPr b="0" lang="en-US" sz="850" spc="-1" strike="noStrike">
              <a:solidFill>
                <a:srgbClr val="ffffff"/>
              </a:solidFill>
              <a:latin typeface="Arial"/>
            </a:endParaRPr>
          </a:p>
        </p:txBody>
      </p:sp>
      <p:sp>
        <p:nvSpPr>
          <p:cNvPr id="102" name="Shape 46"/>
          <p:cNvSpPr/>
          <p:nvPr/>
        </p:nvSpPr>
        <p:spPr>
          <a:xfrm>
            <a:off x="6263640" y="423180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 name="Text 47"/>
          <p:cNvSpPr/>
          <p:nvPr/>
        </p:nvSpPr>
        <p:spPr>
          <a:xfrm>
            <a:off x="6446520" y="423180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12</a:t>
            </a:r>
            <a:endParaRPr b="0" lang="en-US" sz="1400" spc="-1" strike="noStrike">
              <a:solidFill>
                <a:srgbClr val="ffffff"/>
              </a:solidFill>
              <a:latin typeface="Arial"/>
            </a:endParaRPr>
          </a:p>
        </p:txBody>
      </p:sp>
      <p:sp>
        <p:nvSpPr>
          <p:cNvPr id="104" name="Text 48"/>
          <p:cNvSpPr/>
          <p:nvPr/>
        </p:nvSpPr>
        <p:spPr>
          <a:xfrm>
            <a:off x="7178040" y="426816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Modules &amp; Visibility</a:t>
            </a:r>
            <a:endParaRPr b="0" lang="en-US" sz="1100" spc="-1" strike="noStrike">
              <a:solidFill>
                <a:srgbClr val="ffffff"/>
              </a:solidFill>
              <a:latin typeface="Arial"/>
            </a:endParaRPr>
          </a:p>
        </p:txBody>
      </p:sp>
      <p:sp>
        <p:nvSpPr>
          <p:cNvPr id="105" name="Text 49"/>
          <p:cNvSpPr/>
          <p:nvPr/>
        </p:nvSpPr>
        <p:spPr>
          <a:xfrm>
            <a:off x="7178040" y="445104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No headers, no ODR</a:t>
            </a:r>
            <a:endParaRPr b="0" lang="en-US" sz="850" spc="-1" strike="noStrike">
              <a:solidFill>
                <a:srgbClr val="ffffff"/>
              </a:solidFill>
              <a:latin typeface="Arial"/>
            </a:endParaRPr>
          </a:p>
        </p:txBody>
      </p:sp>
      <p:sp>
        <p:nvSpPr>
          <p:cNvPr id="106" name="Shape 50"/>
          <p:cNvSpPr/>
          <p:nvPr/>
        </p:nvSpPr>
        <p:spPr>
          <a:xfrm>
            <a:off x="548640" y="47397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 name="Text 51"/>
          <p:cNvSpPr/>
          <p:nvPr/>
        </p:nvSpPr>
        <p:spPr>
          <a:xfrm>
            <a:off x="731520" y="47397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13</a:t>
            </a:r>
            <a:endParaRPr b="0" lang="en-US" sz="1400" spc="-1" strike="noStrike">
              <a:solidFill>
                <a:srgbClr val="ffffff"/>
              </a:solidFill>
              <a:latin typeface="Arial"/>
            </a:endParaRPr>
          </a:p>
        </p:txBody>
      </p:sp>
      <p:sp>
        <p:nvSpPr>
          <p:cNvPr id="108" name="Text 52"/>
          <p:cNvSpPr/>
          <p:nvPr/>
        </p:nvSpPr>
        <p:spPr>
          <a:xfrm>
            <a:off x="1463040" y="47761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Concurrency</a:t>
            </a:r>
            <a:endParaRPr b="0" lang="en-US" sz="1100" spc="-1" strike="noStrike">
              <a:solidFill>
                <a:srgbClr val="ffffff"/>
              </a:solidFill>
              <a:latin typeface="Arial"/>
            </a:endParaRPr>
          </a:p>
        </p:txBody>
      </p:sp>
      <p:sp>
        <p:nvSpPr>
          <p:cNvPr id="109" name="Text 53"/>
          <p:cNvSpPr/>
          <p:nvPr/>
        </p:nvSpPr>
        <p:spPr>
          <a:xfrm>
            <a:off x="1463040" y="49590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Fearless, by construction</a:t>
            </a:r>
            <a:endParaRPr b="0" lang="en-US" sz="850" spc="-1" strike="noStrike">
              <a:solidFill>
                <a:srgbClr val="ffffff"/>
              </a:solidFill>
              <a:latin typeface="Arial"/>
            </a:endParaRPr>
          </a:p>
        </p:txBody>
      </p:sp>
      <p:sp>
        <p:nvSpPr>
          <p:cNvPr id="110" name="Shape 54"/>
          <p:cNvSpPr/>
          <p:nvPr/>
        </p:nvSpPr>
        <p:spPr>
          <a:xfrm>
            <a:off x="6263640" y="473976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 name="Text 55"/>
          <p:cNvSpPr/>
          <p:nvPr/>
        </p:nvSpPr>
        <p:spPr>
          <a:xfrm>
            <a:off x="6446520" y="473976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14</a:t>
            </a:r>
            <a:endParaRPr b="0" lang="en-US" sz="1400" spc="-1" strike="noStrike">
              <a:solidFill>
                <a:srgbClr val="ffffff"/>
              </a:solidFill>
              <a:latin typeface="Arial"/>
            </a:endParaRPr>
          </a:p>
        </p:txBody>
      </p:sp>
      <p:sp>
        <p:nvSpPr>
          <p:cNvPr id="112" name="Text 56"/>
          <p:cNvSpPr/>
          <p:nvPr/>
        </p:nvSpPr>
        <p:spPr>
          <a:xfrm>
            <a:off x="7178040" y="477612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Unsafe &amp; C++ Interop</a:t>
            </a:r>
            <a:endParaRPr b="0" lang="en-US" sz="1100" spc="-1" strike="noStrike">
              <a:solidFill>
                <a:srgbClr val="ffffff"/>
              </a:solidFill>
              <a:latin typeface="Arial"/>
            </a:endParaRPr>
          </a:p>
        </p:txBody>
      </p:sp>
      <p:sp>
        <p:nvSpPr>
          <p:cNvPr id="113" name="Text 57"/>
          <p:cNvSpPr/>
          <p:nvPr/>
        </p:nvSpPr>
        <p:spPr>
          <a:xfrm>
            <a:off x="7178040" y="495900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Where the two languages meet</a:t>
            </a:r>
            <a:endParaRPr b="0" lang="en-US" sz="850" spc="-1" strike="noStrike">
              <a:solidFill>
                <a:srgbClr val="ffffff"/>
              </a:solidFill>
              <a:latin typeface="Arial"/>
            </a:endParaRPr>
          </a:p>
        </p:txBody>
      </p:sp>
      <p:sp>
        <p:nvSpPr>
          <p:cNvPr id="114" name="Shape 58"/>
          <p:cNvSpPr/>
          <p:nvPr/>
        </p:nvSpPr>
        <p:spPr>
          <a:xfrm>
            <a:off x="548640" y="52477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 name="Text 59"/>
          <p:cNvSpPr/>
          <p:nvPr/>
        </p:nvSpPr>
        <p:spPr>
          <a:xfrm>
            <a:off x="731520" y="52477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15</a:t>
            </a:r>
            <a:endParaRPr b="0" lang="en-US" sz="1400" spc="-1" strike="noStrike">
              <a:solidFill>
                <a:srgbClr val="ffffff"/>
              </a:solidFill>
              <a:latin typeface="Arial"/>
            </a:endParaRPr>
          </a:p>
        </p:txBody>
      </p:sp>
      <p:sp>
        <p:nvSpPr>
          <p:cNvPr id="116" name="Text 60"/>
          <p:cNvSpPr/>
          <p:nvPr/>
        </p:nvSpPr>
        <p:spPr>
          <a:xfrm>
            <a:off x="1463040" y="52840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Tooling &amp; Testing</a:t>
            </a:r>
            <a:endParaRPr b="0" lang="en-US" sz="1100" spc="-1" strike="noStrike">
              <a:solidFill>
                <a:srgbClr val="ffffff"/>
              </a:solidFill>
              <a:latin typeface="Arial"/>
            </a:endParaRPr>
          </a:p>
        </p:txBody>
      </p:sp>
      <p:sp>
        <p:nvSpPr>
          <p:cNvPr id="117" name="Text 61"/>
          <p:cNvSpPr/>
          <p:nvPr/>
        </p:nvSpPr>
        <p:spPr>
          <a:xfrm>
            <a:off x="1463040" y="54669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What ships in the box</a:t>
            </a:r>
            <a:endParaRPr b="0" lang="en-US" sz="850" spc="-1" strike="noStrike">
              <a:solidFill>
                <a:srgbClr val="ffffff"/>
              </a:solidFill>
              <a:latin typeface="Arial"/>
            </a:endParaRPr>
          </a:p>
        </p:txBody>
      </p:sp>
      <p:sp>
        <p:nvSpPr>
          <p:cNvPr id="118" name="Shape 62"/>
          <p:cNvSpPr/>
          <p:nvPr/>
        </p:nvSpPr>
        <p:spPr>
          <a:xfrm>
            <a:off x="6263640" y="524772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 name="Text 63"/>
          <p:cNvSpPr/>
          <p:nvPr/>
        </p:nvSpPr>
        <p:spPr>
          <a:xfrm>
            <a:off x="6446520" y="524772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16</a:t>
            </a:r>
            <a:endParaRPr b="0" lang="en-US" sz="1400" spc="-1" strike="noStrike">
              <a:solidFill>
                <a:srgbClr val="ffffff"/>
              </a:solidFill>
              <a:latin typeface="Arial"/>
            </a:endParaRPr>
          </a:p>
        </p:txBody>
      </p:sp>
      <p:sp>
        <p:nvSpPr>
          <p:cNvPr id="120" name="Text 64"/>
          <p:cNvSpPr/>
          <p:nvPr/>
        </p:nvSpPr>
        <p:spPr>
          <a:xfrm>
            <a:off x="7178040" y="528408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Practice Problems</a:t>
            </a:r>
            <a:endParaRPr b="0" lang="en-US" sz="1100" spc="-1" strike="noStrike">
              <a:solidFill>
                <a:srgbClr val="ffffff"/>
              </a:solidFill>
              <a:latin typeface="Arial"/>
            </a:endParaRPr>
          </a:p>
        </p:txBody>
      </p:sp>
      <p:sp>
        <p:nvSpPr>
          <p:cNvPr id="121" name="Text 65"/>
          <p:cNvSpPr/>
          <p:nvPr/>
        </p:nvSpPr>
        <p:spPr>
          <a:xfrm>
            <a:off x="7178040" y="546696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Ten problems, a few of them traps</a:t>
            </a:r>
            <a:endParaRPr b="0" lang="en-US" sz="850" spc="-1" strike="noStrike">
              <a:solidFill>
                <a:srgbClr val="ffffff"/>
              </a:solidFill>
              <a:latin typeface="Arial"/>
            </a:endParaRPr>
          </a:p>
        </p:txBody>
      </p:sp>
      <p:sp>
        <p:nvSpPr>
          <p:cNvPr id="122" name="Shape 66"/>
          <p:cNvSpPr/>
          <p:nvPr/>
        </p:nvSpPr>
        <p:spPr>
          <a:xfrm>
            <a:off x="548640" y="5755680"/>
            <a:ext cx="5347800" cy="378720"/>
          </a:xfrm>
          <a:prstGeom prst="roundRect">
            <a:avLst>
              <a:gd name="adj" fmla="val 1925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 name="Text 67"/>
          <p:cNvSpPr/>
          <p:nvPr/>
        </p:nvSpPr>
        <p:spPr>
          <a:xfrm>
            <a:off x="731520" y="5755680"/>
            <a:ext cx="730080" cy="3787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Consolas"/>
                <a:ea typeface="Consolas"/>
              </a:rPr>
              <a:t>17</a:t>
            </a:r>
            <a:endParaRPr b="0" lang="en-US" sz="1400" spc="-1" strike="noStrike">
              <a:solidFill>
                <a:srgbClr val="ffffff"/>
              </a:solidFill>
              <a:latin typeface="Arial"/>
            </a:endParaRPr>
          </a:p>
        </p:txBody>
      </p:sp>
      <p:sp>
        <p:nvSpPr>
          <p:cNvPr id="124" name="Text 68"/>
          <p:cNvSpPr/>
          <p:nvPr/>
        </p:nvSpPr>
        <p:spPr>
          <a:xfrm>
            <a:off x="1463040" y="5792040"/>
            <a:ext cx="425052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edeff4"/>
                </a:solidFill>
                <a:latin typeface="Arial"/>
                <a:ea typeface="Arial"/>
              </a:rPr>
              <a:t>Wrap-up &amp; Roadmap</a:t>
            </a:r>
            <a:endParaRPr b="0" lang="en-US" sz="1100" spc="-1" strike="noStrike">
              <a:solidFill>
                <a:srgbClr val="ffffff"/>
              </a:solidFill>
              <a:latin typeface="Arial"/>
            </a:endParaRPr>
          </a:p>
        </p:txBody>
      </p:sp>
      <p:sp>
        <p:nvSpPr>
          <p:cNvPr id="125" name="Text 69"/>
          <p:cNvSpPr/>
          <p:nvPr/>
        </p:nvSpPr>
        <p:spPr>
          <a:xfrm>
            <a:off x="1463040" y="5974920"/>
            <a:ext cx="4250520" cy="181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50" spc="-1" strike="noStrike">
                <a:solidFill>
                  <a:srgbClr val="9aa4b8"/>
                </a:solidFill>
                <a:latin typeface="Arial"/>
                <a:ea typeface="Arial"/>
              </a:rPr>
              <a:t>Where Days 2 and 3 take us</a:t>
            </a:r>
            <a:endParaRPr b="0" lang="en-US" sz="850" spc="-1" strike="noStrike">
              <a:solidFill>
                <a:srgbClr val="ffffff"/>
              </a:solidFill>
              <a:latin typeface="Arial"/>
            </a:endParaRPr>
          </a:p>
        </p:txBody>
      </p:sp>
      <p:sp>
        <p:nvSpPr>
          <p:cNvPr id="126" name="Text 7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7" name="Text 7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8"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01</a:t>
            </a:r>
            <a:endParaRPr b="0" lang="en-US" sz="3400" spc="-1" strike="noStrike">
              <a:solidFill>
                <a:srgbClr val="ffffff"/>
              </a:solidFill>
              <a:latin typeface="Arial"/>
            </a:endParaRPr>
          </a:p>
        </p:txBody>
      </p:sp>
      <p:sp>
        <p:nvSpPr>
          <p:cNvPr id="130"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Why Rust? (Beyond Memory Safety)</a:t>
            </a:r>
            <a:endParaRPr b="0" lang="en-US" sz="2800" spc="-1" strike="noStrike">
              <a:solidFill>
                <a:srgbClr val="ffffff"/>
              </a:solidFill>
              <a:latin typeface="Arial"/>
            </a:endParaRPr>
          </a:p>
        </p:txBody>
      </p:sp>
      <p:sp>
        <p:nvSpPr>
          <p:cNvPr id="131"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You already fight this war in C++ — here's the rest of the argument</a:t>
            </a:r>
            <a:endParaRPr b="0" lang="en-US" sz="1350" spc="-1" strike="noStrike">
              <a:solidFill>
                <a:srgbClr val="ffffff"/>
              </a:solidFill>
              <a:latin typeface="Arial"/>
            </a:endParaRPr>
          </a:p>
        </p:txBody>
      </p:sp>
      <p:sp>
        <p:nvSpPr>
          <p:cNvPr id="132"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3"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3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pitch you've already heard</a:t>
            </a:r>
            <a:endParaRPr b="0" lang="en-US" sz="2800" spc="-1" strike="noStrike">
              <a:solidFill>
                <a:srgbClr val="ffffff"/>
              </a:solidFill>
              <a:latin typeface="Arial"/>
            </a:endParaRPr>
          </a:p>
        </p:txBody>
      </p:sp>
      <p:sp>
        <p:nvSpPr>
          <p:cNvPr id="136"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"Rust prevents memory-safety bugs." True — but you've heard it a hundred times, and you already have tools for this.</a:t>
            </a:r>
            <a:endParaRPr b="0" lang="en-US" sz="1300" spc="-1" strike="noStrike">
              <a:solidFill>
                <a:srgbClr val="ffffff"/>
              </a:solidFill>
              <a:latin typeface="Arial"/>
            </a:endParaRPr>
          </a:p>
        </p:txBody>
      </p:sp>
      <p:sp>
        <p:nvSpPr>
          <p:cNvPr id="137"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8"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Use-after-free, double-free, buffer overflows:  </a:t>
            </a:r>
            <a:r>
              <a:rPr b="0" lang="en-US" sz="1200" spc="-1" strike="noStrike">
                <a:solidFill>
                  <a:srgbClr val="9aa4b8"/>
                </a:solidFill>
                <a:latin typeface="Arial"/>
                <a:ea typeface="Arial"/>
              </a:rPr>
              <a:t>eliminated in safe Rust at compile time, not caught in CI.</a:t>
            </a:r>
            <a:endParaRPr b="0" lang="en-US" sz="1200" spc="-1" strike="noStrike">
              <a:solidFill>
                <a:srgbClr val="ffffff"/>
              </a:solidFill>
              <a:latin typeface="Arial"/>
            </a:endParaRPr>
          </a:p>
        </p:txBody>
      </p:sp>
      <p:sp>
        <p:nvSpPr>
          <p:cNvPr id="140"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Data races on shared memory:  </a:t>
            </a:r>
            <a:r>
              <a:rPr b="0" lang="en-US" sz="1200" spc="-1" strike="noStrike">
                <a:solidFill>
                  <a:srgbClr val="9aa4b8"/>
                </a:solidFill>
                <a:latin typeface="Arial"/>
                <a:ea typeface="Arial"/>
              </a:rPr>
              <a:t>rejected by the type system, not by discipline or luck.</a:t>
            </a:r>
            <a:endParaRPr b="0" lang="en-US" sz="1200" spc="-1" strike="noStrike">
              <a:solidFill>
                <a:srgbClr val="ffffff"/>
              </a:solidFill>
              <a:latin typeface="Arial"/>
            </a:endParaRPr>
          </a:p>
        </p:txBody>
      </p:sp>
      <p:sp>
        <p:nvSpPr>
          <p:cNvPr id="143"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talk assumes you already know this pitch.  </a:t>
            </a:r>
            <a:r>
              <a:rPr b="0" lang="en-US" sz="1200" spc="-1" strike="noStrike">
                <a:solidFill>
                  <a:srgbClr val="9aa4b8"/>
                </a:solidFill>
                <a:latin typeface="Arial"/>
                <a:ea typeface="Arial"/>
              </a:rPr>
              <a:t>We're here for the rest of the case.</a:t>
            </a:r>
            <a:endParaRPr b="0" lang="en-US" sz="1200" spc="-1" strike="noStrike">
              <a:solidFill>
                <a:srgbClr val="ffffff"/>
              </a:solidFill>
              <a:latin typeface="Arial"/>
            </a:endParaRPr>
          </a:p>
        </p:txBody>
      </p:sp>
      <p:sp>
        <p:nvSpPr>
          <p:cNvPr id="146"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7"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4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scale of the problem, in numbers</a:t>
            </a:r>
            <a:endParaRPr b="0" lang="en-US" sz="2800" spc="-1" strike="noStrike">
              <a:solidFill>
                <a:srgbClr val="ffffff"/>
              </a:solidFill>
              <a:latin typeface="Arial"/>
            </a:endParaRPr>
          </a:p>
        </p:txBody>
      </p:sp>
      <p:sp>
        <p:nvSpPr>
          <p:cNvPr id="150" name="Text 2"/>
          <p:cNvSpPr/>
          <p:nvPr/>
        </p:nvSpPr>
        <p:spPr>
          <a:xfrm>
            <a:off x="548640" y="1554480"/>
            <a:ext cx="11062800" cy="455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250" spc="-1" strike="noStrike">
                <a:solidFill>
                  <a:srgbClr val="9aa4b8"/>
                </a:solidFill>
                <a:latin typeface="Arial"/>
                <a:ea typeface="Arial"/>
              </a:rPr>
              <a:t>Independent of how good your C++ team is, the industry-wide base rate is stark.</a:t>
            </a:r>
            <a:endParaRPr b="0" lang="en-US" sz="1250" spc="-1" strike="noStrike">
              <a:solidFill>
                <a:srgbClr val="ffffff"/>
              </a:solidFill>
              <a:latin typeface="Arial"/>
            </a:endParaRPr>
          </a:p>
        </p:txBody>
      </p:sp>
      <p:sp>
        <p:nvSpPr>
          <p:cNvPr id="151" name="Shape 3"/>
          <p:cNvSpPr/>
          <p:nvPr/>
        </p:nvSpPr>
        <p:spPr>
          <a:xfrm>
            <a:off x="548640" y="2286000"/>
            <a:ext cx="3442680" cy="3016080"/>
          </a:xfrm>
          <a:prstGeom prst="roundRect">
            <a:avLst>
              <a:gd name="adj" fmla="val 272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2" name="Text 4"/>
          <p:cNvSpPr/>
          <p:nvPr/>
        </p:nvSpPr>
        <p:spPr>
          <a:xfrm>
            <a:off x="685800" y="2606040"/>
            <a:ext cx="316836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pc="-1" strike="noStrike">
                <a:solidFill>
                  <a:srgbClr val="e8804f"/>
                </a:solidFill>
                <a:latin typeface="Arial"/>
                <a:ea typeface="Arial"/>
              </a:rPr>
              <a:t>~70%</a:t>
            </a:r>
            <a:endParaRPr b="0" lang="en-US" sz="4000" spc="-1" strike="noStrike">
              <a:solidFill>
                <a:srgbClr val="ffffff"/>
              </a:solidFill>
              <a:latin typeface="Arial"/>
            </a:endParaRPr>
          </a:p>
        </p:txBody>
      </p:sp>
      <p:sp>
        <p:nvSpPr>
          <p:cNvPr id="153" name="Text 5"/>
          <p:cNvSpPr/>
          <p:nvPr/>
        </p:nvSpPr>
        <p:spPr>
          <a:xfrm>
            <a:off x="777240" y="3657600"/>
            <a:ext cx="298548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5000"/>
              </a:lnSpc>
              <a:tabLst>
                <a:tab algn="l" pos="0"/>
              </a:tabLst>
            </a:pPr>
            <a:r>
              <a:rPr b="0" lang="en-US" sz="1300" spc="-1" strike="noStrike">
                <a:solidFill>
                  <a:srgbClr val="edeff4"/>
                </a:solidFill>
                <a:latin typeface="Arial"/>
                <a:ea typeface="Arial"/>
              </a:rPr>
              <a:t>of high-severity security vulnerabilities in large C/C++ codebases are memory-safety issues</a:t>
            </a:r>
            <a:endParaRPr b="0" lang="en-US" sz="1300" spc="-1" strike="noStrike">
              <a:solidFill>
                <a:srgbClr val="ffffff"/>
              </a:solidFill>
              <a:latin typeface="Arial"/>
            </a:endParaRPr>
          </a:p>
        </p:txBody>
      </p:sp>
      <p:sp>
        <p:nvSpPr>
          <p:cNvPr id="154" name="Text 6"/>
          <p:cNvSpPr/>
          <p:nvPr/>
        </p:nvSpPr>
        <p:spPr>
          <a:xfrm>
            <a:off x="777240" y="4800600"/>
            <a:ext cx="2985480" cy="410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9aa4b8"/>
                </a:solidFill>
                <a:latin typeface="Arial"/>
                <a:ea typeface="Arial"/>
              </a:rPr>
              <a:t>Microsoft Security Response Center, 2019</a:t>
            </a:r>
            <a:endParaRPr b="0" lang="en-US" sz="950" spc="-1" strike="noStrike">
              <a:solidFill>
                <a:srgbClr val="ffffff"/>
              </a:solidFill>
              <a:latin typeface="Arial"/>
            </a:endParaRPr>
          </a:p>
        </p:txBody>
      </p:sp>
      <p:sp>
        <p:nvSpPr>
          <p:cNvPr id="155" name="Shape 7"/>
          <p:cNvSpPr/>
          <p:nvPr/>
        </p:nvSpPr>
        <p:spPr>
          <a:xfrm>
            <a:off x="4358520" y="2286000"/>
            <a:ext cx="3442680" cy="3016080"/>
          </a:xfrm>
          <a:prstGeom prst="roundRect">
            <a:avLst>
              <a:gd name="adj" fmla="val 272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 name="Text 8"/>
          <p:cNvSpPr/>
          <p:nvPr/>
        </p:nvSpPr>
        <p:spPr>
          <a:xfrm>
            <a:off x="4495680" y="2606040"/>
            <a:ext cx="316836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pc="-1" strike="noStrike">
                <a:solidFill>
                  <a:srgbClr val="e8804f"/>
                </a:solidFill>
                <a:latin typeface="Arial"/>
                <a:ea typeface="Arial"/>
              </a:rPr>
              <a:t>~70%</a:t>
            </a:r>
            <a:endParaRPr b="0" lang="en-US" sz="4000" spc="-1" strike="noStrike">
              <a:solidFill>
                <a:srgbClr val="ffffff"/>
              </a:solidFill>
              <a:latin typeface="Arial"/>
            </a:endParaRPr>
          </a:p>
        </p:txBody>
      </p:sp>
      <p:sp>
        <p:nvSpPr>
          <p:cNvPr id="157" name="Text 9"/>
          <p:cNvSpPr/>
          <p:nvPr/>
        </p:nvSpPr>
        <p:spPr>
          <a:xfrm>
            <a:off x="4587120" y="3657600"/>
            <a:ext cx="298548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5000"/>
              </a:lnSpc>
              <a:tabLst>
                <a:tab algn="l" pos="0"/>
              </a:tabLst>
            </a:pPr>
            <a:r>
              <a:rPr b="0" lang="en-US" sz="1300" spc="-1" strike="noStrike">
                <a:solidFill>
                  <a:srgbClr val="edeff4"/>
                </a:solidFill>
                <a:latin typeface="Arial"/>
                <a:ea typeface="Arial"/>
              </a:rPr>
              <a:t>of Android's memory-safety vulnerabilities traced to C/C++ code, before the shift to Rust in new code</a:t>
            </a:r>
            <a:endParaRPr b="0" lang="en-US" sz="1300" spc="-1" strike="noStrike">
              <a:solidFill>
                <a:srgbClr val="ffffff"/>
              </a:solidFill>
              <a:latin typeface="Arial"/>
            </a:endParaRPr>
          </a:p>
        </p:txBody>
      </p:sp>
      <p:sp>
        <p:nvSpPr>
          <p:cNvPr id="158" name="Text 10"/>
          <p:cNvSpPr/>
          <p:nvPr/>
        </p:nvSpPr>
        <p:spPr>
          <a:xfrm>
            <a:off x="4587120" y="4800600"/>
            <a:ext cx="2985480" cy="410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9aa4b8"/>
                </a:solidFill>
                <a:latin typeface="Arial"/>
                <a:ea typeface="Arial"/>
              </a:rPr>
              <a:t>Google Android Security, 2022</a:t>
            </a:r>
            <a:endParaRPr b="0" lang="en-US" sz="950" spc="-1" strike="noStrike">
              <a:solidFill>
                <a:srgbClr val="ffffff"/>
              </a:solidFill>
              <a:latin typeface="Arial"/>
            </a:endParaRPr>
          </a:p>
        </p:txBody>
      </p:sp>
      <p:sp>
        <p:nvSpPr>
          <p:cNvPr id="159" name="Shape 11"/>
          <p:cNvSpPr/>
          <p:nvPr/>
        </p:nvSpPr>
        <p:spPr>
          <a:xfrm>
            <a:off x="8168760" y="2286000"/>
            <a:ext cx="3442680" cy="3016080"/>
          </a:xfrm>
          <a:prstGeom prst="roundRect">
            <a:avLst>
              <a:gd name="adj" fmla="val 272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 name="Text 12"/>
          <p:cNvSpPr/>
          <p:nvPr/>
        </p:nvSpPr>
        <p:spPr>
          <a:xfrm>
            <a:off x="8305920" y="2606040"/>
            <a:ext cx="316836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4000" spc="-1" strike="noStrike">
                <a:solidFill>
                  <a:srgbClr val="e8804f"/>
                </a:solidFill>
                <a:latin typeface="Arial"/>
                <a:ea typeface="Arial"/>
              </a:rPr>
              <a:t>$0</a:t>
            </a:r>
            <a:endParaRPr b="0" lang="en-US" sz="4000" spc="-1" strike="noStrike">
              <a:solidFill>
                <a:srgbClr val="ffffff"/>
              </a:solidFill>
              <a:latin typeface="Arial"/>
            </a:endParaRPr>
          </a:p>
        </p:txBody>
      </p:sp>
      <p:sp>
        <p:nvSpPr>
          <p:cNvPr id="161" name="Text 13"/>
          <p:cNvSpPr/>
          <p:nvPr/>
        </p:nvSpPr>
        <p:spPr>
          <a:xfrm>
            <a:off x="8397360" y="3657600"/>
            <a:ext cx="2985480" cy="1004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5000"/>
              </a:lnSpc>
              <a:tabLst>
                <a:tab algn="l" pos="0"/>
              </a:tabLst>
            </a:pPr>
            <a:r>
              <a:rPr b="0" lang="en-US" sz="1300" spc="-1" strike="noStrike">
                <a:solidFill>
                  <a:srgbClr val="edeff4"/>
                </a:solidFill>
                <a:latin typeface="Arial"/>
                <a:ea typeface="Arial"/>
              </a:rPr>
              <a:t>memory-safety CVEs reported in Android's Rust code to date, across hundreds of thousands of lines</a:t>
            </a:r>
            <a:endParaRPr b="0" lang="en-US" sz="1300" spc="-1" strike="noStrike">
              <a:solidFill>
                <a:srgbClr val="ffffff"/>
              </a:solidFill>
              <a:latin typeface="Arial"/>
            </a:endParaRPr>
          </a:p>
        </p:txBody>
      </p:sp>
      <p:sp>
        <p:nvSpPr>
          <p:cNvPr id="162" name="Text 14"/>
          <p:cNvSpPr/>
          <p:nvPr/>
        </p:nvSpPr>
        <p:spPr>
          <a:xfrm>
            <a:off x="8397360" y="4800600"/>
            <a:ext cx="2985480" cy="410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950" spc="-1" strike="noStrike">
                <a:solidFill>
                  <a:srgbClr val="9aa4b8"/>
                </a:solidFill>
                <a:latin typeface="Arial"/>
                <a:ea typeface="Arial"/>
              </a:rPr>
              <a:t>Google Security Blog, 2024</a:t>
            </a:r>
            <a:endParaRPr b="0" lang="en-US" sz="950" spc="-1" strike="noStrike">
              <a:solidFill>
                <a:srgbClr val="ffffff"/>
              </a:solidFill>
              <a:latin typeface="Arial"/>
            </a:endParaRPr>
          </a:p>
        </p:txBody>
      </p:sp>
      <p:sp>
        <p:nvSpPr>
          <p:cNvPr id="163" name="Text 15"/>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4" name="Text 16"/>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66" name="Text 1"/>
          <p:cNvSpPr/>
          <p:nvPr/>
        </p:nvSpPr>
        <p:spPr>
          <a:xfrm>
            <a:off x="457200" y="1188720"/>
            <a:ext cx="1370160" cy="1370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9000" spc="-1" strike="noStrike">
                <a:solidFill>
                  <a:srgbClr val="202a40"/>
                </a:solidFill>
                <a:latin typeface="Arial"/>
                <a:ea typeface="Arial"/>
              </a:rPr>
              <a:t>“</a:t>
            </a:r>
            <a:endParaRPr b="0" lang="en-US" sz="9000" spc="-1" strike="noStrike">
              <a:solidFill>
                <a:srgbClr val="ffffff"/>
              </a:solidFill>
              <a:latin typeface="Arial"/>
            </a:endParaRPr>
          </a:p>
        </p:txBody>
      </p:sp>
      <p:sp>
        <p:nvSpPr>
          <p:cNvPr id="167" name="Text 2"/>
          <p:cNvSpPr/>
          <p:nvPr/>
        </p:nvSpPr>
        <p:spPr>
          <a:xfrm>
            <a:off x="1188720" y="2011680"/>
            <a:ext cx="9691200" cy="2193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5000"/>
              </a:lnSpc>
              <a:tabLst>
                <a:tab algn="l" pos="0"/>
              </a:tabLst>
            </a:pPr>
            <a:r>
              <a:rPr b="0" i="1" lang="en-US" sz="2500" spc="-1" strike="noStrike">
                <a:solidFill>
                  <a:srgbClr val="edeff4"/>
                </a:solidFill>
                <a:latin typeface="Arial"/>
                <a:ea typeface="Arial"/>
              </a:rPr>
              <a:t>Rust is one of those things where, if we can adopt it, ... it seems like a good idea, because clearly, the memory safety issues, memory ordering issues, in the kernel are much worse.</a:t>
            </a:r>
            <a:endParaRPr b="0" lang="en-US" sz="2500" spc="-1" strike="noStrike">
              <a:solidFill>
                <a:srgbClr val="ffffff"/>
              </a:solidFill>
              <a:latin typeface="Arial"/>
            </a:endParaRPr>
          </a:p>
        </p:txBody>
      </p:sp>
      <p:sp>
        <p:nvSpPr>
          <p:cNvPr id="168" name="Shape 3"/>
          <p:cNvSpPr/>
          <p:nvPr/>
        </p:nvSpPr>
        <p:spPr>
          <a:xfrm>
            <a:off x="1234440" y="4434840"/>
            <a:ext cx="548640" cy="360"/>
          </a:xfrm>
          <a:prstGeom prst="line">
            <a:avLst/>
          </a:prstGeom>
          <a:ln w="25400">
            <a:solidFill>
              <a:srgbClr val="ce422b"/>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69" name="Text 4"/>
          <p:cNvSpPr/>
          <p:nvPr/>
        </p:nvSpPr>
        <p:spPr>
          <a:xfrm>
            <a:off x="1188720" y="4572000"/>
            <a:ext cx="91425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e8804f"/>
                </a:solidFill>
                <a:latin typeface="Arial"/>
                <a:ea typeface="Arial"/>
              </a:rPr>
              <a:t>Linus Torvalds</a:t>
            </a:r>
            <a:endParaRPr b="0" lang="en-US" sz="1400" spc="-1" strike="noStrike">
              <a:solidFill>
                <a:srgbClr val="ffffff"/>
              </a:solidFill>
              <a:latin typeface="Arial"/>
            </a:endParaRPr>
          </a:p>
        </p:txBody>
      </p:sp>
      <p:sp>
        <p:nvSpPr>
          <p:cNvPr id="170" name="Text 5"/>
          <p:cNvSpPr/>
          <p:nvPr/>
        </p:nvSpPr>
        <p:spPr>
          <a:xfrm>
            <a:off x="1188720" y="4937760"/>
            <a:ext cx="9599760" cy="455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50" spc="-1" strike="noStrike">
                <a:solidFill>
                  <a:srgbClr val="9aa4b8"/>
                </a:solidFill>
                <a:latin typeface="Arial"/>
                <a:ea typeface="Arial"/>
              </a:rPr>
              <a:t>On Rust support merged into the Linux kernel, 2022</a:t>
            </a:r>
            <a:endParaRPr b="0" lang="en-US" sz="1150" spc="-1" strike="noStrike">
              <a:solidFill>
                <a:srgbClr val="ffffff"/>
              </a:solidFill>
              <a:latin typeface="Arial"/>
            </a:endParaRPr>
          </a:p>
        </p:txBody>
      </p:sp>
      <p:sp>
        <p:nvSpPr>
          <p:cNvPr id="171" name="Text 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2" name="Text 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17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You already do most of this in C++</a:t>
            </a:r>
            <a:endParaRPr b="0" lang="en-US" sz="2800" spc="-1" strike="noStrike">
              <a:solidFill>
                <a:srgbClr val="ffffff"/>
              </a:solidFill>
              <a:latin typeface="Arial"/>
            </a:endParaRPr>
          </a:p>
        </p:txBody>
      </p:sp>
      <p:sp>
        <p:nvSpPr>
          <p:cNvPr id="175"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 the honest starting point: modern C++ engineers aren't careless.</a:t>
            </a:r>
            <a:endParaRPr b="0" lang="en-US" sz="1300" spc="-1" strike="noStrike">
              <a:solidFill>
                <a:srgbClr val="ffffff"/>
              </a:solidFill>
              <a:latin typeface="Arial"/>
            </a:endParaRPr>
          </a:p>
        </p:txBody>
      </p:sp>
      <p:sp>
        <p:nvSpPr>
          <p:cNvPr id="176" name="Shape 3"/>
          <p:cNvSpPr/>
          <p:nvPr/>
        </p:nvSpPr>
        <p:spPr>
          <a:xfrm>
            <a:off x="548640" y="22219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 name="Shape 4"/>
          <p:cNvSpPr/>
          <p:nvPr/>
        </p:nvSpPr>
        <p:spPr>
          <a:xfrm>
            <a:off x="777240" y="25718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 name="Text 5"/>
          <p:cNvSpPr/>
          <p:nvPr/>
        </p:nvSpPr>
        <p:spPr>
          <a:xfrm>
            <a:off x="1143000" y="22219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RAII, smart pointers, move semantics:  </a:t>
            </a:r>
            <a:r>
              <a:rPr b="0" lang="en-US" sz="1200" spc="-1" strike="noStrike">
                <a:solidFill>
                  <a:srgbClr val="9aa4b8"/>
                </a:solidFill>
                <a:latin typeface="Arial"/>
                <a:ea typeface="Arial"/>
              </a:rPr>
              <a:t>you manage lifetime and ownership deliberately, by convention.</a:t>
            </a:r>
            <a:endParaRPr b="0" lang="en-US" sz="1200" spc="-1" strike="noStrike">
              <a:solidFill>
                <a:srgbClr val="ffffff"/>
              </a:solidFill>
              <a:latin typeface="Arial"/>
            </a:endParaRPr>
          </a:p>
        </p:txBody>
      </p:sp>
      <p:sp>
        <p:nvSpPr>
          <p:cNvPr id="179" name="Shape 6"/>
          <p:cNvSpPr/>
          <p:nvPr/>
        </p:nvSpPr>
        <p:spPr>
          <a:xfrm>
            <a:off x="548640" y="323244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 name="Shape 7"/>
          <p:cNvSpPr/>
          <p:nvPr/>
        </p:nvSpPr>
        <p:spPr>
          <a:xfrm>
            <a:off x="777240" y="35820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 name="Text 8"/>
          <p:cNvSpPr/>
          <p:nvPr/>
        </p:nvSpPr>
        <p:spPr>
          <a:xfrm>
            <a:off x="1143000" y="323244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Sanitizers (ASan, TSan, UBSan), Valgrind, static analyzers:  </a:t>
            </a:r>
            <a:r>
              <a:rPr b="0" lang="en-US" sz="1200" spc="-1" strike="noStrike">
                <a:solidFill>
                  <a:srgbClr val="9aa4b8"/>
                </a:solidFill>
                <a:latin typeface="Arial"/>
                <a:ea typeface="Arial"/>
              </a:rPr>
              <a:t>you catch what the compiler doesn't.</a:t>
            </a:r>
            <a:endParaRPr b="0" lang="en-US" sz="1200" spc="-1" strike="noStrike">
              <a:solidFill>
                <a:srgbClr val="ffffff"/>
              </a:solidFill>
              <a:latin typeface="Arial"/>
            </a:endParaRPr>
          </a:p>
        </p:txBody>
      </p:sp>
      <p:sp>
        <p:nvSpPr>
          <p:cNvPr id="182" name="Shape 9"/>
          <p:cNvSpPr/>
          <p:nvPr/>
        </p:nvSpPr>
        <p:spPr>
          <a:xfrm>
            <a:off x="548640" y="424296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 name="Shape 10"/>
          <p:cNvSpPr/>
          <p:nvPr/>
        </p:nvSpPr>
        <p:spPr>
          <a:xfrm>
            <a:off x="777240" y="45925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 name="Text 11"/>
          <p:cNvSpPr/>
          <p:nvPr/>
        </p:nvSpPr>
        <p:spPr>
          <a:xfrm>
            <a:off x="1143000" y="424296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C++20 concepts, ranges, and modules:  </a:t>
            </a:r>
            <a:r>
              <a:rPr b="0" lang="en-US" sz="1200" spc="-1" strike="noStrike">
                <a:solidFill>
                  <a:srgbClr val="9aa4b8"/>
                </a:solidFill>
                <a:latin typeface="Arial"/>
                <a:ea typeface="Arial"/>
              </a:rPr>
              <a:t>you're already reaching for stronger compile-time guarantees.</a:t>
            </a:r>
            <a:endParaRPr b="0" lang="en-US" sz="1200" spc="-1" strike="noStrike">
              <a:solidFill>
                <a:srgbClr val="ffffff"/>
              </a:solidFill>
              <a:latin typeface="Arial"/>
            </a:endParaRPr>
          </a:p>
        </p:txBody>
      </p:sp>
      <p:sp>
        <p:nvSpPr>
          <p:cNvPr id="185" name="Shape 12"/>
          <p:cNvSpPr/>
          <p:nvPr/>
        </p:nvSpPr>
        <p:spPr>
          <a:xfrm>
            <a:off x="548640" y="52531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 name="Shape 13"/>
          <p:cNvSpPr/>
          <p:nvPr/>
        </p:nvSpPr>
        <p:spPr>
          <a:xfrm>
            <a:off x="777240" y="56030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 name="Text 14"/>
          <p:cNvSpPr/>
          <p:nvPr/>
        </p:nvSpPr>
        <p:spPr>
          <a:xfrm>
            <a:off x="1143000" y="52531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So the real question isn't "does C++ have tools?"  </a:t>
            </a:r>
            <a:r>
              <a:rPr b="0" lang="en-US" sz="1200" spc="-1" strike="noStrike">
                <a:solidFill>
                  <a:srgbClr val="9aa4b8"/>
                </a:solidFill>
                <a:latin typeface="Arial"/>
                <a:ea typeface="Arial"/>
              </a:rPr>
              <a:t>It's "where does discipline stop scaling?"</a:t>
            </a:r>
            <a:endParaRPr b="0" lang="en-US" sz="1200" spc="-1" strike="noStrike">
              <a:solidFill>
                <a:srgbClr val="ffffff"/>
              </a:solidFill>
              <a:latin typeface="Arial"/>
            </a:endParaRPr>
          </a:p>
        </p:txBody>
      </p:sp>
      <p:sp>
        <p:nvSpPr>
          <p:cNvPr id="188" name="Text 15"/>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9" name="Text 16"/>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19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Where the check happens, not just whether it happens</a:t>
            </a:r>
            <a:endParaRPr b="0" lang="en-US" sz="2800" spc="-1" strike="noStrike">
              <a:solidFill>
                <a:srgbClr val="ffffff"/>
              </a:solidFill>
              <a:latin typeface="Arial"/>
            </a:endParaRPr>
          </a:p>
        </p:txBody>
      </p:sp>
      <p:sp>
        <p:nvSpPr>
          <p:cNvPr id="19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9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 + SANITIZERS</a:t>
            </a:r>
            <a:endParaRPr b="0" lang="en-US" sz="1300" spc="-1" strike="noStrike">
              <a:solidFill>
                <a:srgbClr val="ffffff"/>
              </a:solidFill>
              <a:latin typeface="Arial"/>
            </a:endParaRPr>
          </a:p>
        </p:txBody>
      </p:sp>
      <p:sp>
        <p:nvSpPr>
          <p:cNvPr id="19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ASan/TSan catch this...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 a code path you</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actually exercised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runtime, in CI.</a:t>
            </a:r>
            <a:endParaRPr b="0" lang="en-US" sz="1200" spc="-1" strike="noStrike">
              <a:solidFill>
                <a:srgbClr val="ffffff"/>
              </a:solidFill>
              <a:latin typeface="Arial"/>
            </a:endParaRPr>
          </a:p>
        </p:txBody>
      </p:sp>
      <p:sp>
        <p:nvSpPr>
          <p:cNvPr id="19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Sanitizers are excellent, but they only see the paths your tests execute. An untested branch ships the bug.</a:t>
            </a:r>
            <a:endParaRPr b="0" lang="en-US" sz="1100" spc="-1" strike="noStrike">
              <a:solidFill>
                <a:srgbClr val="ffffff"/>
              </a:solidFill>
              <a:latin typeface="Arial"/>
            </a:endParaRPr>
          </a:p>
        </p:txBody>
      </p:sp>
      <p:sp>
        <p:nvSpPr>
          <p:cNvPr id="19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0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20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The borrow checker sees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EVERY path, including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ones no test hits,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before the binary exists.</a:t>
            </a:r>
            <a:endParaRPr b="0" lang="en-US" sz="1200" spc="-1" strike="noStrike">
              <a:solidFill>
                <a:srgbClr val="ffffff"/>
              </a:solidFill>
              <a:latin typeface="Arial"/>
            </a:endParaRPr>
          </a:p>
        </p:txBody>
      </p:sp>
      <p:sp>
        <p:nvSpPr>
          <p:cNvPr id="20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analysis is static and exhaustive over the whole function, not just the paths a test suite happens to walk.</a:t>
            </a:r>
            <a:endParaRPr b="0" lang="en-US" sz="1100" spc="-1" strike="noStrike">
              <a:solidFill>
                <a:srgbClr val="ffffff"/>
              </a:solidFill>
              <a:latin typeface="Arial"/>
            </a:endParaRPr>
          </a:p>
        </p:txBody>
      </p:sp>
      <p:sp>
        <p:nvSpPr>
          <p:cNvPr id="20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Runtime detection is bounded by test coverage; compile-time checking is bounded by nothing but the code itself.</a:t>
            </a:r>
            <a:endParaRPr b="0" lang="en-US" sz="1150" spc="-1" strike="noStrike">
              <a:solidFill>
                <a:srgbClr val="ffffff"/>
              </a:solidFill>
              <a:latin typeface="Arial"/>
            </a:endParaRPr>
          </a:p>
        </p:txBody>
      </p:sp>
      <p:sp>
        <p:nvSpPr>
          <p:cNvPr id="20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20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Fearless concurrency: the argument beyond memory safety</a:t>
            </a:r>
            <a:endParaRPr b="0" lang="en-US" sz="2800" spc="-1" strike="noStrike">
              <a:solidFill>
                <a:srgbClr val="ffffff"/>
              </a:solidFill>
              <a:latin typeface="Arial"/>
            </a:endParaRPr>
          </a:p>
        </p:txBody>
      </p:sp>
      <p:sp>
        <p:nvSpPr>
          <p:cNvPr id="210"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 the case that tends to land hardest with experienced C++ engineers.</a:t>
            </a:r>
            <a:endParaRPr b="0" lang="en-US" sz="1300" spc="-1" strike="noStrike">
              <a:solidFill>
                <a:srgbClr val="ffffff"/>
              </a:solidFill>
              <a:latin typeface="Arial"/>
            </a:endParaRPr>
          </a:p>
        </p:txBody>
      </p:sp>
      <p:sp>
        <p:nvSpPr>
          <p:cNvPr id="211"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shared_ptr does not stop a data race.  </a:t>
            </a:r>
            <a:r>
              <a:rPr b="0" lang="en-US" sz="1200" spc="-1" strike="noStrike">
                <a:solidFill>
                  <a:srgbClr val="9aa4b8"/>
                </a:solidFill>
                <a:latin typeface="Arial"/>
                <a:ea typeface="Arial"/>
              </a:rPr>
              <a:t>Reference counting is thread-safe; the pointee's mutation is not.</a:t>
            </a:r>
            <a:endParaRPr b="0" lang="en-US" sz="1200" spc="-1" strike="noStrike">
              <a:solidFill>
                <a:srgbClr val="ffffff"/>
              </a:solidFill>
              <a:latin typeface="Arial"/>
            </a:endParaRPr>
          </a:p>
        </p:txBody>
      </p:sp>
      <p:sp>
        <p:nvSpPr>
          <p:cNvPr id="214"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mutex protects data only if every access path remembers to take it.  </a:t>
            </a:r>
            <a:r>
              <a:rPr b="0" lang="en-US" sz="1200" spc="-1" strike="noStrike">
                <a:solidFill>
                  <a:srgbClr val="9aa4b8"/>
                </a:solidFill>
                <a:latin typeface="Arial"/>
                <a:ea typeface="Arial"/>
              </a:rPr>
              <a:t>Nothing enforces that convention.</a:t>
            </a:r>
            <a:endParaRPr b="0" lang="en-US" sz="1200" spc="-1" strike="noStrike">
              <a:solidFill>
                <a:srgbClr val="ffffff"/>
              </a:solidFill>
              <a:latin typeface="Arial"/>
            </a:endParaRPr>
          </a:p>
        </p:txBody>
      </p:sp>
      <p:sp>
        <p:nvSpPr>
          <p:cNvPr id="217"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Rust's Send and Sync traits make thread-safety part of the type,  </a:t>
            </a:r>
            <a:r>
              <a:rPr b="0" lang="en-US" sz="1200" spc="-1" strike="noStrike">
                <a:solidFill>
                  <a:srgbClr val="9aa4b8"/>
                </a:solidFill>
                <a:latin typeface="Arial"/>
                <a:ea typeface="Arial"/>
              </a:rPr>
              <a:t>so "forgot to lock" becomes a compile error, not a 3 a.m. page.</a:t>
            </a:r>
            <a:endParaRPr b="0" lang="en-US" sz="1200" spc="-1" strike="noStrike">
              <a:solidFill>
                <a:srgbClr val="ffffff"/>
              </a:solidFill>
              <a:latin typeface="Arial"/>
            </a:endParaRPr>
          </a:p>
        </p:txBody>
      </p:sp>
      <p:sp>
        <p:nvSpPr>
          <p:cNvPr id="220"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1"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22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Mutex discipline vs. mutex enforcement</a:t>
            </a:r>
            <a:endParaRPr b="0" lang="en-US" sz="2800" spc="-1" strike="noStrike">
              <a:solidFill>
                <a:srgbClr val="ffffff"/>
              </a:solidFill>
              <a:latin typeface="Arial"/>
            </a:endParaRPr>
          </a:p>
        </p:txBody>
      </p:sp>
      <p:sp>
        <p:nvSpPr>
          <p:cNvPr id="22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22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22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State { int val;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State* s = get_shared();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std::mutex m; // easy to</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forget to actually take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s-&gt;val++;  // race if missed</a:t>
            </a:r>
            <a:endParaRPr b="0" lang="en-US" sz="1200" spc="-1" strike="noStrike">
              <a:solidFill>
                <a:srgbClr val="ffffff"/>
              </a:solidFill>
              <a:latin typeface="Arial"/>
            </a:endParaRPr>
          </a:p>
        </p:txBody>
      </p:sp>
      <p:sp>
        <p:nvSpPr>
          <p:cNvPr id="22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mutex and the data it protects are separate entities, connected only by a comment and a habit.</a:t>
            </a:r>
            <a:endParaRPr b="0" lang="en-US" sz="1100" spc="-1" strike="noStrike">
              <a:solidFill>
                <a:srgbClr val="ffffff"/>
              </a:solidFill>
              <a:latin typeface="Arial"/>
            </a:endParaRPr>
          </a:p>
        </p:txBody>
      </p:sp>
      <p:sp>
        <p:nvSpPr>
          <p:cNvPr id="23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3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23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State { val: Mutex&lt;i32&gt;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s = get_shared();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*s.val.lock().unwrap() += 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can't touch val without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locking — no separate step</a:t>
            </a:r>
            <a:endParaRPr b="0" lang="en-US" sz="1200" spc="-1" strike="noStrike">
              <a:solidFill>
                <a:srgbClr val="ffffff"/>
              </a:solidFill>
              <a:latin typeface="Arial"/>
            </a:endParaRPr>
          </a:p>
        </p:txBody>
      </p:sp>
      <p:sp>
        <p:nvSpPr>
          <p:cNvPr id="23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Mutex&lt;T&gt; owns the data it guards. There is no way to reach the i32 without going through the lock.</a:t>
            </a:r>
            <a:endParaRPr b="0" lang="en-US" sz="1100" spc="-1" strike="noStrike">
              <a:solidFill>
                <a:srgbClr val="ffffff"/>
              </a:solidFill>
              <a:latin typeface="Arial"/>
            </a:endParaRPr>
          </a:p>
        </p:txBody>
      </p:sp>
      <p:sp>
        <p:nvSpPr>
          <p:cNvPr id="23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Coupling the lock to the data it protects at the type level removes an entire class of forgotten-lock bugs.</a:t>
            </a:r>
            <a:endParaRPr b="0" lang="en-US" sz="1150" spc="-1" strike="noStrike">
              <a:solidFill>
                <a:srgbClr val="ffffff"/>
              </a:solidFill>
              <a:latin typeface="Arial"/>
            </a:endParaRPr>
          </a:p>
        </p:txBody>
      </p:sp>
      <p:sp>
        <p:nvSpPr>
          <p:cNvPr id="23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3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24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Dependency &amp; build management</a:t>
            </a:r>
            <a:endParaRPr b="0" lang="en-US" sz="2800" spc="-1" strike="noStrike">
              <a:solidFill>
                <a:srgbClr val="ffffff"/>
              </a:solidFill>
              <a:latin typeface="Arial"/>
            </a:endParaRPr>
          </a:p>
        </p:txBody>
      </p:sp>
      <p:sp>
        <p:nvSpPr>
          <p:cNvPr id="24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24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CMAKE + VCPKG/CONAN</a:t>
            </a:r>
            <a:endParaRPr b="0" lang="en-US" sz="1300" spc="-1" strike="noStrike">
              <a:solidFill>
                <a:srgbClr val="ffffff"/>
              </a:solidFill>
              <a:latin typeface="Arial"/>
            </a:endParaRPr>
          </a:p>
        </p:txBody>
      </p:sp>
      <p:sp>
        <p:nvSpPr>
          <p:cNvPr id="24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CMakeLists.txt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vcpkg.json / conanfile.txt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find_package(...)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target_link_libraries(...)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three tools, one graph</a:t>
            </a:r>
            <a:endParaRPr b="0" lang="en-US" sz="1200" spc="-1" strike="noStrike">
              <a:solidFill>
                <a:srgbClr val="ffffff"/>
              </a:solidFill>
              <a:latin typeface="Arial"/>
            </a:endParaRPr>
          </a:p>
        </p:txBody>
      </p:sp>
      <p:sp>
        <p:nvSpPr>
          <p:cNvPr id="24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working C++ project routinely juggles a build generator, a package manager, and manual find_package plumbing.</a:t>
            </a:r>
            <a:endParaRPr b="0" lang="en-US" sz="1100" spc="-1" strike="noStrike">
              <a:solidFill>
                <a:srgbClr val="ffffff"/>
              </a:solidFill>
              <a:latin typeface="Arial"/>
            </a:endParaRPr>
          </a:p>
        </p:txBody>
      </p:sp>
      <p:sp>
        <p:nvSpPr>
          <p:cNvPr id="24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5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CARGO</a:t>
            </a:r>
            <a:endParaRPr b="0" lang="en-US" sz="1300" spc="-1" strike="noStrike">
              <a:solidFill>
                <a:srgbClr val="ffffff"/>
              </a:solidFill>
              <a:latin typeface="Arial"/>
            </a:endParaRPr>
          </a:p>
        </p:txBody>
      </p:sp>
      <p:sp>
        <p:nvSpPr>
          <p:cNvPr id="25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[dependencies]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serde = "1.0"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tokio = { version = "1",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features = ["full"]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cargo build. that's it.</a:t>
            </a:r>
            <a:endParaRPr b="0" lang="en-US" sz="1200" spc="-1" strike="noStrike">
              <a:solidFill>
                <a:srgbClr val="ffffff"/>
              </a:solidFill>
              <a:latin typeface="Arial"/>
            </a:endParaRPr>
          </a:p>
        </p:txBody>
      </p:sp>
      <p:sp>
        <p:nvSpPr>
          <p:cNvPr id="25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One manifest, one lockfile, one command. The package manager and the build system are the same tool.</a:t>
            </a:r>
            <a:endParaRPr b="0" lang="en-US" sz="1100" spc="-1" strike="noStrike">
              <a:solidFill>
                <a:srgbClr val="ffffff"/>
              </a:solidFill>
              <a:latin typeface="Arial"/>
            </a:endParaRPr>
          </a:p>
        </p:txBody>
      </p:sp>
      <p:sp>
        <p:nvSpPr>
          <p:cNvPr id="25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Less accidental complexity in the build graph means more engineering time spent on the actual problem.</a:t>
            </a:r>
            <a:endParaRPr b="0" lang="en-US" sz="1150" spc="-1" strike="noStrike">
              <a:solidFill>
                <a:srgbClr val="ffffff"/>
              </a:solidFill>
              <a:latin typeface="Arial"/>
            </a:endParaRPr>
          </a:p>
        </p:txBody>
      </p:sp>
      <p:sp>
        <p:nvSpPr>
          <p:cNvPr id="25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5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25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Supply chain &amp; build reproducibility</a:t>
            </a:r>
            <a:endParaRPr b="0" lang="en-US" sz="2800" spc="-1" strike="noStrike">
              <a:solidFill>
                <a:srgbClr val="ffffff"/>
              </a:solidFill>
              <a:latin typeface="Arial"/>
            </a:endParaRPr>
          </a:p>
        </p:txBody>
      </p:sp>
      <p:sp>
        <p:nvSpPr>
          <p:cNvPr id="26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Cargo.lock pins the exact dependency graph,  </a:t>
            </a:r>
            <a:r>
              <a:rPr b="0" lang="en-US" sz="1200" spc="-1" strike="noStrike">
                <a:solidFill>
                  <a:srgbClr val="9aa4b8"/>
                </a:solidFill>
                <a:latin typeface="Arial"/>
                <a:ea typeface="Arial"/>
              </a:rPr>
              <a:t>byte-for-byte reproducible across machines and CI runners.</a:t>
            </a:r>
            <a:endParaRPr b="0" lang="en-US" sz="1200" spc="-1" strike="noStrike">
              <a:solidFill>
                <a:srgbClr val="ffffff"/>
              </a:solidFill>
              <a:latin typeface="Arial"/>
            </a:endParaRPr>
          </a:p>
        </p:txBody>
      </p:sp>
      <p:sp>
        <p:nvSpPr>
          <p:cNvPr id="26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ODR violations from mismatched header/library versions:  </a:t>
            </a:r>
            <a:r>
              <a:rPr b="0" lang="en-US" sz="1200" spc="-1" strike="noStrike">
                <a:solidFill>
                  <a:srgbClr val="9aa4b8"/>
                </a:solidFill>
                <a:latin typeface="Arial"/>
                <a:ea typeface="Arial"/>
              </a:rPr>
              <a:t>the compiler, not the linker, is the arbiter of correctness.</a:t>
            </a:r>
            <a:endParaRPr b="0" lang="en-US" sz="1200" spc="-1" strike="noStrike">
              <a:solidFill>
                <a:srgbClr val="ffffff"/>
              </a:solidFill>
              <a:latin typeface="Arial"/>
            </a:endParaRPr>
          </a:p>
        </p:txBody>
      </p:sp>
      <p:sp>
        <p:nvSpPr>
          <p:cNvPr id="26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crates.io enforces immutable published versions,  </a:t>
            </a:r>
            <a:r>
              <a:rPr b="0" lang="en-US" sz="1200" spc="-1" strike="noStrike">
                <a:solidFill>
                  <a:srgbClr val="9aa4b8"/>
                </a:solidFill>
                <a:latin typeface="Arial"/>
                <a:ea typeface="Arial"/>
              </a:rPr>
              <a:t>so "it worked yesterday" failures from a mutated dependency don't happen.</a:t>
            </a:r>
            <a:endParaRPr b="0" lang="en-US" sz="1200" spc="-1" strike="noStrike">
              <a:solidFill>
                <a:srgbClr val="ffffff"/>
              </a:solidFill>
              <a:latin typeface="Arial"/>
            </a:endParaRPr>
          </a:p>
        </p:txBody>
      </p:sp>
      <p:sp>
        <p:nvSpPr>
          <p:cNvPr id="26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7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7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a:t>
            </a:r>
            <a:endParaRPr b="0" lang="en-US" sz="1300" spc="-1" strike="noStrike">
              <a:solidFill>
                <a:srgbClr val="ffffff"/>
              </a:solidFill>
              <a:latin typeface="Arial"/>
            </a:endParaRPr>
          </a:p>
        </p:txBody>
      </p:sp>
      <p:sp>
        <p:nvSpPr>
          <p:cNvPr id="27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Macro hygiene</a:t>
            </a:r>
            <a:endParaRPr b="0" lang="en-US" sz="2800" spc="-1" strike="noStrike">
              <a:solidFill>
                <a:srgbClr val="ffffff"/>
              </a:solidFill>
              <a:latin typeface="Arial"/>
            </a:endParaRPr>
          </a:p>
        </p:txBody>
      </p:sp>
      <p:sp>
        <p:nvSpPr>
          <p:cNvPr id="27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27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27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#define MAX(a,b) ((a)&gt;(b)?(a):(b))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MAX(x++, 3); // x incremented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twice — surprise</a:t>
            </a:r>
            <a:endParaRPr b="0" lang="en-US" sz="1200" spc="-1" strike="noStrike">
              <a:solidFill>
                <a:srgbClr val="ffffff"/>
              </a:solidFill>
              <a:latin typeface="Arial"/>
            </a:endParaRPr>
          </a:p>
        </p:txBody>
      </p:sp>
      <p:sp>
        <p:nvSpPr>
          <p:cNvPr id="27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preprocessor does blind text substitution before the compiler even sees C++ syntax. Side effects and name capture are landmines.</a:t>
            </a:r>
            <a:endParaRPr b="0" lang="en-US" sz="1100" spc="-1" strike="noStrike">
              <a:solidFill>
                <a:srgbClr val="ffffff"/>
              </a:solidFill>
              <a:latin typeface="Arial"/>
            </a:endParaRPr>
          </a:p>
        </p:txBody>
      </p:sp>
      <p:sp>
        <p:nvSpPr>
          <p:cNvPr id="27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28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28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macro_rules! max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($a:expr, $b:expr) =&gt;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$a &gt; $b { $a } else {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hygienic: no name capture</a:t>
            </a:r>
            <a:endParaRPr b="0" lang="en-US" sz="1200" spc="-1" strike="noStrike">
              <a:solidFill>
                <a:srgbClr val="ffffff"/>
              </a:solidFill>
              <a:latin typeface="Arial"/>
            </a:endParaRPr>
          </a:p>
        </p:txBody>
      </p:sp>
      <p:sp>
        <p:nvSpPr>
          <p:cNvPr id="28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Declarative macros operate on the syntax tree with hygiene: a macro's internal names can't accidentally collide with the caller's.</a:t>
            </a:r>
            <a:endParaRPr b="0" lang="en-US" sz="1100" spc="-1" strike="noStrike">
              <a:solidFill>
                <a:srgbClr val="ffffff"/>
              </a:solidFill>
              <a:latin typeface="Arial"/>
            </a:endParaRPr>
          </a:p>
        </p:txBody>
      </p:sp>
      <p:sp>
        <p:nvSpPr>
          <p:cNvPr id="28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8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Macro-related bugs in C++ are a well-known tax; Rust's macro system was designed after decades of watching that tax get paid.</a:t>
            </a:r>
            <a:endParaRPr b="0" lang="en-US" sz="1150" spc="-1" strike="noStrike">
              <a:solidFill>
                <a:srgbClr val="ffffff"/>
              </a:solidFill>
              <a:latin typeface="Arial"/>
            </a:endParaRPr>
          </a:p>
        </p:txBody>
      </p:sp>
      <p:sp>
        <p:nvSpPr>
          <p:cNvPr id="28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8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8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29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Trait coherence vs. overload resolution</a:t>
            </a:r>
            <a:endParaRPr b="0" lang="en-US" sz="2800" spc="-1" strike="noStrike">
              <a:solidFill>
                <a:srgbClr val="ffffff"/>
              </a:solidFill>
              <a:latin typeface="Arial"/>
            </a:endParaRPr>
          </a:p>
        </p:txBody>
      </p:sp>
      <p:sp>
        <p:nvSpPr>
          <p:cNvPr id="29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 overload resolution involves ADL, two-phase lookup, and template deduction interacting;  </a:t>
            </a:r>
            <a:r>
              <a:rPr b="0" lang="en-US" sz="1200" spc="-1" strike="noStrike">
                <a:solidFill>
                  <a:srgbClr val="9aa4b8"/>
                </a:solidFill>
                <a:latin typeface="Arial"/>
                <a:ea typeface="Arial"/>
              </a:rPr>
              <a:t>genuinely one of the hardest parts of the standard to reason about.</a:t>
            </a:r>
            <a:endParaRPr b="0" lang="en-US" sz="1200" spc="-1" strike="noStrike">
              <a:solidFill>
                <a:srgbClr val="ffffff"/>
              </a:solidFill>
              <a:latin typeface="Arial"/>
            </a:endParaRPr>
          </a:p>
        </p:txBody>
      </p:sp>
      <p:sp>
        <p:nvSpPr>
          <p:cNvPr id="29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Rust's trait coherence rules (the "orphan rule") guarantee  </a:t>
            </a:r>
            <a:r>
              <a:rPr b="0" lang="en-US" sz="1200" spc="-1" strike="noStrike">
                <a:solidFill>
                  <a:srgbClr val="9aa4b8"/>
                </a:solidFill>
                <a:latin typeface="Arial"/>
                <a:ea typeface="Arial"/>
              </a:rPr>
              <a:t>exactly one implementation of a trait for a type can exist, globally, ever.</a:t>
            </a:r>
            <a:endParaRPr b="0" lang="en-US" sz="1200" spc="-1" strike="noStrike">
              <a:solidFill>
                <a:srgbClr val="ffffff"/>
              </a:solidFill>
              <a:latin typeface="Arial"/>
            </a:endParaRPr>
          </a:p>
        </p:txBody>
      </p:sp>
      <p:sp>
        <p:nvSpPr>
          <p:cNvPr id="29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9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result: which code runs for foo(x) is a local, mechanical question,  </a:t>
            </a:r>
            <a:r>
              <a:rPr b="0" lang="en-US" sz="1200" spc="-1" strike="noStrike">
                <a:solidFill>
                  <a:srgbClr val="9aa4b8"/>
                </a:solidFill>
                <a:latin typeface="Arial"/>
                <a:ea typeface="Arial"/>
              </a:rPr>
              <a:t>not one that requires knowing every header transitively included.</a:t>
            </a:r>
            <a:endParaRPr b="0" lang="en-US" sz="1200" spc="-1" strike="noStrike">
              <a:solidFill>
                <a:srgbClr val="ffffff"/>
              </a:solidFill>
              <a:latin typeface="Arial"/>
            </a:endParaRPr>
          </a:p>
        </p:txBody>
      </p:sp>
      <p:sp>
        <p:nvSpPr>
          <p:cNvPr id="30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0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0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30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Industry momentum</a:t>
            </a:r>
            <a:endParaRPr b="0" lang="en-US" sz="2800" spc="-1" strike="noStrike">
              <a:solidFill>
                <a:srgbClr val="ffffff"/>
              </a:solidFill>
              <a:latin typeface="Arial"/>
            </a:endParaRPr>
          </a:p>
        </p:txBody>
      </p:sp>
      <p:sp>
        <p:nvSpPr>
          <p:cNvPr id="304"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isn't a research language anymore — it's shipping in the places that used to be C++-only.</a:t>
            </a:r>
            <a:endParaRPr b="0" lang="en-US" sz="1300" spc="-1" strike="noStrike">
              <a:solidFill>
                <a:srgbClr val="ffffff"/>
              </a:solidFill>
              <a:latin typeface="Arial"/>
            </a:endParaRPr>
          </a:p>
        </p:txBody>
      </p:sp>
      <p:sp>
        <p:nvSpPr>
          <p:cNvPr id="305" name="Shape 3"/>
          <p:cNvSpPr/>
          <p:nvPr/>
        </p:nvSpPr>
        <p:spPr>
          <a:xfrm>
            <a:off x="548640" y="22219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6" name="Shape 4"/>
          <p:cNvSpPr/>
          <p:nvPr/>
        </p:nvSpPr>
        <p:spPr>
          <a:xfrm>
            <a:off x="777240" y="25718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7" name="Text 5"/>
          <p:cNvSpPr/>
          <p:nvPr/>
        </p:nvSpPr>
        <p:spPr>
          <a:xfrm>
            <a:off x="1143000" y="22219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Linux kernel:  </a:t>
            </a:r>
            <a:r>
              <a:rPr b="0" lang="en-US" sz="1200" spc="-1" strike="noStrike">
                <a:solidFill>
                  <a:srgbClr val="9aa4b8"/>
                </a:solidFill>
                <a:latin typeface="Arial"/>
                <a:ea typeface="Arial"/>
              </a:rPr>
              <a:t>Rust accepted as a second implementation language alongside C, starting 6.1.</a:t>
            </a:r>
            <a:endParaRPr b="0" lang="en-US" sz="1200" spc="-1" strike="noStrike">
              <a:solidFill>
                <a:srgbClr val="ffffff"/>
              </a:solidFill>
              <a:latin typeface="Arial"/>
            </a:endParaRPr>
          </a:p>
        </p:txBody>
      </p:sp>
      <p:sp>
        <p:nvSpPr>
          <p:cNvPr id="308" name="Shape 6"/>
          <p:cNvSpPr/>
          <p:nvPr/>
        </p:nvSpPr>
        <p:spPr>
          <a:xfrm>
            <a:off x="548640" y="323244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09" name="Shape 7"/>
          <p:cNvSpPr/>
          <p:nvPr/>
        </p:nvSpPr>
        <p:spPr>
          <a:xfrm>
            <a:off x="777240" y="35820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0" name="Text 8"/>
          <p:cNvSpPr/>
          <p:nvPr/>
        </p:nvSpPr>
        <p:spPr>
          <a:xfrm>
            <a:off x="1143000" y="323244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Android &amp; ChromeOS:  </a:t>
            </a:r>
            <a:r>
              <a:rPr b="0" lang="en-US" sz="1200" spc="-1" strike="noStrike">
                <a:solidFill>
                  <a:srgbClr val="9aa4b8"/>
                </a:solidFill>
                <a:latin typeface="Arial"/>
                <a:ea typeface="Arial"/>
              </a:rPr>
              <a:t>new native code written in Rust across the OS and platform layers.</a:t>
            </a:r>
            <a:endParaRPr b="0" lang="en-US" sz="1200" spc="-1" strike="noStrike">
              <a:solidFill>
                <a:srgbClr val="ffffff"/>
              </a:solidFill>
              <a:latin typeface="Arial"/>
            </a:endParaRPr>
          </a:p>
        </p:txBody>
      </p:sp>
      <p:sp>
        <p:nvSpPr>
          <p:cNvPr id="311" name="Shape 9"/>
          <p:cNvSpPr/>
          <p:nvPr/>
        </p:nvSpPr>
        <p:spPr>
          <a:xfrm>
            <a:off x="548640" y="424296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2" name="Shape 10"/>
          <p:cNvSpPr/>
          <p:nvPr/>
        </p:nvSpPr>
        <p:spPr>
          <a:xfrm>
            <a:off x="777240" y="45925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3" name="Text 11"/>
          <p:cNvSpPr/>
          <p:nvPr/>
        </p:nvSpPr>
        <p:spPr>
          <a:xfrm>
            <a:off x="1143000" y="424296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AWS, Microsoft Azure, Cloudflare, Discord, Dropbox:  </a:t>
            </a:r>
            <a:r>
              <a:rPr b="0" lang="en-US" sz="1200" spc="-1" strike="noStrike">
                <a:solidFill>
                  <a:srgbClr val="9aa4b8"/>
                </a:solidFill>
                <a:latin typeface="Arial"/>
                <a:ea typeface="Arial"/>
              </a:rPr>
              <a:t>Rust in production for performance-critical infrastructure.</a:t>
            </a:r>
            <a:endParaRPr b="0" lang="en-US" sz="1200" spc="-1" strike="noStrike">
              <a:solidFill>
                <a:srgbClr val="ffffff"/>
              </a:solidFill>
              <a:latin typeface="Arial"/>
            </a:endParaRPr>
          </a:p>
        </p:txBody>
      </p:sp>
      <p:sp>
        <p:nvSpPr>
          <p:cNvPr id="314" name="Shape 12"/>
          <p:cNvSpPr/>
          <p:nvPr/>
        </p:nvSpPr>
        <p:spPr>
          <a:xfrm>
            <a:off x="548640" y="5253120"/>
            <a:ext cx="11062800" cy="899280"/>
          </a:xfrm>
          <a:prstGeom prst="roundRect">
            <a:avLst>
              <a:gd name="adj" fmla="val 7107"/>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5" name="Shape 13"/>
          <p:cNvSpPr/>
          <p:nvPr/>
        </p:nvSpPr>
        <p:spPr>
          <a:xfrm>
            <a:off x="777240" y="56030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6" name="Text 14"/>
          <p:cNvSpPr/>
          <p:nvPr/>
        </p:nvSpPr>
        <p:spPr>
          <a:xfrm>
            <a:off x="1143000" y="5253120"/>
            <a:ext cx="102398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Windows kernel components:  </a:t>
            </a:r>
            <a:r>
              <a:rPr b="0" lang="en-US" sz="1200" spc="-1" strike="noStrike">
                <a:solidFill>
                  <a:srgbClr val="9aa4b8"/>
                </a:solidFill>
                <a:latin typeface="Arial"/>
                <a:ea typeface="Arial"/>
              </a:rPr>
              <a:t>Microsoft has been porting select low-level components to Rust.</a:t>
            </a:r>
            <a:endParaRPr b="0" lang="en-US" sz="1200" spc="-1" strike="noStrike">
              <a:solidFill>
                <a:srgbClr val="ffffff"/>
              </a:solidFill>
              <a:latin typeface="Arial"/>
            </a:endParaRPr>
          </a:p>
        </p:txBody>
      </p:sp>
      <p:sp>
        <p:nvSpPr>
          <p:cNvPr id="317" name="Text 15"/>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18" name="Text 16"/>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1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WHY RUST? (BEYOND MEMORY SAFETY)</a:t>
            </a:r>
            <a:endParaRPr b="0" lang="en-US" sz="1300" spc="-1" strike="noStrike">
              <a:solidFill>
                <a:srgbClr val="ffffff"/>
              </a:solidFill>
              <a:latin typeface="Arial"/>
            </a:endParaRPr>
          </a:p>
        </p:txBody>
      </p:sp>
      <p:sp>
        <p:nvSpPr>
          <p:cNvPr id="32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Government &amp; industry security guidance</a:t>
            </a:r>
            <a:endParaRPr b="0" lang="en-US" sz="2800" spc="-1" strike="noStrike">
              <a:solidFill>
                <a:srgbClr val="ffffff"/>
              </a:solidFill>
              <a:latin typeface="Arial"/>
            </a:endParaRPr>
          </a:p>
        </p:txBody>
      </p:sp>
      <p:sp>
        <p:nvSpPr>
          <p:cNvPr id="32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U.S. Office of the National Cyber Director (2024):  </a:t>
            </a:r>
            <a:r>
              <a:rPr b="0" lang="en-US" sz="1200" spc="-1" strike="noStrike">
                <a:solidFill>
                  <a:srgbClr val="9aa4b8"/>
                </a:solidFill>
                <a:latin typeface="Arial"/>
                <a:ea typeface="Arial"/>
              </a:rPr>
              <a:t>urged industry to adopt memory-safe languages, naming Rust explicitly.</a:t>
            </a:r>
            <a:endParaRPr b="0" lang="en-US" sz="1200" spc="-1" strike="noStrike">
              <a:solidFill>
                <a:srgbClr val="ffffff"/>
              </a:solidFill>
              <a:latin typeface="Arial"/>
            </a:endParaRPr>
          </a:p>
        </p:txBody>
      </p:sp>
      <p:sp>
        <p:nvSpPr>
          <p:cNvPr id="32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NSA Cybersecurity Information Sheet (2022):  </a:t>
            </a:r>
            <a:r>
              <a:rPr b="0" lang="en-US" sz="1200" spc="-1" strike="noStrike">
                <a:solidFill>
                  <a:srgbClr val="9aa4b8"/>
                </a:solidFill>
                <a:latin typeface="Arial"/>
                <a:ea typeface="Arial"/>
              </a:rPr>
              <a:t>recommended memory-safe languages for new development where possible.</a:t>
            </a:r>
            <a:endParaRPr b="0" lang="en-US" sz="1200" spc="-1" strike="noStrike">
              <a:solidFill>
                <a:srgbClr val="ffffff"/>
              </a:solidFill>
              <a:latin typeface="Arial"/>
            </a:endParaRPr>
          </a:p>
        </p:txBody>
      </p:sp>
      <p:sp>
        <p:nvSpPr>
          <p:cNvPr id="32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2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now a procurement and compliance conversation,  </a:t>
            </a:r>
            <a:r>
              <a:rPr b="0" lang="en-US" sz="1200" spc="-1" strike="noStrike">
                <a:solidFill>
                  <a:srgbClr val="9aa4b8"/>
                </a:solidFill>
                <a:latin typeface="Arial"/>
                <a:ea typeface="Arial"/>
              </a:rPr>
              <a:t>not just an engineering-culture one.</a:t>
            </a:r>
            <a:endParaRPr b="0" lang="en-US" sz="1200" spc="-1" strike="noStrike">
              <a:solidFill>
                <a:srgbClr val="ffffff"/>
              </a:solidFill>
              <a:latin typeface="Arial"/>
            </a:endParaRPr>
          </a:p>
        </p:txBody>
      </p:sp>
      <p:sp>
        <p:nvSpPr>
          <p:cNvPr id="33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3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3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0b155"/>
                </a:solidFill>
                <a:latin typeface="Arial"/>
                <a:ea typeface="Arial"/>
              </a:rPr>
              <a:t>WHY RUST? (BEYOND MEMORY SAFETY)</a:t>
            </a:r>
            <a:endParaRPr b="0" lang="en-US" sz="1300" spc="-1" strike="noStrike">
              <a:solidFill>
                <a:srgbClr val="ffffff"/>
              </a:solidFill>
              <a:latin typeface="Arial"/>
            </a:endParaRPr>
          </a:p>
        </p:txBody>
      </p:sp>
      <p:sp>
        <p:nvSpPr>
          <p:cNvPr id="333"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Let's be honest about the trade-offs, too.</a:t>
            </a:r>
            <a:endParaRPr b="0" lang="en-US" sz="3200" spc="-1" strike="noStrike">
              <a:solidFill>
                <a:srgbClr val="ffffff"/>
              </a:solidFill>
              <a:latin typeface="Arial"/>
            </a:endParaRPr>
          </a:p>
        </p:txBody>
      </p:sp>
      <p:sp>
        <p:nvSpPr>
          <p:cNvPr id="334"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Rust's compile times are typically longer than C++'s for comparable code. The ecosystem is younger in some domains — GPU tooling and some embedded targets included, which is exactly why Day 3 exists. Some C++ idioms (heavy template metaprogramming, certain patterns of intrusive data structures) have no direct equivalent and require rethinking.</a:t>
            </a:r>
            <a:endParaRPr b="0" lang="en-US" sz="1400" spc="-1" strike="noStrike">
              <a:solidFill>
                <a:srgbClr val="ffffff"/>
              </a:solidFill>
              <a:latin typeface="Arial"/>
            </a:endParaRPr>
          </a:p>
        </p:txBody>
      </p:sp>
      <p:sp>
        <p:nvSpPr>
          <p:cNvPr id="335"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36"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0b155"/>
                </a:solidFill>
                <a:latin typeface="Arial"/>
                <a:ea typeface="Arial"/>
              </a:rPr>
              <a:t>WHY RUST? (BEYOND MEMORY SAFETY)</a:t>
            </a:r>
            <a:endParaRPr b="0" lang="en-US" sz="1300" spc="-1" strike="noStrike">
              <a:solidFill>
                <a:srgbClr val="ffffff"/>
              </a:solidFill>
              <a:latin typeface="Arial"/>
            </a:endParaRPr>
          </a:p>
        </p:txBody>
      </p:sp>
      <p:sp>
        <p:nvSpPr>
          <p:cNvPr id="338"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When you might not reach for Rust yet.</a:t>
            </a:r>
            <a:endParaRPr b="0" lang="en-US" sz="3200" spc="-1" strike="noStrike">
              <a:solidFill>
                <a:srgbClr val="ffffff"/>
              </a:solidFill>
              <a:latin typeface="Arial"/>
            </a:endParaRPr>
          </a:p>
        </p:txBody>
      </p:sp>
      <p:sp>
        <p:nvSpPr>
          <p:cNvPr id="339"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A codebase with decades of stable, well-tested C++ and no active memory-safety incidents may not justify a rewrite — rewrites carry their own risk. A team with zero Rust experience and a hard deadline next month is not the moment to bet the project. Rust is a strong choice for new, long-lived, safety- or concurrency-critical code — not a mandate for every line you'll ever write.</a:t>
            </a:r>
            <a:endParaRPr b="0" lang="en-US" sz="1400" spc="-1" strike="noStrike">
              <a:solidFill>
                <a:srgbClr val="ffffff"/>
              </a:solidFill>
              <a:latin typeface="Arial"/>
            </a:endParaRPr>
          </a:p>
        </p:txBody>
      </p:sp>
      <p:sp>
        <p:nvSpPr>
          <p:cNvPr id="340"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41"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42"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43"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02</a:t>
            </a:r>
            <a:endParaRPr b="0" lang="en-US" sz="3400" spc="-1" strike="noStrike">
              <a:solidFill>
                <a:srgbClr val="ffffff"/>
              </a:solidFill>
              <a:latin typeface="Arial"/>
            </a:endParaRPr>
          </a:p>
        </p:txBody>
      </p:sp>
      <p:sp>
        <p:nvSpPr>
          <p:cNvPr id="344"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Brief History of Rust</a:t>
            </a:r>
            <a:endParaRPr b="0" lang="en-US" sz="2800" spc="-1" strike="noStrike">
              <a:solidFill>
                <a:srgbClr val="ffffff"/>
              </a:solidFill>
              <a:latin typeface="Arial"/>
            </a:endParaRPr>
          </a:p>
        </p:txBody>
      </p:sp>
      <p:sp>
        <p:nvSpPr>
          <p:cNvPr id="345"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Mozilla, LLVM, and two decades of getting here — context for everything that follows</a:t>
            </a:r>
            <a:endParaRPr b="0" lang="en-US" sz="1350" spc="-1" strike="noStrike">
              <a:solidFill>
                <a:srgbClr val="ffffff"/>
              </a:solidFill>
              <a:latin typeface="Arial"/>
            </a:endParaRPr>
          </a:p>
        </p:txBody>
      </p:sp>
      <p:sp>
        <p:nvSpPr>
          <p:cNvPr id="346"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47"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34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broken elevator, and 2006</a:t>
            </a:r>
            <a:endParaRPr b="0" lang="en-US" sz="2800" spc="-1" strike="noStrike">
              <a:solidFill>
                <a:srgbClr val="ffffff"/>
              </a:solidFill>
              <a:latin typeface="Arial"/>
            </a:endParaRPr>
          </a:p>
        </p:txBody>
      </p:sp>
      <p:sp>
        <p:nvSpPr>
          <p:cNvPr id="35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Graydon Hoare started Rust as a personal side project in 2006, while working as an engineer at Mozilla.  </a:t>
            </a:r>
            <a:r>
              <a:rPr b="0" lang="en-US" sz="1200" spc="-1" strike="noStrike">
                <a:solidFill>
                  <a:srgbClr val="9aa4b8"/>
                </a:solidFill>
                <a:latin typeface="Arial"/>
                <a:ea typeface="Arial"/>
              </a:rPr>
              <a:t>By his own account, part of the spark was mundane and familiar: software crashing in ordinary places, including the elevator in his own apartment building.</a:t>
            </a:r>
            <a:endParaRPr b="0" lang="en-US" sz="1200" spc="-1" strike="noStrike">
              <a:solidFill>
                <a:srgbClr val="ffffff"/>
              </a:solidFill>
              <a:latin typeface="Arial"/>
            </a:endParaRPr>
          </a:p>
        </p:txBody>
      </p:sp>
      <p:sp>
        <p:nvSpPr>
          <p:cNvPr id="35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core motivation was dissatisfaction with C++ specifically —  </a:t>
            </a:r>
            <a:r>
              <a:rPr b="0" lang="en-US" sz="1200" spc="-1" strike="noStrike">
                <a:solidFill>
                  <a:srgbClr val="9aa4b8"/>
                </a:solidFill>
                <a:latin typeface="Arial"/>
                <a:ea typeface="Arial"/>
              </a:rPr>
              <a:t>not a desire to invent new theory, but to finally ship decades-old, well-understood research (ownership, region-based memory management, algebraic data types) as a practical, usable systems language.</a:t>
            </a:r>
            <a:endParaRPr b="0" lang="en-US" sz="1200" spc="-1" strike="noStrike">
              <a:solidFill>
                <a:srgbClr val="ffffff"/>
              </a:solidFill>
              <a:latin typeface="Arial"/>
            </a:endParaRPr>
          </a:p>
        </p:txBody>
      </p:sp>
      <p:sp>
        <p:nvSpPr>
          <p:cNvPr id="35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5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For its first few years this was genuinely a spare-time project,  </a:t>
            </a:r>
            <a:r>
              <a:rPr b="0" lang="en-US" sz="1200" spc="-1" strike="noStrike">
                <a:solidFill>
                  <a:srgbClr val="9aa4b8"/>
                </a:solidFill>
                <a:latin typeface="Arial"/>
                <a:ea typeface="Arial"/>
              </a:rPr>
              <a:t>shared with almost no one at Mozilla — not yet a company initiative.</a:t>
            </a:r>
            <a:endParaRPr b="0" lang="en-US" sz="1200" spc="-1" strike="noStrike">
              <a:solidFill>
                <a:srgbClr val="ffffff"/>
              </a:solidFill>
              <a:latin typeface="Arial"/>
            </a:endParaRPr>
          </a:p>
        </p:txBody>
      </p:sp>
      <p:sp>
        <p:nvSpPr>
          <p:cNvPr id="35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6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6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36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Mozilla adopts the project</a:t>
            </a:r>
            <a:endParaRPr b="0" lang="en-US" sz="2800" spc="-1" strike="noStrike">
              <a:solidFill>
                <a:srgbClr val="ffffff"/>
              </a:solidFill>
              <a:latin typeface="Arial"/>
            </a:endParaRPr>
          </a:p>
        </p:txBody>
      </p:sp>
      <p:sp>
        <p:nvSpPr>
          <p:cNvPr id="36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2009, Mozilla began officially sponsoring Rust's development,  </a:t>
            </a:r>
            <a:r>
              <a:rPr b="0" lang="en-US" sz="1200" spc="-1" strike="noStrike">
                <a:solidFill>
                  <a:srgbClr val="9aa4b8"/>
                </a:solidFill>
                <a:latin typeface="Arial"/>
                <a:ea typeface="Arial"/>
              </a:rPr>
              <a:t>assigning engineers to work on it alongside Hoare.</a:t>
            </a:r>
            <a:endParaRPr b="0" lang="en-US" sz="1200" spc="-1" strike="noStrike">
              <a:solidFill>
                <a:srgbClr val="ffffff"/>
              </a:solidFill>
              <a:latin typeface="Arial"/>
            </a:endParaRPr>
          </a:p>
        </p:txBody>
      </p:sp>
      <p:sp>
        <p:nvSpPr>
          <p:cNvPr id="36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6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July 2010, Hoare gave Rust its first public unveiling at the Mozilla Annual Summit —  </a:t>
            </a:r>
            <a:r>
              <a:rPr b="0" lang="en-US" sz="1200" spc="-1" strike="noStrike">
                <a:solidFill>
                  <a:srgbClr val="9aa4b8"/>
                </a:solidFill>
                <a:latin typeface="Arial"/>
                <a:ea typeface="Arial"/>
              </a:rPr>
              <a:t>opening, reportedly, with a description of "a compiled, concurrent, safe systems programming language" that a small group at Mozilla had gotten interested in.</a:t>
            </a:r>
            <a:endParaRPr b="0" lang="en-US" sz="1200" spc="-1" strike="noStrike">
              <a:solidFill>
                <a:srgbClr val="ffffff"/>
              </a:solidFill>
              <a:latin typeface="Arial"/>
            </a:endParaRPr>
          </a:p>
        </p:txBody>
      </p:sp>
      <p:sp>
        <p:nvSpPr>
          <p:cNvPr id="36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motivating use case was concrete, not academic:  </a:t>
            </a:r>
            <a:r>
              <a:rPr b="0" lang="en-US" sz="1200" spc="-1" strike="noStrike">
                <a:solidFill>
                  <a:srgbClr val="9aa4b8"/>
                </a:solidFill>
                <a:latin typeface="Arial"/>
                <a:ea typeface="Arial"/>
              </a:rPr>
              <a:t>Firefox's C++ codebase (specifically its Gecko rendering engine) was a large, security-sensitive target for exactly the memory-safety bugs Rust was designed to rule out.</a:t>
            </a:r>
            <a:endParaRPr b="0" lang="en-US" sz="1200" spc="-1" strike="noStrike">
              <a:solidFill>
                <a:srgbClr val="ffffff"/>
              </a:solidFill>
              <a:latin typeface="Arial"/>
            </a:endParaRPr>
          </a:p>
        </p:txBody>
      </p:sp>
      <p:sp>
        <p:nvSpPr>
          <p:cNvPr id="37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7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7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37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Servo: the proving ground</a:t>
            </a:r>
            <a:endParaRPr b="0" lang="en-US" sz="2800" spc="-1" strike="noStrike">
              <a:solidFill>
                <a:srgbClr val="ffffff"/>
              </a:solidFill>
              <a:latin typeface="Arial"/>
            </a:endParaRPr>
          </a:p>
        </p:txBody>
      </p:sp>
      <p:sp>
        <p:nvSpPr>
          <p:cNvPr id="376"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7"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8"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Servo, an experimental browser engine written in Rust, began development in the early 2010s —  </a:t>
            </a:r>
            <a:r>
              <a:rPr b="0" lang="en-US" sz="1200" spc="-1" strike="noStrike">
                <a:solidFill>
                  <a:srgbClr val="9aa4b8"/>
                </a:solidFill>
                <a:latin typeface="Arial"/>
                <a:ea typeface="Arial"/>
              </a:rPr>
              <a:t>the real-world stress test for whether Rust's guarantees held up on a large, genuinely concurrent, security-critical codebase.</a:t>
            </a:r>
            <a:endParaRPr b="0" lang="en-US" sz="1200" spc="-1" strike="noStrike">
              <a:solidFill>
                <a:srgbClr val="ffffff"/>
              </a:solidFill>
              <a:latin typeface="Arial"/>
            </a:endParaRPr>
          </a:p>
        </p:txBody>
      </p:sp>
      <p:sp>
        <p:nvSpPr>
          <p:cNvPr id="379"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0"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1"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Servo's parallel CSS engine, Stylo, eventually graduated from research project to shipping code —  </a:t>
            </a:r>
            <a:r>
              <a:rPr b="0" lang="en-US" sz="1200" spc="-1" strike="noStrike">
                <a:solidFill>
                  <a:srgbClr val="9aa4b8"/>
                </a:solidFill>
                <a:latin typeface="Arial"/>
                <a:ea typeface="Arial"/>
              </a:rPr>
              <a:t>merged into Firefox itself as part of Mozilla's Project Quantum.</a:t>
            </a:r>
            <a:endParaRPr b="0" lang="en-US" sz="1200" spc="-1" strike="noStrike">
              <a:solidFill>
                <a:srgbClr val="ffffff"/>
              </a:solidFill>
              <a:latin typeface="Arial"/>
            </a:endParaRPr>
          </a:p>
        </p:txBody>
      </p:sp>
      <p:sp>
        <p:nvSpPr>
          <p:cNvPr id="382"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3"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84"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matters for a skeptical audience specifically:  </a:t>
            </a:r>
            <a:r>
              <a:rPr b="0" lang="en-US" sz="1200" spc="-1" strike="noStrike">
                <a:solidFill>
                  <a:srgbClr val="9aa4b8"/>
                </a:solidFill>
                <a:latin typeface="Arial"/>
                <a:ea typeface="Arial"/>
              </a:rPr>
              <a:t>Rust's safety claims weren't validated only in papers or toy benchmarks — they were pressure-tested against a real browser engine, in production, years before 1.0.</a:t>
            </a:r>
            <a:endParaRPr b="0" lang="en-US" sz="1200" spc="-1" strike="noStrike">
              <a:solidFill>
                <a:srgbClr val="ffffff"/>
              </a:solidFill>
              <a:latin typeface="Arial"/>
            </a:endParaRPr>
          </a:p>
        </p:txBody>
      </p:sp>
      <p:sp>
        <p:nvSpPr>
          <p:cNvPr id="385"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86"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8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A BRIEF HISTORY OF RUST</a:t>
            </a:r>
            <a:endParaRPr b="0" lang="en-US" sz="1300" spc="-1" strike="noStrike">
              <a:solidFill>
                <a:srgbClr val="ffffff"/>
              </a:solidFill>
              <a:latin typeface="Arial"/>
            </a:endParaRPr>
          </a:p>
        </p:txBody>
      </p:sp>
      <p:sp>
        <p:nvSpPr>
          <p:cNvPr id="388"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May 15, 2015: Rust 1.0, and a stability promise.</a:t>
            </a:r>
            <a:endParaRPr b="0" lang="en-US" sz="3200" spc="-1" strike="noStrike">
              <a:solidFill>
                <a:srgbClr val="ffffff"/>
              </a:solidFill>
              <a:latin typeface="Arial"/>
            </a:endParaRPr>
          </a:p>
        </p:txBody>
      </p:sp>
      <p:sp>
        <p:nvSpPr>
          <p:cNvPr id="389"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1.0 shipped with an explicit commitment: code that compiles today keeps compiling on every future stable release. That promise is exactly what makes the edition system from the Toolchain module possible — the language can keep evolving without ever breaking the code you write this afternoon.</a:t>
            </a:r>
            <a:endParaRPr b="0" lang="en-US" sz="1400" spc="-1" strike="noStrike">
              <a:solidFill>
                <a:srgbClr val="ffffff"/>
              </a:solidFill>
              <a:latin typeface="Arial"/>
            </a:endParaRPr>
          </a:p>
        </p:txBody>
      </p:sp>
      <p:sp>
        <p:nvSpPr>
          <p:cNvPr id="390"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391"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39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HISTORY</a:t>
            </a:r>
            <a:endParaRPr b="0" lang="en-US" sz="1300" spc="-1" strike="noStrike">
              <a:solidFill>
                <a:srgbClr val="ffffff"/>
              </a:solidFill>
              <a:latin typeface="Arial"/>
            </a:endParaRPr>
          </a:p>
        </p:txBody>
      </p:sp>
      <p:sp>
        <p:nvSpPr>
          <p:cNvPr id="39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LLVM is, and why rustc is built on it</a:t>
            </a:r>
            <a:endParaRPr b="0" lang="en-US" sz="2800" spc="-1" strike="noStrike">
              <a:solidFill>
                <a:srgbClr val="ffffff"/>
              </a:solidFill>
              <a:latin typeface="Arial"/>
            </a:endParaRPr>
          </a:p>
        </p:txBody>
      </p:sp>
      <p:sp>
        <p:nvSpPr>
          <p:cNvPr id="39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9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L</a:t>
            </a:r>
            <a:endParaRPr b="0" lang="en-US" sz="950" spc="-1" strike="noStrike">
              <a:solidFill>
                <a:srgbClr val="ffffff"/>
              </a:solidFill>
              <a:latin typeface="Arial"/>
            </a:endParaRPr>
          </a:p>
        </p:txBody>
      </p:sp>
      <p:sp>
        <p:nvSpPr>
          <p:cNvPr id="39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WHAT LLVM PROVIDES</a:t>
            </a:r>
            <a:endParaRPr b="0" lang="en-US" sz="1300" spc="-1" strike="noStrike">
              <a:solidFill>
                <a:srgbClr val="ffffff"/>
              </a:solidFill>
              <a:latin typeface="Arial"/>
            </a:endParaRPr>
          </a:p>
        </p:txBody>
      </p:sp>
      <p:sp>
        <p:nvSpPr>
          <p:cNvPr id="39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LLVM IR: a typed, low-level,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target-independent instruction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set — the shared language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LLVM front-end compiles down to</a:t>
            </a:r>
            <a:endParaRPr b="0" lang="en-US" sz="1200" spc="-1" strike="noStrike">
              <a:solidFill>
                <a:srgbClr val="ffffff"/>
              </a:solidFill>
              <a:latin typeface="Arial"/>
            </a:endParaRPr>
          </a:p>
        </p:txBody>
      </p:sp>
      <p:sp>
        <p:nvSpPr>
          <p:cNvPr id="39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Started in 2000 as Chris Lattner's graduate research at the University of Illinois, released as open source in 2003. LLVM provides a reusable optimizer and code generator that any language's compiler can plug into.</a:t>
            </a:r>
            <a:endParaRPr b="0" lang="en-US" sz="1100" spc="-1" strike="noStrike">
              <a:solidFill>
                <a:srgbClr val="ffffff"/>
              </a:solidFill>
              <a:latin typeface="Arial"/>
            </a:endParaRPr>
          </a:p>
        </p:txBody>
      </p:sp>
      <p:sp>
        <p:nvSpPr>
          <p:cNvPr id="40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a:t>
            </a:r>
            <a:endParaRPr b="0" lang="en-US" sz="1400" spc="-1" strike="noStrike">
              <a:solidFill>
                <a:srgbClr val="ffffff"/>
              </a:solidFill>
              <a:latin typeface="Arial"/>
            </a:endParaRPr>
          </a:p>
        </p:txBody>
      </p:sp>
      <p:sp>
        <p:nvSpPr>
          <p:cNvPr id="40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WHO ELSE USES IT</a:t>
            </a:r>
            <a:endParaRPr b="0" lang="en-US" sz="1300" spc="-1" strike="noStrike">
              <a:solidFill>
                <a:srgbClr val="ffffff"/>
              </a:solidFill>
              <a:latin typeface="Arial"/>
            </a:endParaRPr>
          </a:p>
        </p:txBody>
      </p:sp>
      <p:sp>
        <p:nvSpPr>
          <p:cNvPr id="40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clang (C, C++, Objective-C)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swift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julia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rustc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all compile to the SAME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intermediate representation</a:t>
            </a:r>
            <a:endParaRPr b="0" lang="en-US" sz="1200" spc="-1" strike="noStrike">
              <a:solidFill>
                <a:srgbClr val="ffffff"/>
              </a:solidFill>
              <a:latin typeface="Arial"/>
            </a:endParaRPr>
          </a:p>
        </p:txBody>
      </p:sp>
      <p:sp>
        <p:nvSpPr>
          <p:cNvPr id="40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Clang (C/C++'s LLVM-based compiler), Swift, Julia, and rustc all lower their source language to LLVM IR and let LLVM's shared optimizer and backend do the rest.</a:t>
            </a:r>
            <a:endParaRPr b="0" lang="en-US" sz="1100" spc="-1" strike="noStrike">
              <a:solidFill>
                <a:srgbClr val="ffffff"/>
              </a:solidFill>
              <a:latin typeface="Arial"/>
            </a:endParaRPr>
          </a:p>
        </p:txBody>
      </p:sp>
      <p:sp>
        <p:nvSpPr>
          <p:cNvPr id="40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a big part of why Rust and modern C++ so often perform comparably: past the front-end, both are frequently handing very similar IR to the identical optimizer and code generator.</a:t>
            </a:r>
            <a:endParaRPr b="0" lang="en-US" sz="1150" spc="-1" strike="noStrike">
              <a:solidFill>
                <a:srgbClr val="ffffff"/>
              </a:solidFill>
              <a:latin typeface="Arial"/>
            </a:endParaRPr>
          </a:p>
        </p:txBody>
      </p:sp>
      <p:sp>
        <p:nvSpPr>
          <p:cNvPr id="40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0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1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41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company Rust keeps, on the backend</a:t>
            </a:r>
            <a:endParaRPr b="0" lang="en-US" sz="2800" spc="-1" strike="noStrike">
              <a:solidFill>
                <a:srgbClr val="ffffff"/>
              </a:solidFill>
              <a:latin typeface="Arial"/>
            </a:endParaRPr>
          </a:p>
        </p:txBody>
      </p:sp>
      <p:sp>
        <p:nvSpPr>
          <p:cNvPr id="412"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3"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4"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LLVM-based language inherits the same decades of optimization engineering —  </a:t>
            </a:r>
            <a:r>
              <a:rPr b="0" lang="en-US" sz="1200" spc="-1" strike="noStrike">
                <a:solidFill>
                  <a:srgbClr val="9aa4b8"/>
                </a:solidFill>
                <a:latin typeface="Arial"/>
                <a:ea typeface="Arial"/>
              </a:rPr>
              <a:t>instruction scheduling, vectorization, inlining heuristics — without having to reinvent any of it.</a:t>
            </a:r>
            <a:endParaRPr b="0" lang="en-US" sz="1200" spc="-1" strike="noStrike">
              <a:solidFill>
                <a:srgbClr val="ffffff"/>
              </a:solidFill>
              <a:latin typeface="Arial"/>
            </a:endParaRPr>
          </a:p>
        </p:txBody>
      </p:sp>
      <p:sp>
        <p:nvSpPr>
          <p:cNvPr id="415"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6"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7"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It also inherits LLVM's platform reach:  </a:t>
            </a:r>
            <a:r>
              <a:rPr b="0" lang="en-US" sz="1200" spc="-1" strike="noStrike">
                <a:solidFill>
                  <a:srgbClr val="9aa4b8"/>
                </a:solidFill>
                <a:latin typeface="Arial"/>
                <a:ea typeface="Arial"/>
              </a:rPr>
              <a:t>the same infrastructure that lets Clang target ARM, x86, RISC-V, and WebAssembly lets rustc target them too, with comparatively little extra work.</a:t>
            </a:r>
            <a:endParaRPr b="0" lang="en-US" sz="1200" spc="-1" strike="noStrike">
              <a:solidFill>
                <a:srgbClr val="ffffff"/>
              </a:solidFill>
              <a:latin typeface="Arial"/>
            </a:endParaRPr>
          </a:p>
        </p:txBody>
      </p:sp>
      <p:sp>
        <p:nvSpPr>
          <p:cNvPr id="418"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19"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0"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One target worth remembering for Day 3:  </a:t>
            </a:r>
            <a:r>
              <a:rPr b="0" lang="en-US" sz="1200" spc="-1" strike="noStrike">
                <a:solidFill>
                  <a:srgbClr val="9aa4b8"/>
                </a:solidFill>
                <a:latin typeface="Arial"/>
                <a:ea typeface="Arial"/>
              </a:rPr>
              <a:t>nvptx64-nvidia-cuda, the rustc target that lowers Rust to PTX for NVIDIA GPUs, exists precisely because rustc already speaks LLVM's shared language.</a:t>
            </a:r>
            <a:endParaRPr b="0" lang="en-US" sz="1200" spc="-1" strike="noStrike">
              <a:solidFill>
                <a:srgbClr val="ffffff"/>
              </a:solidFill>
              <a:latin typeface="Arial"/>
            </a:endParaRPr>
          </a:p>
        </p:txBody>
      </p:sp>
      <p:sp>
        <p:nvSpPr>
          <p:cNvPr id="421"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22"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42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2020: a difficult year</a:t>
            </a:r>
            <a:endParaRPr b="0" lang="en-US" sz="2800" spc="-1" strike="noStrike">
              <a:solidFill>
                <a:srgbClr val="ffffff"/>
              </a:solidFill>
              <a:latin typeface="Arial"/>
            </a:endParaRPr>
          </a:p>
        </p:txBody>
      </p:sp>
      <p:sp>
        <p:nvSpPr>
          <p:cNvPr id="425"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6"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7"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August 2020, Mozilla laid off roughly 250 employees as part of a broader restructuring,  </a:t>
            </a:r>
            <a:r>
              <a:rPr b="0" lang="en-US" sz="1200" spc="-1" strike="noStrike">
                <a:solidFill>
                  <a:srgbClr val="9aa4b8"/>
                </a:solidFill>
                <a:latin typeface="Arial"/>
                <a:ea typeface="Arial"/>
              </a:rPr>
              <a:t>a move the company attributed in part to the pandemic's impact on its revenue.</a:t>
            </a:r>
            <a:endParaRPr b="0" lang="en-US" sz="1200" spc="-1" strike="noStrike">
              <a:solidFill>
                <a:srgbClr val="ffffff"/>
              </a:solidFill>
              <a:latin typeface="Arial"/>
            </a:endParaRPr>
          </a:p>
        </p:txBody>
      </p:sp>
      <p:sp>
        <p:nvSpPr>
          <p:cNvPr id="428"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9"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0"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cuts hit the Rust team hard and effectively ended Mozilla's dedicated Servo team —  </a:t>
            </a:r>
            <a:r>
              <a:rPr b="0" lang="en-US" sz="1200" spc="-1" strike="noStrike">
                <a:solidFill>
                  <a:srgbClr val="9aa4b8"/>
                </a:solidFill>
                <a:latin typeface="Arial"/>
                <a:ea typeface="Arial"/>
              </a:rPr>
              <a:t>several of the people affected were active, long-time contributors to the language itself.</a:t>
            </a:r>
            <a:endParaRPr b="0" lang="en-US" sz="1200" spc="-1" strike="noStrike">
              <a:solidFill>
                <a:srgbClr val="ffffff"/>
              </a:solidFill>
              <a:latin typeface="Arial"/>
            </a:endParaRPr>
          </a:p>
        </p:txBody>
      </p:sp>
      <p:sp>
        <p:nvSpPr>
          <p:cNvPr id="431"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2"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3"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raised a legitimate, practical question for anyone evaluating Rust at the time:  </a:t>
            </a:r>
            <a:r>
              <a:rPr b="0" lang="en-US" sz="1200" spc="-1" strike="noStrike">
                <a:solidFill>
                  <a:srgbClr val="9aa4b8"/>
                </a:solidFill>
                <a:latin typeface="Arial"/>
                <a:ea typeface="Arial"/>
              </a:rPr>
              <a:t>what happens to a systems language whose development has been substantially funded by one company, if that company steps back?</a:t>
            </a:r>
            <a:endParaRPr b="0" lang="en-US" sz="1200" spc="-1" strike="noStrike">
              <a:solidFill>
                <a:srgbClr val="ffffff"/>
              </a:solidFill>
              <a:latin typeface="Arial"/>
            </a:endParaRPr>
          </a:p>
        </p:txBody>
      </p:sp>
      <p:sp>
        <p:nvSpPr>
          <p:cNvPr id="434"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35"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43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Rust Foundation</a:t>
            </a:r>
            <a:endParaRPr b="0" lang="en-US" sz="2800" spc="-1" strike="noStrike">
              <a:solidFill>
                <a:srgbClr val="ffffff"/>
              </a:solidFill>
              <a:latin typeface="Arial"/>
            </a:endParaRPr>
          </a:p>
        </p:txBody>
      </p:sp>
      <p:sp>
        <p:nvSpPr>
          <p:cNvPr id="43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February 2021, the independent, non-profit Rust Foundation launched —  </a:t>
            </a:r>
            <a:r>
              <a:rPr b="0" lang="en-US" sz="1200" spc="-1" strike="noStrike">
                <a:solidFill>
                  <a:srgbClr val="9aa4b8"/>
                </a:solidFill>
                <a:latin typeface="Arial"/>
                <a:ea typeface="Arial"/>
              </a:rPr>
              <a:t>with AWS, Google, Huawei, Microsoft, and Mozilla as founding Platinum members.</a:t>
            </a:r>
            <a:endParaRPr b="0" lang="en-US" sz="1200" spc="-1" strike="noStrike">
              <a:solidFill>
                <a:srgbClr val="ffffff"/>
              </a:solidFill>
              <a:latin typeface="Arial"/>
            </a:endParaRPr>
          </a:p>
        </p:txBody>
      </p:sp>
      <p:sp>
        <p:nvSpPr>
          <p:cNvPr id="44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Mozilla transferred the Rust trademark and project infrastructure to the new Foundation,  </a:t>
            </a:r>
            <a:r>
              <a:rPr b="0" lang="en-US" sz="1200" spc="-1" strike="noStrike">
                <a:solidFill>
                  <a:srgbClr val="9aa4b8"/>
                </a:solidFill>
                <a:latin typeface="Arial"/>
                <a:ea typeface="Arial"/>
              </a:rPr>
              <a:t>moving governance from a single corporate sponsor to a multi-company, non-profit structure.</a:t>
            </a:r>
            <a:endParaRPr b="0" lang="en-US" sz="1200" spc="-1" strike="noStrike">
              <a:solidFill>
                <a:srgbClr val="ffffff"/>
              </a:solidFill>
              <a:latin typeface="Arial"/>
            </a:endParaRPr>
          </a:p>
        </p:txBody>
      </p:sp>
      <p:sp>
        <p:nvSpPr>
          <p:cNvPr id="44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4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For an audience evaluating adoption risk, this is the concrete answer to the question 2020 raised:  </a:t>
            </a:r>
            <a:r>
              <a:rPr b="0" lang="en-US" sz="1200" spc="-1" strike="noStrike">
                <a:solidFill>
                  <a:srgbClr val="9aa4b8"/>
                </a:solidFill>
                <a:latin typeface="Arial"/>
                <a:ea typeface="Arial"/>
              </a:rPr>
              <a:t>Rust's stewardship no longer depends on any one company's quarterly priorities.</a:t>
            </a:r>
            <a:endParaRPr b="0" lang="en-US" sz="1200" spc="-1" strike="noStrike">
              <a:solidFill>
                <a:srgbClr val="ffffff"/>
              </a:solidFill>
              <a:latin typeface="Arial"/>
            </a:endParaRPr>
          </a:p>
        </p:txBody>
      </p:sp>
      <p:sp>
        <p:nvSpPr>
          <p:cNvPr id="44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44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44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HISTORY</a:t>
            </a:r>
            <a:endParaRPr b="0" lang="en-US" sz="1300" spc="-1" strike="noStrike">
              <a:solidFill>
                <a:srgbClr val="ffffff"/>
              </a:solidFill>
              <a:latin typeface="Arial"/>
            </a:endParaRPr>
          </a:p>
        </p:txBody>
      </p:sp>
      <p:sp>
        <p:nvSpPr>
          <p:cNvPr id="45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Rust vs. C++ (and C): five years of momentum</a:t>
            </a:r>
            <a:endParaRPr b="0" lang="en-US" sz="2800" spc="-1" strike="noStrike">
              <a:solidFill>
                <a:srgbClr val="ffffff"/>
              </a:solidFill>
              <a:latin typeface="Arial"/>
            </a:endParaRPr>
          </a:p>
        </p:txBody>
      </p:sp>
      <p:sp>
        <p:nvSpPr>
          <p:cNvPr id="451" name="Shape 2"/>
          <p:cNvSpPr/>
          <p:nvPr/>
        </p:nvSpPr>
        <p:spPr>
          <a:xfrm>
            <a:off x="548640" y="1645920"/>
            <a:ext cx="11062800" cy="3610440"/>
          </a:xfrm>
          <a:prstGeom prst="roundRect">
            <a:avLst>
              <a:gd name="adj" fmla="val 2278"/>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2" name="Shape 3"/>
          <p:cNvSpPr/>
          <p:nvPr/>
        </p:nvSpPr>
        <p:spPr>
          <a:xfrm>
            <a:off x="914400" y="1847160"/>
            <a:ext cx="144720" cy="144720"/>
          </a:xfrm>
          <a:prstGeom prst="roundRect">
            <a:avLst>
              <a:gd name="adj" fmla="val 312500"/>
            </a:avLst>
          </a:prstGeom>
          <a:solidFill>
            <a:srgbClr val="9aa4b8"/>
          </a:solidFill>
          <a:ln w="12700">
            <a:solidFill>
              <a:srgbClr val="9aa4b8"/>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53" name="Text 4"/>
          <p:cNvSpPr/>
          <p:nvPr/>
        </p:nvSpPr>
        <p:spPr>
          <a:xfrm>
            <a:off x="1134000" y="1755720"/>
            <a:ext cx="2010240" cy="327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9aa4b8"/>
                </a:solidFill>
                <a:latin typeface="Arial"/>
                <a:ea typeface="Arial"/>
              </a:rPr>
              <a:t>C</a:t>
            </a:r>
            <a:endParaRPr b="0" lang="en-US" sz="1200" spc="-1" strike="noStrike">
              <a:solidFill>
                <a:srgbClr val="ffffff"/>
              </a:solidFill>
              <a:latin typeface="Arial"/>
            </a:endParaRPr>
          </a:p>
        </p:txBody>
      </p:sp>
      <p:sp>
        <p:nvSpPr>
          <p:cNvPr id="454" name="Shape 5"/>
          <p:cNvSpPr/>
          <p:nvPr/>
        </p:nvSpPr>
        <p:spPr>
          <a:xfrm>
            <a:off x="1764720" y="1847160"/>
            <a:ext cx="144720" cy="144720"/>
          </a:xfrm>
          <a:prstGeom prst="roundRect">
            <a:avLst>
              <a:gd name="adj" fmla="val 312500"/>
            </a:avLst>
          </a:prstGeom>
          <a:solidFill>
            <a:srgbClr val="3e8fe0"/>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5" name="Text 6"/>
          <p:cNvSpPr/>
          <p:nvPr/>
        </p:nvSpPr>
        <p:spPr>
          <a:xfrm>
            <a:off x="1984320" y="1755720"/>
            <a:ext cx="2010240" cy="327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3e8fe0"/>
                </a:solidFill>
                <a:latin typeface="Arial"/>
                <a:ea typeface="Arial"/>
              </a:rPr>
              <a:t>C++</a:t>
            </a:r>
            <a:endParaRPr b="0" lang="en-US" sz="1200" spc="-1" strike="noStrike">
              <a:solidFill>
                <a:srgbClr val="ffffff"/>
              </a:solidFill>
              <a:latin typeface="Arial"/>
            </a:endParaRPr>
          </a:p>
        </p:txBody>
      </p:sp>
      <p:sp>
        <p:nvSpPr>
          <p:cNvPr id="456" name="Shape 7"/>
          <p:cNvSpPr/>
          <p:nvPr/>
        </p:nvSpPr>
        <p:spPr>
          <a:xfrm>
            <a:off x="2871360" y="1847160"/>
            <a:ext cx="144720" cy="144720"/>
          </a:xfrm>
          <a:prstGeom prst="roundRect">
            <a:avLst>
              <a:gd name="adj" fmla="val 312500"/>
            </a:avLst>
          </a:prstGeom>
          <a:solidFill>
            <a:srgbClr val="e8804f"/>
          </a:solidFill>
          <a:ln w="12700">
            <a:solidFill>
              <a:srgbClr val="e8804f"/>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57" name="Text 8"/>
          <p:cNvSpPr/>
          <p:nvPr/>
        </p:nvSpPr>
        <p:spPr>
          <a:xfrm>
            <a:off x="3090600" y="1755720"/>
            <a:ext cx="2010240" cy="327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Rust</a:t>
            </a:r>
            <a:endParaRPr b="0" lang="en-US" sz="1200" spc="-1" strike="noStrike">
              <a:solidFill>
                <a:srgbClr val="ffffff"/>
              </a:solidFill>
              <a:latin typeface="Arial"/>
            </a:endParaRPr>
          </a:p>
        </p:txBody>
      </p:sp>
      <p:sp>
        <p:nvSpPr>
          <p:cNvPr id="458" name="Shape 9"/>
          <p:cNvSpPr/>
          <p:nvPr/>
        </p:nvSpPr>
        <p:spPr>
          <a:xfrm>
            <a:off x="1234440" y="475488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59" name="Text 10"/>
          <p:cNvSpPr/>
          <p:nvPr/>
        </p:nvSpPr>
        <p:spPr>
          <a:xfrm>
            <a:off x="667440" y="464508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0</a:t>
            </a:r>
            <a:endParaRPr b="0" lang="en-US" sz="950" spc="-1" strike="noStrike">
              <a:solidFill>
                <a:srgbClr val="ffffff"/>
              </a:solidFill>
              <a:latin typeface="Arial"/>
            </a:endParaRPr>
          </a:p>
        </p:txBody>
      </p:sp>
      <p:sp>
        <p:nvSpPr>
          <p:cNvPr id="460" name="Shape 11"/>
          <p:cNvSpPr/>
          <p:nvPr/>
        </p:nvSpPr>
        <p:spPr>
          <a:xfrm>
            <a:off x="1234440" y="4149000"/>
            <a:ext cx="10058400" cy="360"/>
          </a:xfrm>
          <a:prstGeom prst="line">
            <a:avLst/>
          </a:prstGeom>
          <a:ln w="15875">
            <a:solidFill>
              <a:srgbClr val="9aa4b8"/>
            </a:solidFill>
            <a:prstDash val="dash"/>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1" name="Text 12"/>
          <p:cNvSpPr/>
          <p:nvPr/>
        </p:nvSpPr>
        <p:spPr>
          <a:xfrm>
            <a:off x="667440" y="403920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100</a:t>
            </a:r>
            <a:endParaRPr b="0" lang="en-US" sz="950" spc="-1" strike="noStrike">
              <a:solidFill>
                <a:srgbClr val="ffffff"/>
              </a:solidFill>
              <a:latin typeface="Arial"/>
            </a:endParaRPr>
          </a:p>
        </p:txBody>
      </p:sp>
      <p:sp>
        <p:nvSpPr>
          <p:cNvPr id="462" name="Shape 13"/>
          <p:cNvSpPr/>
          <p:nvPr/>
        </p:nvSpPr>
        <p:spPr>
          <a:xfrm>
            <a:off x="1234440" y="354312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3" name="Text 14"/>
          <p:cNvSpPr/>
          <p:nvPr/>
        </p:nvSpPr>
        <p:spPr>
          <a:xfrm>
            <a:off x="667440" y="343368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200</a:t>
            </a:r>
            <a:endParaRPr b="0" lang="en-US" sz="950" spc="-1" strike="noStrike">
              <a:solidFill>
                <a:srgbClr val="ffffff"/>
              </a:solidFill>
              <a:latin typeface="Arial"/>
            </a:endParaRPr>
          </a:p>
        </p:txBody>
      </p:sp>
      <p:sp>
        <p:nvSpPr>
          <p:cNvPr id="464" name="Shape 15"/>
          <p:cNvSpPr/>
          <p:nvPr/>
        </p:nvSpPr>
        <p:spPr>
          <a:xfrm>
            <a:off x="1234440" y="293724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5" name="Text 16"/>
          <p:cNvSpPr/>
          <p:nvPr/>
        </p:nvSpPr>
        <p:spPr>
          <a:xfrm>
            <a:off x="667440" y="282780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300</a:t>
            </a:r>
            <a:endParaRPr b="0" lang="en-US" sz="950" spc="-1" strike="noStrike">
              <a:solidFill>
                <a:srgbClr val="ffffff"/>
              </a:solidFill>
              <a:latin typeface="Arial"/>
            </a:endParaRPr>
          </a:p>
        </p:txBody>
      </p:sp>
      <p:sp>
        <p:nvSpPr>
          <p:cNvPr id="466" name="Shape 17"/>
          <p:cNvSpPr/>
          <p:nvPr/>
        </p:nvSpPr>
        <p:spPr>
          <a:xfrm>
            <a:off x="1234440" y="2331720"/>
            <a:ext cx="10058400" cy="360"/>
          </a:xfrm>
          <a:prstGeom prst="line">
            <a:avLst/>
          </a:prstGeom>
          <a:ln w="9525">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467" name="Text 18"/>
          <p:cNvSpPr/>
          <p:nvPr/>
        </p:nvSpPr>
        <p:spPr>
          <a:xfrm>
            <a:off x="667440" y="2221920"/>
            <a:ext cx="474120" cy="21816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950" spc="-1" strike="noStrike">
                <a:solidFill>
                  <a:srgbClr val="9aa4b8"/>
                </a:solidFill>
                <a:latin typeface="Arial"/>
                <a:ea typeface="Arial"/>
              </a:rPr>
              <a:t>400</a:t>
            </a:r>
            <a:endParaRPr b="0" lang="en-US" sz="950" spc="-1" strike="noStrike">
              <a:solidFill>
                <a:srgbClr val="ffffff"/>
              </a:solidFill>
              <a:latin typeface="Arial"/>
            </a:endParaRPr>
          </a:p>
        </p:txBody>
      </p:sp>
      <p:sp>
        <p:nvSpPr>
          <p:cNvPr id="468" name="Text 19"/>
          <p:cNvSpPr/>
          <p:nvPr/>
        </p:nvSpPr>
        <p:spPr>
          <a:xfrm>
            <a:off x="1371600" y="3856320"/>
            <a:ext cx="2924640" cy="19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900" spc="-1" strike="noStrike">
                <a:solidFill>
                  <a:srgbClr val="9aa4b8"/>
                </a:solidFill>
                <a:latin typeface="Arial"/>
                <a:ea typeface="Arial"/>
              </a:rPr>
              <a:t>2021 baseline (index = 100)</a:t>
            </a:r>
            <a:endParaRPr b="0" lang="en-US" sz="900" spc="-1" strike="noStrike">
              <a:solidFill>
                <a:srgbClr val="ffffff"/>
              </a:solidFill>
              <a:latin typeface="Arial"/>
            </a:endParaRPr>
          </a:p>
        </p:txBody>
      </p:sp>
      <p:sp>
        <p:nvSpPr>
          <p:cNvPr id="469" name="Shape 20"/>
          <p:cNvSpPr/>
          <p:nvPr/>
        </p:nvSpPr>
        <p:spPr>
          <a:xfrm flipV="1">
            <a:off x="1234440" y="4100400"/>
            <a:ext cx="2011680" cy="48600"/>
          </a:xfrm>
          <a:prstGeom prst="line">
            <a:avLst/>
          </a:prstGeom>
          <a:ln w="31750">
            <a:solidFill>
              <a:srgbClr val="9aa4b8"/>
            </a:solidFill>
            <a:round/>
          </a:ln>
        </p:spPr>
        <p:style>
          <a:lnRef idx="0"/>
          <a:fillRef idx="0"/>
          <a:effectRef idx="0"/>
          <a:fontRef idx="minor"/>
        </p:style>
        <p:txBody>
          <a:bodyPr lIns="90000" rIns="90000" tIns="3600" bIns="3600" anchor="t" anchorCtr="1">
            <a:noAutofit/>
          </a:bodyPr>
          <a:p>
            <a:endParaRPr b="0" lang="en-US" sz="1800" spc="-1" strike="noStrike">
              <a:solidFill>
                <a:srgbClr val="ffffff"/>
              </a:solidFill>
              <a:latin typeface="Arial"/>
            </a:endParaRPr>
          </a:p>
        </p:txBody>
      </p:sp>
      <p:sp>
        <p:nvSpPr>
          <p:cNvPr id="470" name="Shape 21"/>
          <p:cNvSpPr/>
          <p:nvPr/>
        </p:nvSpPr>
        <p:spPr>
          <a:xfrm>
            <a:off x="3246120" y="4100400"/>
            <a:ext cx="2011680" cy="133200"/>
          </a:xfrm>
          <a:prstGeom prst="line">
            <a:avLst/>
          </a:prstGeom>
          <a:ln w="31750">
            <a:solidFill>
              <a:srgbClr val="9aa4b8"/>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71" name="Shape 22"/>
          <p:cNvSpPr/>
          <p:nvPr/>
        </p:nvSpPr>
        <p:spPr>
          <a:xfrm>
            <a:off x="5257800" y="4233600"/>
            <a:ext cx="2011680" cy="91080"/>
          </a:xfrm>
          <a:prstGeom prst="line">
            <a:avLst/>
          </a:prstGeom>
          <a:ln w="31750">
            <a:solidFill>
              <a:srgbClr val="9aa4b8"/>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72" name="Shape 23"/>
          <p:cNvSpPr/>
          <p:nvPr/>
        </p:nvSpPr>
        <p:spPr>
          <a:xfrm>
            <a:off x="7269480" y="4324680"/>
            <a:ext cx="2011680" cy="36360"/>
          </a:xfrm>
          <a:prstGeom prst="line">
            <a:avLst/>
          </a:prstGeom>
          <a:ln w="31750">
            <a:solidFill>
              <a:srgbClr val="9aa4b8"/>
            </a:solidFill>
            <a:round/>
          </a:ln>
        </p:spPr>
        <p:style>
          <a:lnRef idx="0"/>
          <a:fillRef idx="0"/>
          <a:effectRef idx="0"/>
          <a:fontRef idx="minor"/>
        </p:style>
        <p:txBody>
          <a:bodyPr lIns="90000" rIns="90000" tIns="-8640" bIns="-8640" anchor="t" anchorCtr="1">
            <a:noAutofit/>
          </a:bodyPr>
          <a:p>
            <a:endParaRPr b="0" lang="en-US" sz="1800" spc="-1" strike="noStrike">
              <a:solidFill>
                <a:srgbClr val="ffffff"/>
              </a:solidFill>
              <a:latin typeface="Arial"/>
            </a:endParaRPr>
          </a:p>
        </p:txBody>
      </p:sp>
      <p:sp>
        <p:nvSpPr>
          <p:cNvPr id="473" name="Shape 24"/>
          <p:cNvSpPr/>
          <p:nvPr/>
        </p:nvSpPr>
        <p:spPr>
          <a:xfrm flipV="1">
            <a:off x="9281160" y="4276080"/>
            <a:ext cx="2011680" cy="84960"/>
          </a:xfrm>
          <a:prstGeom prst="line">
            <a:avLst/>
          </a:prstGeom>
          <a:ln w="31750">
            <a:solidFill>
              <a:srgbClr val="9aa4b8"/>
            </a:solidFill>
            <a:round/>
          </a:ln>
        </p:spPr>
        <p:style>
          <a:lnRef idx="0"/>
          <a:fillRef idx="0"/>
          <a:effectRef idx="0"/>
          <a:fontRef idx="minor"/>
        </p:style>
        <p:txBody>
          <a:bodyPr lIns="90000" rIns="90000" tIns="39960" bIns="39960" anchor="t" anchorCtr="1">
            <a:noAutofit/>
          </a:bodyPr>
          <a:p>
            <a:endParaRPr b="0" lang="en-US" sz="1800" spc="-1" strike="noStrike">
              <a:solidFill>
                <a:srgbClr val="ffffff"/>
              </a:solidFill>
              <a:latin typeface="Arial"/>
            </a:endParaRPr>
          </a:p>
        </p:txBody>
      </p:sp>
      <p:sp>
        <p:nvSpPr>
          <p:cNvPr id="474" name="Shape 25"/>
          <p:cNvSpPr/>
          <p:nvPr/>
        </p:nvSpPr>
        <p:spPr>
          <a:xfrm>
            <a:off x="1188720" y="410328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5" name="Shape 26"/>
          <p:cNvSpPr/>
          <p:nvPr/>
        </p:nvSpPr>
        <p:spPr>
          <a:xfrm>
            <a:off x="3200400" y="405504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6" name="Shape 27"/>
          <p:cNvSpPr/>
          <p:nvPr/>
        </p:nvSpPr>
        <p:spPr>
          <a:xfrm>
            <a:off x="5212080" y="418824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7" name="Shape 28"/>
          <p:cNvSpPr/>
          <p:nvPr/>
        </p:nvSpPr>
        <p:spPr>
          <a:xfrm>
            <a:off x="7223760" y="427896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8" name="Shape 29"/>
          <p:cNvSpPr/>
          <p:nvPr/>
        </p:nvSpPr>
        <p:spPr>
          <a:xfrm>
            <a:off x="9235440" y="431532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79" name="Shape 30"/>
          <p:cNvSpPr/>
          <p:nvPr/>
        </p:nvSpPr>
        <p:spPr>
          <a:xfrm>
            <a:off x="11247120" y="4230720"/>
            <a:ext cx="90000" cy="90000"/>
          </a:xfrm>
          <a:prstGeom prst="ellipse">
            <a:avLst/>
          </a:prstGeom>
          <a:solidFill>
            <a:srgbClr val="9aa4b8"/>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000000"/>
              </a:solidFill>
              <a:latin typeface="Arial"/>
            </a:endParaRPr>
          </a:p>
        </p:txBody>
      </p:sp>
      <p:sp>
        <p:nvSpPr>
          <p:cNvPr id="480" name="Text 31"/>
          <p:cNvSpPr/>
          <p:nvPr/>
        </p:nvSpPr>
        <p:spPr>
          <a:xfrm>
            <a:off x="11365920" y="4157280"/>
            <a:ext cx="501480" cy="236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9aa4b8"/>
                </a:solidFill>
                <a:latin typeface="Consolas"/>
                <a:ea typeface="Consolas"/>
              </a:rPr>
              <a:t>79</a:t>
            </a:r>
            <a:endParaRPr b="0" lang="en-US" sz="1050" spc="-1" strike="noStrike">
              <a:solidFill>
                <a:srgbClr val="ffffff"/>
              </a:solidFill>
              <a:latin typeface="Arial"/>
            </a:endParaRPr>
          </a:p>
        </p:txBody>
      </p:sp>
      <p:sp>
        <p:nvSpPr>
          <p:cNvPr id="481" name="Shape 32"/>
          <p:cNvSpPr/>
          <p:nvPr/>
        </p:nvSpPr>
        <p:spPr>
          <a:xfrm>
            <a:off x="1234440" y="4149000"/>
            <a:ext cx="2011680" cy="42480"/>
          </a:xfrm>
          <a:prstGeom prst="line">
            <a:avLst/>
          </a:prstGeom>
          <a:ln w="31750">
            <a:solidFill>
              <a:srgbClr val="3e8fe0"/>
            </a:solidFill>
            <a:round/>
          </a:ln>
        </p:spPr>
        <p:style>
          <a:lnRef idx="0"/>
          <a:fillRef idx="0"/>
          <a:effectRef idx="0"/>
          <a:fontRef idx="minor"/>
        </p:style>
        <p:txBody>
          <a:bodyPr lIns="90000" rIns="90000" tIns="-2520" bIns="-2520" anchor="t" anchorCtr="1">
            <a:noAutofit/>
          </a:bodyPr>
          <a:p>
            <a:endParaRPr b="0" lang="en-US" sz="1800" spc="-1" strike="noStrike">
              <a:solidFill>
                <a:srgbClr val="ffffff"/>
              </a:solidFill>
              <a:latin typeface="Arial"/>
            </a:endParaRPr>
          </a:p>
        </p:txBody>
      </p:sp>
      <p:sp>
        <p:nvSpPr>
          <p:cNvPr id="482" name="Shape 33"/>
          <p:cNvSpPr/>
          <p:nvPr/>
        </p:nvSpPr>
        <p:spPr>
          <a:xfrm flipV="1">
            <a:off x="3246120" y="3876480"/>
            <a:ext cx="2011680" cy="315000"/>
          </a:xfrm>
          <a:prstGeom prst="line">
            <a:avLst/>
          </a:prstGeom>
          <a:ln w="31750">
            <a:solidFill>
              <a:srgbClr val="3e8fe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83" name="Shape 34"/>
          <p:cNvSpPr/>
          <p:nvPr/>
        </p:nvSpPr>
        <p:spPr>
          <a:xfrm flipV="1">
            <a:off x="5257800" y="3864240"/>
            <a:ext cx="2011680" cy="12240"/>
          </a:xfrm>
          <a:prstGeom prst="line">
            <a:avLst/>
          </a:prstGeom>
          <a:ln w="31750">
            <a:solidFill>
              <a:srgbClr val="3e8fe0"/>
            </a:solidFill>
            <a:round/>
          </a:ln>
        </p:spPr>
        <p:style>
          <a:lnRef idx="0"/>
          <a:fillRef idx="0"/>
          <a:effectRef idx="0"/>
          <a:fontRef idx="minor"/>
        </p:style>
        <p:txBody>
          <a:bodyPr lIns="90000" rIns="90000" tIns="-32760" bIns="-32760" anchor="t" anchorCtr="1">
            <a:noAutofit/>
          </a:bodyPr>
          <a:p>
            <a:endParaRPr b="0" lang="en-US" sz="1800" spc="-1" strike="noStrike">
              <a:solidFill>
                <a:srgbClr val="ffffff"/>
              </a:solidFill>
              <a:latin typeface="Arial"/>
            </a:endParaRPr>
          </a:p>
        </p:txBody>
      </p:sp>
      <p:sp>
        <p:nvSpPr>
          <p:cNvPr id="484" name="Shape 35"/>
          <p:cNvSpPr/>
          <p:nvPr/>
        </p:nvSpPr>
        <p:spPr>
          <a:xfrm>
            <a:off x="7269480" y="3864240"/>
            <a:ext cx="2011680" cy="151560"/>
          </a:xfrm>
          <a:prstGeom prst="line">
            <a:avLst/>
          </a:prstGeom>
          <a:ln w="31750">
            <a:solidFill>
              <a:srgbClr val="3e8fe0"/>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85" name="Shape 36"/>
          <p:cNvSpPr/>
          <p:nvPr/>
        </p:nvSpPr>
        <p:spPr>
          <a:xfrm>
            <a:off x="9281160" y="4015800"/>
            <a:ext cx="2011680" cy="42120"/>
          </a:xfrm>
          <a:prstGeom prst="line">
            <a:avLst/>
          </a:prstGeom>
          <a:ln w="31750">
            <a:solidFill>
              <a:srgbClr val="3e8fe0"/>
            </a:solidFill>
            <a:round/>
          </a:ln>
        </p:spPr>
        <p:style>
          <a:lnRef idx="0"/>
          <a:fillRef idx="0"/>
          <a:effectRef idx="0"/>
          <a:fontRef idx="minor"/>
        </p:style>
        <p:txBody>
          <a:bodyPr lIns="90000" rIns="90000" tIns="-2880" bIns="-2880" anchor="t" anchorCtr="1">
            <a:noAutofit/>
          </a:bodyPr>
          <a:p>
            <a:endParaRPr b="0" lang="en-US" sz="1800" spc="-1" strike="noStrike">
              <a:solidFill>
                <a:srgbClr val="ffffff"/>
              </a:solidFill>
              <a:latin typeface="Arial"/>
            </a:endParaRPr>
          </a:p>
        </p:txBody>
      </p:sp>
      <p:sp>
        <p:nvSpPr>
          <p:cNvPr id="486" name="Shape 37"/>
          <p:cNvSpPr/>
          <p:nvPr/>
        </p:nvSpPr>
        <p:spPr>
          <a:xfrm>
            <a:off x="1188720" y="410328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87" name="Shape 38"/>
          <p:cNvSpPr/>
          <p:nvPr/>
        </p:nvSpPr>
        <p:spPr>
          <a:xfrm>
            <a:off x="3200400" y="414576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88" name="Shape 39"/>
          <p:cNvSpPr/>
          <p:nvPr/>
        </p:nvSpPr>
        <p:spPr>
          <a:xfrm>
            <a:off x="5212080" y="383076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89" name="Shape 40"/>
          <p:cNvSpPr/>
          <p:nvPr/>
        </p:nvSpPr>
        <p:spPr>
          <a:xfrm>
            <a:off x="7223760" y="381852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0" name="Shape 41"/>
          <p:cNvSpPr/>
          <p:nvPr/>
        </p:nvSpPr>
        <p:spPr>
          <a:xfrm>
            <a:off x="9235440" y="397008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1" name="Shape 42"/>
          <p:cNvSpPr/>
          <p:nvPr/>
        </p:nvSpPr>
        <p:spPr>
          <a:xfrm>
            <a:off x="11247120" y="4012560"/>
            <a:ext cx="90000" cy="90000"/>
          </a:xfrm>
          <a:prstGeom prst="ellipse">
            <a:avLst/>
          </a:prstGeom>
          <a:solidFill>
            <a:srgbClr val="3e8fe0"/>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2" name="Text 43"/>
          <p:cNvSpPr/>
          <p:nvPr/>
        </p:nvSpPr>
        <p:spPr>
          <a:xfrm>
            <a:off x="11365920" y="3939480"/>
            <a:ext cx="501480" cy="236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3e8fe0"/>
                </a:solidFill>
                <a:latin typeface="Consolas"/>
                <a:ea typeface="Consolas"/>
              </a:rPr>
              <a:t>115</a:t>
            </a:r>
            <a:endParaRPr b="0" lang="en-US" sz="1050" spc="-1" strike="noStrike">
              <a:solidFill>
                <a:srgbClr val="ffffff"/>
              </a:solidFill>
              <a:latin typeface="Arial"/>
            </a:endParaRPr>
          </a:p>
        </p:txBody>
      </p:sp>
      <p:sp>
        <p:nvSpPr>
          <p:cNvPr id="493" name="Shape 44"/>
          <p:cNvSpPr/>
          <p:nvPr/>
        </p:nvSpPr>
        <p:spPr>
          <a:xfrm flipV="1">
            <a:off x="1234440" y="3845880"/>
            <a:ext cx="2011680" cy="30312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4" name="Shape 45"/>
          <p:cNvSpPr/>
          <p:nvPr/>
        </p:nvSpPr>
        <p:spPr>
          <a:xfrm flipV="1">
            <a:off x="3246120" y="3767400"/>
            <a:ext cx="2011680" cy="78480"/>
          </a:xfrm>
          <a:prstGeom prst="line">
            <a:avLst/>
          </a:prstGeom>
          <a:ln w="31750">
            <a:solidFill>
              <a:srgbClr val="e8804f"/>
            </a:solidFill>
            <a:round/>
          </a:ln>
        </p:spPr>
        <p:style>
          <a:lnRef idx="0"/>
          <a:fillRef idx="0"/>
          <a:effectRef idx="0"/>
          <a:fontRef idx="minor"/>
        </p:style>
        <p:txBody>
          <a:bodyPr lIns="90000" rIns="90000" tIns="33480" bIns="33480" anchor="t" anchorCtr="1">
            <a:noAutofit/>
          </a:bodyPr>
          <a:p>
            <a:endParaRPr b="0" lang="en-US" sz="1800" spc="-1" strike="noStrike">
              <a:solidFill>
                <a:srgbClr val="ffffff"/>
              </a:solidFill>
              <a:latin typeface="Arial"/>
            </a:endParaRPr>
          </a:p>
        </p:txBody>
      </p:sp>
      <p:sp>
        <p:nvSpPr>
          <p:cNvPr id="495" name="Shape 46"/>
          <p:cNvSpPr/>
          <p:nvPr/>
        </p:nvSpPr>
        <p:spPr>
          <a:xfrm flipV="1">
            <a:off x="5257800" y="3464280"/>
            <a:ext cx="2011680" cy="30312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6" name="Shape 47"/>
          <p:cNvSpPr/>
          <p:nvPr/>
        </p:nvSpPr>
        <p:spPr>
          <a:xfrm flipV="1">
            <a:off x="7269480" y="3028320"/>
            <a:ext cx="2011680" cy="43596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7" name="Shape 48"/>
          <p:cNvSpPr/>
          <p:nvPr/>
        </p:nvSpPr>
        <p:spPr>
          <a:xfrm flipV="1">
            <a:off x="9281160" y="2555640"/>
            <a:ext cx="2011680" cy="472680"/>
          </a:xfrm>
          <a:prstGeom prst="line">
            <a:avLst/>
          </a:prstGeom>
          <a:ln w="31750">
            <a:solidFill>
              <a:srgbClr val="e8804f"/>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498" name="Shape 49"/>
          <p:cNvSpPr/>
          <p:nvPr/>
        </p:nvSpPr>
        <p:spPr>
          <a:xfrm>
            <a:off x="1188720" y="410328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499" name="Shape 50"/>
          <p:cNvSpPr/>
          <p:nvPr/>
        </p:nvSpPr>
        <p:spPr>
          <a:xfrm>
            <a:off x="3200400" y="380052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0" name="Shape 51"/>
          <p:cNvSpPr/>
          <p:nvPr/>
        </p:nvSpPr>
        <p:spPr>
          <a:xfrm>
            <a:off x="5212080" y="372168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1" name="Shape 52"/>
          <p:cNvSpPr/>
          <p:nvPr/>
        </p:nvSpPr>
        <p:spPr>
          <a:xfrm>
            <a:off x="7223760" y="341892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2" name="Shape 53"/>
          <p:cNvSpPr/>
          <p:nvPr/>
        </p:nvSpPr>
        <p:spPr>
          <a:xfrm>
            <a:off x="9235440" y="298260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3" name="Shape 54"/>
          <p:cNvSpPr/>
          <p:nvPr/>
        </p:nvSpPr>
        <p:spPr>
          <a:xfrm>
            <a:off x="11247120" y="2510280"/>
            <a:ext cx="90000" cy="90000"/>
          </a:xfrm>
          <a:prstGeom prst="ellipse">
            <a:avLst/>
          </a:prstGeom>
          <a:solidFill>
            <a:srgbClr val="e8804f"/>
          </a:solidFill>
          <a:ln w="12700">
            <a:solidFill>
              <a:srgbClr val="0f1420"/>
            </a:solidFill>
            <a:round/>
          </a:ln>
        </p:spPr>
        <p:style>
          <a:lnRef idx="0"/>
          <a:fillRef idx="0"/>
          <a:effectRef idx="0"/>
          <a:fontRef idx="minor"/>
        </p:style>
        <p:txBody>
          <a:bodyPr lIns="90000" rIns="90000" tIns="19440" bIns="19440" anchor="t">
            <a:noAutofit/>
          </a:bodyPr>
          <a:p>
            <a:pPr>
              <a:lnSpc>
                <a:spcPct val="100000"/>
              </a:lnSpc>
            </a:pPr>
            <a:endParaRPr b="0" lang="en-US" sz="1800" spc="-1" strike="noStrike">
              <a:solidFill>
                <a:srgbClr val="ffffff"/>
              </a:solidFill>
              <a:latin typeface="Arial"/>
            </a:endParaRPr>
          </a:p>
        </p:txBody>
      </p:sp>
      <p:sp>
        <p:nvSpPr>
          <p:cNvPr id="504" name="Text 55"/>
          <p:cNvSpPr/>
          <p:nvPr/>
        </p:nvSpPr>
        <p:spPr>
          <a:xfrm>
            <a:off x="11365920" y="2436840"/>
            <a:ext cx="501480" cy="236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e8804f"/>
                </a:solidFill>
                <a:latin typeface="Consolas"/>
                <a:ea typeface="Consolas"/>
              </a:rPr>
              <a:t>363</a:t>
            </a:r>
            <a:endParaRPr b="0" lang="en-US" sz="1050" spc="-1" strike="noStrike">
              <a:solidFill>
                <a:srgbClr val="ffffff"/>
              </a:solidFill>
              <a:latin typeface="Arial"/>
            </a:endParaRPr>
          </a:p>
        </p:txBody>
      </p:sp>
      <p:sp>
        <p:nvSpPr>
          <p:cNvPr id="505" name="Text 56"/>
          <p:cNvSpPr/>
          <p:nvPr/>
        </p:nvSpPr>
        <p:spPr>
          <a:xfrm>
            <a:off x="86868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2021</a:t>
            </a:r>
            <a:endParaRPr b="0" lang="en-US" sz="1050" spc="-1" strike="noStrike">
              <a:solidFill>
                <a:srgbClr val="ffffff"/>
              </a:solidFill>
              <a:latin typeface="Arial"/>
            </a:endParaRPr>
          </a:p>
        </p:txBody>
      </p:sp>
      <p:sp>
        <p:nvSpPr>
          <p:cNvPr id="506" name="Text 57"/>
          <p:cNvSpPr/>
          <p:nvPr/>
        </p:nvSpPr>
        <p:spPr>
          <a:xfrm>
            <a:off x="288036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2022</a:t>
            </a:r>
            <a:endParaRPr b="0" lang="en-US" sz="1050" spc="-1" strike="noStrike">
              <a:solidFill>
                <a:srgbClr val="ffffff"/>
              </a:solidFill>
              <a:latin typeface="Arial"/>
            </a:endParaRPr>
          </a:p>
        </p:txBody>
      </p:sp>
      <p:sp>
        <p:nvSpPr>
          <p:cNvPr id="507" name="Text 58"/>
          <p:cNvSpPr/>
          <p:nvPr/>
        </p:nvSpPr>
        <p:spPr>
          <a:xfrm>
            <a:off x="489204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2023</a:t>
            </a:r>
            <a:endParaRPr b="0" lang="en-US" sz="1050" spc="-1" strike="noStrike">
              <a:solidFill>
                <a:srgbClr val="ffffff"/>
              </a:solidFill>
              <a:latin typeface="Arial"/>
            </a:endParaRPr>
          </a:p>
        </p:txBody>
      </p:sp>
      <p:sp>
        <p:nvSpPr>
          <p:cNvPr id="508" name="Text 59"/>
          <p:cNvSpPr/>
          <p:nvPr/>
        </p:nvSpPr>
        <p:spPr>
          <a:xfrm>
            <a:off x="690372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2024</a:t>
            </a:r>
            <a:endParaRPr b="0" lang="en-US" sz="1050" spc="-1" strike="noStrike">
              <a:solidFill>
                <a:srgbClr val="ffffff"/>
              </a:solidFill>
              <a:latin typeface="Arial"/>
            </a:endParaRPr>
          </a:p>
        </p:txBody>
      </p:sp>
      <p:sp>
        <p:nvSpPr>
          <p:cNvPr id="509" name="Text 60"/>
          <p:cNvSpPr/>
          <p:nvPr/>
        </p:nvSpPr>
        <p:spPr>
          <a:xfrm>
            <a:off x="891540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2025</a:t>
            </a:r>
            <a:endParaRPr b="0" lang="en-US" sz="1050" spc="-1" strike="noStrike">
              <a:solidFill>
                <a:srgbClr val="ffffff"/>
              </a:solidFill>
              <a:latin typeface="Arial"/>
            </a:endParaRPr>
          </a:p>
        </p:txBody>
      </p:sp>
      <p:sp>
        <p:nvSpPr>
          <p:cNvPr id="510" name="Text 61"/>
          <p:cNvSpPr/>
          <p:nvPr/>
        </p:nvSpPr>
        <p:spPr>
          <a:xfrm>
            <a:off x="10927080" y="4846320"/>
            <a:ext cx="730080" cy="254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50" spc="-1" strike="noStrike">
                <a:solidFill>
                  <a:srgbClr val="edeff4"/>
                </a:solidFill>
                <a:latin typeface="Arial"/>
                <a:ea typeface="Arial"/>
              </a:rPr>
              <a:t>2026</a:t>
            </a:r>
            <a:endParaRPr b="0" lang="en-US" sz="1050" spc="-1" strike="noStrike">
              <a:solidFill>
                <a:srgbClr val="ffffff"/>
              </a:solidFill>
              <a:latin typeface="Arial"/>
            </a:endParaRPr>
          </a:p>
        </p:txBody>
      </p:sp>
      <p:sp>
        <p:nvSpPr>
          <p:cNvPr id="511" name="Shape 62"/>
          <p:cNvSpPr/>
          <p:nvPr/>
        </p:nvSpPr>
        <p:spPr>
          <a:xfrm>
            <a:off x="548640" y="5394960"/>
            <a:ext cx="11062800" cy="912960"/>
          </a:xfrm>
          <a:prstGeom prst="roundRect">
            <a:avLst>
              <a:gd name="adj" fmla="val 8000"/>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2" name="Text 63"/>
          <p:cNvSpPr/>
          <p:nvPr/>
        </p:nvSpPr>
        <p:spPr>
          <a:xfrm>
            <a:off x="777240" y="5486400"/>
            <a:ext cx="10605600" cy="730080"/>
          </a:xfrm>
          <a:prstGeom prst="rect">
            <a:avLst/>
          </a:prstGeom>
          <a:noFill/>
          <a:ln w="0">
            <a:noFill/>
          </a:ln>
        </p:spPr>
        <p:style>
          <a:lnRef idx="0"/>
          <a:fillRef idx="0"/>
          <a:effectRef idx="0"/>
          <a:fontRef idx="minor"/>
        </p:style>
        <p:txBody>
          <a:bodyPr lIns="90000" rIns="90000" tIns="45000" bIns="45000" anchor="t">
            <a:noAutofit/>
          </a:bodyPr>
          <a:p>
            <a:pPr defTabSz="914400">
              <a:lnSpc>
                <a:spcPct val="122000"/>
              </a:lnSpc>
              <a:tabLst>
                <a:tab algn="l" pos="0"/>
              </a:tabLst>
            </a:pPr>
            <a:r>
              <a:rPr b="1" lang="en-US" sz="1100" spc="-1" strike="noStrike">
                <a:solidFill>
                  <a:srgbClr val="e0b155"/>
                </a:solidFill>
                <a:latin typeface="Arial"/>
                <a:ea typeface="Arial"/>
              </a:rPr>
              <a:t>Source:  </a:t>
            </a:r>
            <a:r>
              <a:rPr b="0" lang="en-US" sz="1100" spc="-1" strike="noStrike">
                <a:solidFill>
                  <a:srgbClr val="edeff4"/>
                </a:solidFill>
                <a:latin typeface="Arial"/>
                <a:ea typeface="Arial"/>
              </a:rPr>
              <a:t>TIOBE Index (tiobe.com), approximate yearly snapshots, each language indexed to its own 2021 rating = 100 — this chart shows relative growth trajectory, not current market size. In absolute terms, C++ and C's TIOBE share are still roughly 6–10x larger than Rust's as of 2026. TIOBE measures search-engine mentions as a proxy for skilled-engineer availability, not lines of code shipped — treat the trend as the signal, not the decimal points.</a:t>
            </a:r>
            <a:endParaRPr b="0" lang="en-US" sz="1100" spc="-1" strike="noStrike">
              <a:solidFill>
                <a:srgbClr val="ffffff"/>
              </a:solidFill>
              <a:latin typeface="Arial"/>
            </a:endParaRPr>
          </a:p>
        </p:txBody>
      </p:sp>
      <p:sp>
        <p:nvSpPr>
          <p:cNvPr id="513" name="Text 6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14" name="Text 6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1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A BRIEF HISTORY OF RUST</a:t>
            </a:r>
            <a:endParaRPr b="0" lang="en-US" sz="1300" spc="-1" strike="noStrike">
              <a:solidFill>
                <a:srgbClr val="ffffff"/>
              </a:solidFill>
              <a:latin typeface="Arial"/>
            </a:endParaRPr>
          </a:p>
        </p:txBody>
      </p:sp>
      <p:sp>
        <p:nvSpPr>
          <p:cNvPr id="51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Where the name comes from</a:t>
            </a:r>
            <a:endParaRPr b="0" lang="en-US" sz="2800" spc="-1" strike="noStrike">
              <a:solidFill>
                <a:srgbClr val="ffffff"/>
              </a:solidFill>
              <a:latin typeface="Arial"/>
            </a:endParaRPr>
          </a:p>
        </p:txBody>
      </p:sp>
      <p:sp>
        <p:nvSpPr>
          <p:cNvPr id="517"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A little trivia, lightly held.</a:t>
            </a:r>
            <a:endParaRPr b="0" lang="en-US" sz="1300" spc="-1" strike="noStrike">
              <a:solidFill>
                <a:srgbClr val="ffffff"/>
              </a:solidFill>
              <a:latin typeface="Arial"/>
            </a:endParaRPr>
          </a:p>
        </p:txBody>
      </p:sp>
      <p:sp>
        <p:nvSpPr>
          <p:cNvPr id="518" name="Shape 3"/>
          <p:cNvSpPr/>
          <p:nvPr/>
        </p:nvSpPr>
        <p:spPr>
          <a:xfrm>
            <a:off x="548640" y="222192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19" name="Shape 4"/>
          <p:cNvSpPr/>
          <p:nvPr/>
        </p:nvSpPr>
        <p:spPr>
          <a:xfrm>
            <a:off x="777240" y="3076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0" name="Text 5"/>
          <p:cNvSpPr/>
          <p:nvPr/>
        </p:nvSpPr>
        <p:spPr>
          <a:xfrm>
            <a:off x="1143000" y="222192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 is named after the rust fungi — by Hoare's own account, partly just because he liked how the word sounded.  </a:t>
            </a:r>
            <a:endParaRPr b="0" lang="en-US" sz="1250" spc="-1" strike="noStrike">
              <a:solidFill>
                <a:srgbClr val="ffffff"/>
              </a:solidFill>
              <a:latin typeface="Arial"/>
            </a:endParaRPr>
          </a:p>
        </p:txBody>
      </p:sp>
      <p:sp>
        <p:nvSpPr>
          <p:cNvPr id="521" name="Shape 6"/>
          <p:cNvSpPr/>
          <p:nvPr/>
        </p:nvSpPr>
        <p:spPr>
          <a:xfrm>
            <a:off x="548640" y="424296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2" name="Shape 7"/>
          <p:cNvSpPr/>
          <p:nvPr/>
        </p:nvSpPr>
        <p:spPr>
          <a:xfrm>
            <a:off x="777240" y="50979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23" name="Text 8"/>
          <p:cNvSpPr/>
          <p:nvPr/>
        </p:nvSpPr>
        <p:spPr>
          <a:xfrm>
            <a:off x="1143000" y="424296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fungus connection gets a retroactive flourish in the community anyway:  </a:t>
            </a:r>
            <a:r>
              <a:rPr b="0" lang="en-US" sz="1200" spc="-1" strike="noStrike">
                <a:solidFill>
                  <a:srgbClr val="9aa4b8"/>
                </a:solidFill>
                <a:latin typeface="Arial"/>
                <a:ea typeface="Arial"/>
              </a:rPr>
              <a:t>rust fungi are notably resilient, which people enjoy reading as a metaphor for the language's robustness guarantees. Take it as folklore, not etymology.</a:t>
            </a:r>
            <a:endParaRPr b="0" lang="en-US" sz="1200" spc="-1" strike="noStrike">
              <a:solidFill>
                <a:srgbClr val="ffffff"/>
              </a:solidFill>
              <a:latin typeface="Arial"/>
            </a:endParaRPr>
          </a:p>
        </p:txBody>
      </p:sp>
      <p:sp>
        <p:nvSpPr>
          <p:cNvPr id="524" name="Text 9"/>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25" name="Text 10"/>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2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A BRIEF HISTORY OF RUST</a:t>
            </a:r>
            <a:endParaRPr b="0" lang="en-US" sz="1300" spc="-1" strike="noStrike">
              <a:solidFill>
                <a:srgbClr val="ffffff"/>
              </a:solidFill>
              <a:latin typeface="Arial"/>
            </a:endParaRPr>
          </a:p>
        </p:txBody>
      </p:sp>
      <p:sp>
        <p:nvSpPr>
          <p:cNvPr id="527"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The arc, in one line: this isn't a fad that got lucky.</a:t>
            </a:r>
            <a:endParaRPr b="0" lang="en-US" sz="3200" spc="-1" strike="noStrike">
              <a:solidFill>
                <a:srgbClr val="ffffff"/>
              </a:solidFill>
              <a:latin typeface="Arial"/>
            </a:endParaRPr>
          </a:p>
        </p:txBody>
      </p:sp>
      <p:sp>
        <p:nvSpPr>
          <p:cNvPr id="528"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Two decades of research pedigree, a decade of production pressure-testing inside a real browser engine, a mature shared compiler backend, and a governance structure that survived its founding sponsor stepping back — that's the institutional and technical track record underneath everything else this course covers.</a:t>
            </a:r>
            <a:endParaRPr b="0" lang="en-US" sz="1400" spc="-1" strike="noStrike">
              <a:solidFill>
                <a:srgbClr val="ffffff"/>
              </a:solidFill>
              <a:latin typeface="Arial"/>
            </a:endParaRPr>
          </a:p>
        </p:txBody>
      </p:sp>
      <p:sp>
        <p:nvSpPr>
          <p:cNvPr id="529"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30"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31"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32"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03</a:t>
            </a:r>
            <a:endParaRPr b="0" lang="en-US" sz="3400" spc="-1" strike="noStrike">
              <a:solidFill>
                <a:srgbClr val="ffffff"/>
              </a:solidFill>
              <a:latin typeface="Arial"/>
            </a:endParaRPr>
          </a:p>
        </p:txBody>
      </p:sp>
      <p:sp>
        <p:nvSpPr>
          <p:cNvPr id="533"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Toolchain &amp; Project Model</a:t>
            </a:r>
            <a:endParaRPr b="0" lang="en-US" sz="2800" spc="-1" strike="noStrike">
              <a:solidFill>
                <a:srgbClr val="ffffff"/>
              </a:solidFill>
              <a:latin typeface="Arial"/>
            </a:endParaRPr>
          </a:p>
        </p:txBody>
      </p:sp>
      <p:sp>
        <p:nvSpPr>
          <p:cNvPr id="534"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rustc, cargo, rustup, and the shape of a project</a:t>
            </a:r>
            <a:endParaRPr b="0" lang="en-US" sz="1350" spc="-1" strike="noStrike">
              <a:solidFill>
                <a:srgbClr val="ffffff"/>
              </a:solidFill>
              <a:latin typeface="Arial"/>
            </a:endParaRPr>
          </a:p>
        </p:txBody>
      </p:sp>
      <p:sp>
        <p:nvSpPr>
          <p:cNvPr id="535"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36"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53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three tools you'll type every day</a:t>
            </a:r>
            <a:endParaRPr b="0" lang="en-US" sz="2800" spc="-1" strike="noStrike">
              <a:solidFill>
                <a:srgbClr val="ffffff"/>
              </a:solidFill>
              <a:latin typeface="Arial"/>
            </a:endParaRPr>
          </a:p>
        </p:txBody>
      </p:sp>
      <p:sp>
        <p:nvSpPr>
          <p:cNvPr id="539"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0"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1"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rustup:  </a:t>
            </a:r>
            <a:r>
              <a:rPr b="0" lang="en-US" sz="1200" spc="-1" strike="noStrike">
                <a:solidFill>
                  <a:srgbClr val="9aa4b8"/>
                </a:solidFill>
                <a:latin typeface="Arial"/>
                <a:ea typeface="Arial"/>
              </a:rPr>
              <a:t>toolchain manager — installs and switches Rust versions and cross-compilation targets.</a:t>
            </a:r>
            <a:endParaRPr b="0" lang="en-US" sz="1200" spc="-1" strike="noStrike">
              <a:solidFill>
                <a:srgbClr val="ffffff"/>
              </a:solidFill>
              <a:latin typeface="Arial"/>
            </a:endParaRPr>
          </a:p>
        </p:txBody>
      </p:sp>
      <p:sp>
        <p:nvSpPr>
          <p:cNvPr id="542"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3"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4"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a:t>
            </a:r>
            <a:r>
              <a:rPr b="0" lang="en-US" sz="1200" spc="-1" strike="noStrike">
                <a:solidFill>
                  <a:srgbClr val="9aa4b8"/>
                </a:solidFill>
                <a:latin typeface="Arial"/>
                <a:ea typeface="Arial"/>
              </a:rPr>
              <a:t>build system, package manager, test runner, and formatter front-end, all in one.</a:t>
            </a:r>
            <a:endParaRPr b="0" lang="en-US" sz="1200" spc="-1" strike="noStrike">
              <a:solidFill>
                <a:srgbClr val="ffffff"/>
              </a:solidFill>
              <a:latin typeface="Arial"/>
            </a:endParaRPr>
          </a:p>
        </p:txBody>
      </p:sp>
      <p:sp>
        <p:nvSpPr>
          <p:cNvPr id="545"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6"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47"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rustc:  </a:t>
            </a:r>
            <a:r>
              <a:rPr b="0" lang="en-US" sz="1200" spc="-1" strike="noStrike">
                <a:solidFill>
                  <a:srgbClr val="9aa4b8"/>
                </a:solidFill>
                <a:latin typeface="Arial"/>
                <a:ea typeface="Arial"/>
              </a:rPr>
              <a:t>the compiler itself — you'll rarely invoke it directly once cargo is set up.</a:t>
            </a:r>
            <a:endParaRPr b="0" lang="en-US" sz="1200" spc="-1" strike="noStrike">
              <a:solidFill>
                <a:srgbClr val="ffffff"/>
              </a:solidFill>
              <a:latin typeface="Arial"/>
            </a:endParaRPr>
          </a:p>
        </p:txBody>
      </p:sp>
      <p:sp>
        <p:nvSpPr>
          <p:cNvPr id="548"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49"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5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a:t>
            </a:r>
            <a:endParaRPr b="0" lang="en-US" sz="1300" spc="-1" strike="noStrike">
              <a:solidFill>
                <a:srgbClr val="ffffff"/>
              </a:solidFill>
              <a:latin typeface="Arial"/>
            </a:endParaRPr>
          </a:p>
        </p:txBody>
      </p:sp>
      <p:sp>
        <p:nvSpPr>
          <p:cNvPr id="55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Compiling a single file</a:t>
            </a:r>
            <a:endParaRPr b="0" lang="en-US" sz="2800" spc="-1" strike="noStrike">
              <a:solidFill>
                <a:srgbClr val="ffffff"/>
              </a:solidFill>
              <a:latin typeface="Arial"/>
            </a:endParaRPr>
          </a:p>
        </p:txBody>
      </p:sp>
      <p:sp>
        <p:nvSpPr>
          <p:cNvPr id="55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55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G++ / CLANG++</a:t>
            </a:r>
            <a:endParaRPr b="0" lang="en-US" sz="1300" spc="-1" strike="noStrike">
              <a:solidFill>
                <a:srgbClr val="ffffff"/>
              </a:solidFill>
              <a:latin typeface="Arial"/>
            </a:endParaRPr>
          </a:p>
        </p:txBody>
      </p:sp>
      <p:sp>
        <p:nvSpPr>
          <p:cNvPr id="55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g++ -std=c++20 -O2 -Wall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 include/ main.cpp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-o app -lpthread</a:t>
            </a:r>
            <a:endParaRPr b="0" lang="en-US" sz="1200" spc="-1" strike="noStrike">
              <a:solidFill>
                <a:srgbClr val="ffffff"/>
              </a:solidFill>
              <a:latin typeface="Arial"/>
            </a:endParaRPr>
          </a:p>
        </p:txBody>
      </p:sp>
      <p:sp>
        <p:nvSpPr>
          <p:cNvPr id="55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Flags for standard version, optimization, warnings, include paths, and libraries are all assembled by hand or by a build script.</a:t>
            </a:r>
            <a:endParaRPr b="0" lang="en-US" sz="1100" spc="-1" strike="noStrike">
              <a:solidFill>
                <a:srgbClr val="ffffff"/>
              </a:solidFill>
              <a:latin typeface="Arial"/>
            </a:endParaRPr>
          </a:p>
        </p:txBody>
      </p:sp>
      <p:sp>
        <p:nvSpPr>
          <p:cNvPr id="55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5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6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56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CARGO</a:t>
            </a:r>
            <a:endParaRPr b="0" lang="en-US" sz="1300" spc="-1" strike="noStrike">
              <a:solidFill>
                <a:srgbClr val="ffffff"/>
              </a:solidFill>
              <a:latin typeface="Arial"/>
            </a:endParaRPr>
          </a:p>
        </p:txBody>
      </p:sp>
      <p:sp>
        <p:nvSpPr>
          <p:cNvPr id="56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cargo build --release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cargo run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edition, optimization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level, and deps come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from Cargo.toml</a:t>
            </a:r>
            <a:endParaRPr b="0" lang="en-US" sz="1200" spc="-1" strike="noStrike">
              <a:solidFill>
                <a:srgbClr val="ffffff"/>
              </a:solidFill>
              <a:latin typeface="Arial"/>
            </a:endParaRPr>
          </a:p>
        </p:txBody>
      </p:sp>
      <p:sp>
        <p:nvSpPr>
          <p:cNvPr id="56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Project configuration lives in one manifest file; the command line stays the same regardless of project size.</a:t>
            </a:r>
            <a:endParaRPr b="0" lang="en-US" sz="1100" spc="-1" strike="noStrike">
              <a:solidFill>
                <a:srgbClr val="ffffff"/>
              </a:solidFill>
              <a:latin typeface="Arial"/>
            </a:endParaRPr>
          </a:p>
        </p:txBody>
      </p:sp>
      <p:sp>
        <p:nvSpPr>
          <p:cNvPr id="56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6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Moving configuration out of ad-hoc flags and into a declarative manifest makes builds reproducible across machines.</a:t>
            </a:r>
            <a:endParaRPr b="0" lang="en-US" sz="1150" spc="-1" strike="noStrike">
              <a:solidFill>
                <a:srgbClr val="ffffff"/>
              </a:solidFill>
              <a:latin typeface="Arial"/>
            </a:endParaRPr>
          </a:p>
        </p:txBody>
      </p:sp>
      <p:sp>
        <p:nvSpPr>
          <p:cNvPr id="56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6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a:t>
            </a:r>
            <a:endParaRPr b="0" lang="en-US" sz="1300" spc="-1" strike="noStrike">
              <a:solidFill>
                <a:srgbClr val="ffffff"/>
              </a:solidFill>
              <a:latin typeface="Arial"/>
            </a:endParaRPr>
          </a:p>
        </p:txBody>
      </p:sp>
      <p:sp>
        <p:nvSpPr>
          <p:cNvPr id="56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Project &amp; dependency manifest</a:t>
            </a:r>
            <a:endParaRPr b="0" lang="en-US" sz="2800" spc="-1" strike="noStrike">
              <a:solidFill>
                <a:srgbClr val="ffffff"/>
              </a:solidFill>
              <a:latin typeface="Arial"/>
            </a:endParaRPr>
          </a:p>
        </p:txBody>
      </p:sp>
      <p:sp>
        <p:nvSpPr>
          <p:cNvPr id="57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57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CMAKELISTS.TXT</a:t>
            </a:r>
            <a:endParaRPr b="0" lang="en-US" sz="1300" spc="-1" strike="noStrike">
              <a:solidFill>
                <a:srgbClr val="ffffff"/>
              </a:solidFill>
              <a:latin typeface="Arial"/>
            </a:endParaRPr>
          </a:p>
        </p:txBody>
      </p:sp>
      <p:sp>
        <p:nvSpPr>
          <p:cNvPr id="57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add_executable(app main.cpp)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target_link_libraries(app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PRIVATE fmt::fmt)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find_package(fmt REQUIRED)</a:t>
            </a:r>
            <a:endParaRPr b="0" lang="en-US" sz="1200" spc="-1" strike="noStrike">
              <a:solidFill>
                <a:srgbClr val="ffffff"/>
              </a:solidFill>
              <a:latin typeface="Arial"/>
            </a:endParaRPr>
          </a:p>
        </p:txBody>
      </p:sp>
      <p:sp>
        <p:nvSpPr>
          <p:cNvPr id="57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Declares targets and links libraries that must already be findable — typically via a separate package manager.</a:t>
            </a:r>
            <a:endParaRPr b="0" lang="en-US" sz="1100" spc="-1" strike="noStrike">
              <a:solidFill>
                <a:srgbClr val="ffffff"/>
              </a:solidFill>
              <a:latin typeface="Arial"/>
            </a:endParaRPr>
          </a:p>
        </p:txBody>
      </p:sp>
      <p:sp>
        <p:nvSpPr>
          <p:cNvPr id="57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7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57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CARGO.TOML</a:t>
            </a:r>
            <a:endParaRPr b="0" lang="en-US" sz="1300" spc="-1" strike="noStrike">
              <a:solidFill>
                <a:srgbClr val="ffffff"/>
              </a:solidFill>
              <a:latin typeface="Arial"/>
            </a:endParaRPr>
          </a:p>
        </p:txBody>
      </p:sp>
      <p:sp>
        <p:nvSpPr>
          <p:cNvPr id="58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[package]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name = "app"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edition = "2021"</a:t>
            </a:r>
            <a:endParaRPr b="0" lang="en-US" sz="1200" spc="-1" strike="noStrike">
              <a:solidFill>
                <a:srgbClr val="ffffff"/>
              </a:solidFill>
              <a:latin typeface="Arial"/>
            </a:endParaRPr>
          </a:p>
          <a:p>
            <a:pPr defTabSz="914400">
              <a:lnSpc>
                <a:spcPct val="120000"/>
              </a:lnSpc>
              <a:tabLst>
                <a:tab algn="l" pos="0"/>
              </a:tabLst>
            </a:pP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[dependencies]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fmt = "1.0"</a:t>
            </a:r>
            <a:endParaRPr b="0" lang="en-US" sz="1200" spc="-1" strike="noStrike">
              <a:solidFill>
                <a:srgbClr val="ffffff"/>
              </a:solidFill>
              <a:latin typeface="Arial"/>
            </a:endParaRPr>
          </a:p>
        </p:txBody>
      </p:sp>
      <p:sp>
        <p:nvSpPr>
          <p:cNvPr id="58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One file declares the package, its edition, and its dependencies. Cargo fetches, builds, and links them automatically.</a:t>
            </a:r>
            <a:endParaRPr b="0" lang="en-US" sz="1100" spc="-1" strike="noStrike">
              <a:solidFill>
                <a:srgbClr val="ffffff"/>
              </a:solidFill>
              <a:latin typeface="Arial"/>
            </a:endParaRPr>
          </a:p>
        </p:txBody>
      </p:sp>
      <p:sp>
        <p:nvSpPr>
          <p:cNvPr id="58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8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dependency resolver and the build tool are the same program, so there's no drift between "what's declared" and "what's built".</a:t>
            </a:r>
            <a:endParaRPr b="0" lang="en-US" sz="1150" spc="-1" strike="noStrike">
              <a:solidFill>
                <a:srgbClr val="ffffff"/>
              </a:solidFill>
              <a:latin typeface="Arial"/>
            </a:endParaRPr>
          </a:p>
        </p:txBody>
      </p:sp>
      <p:sp>
        <p:nvSpPr>
          <p:cNvPr id="58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8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8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58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Crates and workspaces</a:t>
            </a:r>
            <a:endParaRPr b="0" lang="en-US" sz="2800" spc="-1" strike="noStrike">
              <a:solidFill>
                <a:srgbClr val="ffffff"/>
              </a:solidFill>
              <a:latin typeface="Arial"/>
            </a:endParaRPr>
          </a:p>
        </p:txBody>
      </p:sp>
      <p:sp>
        <p:nvSpPr>
          <p:cNvPr id="58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8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crate is Rust's unit of compilation —  </a:t>
            </a:r>
            <a:r>
              <a:rPr b="0" lang="en-US" sz="1200" spc="-1" strike="noStrike">
                <a:solidFill>
                  <a:srgbClr val="9aa4b8"/>
                </a:solidFill>
                <a:latin typeface="Arial"/>
                <a:ea typeface="Arial"/>
              </a:rPr>
              <a:t>roughly analogous to a static/shared library or a standalone executable target.</a:t>
            </a:r>
            <a:endParaRPr b="0" lang="en-US" sz="1200" spc="-1" strike="noStrike">
              <a:solidFill>
                <a:srgbClr val="ffffff"/>
              </a:solidFill>
              <a:latin typeface="Arial"/>
            </a:endParaRPr>
          </a:p>
        </p:txBody>
      </p:sp>
      <p:sp>
        <p:nvSpPr>
          <p:cNvPr id="59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workspace groups multiple crates that share one Cargo.lock,  </a:t>
            </a:r>
            <a:r>
              <a:rPr b="0" lang="en-US" sz="1200" spc="-1" strike="noStrike">
                <a:solidFill>
                  <a:srgbClr val="9aa4b8"/>
                </a:solidFill>
                <a:latin typeface="Arial"/>
                <a:ea typeface="Arial"/>
              </a:rPr>
              <a:t>similar to a multi-target CMake super-project.</a:t>
            </a:r>
            <a:endParaRPr b="0" lang="en-US" sz="1200" spc="-1" strike="noStrike">
              <a:solidFill>
                <a:srgbClr val="ffffff"/>
              </a:solidFill>
              <a:latin typeface="Arial"/>
            </a:endParaRPr>
          </a:p>
        </p:txBody>
      </p:sp>
      <p:sp>
        <p:nvSpPr>
          <p:cNvPr id="59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59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Binary crates (src/main.rs) and library crates (src/lib.rs)  </a:t>
            </a:r>
            <a:r>
              <a:rPr b="0" lang="en-US" sz="1200" spc="-1" strike="noStrike">
                <a:solidFill>
                  <a:srgbClr val="9aa4b8"/>
                </a:solidFill>
                <a:latin typeface="Arial"/>
                <a:ea typeface="Arial"/>
              </a:rPr>
              <a:t>can coexist in one package, much like an app that also exposes a library.</a:t>
            </a:r>
            <a:endParaRPr b="0" lang="en-US" sz="1200" spc="-1" strike="noStrike">
              <a:solidFill>
                <a:srgbClr val="ffffff"/>
              </a:solidFill>
              <a:latin typeface="Arial"/>
            </a:endParaRPr>
          </a:p>
        </p:txBody>
      </p:sp>
      <p:sp>
        <p:nvSpPr>
          <p:cNvPr id="59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59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59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a:t>
            </a:r>
            <a:endParaRPr b="0" lang="en-US" sz="1300" spc="-1" strike="noStrike">
              <a:solidFill>
                <a:srgbClr val="ffffff"/>
              </a:solidFill>
              <a:latin typeface="Arial"/>
            </a:endParaRPr>
          </a:p>
        </p:txBody>
      </p:sp>
      <p:sp>
        <p:nvSpPr>
          <p:cNvPr id="60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Library types</a:t>
            </a:r>
            <a:endParaRPr b="0" lang="en-US" sz="2800" spc="-1" strike="noStrike">
              <a:solidFill>
                <a:srgbClr val="ffffff"/>
              </a:solidFill>
              <a:latin typeface="Arial"/>
            </a:endParaRPr>
          </a:p>
        </p:txBody>
      </p:sp>
      <p:sp>
        <p:nvSpPr>
          <p:cNvPr id="60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60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60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add_library(mylib STATIC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add_library(mylib SHARED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 .lib vs .so / .dll,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chosen at build-system level</a:t>
            </a:r>
            <a:endParaRPr b="0" lang="en-US" sz="1200" spc="-1" strike="noStrike">
              <a:solidFill>
                <a:srgbClr val="ffffff"/>
              </a:solidFill>
              <a:latin typeface="Arial"/>
            </a:endParaRPr>
          </a:p>
        </p:txBody>
      </p:sp>
      <p:sp>
        <p:nvSpPr>
          <p:cNvPr id="60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Static vs. dynamic linking is a build-system decision, with ABI stability concerns especially for shared libraries.</a:t>
            </a:r>
            <a:endParaRPr b="0" lang="en-US" sz="1100" spc="-1" strike="noStrike">
              <a:solidFill>
                <a:srgbClr val="ffffff"/>
              </a:solidFill>
              <a:latin typeface="Arial"/>
            </a:endParaRPr>
          </a:p>
        </p:txBody>
      </p:sp>
      <p:sp>
        <p:nvSpPr>
          <p:cNvPr id="60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0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61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61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[lib]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crate-type = ["rlib"]   // default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or "cdylib", "staticlib",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"dylib" for FFI/C interop</a:t>
            </a:r>
            <a:endParaRPr b="0" lang="en-US" sz="1200" spc="-1" strike="noStrike">
              <a:solidFill>
                <a:srgbClr val="ffffff"/>
              </a:solidFill>
              <a:latin typeface="Arial"/>
            </a:endParaRPr>
          </a:p>
        </p:txBody>
      </p:sp>
      <p:sp>
        <p:nvSpPr>
          <p:cNvPr id="61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crate-type in Cargo.toml selects the output kind. "rlib" is Rust-only; "cdylib"/"staticlib" produce C-ABI-compatible artifacts.</a:t>
            </a:r>
            <a:endParaRPr b="0" lang="en-US" sz="1100" spc="-1" strike="noStrike">
              <a:solidFill>
                <a:srgbClr val="ffffff"/>
              </a:solidFill>
              <a:latin typeface="Arial"/>
            </a:endParaRPr>
          </a:p>
        </p:txBody>
      </p:sp>
      <p:sp>
        <p:nvSpPr>
          <p:cNvPr id="61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1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Rust's default rlib format carries rich type metadata for fast, safe Rust-to-Rust linking; C-ABI types are opt-in for interop.</a:t>
            </a:r>
            <a:endParaRPr b="0" lang="en-US" sz="1150" spc="-1" strike="noStrike">
              <a:solidFill>
                <a:srgbClr val="ffffff"/>
              </a:solidFill>
              <a:latin typeface="Arial"/>
            </a:endParaRPr>
          </a:p>
        </p:txBody>
      </p:sp>
      <p:sp>
        <p:nvSpPr>
          <p:cNvPr id="61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1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1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61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Cargo command cheat sheet</a:t>
            </a:r>
            <a:endParaRPr b="0" lang="en-US" sz="2800" spc="-1" strike="noStrike">
              <a:solidFill>
                <a:srgbClr val="ffffff"/>
              </a:solidFill>
              <a:latin typeface="Arial"/>
            </a:endParaRPr>
          </a:p>
        </p:txBody>
      </p:sp>
      <p:graphicFrame>
        <p:nvGraphicFramePr>
          <p:cNvPr id="619" name="Table 0"/>
          <p:cNvGraphicFramePr/>
          <p:nvPr/>
        </p:nvGraphicFramePr>
        <p:xfrm>
          <a:off x="548640" y="1691640"/>
          <a:ext cx="11063880" cy="4114800"/>
        </p:xfrm>
        <a:graphic>
          <a:graphicData uri="http://schemas.openxmlformats.org/drawingml/2006/table">
            <a:tbl>
              <a:tblPr/>
              <a:tblGrid>
                <a:gridCol w="3840480"/>
                <a:gridCol w="722376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Command</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What it does</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new &lt;name&gt;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Scaffold a new binary or library package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build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Compile the current package and its dependencies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run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Build (if needed) and execute the binary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test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Run unit, integration, and doc tests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check</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Type-check without producing a binary — fast feedback loop</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clippy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Run the linter for idiomatic-Rust suggestions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fmt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Auto-format the entire codebase to a canonical style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cargo doc --open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Build and view API documentation from doc comments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620"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21"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TOOLCHAIN &amp; PROJECT MODEL</a:t>
            </a:r>
            <a:endParaRPr b="0" lang="en-US" sz="1300" spc="-1" strike="noStrike">
              <a:solidFill>
                <a:srgbClr val="ffffff"/>
              </a:solidFill>
              <a:latin typeface="Arial"/>
            </a:endParaRPr>
          </a:p>
        </p:txBody>
      </p:sp>
      <p:sp>
        <p:nvSpPr>
          <p:cNvPr id="62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Editions: Rust's answer to language-version churn</a:t>
            </a:r>
            <a:endParaRPr b="0" lang="en-US" sz="2800" spc="-1" strike="noStrike">
              <a:solidFill>
                <a:srgbClr val="ffffff"/>
              </a:solidFill>
              <a:latin typeface="Arial"/>
            </a:endParaRPr>
          </a:p>
        </p:txBody>
      </p:sp>
      <p:sp>
        <p:nvSpPr>
          <p:cNvPr id="62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Editions (2015, 2018, 2021, 2024) let the language evolve  </a:t>
            </a:r>
            <a:r>
              <a:rPr b="0" lang="en-US" sz="1200" spc="-1" strike="noStrike">
                <a:solidFill>
                  <a:srgbClr val="9aa4b8"/>
                </a:solidFill>
                <a:latin typeface="Arial"/>
                <a:ea typeface="Arial"/>
              </a:rPr>
              <a:t>syntax and defaults without breaking existing crates.</a:t>
            </a:r>
            <a:endParaRPr b="0" lang="en-US" sz="1200" spc="-1" strike="noStrike">
              <a:solidFill>
                <a:srgbClr val="ffffff"/>
              </a:solidFill>
              <a:latin typeface="Arial"/>
            </a:endParaRPr>
          </a:p>
        </p:txBody>
      </p:sp>
      <p:sp>
        <p:nvSpPr>
          <p:cNvPr id="62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2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Crates on different editions link together seamlessly in one build;  </a:t>
            </a:r>
            <a:r>
              <a:rPr b="0" lang="en-US" sz="1200" spc="-1" strike="noStrike">
                <a:solidFill>
                  <a:srgbClr val="9aa4b8"/>
                </a:solidFill>
                <a:latin typeface="Arial"/>
                <a:ea typeface="Arial"/>
              </a:rPr>
              <a:t>the edition is a per-crate compiler setting, not an ecosystem fork.</a:t>
            </a:r>
            <a:endParaRPr b="0" lang="en-US" sz="1200" spc="-1" strike="noStrike">
              <a:solidFill>
                <a:srgbClr val="ffffff"/>
              </a:solidFill>
              <a:latin typeface="Arial"/>
            </a:endParaRPr>
          </a:p>
        </p:txBody>
      </p:sp>
      <p:sp>
        <p:nvSpPr>
          <p:cNvPr id="63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Contrast with -std=c++17 vs -std=c++20:  </a:t>
            </a:r>
            <a:r>
              <a:rPr b="0" lang="en-US" sz="1200" spc="-1" strike="noStrike">
                <a:solidFill>
                  <a:srgbClr val="9aa4b8"/>
                </a:solidFill>
                <a:latin typeface="Arial"/>
                <a:ea typeface="Arial"/>
              </a:rPr>
              <a:t>similar idea, but Rust editions guarantee old code keeps compiling forever, by design.</a:t>
            </a:r>
            <a:endParaRPr b="0" lang="en-US" sz="1200" spc="-1" strike="noStrike">
              <a:solidFill>
                <a:srgbClr val="ffffff"/>
              </a:solidFill>
              <a:latin typeface="Arial"/>
            </a:endParaRPr>
          </a:p>
        </p:txBody>
      </p:sp>
      <p:sp>
        <p:nvSpPr>
          <p:cNvPr id="63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3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35"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6"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04</a:t>
            </a:r>
            <a:endParaRPr b="0" lang="en-US" sz="3400" spc="-1" strike="noStrike">
              <a:solidFill>
                <a:srgbClr val="ffffff"/>
              </a:solidFill>
              <a:latin typeface="Arial"/>
            </a:endParaRPr>
          </a:p>
        </p:txBody>
      </p:sp>
      <p:sp>
        <p:nvSpPr>
          <p:cNvPr id="637"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Data Types &amp; Program Elements</a:t>
            </a:r>
            <a:endParaRPr b="0" lang="en-US" sz="2800" spc="-1" strike="noStrike">
              <a:solidFill>
                <a:srgbClr val="ffffff"/>
              </a:solidFill>
              <a:latin typeface="Arial"/>
            </a:endParaRPr>
          </a:p>
        </p:txBody>
      </p:sp>
      <p:sp>
        <p:nvSpPr>
          <p:cNvPr id="638"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Slowing down on the building blocks before the syntax tour speeds back up</a:t>
            </a:r>
            <a:endParaRPr b="0" lang="en-US" sz="1350" spc="-1" strike="noStrike">
              <a:solidFill>
                <a:srgbClr val="ffffff"/>
              </a:solidFill>
              <a:latin typeface="Arial"/>
            </a:endParaRPr>
          </a:p>
        </p:txBody>
      </p:sp>
      <p:sp>
        <p:nvSpPr>
          <p:cNvPr id="639"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40"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4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64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Why this module exists</a:t>
            </a:r>
            <a:endParaRPr b="0" lang="en-US" sz="2800" spc="-1" strike="noStrike">
              <a:solidFill>
                <a:srgbClr val="ffffff"/>
              </a:solidFill>
              <a:latin typeface="Arial"/>
            </a:endParaRPr>
          </a:p>
        </p:txBody>
      </p:sp>
      <p:sp>
        <p:nvSpPr>
          <p:cNvPr id="64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Syntax Rosetta stone coming up next is a fast side-by-side recap —  </a:t>
            </a:r>
            <a:r>
              <a:rPr b="0" lang="en-US" sz="1200" spc="-1" strike="noStrike">
                <a:solidFill>
                  <a:srgbClr val="9aa4b8"/>
                </a:solidFill>
                <a:latin typeface="Arial"/>
                <a:ea typeface="Arial"/>
              </a:rPr>
              <a:t>this module is the depth underneath it, for the pieces that deserve more than one line in a table.</a:t>
            </a:r>
            <a:endParaRPr b="0" lang="en-US" sz="1200" spc="-1" strike="noStrike">
              <a:solidFill>
                <a:srgbClr val="ffffff"/>
              </a:solidFill>
              <a:latin typeface="Arial"/>
            </a:endParaRPr>
          </a:p>
        </p:txBody>
      </p:sp>
      <p:sp>
        <p:nvSpPr>
          <p:cNvPr id="64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4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Some of Rust's building blocks look familiar and behave differently in ways that matter,  </a:t>
            </a:r>
            <a:r>
              <a:rPr b="0" lang="en-US" sz="1200" spc="-1" strike="noStrike">
                <a:solidFill>
                  <a:srgbClr val="9aa4b8"/>
                </a:solidFill>
                <a:latin typeface="Arial"/>
                <a:ea typeface="Arial"/>
              </a:rPr>
              <a:t>variable scope and shadowing chief among them.</a:t>
            </a:r>
            <a:endParaRPr b="0" lang="en-US" sz="1200" spc="-1" strike="noStrike">
              <a:solidFill>
                <a:srgbClr val="ffffff"/>
              </a:solidFill>
              <a:latin typeface="Arial"/>
            </a:endParaRPr>
          </a:p>
        </p:txBody>
      </p:sp>
      <p:sp>
        <p:nvSpPr>
          <p:cNvPr id="64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Everything here is vocabulary the rest of today, and the rest of the course, assumes.  </a:t>
            </a:r>
            <a:endParaRPr b="0" lang="en-US" sz="1250" spc="-1" strike="noStrike">
              <a:solidFill>
                <a:srgbClr val="ffffff"/>
              </a:solidFill>
              <a:latin typeface="Arial"/>
            </a:endParaRPr>
          </a:p>
        </p:txBody>
      </p:sp>
      <p:sp>
        <p:nvSpPr>
          <p:cNvPr id="65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5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65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Integer types: fixed width vs. implementation-defined</a:t>
            </a:r>
            <a:endParaRPr b="0" lang="en-US" sz="2800" spc="-1" strike="noStrike">
              <a:solidFill>
                <a:srgbClr val="ffffff"/>
              </a:solidFill>
              <a:latin typeface="Arial"/>
            </a:endParaRPr>
          </a:p>
        </p:txBody>
      </p:sp>
      <p:sp>
        <p:nvSpPr>
          <p:cNvPr id="65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65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66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        // at least 16 bits,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typically 32 — platform-defined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long y;       // at least 32 bits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size_t n;     // unsigned, platform width</a:t>
            </a:r>
            <a:endParaRPr b="0" lang="en-US" sz="1200" spc="-1" strike="noStrike">
              <a:solidFill>
                <a:srgbClr val="ffffff"/>
              </a:solidFill>
              <a:latin typeface="Arial"/>
            </a:endParaRPr>
          </a:p>
        </p:txBody>
      </p:sp>
      <p:sp>
        <p:nvSpPr>
          <p:cNvPr id="66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int, long, and friends have minimum guaranteed widths, but their actual size is implementation-defined — "int is 32 bits" is a common assumption, not a guarantee.</a:t>
            </a:r>
            <a:endParaRPr b="0" lang="en-US" sz="1100" spc="-1" strike="noStrike">
              <a:solidFill>
                <a:srgbClr val="ffffff"/>
              </a:solidFill>
              <a:latin typeface="Arial"/>
            </a:endParaRPr>
          </a:p>
        </p:txBody>
      </p:sp>
      <p:sp>
        <p:nvSpPr>
          <p:cNvPr id="66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66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66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i32 = 5;      // always exactly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32 bits, everywhere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n: usize = 5;    // pointer-width,</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for indexing/sizes</a:t>
            </a:r>
            <a:endParaRPr b="0" lang="en-US" sz="1200" spc="-1" strike="noStrike">
              <a:solidFill>
                <a:srgbClr val="ffffff"/>
              </a:solidFill>
              <a:latin typeface="Arial"/>
            </a:endParaRPr>
          </a:p>
        </p:txBody>
      </p:sp>
      <p:sp>
        <p:nvSpPr>
          <p:cNvPr id="66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Every integer type names its exact width in the type itself. i32 is 32 bits on every platform Rust supports — full stop, no asterisk.</a:t>
            </a:r>
            <a:endParaRPr b="0" lang="en-US" sz="1100" spc="-1" strike="noStrike">
              <a:solidFill>
                <a:srgbClr val="ffffff"/>
              </a:solidFill>
              <a:latin typeface="Arial"/>
            </a:endParaRPr>
          </a:p>
        </p:txBody>
      </p:sp>
      <p:sp>
        <p:nvSpPr>
          <p:cNvPr id="66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Portability bugs from assuming a specific int width become structurally impossible — the type tells you the width, with no "depends on the platform" caveat.</a:t>
            </a:r>
            <a:endParaRPr b="0" lang="en-US" sz="1150" spc="-1" strike="noStrike">
              <a:solidFill>
                <a:srgbClr val="ffffff"/>
              </a:solidFill>
              <a:latin typeface="Arial"/>
            </a:endParaRPr>
          </a:p>
        </p:txBody>
      </p:sp>
      <p:sp>
        <p:nvSpPr>
          <p:cNvPr id="67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7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67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integer and floating-point type menu</a:t>
            </a:r>
            <a:endParaRPr b="0" lang="en-US" sz="2800" spc="-1" strike="noStrike">
              <a:solidFill>
                <a:srgbClr val="ffffff"/>
              </a:solidFill>
              <a:latin typeface="Arial"/>
            </a:endParaRPr>
          </a:p>
        </p:txBody>
      </p:sp>
      <p:graphicFrame>
        <p:nvGraphicFramePr>
          <p:cNvPr id="674" name="Table 0"/>
          <p:cNvGraphicFramePr/>
          <p:nvPr/>
        </p:nvGraphicFramePr>
        <p:xfrm>
          <a:off x="548640" y="1691640"/>
          <a:ext cx="11063880" cy="2743200"/>
        </p:xfrm>
        <a:graphic>
          <a:graphicData uri="http://schemas.openxmlformats.org/drawingml/2006/table">
            <a:tbl>
              <a:tblPr/>
              <a:tblGrid>
                <a:gridCol w="2743200"/>
                <a:gridCol w="4114800"/>
                <a:gridCol w="420624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Category</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Rust types</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 equivalent-ish</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Signed integers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i8, i16, i32, i64, i128</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int8_t, int16_t, int32_t, int64_t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Unsigned integers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u8, u16, u32, u64, u128</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uint8_t, uint16_t, uint32_t, uint64_t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Pointer-sized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isize, usize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ptrdiff_t, size_t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Floating point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f32, f64</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float, double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Boolean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bool (exactly 1 byte, only 0/1)</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Consolas"/>
                          <a:ea typeface="Consolas"/>
                        </a:rPr>
                        <a:t>bool (size unspecified by the standard)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675"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76"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7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67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char: a very different guarantee</a:t>
            </a:r>
            <a:endParaRPr b="0" lang="en-US" sz="2800" spc="-1" strike="noStrike">
              <a:solidFill>
                <a:srgbClr val="ffffff"/>
              </a:solidFill>
              <a:latin typeface="Arial"/>
            </a:endParaRPr>
          </a:p>
        </p:txBody>
      </p:sp>
      <p:sp>
        <p:nvSpPr>
          <p:cNvPr id="67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68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68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char c =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1 byte, effectively a small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integer — not guaranteed to be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valid text character at all</a:t>
            </a:r>
            <a:endParaRPr b="0" lang="en-US" sz="1200" spc="-1" strike="noStrike">
              <a:solidFill>
                <a:srgbClr val="ffffff"/>
              </a:solidFill>
              <a:latin typeface="Arial"/>
            </a:endParaRPr>
          </a:p>
        </p:txBody>
      </p:sp>
      <p:sp>
        <p:nvSpPr>
          <p:cNvPr id="68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 char is a 1-byte integer type. It's used for text by convention, but nothing enforces that its value is a meaningful character, let alone Unicode.</a:t>
            </a:r>
            <a:endParaRPr b="0" lang="en-US" sz="1100" spc="-1" strike="noStrike">
              <a:solidFill>
                <a:srgbClr val="ffffff"/>
              </a:solidFill>
              <a:latin typeface="Arial"/>
            </a:endParaRPr>
          </a:p>
        </p:txBody>
      </p:sp>
      <p:sp>
        <p:nvSpPr>
          <p:cNvPr id="68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8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68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68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c: char =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e: char = '\u{1F980}'; // a crab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always 4 bytes, always a valid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Unicode scalar value</a:t>
            </a:r>
            <a:endParaRPr b="0" lang="en-US" sz="1200" spc="-1" strike="noStrike">
              <a:solidFill>
                <a:srgbClr val="ffffff"/>
              </a:solidFill>
              <a:latin typeface="Arial"/>
            </a:endParaRPr>
          </a:p>
        </p:txBody>
      </p:sp>
      <p:sp>
        <p:nvSpPr>
          <p:cNvPr id="69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Rust's char is always a valid Unicode scalar value, always 4 bytes wide, and the compiler guarantees it — you cannot construct an invalid char in safe Rust.</a:t>
            </a:r>
            <a:endParaRPr b="0" lang="en-US" sz="1100" spc="-1" strike="noStrike">
              <a:solidFill>
                <a:srgbClr val="ffffff"/>
              </a:solidFill>
              <a:latin typeface="Arial"/>
            </a:endParaRPr>
          </a:p>
        </p:txBody>
      </p:sp>
      <p:sp>
        <p:nvSpPr>
          <p:cNvPr id="69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9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one-byte-character habit from C++ doesn't transfer directly — a Rust char is a wide, always-valid Unicode codepoint, not a byte. But that 4-byte width describes the char type alone, not how text is stored — see the next slide.</a:t>
            </a:r>
            <a:endParaRPr b="0" lang="en-US" sz="1150" spc="-1" strike="noStrike">
              <a:solidFill>
                <a:srgbClr val="ffffff"/>
              </a:solidFill>
              <a:latin typeface="Arial"/>
            </a:endParaRPr>
          </a:p>
        </p:txBody>
      </p:sp>
      <p:sp>
        <p:nvSpPr>
          <p:cNvPr id="69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69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69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69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char's 4 bytes vs. UTF-8's variable width — not a contradiction</a:t>
            </a:r>
            <a:endParaRPr b="0" lang="en-US" sz="2800" spc="-1" strike="noStrike">
              <a:solidFill>
                <a:srgbClr val="ffffff"/>
              </a:solidFill>
              <a:latin typeface="Arial"/>
            </a:endParaRPr>
          </a:p>
        </p:txBody>
      </p:sp>
      <p:sp>
        <p:nvSpPr>
          <p:cNvPr id="697"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This is the exact subtlety worth pausing on before it causes confusion three slides from now.</a:t>
            </a:r>
            <a:endParaRPr b="0" lang="en-US" sz="1300" spc="-1" strike="noStrike">
              <a:solidFill>
                <a:srgbClr val="ffffff"/>
              </a:solidFill>
              <a:latin typeface="Arial"/>
            </a:endParaRPr>
          </a:p>
        </p:txBody>
      </p:sp>
      <p:sp>
        <p:nvSpPr>
          <p:cNvPr id="698"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99"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0"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standalone char is always 4 bytes —  </a:t>
            </a:r>
            <a:r>
              <a:rPr b="0" lang="en-US" sz="1200" spc="-1" strike="noStrike">
                <a:solidFill>
                  <a:srgbClr val="9aa4b8"/>
                </a:solidFill>
                <a:latin typeface="Arial"/>
                <a:ea typeface="Arial"/>
              </a:rPr>
              <a:t>that's a property of the type itself, in isolation, independent of any string.</a:t>
            </a:r>
            <a:endParaRPr b="0" lang="en-US" sz="1200" spc="-1" strike="noStrike">
              <a:solidFill>
                <a:srgbClr val="ffffff"/>
              </a:solidFill>
              <a:latin typeface="Arial"/>
            </a:endParaRPr>
          </a:p>
        </p:txBody>
      </p:sp>
      <p:sp>
        <p:nvSpPr>
          <p:cNvPr id="701"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2"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3"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Text inside a String or &amp;str is UTF-8 encoded, which is variable-width:  </a:t>
            </a:r>
            <a:r>
              <a:rPr b="0" lang="en-US" sz="1200" spc="-1" strike="noStrike">
                <a:solidFill>
                  <a:srgbClr val="9aa4b8"/>
                </a:solidFill>
                <a:latin typeface="Arial"/>
                <a:ea typeface="Arial"/>
              </a:rPr>
              <a:t>each character occupies 1 to 4 bytes depending on its codepoint — not a fixed 4-byte slot per character. A String is a UTF-8 byte buffer, not an array of chars.</a:t>
            </a:r>
            <a:endParaRPr b="0" lang="en-US" sz="1200" spc="-1" strike="noStrike">
              <a:solidFill>
                <a:srgbClr val="ffffff"/>
              </a:solidFill>
              <a:latin typeface="Arial"/>
            </a:endParaRPr>
          </a:p>
        </p:txBody>
      </p:sp>
      <p:sp>
        <p:nvSpPr>
          <p:cNvPr id="704"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5"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06"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exactly why Rust won't let you index a String with s[3] —  </a:t>
            </a:r>
            <a:r>
              <a:rPr b="0" lang="en-US" sz="1200" spc="-1" strike="noStrike">
                <a:solidFill>
                  <a:srgbClr val="9aa4b8"/>
                </a:solidFill>
                <a:latin typeface="Arial"/>
                <a:ea typeface="Arial"/>
              </a:rPr>
              <a:t>byte position and "3rd character" stop being the same number the moment the string holds anything outside ASCII, so the compiler refuses to let you conflate them.</a:t>
            </a:r>
            <a:endParaRPr b="0" lang="en-US" sz="1200" spc="-1" strike="noStrike">
              <a:solidFill>
                <a:srgbClr val="ffffff"/>
              </a:solidFill>
              <a:latin typeface="Arial"/>
            </a:endParaRPr>
          </a:p>
        </p:txBody>
      </p:sp>
      <p:sp>
        <p:nvSpPr>
          <p:cNvPr id="707"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08"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0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71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Compound types, briefly</a:t>
            </a:r>
            <a:endParaRPr b="0" lang="en-US" sz="2800" spc="-1" strike="noStrike">
              <a:solidFill>
                <a:srgbClr val="ffffff"/>
              </a:solidFill>
              <a:latin typeface="Arial"/>
            </a:endParaRPr>
          </a:p>
        </p:txBody>
      </p:sp>
      <p:sp>
        <p:nvSpPr>
          <p:cNvPr id="71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Tuples — (i32, f64, bool) — are a genuine language feature, directly pattern-destructurable:  </a:t>
            </a:r>
            <a:r>
              <a:rPr b="0" lang="en-US" sz="1200" spc="-1" strike="noStrike">
                <a:solidFill>
                  <a:srgbClr val="9aa4b8"/>
                </a:solidFill>
                <a:latin typeface="Arial"/>
                <a:ea typeface="Arial"/>
              </a:rPr>
              <a:t>no std::tuple, no get&lt;0&gt;(), no std::tie.</a:t>
            </a:r>
            <a:endParaRPr b="0" lang="en-US" sz="1200" spc="-1" strike="noStrike">
              <a:solidFill>
                <a:srgbClr val="ffffff"/>
              </a:solidFill>
              <a:latin typeface="Arial"/>
            </a:endParaRPr>
          </a:p>
        </p:txBody>
      </p:sp>
      <p:sp>
        <p:nvSpPr>
          <p:cNvPr id="71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Fixed-size arrays [T; N] carry their length in the type itself, checked at compile time —  </a:t>
            </a:r>
            <a:r>
              <a:rPr b="0" lang="en-US" sz="1200" spc="-1" strike="noStrike">
                <a:solidFill>
                  <a:srgbClr val="9aa4b8"/>
                </a:solidFill>
                <a:latin typeface="Arial"/>
                <a:ea typeface="Arial"/>
              </a:rPr>
              <a:t>closer in spirit to std::array than to a raw C array.</a:t>
            </a:r>
            <a:endParaRPr b="0" lang="en-US" sz="1200" spc="-1" strike="noStrike">
              <a:solidFill>
                <a:srgbClr val="ffffff"/>
              </a:solidFill>
              <a:latin typeface="Arial"/>
            </a:endParaRPr>
          </a:p>
        </p:txBody>
      </p:sp>
      <p:sp>
        <p:nvSpPr>
          <p:cNvPr id="71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1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Both support direct destructuring with the same pattern syntax used everywhere else in the language:  </a:t>
            </a:r>
            <a:r>
              <a:rPr b="0" lang="en-US" sz="1200" spc="-1" strike="noStrike">
                <a:solidFill>
                  <a:srgbClr val="9aa4b8"/>
                </a:solidFill>
                <a:latin typeface="Arial"/>
                <a:ea typeface="Arial"/>
              </a:rPr>
              <a:t>let (a, b, c) = tuple;.</a:t>
            </a:r>
            <a:endParaRPr b="0" lang="en-US" sz="1200" spc="-1" strike="noStrike">
              <a:solidFill>
                <a:srgbClr val="ffffff"/>
              </a:solidFill>
              <a:latin typeface="Arial"/>
            </a:endParaRPr>
          </a:p>
        </p:txBody>
      </p:sp>
      <p:sp>
        <p:nvSpPr>
          <p:cNvPr id="72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2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2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Fixed-size arrays</a:t>
            </a:r>
            <a:endParaRPr b="0" lang="en-US" sz="2800" spc="-1" strike="noStrike">
              <a:solidFill>
                <a:srgbClr val="ffffff"/>
              </a:solidFill>
              <a:latin typeface="Arial"/>
            </a:endParaRPr>
          </a:p>
        </p:txBody>
      </p:sp>
      <p:sp>
        <p:nvSpPr>
          <p:cNvPr id="72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2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2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2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2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arr[5] = {1,2,3,4,5};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std::array&lt;int,5&gt; arr2 = {1,2,3,4,5};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raw array decays to a pointer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 function boundary;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std::array does not</a:t>
            </a:r>
            <a:endParaRPr b="0" lang="en-US" sz="1200" spc="-1" strike="noStrike">
              <a:solidFill>
                <a:srgbClr val="ffffff"/>
              </a:solidFill>
              <a:latin typeface="Arial"/>
            </a:endParaRPr>
          </a:p>
        </p:txBody>
      </p:sp>
      <p:sp>
        <p:nvSpPr>
          <p:cNvPr id="72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raw C-style array silently decays to a pointer when passed to a function, losing its size — a well-known source of bugs that std::array (C++11) exists to fix.</a:t>
            </a:r>
            <a:endParaRPr b="0" lang="en-US" sz="1100" spc="-1" strike="noStrike">
              <a:solidFill>
                <a:srgbClr val="ffffff"/>
              </a:solidFill>
              <a:latin typeface="Arial"/>
            </a:endParaRPr>
          </a:p>
        </p:txBody>
      </p:sp>
      <p:sp>
        <p:nvSpPr>
          <p:cNvPr id="73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3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3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arr: [i32; 5] = [1,2,3,4,5];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arr.len(); // always 5, always known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arrays never decay to a raw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pointer implicitly, anywhere</a:t>
            </a:r>
            <a:endParaRPr b="0" lang="en-US" sz="1200" spc="-1" strike="noStrike">
              <a:solidFill>
                <a:srgbClr val="ffffff"/>
              </a:solidFill>
              <a:latin typeface="Arial"/>
            </a:endParaRPr>
          </a:p>
        </p:txBody>
      </p:sp>
      <p:sp>
        <p:nvSpPr>
          <p:cNvPr id="73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An array's length is part of its type and is never lost, whether you pass it by value, by reference, or across a function boundary.</a:t>
            </a:r>
            <a:endParaRPr b="0" lang="en-US" sz="1100" spc="-1" strike="noStrike">
              <a:solidFill>
                <a:srgbClr val="ffffff"/>
              </a:solidFill>
              <a:latin typeface="Arial"/>
            </a:endParaRPr>
          </a:p>
        </p:txBody>
      </p:sp>
      <p:sp>
        <p:nvSpPr>
          <p:cNvPr id="73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3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 only has the std::array-shaped array — the array-decay footgun that std::array was invented to work around simply isn't an option to begin with.</a:t>
            </a:r>
            <a:endParaRPr b="0" lang="en-US" sz="1150" spc="-1" strike="noStrike">
              <a:solidFill>
                <a:srgbClr val="ffffff"/>
              </a:solidFill>
              <a:latin typeface="Arial"/>
            </a:endParaRPr>
          </a:p>
        </p:txBody>
      </p:sp>
      <p:sp>
        <p:nvSpPr>
          <p:cNvPr id="73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3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4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Slices: a genuinely new concept</a:t>
            </a:r>
            <a:endParaRPr b="0" lang="en-US" sz="2800" spc="-1" strike="noStrike">
              <a:solidFill>
                <a:srgbClr val="ffffff"/>
              </a:solidFill>
              <a:latin typeface="Arial"/>
            </a:endParaRPr>
          </a:p>
        </p:txBody>
      </p:sp>
      <p:sp>
        <p:nvSpPr>
          <p:cNvPr id="74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4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4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process(int* data, size_t len);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or, C++20: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void process(std::span&lt;int&gt; data);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span is recent, and opt-in</a:t>
            </a:r>
            <a:endParaRPr b="0" lang="en-US" sz="1200" spc="-1" strike="noStrike">
              <a:solidFill>
                <a:srgbClr val="ffffff"/>
              </a:solidFill>
              <a:latin typeface="Arial"/>
            </a:endParaRPr>
          </a:p>
        </p:txBody>
      </p:sp>
      <p:sp>
        <p:nvSpPr>
          <p:cNvPr id="74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 has historically passed a pointer and a length as two separate arguments; std::span (C++20) finally bundles them, but it's a recently-added, opt-in type.</a:t>
            </a:r>
            <a:endParaRPr b="0" lang="en-US" sz="1100" spc="-1" strike="noStrike">
              <a:solidFill>
                <a:srgbClr val="ffffff"/>
              </a:solidFill>
              <a:latin typeface="Arial"/>
            </a:endParaRPr>
          </a:p>
        </p:txBody>
      </p:sp>
      <p:sp>
        <p:nvSpPr>
          <p:cNvPr id="74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4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5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5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process(data: &amp;[i32])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slice is ALWAYS a pointer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length, bundled together —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default way to borrow a sequence</a:t>
            </a:r>
            <a:endParaRPr b="0" lang="en-US" sz="1200" spc="-1" strike="noStrike">
              <a:solidFill>
                <a:srgbClr val="ffffff"/>
              </a:solidFill>
              <a:latin typeface="Arial"/>
            </a:endParaRPr>
          </a:p>
        </p:txBody>
      </p:sp>
      <p:sp>
        <p:nvSpPr>
          <p:cNvPr id="75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&amp;[T] is a "fat pointer": address plus length. It's the idiomatic, default way to reference any borrowed sequence — Vec, array, and slice all coerce to it.</a:t>
            </a:r>
            <a:endParaRPr b="0" lang="en-US" sz="1100" spc="-1" strike="noStrike">
              <a:solidFill>
                <a:srgbClr val="ffffff"/>
              </a:solidFill>
              <a:latin typeface="Arial"/>
            </a:endParaRPr>
          </a:p>
        </p:txBody>
      </p:sp>
      <p:sp>
        <p:nvSpPr>
          <p:cNvPr id="75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What C++20 added as an opt-in library type has been Rust's default, idiomatic way to reference a sequence since version 1.0 — bounds travel with the reference.</a:t>
            </a:r>
            <a:endParaRPr b="0" lang="en-US" sz="1150" spc="-1" strike="noStrike">
              <a:solidFill>
                <a:srgbClr val="ffffff"/>
              </a:solidFill>
              <a:latin typeface="Arial"/>
            </a:endParaRPr>
          </a:p>
        </p:txBody>
      </p:sp>
      <p:sp>
        <p:nvSpPr>
          <p:cNvPr id="75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5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5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5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String types, in full</a:t>
            </a:r>
            <a:endParaRPr b="0" lang="en-US" sz="2800" spc="-1" strike="noStrike">
              <a:solidFill>
                <a:srgbClr val="ffffff"/>
              </a:solidFill>
              <a:latin typeface="Arial"/>
            </a:endParaRPr>
          </a:p>
        </p:txBody>
      </p:sp>
      <p:sp>
        <p:nvSpPr>
          <p:cNvPr id="76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6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6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std::string s = "owned";     // owned,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heap buffer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const char* p = "literal";    // static,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null-terminated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std::string_view v = s;        // borrowed,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non-owning view</a:t>
            </a:r>
            <a:endParaRPr b="0" lang="en-US" sz="1200" spc="-1" strike="noStrike">
              <a:solidFill>
                <a:srgbClr val="ffffff"/>
              </a:solidFill>
              <a:latin typeface="Arial"/>
            </a:endParaRPr>
          </a:p>
        </p:txBody>
      </p:sp>
      <p:sp>
        <p:nvSpPr>
          <p:cNvPr id="76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Three overlapping ways to refer to text, each with a different ownership and lifetime story — string_view is the newest, added only in C++17.</a:t>
            </a:r>
            <a:endParaRPr b="0" lang="en-US" sz="1100" spc="-1" strike="noStrike">
              <a:solidFill>
                <a:srgbClr val="ffffff"/>
              </a:solidFill>
              <a:latin typeface="Arial"/>
            </a:endParaRPr>
          </a:p>
        </p:txBody>
      </p:sp>
      <p:sp>
        <p:nvSpPr>
          <p:cNvPr id="76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6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6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7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s: String = String::from("owned");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owned, growable, heap-allocated,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guaranteed valid UTF-8</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r: &amp;str = &amp;s; // borrowed view,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also guaranteed UTF-8</a:t>
            </a:r>
            <a:endParaRPr b="0" lang="en-US" sz="1200" spc="-1" strike="noStrike">
              <a:solidFill>
                <a:srgbClr val="ffffff"/>
              </a:solidFill>
              <a:latin typeface="Arial"/>
            </a:endParaRPr>
          </a:p>
        </p:txBody>
      </p:sp>
      <p:sp>
        <p:nvSpPr>
          <p:cNvPr id="77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Exactly two types: String (owned) and &amp;str (borrowed view) — both guaranteed to hold valid UTF-8 at all times, checked at construction.</a:t>
            </a:r>
            <a:endParaRPr b="0" lang="en-US" sz="1100" spc="-1" strike="noStrike">
              <a:solidFill>
                <a:srgbClr val="ffffff"/>
              </a:solidFill>
              <a:latin typeface="Arial"/>
            </a:endParaRPr>
          </a:p>
        </p:txBody>
      </p:sp>
      <p:sp>
        <p:nvSpPr>
          <p:cNvPr id="77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7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Fewer types, plus a guarantee C++ doesn't make: a Rust string can never contain invalid UTF-8, so "is this actually valid text" is never a question you have to ask.</a:t>
            </a:r>
            <a:endParaRPr b="0" lang="en-US" sz="1150" spc="-1" strike="noStrike">
              <a:solidFill>
                <a:srgbClr val="ffffff"/>
              </a:solidFill>
              <a:latin typeface="Arial"/>
            </a:endParaRPr>
          </a:p>
        </p:txBody>
      </p:sp>
      <p:sp>
        <p:nvSpPr>
          <p:cNvPr id="77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7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7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77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Variable scope: the part that's genuinely different</a:t>
            </a:r>
            <a:endParaRPr b="0" lang="en-US" sz="2800" spc="-1" strike="noStrike">
              <a:solidFill>
                <a:srgbClr val="ffffff"/>
              </a:solidFill>
              <a:latin typeface="Arial"/>
            </a:endParaRPr>
          </a:p>
        </p:txBody>
      </p:sp>
      <p:sp>
        <p:nvSpPr>
          <p:cNvPr id="778"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Worth slowing down on — scope rules look familiar, but include one feature C++ doesn't have.</a:t>
            </a:r>
            <a:endParaRPr b="0" lang="en-US" sz="1300" spc="-1" strike="noStrike">
              <a:solidFill>
                <a:srgbClr val="ffffff"/>
              </a:solidFill>
              <a:latin typeface="Arial"/>
            </a:endParaRPr>
          </a:p>
        </p:txBody>
      </p:sp>
      <p:sp>
        <p:nvSpPr>
          <p:cNvPr id="779" name="Shape 3"/>
          <p:cNvSpPr/>
          <p:nvPr/>
        </p:nvSpPr>
        <p:spPr>
          <a:xfrm>
            <a:off x="548640" y="222192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0" name="Shape 4"/>
          <p:cNvSpPr/>
          <p:nvPr/>
        </p:nvSpPr>
        <p:spPr>
          <a:xfrm>
            <a:off x="777240" y="3076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1" name="Text 5"/>
          <p:cNvSpPr/>
          <p:nvPr/>
        </p:nvSpPr>
        <p:spPr>
          <a:xfrm>
            <a:off x="1143000" y="222192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Block scope and drop order both work the way you'd expect from C++:  </a:t>
            </a:r>
            <a:r>
              <a:rPr b="0" lang="en-US" sz="1200" spc="-1" strike="noStrike">
                <a:solidFill>
                  <a:srgbClr val="9aa4b8"/>
                </a:solidFill>
                <a:latin typeface="Arial"/>
                <a:ea typeface="Arial"/>
              </a:rPr>
              <a:t>a binding is valid from its let to the end of its enclosing {} block, and values drop in reverse declaration order.</a:t>
            </a:r>
            <a:endParaRPr b="0" lang="en-US" sz="1200" spc="-1" strike="noStrike">
              <a:solidFill>
                <a:srgbClr val="ffffff"/>
              </a:solidFill>
              <a:latin typeface="Arial"/>
            </a:endParaRPr>
          </a:p>
        </p:txBody>
      </p:sp>
      <p:sp>
        <p:nvSpPr>
          <p:cNvPr id="782" name="Shape 6"/>
          <p:cNvSpPr/>
          <p:nvPr/>
        </p:nvSpPr>
        <p:spPr>
          <a:xfrm>
            <a:off x="548640" y="4242960"/>
            <a:ext cx="11062800" cy="1909800"/>
          </a:xfrm>
          <a:prstGeom prst="roundRect">
            <a:avLst>
              <a:gd name="adj" fmla="val 3349"/>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3" name="Shape 7"/>
          <p:cNvSpPr/>
          <p:nvPr/>
        </p:nvSpPr>
        <p:spPr>
          <a:xfrm>
            <a:off x="777240" y="50979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84" name="Text 8"/>
          <p:cNvSpPr/>
          <p:nvPr/>
        </p:nvSpPr>
        <p:spPr>
          <a:xfrm>
            <a:off x="1143000" y="4242960"/>
            <a:ext cx="10239840" cy="1909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What's different is shadowing:  </a:t>
            </a:r>
            <a:r>
              <a:rPr b="0" lang="en-US" sz="1200" spc="-1" strike="noStrike">
                <a:solidFill>
                  <a:srgbClr val="9aa4b8"/>
                </a:solidFill>
                <a:latin typeface="Arial"/>
                <a:ea typeface="Arial"/>
              </a:rPr>
              <a:t>Rust lets you declare a new binding with the same name in the same scope, and it is not an error.</a:t>
            </a:r>
            <a:endParaRPr b="0" lang="en-US" sz="1200" spc="-1" strike="noStrike">
              <a:solidFill>
                <a:srgbClr val="ffffff"/>
              </a:solidFill>
              <a:latin typeface="Arial"/>
            </a:endParaRPr>
          </a:p>
        </p:txBody>
      </p:sp>
      <p:sp>
        <p:nvSpPr>
          <p:cNvPr id="785" name="Text 9"/>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786" name="Text 10"/>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78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78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Shadowing: a feature, not a bug</a:t>
            </a:r>
            <a:endParaRPr b="0" lang="en-US" sz="2800" spc="-1" strike="noStrike">
              <a:solidFill>
                <a:srgbClr val="ffffff"/>
              </a:solidFill>
              <a:latin typeface="Arial"/>
            </a:endParaRPr>
          </a:p>
        </p:txBody>
      </p:sp>
      <p:sp>
        <p:nvSpPr>
          <p:cNvPr id="78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79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79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 = 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x + 1; // error: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redefinition of 'x'</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 x = 10; } // only works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in a NESTED scope</a:t>
            </a:r>
            <a:endParaRPr b="0" lang="en-US" sz="1200" spc="-1" strike="noStrike">
              <a:solidFill>
                <a:srgbClr val="ffffff"/>
              </a:solidFill>
              <a:latin typeface="Arial"/>
            </a:endParaRPr>
          </a:p>
        </p:txBody>
      </p:sp>
      <p:sp>
        <p:nvSpPr>
          <p:cNvPr id="79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 forbids redeclaring a name in the same scope. Reusing a name for a transformed value requires either a new name or a nested block.</a:t>
            </a:r>
            <a:endParaRPr b="0" lang="en-US" sz="1100" spc="-1" strike="noStrike">
              <a:solidFill>
                <a:srgbClr val="ffffff"/>
              </a:solidFill>
              <a:latin typeface="Arial"/>
            </a:endParaRPr>
          </a:p>
        </p:txBody>
      </p:sp>
      <p:sp>
        <p:nvSpPr>
          <p:cNvPr id="79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9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79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79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 5;</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x + 1;         // fine — a 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binding, same scope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x.to_string(); // even a change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of type is fine</a:t>
            </a:r>
            <a:endParaRPr b="0" lang="en-US" sz="1200" spc="-1" strike="noStrike">
              <a:solidFill>
                <a:srgbClr val="ffffff"/>
              </a:solidFill>
              <a:latin typeface="Arial"/>
            </a:endParaRPr>
          </a:p>
        </p:txBody>
      </p:sp>
      <p:sp>
        <p:nvSpPr>
          <p:cNvPr id="80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Each let introduces a genuinely new binding that shadows the previous one — including a change of type — without needing a nested block or a new name.</a:t>
            </a:r>
            <a:endParaRPr b="0" lang="en-US" sz="1100" spc="-1" strike="noStrike">
              <a:solidFill>
                <a:srgbClr val="ffffff"/>
              </a:solidFill>
              <a:latin typeface="Arial"/>
            </a:endParaRPr>
          </a:p>
        </p:txBody>
      </p:sp>
      <p:sp>
        <p:nvSpPr>
          <p:cNvPr id="80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Shadowing is the idiomatic way to express a sequence of transformations on a value without inventing x2, x_str, and so on, or reaching for mut unnecessarily.</a:t>
            </a:r>
            <a:endParaRPr b="0" lang="en-US" sz="1150" spc="-1" strike="noStrike">
              <a:solidFill>
                <a:srgbClr val="ffffff"/>
              </a:solidFill>
              <a:latin typeface="Arial"/>
            </a:endParaRPr>
          </a:p>
        </p:txBody>
      </p:sp>
      <p:sp>
        <p:nvSpPr>
          <p:cNvPr id="80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0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0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80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const and static vs. const/constexpr/static</a:t>
            </a:r>
            <a:endParaRPr b="0" lang="en-US" sz="2800" spc="-1" strike="noStrike">
              <a:solidFill>
                <a:srgbClr val="ffffff"/>
              </a:solidFill>
              <a:latin typeface="Arial"/>
            </a:endParaRPr>
          </a:p>
        </p:txBody>
      </p:sp>
      <p:sp>
        <p:nvSpPr>
          <p:cNvPr id="80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81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81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const int MAX = 100;       // typed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constant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constexpr int MAX2 = 100;  // compile-time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constant (C++11)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static int counter = 0;     // one shared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instance</a:t>
            </a:r>
            <a:endParaRPr b="0" lang="en-US" sz="1200" spc="-1" strike="noStrike">
              <a:solidFill>
                <a:srgbClr val="ffffff"/>
              </a:solidFill>
              <a:latin typeface="Arial"/>
            </a:endParaRPr>
          </a:p>
        </p:txBody>
      </p:sp>
      <p:sp>
        <p:nvSpPr>
          <p:cNvPr id="81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Three overlapping keywords, added at different points in the language's history, with subtly different guarantees about when evaluation actually happens.</a:t>
            </a:r>
            <a:endParaRPr b="0" lang="en-US" sz="1100" spc="-1" strike="noStrike">
              <a:solidFill>
                <a:srgbClr val="ffffff"/>
              </a:solidFill>
              <a:latin typeface="Arial"/>
            </a:endParaRPr>
          </a:p>
        </p:txBody>
      </p:sp>
      <p:sp>
        <p:nvSpPr>
          <p:cNvPr id="81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1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1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81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81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const MAX: i32 = 100;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always inlined at every use site;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 memory address at all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static COUNTER: i32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one fixed memory address,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for the whole program</a:t>
            </a:r>
            <a:endParaRPr b="0" lang="en-US" sz="1200" spc="-1" strike="noStrike">
              <a:solidFill>
                <a:srgbClr val="ffffff"/>
              </a:solidFill>
              <a:latin typeface="Arial"/>
            </a:endParaRPr>
          </a:p>
        </p:txBody>
      </p:sp>
      <p:sp>
        <p:nvSpPr>
          <p:cNvPr id="81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Exactly two keywords with a clean split: const is always a compile-time-substituted value; static is always one fixed address — no third, in-between option.</a:t>
            </a:r>
            <a:endParaRPr b="0" lang="en-US" sz="1100" spc="-1" strike="noStrike">
              <a:solidFill>
                <a:srgbClr val="ffffff"/>
              </a:solidFill>
              <a:latin typeface="Arial"/>
            </a:endParaRPr>
          </a:p>
        </p:txBody>
      </p:sp>
      <p:sp>
        <p:nvSpPr>
          <p:cNvPr id="81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Rust's two-way split maps roughly onto C++'s constexpr (const) and static (static), without a separate plain const keyword also in the mix to reason about.</a:t>
            </a:r>
            <a:endParaRPr b="0" lang="en-US" sz="1150" spc="-1" strike="noStrike">
              <a:solidFill>
                <a:srgbClr val="ffffff"/>
              </a:solidFill>
              <a:latin typeface="Arial"/>
            </a:endParaRPr>
          </a:p>
        </p:txBody>
      </p:sp>
      <p:sp>
        <p:nvSpPr>
          <p:cNvPr id="82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2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82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Type inference, a little deeper</a:t>
            </a:r>
            <a:endParaRPr b="0" lang="en-US" sz="2800" spc="-1" strike="noStrike">
              <a:solidFill>
                <a:srgbClr val="ffffff"/>
              </a:solidFill>
              <a:latin typeface="Arial"/>
            </a:endParaRPr>
          </a:p>
        </p:txBody>
      </p:sp>
      <p:sp>
        <p:nvSpPr>
          <p:cNvPr id="825"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6"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7"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Integer literals default to i32 and float literals default to f64 when nothing else constrains them —  </a:t>
            </a:r>
            <a:r>
              <a:rPr b="0" lang="en-US" sz="1200" spc="-1" strike="noStrike">
                <a:solidFill>
                  <a:srgbClr val="9aa4b8"/>
                </a:solidFill>
                <a:latin typeface="Arial"/>
                <a:ea typeface="Arial"/>
              </a:rPr>
              <a:t>the same role int and double play as C++'s implicit "default" numeric types.</a:t>
            </a:r>
            <a:endParaRPr b="0" lang="en-US" sz="1200" spc="-1" strike="noStrike">
              <a:solidFill>
                <a:srgbClr val="ffffff"/>
              </a:solidFill>
              <a:latin typeface="Arial"/>
            </a:endParaRPr>
          </a:p>
        </p:txBody>
      </p:sp>
      <p:sp>
        <p:nvSpPr>
          <p:cNvPr id="828"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29"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0"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turbofish, ::&lt;T&gt;, disambiguates when inference genuinely can't decide:  </a:t>
            </a:r>
            <a:r>
              <a:rPr b="0" lang="en-US" sz="1200" spc="-1" strike="noStrike">
                <a:solidFill>
                  <a:srgbClr val="9aa4b8"/>
                </a:solidFill>
                <a:latin typeface="Arial"/>
                <a:ea typeface="Arial"/>
              </a:rPr>
              <a:t>"42".parse::&lt;i32&gt;() — rare in practice, but useful to recognize on sight.</a:t>
            </a:r>
            <a:endParaRPr b="0" lang="en-US" sz="1200" spc="-1" strike="noStrike">
              <a:solidFill>
                <a:srgbClr val="ffffff"/>
              </a:solidFill>
              <a:latin typeface="Arial"/>
            </a:endParaRPr>
          </a:p>
        </p:txBody>
      </p:sp>
      <p:sp>
        <p:nvSpPr>
          <p:cNvPr id="831"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2"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3"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Inference is local to a function body — Rust deliberately does not infer across function signatures,  </a:t>
            </a:r>
            <a:r>
              <a:rPr b="0" lang="en-US" sz="1200" spc="-1" strike="noStrike">
                <a:solidFill>
                  <a:srgbClr val="9aa4b8"/>
                </a:solidFill>
                <a:latin typeface="Arial"/>
                <a:ea typeface="Arial"/>
              </a:rPr>
              <a:t>so every function's parameter and return types stay explicit and self-documenting.</a:t>
            </a:r>
            <a:endParaRPr b="0" lang="en-US" sz="1200" spc="-1" strike="noStrike">
              <a:solidFill>
                <a:srgbClr val="ffffff"/>
              </a:solidFill>
              <a:latin typeface="Arial"/>
            </a:endParaRPr>
          </a:p>
        </p:txBody>
      </p:sp>
      <p:sp>
        <p:nvSpPr>
          <p:cNvPr id="834"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35"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a:t>
            </a:r>
            <a:endParaRPr b="0" lang="en-US" sz="1300" spc="-1" strike="noStrike">
              <a:solidFill>
                <a:srgbClr val="ffffff"/>
              </a:solidFill>
              <a:latin typeface="Arial"/>
            </a:endParaRPr>
          </a:p>
        </p:txBody>
      </p:sp>
      <p:sp>
        <p:nvSpPr>
          <p:cNvPr id="83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unit type () vs. void</a:t>
            </a:r>
            <a:endParaRPr b="0" lang="en-US" sz="2800" spc="-1" strike="noStrike">
              <a:solidFill>
                <a:srgbClr val="ffffff"/>
              </a:solidFill>
              <a:latin typeface="Arial"/>
            </a:endParaRPr>
          </a:p>
        </p:txBody>
      </p:sp>
      <p:sp>
        <p:nvSpPr>
          <p:cNvPr id="83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3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84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84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log(std::string msg)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returns nothing — void is not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 real type; you cannot have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 variable of type void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84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void means "no value" in a way that isn't a first-class type — you can't store a void in a variable or hold one in a container.</a:t>
            </a:r>
            <a:endParaRPr b="0" lang="en-US" sz="1100" spc="-1" strike="noStrike">
              <a:solidFill>
                <a:srgbClr val="ffffff"/>
              </a:solidFill>
              <a:latin typeface="Arial"/>
            </a:endParaRPr>
          </a:p>
        </p:txBody>
      </p:sp>
      <p:sp>
        <p:nvSpPr>
          <p:cNvPr id="84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4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84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84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log(msg: String) -&gt;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 is a real, zero-sized type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 "the empty tuple" — and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IS the default return type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84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 is an ordinary type with exactly one value, also written (). Every function implicitly returns () unless another type is specified; -&gt; () is usually omitted.</a:t>
            </a:r>
            <a:endParaRPr b="0" lang="en-US" sz="1100" spc="-1" strike="noStrike">
              <a:solidFill>
                <a:srgbClr val="ffffff"/>
              </a:solidFill>
              <a:latin typeface="Arial"/>
            </a:endParaRPr>
          </a:p>
        </p:txBody>
      </p:sp>
      <p:sp>
        <p:nvSpPr>
          <p:cNvPr id="85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Because () is a real type, generic code can treat "a function that returns nothing" uniformly with one that returns a value — no special-casing required.</a:t>
            </a:r>
            <a:endParaRPr b="0" lang="en-US" sz="1150" spc="-1" strike="noStrike">
              <a:solidFill>
                <a:srgbClr val="ffffff"/>
              </a:solidFill>
              <a:latin typeface="Arial"/>
            </a:endParaRPr>
          </a:p>
        </p:txBody>
      </p:sp>
      <p:sp>
        <p:nvSpPr>
          <p:cNvPr id="85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5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DATA TYPES &amp; PROGRAM ELEMENTS</a:t>
            </a:r>
            <a:endParaRPr b="0" lang="en-US" sz="1300" spc="-1" strike="noStrike">
              <a:solidFill>
                <a:srgbClr val="ffffff"/>
              </a:solidFill>
              <a:latin typeface="Arial"/>
            </a:endParaRPr>
          </a:p>
        </p:txBody>
      </p:sp>
      <p:sp>
        <p:nvSpPr>
          <p:cNvPr id="85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never type: !</a:t>
            </a:r>
            <a:endParaRPr b="0" lang="en-US" sz="2800" spc="-1" strike="noStrike">
              <a:solidFill>
                <a:srgbClr val="ffffff"/>
              </a:solidFill>
              <a:latin typeface="Arial"/>
            </a:endParaRPr>
          </a:p>
        </p:txBody>
      </p:sp>
      <p:sp>
        <p:nvSpPr>
          <p:cNvPr id="856"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7"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8"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 is the type of an expression that never produces a value at all —  </a:t>
            </a:r>
            <a:r>
              <a:rPr b="0" lang="en-US" sz="1200" spc="-1" strike="noStrike">
                <a:solidFill>
                  <a:srgbClr val="9aa4b8"/>
                </a:solidFill>
                <a:latin typeface="Arial"/>
                <a:ea typeface="Arial"/>
              </a:rPr>
              <a:t>a panic!(), a std::process::exit() call, or an infinite loop with no break.</a:t>
            </a:r>
            <a:endParaRPr b="0" lang="en-US" sz="1200" spc="-1" strike="noStrike">
              <a:solidFill>
                <a:srgbClr val="ffffff"/>
              </a:solidFill>
              <a:latin typeface="Arial"/>
            </a:endParaRPr>
          </a:p>
        </p:txBody>
      </p:sp>
      <p:sp>
        <p:nvSpPr>
          <p:cNvPr id="859"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0"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1"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closest C++ equivalent is the [[noreturn]] attribute —  </a:t>
            </a:r>
            <a:r>
              <a:rPr b="0" lang="en-US" sz="1200" spc="-1" strike="noStrike">
                <a:solidFill>
                  <a:srgbClr val="9aa4b8"/>
                </a:solidFill>
                <a:latin typeface="Arial"/>
                <a:ea typeface="Arial"/>
              </a:rPr>
              <a:t>a hint to the compiler and the reader, but not a real type C++'s type system reasons about directly.</a:t>
            </a:r>
            <a:endParaRPr b="0" lang="en-US" sz="1200" spc="-1" strike="noStrike">
              <a:solidFill>
                <a:srgbClr val="ffffff"/>
              </a:solidFill>
              <a:latin typeface="Arial"/>
            </a:endParaRPr>
          </a:p>
        </p:txBody>
      </p:sp>
      <p:sp>
        <p:nvSpPr>
          <p:cNvPr id="862"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3"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64"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Because ! coerces to any other type, a match arm that panics type-checks fine against arms that return a real value —  </a:t>
            </a:r>
            <a:r>
              <a:rPr b="0" lang="en-US" sz="1200" spc="-1" strike="noStrike">
                <a:solidFill>
                  <a:srgbClr val="9aa4b8"/>
                </a:solidFill>
                <a:latin typeface="Arial"/>
                <a:ea typeface="Arial"/>
              </a:rPr>
              <a:t>a small but genuinely useful piece of type-system plumbing you'll see again today.</a:t>
            </a:r>
            <a:endParaRPr b="0" lang="en-US" sz="1200" spc="-1" strike="noStrike">
              <a:solidFill>
                <a:srgbClr val="ffffff"/>
              </a:solidFill>
              <a:latin typeface="Arial"/>
            </a:endParaRPr>
          </a:p>
        </p:txBody>
      </p:sp>
      <p:sp>
        <p:nvSpPr>
          <p:cNvPr id="865"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66"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6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DATA TYPES &amp; PROGRAM ELEMENTS</a:t>
            </a:r>
            <a:endParaRPr b="0" lang="en-US" sz="1300" spc="-1" strike="noStrike">
              <a:solidFill>
                <a:srgbClr val="ffffff"/>
              </a:solidFill>
              <a:latin typeface="Arial"/>
            </a:endParaRPr>
          </a:p>
        </p:txBody>
      </p:sp>
      <p:sp>
        <p:nvSpPr>
          <p:cNvPr id="868"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None of this is exotic — it's the vocabulary the rest of today is written in.</a:t>
            </a:r>
            <a:endParaRPr b="0" lang="en-US" sz="3200" spc="-1" strike="noStrike">
              <a:solidFill>
                <a:srgbClr val="ffffff"/>
              </a:solidFill>
              <a:latin typeface="Arial"/>
            </a:endParaRPr>
          </a:p>
        </p:txBody>
      </p:sp>
      <p:sp>
        <p:nvSpPr>
          <p:cNvPr id="869"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Fixed-width integers, always-valid UTF-8 strings, shadowing, and a real unit type will each show up again, unremarked, for the rest of the course. Better to meet them once, deliberately, than to reverse-engineer them from context three modules from now.</a:t>
            </a:r>
            <a:endParaRPr b="0" lang="en-US" sz="1400" spc="-1" strike="noStrike">
              <a:solidFill>
                <a:srgbClr val="ffffff"/>
              </a:solidFill>
              <a:latin typeface="Arial"/>
            </a:endParaRPr>
          </a:p>
        </p:txBody>
      </p:sp>
      <p:sp>
        <p:nvSpPr>
          <p:cNvPr id="870"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71"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72"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73"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05</a:t>
            </a:r>
            <a:endParaRPr b="0" lang="en-US" sz="3400" spc="-1" strike="noStrike">
              <a:solidFill>
                <a:srgbClr val="ffffff"/>
              </a:solidFill>
              <a:latin typeface="Arial"/>
            </a:endParaRPr>
          </a:p>
        </p:txBody>
      </p:sp>
      <p:sp>
        <p:nvSpPr>
          <p:cNvPr id="874"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Syntax Orientation</a:t>
            </a:r>
            <a:endParaRPr b="0" lang="en-US" sz="2800" spc="-1" strike="noStrike">
              <a:solidFill>
                <a:srgbClr val="ffffff"/>
              </a:solidFill>
              <a:latin typeface="Arial"/>
            </a:endParaRPr>
          </a:p>
        </p:txBody>
      </p:sp>
      <p:sp>
        <p:nvSpPr>
          <p:cNvPr id="875"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A Rosetta stone — mapping what you already know onto new spelling</a:t>
            </a:r>
            <a:endParaRPr b="0" lang="en-US" sz="1350" spc="-1" strike="noStrike">
              <a:solidFill>
                <a:srgbClr val="ffffff"/>
              </a:solidFill>
              <a:latin typeface="Arial"/>
            </a:endParaRPr>
          </a:p>
        </p:txBody>
      </p:sp>
      <p:sp>
        <p:nvSpPr>
          <p:cNvPr id="876"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77"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7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 ORIENTATION</a:t>
            </a:r>
            <a:endParaRPr b="0" lang="en-US" sz="1300" spc="-1" strike="noStrike">
              <a:solidFill>
                <a:srgbClr val="ffffff"/>
              </a:solidFill>
              <a:latin typeface="Arial"/>
            </a:endParaRPr>
          </a:p>
        </p:txBody>
      </p:sp>
      <p:sp>
        <p:nvSpPr>
          <p:cNvPr id="87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Syntax Rosetta stone, part 1</a:t>
            </a:r>
            <a:endParaRPr b="0" lang="en-US" sz="2800" spc="-1" strike="noStrike">
              <a:solidFill>
                <a:srgbClr val="ffffff"/>
              </a:solidFill>
              <a:latin typeface="Arial"/>
            </a:endParaRPr>
          </a:p>
        </p:txBody>
      </p:sp>
      <p:graphicFrame>
        <p:nvGraphicFramePr>
          <p:cNvPr id="880" name="Table 0"/>
          <p:cNvGraphicFramePr/>
          <p:nvPr/>
        </p:nvGraphicFramePr>
        <p:xfrm>
          <a:off x="548640" y="1691640"/>
          <a:ext cx="11063880" cy="3200400"/>
        </p:xfrm>
        <a:graphic>
          <a:graphicData uri="http://schemas.openxmlformats.org/drawingml/2006/table">
            <a:tbl>
              <a:tblPr/>
              <a:tblGrid>
                <a:gridCol w="3840480"/>
                <a:gridCol w="3840480"/>
                <a:gridCol w="338328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Rust</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Note</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int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x: i32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Rust infers types — the annotation is usually optional</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const int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Bindings are immutable by default in Rust, the reverse of C++</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int x;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mut x = 5;</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Mutability is an explicit, opt-in keyword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void f(int x)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fn f(x: i32)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fn replaces the return-type-first C-style signature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int f() { return 5;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fn f() -&gt; i32 { 5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The final expression (no semicolon) is the return value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auto x = expr;</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let x = expr;</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Type inference is pervasive, not an opt-in keyword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881"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82"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8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 ORIENTATION</a:t>
            </a:r>
            <a:endParaRPr b="0" lang="en-US" sz="1300" spc="-1" strike="noStrike">
              <a:solidFill>
                <a:srgbClr val="ffffff"/>
              </a:solidFill>
              <a:latin typeface="Arial"/>
            </a:endParaRPr>
          </a:p>
        </p:txBody>
      </p:sp>
      <p:sp>
        <p:nvSpPr>
          <p:cNvPr id="88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Syntax Rosetta stone, part 2</a:t>
            </a:r>
            <a:endParaRPr b="0" lang="en-US" sz="2800" spc="-1" strike="noStrike">
              <a:solidFill>
                <a:srgbClr val="ffffff"/>
              </a:solidFill>
              <a:latin typeface="Arial"/>
            </a:endParaRPr>
          </a:p>
        </p:txBody>
      </p:sp>
      <p:graphicFrame>
        <p:nvGraphicFramePr>
          <p:cNvPr id="885" name="Table 0"/>
          <p:cNvGraphicFramePr/>
          <p:nvPr/>
        </p:nvGraphicFramePr>
        <p:xfrm>
          <a:off x="548640" y="1691640"/>
          <a:ext cx="11063880" cy="3200400"/>
        </p:xfrm>
        <a:graphic>
          <a:graphicData uri="http://schemas.openxmlformats.org/drawingml/2006/table">
            <a:tbl>
              <a:tblPr/>
              <a:tblGrid>
                <a:gridCol w="3840480"/>
                <a:gridCol w="3840480"/>
                <a:gridCol w="338328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C++</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Rust</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Note</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struct P { int x, y;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struct P { x: i32, y: i32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No trailing semicolon after the closing brace in Rust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class Shape { virtual ...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trait Shape { fn area(&amp;self) -&gt; f64; }</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Traits replace abstract base classes for interfaces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std::unique_ptr&lt;T&gt;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Box&lt;T&gt;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Single-owner heap allocation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std::shared_ptr&lt;T&gt;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Rc&lt;T&gt; / Arc&lt;T&gt;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Rc for single-thread, Arc for cross-thread ref counting</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std::vector&lt;T&gt;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Vec&lt;T&gt;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Growable contiguous array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std::optional&lt;T&gt;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Consolas"/>
                          <a:ea typeface="Consolas"/>
                        </a:rPr>
                        <a:t>Option&lt;T&gt;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Same idea; Option predates optional and inspired it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886"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887"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88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88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Function definitions</a:t>
            </a:r>
            <a:endParaRPr b="0" lang="en-US" sz="2800" spc="-1" strike="noStrike">
              <a:solidFill>
                <a:srgbClr val="ffffff"/>
              </a:solidFill>
              <a:latin typeface="Arial"/>
            </a:endParaRPr>
          </a:p>
        </p:txBody>
      </p:sp>
      <p:sp>
        <p:nvSpPr>
          <p:cNvPr id="89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89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89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add(int a, int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a +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89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Return type precedes the name; a semicolon-terminated return statement ends the function.</a:t>
            </a:r>
            <a:endParaRPr b="0" lang="en-US" sz="1100" spc="-1" strike="noStrike">
              <a:solidFill>
                <a:srgbClr val="ffffff"/>
              </a:solidFill>
              <a:latin typeface="Arial"/>
            </a:endParaRPr>
          </a:p>
        </p:txBody>
      </p:sp>
      <p:sp>
        <p:nvSpPr>
          <p:cNvPr id="89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9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89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0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add(a: i32, b: i32) -&gt;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 +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90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fn precedes the name; the arrow introduces the return type; the trailing expression (no semicolon) is returned.</a:t>
            </a:r>
            <a:endParaRPr b="0" lang="en-US" sz="1100" spc="-1" strike="noStrike">
              <a:solidFill>
                <a:srgbClr val="ffffff"/>
              </a:solidFill>
              <a:latin typeface="Arial"/>
            </a:endParaRPr>
          </a:p>
        </p:txBody>
      </p:sp>
      <p:sp>
        <p:nvSpPr>
          <p:cNvPr id="90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0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Expression-oriented syntax means most functions have no explicit return statement at all — the last value just is the result.</a:t>
            </a:r>
            <a:endParaRPr b="0" lang="en-US" sz="1150" spc="-1" strike="noStrike">
              <a:solidFill>
                <a:srgbClr val="ffffff"/>
              </a:solidFill>
              <a:latin typeface="Arial"/>
            </a:endParaRPr>
          </a:p>
        </p:txBody>
      </p:sp>
      <p:sp>
        <p:nvSpPr>
          <p:cNvPr id="90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0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0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0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Variables and mutability</a:t>
            </a:r>
            <a:endParaRPr b="0" lang="en-US" sz="2800" spc="-1" strike="noStrike">
              <a:solidFill>
                <a:srgbClr val="ffffff"/>
              </a:solidFill>
              <a:latin typeface="Arial"/>
            </a:endParaRPr>
          </a:p>
        </p:txBody>
      </p:sp>
      <p:sp>
        <p:nvSpPr>
          <p:cNvPr id="90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0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1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1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 = 5;      // 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const int y = 5; // immutable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mutable is the default</a:t>
            </a:r>
            <a:endParaRPr b="0" lang="en-US" sz="1200" spc="-1" strike="noStrike">
              <a:solidFill>
                <a:srgbClr val="ffffff"/>
              </a:solidFill>
              <a:latin typeface="Arial"/>
            </a:endParaRPr>
          </a:p>
        </p:txBody>
      </p:sp>
      <p:sp>
        <p:nvSpPr>
          <p:cNvPr id="91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You opt into immutability with const; leaving it off is the path of least resistance, and most variables end up mutable.</a:t>
            </a:r>
            <a:endParaRPr b="0" lang="en-US" sz="1100" spc="-1" strike="noStrike">
              <a:solidFill>
                <a:srgbClr val="ffffff"/>
              </a:solidFill>
              <a:latin typeface="Arial"/>
            </a:endParaRPr>
          </a:p>
        </p:txBody>
      </p:sp>
      <p:sp>
        <p:nvSpPr>
          <p:cNvPr id="91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1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1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1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 5;       // immutable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mut y = 5;   // mutable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immutable is the default</a:t>
            </a:r>
            <a:endParaRPr b="0" lang="en-US" sz="1200" spc="-1" strike="noStrike">
              <a:solidFill>
                <a:srgbClr val="ffffff"/>
              </a:solidFill>
              <a:latin typeface="Arial"/>
            </a:endParaRPr>
          </a:p>
        </p:txBody>
      </p:sp>
      <p:sp>
        <p:nvSpPr>
          <p:cNvPr id="91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You opt into mutability with mut; the default matches how most variables are actually used — assigned once, then read.</a:t>
            </a:r>
            <a:endParaRPr b="0" lang="en-US" sz="1100" spc="-1" strike="noStrike">
              <a:solidFill>
                <a:srgbClr val="ffffff"/>
              </a:solidFill>
              <a:latin typeface="Arial"/>
            </a:endParaRPr>
          </a:p>
        </p:txBody>
      </p:sp>
      <p:sp>
        <p:nvSpPr>
          <p:cNvPr id="92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Flipping the default nudges code toward the shape it usually should have, and makes every mutation visually explicit at the call site.</a:t>
            </a:r>
            <a:endParaRPr b="0" lang="en-US" sz="1150" spc="-1" strike="noStrike">
              <a:solidFill>
                <a:srgbClr val="ffffff"/>
              </a:solidFill>
              <a:latin typeface="Arial"/>
            </a:endParaRPr>
          </a:p>
        </p:txBody>
      </p:sp>
      <p:sp>
        <p:nvSpPr>
          <p:cNvPr id="92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2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2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2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Control flow as expressions</a:t>
            </a:r>
            <a:endParaRPr b="0" lang="en-US" sz="2800" spc="-1" strike="noStrike">
              <a:solidFill>
                <a:srgbClr val="ffffff"/>
              </a:solidFill>
              <a:latin typeface="Arial"/>
            </a:endParaRPr>
          </a:p>
        </p:txBody>
      </p:sp>
      <p:sp>
        <p:nvSpPr>
          <p:cNvPr id="92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2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2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3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x;</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if (cond) { x = 1;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else { x = 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if is a statement, not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value-producing expression</a:t>
            </a:r>
            <a:endParaRPr b="0" lang="en-US" sz="1200" spc="-1" strike="noStrike">
              <a:solidFill>
                <a:srgbClr val="ffffff"/>
              </a:solidFill>
              <a:latin typeface="Arial"/>
            </a:endParaRPr>
          </a:p>
        </p:txBody>
      </p:sp>
      <p:sp>
        <p:nvSpPr>
          <p:cNvPr id="93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if/else and switch are statements. Producing a value from them requires a temporary variable assigned in each branch.</a:t>
            </a:r>
            <a:endParaRPr b="0" lang="en-US" sz="1100" spc="-1" strike="noStrike">
              <a:solidFill>
                <a:srgbClr val="ffffff"/>
              </a:solidFill>
              <a:latin typeface="Arial"/>
            </a:endParaRPr>
          </a:p>
        </p:txBody>
      </p:sp>
      <p:sp>
        <p:nvSpPr>
          <p:cNvPr id="93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3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3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3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3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x = if cond { 1 } else { 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if is an expression: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it evaluates to a value</a:t>
            </a:r>
            <a:endParaRPr b="0" lang="en-US" sz="1200" spc="-1" strike="noStrike">
              <a:solidFill>
                <a:srgbClr val="ffffff"/>
              </a:solidFill>
              <a:latin typeface="Arial"/>
            </a:endParaRPr>
          </a:p>
        </p:txBody>
      </p:sp>
      <p:sp>
        <p:nvSpPr>
          <p:cNvPr id="93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if, match, loop, and blocks are all expressions that can produce a value directly — no temporary variable needed.</a:t>
            </a:r>
            <a:endParaRPr b="0" lang="en-US" sz="1100" spc="-1" strike="noStrike">
              <a:solidFill>
                <a:srgbClr val="ffffff"/>
              </a:solidFill>
              <a:latin typeface="Arial"/>
            </a:endParaRPr>
          </a:p>
        </p:txBody>
      </p:sp>
      <p:sp>
        <p:nvSpPr>
          <p:cNvPr id="93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3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Expression-oriented control flow removes a whole category of "declared but not always assigned" bugs and reduces boilerplate.</a:t>
            </a:r>
            <a:endParaRPr b="0" lang="en-US" sz="1150" spc="-1" strike="noStrike">
              <a:solidFill>
                <a:srgbClr val="ffffff"/>
              </a:solidFill>
              <a:latin typeface="Arial"/>
            </a:endParaRPr>
          </a:p>
        </p:txBody>
      </p:sp>
      <p:sp>
        <p:nvSpPr>
          <p:cNvPr id="94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4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4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4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Loops</a:t>
            </a:r>
            <a:endParaRPr b="0" lang="en-US" sz="2800" spc="-1" strike="noStrike">
              <a:solidFill>
                <a:srgbClr val="ffffff"/>
              </a:solidFill>
              <a:latin typeface="Arial"/>
            </a:endParaRPr>
          </a:p>
        </p:txBody>
      </p:sp>
      <p:sp>
        <p:nvSpPr>
          <p:cNvPr id="94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4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4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for (int i = 0; i &lt; 10; ++i)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while (cond)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(auto&amp; x : container) {}</a:t>
            </a:r>
            <a:endParaRPr b="0" lang="en-US" sz="1200" spc="-1" strike="noStrike">
              <a:solidFill>
                <a:srgbClr val="ffffff"/>
              </a:solidFill>
              <a:latin typeface="Arial"/>
            </a:endParaRPr>
          </a:p>
        </p:txBody>
      </p:sp>
      <p:sp>
        <p:nvSpPr>
          <p:cNvPr id="94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Three loop forms: C-style counted, condition-checked, and range-based — each with its own syntax.</a:t>
            </a:r>
            <a:endParaRPr b="0" lang="en-US" sz="1100" spc="-1" strike="noStrike">
              <a:solidFill>
                <a:srgbClr val="ffffff"/>
              </a:solidFill>
              <a:latin typeface="Arial"/>
            </a:endParaRPr>
          </a:p>
        </p:txBody>
      </p:sp>
      <p:sp>
        <p:nvSpPr>
          <p:cNvPr id="95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5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5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for i in 0..10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while cond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x in &amp;container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loop { break; } // infinite,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explicit exit</a:t>
            </a:r>
            <a:endParaRPr b="0" lang="en-US" sz="1200" spc="-1" strike="noStrike">
              <a:solidFill>
                <a:srgbClr val="ffffff"/>
              </a:solidFill>
              <a:latin typeface="Arial"/>
            </a:endParaRPr>
          </a:p>
        </p:txBody>
      </p:sp>
      <p:sp>
        <p:nvSpPr>
          <p:cNvPr id="95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for always iterates a range or an iterator; loop is the explicit infinite-loop form; there's no C-style three-clause for.</a:t>
            </a:r>
            <a:endParaRPr b="0" lang="en-US" sz="1100" spc="-1" strike="noStrike">
              <a:solidFill>
                <a:srgbClr val="ffffff"/>
              </a:solidFill>
              <a:latin typeface="Arial"/>
            </a:endParaRPr>
          </a:p>
        </p:txBody>
      </p:sp>
      <p:sp>
        <p:nvSpPr>
          <p:cNvPr id="95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5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Removing the C-style for loop removes off-by-one errors from hand-written index arithmetic — the iterator does the counting.</a:t>
            </a:r>
            <a:endParaRPr b="0" lang="en-US" sz="1150" spc="-1" strike="noStrike">
              <a:solidFill>
                <a:srgbClr val="ffffff"/>
              </a:solidFill>
              <a:latin typeface="Arial"/>
            </a:endParaRPr>
          </a:p>
        </p:txBody>
      </p:sp>
      <p:sp>
        <p:nvSpPr>
          <p:cNvPr id="95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5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6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Structs and methods</a:t>
            </a:r>
            <a:endParaRPr b="0" lang="en-US" sz="2800" spc="-1" strike="noStrike">
              <a:solidFill>
                <a:srgbClr val="ffffff"/>
              </a:solidFill>
              <a:latin typeface="Arial"/>
            </a:endParaRPr>
          </a:p>
        </p:txBody>
      </p:sp>
      <p:sp>
        <p:nvSpPr>
          <p:cNvPr id="96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6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6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Point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x, 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dist() { return x*x+y*y;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96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Data and methods are declared together inside the class body, with access specifiers controlling visibility per-member.</a:t>
            </a:r>
            <a:endParaRPr b="0" lang="en-US" sz="1100" spc="-1" strike="noStrike">
              <a:solidFill>
                <a:srgbClr val="ffffff"/>
              </a:solidFill>
              <a:latin typeface="Arial"/>
            </a:endParaRPr>
          </a:p>
        </p:txBody>
      </p:sp>
      <p:sp>
        <p:nvSpPr>
          <p:cNvPr id="96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7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7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7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Point { x: i32, y: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Point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dist(&amp;self) -&gt;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self.x * self.x + self.y * self.y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97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Data (struct) and behavior (impl block) are declared separately. Multiple impl blocks for the same type are allowed and common.</a:t>
            </a:r>
            <a:endParaRPr b="0" lang="en-US" sz="1100" spc="-1" strike="noStrike">
              <a:solidFill>
                <a:srgbClr val="ffffff"/>
              </a:solidFill>
              <a:latin typeface="Arial"/>
            </a:endParaRPr>
          </a:p>
        </p:txBody>
      </p:sp>
      <p:sp>
        <p:nvSpPr>
          <p:cNvPr id="97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7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Separating data layout from behavior makes it trivial to add methods to a type from a different module — no reopening the class.</a:t>
            </a:r>
            <a:endParaRPr b="0" lang="en-US" sz="1150" spc="-1" strike="noStrike">
              <a:solidFill>
                <a:srgbClr val="ffffff"/>
              </a:solidFill>
              <a:latin typeface="Arial"/>
            </a:endParaRPr>
          </a:p>
        </p:txBody>
      </p:sp>
      <p:sp>
        <p:nvSpPr>
          <p:cNvPr id="97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7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7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SYNTAX</a:t>
            </a:r>
            <a:endParaRPr b="0" lang="en-US" sz="1300" spc="-1" strike="noStrike">
              <a:solidFill>
                <a:srgbClr val="ffffff"/>
              </a:solidFill>
              <a:latin typeface="Arial"/>
            </a:endParaRPr>
          </a:p>
        </p:txBody>
      </p:sp>
      <p:sp>
        <p:nvSpPr>
          <p:cNvPr id="97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Enums are real sum types</a:t>
            </a:r>
            <a:endParaRPr b="0" lang="en-US" sz="2800" spc="-1" strike="noStrike">
              <a:solidFill>
                <a:srgbClr val="ffffff"/>
              </a:solidFill>
              <a:latin typeface="Arial"/>
            </a:endParaRPr>
          </a:p>
        </p:txBody>
      </p:sp>
      <p:sp>
        <p:nvSpPr>
          <p:cNvPr id="98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98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98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class Shape { Circle, Square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values carry no data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separate struct/union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is needed to attach fields</a:t>
            </a:r>
            <a:endParaRPr b="0" lang="en-US" sz="1200" spc="-1" strike="noStrike">
              <a:solidFill>
                <a:srgbClr val="ffffff"/>
              </a:solidFill>
              <a:latin typeface="Arial"/>
            </a:endParaRPr>
          </a:p>
        </p:txBody>
      </p:sp>
      <p:sp>
        <p:nvSpPr>
          <p:cNvPr id="98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C++ enum is just a set of named integers. Attaching different data per variant needs std::variant or a hand-rolled tagged union.</a:t>
            </a:r>
            <a:endParaRPr b="0" lang="en-US" sz="1100" spc="-1" strike="noStrike">
              <a:solidFill>
                <a:srgbClr val="ffffff"/>
              </a:solidFill>
              <a:latin typeface="Arial"/>
            </a:endParaRPr>
          </a:p>
        </p:txBody>
      </p:sp>
      <p:sp>
        <p:nvSpPr>
          <p:cNvPr id="98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8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98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99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Shape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Circle { radius: f64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Square { side: f64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each variant carries its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own data, natively</a:t>
            </a:r>
            <a:endParaRPr b="0" lang="en-US" sz="1200" spc="-1" strike="noStrike">
              <a:solidFill>
                <a:srgbClr val="ffffff"/>
              </a:solidFill>
              <a:latin typeface="Arial"/>
            </a:endParaRPr>
          </a:p>
        </p:txBody>
      </p:sp>
      <p:sp>
        <p:nvSpPr>
          <p:cNvPr id="99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Each enum variant can carry its own distinct fields directly — no external tag, no union, no separate discriminant to manage.</a:t>
            </a:r>
            <a:endParaRPr b="0" lang="en-US" sz="1100" spc="-1" strike="noStrike">
              <a:solidFill>
                <a:srgbClr val="ffffff"/>
              </a:solidFill>
              <a:latin typeface="Arial"/>
            </a:endParaRPr>
          </a:p>
        </p:txBody>
      </p:sp>
      <p:sp>
        <p:nvSpPr>
          <p:cNvPr id="99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the single biggest syntax-level mental shift: Rust enums are what std::variant wants to be, built into the language.</a:t>
            </a:r>
            <a:endParaRPr b="0" lang="en-US" sz="1150" spc="-1" strike="noStrike">
              <a:solidFill>
                <a:srgbClr val="ffffff"/>
              </a:solidFill>
              <a:latin typeface="Arial"/>
            </a:endParaRPr>
          </a:p>
        </p:txBody>
      </p:sp>
      <p:sp>
        <p:nvSpPr>
          <p:cNvPr id="99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99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996"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7"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06</a:t>
            </a:r>
            <a:endParaRPr b="0" lang="en-US" sz="3400" spc="-1" strike="noStrike">
              <a:solidFill>
                <a:srgbClr val="ffffff"/>
              </a:solidFill>
              <a:latin typeface="Arial"/>
            </a:endParaRPr>
          </a:p>
        </p:txBody>
      </p:sp>
      <p:sp>
        <p:nvSpPr>
          <p:cNvPr id="998"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Ownership &amp; Move Semantics</a:t>
            </a:r>
            <a:endParaRPr b="0" lang="en-US" sz="2800" spc="-1" strike="noStrike">
              <a:solidFill>
                <a:srgbClr val="ffffff"/>
              </a:solidFill>
              <a:latin typeface="Arial"/>
            </a:endParaRPr>
          </a:p>
        </p:txBody>
      </p:sp>
      <p:sp>
        <p:nvSpPr>
          <p:cNvPr id="999"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You've had move semantics since C++11 — now they're the default, and enforced</a:t>
            </a:r>
            <a:endParaRPr b="0" lang="en-US" sz="1350" spc="-1" strike="noStrike">
              <a:solidFill>
                <a:srgbClr val="ffffff"/>
              </a:solidFill>
              <a:latin typeface="Arial"/>
            </a:endParaRPr>
          </a:p>
        </p:txBody>
      </p:sp>
      <p:sp>
        <p:nvSpPr>
          <p:cNvPr id="1000"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01"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0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 &amp; MOVE SEMANTICS</a:t>
            </a:r>
            <a:endParaRPr b="0" lang="en-US" sz="1300" spc="-1" strike="noStrike">
              <a:solidFill>
                <a:srgbClr val="ffffff"/>
              </a:solidFill>
              <a:latin typeface="Arial"/>
            </a:endParaRPr>
          </a:p>
        </p:txBody>
      </p:sp>
      <p:sp>
        <p:nvSpPr>
          <p:cNvPr id="100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Quick recap: move semantics in C++11 and later</a:t>
            </a:r>
            <a:endParaRPr b="0" lang="en-US" sz="2800" spc="-1" strike="noStrike">
              <a:solidFill>
                <a:srgbClr val="ffffff"/>
              </a:solidFill>
              <a:latin typeface="Arial"/>
            </a:endParaRPr>
          </a:p>
        </p:txBody>
      </p:sp>
      <p:sp>
        <p:nvSpPr>
          <p:cNvPr id="100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std::move casts an lvalue to an rvalue reference,  </a:t>
            </a:r>
            <a:r>
              <a:rPr b="0" lang="en-US" sz="1200" spc="-1" strike="noStrike">
                <a:solidFill>
                  <a:srgbClr val="9aa4b8"/>
                </a:solidFill>
                <a:latin typeface="Arial"/>
                <a:ea typeface="Arial"/>
              </a:rPr>
              <a:t>signaling "you may cannibalize this object's resources."</a:t>
            </a:r>
            <a:endParaRPr b="0" lang="en-US" sz="1200" spc="-1" strike="noStrike">
              <a:solidFill>
                <a:srgbClr val="ffffff"/>
              </a:solidFill>
              <a:latin typeface="Arial"/>
            </a:endParaRPr>
          </a:p>
        </p:txBody>
      </p:sp>
      <p:sp>
        <p:nvSpPr>
          <p:cNvPr id="100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0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moved-from object is left in a valid but unspecified state —  </a:t>
            </a:r>
            <a:r>
              <a:rPr b="0" lang="en-US" sz="1200" spc="-1" strike="noStrike">
                <a:solidFill>
                  <a:srgbClr val="9aa4b8"/>
                </a:solidFill>
                <a:latin typeface="Arial"/>
                <a:ea typeface="Arial"/>
              </a:rPr>
              <a:t>using it afterward compiles fine and is a well-known bug source.</a:t>
            </a:r>
            <a:endParaRPr b="0" lang="en-US" sz="1200" spc="-1" strike="noStrike">
              <a:solidFill>
                <a:srgbClr val="ffffff"/>
              </a:solidFill>
              <a:latin typeface="Arial"/>
            </a:endParaRPr>
          </a:p>
        </p:txBody>
      </p:sp>
      <p:sp>
        <p:nvSpPr>
          <p:cNvPr id="101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Move constructors and move-assignment operators are opt-in  </a:t>
            </a:r>
            <a:r>
              <a:rPr b="0" lang="en-US" sz="1200" spc="-1" strike="noStrike">
                <a:solidFill>
                  <a:srgbClr val="9aa4b8"/>
                </a:solidFill>
                <a:latin typeface="Arial"/>
                <a:ea typeface="Arial"/>
              </a:rPr>
              <a:t>(or compiler-generated under specific, easy-to-violate conditions).</a:t>
            </a:r>
            <a:endParaRPr b="0" lang="en-US" sz="1200" spc="-1" strike="noStrike">
              <a:solidFill>
                <a:srgbClr val="ffffff"/>
              </a:solidFill>
              <a:latin typeface="Arial"/>
            </a:endParaRPr>
          </a:p>
        </p:txBody>
      </p:sp>
      <p:sp>
        <p:nvSpPr>
          <p:cNvPr id="101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1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1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1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Using a value after it's moved</a:t>
            </a:r>
            <a:endParaRPr b="0" lang="en-US" sz="2800" spc="-1" strike="noStrike">
              <a:solidFill>
                <a:srgbClr val="ffffff"/>
              </a:solidFill>
              <a:latin typeface="Arial"/>
            </a:endParaRPr>
          </a:p>
        </p:txBody>
      </p:sp>
      <p:sp>
        <p:nvSpPr>
          <p:cNvPr id="101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1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2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2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a = {1,2,3};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std::vector&lt;int&gt; b = std::move(a);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a.push_back(4); // compiles!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is valid-but-unspecified</a:t>
            </a:r>
            <a:endParaRPr b="0" lang="en-US" sz="1200" spc="-1" strike="noStrike">
              <a:solidFill>
                <a:srgbClr val="ffffff"/>
              </a:solidFill>
              <a:latin typeface="Arial"/>
            </a:endParaRPr>
          </a:p>
        </p:txBody>
      </p:sp>
      <p:sp>
        <p:nvSpPr>
          <p:cNvPr id="102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Nothing stops you from touching a moved-from object. It's usually empty for std::vector, but that's a convention, not a guarantee the compiler enforces generally.</a:t>
            </a:r>
            <a:endParaRPr b="0" lang="en-US" sz="1100" spc="-1" strike="noStrike">
              <a:solidFill>
                <a:srgbClr val="ffffff"/>
              </a:solidFill>
              <a:latin typeface="Arial"/>
            </a:endParaRPr>
          </a:p>
        </p:txBody>
      </p:sp>
      <p:sp>
        <p:nvSpPr>
          <p:cNvPr id="102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2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2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a = vec![1, 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b = a; // move, not copy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a.push(4);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error: value borrowed after move</a:t>
            </a:r>
            <a:endParaRPr b="0" lang="en-US" sz="1200" spc="-1" strike="noStrike">
              <a:solidFill>
                <a:srgbClr val="ffffff"/>
              </a:solidFill>
              <a:latin typeface="Arial"/>
            </a:endParaRPr>
          </a:p>
        </p:txBody>
      </p:sp>
      <p:sp>
        <p:nvSpPr>
          <p:cNvPr id="102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After a move, the old binding is deactivated by the compiler. Using it is a compile error, not a latent runtime bug.</a:t>
            </a:r>
            <a:endParaRPr b="0" lang="en-US" sz="1100" spc="-1" strike="noStrike">
              <a:solidFill>
                <a:srgbClr val="ffffff"/>
              </a:solidFill>
              <a:latin typeface="Arial"/>
            </a:endParaRPr>
          </a:p>
        </p:txBody>
      </p:sp>
      <p:sp>
        <p:nvSpPr>
          <p:cNvPr id="102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Move-then-use is a real, recurring C++ bug class. Rust makes it a compile error instead of unspecified behavior.</a:t>
            </a:r>
            <a:endParaRPr b="0" lang="en-US" sz="1150" spc="-1" strike="noStrike">
              <a:solidFill>
                <a:srgbClr val="ffffff"/>
              </a:solidFill>
              <a:latin typeface="Arial"/>
            </a:endParaRPr>
          </a:p>
        </p:txBody>
      </p:sp>
      <p:sp>
        <p:nvSpPr>
          <p:cNvPr id="103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3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3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3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Destructor ordering and RAII</a:t>
            </a:r>
            <a:endParaRPr b="0" lang="en-US" sz="2800" spc="-1" strike="noStrike">
              <a:solidFill>
                <a:srgbClr val="ffffff"/>
              </a:solidFill>
              <a:latin typeface="Arial"/>
            </a:endParaRPr>
          </a:p>
        </p:txBody>
      </p:sp>
      <p:sp>
        <p:nvSpPr>
          <p:cNvPr id="103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3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3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3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~File() { fclose(handle);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private: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FILE* handle;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destructor runs at scope exit</a:t>
            </a:r>
            <a:endParaRPr b="0" lang="en-US" sz="1200" spc="-1" strike="noStrike">
              <a:solidFill>
                <a:srgbClr val="ffffff"/>
              </a:solidFill>
              <a:latin typeface="Arial"/>
            </a:endParaRPr>
          </a:p>
        </p:txBody>
      </p:sp>
      <p:sp>
        <p:nvSpPr>
          <p:cNvPr id="104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RAII ties cleanup to scope exit via the destructor — a pattern you already rely on constantly, and it works well.</a:t>
            </a:r>
            <a:endParaRPr b="0" lang="en-US" sz="1100" spc="-1" strike="noStrike">
              <a:solidFill>
                <a:srgbClr val="ffffff"/>
              </a:solidFill>
              <a:latin typeface="Arial"/>
            </a:endParaRPr>
          </a:p>
        </p:txBody>
      </p:sp>
      <p:sp>
        <p:nvSpPr>
          <p:cNvPr id="104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4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4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File { handle: *mut 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Drop for 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drop(&amp;mut self)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unsafe { fclose(self.handle);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04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Drop trait is Rust's destructor. The mechanism is the same idea as RAII — this is one of the most direct one-to-one mappings.</a:t>
            </a:r>
            <a:endParaRPr b="0" lang="en-US" sz="1100" spc="-1" strike="noStrike">
              <a:solidFill>
                <a:srgbClr val="ffffff"/>
              </a:solidFill>
              <a:latin typeface="Arial"/>
            </a:endParaRPr>
          </a:p>
        </p:txBody>
      </p:sp>
      <p:sp>
        <p:nvSpPr>
          <p:cNvPr id="104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4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If you're fluent in RAII, you already understand Drop conceptually — the syntax differs, the discipline transfers completely.</a:t>
            </a:r>
            <a:endParaRPr b="0" lang="en-US" sz="1150" spc="-1" strike="noStrike">
              <a:solidFill>
                <a:srgbClr val="ffffff"/>
              </a:solidFill>
              <a:latin typeface="Arial"/>
            </a:endParaRPr>
          </a:p>
        </p:txBody>
      </p:sp>
      <p:sp>
        <p:nvSpPr>
          <p:cNvPr id="104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5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5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5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Implicit copies vs. move-by-default</a:t>
            </a:r>
            <a:endParaRPr b="0" lang="en-US" sz="2800" spc="-1" strike="noStrike">
              <a:solidFill>
                <a:srgbClr val="ffffff"/>
              </a:solidFill>
              <a:latin typeface="Arial"/>
            </a:endParaRPr>
          </a:p>
        </p:txBody>
      </p:sp>
      <p:sp>
        <p:nvSpPr>
          <p:cNvPr id="105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5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5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5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5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a = {1,2,3};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std::vector&lt;int&gt; b =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copy ctor runs silently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O(n) allocation, easy to miss</a:t>
            </a:r>
            <a:endParaRPr b="0" lang="en-US" sz="1200" spc="-1" strike="noStrike">
              <a:solidFill>
                <a:srgbClr val="ffffff"/>
              </a:solidFill>
              <a:latin typeface="Arial"/>
            </a:endParaRPr>
          </a:p>
        </p:txBody>
      </p:sp>
      <p:sp>
        <p:nvSpPr>
          <p:cNvPr id="105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Passing or assigning by value invokes the copy constructor unless you remember std::move. It's easy to introduce accidental deep copies.</a:t>
            </a:r>
            <a:endParaRPr b="0" lang="en-US" sz="1100" spc="-1" strike="noStrike">
              <a:solidFill>
                <a:srgbClr val="ffffff"/>
              </a:solidFill>
              <a:latin typeface="Arial"/>
            </a:endParaRPr>
          </a:p>
        </p:txBody>
      </p:sp>
      <p:sp>
        <p:nvSpPr>
          <p:cNvPr id="105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6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6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6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6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a = vec![1, 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b = a.clone(); // explicit,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visible, intentional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c = a; // error: a was moved</a:t>
            </a:r>
            <a:endParaRPr b="0" lang="en-US" sz="1200" spc="-1" strike="noStrike">
              <a:solidFill>
                <a:srgbClr val="ffffff"/>
              </a:solidFill>
              <a:latin typeface="Arial"/>
            </a:endParaRPr>
          </a:p>
        </p:txBody>
      </p:sp>
      <p:sp>
        <p:nvSpPr>
          <p:cNvPr id="106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Assignment moves by default for non-Copy types. A deep copy requires an explicit, visible .clone() call — you can grep for it.</a:t>
            </a:r>
            <a:endParaRPr b="0" lang="en-US" sz="1100" spc="-1" strike="noStrike">
              <a:solidFill>
                <a:srgbClr val="ffffff"/>
              </a:solidFill>
              <a:latin typeface="Arial"/>
            </a:endParaRPr>
          </a:p>
        </p:txBody>
      </p:sp>
      <p:sp>
        <p:nvSpPr>
          <p:cNvPr id="106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6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Making the expensive operation the one that requires an extra keystroke, instead of the cheap one, changes what code review actually catches.</a:t>
            </a:r>
            <a:endParaRPr b="0" lang="en-US" sz="1150" spc="-1" strike="noStrike">
              <a:solidFill>
                <a:srgbClr val="ffffff"/>
              </a:solidFill>
              <a:latin typeface="Arial"/>
            </a:endParaRPr>
          </a:p>
        </p:txBody>
      </p:sp>
      <p:sp>
        <p:nvSpPr>
          <p:cNvPr id="106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6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6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 &amp; MOVE SEMANTICS</a:t>
            </a:r>
            <a:endParaRPr b="0" lang="en-US" sz="1300" spc="-1" strike="noStrike">
              <a:solidFill>
                <a:srgbClr val="ffffff"/>
              </a:solidFill>
              <a:latin typeface="Arial"/>
            </a:endParaRPr>
          </a:p>
        </p:txBody>
      </p:sp>
      <p:sp>
        <p:nvSpPr>
          <p:cNvPr id="107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ownership rules, stated plainly</a:t>
            </a:r>
            <a:endParaRPr b="0" lang="en-US" sz="2800" spc="-1" strike="noStrike">
              <a:solidFill>
                <a:srgbClr val="ffffff"/>
              </a:solidFill>
              <a:latin typeface="Arial"/>
            </a:endParaRPr>
          </a:p>
        </p:txBody>
      </p:sp>
      <p:sp>
        <p:nvSpPr>
          <p:cNvPr id="107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value has exactly one owner at a time.  </a:t>
            </a:r>
            <a:endParaRPr b="0" lang="en-US" sz="1250" spc="-1" strike="noStrike">
              <a:solidFill>
                <a:srgbClr val="ffffff"/>
              </a:solidFill>
              <a:latin typeface="Arial"/>
            </a:endParaRPr>
          </a:p>
        </p:txBody>
      </p:sp>
      <p:sp>
        <p:nvSpPr>
          <p:cNvPr id="107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When the owner goes out of scope, the value is dropped.  </a:t>
            </a:r>
            <a:endParaRPr b="0" lang="en-US" sz="1250" spc="-1" strike="noStrike">
              <a:solidFill>
                <a:srgbClr val="ffffff"/>
              </a:solidFill>
              <a:latin typeface="Arial"/>
            </a:endParaRPr>
          </a:p>
        </p:txBody>
      </p:sp>
      <p:sp>
        <p:nvSpPr>
          <p:cNvPr id="107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7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Assigning or passing a value by default transfers (moves) ownership,  </a:t>
            </a:r>
            <a:r>
              <a:rPr b="0" lang="en-US" sz="1200" spc="-1" strike="noStrike">
                <a:solidFill>
                  <a:srgbClr val="9aa4b8"/>
                </a:solidFill>
                <a:latin typeface="Arial"/>
                <a:ea typeface="Arial"/>
              </a:rPr>
              <a:t>unless the type implements Copy (small, stack-only types like integers).</a:t>
            </a:r>
            <a:endParaRPr b="0" lang="en-US" sz="1200" spc="-1" strike="noStrike">
              <a:solidFill>
                <a:srgbClr val="ffffff"/>
              </a:solidFill>
              <a:latin typeface="Arial"/>
            </a:endParaRPr>
          </a:p>
        </p:txBody>
      </p:sp>
      <p:sp>
        <p:nvSpPr>
          <p:cNvPr id="108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8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08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08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unique_ptr and Box</a:t>
            </a:r>
            <a:endParaRPr b="0" lang="en-US" sz="2800" spc="-1" strike="noStrike">
              <a:solidFill>
                <a:srgbClr val="ffffff"/>
              </a:solidFill>
              <a:latin typeface="Arial"/>
            </a:endParaRPr>
          </a:p>
        </p:txBody>
      </p:sp>
      <p:sp>
        <p:nvSpPr>
          <p:cNvPr id="108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8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8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08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08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std::unique_ptr&lt;Widget&gt; p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std::make_unique&lt;Widget&gt;();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single owner, moves transfer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not copyable</a:t>
            </a:r>
            <a:endParaRPr b="0" lang="en-US" sz="1200" spc="-1" strike="noStrike">
              <a:solidFill>
                <a:srgbClr val="ffffff"/>
              </a:solidFill>
              <a:latin typeface="Arial"/>
            </a:endParaRPr>
          </a:p>
        </p:txBody>
      </p:sp>
      <p:sp>
        <p:nvSpPr>
          <p:cNvPr id="108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unique_ptr is C++'s single-ownership smart pointer — move-only, deterministic destruction. You already use this idiom.</a:t>
            </a:r>
            <a:endParaRPr b="0" lang="en-US" sz="1100" spc="-1" strike="noStrike">
              <a:solidFill>
                <a:srgbClr val="ffffff"/>
              </a:solidFill>
              <a:latin typeface="Arial"/>
            </a:endParaRPr>
          </a:p>
        </p:txBody>
      </p:sp>
      <p:sp>
        <p:nvSpPr>
          <p:cNvPr id="109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9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9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09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09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p: Box&lt;Widget&gt; = Box::new(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Widget::new()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single owner, moves transfer 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not Copy</a:t>
            </a:r>
            <a:endParaRPr b="0" lang="en-US" sz="1200" spc="-1" strike="noStrike">
              <a:solidFill>
                <a:srgbClr val="ffffff"/>
              </a:solidFill>
              <a:latin typeface="Arial"/>
            </a:endParaRPr>
          </a:p>
        </p:txBody>
      </p:sp>
      <p:sp>
        <p:nvSpPr>
          <p:cNvPr id="109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Box&lt;T&gt; is the direct analogue: heap allocation with single ownership. The compiler enforces the move-only part for you.</a:t>
            </a:r>
            <a:endParaRPr b="0" lang="en-US" sz="1100" spc="-1" strike="noStrike">
              <a:solidFill>
                <a:srgbClr val="ffffff"/>
              </a:solidFill>
              <a:latin typeface="Arial"/>
            </a:endParaRPr>
          </a:p>
        </p:txBody>
      </p:sp>
      <p:sp>
        <p:nvSpPr>
          <p:cNvPr id="109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9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close to a direct port — if your codebase already uses unique_ptr correctly, Box&lt;T&gt; will feel immediately familiar.</a:t>
            </a:r>
            <a:endParaRPr b="0" lang="en-US" sz="1150" spc="-1" strike="noStrike">
              <a:solidFill>
                <a:srgbClr val="ffffff"/>
              </a:solidFill>
              <a:latin typeface="Arial"/>
            </a:endParaRPr>
          </a:p>
        </p:txBody>
      </p:sp>
      <p:sp>
        <p:nvSpPr>
          <p:cNvPr id="109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09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0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10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shared_ptr, weak_ptr, and their Rust counterparts</a:t>
            </a:r>
            <a:endParaRPr b="0" lang="en-US" sz="2800" spc="-1" strike="noStrike">
              <a:solidFill>
                <a:srgbClr val="ffffff"/>
              </a:solidFill>
              <a:latin typeface="Arial"/>
            </a:endParaRPr>
          </a:p>
        </p:txBody>
      </p:sp>
      <p:sp>
        <p:nvSpPr>
          <p:cNvPr id="110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0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0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auto p = std::make_shared&lt;T&gt;();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std::weak_ptr&lt;T&gt; w = 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thread-safe refcount, but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pointee's mutation is NOT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automatically synchronized</a:t>
            </a:r>
            <a:endParaRPr b="0" lang="en-US" sz="1200" spc="-1" strike="noStrike">
              <a:solidFill>
                <a:srgbClr val="ffffff"/>
              </a:solidFill>
              <a:latin typeface="Arial"/>
            </a:endParaRPr>
          </a:p>
        </p:txBody>
      </p:sp>
      <p:sp>
        <p:nvSpPr>
          <p:cNvPr id="110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shared_ptr's atomic refcount is thread-safe; reading or writing *p from multiple threads still needs its own synchronization.</a:t>
            </a:r>
            <a:endParaRPr b="0" lang="en-US" sz="1100" spc="-1" strike="noStrike">
              <a:solidFill>
                <a:srgbClr val="ffffff"/>
              </a:solidFill>
              <a:latin typeface="Arial"/>
            </a:endParaRPr>
          </a:p>
        </p:txBody>
      </p:sp>
      <p:sp>
        <p:nvSpPr>
          <p:cNvPr id="110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1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1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p = Rc::new(v);       // single-thread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p = Arc::new(v);      // cross-thread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w = Arc::downgrade(&amp;p); // weak</a:t>
            </a:r>
            <a:endParaRPr b="0" lang="en-US" sz="1200" spc="-1" strike="noStrike">
              <a:solidFill>
                <a:srgbClr val="ffffff"/>
              </a:solidFill>
              <a:latin typeface="Arial"/>
            </a:endParaRPr>
          </a:p>
        </p:txBody>
      </p:sp>
      <p:sp>
        <p:nvSpPr>
          <p:cNvPr id="111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Rc is single-threaded-only (enforced — it isn't even Send); Arc is the atomic, thread-safe version. The type tells you which you have.</a:t>
            </a:r>
            <a:endParaRPr b="0" lang="en-US" sz="1100" spc="-1" strike="noStrike">
              <a:solidFill>
                <a:srgbClr val="ffffff"/>
              </a:solidFill>
              <a:latin typeface="Arial"/>
            </a:endParaRPr>
          </a:p>
        </p:txBody>
      </p:sp>
      <p:sp>
        <p:nvSpPr>
          <p:cNvPr id="111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1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 splits shared_ptr into two types so the compiler — not a code comment — tells you whether cross-thread sharing is safe.</a:t>
            </a:r>
            <a:endParaRPr b="0" lang="en-US" sz="1150" spc="-1" strike="noStrike">
              <a:solidFill>
                <a:srgbClr val="ffffff"/>
              </a:solidFill>
              <a:latin typeface="Arial"/>
            </a:endParaRPr>
          </a:p>
        </p:txBody>
      </p:sp>
      <p:sp>
        <p:nvSpPr>
          <p:cNvPr id="111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1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1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OWNERSHIP</a:t>
            </a:r>
            <a:endParaRPr b="0" lang="en-US" sz="1300" spc="-1" strike="noStrike">
              <a:solidFill>
                <a:srgbClr val="ffffff"/>
              </a:solidFill>
              <a:latin typeface="Arial"/>
            </a:endParaRPr>
          </a:p>
        </p:txBody>
      </p:sp>
      <p:sp>
        <p:nvSpPr>
          <p:cNvPr id="111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Custom cleanup logic</a:t>
            </a:r>
            <a:endParaRPr b="0" lang="en-US" sz="2800" spc="-1" strike="noStrike">
              <a:solidFill>
                <a:srgbClr val="ffffff"/>
              </a:solidFill>
              <a:latin typeface="Arial"/>
            </a:endParaRPr>
          </a:p>
        </p:txBody>
      </p:sp>
      <p:sp>
        <p:nvSpPr>
          <p:cNvPr id="112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2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2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std::unique_ptr&lt;FILE, decltype(&amp;fclose)&gt;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f(fopen(path, "r"), &amp;fclose);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custom deleter, verbose syntax</a:t>
            </a:r>
            <a:endParaRPr b="0" lang="en-US" sz="1200" spc="-1" strike="noStrike">
              <a:solidFill>
                <a:srgbClr val="ffffff"/>
              </a:solidFill>
              <a:latin typeface="Arial"/>
            </a:endParaRPr>
          </a:p>
        </p:txBody>
      </p:sp>
      <p:sp>
        <p:nvSpPr>
          <p:cNvPr id="112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Attaching custom cleanup to a smart pointer means specifying a deleter type and passing a matching callable — workable but verbose.</a:t>
            </a:r>
            <a:endParaRPr b="0" lang="en-US" sz="1100" spc="-1" strike="noStrike">
              <a:solidFill>
                <a:srgbClr val="ffffff"/>
              </a:solidFill>
              <a:latin typeface="Arial"/>
            </a:endParaRPr>
          </a:p>
        </p:txBody>
      </p:sp>
      <p:sp>
        <p:nvSpPr>
          <p:cNvPr id="112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2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2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3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MyFile(*mut FILE);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Drop for MyFile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drop(&amp;mut self)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unsafe { fclose(self.0);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13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Any type can implement Drop directly — no wrapper type or template parameter needed for custom cleanup logic.</a:t>
            </a:r>
            <a:endParaRPr b="0" lang="en-US" sz="1100" spc="-1" strike="noStrike">
              <a:solidFill>
                <a:srgbClr val="ffffff"/>
              </a:solidFill>
              <a:latin typeface="Arial"/>
            </a:endParaRPr>
          </a:p>
        </p:txBody>
      </p:sp>
      <p:sp>
        <p:nvSpPr>
          <p:cNvPr id="113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3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Custom destruction logic is a first-class, ordinary feature of every type, not a special case bolted onto a smart-pointer template.</a:t>
            </a:r>
            <a:endParaRPr b="0" lang="en-US" sz="1150" spc="-1" strike="noStrike">
              <a:solidFill>
                <a:srgbClr val="ffffff"/>
              </a:solidFill>
              <a:latin typeface="Arial"/>
            </a:endParaRPr>
          </a:p>
        </p:txBody>
      </p:sp>
      <p:sp>
        <p:nvSpPr>
          <p:cNvPr id="113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3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36"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37"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07</a:t>
            </a:r>
            <a:endParaRPr b="0" lang="en-US" sz="3400" spc="-1" strike="noStrike">
              <a:solidFill>
                <a:srgbClr val="ffffff"/>
              </a:solidFill>
              <a:latin typeface="Arial"/>
            </a:endParaRPr>
          </a:p>
        </p:txBody>
      </p:sp>
      <p:sp>
        <p:nvSpPr>
          <p:cNvPr id="1138"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Borrowing &amp; Lifetimes</a:t>
            </a:r>
            <a:endParaRPr b="0" lang="en-US" sz="2800" spc="-1" strike="noStrike">
              <a:solidFill>
                <a:srgbClr val="ffffff"/>
              </a:solidFill>
              <a:latin typeface="Arial"/>
            </a:endParaRPr>
          </a:p>
        </p:txBody>
      </p:sp>
      <p:sp>
        <p:nvSpPr>
          <p:cNvPr id="1139"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References, formalized: the rule your code review already tries to enforce</a:t>
            </a:r>
            <a:endParaRPr b="0" lang="en-US" sz="1350" spc="-1" strike="noStrike">
              <a:solidFill>
                <a:srgbClr val="ffffff"/>
              </a:solidFill>
              <a:latin typeface="Arial"/>
            </a:endParaRPr>
          </a:p>
        </p:txBody>
      </p:sp>
      <p:sp>
        <p:nvSpPr>
          <p:cNvPr id="1140"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41"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4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14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Reference and iterator invalidation</a:t>
            </a:r>
            <a:endParaRPr b="0" lang="en-US" sz="2800" spc="-1" strike="noStrike">
              <a:solidFill>
                <a:srgbClr val="ffffff"/>
              </a:solidFill>
              <a:latin typeface="Arial"/>
            </a:endParaRPr>
          </a:p>
        </p:txBody>
      </p:sp>
      <p:sp>
        <p:nvSpPr>
          <p:cNvPr id="114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4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4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4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v = {1,2,3};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int&amp; first = v[0];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v.push_back(4); // may reallocate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use(first);        // UB, maybe</a:t>
            </a:r>
            <a:endParaRPr b="0" lang="en-US" sz="1200" spc="-1" strike="noStrike">
              <a:solidFill>
                <a:srgbClr val="ffffff"/>
              </a:solidFill>
              <a:latin typeface="Arial"/>
            </a:endParaRPr>
          </a:p>
        </p:txBody>
      </p:sp>
      <p:sp>
        <p:nvSpPr>
          <p:cNvPr id="114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reference or iterator into a container silently dangles if the container reallocates. The compiler has no way to know or warn you.</a:t>
            </a:r>
            <a:endParaRPr b="0" lang="en-US" sz="1100" spc="-1" strike="noStrike">
              <a:solidFill>
                <a:srgbClr val="ffffff"/>
              </a:solidFill>
              <a:latin typeface="Arial"/>
            </a:endParaRPr>
          </a:p>
        </p:txBody>
      </p:sp>
      <p:sp>
        <p:nvSpPr>
          <p:cNvPr id="115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5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5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mut v = vec![1, 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first = &amp;v[0];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error: cannot borrow v as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mutable while borrowed</a:t>
            </a:r>
            <a:endParaRPr b="0" lang="en-US" sz="1200" spc="-1" strike="noStrike">
              <a:solidFill>
                <a:srgbClr val="ffffff"/>
              </a:solidFill>
              <a:latin typeface="Arial"/>
            </a:endParaRPr>
          </a:p>
        </p:txBody>
      </p:sp>
      <p:sp>
        <p:nvSpPr>
          <p:cNvPr id="115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borrow checker tracks that first borrows from v and refuses the mutating push while that borrow is still alive.</a:t>
            </a:r>
            <a:endParaRPr b="0" lang="en-US" sz="1100" spc="-1" strike="noStrike">
              <a:solidFill>
                <a:srgbClr val="ffffff"/>
              </a:solidFill>
              <a:latin typeface="Arial"/>
            </a:endParaRPr>
          </a:p>
        </p:txBody>
      </p:sp>
      <p:sp>
        <p:nvSpPr>
          <p:cNvPr id="115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5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exact bug — iterator/reference invalidation — is one of the most common real-world C++ memory bugs. Rust rejects it by construction.</a:t>
            </a:r>
            <a:endParaRPr b="0" lang="en-US" sz="1150" spc="-1" strike="noStrike">
              <a:solidFill>
                <a:srgbClr val="ffffff"/>
              </a:solidFill>
              <a:latin typeface="Arial"/>
            </a:endParaRPr>
          </a:p>
        </p:txBody>
      </p:sp>
      <p:sp>
        <p:nvSpPr>
          <p:cNvPr id="115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5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 &amp; LIFETIMES</a:t>
            </a:r>
            <a:endParaRPr b="0" lang="en-US" sz="1300" spc="-1" strike="noStrike">
              <a:solidFill>
                <a:srgbClr val="ffffff"/>
              </a:solidFill>
              <a:latin typeface="Arial"/>
            </a:endParaRPr>
          </a:p>
        </p:txBody>
      </p:sp>
      <p:sp>
        <p:nvSpPr>
          <p:cNvPr id="116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borrowing rules, stated plainly</a:t>
            </a:r>
            <a:endParaRPr b="0" lang="en-US" sz="2800" spc="-1" strike="noStrike">
              <a:solidFill>
                <a:srgbClr val="ffffff"/>
              </a:solidFill>
              <a:latin typeface="Arial"/>
            </a:endParaRPr>
          </a:p>
        </p:txBody>
      </p:sp>
      <p:sp>
        <p:nvSpPr>
          <p:cNvPr id="1162"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For any single value, at any single point in the code:</a:t>
            </a:r>
            <a:endParaRPr b="0" lang="en-US" sz="1300" spc="-1" strike="noStrike">
              <a:solidFill>
                <a:srgbClr val="ffffff"/>
              </a:solidFill>
              <a:latin typeface="Arial"/>
            </a:endParaRPr>
          </a:p>
        </p:txBody>
      </p:sp>
      <p:sp>
        <p:nvSpPr>
          <p:cNvPr id="1163"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4"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5"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Any number of shared (read-only) references, OR  </a:t>
            </a:r>
            <a:endParaRPr b="0" lang="en-US" sz="1250" spc="-1" strike="noStrike">
              <a:solidFill>
                <a:srgbClr val="ffffff"/>
              </a:solidFill>
              <a:latin typeface="Arial"/>
            </a:endParaRPr>
          </a:p>
        </p:txBody>
      </p:sp>
      <p:sp>
        <p:nvSpPr>
          <p:cNvPr id="1166"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7"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68"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Exactly one mutable (read-write) reference —  </a:t>
            </a:r>
            <a:r>
              <a:rPr b="0" lang="en-US" sz="1200" spc="-1" strike="noStrike">
                <a:solidFill>
                  <a:srgbClr val="9aa4b8"/>
                </a:solidFill>
                <a:latin typeface="Arial"/>
                <a:ea typeface="Arial"/>
              </a:rPr>
              <a:t>never both kinds at the same time.</a:t>
            </a:r>
            <a:endParaRPr b="0" lang="en-US" sz="1200" spc="-1" strike="noStrike">
              <a:solidFill>
                <a:srgbClr val="ffffff"/>
              </a:solidFill>
              <a:latin typeface="Arial"/>
            </a:endParaRPr>
          </a:p>
        </p:txBody>
      </p:sp>
      <p:sp>
        <p:nvSpPr>
          <p:cNvPr id="1169"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0"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1"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"shared XOR mutable", and it's checked at compile time,  </a:t>
            </a:r>
            <a:r>
              <a:rPr b="0" lang="en-US" sz="1200" spc="-1" strike="noStrike">
                <a:solidFill>
                  <a:srgbClr val="9aa4b8"/>
                </a:solidFill>
                <a:latin typeface="Arial"/>
                <a:ea typeface="Arial"/>
              </a:rPr>
              <a:t>with zero runtime cost — it doesn't exist in the compiled binary.</a:t>
            </a:r>
            <a:endParaRPr b="0" lang="en-US" sz="1200" spc="-1" strike="noStrike">
              <a:solidFill>
                <a:srgbClr val="ffffff"/>
              </a:solidFill>
              <a:latin typeface="Arial"/>
            </a:endParaRPr>
          </a:p>
        </p:txBody>
      </p:sp>
      <p:sp>
        <p:nvSpPr>
          <p:cNvPr id="1172"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73"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7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17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Reference syntax, side by side</a:t>
            </a:r>
            <a:endParaRPr b="0" lang="en-US" sz="2800" spc="-1" strike="noStrike">
              <a:solidFill>
                <a:srgbClr val="ffffff"/>
              </a:solidFill>
              <a:latin typeface="Arial"/>
            </a:endParaRPr>
          </a:p>
        </p:txBody>
      </p:sp>
      <p:sp>
        <p:nvSpPr>
          <p:cNvPr id="117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7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17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18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read(const Widget&amp; 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void write(Widget&amp; 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const-ness is the only signal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of read vs. write intent</a:t>
            </a:r>
            <a:endParaRPr b="0" lang="en-US" sz="1200" spc="-1" strike="noStrike">
              <a:solidFill>
                <a:srgbClr val="ffffff"/>
              </a:solidFill>
              <a:latin typeface="Arial"/>
            </a:endParaRPr>
          </a:p>
        </p:txBody>
      </p:sp>
      <p:sp>
        <p:nvSpPr>
          <p:cNvPr id="118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const&amp; and &amp; look almost identical; the compiler enforces const-correctness, but nothing stops two mutable &amp; aliases from coexisting.</a:t>
            </a:r>
            <a:endParaRPr b="0" lang="en-US" sz="1100" spc="-1" strike="noStrike">
              <a:solidFill>
                <a:srgbClr val="ffffff"/>
              </a:solidFill>
              <a:latin typeface="Arial"/>
            </a:endParaRPr>
          </a:p>
        </p:txBody>
      </p:sp>
      <p:sp>
        <p:nvSpPr>
          <p:cNvPr id="118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18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18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read(w: &amp;Widget)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fn write(w: &amp;mut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&amp;T and &amp;mut T are genuinely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different types</a:t>
            </a:r>
            <a:endParaRPr b="0" lang="en-US" sz="1200" spc="-1" strike="noStrike">
              <a:solidFill>
                <a:srgbClr val="ffffff"/>
              </a:solidFill>
              <a:latin typeface="Arial"/>
            </a:endParaRPr>
          </a:p>
        </p:txBody>
      </p:sp>
      <p:sp>
        <p:nvSpPr>
          <p:cNvPr id="118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&amp;T (shared) and &amp;mut T (exclusive) are distinct types with different rules, and the compiler prevents two &amp;mut T to the same data.</a:t>
            </a:r>
            <a:endParaRPr b="0" lang="en-US" sz="1100" spc="-1" strike="noStrike">
              <a:solidFill>
                <a:srgbClr val="ffffff"/>
              </a:solidFill>
              <a:latin typeface="Arial"/>
            </a:endParaRPr>
          </a:p>
        </p:txBody>
      </p:sp>
      <p:sp>
        <p:nvSpPr>
          <p:cNvPr id="118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8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C++'s const&amp; doesn't prevent aliasing, only prevents that one reference from writing. Rust's &amp;mut is guaranteed exclusive.</a:t>
            </a:r>
            <a:endParaRPr b="0" lang="en-US" sz="1150" spc="-1" strike="noStrike">
              <a:solidFill>
                <a:srgbClr val="ffffff"/>
              </a:solidFill>
              <a:latin typeface="Arial"/>
            </a:endParaRPr>
          </a:p>
        </p:txBody>
      </p:sp>
      <p:sp>
        <p:nvSpPr>
          <p:cNvPr id="119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19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19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 &amp; LIFETIMES</a:t>
            </a:r>
            <a:endParaRPr b="0" lang="en-US" sz="1300" spc="-1" strike="noStrike">
              <a:solidFill>
                <a:srgbClr val="ffffff"/>
              </a:solidFill>
              <a:latin typeface="Arial"/>
            </a:endParaRPr>
          </a:p>
        </p:txBody>
      </p:sp>
      <p:sp>
        <p:nvSpPr>
          <p:cNvPr id="119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Lifetime elision: you won't write lifetimes most of the time</a:t>
            </a:r>
            <a:endParaRPr b="0" lang="en-US" sz="2800" spc="-1" strike="noStrike">
              <a:solidFill>
                <a:srgbClr val="ffffff"/>
              </a:solidFill>
              <a:latin typeface="Arial"/>
            </a:endParaRPr>
          </a:p>
        </p:txBody>
      </p:sp>
      <p:sp>
        <p:nvSpPr>
          <p:cNvPr id="119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'lifetime is a compile-time-only label  </a:t>
            </a:r>
            <a:r>
              <a:rPr b="0" lang="en-US" sz="1200" spc="-1" strike="noStrike">
                <a:solidFill>
                  <a:srgbClr val="9aa4b8"/>
                </a:solidFill>
                <a:latin typeface="Arial"/>
                <a:ea typeface="Arial"/>
              </a:rPr>
              <a:t>describing how long a reference is guaranteed to remain valid.</a:t>
            </a:r>
            <a:endParaRPr b="0" lang="en-US" sz="1200" spc="-1" strike="noStrike">
              <a:solidFill>
                <a:srgbClr val="ffffff"/>
              </a:solidFill>
              <a:latin typeface="Arial"/>
            </a:endParaRPr>
          </a:p>
        </p:txBody>
      </p:sp>
      <p:sp>
        <p:nvSpPr>
          <p:cNvPr id="119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9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compiler infers lifetimes in the overwhelming majority of function signatures  </a:t>
            </a:r>
            <a:r>
              <a:rPr b="0" lang="en-US" sz="1200" spc="-1" strike="noStrike">
                <a:solidFill>
                  <a:srgbClr val="9aa4b8"/>
                </a:solidFill>
                <a:latin typeface="Arial"/>
                <a:ea typeface="Arial"/>
              </a:rPr>
              <a:t>via a small set of elision rules — you never see them.</a:t>
            </a:r>
            <a:endParaRPr b="0" lang="en-US" sz="1200" spc="-1" strike="noStrike">
              <a:solidFill>
                <a:srgbClr val="ffffff"/>
              </a:solidFill>
              <a:latin typeface="Arial"/>
            </a:endParaRPr>
          </a:p>
        </p:txBody>
      </p:sp>
      <p:sp>
        <p:nvSpPr>
          <p:cNvPr id="120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Explicit lifetime annotations only appear  </a:t>
            </a:r>
            <a:r>
              <a:rPr b="0" lang="en-US" sz="1200" spc="-1" strike="noStrike">
                <a:solidFill>
                  <a:srgbClr val="9aa4b8"/>
                </a:solidFill>
                <a:latin typeface="Arial"/>
                <a:ea typeface="Arial"/>
              </a:rPr>
              <a:t>when a function returns a reference whose origin is genuinely ambiguous.</a:t>
            </a:r>
            <a:endParaRPr b="0" lang="en-US" sz="1200" spc="-1" strike="noStrike">
              <a:solidFill>
                <a:srgbClr val="ffffff"/>
              </a:solidFill>
              <a:latin typeface="Arial"/>
            </a:endParaRPr>
          </a:p>
        </p:txBody>
      </p:sp>
      <p:sp>
        <p:nvSpPr>
          <p:cNvPr id="120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0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0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20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Returning a dangling reference</a:t>
            </a:r>
            <a:endParaRPr b="0" lang="en-US" sz="2800" spc="-1" strike="noStrike">
              <a:solidFill>
                <a:srgbClr val="ffffff"/>
              </a:solidFill>
              <a:latin typeface="Arial"/>
            </a:endParaRPr>
          </a:p>
        </p:txBody>
      </p:sp>
      <p:sp>
        <p:nvSpPr>
          <p:cNvPr id="120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0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1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1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const std::string&amp; first_word(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const std::string&amp; s)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 std::string w = s.substr(0,1);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w; // works, but fragile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21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Returning a reference to something with a shorter lifetime than the caller expects compiles cleanly and fails at runtime, unpredictably.</a:t>
            </a:r>
            <a:endParaRPr b="0" lang="en-US" sz="1100" spc="-1" strike="noStrike">
              <a:solidFill>
                <a:srgbClr val="ffffff"/>
              </a:solidFill>
              <a:latin typeface="Arial"/>
            </a:endParaRPr>
          </a:p>
        </p:txBody>
      </p:sp>
      <p:sp>
        <p:nvSpPr>
          <p:cNvPr id="121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1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1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1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1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first_word(s: &amp;str) -&gt; &amp;str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&amp;s[0..1]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return type borrows from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input — elided lifetime</a:t>
            </a:r>
            <a:endParaRPr b="0" lang="en-US" sz="1200" spc="-1" strike="noStrike">
              <a:solidFill>
                <a:srgbClr val="ffffff"/>
              </a:solidFill>
              <a:latin typeface="Arial"/>
            </a:endParaRPr>
          </a:p>
        </p:txBody>
      </p:sp>
      <p:sp>
        <p:nvSpPr>
          <p:cNvPr id="121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elided lifetime says: the returned reference lives exactly as long as the input reference. Any violation is a compile error.</a:t>
            </a:r>
            <a:endParaRPr b="0" lang="en-US" sz="1100" spc="-1" strike="noStrike">
              <a:solidFill>
                <a:srgbClr val="ffffff"/>
              </a:solidFill>
              <a:latin typeface="Arial"/>
            </a:endParaRPr>
          </a:p>
        </p:txBody>
      </p:sp>
      <p:sp>
        <p:nvSpPr>
          <p:cNvPr id="121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Lifetimes turn "how long is this reference valid?" from a question you answer by reading documentation into one the compiler answers for you.</a:t>
            </a:r>
            <a:endParaRPr b="0" lang="en-US" sz="1150" spc="-1" strike="noStrike">
              <a:solidFill>
                <a:srgbClr val="ffffff"/>
              </a:solidFill>
              <a:latin typeface="Arial"/>
            </a:endParaRPr>
          </a:p>
        </p:txBody>
      </p:sp>
      <p:sp>
        <p:nvSpPr>
          <p:cNvPr id="122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2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 &amp; LIFETIMES</a:t>
            </a:r>
            <a:endParaRPr b="0" lang="en-US" sz="1300" spc="-1" strike="noStrike">
              <a:solidFill>
                <a:srgbClr val="ffffff"/>
              </a:solidFill>
              <a:latin typeface="Arial"/>
            </a:endParaRPr>
          </a:p>
        </p:txBody>
      </p:sp>
      <p:sp>
        <p:nvSpPr>
          <p:cNvPr id="122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Lifetimes in structs that hold references</a:t>
            </a:r>
            <a:endParaRPr b="0" lang="en-US" sz="2800" spc="-1" strike="noStrike">
              <a:solidFill>
                <a:srgbClr val="ffffff"/>
              </a:solidFill>
              <a:latin typeface="Arial"/>
            </a:endParaRPr>
          </a:p>
        </p:txBody>
      </p:sp>
      <p:sp>
        <p:nvSpPr>
          <p:cNvPr id="1225"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6"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7"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struct that stores a reference must be annotated  </a:t>
            </a:r>
            <a:r>
              <a:rPr b="0" lang="en-US" sz="1200" spc="-1" strike="noStrike">
                <a:solidFill>
                  <a:srgbClr val="9aa4b8"/>
                </a:solidFill>
                <a:latin typeface="Arial"/>
                <a:ea typeface="Arial"/>
              </a:rPr>
              <a:t>with a lifetime parameter, e.g. struct Parser&lt;'a&gt; { input: &amp;'a str }.</a:t>
            </a:r>
            <a:endParaRPr b="0" lang="en-US" sz="1200" spc="-1" strike="noStrike">
              <a:solidFill>
                <a:srgbClr val="ffffff"/>
              </a:solidFill>
              <a:latin typeface="Arial"/>
            </a:endParaRPr>
          </a:p>
        </p:txBody>
      </p:sp>
      <p:sp>
        <p:nvSpPr>
          <p:cNvPr id="1228"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29"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0"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makes explicit what C++ leaves implicit:  </a:t>
            </a:r>
            <a:r>
              <a:rPr b="0" lang="en-US" sz="1200" spc="-1" strike="noStrike">
                <a:solidFill>
                  <a:srgbClr val="9aa4b8"/>
                </a:solidFill>
                <a:latin typeface="Arial"/>
                <a:ea typeface="Arial"/>
              </a:rPr>
              <a:t>the struct cannot outlive the data it refers to.</a:t>
            </a:r>
            <a:endParaRPr b="0" lang="en-US" sz="1200" spc="-1" strike="noStrike">
              <a:solidFill>
                <a:srgbClr val="ffffff"/>
              </a:solidFill>
              <a:latin typeface="Arial"/>
            </a:endParaRPr>
          </a:p>
        </p:txBody>
      </p:sp>
      <p:sp>
        <p:nvSpPr>
          <p:cNvPr id="1231"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2"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3"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In practice, many structs simply own their data instead  </a:t>
            </a:r>
            <a:r>
              <a:rPr b="0" lang="en-US" sz="1200" spc="-1" strike="noStrike">
                <a:solidFill>
                  <a:srgbClr val="9aa4b8"/>
                </a:solidFill>
                <a:latin typeface="Arial"/>
                <a:ea typeface="Arial"/>
              </a:rPr>
              <a:t>(String rather than &amp;str) to sidestep lifetime parameters entirely — a common, idiomatic choice.</a:t>
            </a:r>
            <a:endParaRPr b="0" lang="en-US" sz="1200" spc="-1" strike="noStrike">
              <a:solidFill>
                <a:srgbClr val="ffffff"/>
              </a:solidFill>
              <a:latin typeface="Arial"/>
            </a:endParaRPr>
          </a:p>
        </p:txBody>
      </p:sp>
      <p:sp>
        <p:nvSpPr>
          <p:cNvPr id="1234"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35"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BORROWING</a:t>
            </a:r>
            <a:endParaRPr b="0" lang="en-US" sz="1300" spc="-1" strike="noStrike">
              <a:solidFill>
                <a:srgbClr val="ffffff"/>
              </a:solidFill>
              <a:latin typeface="Arial"/>
            </a:endParaRPr>
          </a:p>
        </p:txBody>
      </p:sp>
      <p:sp>
        <p:nvSpPr>
          <p:cNvPr id="123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struct holding a reference</a:t>
            </a:r>
            <a:endParaRPr b="0" lang="en-US" sz="2800" spc="-1" strike="noStrike">
              <a:solidFill>
                <a:srgbClr val="ffffff"/>
              </a:solidFill>
              <a:latin typeface="Arial"/>
            </a:endParaRPr>
          </a:p>
        </p:txBody>
      </p:sp>
      <p:sp>
        <p:nvSpPr>
          <p:cNvPr id="123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4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4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Parser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const std::string&amp; input;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nothing stops 'input' from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outliving the referenced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string — silent dangling ref</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24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reference member is a ticking clock: if the referenced object is destroyed first, every use of the struct is undefined behavior.</a:t>
            </a:r>
            <a:endParaRPr b="0" lang="en-US" sz="1100" spc="-1" strike="noStrike">
              <a:solidFill>
                <a:srgbClr val="ffffff"/>
              </a:solidFill>
              <a:latin typeface="Arial"/>
            </a:endParaRPr>
          </a:p>
        </p:txBody>
      </p:sp>
      <p:sp>
        <p:nvSpPr>
          <p:cNvPr id="124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4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4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4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Parser&lt;'a&gt;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input: &amp;'a str,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 compiler refuses to compile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any Parser that could outlive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its 'input'</a:t>
            </a:r>
            <a:endParaRPr b="0" lang="en-US" sz="1200" spc="-1" strike="noStrike">
              <a:solidFill>
                <a:srgbClr val="ffffff"/>
              </a:solidFill>
              <a:latin typeface="Arial"/>
            </a:endParaRPr>
          </a:p>
        </p:txBody>
      </p:sp>
      <p:sp>
        <p:nvSpPr>
          <p:cNvPr id="124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lifetime parameter 'a ties the struct's validity to the referenced string's validity, and the compiler enforces the relationship everywhere.</a:t>
            </a:r>
            <a:endParaRPr b="0" lang="en-US" sz="1100" spc="-1" strike="noStrike">
              <a:solidFill>
                <a:srgbClr val="ffffff"/>
              </a:solidFill>
              <a:latin typeface="Arial"/>
            </a:endParaRPr>
          </a:p>
        </p:txBody>
      </p:sp>
      <p:sp>
        <p:nvSpPr>
          <p:cNvPr id="125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5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exact hazard C++ leaves to programmer memory — "does this struct outlive its reference?" — becomes machine-checked.</a:t>
            </a:r>
            <a:endParaRPr b="0" lang="en-US" sz="1150" spc="-1" strike="noStrike">
              <a:solidFill>
                <a:srgbClr val="ffffff"/>
              </a:solidFill>
              <a:latin typeface="Arial"/>
            </a:endParaRPr>
          </a:p>
        </p:txBody>
      </p:sp>
      <p:sp>
        <p:nvSpPr>
          <p:cNvPr id="125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5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BORROWING &amp; LIFETIMES</a:t>
            </a:r>
            <a:endParaRPr b="0" lang="en-US" sz="1300" spc="-1" strike="noStrike">
              <a:solidFill>
                <a:srgbClr val="ffffff"/>
              </a:solidFill>
              <a:latin typeface="Arial"/>
            </a:endParaRPr>
          </a:p>
        </p:txBody>
      </p:sp>
      <p:sp>
        <p:nvSpPr>
          <p:cNvPr id="1255"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The borrow checker is a pair programmer, not a nanny.</a:t>
            </a:r>
            <a:endParaRPr b="0" lang="en-US" sz="3200" spc="-1" strike="noStrike">
              <a:solidFill>
                <a:srgbClr val="ffffff"/>
              </a:solidFill>
              <a:latin typeface="Arial"/>
            </a:endParaRPr>
          </a:p>
        </p:txBody>
      </p:sp>
      <p:sp>
        <p:nvSpPr>
          <p:cNvPr id="1256"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Every rejection it gives you is a real bug it just found — usually one that would otherwise surface as a segfault, a data race, or a heisenbug three months from now, in production, at 2 a.m. The friction is real; it's also front-loaded.</a:t>
            </a:r>
            <a:endParaRPr b="0" lang="en-US" sz="1400" spc="-1" strike="noStrike">
              <a:solidFill>
                <a:srgbClr val="ffffff"/>
              </a:solidFill>
              <a:latin typeface="Arial"/>
            </a:endParaRPr>
          </a:p>
        </p:txBody>
      </p:sp>
      <p:sp>
        <p:nvSpPr>
          <p:cNvPr id="1257"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58"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59"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0"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08</a:t>
            </a:r>
            <a:endParaRPr b="0" lang="en-US" sz="3400" spc="-1" strike="noStrike">
              <a:solidFill>
                <a:srgbClr val="ffffff"/>
              </a:solidFill>
              <a:latin typeface="Arial"/>
            </a:endParaRPr>
          </a:p>
        </p:txBody>
      </p:sp>
      <p:sp>
        <p:nvSpPr>
          <p:cNvPr id="1261"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Type System: Enums, Option, Result, Match</a:t>
            </a:r>
            <a:endParaRPr b="0" lang="en-US" sz="2800" spc="-1" strike="noStrike">
              <a:solidFill>
                <a:srgbClr val="ffffff"/>
              </a:solidFill>
              <a:latin typeface="Arial"/>
            </a:endParaRPr>
          </a:p>
        </p:txBody>
      </p:sp>
      <p:sp>
        <p:nvSpPr>
          <p:cNvPr id="1262"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Sum types done properly, and what they buy you</a:t>
            </a:r>
            <a:endParaRPr b="0" lang="en-US" sz="1350" spc="-1" strike="noStrike">
              <a:solidFill>
                <a:srgbClr val="ffffff"/>
              </a:solidFill>
              <a:latin typeface="Arial"/>
            </a:endParaRPr>
          </a:p>
        </p:txBody>
      </p:sp>
      <p:sp>
        <p:nvSpPr>
          <p:cNvPr id="1263"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64"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6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26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Null pointers vs. Option&lt;T&gt;</a:t>
            </a:r>
            <a:endParaRPr b="0" lang="en-US" sz="2800" spc="-1" strike="noStrike">
              <a:solidFill>
                <a:srgbClr val="ffffff"/>
              </a:solidFill>
              <a:latin typeface="Arial"/>
            </a:endParaRPr>
          </a:p>
        </p:txBody>
      </p:sp>
      <p:sp>
        <p:nvSpPr>
          <p:cNvPr id="126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6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7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7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Widget* find(int 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Widget* w = find(42);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w-&gt;doThing(); // crashes if</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find() returned null</a:t>
            </a:r>
            <a:endParaRPr b="0" lang="en-US" sz="1200" spc="-1" strike="noStrike">
              <a:solidFill>
                <a:srgbClr val="ffffff"/>
              </a:solidFill>
              <a:latin typeface="Arial"/>
            </a:endParaRPr>
          </a:p>
        </p:txBody>
      </p:sp>
      <p:sp>
        <p:nvSpPr>
          <p:cNvPr id="127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Nothing in the type Widget* distinguishes "definitely a widget" from "maybe null." The type system can't help you remember to check.</a:t>
            </a:r>
            <a:endParaRPr b="0" lang="en-US" sz="1100" spc="-1" strike="noStrike">
              <a:solidFill>
                <a:srgbClr val="ffffff"/>
              </a:solidFill>
              <a:latin typeface="Arial"/>
            </a:endParaRPr>
          </a:p>
        </p:txBody>
      </p:sp>
      <p:sp>
        <p:nvSpPr>
          <p:cNvPr id="127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7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7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7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find(id: i32) -&gt; Option&lt;Widget&gt;;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match find(42)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Some(w) =&gt; w.do_thing(),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None =&gt; handle_missing(),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27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Option&lt;Widget&gt; makes absence part of the type. You cannot call a method on the inner value without first handling the None case.</a:t>
            </a:r>
            <a:endParaRPr b="0" lang="en-US" sz="1100" spc="-1" strike="noStrike">
              <a:solidFill>
                <a:srgbClr val="ffffff"/>
              </a:solidFill>
              <a:latin typeface="Arial"/>
            </a:endParaRPr>
          </a:p>
        </p:txBody>
      </p:sp>
      <p:sp>
        <p:nvSpPr>
          <p:cNvPr id="127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Option&lt;T&gt; doing the same job std::optional does — but match forces you to handle both cases, where optional's operator* doesn't.</a:t>
            </a:r>
            <a:endParaRPr b="0" lang="en-US" sz="1150" spc="-1" strike="noStrike">
              <a:solidFill>
                <a:srgbClr val="ffffff"/>
              </a:solidFill>
              <a:latin typeface="Arial"/>
            </a:endParaRPr>
          </a:p>
        </p:txBody>
      </p:sp>
      <p:sp>
        <p:nvSpPr>
          <p:cNvPr id="128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28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28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28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std::optional vs. Option, in practice</a:t>
            </a:r>
            <a:endParaRPr b="0" lang="en-US" sz="2800" spc="-1" strike="noStrike">
              <a:solidFill>
                <a:srgbClr val="ffffff"/>
              </a:solidFill>
              <a:latin typeface="Arial"/>
            </a:endParaRPr>
          </a:p>
        </p:txBody>
      </p:sp>
      <p:sp>
        <p:nvSpPr>
          <p:cNvPr id="128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28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28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std::optional&lt;int&gt; o = maybe();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*o; // UB if empty!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if (o.has_value())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checking is opt-in, not enforced</a:t>
            </a:r>
            <a:endParaRPr b="0" lang="en-US" sz="1200" spc="-1" strike="noStrike">
              <a:solidFill>
                <a:srgbClr val="ffffff"/>
              </a:solidFill>
              <a:latin typeface="Arial"/>
            </a:endParaRPr>
          </a:p>
        </p:txBody>
      </p:sp>
      <p:sp>
        <p:nvSpPr>
          <p:cNvPr id="129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std::optional gives you the tool, but dereferencing an empty optional is undefined behavior — the check is your responsibility to remember.</a:t>
            </a:r>
            <a:endParaRPr b="0" lang="en-US" sz="1100" spc="-1" strike="noStrike">
              <a:solidFill>
                <a:srgbClr val="ffffff"/>
              </a:solidFill>
              <a:latin typeface="Arial"/>
            </a:endParaRPr>
          </a:p>
        </p:txBody>
      </p:sp>
      <p:sp>
        <p:nvSpPr>
          <p:cNvPr id="129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29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29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o: Option&lt;i32&gt; = maybe();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o.unwrap(); // panics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loudly if None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if let Some(x) = o { ... }</a:t>
            </a:r>
            <a:endParaRPr b="0" lang="en-US" sz="1200" spc="-1" strike="noStrike">
              <a:solidFill>
                <a:srgbClr val="ffffff"/>
              </a:solidFill>
              <a:latin typeface="Arial"/>
            </a:endParaRPr>
          </a:p>
        </p:txBody>
      </p:sp>
      <p:sp>
        <p:nvSpPr>
          <p:cNvPr id="129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There's no way to get the inner value without going through a method that either panics explicitly or forces you to branch on Some/None.</a:t>
            </a:r>
            <a:endParaRPr b="0" lang="en-US" sz="1100" spc="-1" strike="noStrike">
              <a:solidFill>
                <a:srgbClr val="ffffff"/>
              </a:solidFill>
              <a:latin typeface="Arial"/>
            </a:endParaRPr>
          </a:p>
        </p:txBody>
      </p:sp>
      <p:sp>
        <p:nvSpPr>
          <p:cNvPr id="129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Both languages have the concept; Rust's version makes skipping the check either impossible or, if you choose unwrap(), loud and visible.</a:t>
            </a:r>
            <a:endParaRPr b="0" lang="en-US" sz="1150" spc="-1" strike="noStrike">
              <a:solidFill>
                <a:srgbClr val="ffffff"/>
              </a:solidFill>
              <a:latin typeface="Arial"/>
            </a:endParaRPr>
          </a:p>
        </p:txBody>
      </p:sp>
      <p:sp>
        <p:nvSpPr>
          <p:cNvPr id="129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0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0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30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Exceptions vs. Result&lt;T, E&gt;</a:t>
            </a:r>
            <a:endParaRPr b="0" lang="en-US" sz="2800" spc="-1" strike="noStrike">
              <a:solidFill>
                <a:srgbClr val="ffffff"/>
              </a:solidFill>
              <a:latin typeface="Arial"/>
            </a:endParaRPr>
          </a:p>
        </p:txBody>
      </p:sp>
      <p:sp>
        <p:nvSpPr>
          <p:cNvPr id="130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0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0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0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0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parse(std::string s)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(invalid(s)) throw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std::invalid_argument("bad");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std::stoi(s);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caller may not know it can throw</a:t>
            </a:r>
            <a:endParaRPr b="0" lang="en-US" sz="1200" spc="-1" strike="noStrike">
              <a:solidFill>
                <a:srgbClr val="ffffff"/>
              </a:solidFill>
              <a:latin typeface="Arial"/>
            </a:endParaRPr>
          </a:p>
        </p:txBody>
      </p:sp>
      <p:sp>
        <p:nvSpPr>
          <p:cNvPr id="130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function's signature doesn't say what it can throw. Finding out requires reading the implementation, or every callee's implementation.</a:t>
            </a:r>
            <a:endParaRPr b="0" lang="en-US" sz="1100" spc="-1" strike="noStrike">
              <a:solidFill>
                <a:srgbClr val="ffffff"/>
              </a:solidFill>
              <a:latin typeface="Arial"/>
            </a:endParaRPr>
          </a:p>
        </p:txBody>
      </p:sp>
      <p:sp>
        <p:nvSpPr>
          <p:cNvPr id="130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1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1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1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1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parse(s: &amp;str) -&gt; Result&lt;i32, Error&gt;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invalid(s)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return Err(Error::Invalid);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Ok(s.parse()?)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1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return type documents every way the function can fail. A caller sees Result&lt;i32, Error&gt; and knows exactly what to handle.</a:t>
            </a:r>
            <a:endParaRPr b="0" lang="en-US" sz="1100" spc="-1" strike="noStrike">
              <a:solidFill>
                <a:srgbClr val="ffffff"/>
              </a:solidFill>
              <a:latin typeface="Arial"/>
            </a:endParaRPr>
          </a:p>
        </p:txBody>
      </p:sp>
      <p:sp>
        <p:nvSpPr>
          <p:cNvPr id="131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1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Errors become data in the type signature instead of invisible control-flow paths that propagate silently through the call stack.</a:t>
            </a:r>
            <a:endParaRPr b="0" lang="en-US" sz="1150" spc="-1" strike="noStrike">
              <a:solidFill>
                <a:srgbClr val="ffffff"/>
              </a:solidFill>
              <a:latin typeface="Arial"/>
            </a:endParaRPr>
          </a:p>
        </p:txBody>
      </p:sp>
      <p:sp>
        <p:nvSpPr>
          <p:cNvPr id="131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1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1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32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std::variant + std::visit vs. enum + match</a:t>
            </a:r>
            <a:endParaRPr b="0" lang="en-US" sz="2800" spc="-1" strike="noStrike">
              <a:solidFill>
                <a:srgbClr val="ffffff"/>
              </a:solidFill>
              <a:latin typeface="Arial"/>
            </a:endParaRPr>
          </a:p>
        </p:txBody>
      </p:sp>
      <p:sp>
        <p:nvSpPr>
          <p:cNvPr id="132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2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2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std::variant&lt;int, std::string&gt; v;</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std::visit([](auto&amp;&amp; x)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must handle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alternative, or it won't compile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v);</a:t>
            </a:r>
            <a:endParaRPr b="0" lang="en-US" sz="1200" spc="-1" strike="noStrike">
              <a:solidFill>
                <a:srgbClr val="ffffff"/>
              </a:solidFill>
              <a:latin typeface="Arial"/>
            </a:endParaRPr>
          </a:p>
        </p:txBody>
      </p:sp>
      <p:sp>
        <p:nvSpPr>
          <p:cNvPr id="132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std::visit does enforce exhaustiveness for the visitor — C++17 got quite close to Rust here, though the syntax is heavier.</a:t>
            </a:r>
            <a:endParaRPr b="0" lang="en-US" sz="1100" spc="-1" strike="noStrike">
              <a:solidFill>
                <a:srgbClr val="ffffff"/>
              </a:solidFill>
              <a:latin typeface="Arial"/>
            </a:endParaRPr>
          </a:p>
        </p:txBody>
      </p:sp>
      <p:sp>
        <p:nvSpPr>
          <p:cNvPr id="132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2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3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3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Value { Int(i32), Text(String)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match v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Value::Int(n) =&gt;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Value::Text(s) =&gt;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compiler enforces exhaustiveness</a:t>
            </a:r>
            <a:endParaRPr b="0" lang="en-US" sz="1200" spc="-1" strike="noStrike">
              <a:solidFill>
                <a:srgbClr val="ffffff"/>
              </a:solidFill>
              <a:latin typeface="Arial"/>
            </a:endParaRPr>
          </a:p>
        </p:txBody>
      </p:sp>
      <p:sp>
        <p:nvSpPr>
          <p:cNvPr id="133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match on an enum requires every variant to be handled (or an explicit wildcard), with concise, native syntax for both declaring and matching.</a:t>
            </a:r>
            <a:endParaRPr b="0" lang="en-US" sz="1100" spc="-1" strike="noStrike">
              <a:solidFill>
                <a:srgbClr val="ffffff"/>
              </a:solidFill>
              <a:latin typeface="Arial"/>
            </a:endParaRPr>
          </a:p>
        </p:txBody>
      </p:sp>
      <p:sp>
        <p:nvSpPr>
          <p:cNvPr id="133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3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underlying guarantee — exhaustiveness — genuinely exists in modern C++ too. Rust's version is native syntax rather than a library idiom.</a:t>
            </a:r>
            <a:endParaRPr b="0" lang="en-US" sz="1150" spc="-1" strike="noStrike">
              <a:solidFill>
                <a:srgbClr val="ffffff"/>
              </a:solidFill>
              <a:latin typeface="Arial"/>
            </a:endParaRPr>
          </a:p>
        </p:txBody>
      </p:sp>
      <p:sp>
        <p:nvSpPr>
          <p:cNvPr id="133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3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 ENUMS, OPTION, RESULT, MATCH</a:t>
            </a:r>
            <a:endParaRPr b="0" lang="en-US" sz="1300" spc="-1" strike="noStrike">
              <a:solidFill>
                <a:srgbClr val="ffffff"/>
              </a:solidFill>
              <a:latin typeface="Arial"/>
            </a:endParaRPr>
          </a:p>
        </p:txBody>
      </p:sp>
      <p:sp>
        <p:nvSpPr>
          <p:cNvPr id="133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Exhaustiveness checking, generally</a:t>
            </a:r>
            <a:endParaRPr b="0" lang="en-US" sz="2800" spc="-1" strike="noStrike">
              <a:solidFill>
                <a:srgbClr val="ffffff"/>
              </a:solidFill>
              <a:latin typeface="Arial"/>
            </a:endParaRPr>
          </a:p>
        </p:txBody>
      </p:sp>
      <p:sp>
        <p:nvSpPr>
          <p:cNvPr id="1339"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0"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1"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match on an enum must cover every variant,  </a:t>
            </a:r>
            <a:r>
              <a:rPr b="0" lang="en-US" sz="1200" spc="-1" strike="noStrike">
                <a:solidFill>
                  <a:srgbClr val="9aa4b8"/>
                </a:solidFill>
                <a:latin typeface="Arial"/>
                <a:ea typeface="Arial"/>
              </a:rPr>
              <a:t>or the compiler refuses to build.</a:t>
            </a:r>
            <a:endParaRPr b="0" lang="en-US" sz="1200" spc="-1" strike="noStrike">
              <a:solidFill>
                <a:srgbClr val="ffffff"/>
              </a:solidFill>
              <a:latin typeface="Arial"/>
            </a:endParaRPr>
          </a:p>
        </p:txBody>
      </p:sp>
      <p:sp>
        <p:nvSpPr>
          <p:cNvPr id="1342"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3"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4"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Add a new variant later, and every match expression that needs updating  </a:t>
            </a:r>
            <a:r>
              <a:rPr b="0" lang="en-US" sz="1200" spc="-1" strike="noStrike">
                <a:solidFill>
                  <a:srgbClr val="9aa4b8"/>
                </a:solidFill>
                <a:latin typeface="Arial"/>
                <a:ea typeface="Arial"/>
              </a:rPr>
              <a:t>becomes a compile error at exactly the right call sites — nothing is silently skipped.</a:t>
            </a:r>
            <a:endParaRPr b="0" lang="en-US" sz="1200" spc="-1" strike="noStrike">
              <a:solidFill>
                <a:srgbClr val="ffffff"/>
              </a:solidFill>
              <a:latin typeface="Arial"/>
            </a:endParaRPr>
          </a:p>
        </p:txBody>
      </p:sp>
      <p:sp>
        <p:nvSpPr>
          <p:cNvPr id="1345"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6"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47"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turns "did I update every switch statement?"  </a:t>
            </a:r>
            <a:r>
              <a:rPr b="0" lang="en-US" sz="1200" spc="-1" strike="noStrike">
                <a:solidFill>
                  <a:srgbClr val="9aa4b8"/>
                </a:solidFill>
                <a:latin typeface="Arial"/>
                <a:ea typeface="Arial"/>
              </a:rPr>
              <a:t>from a manual audit into an automated one.</a:t>
            </a:r>
            <a:endParaRPr b="0" lang="en-US" sz="1200" spc="-1" strike="noStrike">
              <a:solidFill>
                <a:srgbClr val="ffffff"/>
              </a:solidFill>
              <a:latin typeface="Arial"/>
            </a:endParaRPr>
          </a:p>
        </p:txBody>
      </p:sp>
      <p:sp>
        <p:nvSpPr>
          <p:cNvPr id="1348"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49"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5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1351"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switch fallthrough vs. match</a:t>
            </a:r>
            <a:endParaRPr b="0" lang="en-US" sz="2800" spc="-1" strike="noStrike">
              <a:solidFill>
                <a:srgbClr val="ffffff"/>
              </a:solidFill>
              <a:latin typeface="Arial"/>
            </a:endParaRPr>
          </a:p>
        </p:txBody>
      </p:sp>
      <p:sp>
        <p:nvSpPr>
          <p:cNvPr id="1352"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3"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4"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55"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56"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switch (state)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case A: doA();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case B: doB(); break;</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missing break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silent fallthrough into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57"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Forgetting a break causes silent fallthrough into the next case — a decades-old, still-common source of subtle bugs.</a:t>
            </a:r>
            <a:endParaRPr b="0" lang="en-US" sz="1100" spc="-1" strike="noStrike">
              <a:solidFill>
                <a:srgbClr val="ffffff"/>
              </a:solidFill>
              <a:latin typeface="Arial"/>
            </a:endParaRPr>
          </a:p>
        </p:txBody>
      </p:sp>
      <p:sp>
        <p:nvSpPr>
          <p:cNvPr id="1358"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59"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60"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61"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62"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match state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State::A =&gt; do_a(),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State::B =&gt; do_b(),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 fallthrough exists;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each arm is independent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63"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There is no fallthrough behavior in match at all — each arm runs its own code and nothing else, with no keyword needed to stop it.</a:t>
            </a:r>
            <a:endParaRPr b="0" lang="en-US" sz="1100" spc="-1" strike="noStrike">
              <a:solidFill>
                <a:srgbClr val="ffffff"/>
              </a:solidFill>
              <a:latin typeface="Arial"/>
            </a:endParaRPr>
          </a:p>
        </p:txBody>
      </p:sp>
      <p:sp>
        <p:nvSpPr>
          <p:cNvPr id="1364"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65"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An entire, well-known bug class (the missing break) is structurally impossible because the feature that causes it doesn't exist.</a:t>
            </a:r>
            <a:endParaRPr b="0" lang="en-US" sz="1150" spc="-1" strike="noStrike">
              <a:solidFill>
                <a:srgbClr val="ffffff"/>
              </a:solidFill>
              <a:latin typeface="Arial"/>
            </a:endParaRPr>
          </a:p>
        </p:txBody>
      </p:sp>
      <p:sp>
        <p:nvSpPr>
          <p:cNvPr id="1366"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67"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TYPE SYSTEM: ENUMS, OPTION, RESULT, MATCH</a:t>
            </a:r>
            <a:endParaRPr b="0" lang="en-US" sz="1300" spc="-1" strike="noStrike">
              <a:solidFill>
                <a:srgbClr val="ffffff"/>
              </a:solidFill>
              <a:latin typeface="Arial"/>
            </a:endParaRPr>
          </a:p>
        </p:txBody>
      </p:sp>
      <p:sp>
        <p:nvSpPr>
          <p:cNvPr id="136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Pattern matching goes further than switch</a:t>
            </a:r>
            <a:endParaRPr b="0" lang="en-US" sz="2800" spc="-1" strike="noStrike">
              <a:solidFill>
                <a:srgbClr val="ffffff"/>
              </a:solidFill>
              <a:latin typeface="Arial"/>
            </a:endParaRPr>
          </a:p>
        </p:txBody>
      </p:sp>
      <p:sp>
        <p:nvSpPr>
          <p:cNvPr id="137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Destructuring:  </a:t>
            </a:r>
            <a:r>
              <a:rPr b="0" lang="en-US" sz="1200" spc="-1" strike="noStrike">
                <a:solidFill>
                  <a:srgbClr val="9aa4b8"/>
                </a:solidFill>
                <a:latin typeface="Arial"/>
                <a:ea typeface="Arial"/>
              </a:rPr>
              <a:t>match Point { x, y } directly pulls fields out of a struct or enum variant.</a:t>
            </a:r>
            <a:endParaRPr b="0" lang="en-US" sz="1200" spc="-1" strike="noStrike">
              <a:solidFill>
                <a:srgbClr val="ffffff"/>
              </a:solidFill>
              <a:latin typeface="Arial"/>
            </a:endParaRPr>
          </a:p>
        </p:txBody>
      </p:sp>
      <p:sp>
        <p:nvSpPr>
          <p:cNvPr id="137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Guards:  </a:t>
            </a:r>
            <a:r>
              <a:rPr b="0" lang="en-US" sz="1200" spc="-1" strike="noStrike">
                <a:solidFill>
                  <a:srgbClr val="9aa4b8"/>
                </a:solidFill>
                <a:latin typeface="Arial"/>
                <a:ea typeface="Arial"/>
              </a:rPr>
              <a:t>match n { x if x &gt; 0 =&gt; ..., _ =&gt; ... } adds arbitrary boolean conditions to an arm.</a:t>
            </a:r>
            <a:endParaRPr b="0" lang="en-US" sz="1200" spc="-1" strike="noStrike">
              <a:solidFill>
                <a:srgbClr val="ffffff"/>
              </a:solidFill>
              <a:latin typeface="Arial"/>
            </a:endParaRPr>
          </a:p>
        </p:txBody>
      </p:sp>
      <p:sp>
        <p:nvSpPr>
          <p:cNvPr id="137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Bindings with @:  </a:t>
            </a:r>
            <a:r>
              <a:rPr b="0" lang="en-US" sz="1200" spc="-1" strike="noStrike">
                <a:solidFill>
                  <a:srgbClr val="9aa4b8"/>
                </a:solidFill>
                <a:latin typeface="Arial"/>
                <a:ea typeface="Arial"/>
              </a:rPr>
              <a:t>match n { x @ 1..=5 =&gt; ... } captures a value while also checking a range.</a:t>
            </a:r>
            <a:endParaRPr b="0" lang="en-US" sz="1200" spc="-1" strike="noStrike">
              <a:solidFill>
                <a:srgbClr val="ffffff"/>
              </a:solidFill>
              <a:latin typeface="Arial"/>
            </a:endParaRPr>
          </a:p>
        </p:txBody>
      </p:sp>
      <p:sp>
        <p:nvSpPr>
          <p:cNvPr id="137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8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81"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82"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09</a:t>
            </a:r>
            <a:endParaRPr b="0" lang="en-US" sz="3400" spc="-1" strike="noStrike">
              <a:solidFill>
                <a:srgbClr val="ffffff"/>
              </a:solidFill>
              <a:latin typeface="Arial"/>
            </a:endParaRPr>
          </a:p>
        </p:txBody>
      </p:sp>
      <p:sp>
        <p:nvSpPr>
          <p:cNvPr id="1383"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Traits &amp; Generics</a:t>
            </a:r>
            <a:endParaRPr b="0" lang="en-US" sz="2800" spc="-1" strike="noStrike">
              <a:solidFill>
                <a:srgbClr val="ffffff"/>
              </a:solidFill>
              <a:latin typeface="Arial"/>
            </a:endParaRPr>
          </a:p>
        </p:txBody>
      </p:sp>
      <p:sp>
        <p:nvSpPr>
          <p:cNvPr id="1384"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Interfaces and templates, reconsidered from first principles</a:t>
            </a:r>
            <a:endParaRPr b="0" lang="en-US" sz="1350" spc="-1" strike="noStrike">
              <a:solidFill>
                <a:srgbClr val="ffffff"/>
              </a:solidFill>
              <a:latin typeface="Arial"/>
            </a:endParaRPr>
          </a:p>
        </p:txBody>
      </p:sp>
      <p:sp>
        <p:nvSpPr>
          <p:cNvPr id="1385"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386"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38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38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Abstract base classes vs. traits</a:t>
            </a:r>
            <a:endParaRPr b="0" lang="en-US" sz="2800" spc="-1" strike="noStrike">
              <a:solidFill>
                <a:srgbClr val="ffffff"/>
              </a:solidFill>
              <a:latin typeface="Arial"/>
            </a:endParaRPr>
          </a:p>
        </p:txBody>
      </p:sp>
      <p:sp>
        <p:nvSpPr>
          <p:cNvPr id="138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39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39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Shape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virtual double area() const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virtual ~Shape() = default;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39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Interfaces are expressed as classes with pure virtual functions. Every implementer must inherit from the base class.</a:t>
            </a:r>
            <a:endParaRPr b="0" lang="en-US" sz="1100" spc="-1" strike="noStrike">
              <a:solidFill>
                <a:srgbClr val="ffffff"/>
              </a:solidFill>
              <a:latin typeface="Arial"/>
            </a:endParaRPr>
          </a:p>
        </p:txBody>
      </p:sp>
      <p:sp>
        <p:nvSpPr>
          <p:cNvPr id="139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9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39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39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trait Shape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area(&amp;self) -&gt; f64;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Shape for Circle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 inheritance relationship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needed — impl anywhere</a:t>
            </a:r>
            <a:endParaRPr b="0" lang="en-US" sz="1200" spc="-1" strike="noStrike">
              <a:solidFill>
                <a:srgbClr val="ffffff"/>
              </a:solidFill>
              <a:latin typeface="Arial"/>
            </a:endParaRPr>
          </a:p>
        </p:txBody>
      </p:sp>
      <p:sp>
        <p:nvSpPr>
          <p:cNvPr id="140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trait can be implemented for any type, including ones you don't own (subject to coherence rules) — no base-class relationship required.</a:t>
            </a:r>
            <a:endParaRPr b="0" lang="en-US" sz="1100" spc="-1" strike="noStrike">
              <a:solidFill>
                <a:srgbClr val="ffffff"/>
              </a:solidFill>
              <a:latin typeface="Arial"/>
            </a:endParaRPr>
          </a:p>
        </p:txBody>
      </p:sp>
      <p:sp>
        <p:nvSpPr>
          <p:cNvPr id="140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Traits decouple "what interface does this satisfy" from "what is this type's inheritance hierarchy" — you can add behavior after the fact.</a:t>
            </a:r>
            <a:endParaRPr b="0" lang="en-US" sz="1150" spc="-1" strike="noStrike">
              <a:solidFill>
                <a:srgbClr val="ffffff"/>
              </a:solidFill>
              <a:latin typeface="Arial"/>
            </a:endParaRPr>
          </a:p>
        </p:txBody>
      </p:sp>
      <p:sp>
        <p:nvSpPr>
          <p:cNvPr id="140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0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0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0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Templates + SFINAE vs. generics + trait bounds</a:t>
            </a:r>
            <a:endParaRPr b="0" lang="en-US" sz="2800" spc="-1" strike="noStrike">
              <a:solidFill>
                <a:srgbClr val="ffffff"/>
              </a:solidFill>
              <a:latin typeface="Arial"/>
            </a:endParaRPr>
          </a:p>
        </p:txBody>
      </p:sp>
      <p:sp>
        <p:nvSpPr>
          <p:cNvPr id="140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0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1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41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auto sum(T a, T b) -&gt;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decltype(a + b) { return a +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constraints are implicit,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errors surface at instantiation</a:t>
            </a:r>
            <a:endParaRPr b="0" lang="en-US" sz="1200" spc="-1" strike="noStrike">
              <a:solidFill>
                <a:srgbClr val="ffffff"/>
              </a:solidFill>
              <a:latin typeface="Arial"/>
            </a:endParaRPr>
          </a:p>
        </p:txBody>
      </p:sp>
      <p:sp>
        <p:nvSpPr>
          <p:cNvPr id="141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Before concepts, constraining a template relied on SFINAE tricks; error messages pointed at the instantiation site, often pages long.</a:t>
            </a:r>
            <a:endParaRPr b="0" lang="en-US" sz="1100" spc="-1" strike="noStrike">
              <a:solidFill>
                <a:srgbClr val="ffffff"/>
              </a:solidFill>
              <a:latin typeface="Arial"/>
            </a:endParaRPr>
          </a:p>
        </p:txBody>
      </p:sp>
      <p:sp>
        <p:nvSpPr>
          <p:cNvPr id="141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1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1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1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sum&lt;T: std::ops::Add&lt;Output = T&gt;&gt;(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 T, b: 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-&gt; 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 + b</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1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trait bound T: Add is checked at the definition site. The compiler verifies the function is valid for any T satisfying it, immediately.</a:t>
            </a:r>
            <a:endParaRPr b="0" lang="en-US" sz="1100" spc="-1" strike="noStrike">
              <a:solidFill>
                <a:srgbClr val="ffffff"/>
              </a:solidFill>
              <a:latin typeface="Arial"/>
            </a:endParaRPr>
          </a:p>
        </p:txBody>
      </p:sp>
      <p:sp>
        <p:nvSpPr>
          <p:cNvPr id="141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Generic functions are checked once, at their own definition, rather than re-verified (and re-erroring) at every call site.</a:t>
            </a:r>
            <a:endParaRPr b="0" lang="en-US" sz="1150" spc="-1" strike="noStrike">
              <a:solidFill>
                <a:srgbClr val="ffffff"/>
              </a:solidFill>
              <a:latin typeface="Arial"/>
            </a:endParaRPr>
          </a:p>
        </p:txBody>
      </p:sp>
      <p:sp>
        <p:nvSpPr>
          <p:cNvPr id="142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2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2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2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C++20 concepts vs. trait bounds — genuinely similar</a:t>
            </a:r>
            <a:endParaRPr b="0" lang="en-US" sz="2800" spc="-1" strike="noStrike">
              <a:solidFill>
                <a:srgbClr val="ffffff"/>
              </a:solidFill>
              <a:latin typeface="Arial"/>
            </a:endParaRPr>
          </a:p>
        </p:txBody>
      </p:sp>
      <p:sp>
        <p:nvSpPr>
          <p:cNvPr id="142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2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2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C++20</a:t>
            </a:r>
            <a:endParaRPr b="0" lang="en-US" sz="1300" spc="-1" strike="noStrike">
              <a:solidFill>
                <a:srgbClr val="ffffff"/>
              </a:solidFill>
              <a:latin typeface="Arial"/>
            </a:endParaRPr>
          </a:p>
        </p:txBody>
      </p:sp>
      <p:sp>
        <p:nvSpPr>
          <p:cNvPr id="142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concept Addable = requires(T a, T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 + b } -&gt; std::same_as&lt;T&gt;;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template&lt;Addable T&gt; T sum(T a, T b);</a:t>
            </a:r>
            <a:endParaRPr b="0" lang="en-US" sz="1200" spc="-1" strike="noStrike">
              <a:solidFill>
                <a:srgbClr val="ffffff"/>
              </a:solidFill>
              <a:latin typeface="Arial"/>
            </a:endParaRPr>
          </a:p>
        </p:txBody>
      </p:sp>
      <p:sp>
        <p:nvSpPr>
          <p:cNvPr id="143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C++20 concepts bring exactly this idea to C++: named, checked constraints with clear error messages at the definition site.</a:t>
            </a:r>
            <a:endParaRPr b="0" lang="en-US" sz="1100" spc="-1" strike="noStrike">
              <a:solidFill>
                <a:srgbClr val="ffffff"/>
              </a:solidFill>
              <a:latin typeface="Arial"/>
            </a:endParaRPr>
          </a:p>
        </p:txBody>
      </p:sp>
      <p:sp>
        <p:nvSpPr>
          <p:cNvPr id="143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3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3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sum&lt;T: Add&lt;Output = T&gt;&gt;(a: T, b: T) -&gt; 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 + b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same concept, arrived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independently, years earlier</a:t>
            </a:r>
            <a:endParaRPr b="0" lang="en-US" sz="1200" spc="-1" strike="noStrike">
              <a:solidFill>
                <a:srgbClr val="ffffff"/>
              </a:solidFill>
              <a:latin typeface="Arial"/>
            </a:endParaRPr>
          </a:p>
        </p:txBody>
      </p:sp>
      <p:sp>
        <p:nvSpPr>
          <p:cNvPr id="143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Rust's trait bounds predate concepts by years and were part of the design from the start, rather than a later addition to the language.</a:t>
            </a:r>
            <a:endParaRPr b="0" lang="en-US" sz="1100" spc="-1" strike="noStrike">
              <a:solidFill>
                <a:srgbClr val="ffffff"/>
              </a:solidFill>
              <a:latin typeface="Arial"/>
            </a:endParaRPr>
          </a:p>
        </p:txBody>
      </p:sp>
      <p:sp>
        <p:nvSpPr>
          <p:cNvPr id="143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one honest case where C++ has largely caught up. If your team already uses C++20 concepts well, this transition will feel natural.</a:t>
            </a:r>
            <a:endParaRPr b="0" lang="en-US" sz="1150" spc="-1" strike="noStrike">
              <a:solidFill>
                <a:srgbClr val="ffffff"/>
              </a:solidFill>
              <a:latin typeface="Arial"/>
            </a:endParaRPr>
          </a:p>
        </p:txBody>
      </p:sp>
      <p:sp>
        <p:nvSpPr>
          <p:cNvPr id="143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4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4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4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Template specialization vs. per-type impl blocks</a:t>
            </a:r>
            <a:endParaRPr b="0" lang="en-US" sz="2800" spc="-1" strike="noStrike">
              <a:solidFill>
                <a:srgbClr val="ffffff"/>
              </a:solidFill>
              <a:latin typeface="Arial"/>
            </a:endParaRPr>
          </a:p>
        </p:txBody>
      </p:sp>
      <p:sp>
        <p:nvSpPr>
          <p:cNvPr id="144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4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44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T&gt; struct Printer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 void go(T v) { std::cout&lt;&lt;v;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template&lt;&gt; struct Printer&lt;bool&gt;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 void go(bool v) { ... } // full spec.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4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Full specialization is standard; partial specialization is supported but limited and sometimes surprising in its resolution order.</a:t>
            </a:r>
            <a:endParaRPr b="0" lang="en-US" sz="1100" spc="-1" strike="noStrike">
              <a:solidFill>
                <a:srgbClr val="ffffff"/>
              </a:solidFill>
              <a:latin typeface="Arial"/>
            </a:endParaRPr>
          </a:p>
        </p:txBody>
      </p:sp>
      <p:sp>
        <p:nvSpPr>
          <p:cNvPr id="144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5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5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trait Print { fn go(&amp;self);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impl Print for bool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go(&amp;self)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one impl per (trait, type) pair,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 partial specialization</a:t>
            </a:r>
            <a:endParaRPr b="0" lang="en-US" sz="1200" spc="-1" strike="noStrike">
              <a:solidFill>
                <a:srgbClr val="ffffff"/>
              </a:solidFill>
              <a:latin typeface="Arial"/>
            </a:endParaRPr>
          </a:p>
        </p:txBody>
      </p:sp>
      <p:sp>
        <p:nvSpPr>
          <p:cNvPr id="145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You implement a trait once per concrete type. There's no specialization ordering to reason about — exactly one applicable impl exists.</a:t>
            </a:r>
            <a:endParaRPr b="0" lang="en-US" sz="1100" spc="-1" strike="noStrike">
              <a:solidFill>
                <a:srgbClr val="ffffff"/>
              </a:solidFill>
              <a:latin typeface="Arial"/>
            </a:endParaRPr>
          </a:p>
        </p:txBody>
      </p:sp>
      <p:sp>
        <p:nvSpPr>
          <p:cNvPr id="145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5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Trading specialization's flexibility for a simpler mental model: which impl runs is never ambiguous or order-dependent.</a:t>
            </a:r>
            <a:endParaRPr b="0" lang="en-US" sz="1150" spc="-1" strike="noStrike">
              <a:solidFill>
                <a:srgbClr val="ffffff"/>
              </a:solidFill>
              <a:latin typeface="Arial"/>
            </a:endParaRPr>
          </a:p>
        </p:txBody>
      </p:sp>
      <p:sp>
        <p:nvSpPr>
          <p:cNvPr id="145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5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5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6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Trait objects: dynamic dispatch, explicitly</a:t>
            </a:r>
            <a:endParaRPr b="0" lang="en-US" sz="2800" spc="-1" strike="noStrike">
              <a:solidFill>
                <a:srgbClr val="ffffff"/>
              </a:solidFill>
              <a:latin typeface="Arial"/>
            </a:endParaRPr>
          </a:p>
        </p:txBody>
      </p:sp>
      <p:sp>
        <p:nvSpPr>
          <p:cNvPr id="146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dyn Trait behind a reference or Box (e.g. Box&lt;dyn Shape&gt;)  </a:t>
            </a:r>
            <a:r>
              <a:rPr b="0" lang="en-US" sz="1200" spc="-1" strike="noStrike">
                <a:solidFill>
                  <a:srgbClr val="9aa4b8"/>
                </a:solidFill>
                <a:latin typeface="Arial"/>
                <a:ea typeface="Arial"/>
              </a:rPr>
              <a:t>gives you a vtable-based dynamic dispatch, just like a C++ virtual call.</a:t>
            </a:r>
            <a:endParaRPr b="0" lang="en-US" sz="1200" spc="-1" strike="noStrike">
              <a:solidFill>
                <a:srgbClr val="ffffff"/>
              </a:solidFill>
              <a:latin typeface="Arial"/>
            </a:endParaRPr>
          </a:p>
        </p:txBody>
      </p:sp>
      <p:sp>
        <p:nvSpPr>
          <p:cNvPr id="146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distinction between static dispatch (generics, monomorphized, zero-cost)  </a:t>
            </a:r>
            <a:r>
              <a:rPr b="0" lang="en-US" sz="1200" spc="-1" strike="noStrike">
                <a:solidFill>
                  <a:srgbClr val="9aa4b8"/>
                </a:solidFill>
                <a:latin typeface="Arial"/>
                <a:ea typeface="Arial"/>
              </a:rPr>
              <a:t>and dynamic dispatch (dyn, one vtable indirection) is explicit in the type.</a:t>
            </a:r>
            <a:endParaRPr b="0" lang="en-US" sz="1200" spc="-1" strike="noStrike">
              <a:solidFill>
                <a:srgbClr val="ffffff"/>
              </a:solidFill>
              <a:latin typeface="Arial"/>
            </a:endParaRPr>
          </a:p>
        </p:txBody>
      </p:sp>
      <p:sp>
        <p:nvSpPr>
          <p:cNvPr id="146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6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You choose per call site, rather than every virtual method paying the indirection  </a:t>
            </a:r>
            <a:r>
              <a:rPr b="0" lang="en-US" sz="1200" spc="-1" strike="noStrike">
                <a:solidFill>
                  <a:srgbClr val="9aa4b8"/>
                </a:solidFill>
                <a:latin typeface="Arial"/>
                <a:ea typeface="Arial"/>
              </a:rPr>
              <a:t>whether you need it or not.</a:t>
            </a:r>
            <a:endParaRPr b="0" lang="en-US" sz="1200" spc="-1" strike="noStrike">
              <a:solidFill>
                <a:srgbClr val="ffffff"/>
              </a:solidFill>
              <a:latin typeface="Arial"/>
            </a:endParaRPr>
          </a:p>
        </p:txBody>
      </p:sp>
      <p:sp>
        <p:nvSpPr>
          <p:cNvPr id="147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7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7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CRTP vs. default trait methods</a:t>
            </a:r>
            <a:endParaRPr b="0" lang="en-US" sz="2800" spc="-1" strike="noStrike">
              <a:solidFill>
                <a:srgbClr val="ffffff"/>
              </a:solidFill>
              <a:latin typeface="Arial"/>
            </a:endParaRPr>
          </a:p>
        </p:txBody>
      </p:sp>
      <p:sp>
        <p:nvSpPr>
          <p:cNvPr id="147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7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7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47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47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template&lt;typename Derived&gt;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class Base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void interface()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static_cast&lt;Derived*&gt;(this)-&gt;impl();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7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Curiously Recurring Template Pattern fakes static polymorphism through inheritance — clever, but notoriously hard to read for newcomers.</a:t>
            </a:r>
            <a:endParaRPr b="0" lang="en-US" sz="1100" spc="-1" strike="noStrike">
              <a:solidFill>
                <a:srgbClr val="ffffff"/>
              </a:solidFill>
              <a:latin typeface="Arial"/>
            </a:endParaRPr>
          </a:p>
        </p:txBody>
      </p:sp>
      <p:sp>
        <p:nvSpPr>
          <p:cNvPr id="148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48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48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trait Interface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impl_(&amp;self);</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fn interface(&amp;self) { self.impl_();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default method calling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required one — no CRTP needed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48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trait's default method can call another (required) method on the same trait directly — the same capability CRTP works around, natively.</a:t>
            </a:r>
            <a:endParaRPr b="0" lang="en-US" sz="1100" spc="-1" strike="noStrike">
              <a:solidFill>
                <a:srgbClr val="ffffff"/>
              </a:solidFill>
              <a:latin typeface="Arial"/>
            </a:endParaRPr>
          </a:p>
        </p:txBody>
      </p:sp>
      <p:sp>
        <p:nvSpPr>
          <p:cNvPr id="148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What takes a template trick to express in C++ is a first-class, readable language feature in Rust.</a:t>
            </a:r>
            <a:endParaRPr b="0" lang="en-US" sz="1150" spc="-1" strike="noStrike">
              <a:solidFill>
                <a:srgbClr val="ffffff"/>
              </a:solidFill>
              <a:latin typeface="Arial"/>
            </a:endParaRPr>
          </a:p>
        </p:txBody>
      </p:sp>
      <p:sp>
        <p:nvSpPr>
          <p:cNvPr id="148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48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49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TRAITS &amp; GENERICS</a:t>
            </a:r>
            <a:endParaRPr b="0" lang="en-US" sz="1300" spc="-1" strike="noStrike">
              <a:solidFill>
                <a:srgbClr val="ffffff"/>
              </a:solidFill>
              <a:latin typeface="Arial"/>
            </a:endParaRPr>
          </a:p>
        </p:txBody>
      </p:sp>
      <p:sp>
        <p:nvSpPr>
          <p:cNvPr id="149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Derive macros vs. hand-written boilerplate</a:t>
            </a:r>
            <a:endParaRPr b="0" lang="en-US" sz="2800" spc="-1" strike="noStrike">
              <a:solidFill>
                <a:srgbClr val="ffffff"/>
              </a:solidFill>
              <a:latin typeface="Arial"/>
            </a:endParaRPr>
          </a:p>
        </p:txBody>
      </p:sp>
      <p:sp>
        <p:nvSpPr>
          <p:cNvPr id="1492"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3"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4"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#[derive(Debug, Clone, PartialEq, Hash)]  </a:t>
            </a:r>
            <a:r>
              <a:rPr b="0" lang="en-US" sz="1200" spc="-1" strike="noStrike">
                <a:solidFill>
                  <a:srgbClr val="9aa4b8"/>
                </a:solidFill>
                <a:latin typeface="Arial"/>
                <a:ea typeface="Arial"/>
              </a:rPr>
              <a:t>generates those trait implementations automatically from the struct's fields.</a:t>
            </a:r>
            <a:endParaRPr b="0" lang="en-US" sz="1200" spc="-1" strike="noStrike">
              <a:solidFill>
                <a:srgbClr val="ffffff"/>
              </a:solidFill>
              <a:latin typeface="Arial"/>
            </a:endParaRPr>
          </a:p>
        </p:txBody>
      </p:sp>
      <p:sp>
        <p:nvSpPr>
          <p:cNvPr id="1495"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6"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7"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Compare to hand-writing operator&lt;&lt;, a copy constructor, operator==, and a hash specialization  </a:t>
            </a:r>
            <a:r>
              <a:rPr b="0" lang="en-US" sz="1200" spc="-1" strike="noStrike">
                <a:solidFill>
                  <a:srgbClr val="9aa4b8"/>
                </a:solidFill>
                <a:latin typeface="Arial"/>
                <a:ea typeface="Arial"/>
              </a:rPr>
              <a:t>for every struct in a C++ codebase.</a:t>
            </a:r>
            <a:endParaRPr b="0" lang="en-US" sz="1200" spc="-1" strike="noStrike">
              <a:solidFill>
                <a:srgbClr val="ffffff"/>
              </a:solidFill>
              <a:latin typeface="Arial"/>
            </a:endParaRPr>
          </a:p>
        </p:txBody>
      </p:sp>
      <p:sp>
        <p:nvSpPr>
          <p:cNvPr id="1498"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9"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00"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Because it's a macro over the AST, the generated code is exactly as correct as the fields say it should be  </a:t>
            </a:r>
            <a:r>
              <a:rPr b="0" lang="en-US" sz="1200" spc="-1" strike="noStrike">
                <a:solidFill>
                  <a:srgbClr val="9aa4b8"/>
                </a:solidFill>
                <a:latin typeface="Arial"/>
                <a:ea typeface="Arial"/>
              </a:rPr>
              <a:t>— no risk of a stale, hand-maintained operator== drifting from the struct's actual fields.</a:t>
            </a:r>
            <a:endParaRPr b="0" lang="en-US" sz="1200" spc="-1" strike="noStrike">
              <a:solidFill>
                <a:srgbClr val="ffffff"/>
              </a:solidFill>
              <a:latin typeface="Arial"/>
            </a:endParaRPr>
          </a:p>
        </p:txBody>
      </p:sp>
      <p:sp>
        <p:nvSpPr>
          <p:cNvPr id="1501"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02"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03"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04"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10</a:t>
            </a:r>
            <a:endParaRPr b="0" lang="en-US" sz="3400" spc="-1" strike="noStrike">
              <a:solidFill>
                <a:srgbClr val="ffffff"/>
              </a:solidFill>
              <a:latin typeface="Arial"/>
            </a:endParaRPr>
          </a:p>
        </p:txBody>
      </p:sp>
      <p:sp>
        <p:nvSpPr>
          <p:cNvPr id="1505"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Error Handling</a:t>
            </a:r>
            <a:endParaRPr b="0" lang="en-US" sz="2800" spc="-1" strike="noStrike">
              <a:solidFill>
                <a:srgbClr val="ffffff"/>
              </a:solidFill>
              <a:latin typeface="Arial"/>
            </a:endParaRPr>
          </a:p>
        </p:txBody>
      </p:sp>
      <p:sp>
        <p:nvSpPr>
          <p:cNvPr id="1506"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Result, the ? operator, and when panicking is the right call</a:t>
            </a:r>
            <a:endParaRPr b="0" lang="en-US" sz="1350" spc="-1" strike="noStrike">
              <a:solidFill>
                <a:srgbClr val="ffffff"/>
              </a:solidFill>
              <a:latin typeface="Arial"/>
            </a:endParaRPr>
          </a:p>
        </p:txBody>
      </p:sp>
      <p:sp>
        <p:nvSpPr>
          <p:cNvPr id="1507"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08"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0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1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Exception hierarchies vs. error enums</a:t>
            </a:r>
            <a:endParaRPr b="0" lang="en-US" sz="2800" spc="-1" strike="noStrike">
              <a:solidFill>
                <a:srgbClr val="ffffff"/>
              </a:solidFill>
              <a:latin typeface="Arial"/>
            </a:endParaRPr>
          </a:p>
        </p:txBody>
      </p:sp>
      <p:sp>
        <p:nvSpPr>
          <p:cNvPr id="151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51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51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class NetworkError : 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std::runtime_error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class TimeoutError : public</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NetworkError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catch(const std::exception&amp;)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catches everything, maybe too much</a:t>
            </a:r>
            <a:endParaRPr b="0" lang="en-US" sz="1200" spc="-1" strike="noStrike">
              <a:solidFill>
                <a:srgbClr val="ffffff"/>
              </a:solidFill>
              <a:latin typeface="Arial"/>
            </a:endParaRPr>
          </a:p>
        </p:txBody>
      </p:sp>
      <p:sp>
        <p:nvSpPr>
          <p:cNvPr id="151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Exception hierarchies let you catch broadly or narrowly, but catch(...) or catch(const std::exception&amp;) can silently swallow more than intended.</a:t>
            </a:r>
            <a:endParaRPr b="0" lang="en-US" sz="1100" spc="-1" strike="noStrike">
              <a:solidFill>
                <a:srgbClr val="ffffff"/>
              </a:solidFill>
              <a:latin typeface="Arial"/>
            </a:endParaRPr>
          </a:p>
        </p:txBody>
      </p:sp>
      <p:sp>
        <p:nvSpPr>
          <p:cNvPr id="151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1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52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52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enum NetworkError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Timeout,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ConnectionRefused,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DnsFailure(String),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match forces you to consider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each case, or explicitly ignore</a:t>
            </a:r>
            <a:endParaRPr b="0" lang="en-US" sz="1200" spc="-1" strike="noStrike">
              <a:solidFill>
                <a:srgbClr val="ffffff"/>
              </a:solidFill>
              <a:latin typeface="Arial"/>
            </a:endParaRPr>
          </a:p>
        </p:txBody>
      </p:sp>
      <p:sp>
        <p:nvSpPr>
          <p:cNvPr id="152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An error enum lists every failure mode as a closed set. Handling it via match either covers every case or explicitly opts into a wildcard.</a:t>
            </a:r>
            <a:endParaRPr b="0" lang="en-US" sz="1100" spc="-1" strike="noStrike">
              <a:solidFill>
                <a:srgbClr val="ffffff"/>
              </a:solidFill>
              <a:latin typeface="Arial"/>
            </a:endParaRPr>
          </a:p>
        </p:txBody>
      </p:sp>
      <p:sp>
        <p:nvSpPr>
          <p:cNvPr id="152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2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A closed enum of error variants is easier to reason about exhaustively than an open-ended class hierarchy that any code can extend.</a:t>
            </a:r>
            <a:endParaRPr b="0" lang="en-US" sz="1150" spc="-1" strike="noStrike">
              <a:solidFill>
                <a:srgbClr val="ffffff"/>
              </a:solidFill>
              <a:latin typeface="Arial"/>
            </a:endParaRPr>
          </a:p>
        </p:txBody>
      </p:sp>
      <p:sp>
        <p:nvSpPr>
          <p:cNvPr id="152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2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2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2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noexcept vs. the Result signature</a:t>
            </a:r>
            <a:endParaRPr b="0" lang="en-US" sz="2800" spc="-1" strike="noStrike">
              <a:solidFill>
                <a:srgbClr val="ffffff"/>
              </a:solidFill>
              <a:latin typeface="Arial"/>
            </a:endParaRPr>
          </a:p>
        </p:txBody>
      </p:sp>
      <p:sp>
        <p:nvSpPr>
          <p:cNvPr id="152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53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53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save(std::string path) noexcept;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noexcept is a promise — violating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it calls std::terminate,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often far from the actual bug</a:t>
            </a:r>
            <a:endParaRPr b="0" lang="en-US" sz="1200" spc="-1" strike="noStrike">
              <a:solidFill>
                <a:srgbClr val="ffffff"/>
              </a:solidFill>
              <a:latin typeface="Arial"/>
            </a:endParaRPr>
          </a:p>
        </p:txBody>
      </p:sp>
      <p:sp>
        <p:nvSpPr>
          <p:cNvPr id="153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noexcept documents intent but isn't verified by the compiler at the call sites of everything it calls — a violation is a runtime crash.</a:t>
            </a:r>
            <a:endParaRPr b="0" lang="en-US" sz="1100" spc="-1" strike="noStrike">
              <a:solidFill>
                <a:srgbClr val="ffffff"/>
              </a:solidFill>
              <a:latin typeface="Arial"/>
            </a:endParaRPr>
          </a:p>
        </p:txBody>
      </p:sp>
      <p:sp>
        <p:nvSpPr>
          <p:cNvPr id="153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53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53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save(path: &amp;str) -&gt; Result&lt;(), Error&gt;;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 signature is verified: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call to a fallible function inside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must be explicitly handled</a:t>
            </a:r>
            <a:endParaRPr b="0" lang="en-US" sz="1200" spc="-1" strike="noStrike">
              <a:solidFill>
                <a:srgbClr val="ffffff"/>
              </a:solidFill>
              <a:latin typeface="Arial"/>
            </a:endParaRPr>
          </a:p>
        </p:txBody>
      </p:sp>
      <p:sp>
        <p:nvSpPr>
          <p:cNvPr id="154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Result in the return type isn't a promise — it's enforced. Every fallible call inside the function must be handled or propagated.</a:t>
            </a:r>
            <a:endParaRPr b="0" lang="en-US" sz="1100" spc="-1" strike="noStrike">
              <a:solidFill>
                <a:srgbClr val="ffffff"/>
              </a:solidFill>
              <a:latin typeface="Arial"/>
            </a:endParaRPr>
          </a:p>
        </p:txBody>
      </p:sp>
      <p:sp>
        <p:nvSpPr>
          <p:cNvPr id="154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Rust doesn't have an equivalent to noexcept as an unenforced promise, because Result makes fallibility a checked part of the signature.</a:t>
            </a:r>
            <a:endParaRPr b="0" lang="en-US" sz="1150" spc="-1" strike="noStrike">
              <a:solidFill>
                <a:srgbClr val="ffffff"/>
              </a:solidFill>
              <a:latin typeface="Arial"/>
            </a:endParaRPr>
          </a:p>
        </p:txBody>
      </p:sp>
      <p:sp>
        <p:nvSpPr>
          <p:cNvPr id="154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4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4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4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 operator: propagation without boilerplate</a:t>
            </a:r>
            <a:endParaRPr b="0" lang="en-US" sz="2800" spc="-1" strike="noStrike">
              <a:solidFill>
                <a:srgbClr val="ffffff"/>
              </a:solidFill>
              <a:latin typeface="Arial"/>
            </a:endParaRPr>
          </a:p>
        </p:txBody>
      </p:sp>
      <p:sp>
        <p:nvSpPr>
          <p:cNvPr id="154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let x = might_fail()?;  </a:t>
            </a:r>
            <a:r>
              <a:rPr b="0" lang="en-US" sz="1200" spc="-1" strike="noStrike">
                <a:solidFill>
                  <a:srgbClr val="9aa4b8"/>
                </a:solidFill>
                <a:latin typeface="Arial"/>
                <a:ea typeface="Arial"/>
              </a:rPr>
              <a:t>runs might_fail(); on Err, it returns early from the current function with that error.</a:t>
            </a:r>
            <a:endParaRPr b="0" lang="en-US" sz="1200" spc="-1" strike="noStrike">
              <a:solidFill>
                <a:srgbClr val="ffffff"/>
              </a:solidFill>
              <a:latin typeface="Arial"/>
            </a:endParaRPr>
          </a:p>
        </p:txBody>
      </p:sp>
      <p:sp>
        <p:nvSpPr>
          <p:cNvPr id="155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replaces the C++ pattern of catching an exception just to rethrow it,  </a:t>
            </a:r>
            <a:r>
              <a:rPr b="0" lang="en-US" sz="1200" spc="-1" strike="noStrike">
                <a:solidFill>
                  <a:srgbClr val="9aa4b8"/>
                </a:solidFill>
                <a:latin typeface="Arial"/>
                <a:ea typeface="Arial"/>
              </a:rPr>
              <a:t>or manually checking and forwarding an error code at every call site.</a:t>
            </a:r>
            <a:endParaRPr b="0" lang="en-US" sz="1200" spc="-1" strike="noStrike">
              <a:solidFill>
                <a:srgbClr val="ffffff"/>
              </a:solidFill>
              <a:latin typeface="Arial"/>
            </a:endParaRPr>
          </a:p>
        </p:txBody>
      </p:sp>
      <p:sp>
        <p:nvSpPr>
          <p:cNvPr id="155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 composes cleanly with the From trait for automatic error-type conversion,  </a:t>
            </a:r>
            <a:r>
              <a:rPr b="0" lang="en-US" sz="1200" spc="-1" strike="noStrike">
                <a:solidFill>
                  <a:srgbClr val="9aa4b8"/>
                </a:solidFill>
                <a:latin typeface="Arial"/>
                <a:ea typeface="Arial"/>
              </a:rPr>
              <a:t>similar to how exception types convert via inheritance when caught by a base-class reference.</a:t>
            </a:r>
            <a:endParaRPr b="0" lang="en-US" sz="1200" spc="-1" strike="noStrike">
              <a:solidFill>
                <a:srgbClr val="ffffff"/>
              </a:solidFill>
              <a:latin typeface="Arial"/>
            </a:endParaRPr>
          </a:p>
        </p:txBody>
      </p:sp>
      <p:sp>
        <p:nvSpPr>
          <p:cNvPr id="155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5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5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5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Unrecoverable errors: panic vs. abort/terminate</a:t>
            </a:r>
            <a:endParaRPr b="0" lang="en-US" sz="2800" spc="-1" strike="noStrike">
              <a:solidFill>
                <a:srgbClr val="ffffff"/>
              </a:solidFill>
              <a:latin typeface="Arial"/>
            </a:endParaRPr>
          </a:p>
        </p:txBody>
      </p:sp>
      <p:sp>
        <p:nvSpPr>
          <p:cNvPr id="156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56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56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assert(invariant_holds());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disabled in release builds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(NDEBUG) unless you're careful</a:t>
            </a:r>
            <a:endParaRPr b="0" lang="en-US" sz="1200" spc="-1" strike="noStrike">
              <a:solidFill>
                <a:srgbClr val="ffffff"/>
              </a:solidFill>
              <a:latin typeface="Arial"/>
            </a:endParaRPr>
          </a:p>
        </p:txBody>
      </p:sp>
      <p:sp>
        <p:nvSpPr>
          <p:cNvPr id="156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assert is commonly compiled out in release builds, meaning the safety net you tested against may not exist in production.</a:t>
            </a:r>
            <a:endParaRPr b="0" lang="en-US" sz="1100" spc="-1" strike="noStrike">
              <a:solidFill>
                <a:srgbClr val="ffffff"/>
              </a:solidFill>
              <a:latin typeface="Arial"/>
            </a:endParaRPr>
          </a:p>
        </p:txBody>
      </p:sp>
      <p:sp>
        <p:nvSpPr>
          <p:cNvPr id="156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56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57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assert!(invariant_holds());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debug_assert!(expensive_check());</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assert! always runs;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debug_assert! is opt-out only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 debug builds</a:t>
            </a:r>
            <a:endParaRPr b="0" lang="en-US" sz="1200" spc="-1" strike="noStrike">
              <a:solidFill>
                <a:srgbClr val="ffffff"/>
              </a:solidFill>
              <a:latin typeface="Arial"/>
            </a:endParaRPr>
          </a:p>
        </p:txBody>
      </p:sp>
      <p:sp>
        <p:nvSpPr>
          <p:cNvPr id="157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assert! is never compiled away. debug_assert! is the opt-in-to-removal version, making the release-mode behavior a deliberate choice.</a:t>
            </a:r>
            <a:endParaRPr b="0" lang="en-US" sz="1100" spc="-1" strike="noStrike">
              <a:solidFill>
                <a:srgbClr val="ffffff"/>
              </a:solidFill>
              <a:latin typeface="Arial"/>
            </a:endParaRPr>
          </a:p>
        </p:txBody>
      </p:sp>
      <p:sp>
        <p:nvSpPr>
          <p:cNvPr id="157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7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safety-check-that-silently-vanishes-in-release problem is inverted: the default assert always fires; disabling it is the explicit choice.</a:t>
            </a:r>
            <a:endParaRPr b="0" lang="en-US" sz="1150" spc="-1" strike="noStrike">
              <a:solidFill>
                <a:srgbClr val="ffffff"/>
              </a:solidFill>
              <a:latin typeface="Arial"/>
            </a:endParaRPr>
          </a:p>
        </p:txBody>
      </p:sp>
      <p:sp>
        <p:nvSpPr>
          <p:cNvPr id="157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7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7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ERROR HANDLING</a:t>
            </a:r>
            <a:endParaRPr b="0" lang="en-US" sz="1300" spc="-1" strike="noStrike">
              <a:solidFill>
                <a:srgbClr val="ffffff"/>
              </a:solidFill>
              <a:latin typeface="Arial"/>
            </a:endParaRPr>
          </a:p>
        </p:txBody>
      </p:sp>
      <p:sp>
        <p:nvSpPr>
          <p:cNvPr id="157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ecosystem: anyhow and thiserror</a:t>
            </a:r>
            <a:endParaRPr b="0" lang="en-US" sz="2800" spc="-1" strike="noStrike">
              <a:solidFill>
                <a:srgbClr val="ffffff"/>
              </a:solidFill>
              <a:latin typeface="Arial"/>
            </a:endParaRPr>
          </a:p>
        </p:txBody>
      </p:sp>
      <p:sp>
        <p:nvSpPr>
          <p:cNvPr id="157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7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thiserror:  </a:t>
            </a:r>
            <a:r>
              <a:rPr b="0" lang="en-US" sz="1200" spc="-1" strike="noStrike">
                <a:solidFill>
                  <a:srgbClr val="9aa4b8"/>
                </a:solidFill>
                <a:latin typeface="Arial"/>
                <a:ea typeface="Arial"/>
              </a:rPr>
              <a:t>a derive macro for defining your own error enums with minimal boilerplate — for library code.</a:t>
            </a:r>
            <a:endParaRPr b="0" lang="en-US" sz="1200" spc="-1" strike="noStrike">
              <a:solidFill>
                <a:srgbClr val="ffffff"/>
              </a:solidFill>
              <a:latin typeface="Arial"/>
            </a:endParaRPr>
          </a:p>
        </p:txBody>
      </p:sp>
      <p:sp>
        <p:nvSpPr>
          <p:cNvPr id="158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anyhow:  </a:t>
            </a:r>
            <a:r>
              <a:rPr b="0" lang="en-US" sz="1200" spc="-1" strike="noStrike">
                <a:solidFill>
                  <a:srgbClr val="9aa4b8"/>
                </a:solidFill>
                <a:latin typeface="Arial"/>
                <a:ea typeface="Arial"/>
              </a:rPr>
              <a:t>a single, ergonomic catch-all error type for application code that doesn't need to distinguish error variants precisely.</a:t>
            </a:r>
            <a:endParaRPr b="0" lang="en-US" sz="1200" spc="-1" strike="noStrike">
              <a:solidFill>
                <a:srgbClr val="ffffff"/>
              </a:solidFill>
              <a:latin typeface="Arial"/>
            </a:endParaRPr>
          </a:p>
        </p:txBody>
      </p:sp>
      <p:sp>
        <p:nvSpPr>
          <p:cNvPr id="158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standard library gives you the mechanism (Result, ?);  </a:t>
            </a:r>
            <a:r>
              <a:rPr b="0" lang="en-US" sz="1200" spc="-1" strike="noStrike">
                <a:solidFill>
                  <a:srgbClr val="9aa4b8"/>
                </a:solidFill>
                <a:latin typeface="Arial"/>
                <a:ea typeface="Arial"/>
              </a:rPr>
              <a:t>these crates are the community's answer to "what error type do I actually use."</a:t>
            </a:r>
            <a:endParaRPr b="0" lang="en-US" sz="1200" spc="-1" strike="noStrike">
              <a:solidFill>
                <a:srgbClr val="ffffff"/>
              </a:solidFill>
              <a:latin typeface="Arial"/>
            </a:endParaRPr>
          </a:p>
        </p:txBody>
      </p:sp>
      <p:sp>
        <p:nvSpPr>
          <p:cNvPr id="158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8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89"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0"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11</a:t>
            </a:r>
            <a:endParaRPr b="0" lang="en-US" sz="3400" spc="-1" strike="noStrike">
              <a:solidFill>
                <a:srgbClr val="ffffff"/>
              </a:solidFill>
              <a:latin typeface="Arial"/>
            </a:endParaRPr>
          </a:p>
        </p:txBody>
      </p:sp>
      <p:sp>
        <p:nvSpPr>
          <p:cNvPr id="1591"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Collections &amp; Iterators</a:t>
            </a:r>
            <a:endParaRPr b="0" lang="en-US" sz="2800" spc="-1" strike="noStrike">
              <a:solidFill>
                <a:srgbClr val="ffffff"/>
              </a:solidFill>
              <a:latin typeface="Arial"/>
            </a:endParaRPr>
          </a:p>
        </p:txBody>
      </p:sp>
      <p:sp>
        <p:nvSpPr>
          <p:cNvPr id="1592"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The STL, reshaped around ownership and zero-cost iteration</a:t>
            </a:r>
            <a:endParaRPr b="0" lang="en-US" sz="1350" spc="-1" strike="noStrike">
              <a:solidFill>
                <a:srgbClr val="ffffff"/>
              </a:solidFill>
              <a:latin typeface="Arial"/>
            </a:endParaRPr>
          </a:p>
        </p:txBody>
      </p:sp>
      <p:sp>
        <p:nvSpPr>
          <p:cNvPr id="1593"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594"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59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596"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std::vector vs. Vec&lt;T&gt;</a:t>
            </a:r>
            <a:endParaRPr b="0" lang="en-US" sz="2800" spc="-1" strike="noStrike">
              <a:solidFill>
                <a:srgbClr val="ffffff"/>
              </a:solidFill>
              <a:latin typeface="Arial"/>
            </a:endParaRPr>
          </a:p>
        </p:txBody>
      </p:sp>
      <p:sp>
        <p:nvSpPr>
          <p:cNvPr id="1597"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8"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9"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00"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01"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v;</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v.push_back(1);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v.reserve(100);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(auto&amp; x : v) { x *= 2; }</a:t>
            </a:r>
            <a:endParaRPr b="0" lang="en-US" sz="1200" spc="-1" strike="noStrike">
              <a:solidFill>
                <a:srgbClr val="ffffff"/>
              </a:solidFill>
              <a:latin typeface="Arial"/>
            </a:endParaRPr>
          </a:p>
        </p:txBody>
      </p:sp>
      <p:sp>
        <p:nvSpPr>
          <p:cNvPr id="1602"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growable, contiguous, heap-allocated array. You already know this type intimately — the API surface below is deliberately close.</a:t>
            </a:r>
            <a:endParaRPr b="0" lang="en-US" sz="1100" spc="-1" strike="noStrike">
              <a:solidFill>
                <a:srgbClr val="ffffff"/>
              </a:solidFill>
              <a:latin typeface="Arial"/>
            </a:endParaRPr>
          </a:p>
        </p:txBody>
      </p:sp>
      <p:sp>
        <p:nvSpPr>
          <p:cNvPr id="1603"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4"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5"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06"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07"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mut v: Vec&lt;i32&gt; = Vec::new();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v.push(1);</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v.reserve(100);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x in v.iter_mut() { *x *= 2; }</a:t>
            </a:r>
            <a:endParaRPr b="0" lang="en-US" sz="1200" spc="-1" strike="noStrike">
              <a:solidFill>
                <a:srgbClr val="ffffff"/>
              </a:solidFill>
              <a:latin typeface="Arial"/>
            </a:endParaRPr>
          </a:p>
        </p:txBody>
      </p:sp>
      <p:sp>
        <p:nvSpPr>
          <p:cNvPr id="1608"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Vec&lt;T&gt; is the direct analogue: growable, contiguous, heap-allocated. push, reserve, and iteration map almost one-to-one.</a:t>
            </a:r>
            <a:endParaRPr b="0" lang="en-US" sz="1100" spc="-1" strike="noStrike">
              <a:solidFill>
                <a:srgbClr val="ffffff"/>
              </a:solidFill>
              <a:latin typeface="Arial"/>
            </a:endParaRPr>
          </a:p>
        </p:txBody>
      </p:sp>
      <p:sp>
        <p:nvSpPr>
          <p:cNvPr id="1609"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0"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one of the smoothest transitions in the whole language — Vec&lt;T&gt; behaves the way you'd expect std::vector to, plus borrow checking.</a:t>
            </a:r>
            <a:endParaRPr b="0" lang="en-US" sz="1150" spc="-1" strike="noStrike">
              <a:solidFill>
                <a:srgbClr val="ffffff"/>
              </a:solidFill>
              <a:latin typeface="Arial"/>
            </a:endParaRPr>
          </a:p>
        </p:txBody>
      </p:sp>
      <p:sp>
        <p:nvSpPr>
          <p:cNvPr id="1611"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12"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1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61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Maps: ordered and unordered</a:t>
            </a:r>
            <a:endParaRPr b="0" lang="en-US" sz="2800" spc="-1" strike="noStrike">
              <a:solidFill>
                <a:srgbClr val="ffffff"/>
              </a:solidFill>
              <a:latin typeface="Arial"/>
            </a:endParaRPr>
          </a:p>
        </p:txBody>
      </p:sp>
      <p:sp>
        <p:nvSpPr>
          <p:cNvPr id="161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1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1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1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std::map&lt;std::string, int&gt; 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std::unordered_map&lt;std::string, int&gt; u;</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m["a"] = 1;</a:t>
            </a:r>
            <a:endParaRPr b="0" lang="en-US" sz="1200" spc="-1" strike="noStrike">
              <a:solidFill>
                <a:srgbClr val="ffffff"/>
              </a:solidFill>
              <a:latin typeface="Arial"/>
            </a:endParaRPr>
          </a:p>
        </p:txBody>
      </p:sp>
      <p:sp>
        <p:nvSpPr>
          <p:cNvPr id="162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std::map is a sorted tree (typically red-black); std::unordered_map is hash-based. Both are standard, well-understood containers.</a:t>
            </a:r>
            <a:endParaRPr b="0" lang="en-US" sz="1100" spc="-1" strike="noStrike">
              <a:solidFill>
                <a:srgbClr val="ffffff"/>
              </a:solidFill>
              <a:latin typeface="Arial"/>
            </a:endParaRPr>
          </a:p>
        </p:txBody>
      </p:sp>
      <p:sp>
        <p:nvSpPr>
          <p:cNvPr id="162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2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2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2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2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mut m: BTreeMap&lt;String, i32&gt;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BTreeMap::new();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mut u: HashMap&lt;String, i32&gt;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HashMap::new();</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m.insert("a".to_string(), 1);</a:t>
            </a:r>
            <a:endParaRPr b="0" lang="en-US" sz="1200" spc="-1" strike="noStrike">
              <a:solidFill>
                <a:srgbClr val="ffffff"/>
              </a:solidFill>
              <a:latin typeface="Arial"/>
            </a:endParaRPr>
          </a:p>
        </p:txBody>
      </p:sp>
      <p:sp>
        <p:nvSpPr>
          <p:cNvPr id="162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BTreeMap mirrors std::map's sorted-order behavior; HashMap mirrors unordered_map. Insertion uses .insert() rather than operator[] for new keys.</a:t>
            </a:r>
            <a:endParaRPr b="0" lang="en-US" sz="1100" spc="-1" strike="noStrike">
              <a:solidFill>
                <a:srgbClr val="ffffff"/>
              </a:solidFill>
              <a:latin typeface="Arial"/>
            </a:endParaRPr>
          </a:p>
        </p:txBody>
      </p:sp>
      <p:sp>
        <p:nvSpPr>
          <p:cNvPr id="162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2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mental model transfers directly — pick BTreeMap when you need ordering, HashMap when you don't, exactly as you would in C++.</a:t>
            </a:r>
            <a:endParaRPr b="0" lang="en-US" sz="1150" spc="-1" strike="noStrike">
              <a:solidFill>
                <a:srgbClr val="ffffff"/>
              </a:solidFill>
              <a:latin typeface="Arial"/>
            </a:endParaRPr>
          </a:p>
        </p:txBody>
      </p:sp>
      <p:sp>
        <p:nvSpPr>
          <p:cNvPr id="162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3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3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632"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&lt;algorithm&gt; vs. iterator adapters</a:t>
            </a:r>
            <a:endParaRPr b="0" lang="en-US" sz="2800" spc="-1" strike="noStrike">
              <a:solidFill>
                <a:srgbClr val="ffffff"/>
              </a:solidFill>
              <a:latin typeface="Arial"/>
            </a:endParaRPr>
          </a:p>
        </p:txBody>
      </p:sp>
      <p:sp>
        <p:nvSpPr>
          <p:cNvPr id="1633"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4"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5"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36"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37"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std::copy_if(v.begin(), v.end(),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std::back_inserter(out),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x){ return x % 2 == 0; });</a:t>
            </a:r>
            <a:endParaRPr b="0" lang="en-US" sz="1200" spc="-1" strike="noStrike">
              <a:solidFill>
                <a:srgbClr val="ffffff"/>
              </a:solidFill>
              <a:latin typeface="Arial"/>
            </a:endParaRPr>
          </a:p>
        </p:txBody>
      </p:sp>
      <p:sp>
        <p:nvSpPr>
          <p:cNvPr id="1638"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&lt;algorithm&gt; header's functions take iterator pairs and are powerful, but the begin()/end() plumbing adds visual noise to every call.</a:t>
            </a:r>
            <a:endParaRPr b="0" lang="en-US" sz="1100" spc="-1" strike="noStrike">
              <a:solidFill>
                <a:srgbClr val="ffffff"/>
              </a:solidFill>
              <a:latin typeface="Arial"/>
            </a:endParaRPr>
          </a:p>
        </p:txBody>
      </p:sp>
      <p:sp>
        <p:nvSpPr>
          <p:cNvPr id="1639"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0"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1"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42"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43"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out: Vec&lt;i32&gt; = v.iter()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.filter(|&amp;&amp;x| x % 2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.copied()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.collect();</a:t>
            </a:r>
            <a:endParaRPr b="0" lang="en-US" sz="1200" spc="-1" strike="noStrike">
              <a:solidFill>
                <a:srgbClr val="ffffff"/>
              </a:solidFill>
              <a:latin typeface="Arial"/>
            </a:endParaRPr>
          </a:p>
        </p:txBody>
      </p:sp>
      <p:sp>
        <p:nvSpPr>
          <p:cNvPr id="1644"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Iterator adapters chain as methods directly on the iterator, without separately naming begin and end each time. collect() gathers the result.</a:t>
            </a:r>
            <a:endParaRPr b="0" lang="en-US" sz="1100" spc="-1" strike="noStrike">
              <a:solidFill>
                <a:srgbClr val="ffffff"/>
              </a:solidFill>
              <a:latin typeface="Arial"/>
            </a:endParaRPr>
          </a:p>
        </p:txBody>
      </p:sp>
      <p:sp>
        <p:nvSpPr>
          <p:cNvPr id="1645"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6"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Both approaches are zero-cost at -O2/--release; Rust's method-chaining syntax reads closer to the pipeline it describes.</a:t>
            </a:r>
            <a:endParaRPr b="0" lang="en-US" sz="1150" spc="-1" strike="noStrike">
              <a:solidFill>
                <a:srgbClr val="ffffff"/>
              </a:solidFill>
              <a:latin typeface="Arial"/>
            </a:endParaRPr>
          </a:p>
        </p:txBody>
      </p:sp>
      <p:sp>
        <p:nvSpPr>
          <p:cNvPr id="1647"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48"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4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 &amp; ITERATORS</a:t>
            </a:r>
            <a:endParaRPr b="0" lang="en-US" sz="1300" spc="-1" strike="noStrike">
              <a:solidFill>
                <a:srgbClr val="ffffff"/>
              </a:solidFill>
              <a:latin typeface="Arial"/>
            </a:endParaRPr>
          </a:p>
        </p:txBody>
      </p:sp>
      <p:sp>
        <p:nvSpPr>
          <p:cNvPr id="1650"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Iterators are lazy, and the optimizer knows it</a:t>
            </a:r>
            <a:endParaRPr b="0" lang="en-US" sz="2800" spc="-1" strike="noStrike">
              <a:solidFill>
                <a:srgbClr val="ffffff"/>
              </a:solidFill>
              <a:latin typeface="Arial"/>
            </a:endParaRPr>
          </a:p>
        </p:txBody>
      </p:sp>
      <p:sp>
        <p:nvSpPr>
          <p:cNvPr id="1651"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2"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3"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An iterator chain like .filter().map().take(5) builds no intermediate collections —  </a:t>
            </a:r>
            <a:r>
              <a:rPr b="0" lang="en-US" sz="1200" spc="-1" strike="noStrike">
                <a:solidFill>
                  <a:srgbClr val="9aa4b8"/>
                </a:solidFill>
                <a:latin typeface="Arial"/>
                <a:ea typeface="Arial"/>
              </a:rPr>
              <a:t>each element flows through the whole pipeline before the next one starts.</a:t>
            </a:r>
            <a:endParaRPr b="0" lang="en-US" sz="1200" spc="-1" strike="noStrike">
              <a:solidFill>
                <a:srgbClr val="ffffff"/>
              </a:solidFill>
              <a:latin typeface="Arial"/>
            </a:endParaRPr>
          </a:p>
        </p:txBody>
      </p:sp>
      <p:sp>
        <p:nvSpPr>
          <p:cNvPr id="1654"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5"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6"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the same "zero-cost abstraction" philosophy C++ templates aim for,  </a:t>
            </a:r>
            <a:r>
              <a:rPr b="0" lang="en-US" sz="1200" spc="-1" strike="noStrike">
                <a:solidFill>
                  <a:srgbClr val="9aa4b8"/>
                </a:solidFill>
                <a:latin typeface="Arial"/>
                <a:ea typeface="Arial"/>
              </a:rPr>
              <a:t>verified in Rust's own benchmarks against equivalent hand-written loops.</a:t>
            </a:r>
            <a:endParaRPr b="0" lang="en-US" sz="1200" spc="-1" strike="noStrike">
              <a:solidFill>
                <a:srgbClr val="ffffff"/>
              </a:solidFill>
              <a:latin typeface="Arial"/>
            </a:endParaRPr>
          </a:p>
        </p:txBody>
      </p:sp>
      <p:sp>
        <p:nvSpPr>
          <p:cNvPr id="1657"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8"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59"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collect() is the point where laziness ends  </a:t>
            </a:r>
            <a:r>
              <a:rPr b="0" lang="en-US" sz="1200" spc="-1" strike="noStrike">
                <a:solidFill>
                  <a:srgbClr val="9aa4b8"/>
                </a:solidFill>
                <a:latin typeface="Arial"/>
                <a:ea typeface="Arial"/>
              </a:rPr>
              <a:t>and an actual concrete collection (Vec, HashMap, String, ...) gets built.</a:t>
            </a:r>
            <a:endParaRPr b="0" lang="en-US" sz="1200" spc="-1" strike="noStrike">
              <a:solidFill>
                <a:srgbClr val="ffffff"/>
              </a:solidFill>
              <a:latin typeface="Arial"/>
            </a:endParaRPr>
          </a:p>
        </p:txBody>
      </p:sp>
      <p:sp>
        <p:nvSpPr>
          <p:cNvPr id="1660"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61"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6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COLLECTIONS</a:t>
            </a:r>
            <a:endParaRPr b="0" lang="en-US" sz="1300" spc="-1" strike="noStrike">
              <a:solidFill>
                <a:srgbClr val="ffffff"/>
              </a:solidFill>
              <a:latin typeface="Arial"/>
            </a:endParaRPr>
          </a:p>
        </p:txBody>
      </p:sp>
      <p:sp>
        <p:nvSpPr>
          <p:cNvPr id="166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Range-based for vs. iterator methods</a:t>
            </a:r>
            <a:endParaRPr b="0" lang="en-US" sz="2800" spc="-1" strike="noStrike">
              <a:solidFill>
                <a:srgbClr val="ffffff"/>
              </a:solidFill>
              <a:latin typeface="Arial"/>
            </a:endParaRPr>
          </a:p>
        </p:txBody>
      </p:sp>
      <p:sp>
        <p:nvSpPr>
          <p:cNvPr id="166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6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6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6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6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std::vector&lt;int&gt; result;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for (auto&amp; x : v)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if (x &gt; 0) result.push_back(x * 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66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range-based for loop with manual filtering and transformation logic written out imperatively inside the loop body.</a:t>
            </a:r>
            <a:endParaRPr b="0" lang="en-US" sz="1100" spc="-1" strike="noStrike">
              <a:solidFill>
                <a:srgbClr val="ffffff"/>
              </a:solidFill>
              <a:latin typeface="Arial"/>
            </a:endParaRPr>
          </a:p>
        </p:txBody>
      </p:sp>
      <p:sp>
        <p:nvSpPr>
          <p:cNvPr id="167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7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7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result: Vec&lt;i32&gt; = v.iter()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.filter(|&amp;&amp;x| x &gt;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.map(|&amp;x| x * 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.collect();</a:t>
            </a:r>
            <a:endParaRPr b="0" lang="en-US" sz="1200" spc="-1" strike="noStrike">
              <a:solidFill>
                <a:srgbClr val="ffffff"/>
              </a:solidFill>
              <a:latin typeface="Arial"/>
            </a:endParaRPr>
          </a:p>
        </p:txBody>
      </p:sp>
      <p:sp>
        <p:nvSpPr>
          <p:cNvPr id="167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same operation expressed declaratively as a pipeline of named transformations, composed left to right.</a:t>
            </a:r>
            <a:endParaRPr b="0" lang="en-US" sz="1100" spc="-1" strike="noStrike">
              <a:solidFill>
                <a:srgbClr val="ffffff"/>
              </a:solidFill>
              <a:latin typeface="Arial"/>
            </a:endParaRPr>
          </a:p>
        </p:txBody>
      </p:sp>
      <p:sp>
        <p:nvSpPr>
          <p:cNvPr id="167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7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Both compile to similar machine code; the iterator-chain version names each transformation step, which often reads more directly as intent.</a:t>
            </a:r>
            <a:endParaRPr b="0" lang="en-US" sz="1150" spc="-1" strike="noStrike">
              <a:solidFill>
                <a:srgbClr val="ffffff"/>
              </a:solidFill>
              <a:latin typeface="Arial"/>
            </a:endParaRPr>
          </a:p>
        </p:txBody>
      </p:sp>
      <p:sp>
        <p:nvSpPr>
          <p:cNvPr id="167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7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80"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81"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12</a:t>
            </a:r>
            <a:endParaRPr b="0" lang="en-US" sz="3400" spc="-1" strike="noStrike">
              <a:solidFill>
                <a:srgbClr val="ffffff"/>
              </a:solidFill>
              <a:latin typeface="Arial"/>
            </a:endParaRPr>
          </a:p>
        </p:txBody>
      </p:sp>
      <p:sp>
        <p:nvSpPr>
          <p:cNvPr id="1682"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Modules &amp; Visibility</a:t>
            </a:r>
            <a:endParaRPr b="0" lang="en-US" sz="2800" spc="-1" strike="noStrike">
              <a:solidFill>
                <a:srgbClr val="ffffff"/>
              </a:solidFill>
              <a:latin typeface="Arial"/>
            </a:endParaRPr>
          </a:p>
        </p:txBody>
      </p:sp>
      <p:sp>
        <p:nvSpPr>
          <p:cNvPr id="1683"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No headers, no ODR, no include guards</a:t>
            </a:r>
            <a:endParaRPr b="0" lang="en-US" sz="1350" spc="-1" strike="noStrike">
              <a:solidFill>
                <a:srgbClr val="ffffff"/>
              </a:solidFill>
              <a:latin typeface="Arial"/>
            </a:endParaRPr>
          </a:p>
        </p:txBody>
      </p:sp>
      <p:sp>
        <p:nvSpPr>
          <p:cNvPr id="1684"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685"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68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MODULES</a:t>
            </a:r>
            <a:endParaRPr b="0" lang="en-US" sz="1300" spc="-1" strike="noStrike">
              <a:solidFill>
                <a:srgbClr val="ffffff"/>
              </a:solidFill>
              <a:latin typeface="Arial"/>
            </a:endParaRPr>
          </a:p>
        </p:txBody>
      </p:sp>
      <p:sp>
        <p:nvSpPr>
          <p:cNvPr id="1687"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Namespaces and headers vs. the mod system</a:t>
            </a:r>
            <a:endParaRPr b="0" lang="en-US" sz="2800" spc="-1" strike="noStrike">
              <a:solidFill>
                <a:srgbClr val="ffffff"/>
              </a:solidFill>
              <a:latin typeface="Arial"/>
            </a:endParaRPr>
          </a:p>
        </p:txBody>
      </p:sp>
      <p:sp>
        <p:nvSpPr>
          <p:cNvPr id="1688"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89"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0"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691"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692"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widget.h</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namespace app { class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widget.cpp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namespace app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class Widget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693"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Declarations live in a header, definitions in a source file, and namespaces group them logically — three concerns, three places.</a:t>
            </a:r>
            <a:endParaRPr b="0" lang="en-US" sz="1100" spc="-1" strike="noStrike">
              <a:solidFill>
                <a:srgbClr val="ffffff"/>
              </a:solidFill>
              <a:latin typeface="Arial"/>
            </a:endParaRPr>
          </a:p>
        </p:txBody>
      </p:sp>
      <p:sp>
        <p:nvSpPr>
          <p:cNvPr id="1694"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5"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96"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697"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698"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mod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pub struct Widget {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use widget::Widget;</a:t>
            </a:r>
            <a:endParaRPr b="0" lang="en-US" sz="1200" spc="-1" strike="noStrike">
              <a:solidFill>
                <a:srgbClr val="ffffff"/>
              </a:solidFill>
              <a:latin typeface="Arial"/>
            </a:endParaRPr>
          </a:p>
        </p:txBody>
      </p:sp>
      <p:sp>
        <p:nvSpPr>
          <p:cNvPr id="1699"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mod declares a module inline or in a separate file; pub controls visibility; there's no forward-declaration vs. definition split at all.</a:t>
            </a:r>
            <a:endParaRPr b="0" lang="en-US" sz="1100" spc="-1" strike="noStrike">
              <a:solidFill>
                <a:srgbClr val="ffffff"/>
              </a:solidFill>
              <a:latin typeface="Arial"/>
            </a:endParaRPr>
          </a:p>
        </p:txBody>
      </p:sp>
      <p:sp>
        <p:nvSpPr>
          <p:cNvPr id="1700"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1"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There's no header/implementation split to keep in sync, and therefore no class of bugs caused by them drifting apart.</a:t>
            </a:r>
            <a:endParaRPr b="0" lang="en-US" sz="1150" spc="-1" strike="noStrike">
              <a:solidFill>
                <a:srgbClr val="ffffff"/>
              </a:solidFill>
              <a:latin typeface="Arial"/>
            </a:endParaRPr>
          </a:p>
        </p:txBody>
      </p:sp>
      <p:sp>
        <p:nvSpPr>
          <p:cNvPr id="1702"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03"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0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MODULES</a:t>
            </a:r>
            <a:endParaRPr b="0" lang="en-US" sz="1300" spc="-1" strike="noStrike">
              <a:solidFill>
                <a:srgbClr val="ffffff"/>
              </a:solidFill>
              <a:latin typeface="Arial"/>
            </a:endParaRPr>
          </a:p>
        </p:txBody>
      </p:sp>
      <p:sp>
        <p:nvSpPr>
          <p:cNvPr id="170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pImpl and translation units vs. crate privacy</a:t>
            </a:r>
            <a:endParaRPr b="0" lang="en-US" sz="2800" spc="-1" strike="noStrike">
              <a:solidFill>
                <a:srgbClr val="ffffff"/>
              </a:solidFill>
              <a:latin typeface="Arial"/>
            </a:endParaRPr>
          </a:p>
        </p:txBody>
      </p:sp>
      <p:sp>
        <p:nvSpPr>
          <p:cNvPr id="170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70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71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hides implementation details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from the header, at the cost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of an extra heap allocation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and indirection per call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class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struct Impl; std::unique_ptr&lt;Impl&gt; p;</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1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pImpl idiom hides private implementation from consumers of a header — a common pattern to reduce compile-time coupling, at a real runtime cost.</a:t>
            </a:r>
            <a:endParaRPr b="0" lang="en-US" sz="1100" spc="-1" strike="noStrike">
              <a:solidFill>
                <a:srgbClr val="ffffff"/>
              </a:solidFill>
              <a:latin typeface="Arial"/>
            </a:endParaRPr>
          </a:p>
        </p:txBody>
      </p:sp>
      <p:sp>
        <p:nvSpPr>
          <p:cNvPr id="171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71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71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pub struct Widget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internal: InternalState, // private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field — invisible outside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this module, zero overhead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1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private field is simply invisible outside its module — no indirection, no extra allocation, and no separate header to leak details through.</a:t>
            </a:r>
            <a:endParaRPr b="0" lang="en-US" sz="1100" spc="-1" strike="noStrike">
              <a:solidFill>
                <a:srgbClr val="ffffff"/>
              </a:solidFill>
              <a:latin typeface="Arial"/>
            </a:endParaRPr>
          </a:p>
        </p:txBody>
      </p:sp>
      <p:sp>
        <p:nvSpPr>
          <p:cNvPr id="171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1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Encapsulation without an ABI-stability workaround: privacy is enforced by the module system, not purchased with an extra pointer indirection.</a:t>
            </a:r>
            <a:endParaRPr b="0" lang="en-US" sz="1150" spc="-1" strike="noStrike">
              <a:solidFill>
                <a:srgbClr val="ffffff"/>
              </a:solidFill>
              <a:latin typeface="Arial"/>
            </a:endParaRPr>
          </a:p>
        </p:txBody>
      </p:sp>
      <p:sp>
        <p:nvSpPr>
          <p:cNvPr id="172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2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2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MODULES &amp; VISIBILITY</a:t>
            </a:r>
            <a:endParaRPr b="0" lang="en-US" sz="1300" spc="-1" strike="noStrike">
              <a:solidFill>
                <a:srgbClr val="ffffff"/>
              </a:solidFill>
              <a:latin typeface="Arial"/>
            </a:endParaRPr>
          </a:p>
        </p:txBody>
      </p:sp>
      <p:sp>
        <p:nvSpPr>
          <p:cNvPr id="172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goes away entirely</a:t>
            </a:r>
            <a:endParaRPr b="0" lang="en-US" sz="2800" spc="-1" strike="noStrike">
              <a:solidFill>
                <a:srgbClr val="ffffff"/>
              </a:solidFill>
              <a:latin typeface="Arial"/>
            </a:endParaRPr>
          </a:p>
        </p:txBody>
      </p:sp>
      <p:sp>
        <p:nvSpPr>
          <p:cNvPr id="172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#include guards or #pragma once:  </a:t>
            </a:r>
            <a:r>
              <a:rPr b="0" lang="en-US" sz="1200" spc="-1" strike="noStrike">
                <a:solidFill>
                  <a:srgbClr val="9aa4b8"/>
                </a:solidFill>
                <a:latin typeface="Arial"/>
                <a:ea typeface="Arial"/>
              </a:rPr>
              <a:t>the module system has no equivalent failure mode to guard against.</a:t>
            </a:r>
            <a:endParaRPr b="0" lang="en-US" sz="1200" spc="-1" strike="noStrike">
              <a:solidFill>
                <a:srgbClr val="ffffff"/>
              </a:solidFill>
              <a:latin typeface="Arial"/>
            </a:endParaRPr>
          </a:p>
        </p:txBody>
      </p:sp>
      <p:sp>
        <p:nvSpPr>
          <p:cNvPr id="172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2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One Definition Rule violations from mismatched header versions across translation units:  </a:t>
            </a:r>
            <a:r>
              <a:rPr b="0" lang="en-US" sz="1200" spc="-1" strike="noStrike">
                <a:solidFill>
                  <a:srgbClr val="9aa4b8"/>
                </a:solidFill>
                <a:latin typeface="Arial"/>
                <a:ea typeface="Arial"/>
              </a:rPr>
              <a:t>the compiler processes one dependency graph, not textually-included copies.</a:t>
            </a:r>
            <a:endParaRPr b="0" lang="en-US" sz="1200" spc="-1" strike="noStrike">
              <a:solidFill>
                <a:srgbClr val="ffffff"/>
              </a:solidFill>
              <a:latin typeface="Arial"/>
            </a:endParaRPr>
          </a:p>
        </p:txBody>
      </p:sp>
      <p:sp>
        <p:nvSpPr>
          <p:cNvPr id="173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 forward declarations to keep synchronized with the real definition:  </a:t>
            </a:r>
            <a:r>
              <a:rPr b="0" lang="en-US" sz="1200" spc="-1" strike="noStrike">
                <a:solidFill>
                  <a:srgbClr val="9aa4b8"/>
                </a:solidFill>
                <a:latin typeface="Arial"/>
                <a:ea typeface="Arial"/>
              </a:rPr>
              <a:t>there's only one place a type is ever defined.</a:t>
            </a:r>
            <a:endParaRPr b="0" lang="en-US" sz="1200" spc="-1" strike="noStrike">
              <a:solidFill>
                <a:srgbClr val="ffffff"/>
              </a:solidFill>
              <a:latin typeface="Arial"/>
            </a:endParaRPr>
          </a:p>
        </p:txBody>
      </p:sp>
      <p:sp>
        <p:nvSpPr>
          <p:cNvPr id="173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3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35"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36"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13</a:t>
            </a:r>
            <a:endParaRPr b="0" lang="en-US" sz="3400" spc="-1" strike="noStrike">
              <a:solidFill>
                <a:srgbClr val="ffffff"/>
              </a:solidFill>
              <a:latin typeface="Arial"/>
            </a:endParaRPr>
          </a:p>
        </p:txBody>
      </p:sp>
      <p:sp>
        <p:nvSpPr>
          <p:cNvPr id="1737"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Concurrency: Fearless by Construction</a:t>
            </a:r>
            <a:endParaRPr b="0" lang="en-US" sz="2800" spc="-1" strike="noStrike">
              <a:solidFill>
                <a:srgbClr val="ffffff"/>
              </a:solidFill>
              <a:latin typeface="Arial"/>
            </a:endParaRPr>
          </a:p>
        </p:txBody>
      </p:sp>
      <p:sp>
        <p:nvSpPr>
          <p:cNvPr id="1738"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The argument from Module 1, now with the mechanism behind it</a:t>
            </a:r>
            <a:endParaRPr b="0" lang="en-US" sz="1350" spc="-1" strike="noStrike">
              <a:solidFill>
                <a:srgbClr val="ffffff"/>
              </a:solidFill>
              <a:latin typeface="Arial"/>
            </a:endParaRPr>
          </a:p>
        </p:txBody>
      </p:sp>
      <p:sp>
        <p:nvSpPr>
          <p:cNvPr id="1739"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40"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4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74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Recap: your existing concurrency toolkit</a:t>
            </a:r>
            <a:endParaRPr b="0" lang="en-US" sz="2800" spc="-1" strike="noStrike">
              <a:solidFill>
                <a:srgbClr val="ffffff"/>
              </a:solidFill>
              <a:latin typeface="Arial"/>
            </a:endParaRPr>
          </a:p>
        </p:txBody>
      </p:sp>
      <p:sp>
        <p:nvSpPr>
          <p:cNvPr id="174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std::thread, std::mutex, std::atomic, std::condition_variable:  </a:t>
            </a:r>
            <a:r>
              <a:rPr b="0" lang="en-US" sz="1200" spc="-1" strike="noStrike">
                <a:solidFill>
                  <a:srgbClr val="9aa4b8"/>
                </a:solidFill>
                <a:latin typeface="Arial"/>
                <a:ea typeface="Arial"/>
              </a:rPr>
              <a:t>the building blocks you already reach for.</a:t>
            </a:r>
            <a:endParaRPr b="0" lang="en-US" sz="1200" spc="-1" strike="noStrike">
              <a:solidFill>
                <a:srgbClr val="ffffff"/>
              </a:solidFill>
              <a:latin typeface="Arial"/>
            </a:endParaRPr>
          </a:p>
        </p:txBody>
      </p:sp>
      <p:sp>
        <p:nvSpPr>
          <p:cNvPr id="174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4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std::jthread and cooperative cancellation (C++20):  </a:t>
            </a:r>
            <a:r>
              <a:rPr b="0" lang="en-US" sz="1200" spc="-1" strike="noStrike">
                <a:solidFill>
                  <a:srgbClr val="9aa4b8"/>
                </a:solidFill>
                <a:latin typeface="Arial"/>
                <a:ea typeface="Arial"/>
              </a:rPr>
              <a:t>recent, welcome improvements to thread lifecycle management.</a:t>
            </a:r>
            <a:endParaRPr b="0" lang="en-US" sz="1200" spc="-1" strike="noStrike">
              <a:solidFill>
                <a:srgbClr val="ffffff"/>
              </a:solidFill>
              <a:latin typeface="Arial"/>
            </a:endParaRPr>
          </a:p>
        </p:txBody>
      </p:sp>
      <p:sp>
        <p:nvSpPr>
          <p:cNvPr id="174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All of it relies on you remembering which mutex protects which data,  </a:t>
            </a:r>
            <a:r>
              <a:rPr b="0" lang="en-US" sz="1200" spc="-1" strike="noStrike">
                <a:solidFill>
                  <a:srgbClr val="9aa4b8"/>
                </a:solidFill>
                <a:latin typeface="Arial"/>
                <a:ea typeface="Arial"/>
              </a:rPr>
              <a:t>and enforcing that discipline consistently across every call site, forever.</a:t>
            </a:r>
            <a:endParaRPr b="0" lang="en-US" sz="1200" spc="-1" strike="noStrike">
              <a:solidFill>
                <a:srgbClr val="ffffff"/>
              </a:solidFill>
              <a:latin typeface="Arial"/>
            </a:endParaRPr>
          </a:p>
        </p:txBody>
      </p:sp>
      <p:sp>
        <p:nvSpPr>
          <p:cNvPr id="175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5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a:t>
            </a:r>
            <a:endParaRPr b="0" lang="en-US" sz="1300" spc="-1" strike="noStrike">
              <a:solidFill>
                <a:srgbClr val="ffffff"/>
              </a:solidFill>
              <a:latin typeface="Arial"/>
            </a:endParaRPr>
          </a:p>
        </p:txBody>
      </p:sp>
      <p:sp>
        <p:nvSpPr>
          <p:cNvPr id="1755"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Data races: undefined behavior vs. compile error</a:t>
            </a:r>
            <a:endParaRPr b="0" lang="en-US" sz="2800" spc="-1" strike="noStrike">
              <a:solidFill>
                <a:srgbClr val="ffffff"/>
              </a:solidFill>
              <a:latin typeface="Arial"/>
            </a:endParaRPr>
          </a:p>
        </p:txBody>
      </p:sp>
      <p:sp>
        <p:nvSpPr>
          <p:cNvPr id="1756"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7"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58"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759"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760"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int counter = 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void worker() { counter++; } // race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std::thread t1(worker), t2(worker);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compiles, races silently at runtime</a:t>
            </a:r>
            <a:endParaRPr b="0" lang="en-US" sz="1200" spc="-1" strike="noStrike">
              <a:solidFill>
                <a:srgbClr val="ffffff"/>
              </a:solidFill>
              <a:latin typeface="Arial"/>
            </a:endParaRPr>
          </a:p>
        </p:txBody>
      </p:sp>
      <p:sp>
        <p:nvSpPr>
          <p:cNvPr id="1761"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Nothing about the type int or the function signature signals that counter is shared across threads. The race is invisible until it isn't.</a:t>
            </a:r>
            <a:endParaRPr b="0" lang="en-US" sz="1100" spc="-1" strike="noStrike">
              <a:solidFill>
                <a:srgbClr val="ffffff"/>
              </a:solidFill>
              <a:latin typeface="Arial"/>
            </a:endParaRPr>
          </a:p>
        </p:txBody>
      </p:sp>
      <p:sp>
        <p:nvSpPr>
          <p:cNvPr id="1762"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3"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4"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765"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766"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let counter = Arc::new(AtomicI32::new(0));</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c = counter.clone();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thread::spawn(move ||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c.fetch_add(1, Ordering::SeqCst);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67"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A plain i32 captured by a closure passed to thread::spawn fails to compile unless it's wrapped in a thread-safe type like AtomicI32 or Mutex.</a:t>
            </a:r>
            <a:endParaRPr b="0" lang="en-US" sz="1100" spc="-1" strike="noStrike">
              <a:solidFill>
                <a:srgbClr val="ffffff"/>
              </a:solidFill>
              <a:latin typeface="Arial"/>
            </a:endParaRPr>
          </a:p>
        </p:txBody>
      </p:sp>
      <p:sp>
        <p:nvSpPr>
          <p:cNvPr id="1768"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9"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compiler statically rejects sharing non-thread-safe data across threads — the race is caught before the program runs, not after it ships.</a:t>
            </a:r>
            <a:endParaRPr b="0" lang="en-US" sz="1150" spc="-1" strike="noStrike">
              <a:solidFill>
                <a:srgbClr val="ffffff"/>
              </a:solidFill>
              <a:latin typeface="Arial"/>
            </a:endParaRPr>
          </a:p>
        </p:txBody>
      </p:sp>
      <p:sp>
        <p:nvSpPr>
          <p:cNvPr id="1770"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71"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a:t>
            </a:r>
            <a:endParaRPr b="0" lang="en-US" sz="1300" spc="-1" strike="noStrike">
              <a:solidFill>
                <a:srgbClr val="ffffff"/>
              </a:solidFill>
              <a:latin typeface="Arial"/>
            </a:endParaRPr>
          </a:p>
        </p:txBody>
      </p:sp>
      <p:sp>
        <p:nvSpPr>
          <p:cNvPr id="1773"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Mutex-protects-data, verified by the compiler</a:t>
            </a:r>
            <a:endParaRPr b="0" lang="en-US" sz="2800" spc="-1" strike="noStrike">
              <a:solidFill>
                <a:srgbClr val="ffffff"/>
              </a:solidFill>
              <a:latin typeface="Arial"/>
            </a:endParaRPr>
          </a:p>
        </p:txBody>
      </p:sp>
      <p:sp>
        <p:nvSpPr>
          <p:cNvPr id="1774"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5"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76"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777"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778"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Account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balance;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std::mutex 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nothing enforces that every</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access to 'balance' takes 'm'</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779"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mutex and the protected data are separate members. A new code path can read or write balance while forgetting to lock m, and it compiles fine.</a:t>
            </a:r>
            <a:endParaRPr b="0" lang="en-US" sz="1100" spc="-1" strike="noStrike">
              <a:solidFill>
                <a:srgbClr val="ffffff"/>
              </a:solidFill>
              <a:latin typeface="Arial"/>
            </a:endParaRPr>
          </a:p>
        </p:txBody>
      </p:sp>
      <p:sp>
        <p:nvSpPr>
          <p:cNvPr id="1780"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1"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2"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783"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784"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struct Account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balance: Mutex&lt;i32&gt;,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there is no way to read or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write balance without going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through .lock()</a:t>
            </a:r>
            <a:endParaRPr b="0" lang="en-US" sz="1200" spc="-1" strike="noStrike">
              <a:solidFill>
                <a:srgbClr val="ffffff"/>
              </a:solidFill>
              <a:latin typeface="Arial"/>
            </a:endParaRPr>
          </a:p>
        </p:txBody>
      </p:sp>
      <p:sp>
        <p:nvSpPr>
          <p:cNvPr id="1785"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The Mutex owns the data. The only way to access the i32 inside is through the guard returned by .lock(), so forgetting to lock is a compile error.</a:t>
            </a:r>
            <a:endParaRPr b="0" lang="en-US" sz="1100" spc="-1" strike="noStrike">
              <a:solidFill>
                <a:srgbClr val="ffffff"/>
              </a:solidFill>
              <a:latin typeface="Arial"/>
            </a:endParaRPr>
          </a:p>
        </p:txBody>
      </p:sp>
      <p:sp>
        <p:nvSpPr>
          <p:cNvPr id="1786"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87"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This is the same example from Module 1, revisited with the underlying mechanism: the type system, not convention, enforces the coupling.</a:t>
            </a:r>
            <a:endParaRPr b="0" lang="en-US" sz="1150" spc="-1" strike="noStrike">
              <a:solidFill>
                <a:srgbClr val="ffffff"/>
              </a:solidFill>
              <a:latin typeface="Arial"/>
            </a:endParaRPr>
          </a:p>
        </p:txBody>
      </p:sp>
      <p:sp>
        <p:nvSpPr>
          <p:cNvPr id="1788"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789"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79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791"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Send and Sync: thread-safety as a marker trait</a:t>
            </a:r>
            <a:endParaRPr b="0" lang="en-US" sz="2800" spc="-1" strike="noStrike">
              <a:solidFill>
                <a:srgbClr val="ffffff"/>
              </a:solidFill>
              <a:latin typeface="Arial"/>
            </a:endParaRPr>
          </a:p>
        </p:txBody>
      </p:sp>
      <p:sp>
        <p:nvSpPr>
          <p:cNvPr id="1792"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3"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4"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Send:  </a:t>
            </a:r>
            <a:r>
              <a:rPr b="0" lang="en-US" sz="1200" spc="-1" strike="noStrike">
                <a:solidFill>
                  <a:srgbClr val="9aa4b8"/>
                </a:solidFill>
                <a:latin typeface="Arial"/>
                <a:ea typeface="Arial"/>
              </a:rPr>
              <a:t>a type is Send if it's safe to transfer ownership of it to another thread.</a:t>
            </a:r>
            <a:endParaRPr b="0" lang="en-US" sz="1200" spc="-1" strike="noStrike">
              <a:solidFill>
                <a:srgbClr val="ffffff"/>
              </a:solidFill>
              <a:latin typeface="Arial"/>
            </a:endParaRPr>
          </a:p>
        </p:txBody>
      </p:sp>
      <p:sp>
        <p:nvSpPr>
          <p:cNvPr id="1795"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6"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7"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Sync:  </a:t>
            </a:r>
            <a:r>
              <a:rPr b="0" lang="en-US" sz="1200" spc="-1" strike="noStrike">
                <a:solidFill>
                  <a:srgbClr val="9aa4b8"/>
                </a:solidFill>
                <a:latin typeface="Arial"/>
                <a:ea typeface="Arial"/>
              </a:rPr>
              <a:t>a type is Sync if it's safe for multiple threads to hold a shared reference to it simultaneously.</a:t>
            </a:r>
            <a:endParaRPr b="0" lang="en-US" sz="1200" spc="-1" strike="noStrike">
              <a:solidFill>
                <a:srgbClr val="ffffff"/>
              </a:solidFill>
              <a:latin typeface="Arial"/>
            </a:endParaRPr>
          </a:p>
        </p:txBody>
      </p:sp>
      <p:sp>
        <p:nvSpPr>
          <p:cNvPr id="1798"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99"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0"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Both are auto-derived for most types based on their fields,  </a:t>
            </a:r>
            <a:r>
              <a:rPr b="0" lang="en-US" sz="1200" spc="-1" strike="noStrike">
                <a:solidFill>
                  <a:srgbClr val="9aa4b8"/>
                </a:solidFill>
                <a:latin typeface="Arial"/>
                <a:ea typeface="Arial"/>
              </a:rPr>
              <a:t>and Rc&lt;T&gt; deliberately opts out of both — which is exactly why it can't cross a thread boundary.</a:t>
            </a:r>
            <a:endParaRPr b="0" lang="en-US" sz="1200" spc="-1" strike="noStrike">
              <a:solidFill>
                <a:srgbClr val="ffffff"/>
              </a:solidFill>
              <a:latin typeface="Arial"/>
            </a:endParaRPr>
          </a:p>
        </p:txBody>
      </p:sp>
      <p:sp>
        <p:nvSpPr>
          <p:cNvPr id="1801"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02"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0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a:t>
            </a:r>
            <a:endParaRPr b="0" lang="en-US" sz="1300" spc="-1" strike="noStrike">
              <a:solidFill>
                <a:srgbClr val="ffffff"/>
              </a:solidFill>
              <a:latin typeface="Arial"/>
            </a:endParaRPr>
          </a:p>
        </p:txBody>
      </p:sp>
      <p:sp>
        <p:nvSpPr>
          <p:cNvPr id="1804"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Dangling captures across threads</a:t>
            </a:r>
            <a:endParaRPr b="0" lang="en-US" sz="2800" spc="-1" strike="noStrike">
              <a:solidFill>
                <a:srgbClr val="ffffff"/>
              </a:solidFill>
              <a:latin typeface="Arial"/>
            </a:endParaRPr>
          </a:p>
        </p:txBody>
      </p:sp>
      <p:sp>
        <p:nvSpPr>
          <p:cNvPr id="1805"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6"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07"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808"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809"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void launch()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int local = 42;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std::thread t([&amp;local]{ use(local);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t.detach();</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 local destroyed — thread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now references dangling stack memory</a:t>
            </a:r>
            <a:endParaRPr b="0" lang="en-US" sz="1200" spc="-1" strike="noStrike">
              <a:solidFill>
                <a:srgbClr val="ffffff"/>
              </a:solidFill>
              <a:latin typeface="Arial"/>
            </a:endParaRPr>
          </a:p>
        </p:txBody>
      </p:sp>
      <p:sp>
        <p:nvSpPr>
          <p:cNvPr id="1810"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Capturing a local by reference in a detached or outlived thread is a classic use-after-scope bug, and the compiler has no way to catch it.</a:t>
            </a:r>
            <a:endParaRPr b="0" lang="en-US" sz="1100" spc="-1" strike="noStrike">
              <a:solidFill>
                <a:srgbClr val="ffffff"/>
              </a:solidFill>
              <a:latin typeface="Arial"/>
            </a:endParaRPr>
          </a:p>
        </p:txBody>
      </p:sp>
      <p:sp>
        <p:nvSpPr>
          <p:cNvPr id="1811"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2"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3"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814"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815"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fn launch()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let local = 42;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thread::spawn(move || use_it(local));</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'move' transfers ownership into</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the closure — no dangling capture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possible; 'static bound enforced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816"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thread::spawn requires the closure to be 'static (own everything it needs) unless using scoped threads, which the compiler verifies structurally.</a:t>
            </a:r>
            <a:endParaRPr b="0" lang="en-US" sz="1100" spc="-1" strike="noStrike">
              <a:solidFill>
                <a:srgbClr val="ffffff"/>
              </a:solidFill>
              <a:latin typeface="Arial"/>
            </a:endParaRPr>
          </a:p>
        </p:txBody>
      </p:sp>
      <p:sp>
        <p:nvSpPr>
          <p:cNvPr id="1817"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18"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exact bug pattern from the C++ example — a thread outliving what it references — is ruled out by the closure's ownership and lifetime bounds.</a:t>
            </a:r>
            <a:endParaRPr b="0" lang="en-US" sz="1150" spc="-1" strike="noStrike">
              <a:solidFill>
                <a:srgbClr val="ffffff"/>
              </a:solidFill>
              <a:latin typeface="Arial"/>
            </a:endParaRPr>
          </a:p>
        </p:txBody>
      </p:sp>
      <p:sp>
        <p:nvSpPr>
          <p:cNvPr id="1819"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20"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2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82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A brief look ahead: async/await</a:t>
            </a:r>
            <a:endParaRPr b="0" lang="en-US" sz="2800" spc="-1" strike="noStrike">
              <a:solidFill>
                <a:srgbClr val="ffffff"/>
              </a:solidFill>
              <a:latin typeface="Arial"/>
            </a:endParaRPr>
          </a:p>
        </p:txBody>
      </p:sp>
      <p:sp>
        <p:nvSpPr>
          <p:cNvPr id="1823"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Covered in depth on Day 2 — here's the headline comparison.</a:t>
            </a:r>
            <a:endParaRPr b="0" lang="en-US" sz="1300" spc="-1" strike="noStrike">
              <a:solidFill>
                <a:srgbClr val="ffffff"/>
              </a:solidFill>
              <a:latin typeface="Arial"/>
            </a:endParaRPr>
          </a:p>
        </p:txBody>
      </p:sp>
      <p:sp>
        <p:nvSpPr>
          <p:cNvPr id="1824"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5"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6"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C++20 coroutines give you the co_await/co_yield building blocks,  </a:t>
            </a:r>
            <a:r>
              <a:rPr b="0" lang="en-US" sz="1200" spc="-1" strike="noStrike">
                <a:solidFill>
                  <a:srgbClr val="9aa4b8"/>
                </a:solidFill>
                <a:latin typeface="Arial"/>
                <a:ea typeface="Arial"/>
              </a:rPr>
              <a:t>but no standard executor or async runtime ships with the language.</a:t>
            </a:r>
            <a:endParaRPr b="0" lang="en-US" sz="1200" spc="-1" strike="noStrike">
              <a:solidFill>
                <a:srgbClr val="ffffff"/>
              </a:solidFill>
              <a:latin typeface="Arial"/>
            </a:endParaRPr>
          </a:p>
        </p:txBody>
      </p:sp>
      <p:sp>
        <p:nvSpPr>
          <p:cNvPr id="1827"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8"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29"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Rust's async/await syntax is stable and standard,  </a:t>
            </a:r>
            <a:r>
              <a:rPr b="0" lang="en-US" sz="1200" spc="-1" strike="noStrike">
                <a:solidFill>
                  <a:srgbClr val="9aa4b8"/>
                </a:solidFill>
                <a:latin typeface="Arial"/>
                <a:ea typeface="Arial"/>
              </a:rPr>
              <a:t>paired with a runtime you choose explicitly (tokio, async-std) — similar split, different maturity level.</a:t>
            </a:r>
            <a:endParaRPr b="0" lang="en-US" sz="1200" spc="-1" strike="noStrike">
              <a:solidFill>
                <a:srgbClr val="ffffff"/>
              </a:solidFill>
              <a:latin typeface="Arial"/>
            </a:endParaRPr>
          </a:p>
        </p:txBody>
      </p:sp>
      <p:sp>
        <p:nvSpPr>
          <p:cNvPr id="1830"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1"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2"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Both models compile async functions into state machines;  </a:t>
            </a:r>
            <a:r>
              <a:rPr b="0" lang="en-US" sz="1200" spc="-1" strike="noStrike">
                <a:solidFill>
                  <a:srgbClr val="9aa4b8"/>
                </a:solidFill>
                <a:latin typeface="Arial"/>
                <a:ea typeface="Arial"/>
              </a:rPr>
              <a:t>the ownership rules you've just learned apply identically inside async code.</a:t>
            </a:r>
            <a:endParaRPr b="0" lang="en-US" sz="1200" spc="-1" strike="noStrike">
              <a:solidFill>
                <a:srgbClr val="ffffff"/>
              </a:solidFill>
              <a:latin typeface="Arial"/>
            </a:endParaRPr>
          </a:p>
        </p:txBody>
      </p:sp>
      <p:sp>
        <p:nvSpPr>
          <p:cNvPr id="1833"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34"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3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CONCURRENCY: FEARLESS BY CONSTRUCTION</a:t>
            </a:r>
            <a:endParaRPr b="0" lang="en-US" sz="1300" spc="-1" strike="noStrike">
              <a:solidFill>
                <a:srgbClr val="ffffff"/>
              </a:solidFill>
              <a:latin typeface="Arial"/>
            </a:endParaRPr>
          </a:p>
        </p:txBody>
      </p:sp>
      <p:sp>
        <p:nvSpPr>
          <p:cNvPr id="183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Channels: message passing instead of shared state</a:t>
            </a:r>
            <a:endParaRPr b="0" lang="en-US" sz="2800" spc="-1" strike="noStrike">
              <a:solidFill>
                <a:srgbClr val="ffffff"/>
              </a:solidFill>
              <a:latin typeface="Arial"/>
            </a:endParaRPr>
          </a:p>
        </p:txBody>
      </p:sp>
      <p:sp>
        <p:nvSpPr>
          <p:cNvPr id="183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3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std::sync::mpsc (or the more capable crossbeam-channel) gives you  </a:t>
            </a:r>
            <a:r>
              <a:rPr b="0" lang="en-US" sz="1200" spc="-1" strike="noStrike">
                <a:solidFill>
                  <a:srgbClr val="9aa4b8"/>
                </a:solidFill>
                <a:latin typeface="Arial"/>
                <a:ea typeface="Arial"/>
              </a:rPr>
              <a:t>a typed, multi-producer, single-consumer channel out of the box.</a:t>
            </a:r>
            <a:endParaRPr b="0" lang="en-US" sz="1200" spc="-1" strike="noStrike">
              <a:solidFill>
                <a:srgbClr val="ffffff"/>
              </a:solidFill>
              <a:latin typeface="Arial"/>
            </a:endParaRPr>
          </a:p>
        </p:txBody>
      </p:sp>
      <p:sp>
        <p:nvSpPr>
          <p:cNvPr id="184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Compare to hand-rolling a thread-safe queue with a mutex, a condition variable,  </a:t>
            </a:r>
            <a:r>
              <a:rPr b="0" lang="en-US" sz="1200" spc="-1" strike="noStrike">
                <a:solidFill>
                  <a:srgbClr val="9aa4b8"/>
                </a:solidFill>
                <a:latin typeface="Arial"/>
                <a:ea typeface="Arial"/>
              </a:rPr>
              <a:t>and careful attention to spurious wakeups and shutdown signaling.</a:t>
            </a:r>
            <a:endParaRPr b="0" lang="en-US" sz="1200" spc="-1" strike="noStrike">
              <a:solidFill>
                <a:srgbClr val="ffffff"/>
              </a:solidFill>
              <a:latin typeface="Arial"/>
            </a:endParaRPr>
          </a:p>
        </p:txBody>
      </p:sp>
      <p:sp>
        <p:nvSpPr>
          <p:cNvPr id="184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"Do not communicate by sharing memory; share memory by communicating"  </a:t>
            </a:r>
            <a:r>
              <a:rPr b="0" lang="en-US" sz="1200" spc="-1" strike="noStrike">
                <a:solidFill>
                  <a:srgbClr val="9aa4b8"/>
                </a:solidFill>
                <a:latin typeface="Arial"/>
                <a:ea typeface="Arial"/>
              </a:rPr>
              <a:t>is a design philosophy the standard library actively supports, not just a slogan.</a:t>
            </a:r>
            <a:endParaRPr b="0" lang="en-US" sz="1200" spc="-1" strike="noStrike">
              <a:solidFill>
                <a:srgbClr val="ffffff"/>
              </a:solidFill>
              <a:latin typeface="Arial"/>
            </a:endParaRPr>
          </a:p>
        </p:txBody>
      </p:sp>
      <p:sp>
        <p:nvSpPr>
          <p:cNvPr id="184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4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48"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49"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14</a:t>
            </a:r>
            <a:endParaRPr b="0" lang="en-US" sz="3400" spc="-1" strike="noStrike">
              <a:solidFill>
                <a:srgbClr val="ffffff"/>
              </a:solidFill>
              <a:latin typeface="Arial"/>
            </a:endParaRPr>
          </a:p>
        </p:txBody>
      </p:sp>
      <p:sp>
        <p:nvSpPr>
          <p:cNvPr id="1850"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Unsafe Rust &amp; C++ Interop</a:t>
            </a:r>
            <a:endParaRPr b="0" lang="en-US" sz="2800" spc="-1" strike="noStrike">
              <a:solidFill>
                <a:srgbClr val="ffffff"/>
              </a:solidFill>
              <a:latin typeface="Arial"/>
            </a:endParaRPr>
          </a:p>
        </p:txBody>
      </p:sp>
      <p:sp>
        <p:nvSpPr>
          <p:cNvPr id="1851"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Where the two languages actually meet — and the escape hatch you'll use on Day 3</a:t>
            </a:r>
            <a:endParaRPr b="0" lang="en-US" sz="1350" spc="-1" strike="noStrike">
              <a:solidFill>
                <a:srgbClr val="ffffff"/>
              </a:solidFill>
              <a:latin typeface="Arial"/>
            </a:endParaRPr>
          </a:p>
        </p:txBody>
      </p:sp>
      <p:sp>
        <p:nvSpPr>
          <p:cNvPr id="1852"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53"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5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 RUST &amp; C++ INTEROP</a:t>
            </a:r>
            <a:endParaRPr b="0" lang="en-US" sz="1300" spc="-1" strike="noStrike">
              <a:solidFill>
                <a:srgbClr val="ffffff"/>
              </a:solidFill>
              <a:latin typeface="Arial"/>
            </a:endParaRPr>
          </a:p>
        </p:txBody>
      </p:sp>
      <p:sp>
        <p:nvSpPr>
          <p:cNvPr id="185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What unsafe actually unlocks</a:t>
            </a:r>
            <a:endParaRPr b="0" lang="en-US" sz="2800" spc="-1" strike="noStrike">
              <a:solidFill>
                <a:srgbClr val="ffffff"/>
              </a:solidFill>
              <a:latin typeface="Arial"/>
            </a:endParaRPr>
          </a:p>
        </p:txBody>
      </p:sp>
      <p:sp>
        <p:nvSpPr>
          <p:cNvPr id="1856"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unsafe is not "turn off the borrow checker." It unlocks exactly five additional capabilities:</a:t>
            </a:r>
            <a:endParaRPr b="0" lang="en-US" sz="1300" spc="-1" strike="noStrike">
              <a:solidFill>
                <a:srgbClr val="ffffff"/>
              </a:solidFill>
              <a:latin typeface="Arial"/>
            </a:endParaRPr>
          </a:p>
        </p:txBody>
      </p:sp>
      <p:sp>
        <p:nvSpPr>
          <p:cNvPr id="1857"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8"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59"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Dereferencing raw pointers.  </a:t>
            </a:r>
            <a:endParaRPr b="0" lang="en-US" sz="1250" spc="-1" strike="noStrike">
              <a:solidFill>
                <a:srgbClr val="ffffff"/>
              </a:solidFill>
              <a:latin typeface="Arial"/>
            </a:endParaRPr>
          </a:p>
        </p:txBody>
      </p:sp>
      <p:sp>
        <p:nvSpPr>
          <p:cNvPr id="1860"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1"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2"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Calling other unsafe functions (including FFI calls into C/C++).  </a:t>
            </a:r>
            <a:endParaRPr b="0" lang="en-US" sz="1250" spc="-1" strike="noStrike">
              <a:solidFill>
                <a:srgbClr val="ffffff"/>
              </a:solidFill>
              <a:latin typeface="Arial"/>
            </a:endParaRPr>
          </a:p>
        </p:txBody>
      </p:sp>
      <p:sp>
        <p:nvSpPr>
          <p:cNvPr id="1863"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4"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65"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Mutating a static variable, implementing an unsafe trait, and accessing union fields.  </a:t>
            </a:r>
            <a:endParaRPr b="0" lang="en-US" sz="1250" spc="-1" strike="noStrike">
              <a:solidFill>
                <a:srgbClr val="ffffff"/>
              </a:solidFill>
              <a:latin typeface="Arial"/>
            </a:endParaRPr>
          </a:p>
        </p:txBody>
      </p:sp>
      <p:sp>
        <p:nvSpPr>
          <p:cNvPr id="1866"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67"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a:t>
            </a:r>
            <a:endParaRPr b="0" lang="en-US" sz="1300" spc="-1" strike="noStrike">
              <a:solidFill>
                <a:srgbClr val="ffffff"/>
              </a:solidFill>
              <a:latin typeface="Arial"/>
            </a:endParaRPr>
          </a:p>
        </p:txBody>
      </p:sp>
      <p:sp>
        <p:nvSpPr>
          <p:cNvPr id="1869"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Reframing: "unsafe Rust" vs. "all of C++"</a:t>
            </a:r>
            <a:endParaRPr b="0" lang="en-US" sz="2800" spc="-1" strike="noStrike">
              <a:solidFill>
                <a:srgbClr val="ffffff"/>
              </a:solidFill>
              <a:latin typeface="Arial"/>
            </a:endParaRPr>
          </a:p>
        </p:txBody>
      </p:sp>
      <p:sp>
        <p:nvSpPr>
          <p:cNvPr id="1870"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1"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2"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873"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874"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every line of ordinary C++ can</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dereference a raw pointer,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do pointer arithmetic, or</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invoke UB — there's no boundary</a:t>
            </a:r>
            <a:endParaRPr b="0" lang="en-US" sz="1200" spc="-1" strike="noStrike">
              <a:solidFill>
                <a:srgbClr val="ffffff"/>
              </a:solidFill>
              <a:latin typeface="Arial"/>
            </a:endParaRPr>
          </a:p>
        </p:txBody>
      </p:sp>
      <p:sp>
        <p:nvSpPr>
          <p:cNvPr id="1875"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In C++, the capabilities unsafe gates in Rust are simply always available, everywhere, with no syntactic marker distinguishing risky code from safe code.</a:t>
            </a:r>
            <a:endParaRPr b="0" lang="en-US" sz="1100" spc="-1" strike="noStrike">
              <a:solidFill>
                <a:srgbClr val="ffffff"/>
              </a:solidFill>
              <a:latin typeface="Arial"/>
            </a:endParaRPr>
          </a:p>
        </p:txBody>
      </p:sp>
      <p:sp>
        <p:nvSpPr>
          <p:cNvPr id="1876"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7"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78"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879"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880"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safe Rust: none of that is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possible — anywhere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unsafe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only HERE can you do the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 things C++ allows everywhere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p:txBody>
      </p:sp>
      <p:sp>
        <p:nvSpPr>
          <p:cNvPr id="1881"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unsafe draws a visible, searchable boundary. grep -rn "unsafe" tells you exactly where the riskiest 2% of your codebase lives.</a:t>
            </a:r>
            <a:endParaRPr b="0" lang="en-US" sz="1100" spc="-1" strike="noStrike">
              <a:solidFill>
                <a:srgbClr val="ffffff"/>
              </a:solidFill>
              <a:latin typeface="Arial"/>
            </a:endParaRPr>
          </a:p>
        </p:txBody>
      </p:sp>
      <p:sp>
        <p:nvSpPr>
          <p:cNvPr id="1882"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83"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capability isn't new — C++ has it throughout. What's new is that Rust makes that capability opt-in and visually greppable.</a:t>
            </a:r>
            <a:endParaRPr b="0" lang="en-US" sz="1150" spc="-1" strike="noStrike">
              <a:solidFill>
                <a:srgbClr val="ffffff"/>
              </a:solidFill>
              <a:latin typeface="Arial"/>
            </a:endParaRPr>
          </a:p>
        </p:txBody>
      </p:sp>
      <p:sp>
        <p:nvSpPr>
          <p:cNvPr id="1884"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85"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8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 RUST &amp; C++ INTEROP</a:t>
            </a:r>
            <a:endParaRPr b="0" lang="en-US" sz="1300" spc="-1" strike="noStrike">
              <a:solidFill>
                <a:srgbClr val="ffffff"/>
              </a:solidFill>
              <a:latin typeface="Arial"/>
            </a:endParaRPr>
          </a:p>
        </p:txBody>
      </p:sp>
      <p:sp>
        <p:nvSpPr>
          <p:cNvPr id="188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Foreign function interface basics</a:t>
            </a:r>
            <a:endParaRPr b="0" lang="en-US" sz="2800" spc="-1" strike="noStrike">
              <a:solidFill>
                <a:srgbClr val="ffffff"/>
              </a:solidFill>
              <a:latin typeface="Arial"/>
            </a:endParaRPr>
          </a:p>
        </p:txBody>
      </p:sp>
      <p:sp>
        <p:nvSpPr>
          <p:cNvPr id="1888"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89"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0"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extern "C" fn my_func(...) exposes a Rust function with a C-compatible ABI,  </a:t>
            </a:r>
            <a:r>
              <a:rPr b="0" lang="en-US" sz="1200" spc="-1" strike="noStrike">
                <a:solidFill>
                  <a:srgbClr val="9aa4b8"/>
                </a:solidFill>
                <a:latin typeface="Arial"/>
                <a:ea typeface="Arial"/>
              </a:rPr>
              <a:t>callable from C or C++ just like any C function.</a:t>
            </a:r>
            <a:endParaRPr b="0" lang="en-US" sz="1200" spc="-1" strike="noStrike">
              <a:solidFill>
                <a:srgbClr val="ffffff"/>
              </a:solidFill>
              <a:latin typeface="Arial"/>
            </a:endParaRPr>
          </a:p>
        </p:txBody>
      </p:sp>
      <p:sp>
        <p:nvSpPr>
          <p:cNvPr id="1891"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2"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3"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#[no_mangle] disables Rust's name mangling  </a:t>
            </a:r>
            <a:r>
              <a:rPr b="0" lang="en-US" sz="1200" spc="-1" strike="noStrike">
                <a:solidFill>
                  <a:srgbClr val="9aa4b8"/>
                </a:solidFill>
                <a:latin typeface="Arial"/>
                <a:ea typeface="Arial"/>
              </a:rPr>
              <a:t>so the symbol name in the compiled binary matches what you declared.</a:t>
            </a:r>
            <a:endParaRPr b="0" lang="en-US" sz="1200" spc="-1" strike="noStrike">
              <a:solidFill>
                <a:srgbClr val="ffffff"/>
              </a:solidFill>
              <a:latin typeface="Arial"/>
            </a:endParaRPr>
          </a:p>
        </p:txBody>
      </p:sp>
      <p:sp>
        <p:nvSpPr>
          <p:cNvPr id="1894"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5"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96"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Calling into existing C/C++ from Rust uses an extern "C" block declaring the foreign signatures,  </a:t>
            </a:r>
            <a:r>
              <a:rPr b="0" lang="en-US" sz="1200" spc="-1" strike="noStrike">
                <a:solidFill>
                  <a:srgbClr val="9aa4b8"/>
                </a:solidFill>
                <a:latin typeface="Arial"/>
                <a:ea typeface="Arial"/>
              </a:rPr>
              <a:t>mirroring a C++ header's declarations.</a:t>
            </a:r>
            <a:endParaRPr b="0" lang="en-US" sz="1200" spc="-1" strike="noStrike">
              <a:solidFill>
                <a:srgbClr val="ffffff"/>
              </a:solidFill>
              <a:latin typeface="Arial"/>
            </a:endParaRPr>
          </a:p>
        </p:txBody>
      </p:sp>
      <p:sp>
        <p:nvSpPr>
          <p:cNvPr id="1897"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898"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899"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a:t>
            </a:r>
            <a:endParaRPr b="0" lang="en-US" sz="1300" spc="-1" strike="noStrike">
              <a:solidFill>
                <a:srgbClr val="ffffff"/>
              </a:solidFill>
              <a:latin typeface="Arial"/>
            </a:endParaRPr>
          </a:p>
        </p:txBody>
      </p:sp>
      <p:sp>
        <p:nvSpPr>
          <p:cNvPr id="1900"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Calling C++ from Rust, and vice versa</a:t>
            </a:r>
            <a:endParaRPr b="0" lang="en-US" sz="2800" spc="-1" strike="noStrike">
              <a:solidFill>
                <a:srgbClr val="ffffff"/>
              </a:solidFill>
              <a:latin typeface="Arial"/>
            </a:endParaRPr>
          </a:p>
        </p:txBody>
      </p:sp>
      <p:sp>
        <p:nvSpPr>
          <p:cNvPr id="1901"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2"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3"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904"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 CALLING RUST</a:t>
            </a:r>
            <a:endParaRPr b="0" lang="en-US" sz="1300" spc="-1" strike="noStrike">
              <a:solidFill>
                <a:srgbClr val="ffffff"/>
              </a:solidFill>
              <a:latin typeface="Arial"/>
            </a:endParaRPr>
          </a:p>
        </p:txBody>
      </p:sp>
      <p:sp>
        <p:nvSpPr>
          <p:cNvPr id="1905"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extern "C" { int rust_add(int, int);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int x = rust_add(2, 3);</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works exactly like calling</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any other C-ABI function</a:t>
            </a:r>
            <a:endParaRPr b="0" lang="en-US" sz="1200" spc="-1" strike="noStrike">
              <a:solidFill>
                <a:srgbClr val="ffffff"/>
              </a:solidFill>
              <a:latin typeface="Arial"/>
            </a:endParaRPr>
          </a:p>
        </p:txBody>
      </p:sp>
      <p:sp>
        <p:nvSpPr>
          <p:cNvPr id="1906"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Once a Rust function is exposed with extern "C" and #[no_mangle], C++ calls it exactly like it would call a C library function.</a:t>
            </a:r>
            <a:endParaRPr b="0" lang="en-US" sz="1100" spc="-1" strike="noStrike">
              <a:solidFill>
                <a:srgbClr val="ffffff"/>
              </a:solidFill>
              <a:latin typeface="Arial"/>
            </a:endParaRPr>
          </a:p>
        </p:txBody>
      </p:sp>
      <p:sp>
        <p:nvSpPr>
          <p:cNvPr id="1907"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8"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09"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910"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 CALLING C++</a:t>
            </a:r>
            <a:endParaRPr b="0" lang="en-US" sz="1300" spc="-1" strike="noStrike">
              <a:solidFill>
                <a:srgbClr val="ffffff"/>
              </a:solidFill>
              <a:latin typeface="Arial"/>
            </a:endParaRPr>
          </a:p>
        </p:txBody>
      </p:sp>
      <p:sp>
        <p:nvSpPr>
          <p:cNvPr id="1911"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extern "C" { fn cpp_add(a: i32, b: i32)</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-&gt; i32;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let x = unsafe { cpp_add(2, 3)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the cxx or bindgen crates automate</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this for real-world C++ APIs</a:t>
            </a:r>
            <a:endParaRPr b="0" lang="en-US" sz="1200" spc="-1" strike="noStrike">
              <a:solidFill>
                <a:srgbClr val="ffffff"/>
              </a:solidFill>
              <a:latin typeface="Arial"/>
            </a:endParaRPr>
          </a:p>
        </p:txBody>
      </p:sp>
      <p:sp>
        <p:nvSpPr>
          <p:cNvPr id="1912"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Calling foreign code is inherently unsafe (the compiler can't verify the foreign side's contracts), but crates like cxx generate this boilerplate safely.</a:t>
            </a:r>
            <a:endParaRPr b="0" lang="en-US" sz="1100" spc="-1" strike="noStrike">
              <a:solidFill>
                <a:srgbClr val="ffffff"/>
              </a:solidFill>
              <a:latin typeface="Arial"/>
            </a:endParaRPr>
          </a:p>
        </p:txBody>
      </p:sp>
      <p:sp>
        <p:nvSpPr>
          <p:cNvPr id="1913"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14"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The two languages interoperate at the ABI level cleanly; the ecosystem (cxx, bindgen, cbindgen) exists specifically to make this boundary painless.</a:t>
            </a:r>
            <a:endParaRPr b="0" lang="en-US" sz="1150" spc="-1" strike="noStrike">
              <a:solidFill>
                <a:srgbClr val="ffffff"/>
              </a:solidFill>
              <a:latin typeface="Arial"/>
            </a:endParaRPr>
          </a:p>
        </p:txBody>
      </p:sp>
      <p:sp>
        <p:nvSpPr>
          <p:cNvPr id="1915"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16"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1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UNSAFE RUST &amp; C++ INTEROP</a:t>
            </a:r>
            <a:endParaRPr b="0" lang="en-US" sz="1300" spc="-1" strike="noStrike">
              <a:solidFill>
                <a:srgbClr val="ffffff"/>
              </a:solidFill>
              <a:latin typeface="Arial"/>
            </a:endParaRPr>
          </a:p>
        </p:txBody>
      </p:sp>
      <p:sp>
        <p:nvSpPr>
          <p:cNvPr id="191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When you'll actually reach for unsafe</a:t>
            </a:r>
            <a:endParaRPr b="0" lang="en-US" sz="2800" spc="-1" strike="noStrike">
              <a:solidFill>
                <a:srgbClr val="ffffff"/>
              </a:solidFill>
              <a:latin typeface="Arial"/>
            </a:endParaRPr>
          </a:p>
        </p:txBody>
      </p:sp>
      <p:sp>
        <p:nvSpPr>
          <p:cNvPr id="1919"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In practice, unsafe clusters in a small number of well-understood places.</a:t>
            </a:r>
            <a:endParaRPr b="0" lang="en-US" sz="1300" spc="-1" strike="noStrike">
              <a:solidFill>
                <a:srgbClr val="ffffff"/>
              </a:solidFill>
              <a:latin typeface="Arial"/>
            </a:endParaRPr>
          </a:p>
        </p:txBody>
      </p:sp>
      <p:sp>
        <p:nvSpPr>
          <p:cNvPr id="1920"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1"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2"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Implementing a data structure the borrow checker can't verify  </a:t>
            </a:r>
            <a:r>
              <a:rPr b="0" lang="en-US" sz="1200" spc="-1" strike="noStrike">
                <a:solidFill>
                  <a:srgbClr val="9aa4b8"/>
                </a:solidFill>
                <a:latin typeface="Arial"/>
                <a:ea typeface="Arial"/>
              </a:rPr>
              <a:t>(e.g. certain lock-free structures, intrusive linked lists).</a:t>
            </a:r>
            <a:endParaRPr b="0" lang="en-US" sz="1200" spc="-1" strike="noStrike">
              <a:solidFill>
                <a:srgbClr val="ffffff"/>
              </a:solidFill>
              <a:latin typeface="Arial"/>
            </a:endParaRPr>
          </a:p>
        </p:txBody>
      </p:sp>
      <p:sp>
        <p:nvSpPr>
          <p:cNvPr id="1923"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4"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5"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Talking to hardware, calling into a C/C++ library, or writing a low-level allocator.  </a:t>
            </a:r>
            <a:endParaRPr b="0" lang="en-US" sz="1250" spc="-1" strike="noStrike">
              <a:solidFill>
                <a:srgbClr val="ffffff"/>
              </a:solidFill>
              <a:latin typeface="Arial"/>
            </a:endParaRPr>
          </a:p>
        </p:txBody>
      </p:sp>
      <p:sp>
        <p:nvSpPr>
          <p:cNvPr id="1926"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7"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28"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is precisely the terrain Day 3 lives in:  </a:t>
            </a:r>
            <a:r>
              <a:rPr b="0" lang="en-US" sz="1200" spc="-1" strike="noStrike">
                <a:solidFill>
                  <a:srgbClr val="9aa4b8"/>
                </a:solidFill>
                <a:latin typeface="Arial"/>
                <a:ea typeface="Arial"/>
              </a:rPr>
              <a:t>writing and calling GPU kernels means crossing the Rust/CUDA-C++ boundary deliberately and carefully.</a:t>
            </a:r>
            <a:endParaRPr b="0" lang="en-US" sz="1200" spc="-1" strike="noStrike">
              <a:solidFill>
                <a:srgbClr val="ffffff"/>
              </a:solidFill>
              <a:latin typeface="Arial"/>
            </a:endParaRPr>
          </a:p>
        </p:txBody>
      </p:sp>
      <p:sp>
        <p:nvSpPr>
          <p:cNvPr id="1929"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30"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31"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32"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15</a:t>
            </a:r>
            <a:endParaRPr b="0" lang="en-US" sz="3400" spc="-1" strike="noStrike">
              <a:solidFill>
                <a:srgbClr val="ffffff"/>
              </a:solidFill>
              <a:latin typeface="Arial"/>
            </a:endParaRPr>
          </a:p>
        </p:txBody>
      </p:sp>
      <p:sp>
        <p:nvSpPr>
          <p:cNvPr id="1933"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Tooling &amp; Testing</a:t>
            </a:r>
            <a:endParaRPr b="0" lang="en-US" sz="2800" spc="-1" strike="noStrike">
              <a:solidFill>
                <a:srgbClr val="ffffff"/>
              </a:solidFill>
              <a:latin typeface="Arial"/>
            </a:endParaRPr>
          </a:p>
        </p:txBody>
      </p:sp>
      <p:sp>
        <p:nvSpPr>
          <p:cNvPr id="1934"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What ships in the box, versus what you assemble yourself</a:t>
            </a:r>
            <a:endParaRPr b="0" lang="en-US" sz="1350" spc="-1" strike="noStrike">
              <a:solidFill>
                <a:srgbClr val="ffffff"/>
              </a:solidFill>
              <a:latin typeface="Arial"/>
            </a:endParaRPr>
          </a:p>
        </p:txBody>
      </p:sp>
      <p:sp>
        <p:nvSpPr>
          <p:cNvPr id="1935"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36"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3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a:t>
            </a:r>
            <a:endParaRPr b="0" lang="en-US" sz="1300" spc="-1" strike="noStrike">
              <a:solidFill>
                <a:srgbClr val="ffffff"/>
              </a:solidFill>
              <a:latin typeface="Arial"/>
            </a:endParaRPr>
          </a:p>
        </p:txBody>
      </p:sp>
      <p:sp>
        <p:nvSpPr>
          <p:cNvPr id="1938" name="Text 1"/>
          <p:cNvSpPr/>
          <p:nvPr/>
        </p:nvSpPr>
        <p:spPr>
          <a:xfrm>
            <a:off x="548640" y="71316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Unit testing setup</a:t>
            </a:r>
            <a:endParaRPr b="0" lang="en-US" sz="2800" spc="-1" strike="noStrike">
              <a:solidFill>
                <a:srgbClr val="ffffff"/>
              </a:solidFill>
              <a:latin typeface="Arial"/>
            </a:endParaRPr>
          </a:p>
        </p:txBody>
      </p:sp>
      <p:sp>
        <p:nvSpPr>
          <p:cNvPr id="1939" name="Shape 2"/>
          <p:cNvSpPr/>
          <p:nvPr/>
        </p:nvSpPr>
        <p:spPr>
          <a:xfrm>
            <a:off x="548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0" name="Shape 3"/>
          <p:cNvSpPr/>
          <p:nvPr/>
        </p:nvSpPr>
        <p:spPr>
          <a:xfrm>
            <a:off x="777240" y="1892880"/>
            <a:ext cx="382680" cy="382680"/>
          </a:xfrm>
          <a:prstGeom prst="roundRect">
            <a:avLst>
              <a:gd name="adj" fmla="val 119048"/>
            </a:avLst>
          </a:prstGeom>
          <a:solidFill>
            <a:srgbClr val="22283a"/>
          </a:solidFill>
          <a:ln w="12700">
            <a:solidFill>
              <a:srgbClr val="3e8fe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1" name="Text 4"/>
          <p:cNvSpPr/>
          <p:nvPr/>
        </p:nvSpPr>
        <p:spPr>
          <a:xfrm>
            <a:off x="777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3e8fe0"/>
                </a:solidFill>
                <a:latin typeface="Consolas"/>
                <a:ea typeface="Consolas"/>
              </a:rPr>
              <a:t>C++</a:t>
            </a:r>
            <a:endParaRPr b="0" lang="en-US" sz="950" spc="-1" strike="noStrike">
              <a:solidFill>
                <a:srgbClr val="ffffff"/>
              </a:solidFill>
              <a:latin typeface="Arial"/>
            </a:endParaRPr>
          </a:p>
        </p:txBody>
      </p:sp>
      <p:sp>
        <p:nvSpPr>
          <p:cNvPr id="1942" name="Text 5"/>
          <p:cNvSpPr/>
          <p:nvPr/>
        </p:nvSpPr>
        <p:spPr>
          <a:xfrm>
            <a:off x="1280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3e8fe0"/>
                </a:solidFill>
                <a:latin typeface="Arial"/>
                <a:ea typeface="Arial"/>
              </a:rPr>
              <a:t>C++</a:t>
            </a:r>
            <a:endParaRPr b="0" lang="en-US" sz="1300" spc="-1" strike="noStrike">
              <a:solidFill>
                <a:srgbClr val="ffffff"/>
              </a:solidFill>
              <a:latin typeface="Arial"/>
            </a:endParaRPr>
          </a:p>
        </p:txBody>
      </p:sp>
      <p:sp>
        <p:nvSpPr>
          <p:cNvPr id="1943" name="Text 6"/>
          <p:cNvSpPr/>
          <p:nvPr/>
        </p:nvSpPr>
        <p:spPr>
          <a:xfrm>
            <a:off x="822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 requires choosing and</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integrating GoogleTest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or Catch2, wiring it into</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CMake, and adding a</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separate test target</a:t>
            </a:r>
            <a:endParaRPr b="0" lang="en-US" sz="1200" spc="-1" strike="noStrike">
              <a:solidFill>
                <a:srgbClr val="ffffff"/>
              </a:solidFill>
              <a:latin typeface="Arial"/>
            </a:endParaRPr>
          </a:p>
        </p:txBody>
      </p:sp>
      <p:sp>
        <p:nvSpPr>
          <p:cNvPr id="1944" name="Text 7"/>
          <p:cNvSpPr/>
          <p:nvPr/>
        </p:nvSpPr>
        <p:spPr>
          <a:xfrm>
            <a:off x="822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Testing frameworks are third-party and require deliberate setup: fetching the library, linking it, and configuring a separate build target.</a:t>
            </a:r>
            <a:endParaRPr b="0" lang="en-US" sz="1100" spc="-1" strike="noStrike">
              <a:solidFill>
                <a:srgbClr val="ffffff"/>
              </a:solidFill>
              <a:latin typeface="Arial"/>
            </a:endParaRPr>
          </a:p>
        </p:txBody>
      </p:sp>
      <p:sp>
        <p:nvSpPr>
          <p:cNvPr id="1945" name="Shape 8"/>
          <p:cNvSpPr/>
          <p:nvPr/>
        </p:nvSpPr>
        <p:spPr>
          <a:xfrm>
            <a:off x="6263640" y="1691640"/>
            <a:ext cx="5347800" cy="324468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6" name="Shape 9"/>
          <p:cNvSpPr/>
          <p:nvPr/>
        </p:nvSpPr>
        <p:spPr>
          <a:xfrm>
            <a:off x="6492240" y="1892880"/>
            <a:ext cx="382680" cy="382680"/>
          </a:xfrm>
          <a:prstGeom prst="roundRect">
            <a:avLst>
              <a:gd name="adj" fmla="val 119048"/>
            </a:avLst>
          </a:prstGeom>
          <a:solidFill>
            <a:srgbClr val="2e2019"/>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47" name="Text 10"/>
          <p:cNvSpPr/>
          <p:nvPr/>
        </p:nvSpPr>
        <p:spPr>
          <a:xfrm>
            <a:off x="6492240" y="1892880"/>
            <a:ext cx="382680" cy="382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e8804f"/>
                </a:solidFill>
                <a:latin typeface="Consolas"/>
                <a:ea typeface="Consolas"/>
              </a:rPr>
              <a:t>R</a:t>
            </a:r>
            <a:endParaRPr b="0" lang="en-US" sz="1400" spc="-1" strike="noStrike">
              <a:solidFill>
                <a:srgbClr val="ffffff"/>
              </a:solidFill>
              <a:latin typeface="Arial"/>
            </a:endParaRPr>
          </a:p>
        </p:txBody>
      </p:sp>
      <p:sp>
        <p:nvSpPr>
          <p:cNvPr id="1948" name="Text 11"/>
          <p:cNvSpPr/>
          <p:nvPr/>
        </p:nvSpPr>
        <p:spPr>
          <a:xfrm>
            <a:off x="6995160" y="1911240"/>
            <a:ext cx="3656160" cy="364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89" strike="noStrike">
                <a:solidFill>
                  <a:srgbClr val="e8804f"/>
                </a:solidFill>
                <a:latin typeface="Arial"/>
                <a:ea typeface="Arial"/>
              </a:rPr>
              <a:t>RUST</a:t>
            </a:r>
            <a:endParaRPr b="0" lang="en-US" sz="1300" spc="-1" strike="noStrike">
              <a:solidFill>
                <a:srgbClr val="ffffff"/>
              </a:solidFill>
              <a:latin typeface="Arial"/>
            </a:endParaRPr>
          </a:p>
        </p:txBody>
      </p:sp>
      <p:sp>
        <p:nvSpPr>
          <p:cNvPr id="1949" name="Text 12"/>
          <p:cNvSpPr/>
          <p:nvPr/>
        </p:nvSpPr>
        <p:spPr>
          <a:xfrm>
            <a:off x="6537960" y="2468880"/>
            <a:ext cx="4799160" cy="141588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0000"/>
              </a:lnSpc>
              <a:tabLst>
                <a:tab algn="l" pos="0"/>
              </a:tabLst>
            </a:pPr>
            <a:r>
              <a:rPr b="0" lang="en-US" sz="1200" spc="-1" strike="noStrike">
                <a:solidFill>
                  <a:srgbClr val="edeff4"/>
                </a:solidFill>
                <a:latin typeface="Consolas"/>
                <a:ea typeface="Consolas"/>
              </a:rPr>
              <a:t>#[test]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fn adds_correctly() {</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a:t>
            </a:r>
            <a:r>
              <a:rPr b="0" lang="en-US" sz="1200" spc="-1" strike="noStrike">
                <a:solidFill>
                  <a:srgbClr val="edeff4"/>
                </a:solidFill>
                <a:latin typeface="Consolas"/>
                <a:ea typeface="Consolas"/>
              </a:rPr>
              <a:t>assert_eq!(2 + 2, 4);</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cargo test finds and runs</a:t>
            </a:r>
            <a:endParaRPr b="0" lang="en-US" sz="1200" spc="-1" strike="noStrike">
              <a:solidFill>
                <a:srgbClr val="ffffff"/>
              </a:solidFill>
              <a:latin typeface="Arial"/>
            </a:endParaRPr>
          </a:p>
          <a:p>
            <a:pPr defTabSz="914400">
              <a:lnSpc>
                <a:spcPct val="120000"/>
              </a:lnSpc>
              <a:tabLst>
                <a:tab algn="l" pos="0"/>
              </a:tabLst>
            </a:pPr>
            <a:r>
              <a:rPr b="0" lang="en-US" sz="1200" spc="-1" strike="noStrike">
                <a:solidFill>
                  <a:srgbClr val="edeff4"/>
                </a:solidFill>
                <a:latin typeface="Consolas"/>
                <a:ea typeface="Consolas"/>
              </a:rPr>
              <a:t>// this automatically</a:t>
            </a:r>
            <a:endParaRPr b="0" lang="en-US" sz="1200" spc="-1" strike="noStrike">
              <a:solidFill>
                <a:srgbClr val="ffffff"/>
              </a:solidFill>
              <a:latin typeface="Arial"/>
            </a:endParaRPr>
          </a:p>
        </p:txBody>
      </p:sp>
      <p:sp>
        <p:nvSpPr>
          <p:cNvPr id="1950" name="Text 13"/>
          <p:cNvSpPr/>
          <p:nvPr/>
        </p:nvSpPr>
        <p:spPr>
          <a:xfrm>
            <a:off x="6537960" y="4023360"/>
            <a:ext cx="4799160" cy="730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2000"/>
              </a:lnSpc>
              <a:tabLst>
                <a:tab algn="l" pos="0"/>
              </a:tabLst>
            </a:pPr>
            <a:r>
              <a:rPr b="0" lang="en-US" sz="1100" spc="-1" strike="noStrike">
                <a:solidFill>
                  <a:srgbClr val="9aa4b8"/>
                </a:solidFill>
                <a:latin typeface="Arial"/>
                <a:ea typeface="Arial"/>
              </a:rPr>
              <a:t>Testing is built into the language (#[test]) and the toolchain (cargo test). No separate framework, dependency, or build target is required.</a:t>
            </a:r>
            <a:endParaRPr b="0" lang="en-US" sz="1100" spc="-1" strike="noStrike">
              <a:solidFill>
                <a:srgbClr val="ffffff"/>
              </a:solidFill>
              <a:latin typeface="Arial"/>
            </a:endParaRPr>
          </a:p>
        </p:txBody>
      </p:sp>
      <p:sp>
        <p:nvSpPr>
          <p:cNvPr id="1951" name="Shape 14"/>
          <p:cNvSpPr/>
          <p:nvPr/>
        </p:nvSpPr>
        <p:spPr>
          <a:xfrm>
            <a:off x="548640" y="5102280"/>
            <a:ext cx="11062800" cy="56556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2" name="Text 15"/>
          <p:cNvSpPr/>
          <p:nvPr/>
        </p:nvSpPr>
        <p:spPr>
          <a:xfrm>
            <a:off x="777240" y="5102280"/>
            <a:ext cx="10605600" cy="56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50" spc="-1" strike="noStrike">
                <a:solidFill>
                  <a:srgbClr val="e8804f"/>
                </a:solidFill>
                <a:latin typeface="Arial"/>
                <a:ea typeface="Arial"/>
              </a:rPr>
              <a:t>Why:  </a:t>
            </a:r>
            <a:r>
              <a:rPr b="0" lang="en-US" sz="1150" spc="-1" strike="noStrike">
                <a:solidFill>
                  <a:srgbClr val="edeff4"/>
                </a:solidFill>
                <a:latin typeface="Arial"/>
                <a:ea typeface="Arial"/>
              </a:rPr>
              <a:t>Zero-setup testing means a throwaway prototype and a mission-critical library get the same frictionless path to having tests at all.</a:t>
            </a:r>
            <a:endParaRPr b="0" lang="en-US" sz="1150" spc="-1" strike="noStrike">
              <a:solidFill>
                <a:srgbClr val="ffffff"/>
              </a:solidFill>
              <a:latin typeface="Arial"/>
            </a:endParaRPr>
          </a:p>
        </p:txBody>
      </p:sp>
      <p:sp>
        <p:nvSpPr>
          <p:cNvPr id="1953" name="Text 16"/>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54" name="Text 17"/>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5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5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Clippy: the linter that ships with the toolchain</a:t>
            </a:r>
            <a:endParaRPr b="0" lang="en-US" sz="2800" spc="-1" strike="noStrike">
              <a:solidFill>
                <a:srgbClr val="ffffff"/>
              </a:solidFill>
              <a:latin typeface="Arial"/>
            </a:endParaRPr>
          </a:p>
        </p:txBody>
      </p:sp>
      <p:sp>
        <p:nvSpPr>
          <p:cNvPr id="195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5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clippy runs hundreds of lints for idiomatic patterns,  </a:t>
            </a:r>
            <a:r>
              <a:rPr b="0" lang="en-US" sz="1200" spc="-1" strike="noStrike">
                <a:solidFill>
                  <a:srgbClr val="9aa4b8"/>
                </a:solidFill>
                <a:latin typeface="Arial"/>
                <a:ea typeface="Arial"/>
              </a:rPr>
              <a:t>performance footguns, and likely-bug patterns — directly analogous to clang-tidy.</a:t>
            </a:r>
            <a:endParaRPr b="0" lang="en-US" sz="1200" spc="-1" strike="noStrike">
              <a:solidFill>
                <a:srgbClr val="ffffff"/>
              </a:solidFill>
              <a:latin typeface="Arial"/>
            </a:endParaRPr>
          </a:p>
        </p:txBody>
      </p:sp>
      <p:sp>
        <p:nvSpPr>
          <p:cNvPr id="196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Unlike many clang-tidy setups, clippy requires no separate configuration file  </a:t>
            </a:r>
            <a:r>
              <a:rPr b="0" lang="en-US" sz="1200" spc="-1" strike="noStrike">
                <a:solidFill>
                  <a:srgbClr val="9aa4b8"/>
                </a:solidFill>
                <a:latin typeface="Arial"/>
                <a:ea typeface="Arial"/>
              </a:rPr>
              <a:t>to get a strong baseline — it works well the moment you run it.</a:t>
            </a:r>
            <a:endParaRPr b="0" lang="en-US" sz="1200" spc="-1" strike="noStrike">
              <a:solidFill>
                <a:srgbClr val="ffffff"/>
              </a:solidFill>
              <a:latin typeface="Arial"/>
            </a:endParaRPr>
          </a:p>
        </p:txBody>
      </p:sp>
      <p:sp>
        <p:nvSpPr>
          <p:cNvPr id="196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6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Lints are categorized (correctness, style, performance, pedantic)  </a:t>
            </a:r>
            <a:r>
              <a:rPr b="0" lang="en-US" sz="1200" spc="-1" strike="noStrike">
                <a:solidFill>
                  <a:srgbClr val="9aa4b8"/>
                </a:solidFill>
                <a:latin typeface="Arial"/>
                <a:ea typeface="Arial"/>
              </a:rPr>
              <a:t>so teams can tune strictness without an external ruleset to maintain.</a:t>
            </a:r>
            <a:endParaRPr b="0" lang="en-US" sz="1200" spc="-1" strike="noStrike">
              <a:solidFill>
                <a:srgbClr val="ffffff"/>
              </a:solidFill>
              <a:latin typeface="Arial"/>
            </a:endParaRPr>
          </a:p>
        </p:txBody>
      </p:sp>
      <p:sp>
        <p:nvSpPr>
          <p:cNvPr id="196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6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6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69"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rustfmt: one canonical style, no debate</a:t>
            </a:r>
            <a:endParaRPr b="0" lang="en-US" sz="2800" spc="-1" strike="noStrike">
              <a:solidFill>
                <a:srgbClr val="ffffff"/>
              </a:solidFill>
              <a:latin typeface="Arial"/>
            </a:endParaRPr>
          </a:p>
        </p:txBody>
      </p:sp>
      <p:sp>
        <p:nvSpPr>
          <p:cNvPr id="1970"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1"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2"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fmt reformats the entire codebase to a single, community-standard style,  </a:t>
            </a:r>
            <a:r>
              <a:rPr b="0" lang="en-US" sz="1200" spc="-1" strike="noStrike">
                <a:solidFill>
                  <a:srgbClr val="9aa4b8"/>
                </a:solidFill>
                <a:latin typeface="Arial"/>
                <a:ea typeface="Arial"/>
              </a:rPr>
              <a:t>the direct analogue of clang-format.</a:t>
            </a:r>
            <a:endParaRPr b="0" lang="en-US" sz="1200" spc="-1" strike="noStrike">
              <a:solidFill>
                <a:srgbClr val="ffffff"/>
              </a:solidFill>
              <a:latin typeface="Arial"/>
            </a:endParaRPr>
          </a:p>
        </p:txBody>
      </p:sp>
      <p:sp>
        <p:nvSpPr>
          <p:cNvPr id="1973"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4"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5"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Because there's one dominant convention across the whole ecosystem,  </a:t>
            </a:r>
            <a:r>
              <a:rPr b="0" lang="en-US" sz="1200" spc="-1" strike="noStrike">
                <a:solidFill>
                  <a:srgbClr val="9aa4b8"/>
                </a:solidFill>
                <a:latin typeface="Arial"/>
                <a:ea typeface="Arial"/>
              </a:rPr>
              <a:t>every crate you depend on already looks the way your own code does.</a:t>
            </a:r>
            <a:endParaRPr b="0" lang="en-US" sz="1200" spc="-1" strike="noStrike">
              <a:solidFill>
                <a:srgbClr val="ffffff"/>
              </a:solidFill>
              <a:latin typeface="Arial"/>
            </a:endParaRPr>
          </a:p>
        </p:txBody>
      </p:sp>
      <p:sp>
        <p:nvSpPr>
          <p:cNvPr id="1976"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7"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78"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This ends the "tabs vs. spaces" class of code review comments  </a:t>
            </a:r>
            <a:r>
              <a:rPr b="0" lang="en-US" sz="1200" spc="-1" strike="noStrike">
                <a:solidFill>
                  <a:srgbClr val="9aa4b8"/>
                </a:solidFill>
                <a:latin typeface="Arial"/>
                <a:ea typeface="Arial"/>
              </a:rPr>
              <a:t>before they start.</a:t>
            </a:r>
            <a:endParaRPr b="0" lang="en-US" sz="1200" spc="-1" strike="noStrike">
              <a:solidFill>
                <a:srgbClr val="ffffff"/>
              </a:solidFill>
              <a:latin typeface="Arial"/>
            </a:endParaRPr>
          </a:p>
        </p:txBody>
      </p:sp>
      <p:sp>
        <p:nvSpPr>
          <p:cNvPr id="1979"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80"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81"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82"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Documentation: cargo doc vs. Doxygen</a:t>
            </a:r>
            <a:endParaRPr b="0" lang="en-US" sz="2800" spc="-1" strike="noStrike">
              <a:solidFill>
                <a:srgbClr val="ffffff"/>
              </a:solidFill>
              <a:latin typeface="Arial"/>
            </a:endParaRPr>
          </a:p>
        </p:txBody>
      </p:sp>
      <p:sp>
        <p:nvSpPr>
          <p:cNvPr id="1983"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4"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5"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 doc comments support embedded, runnable code examples  </a:t>
            </a:r>
            <a:r>
              <a:rPr b="0" lang="en-US" sz="1200" spc="-1" strike="noStrike">
                <a:solidFill>
                  <a:srgbClr val="9aa4b8"/>
                </a:solidFill>
                <a:latin typeface="Arial"/>
                <a:ea typeface="Arial"/>
              </a:rPr>
              <a:t>that cargo test actually executes — your documentation can't silently go stale and wrong.</a:t>
            </a:r>
            <a:endParaRPr b="0" lang="en-US" sz="1200" spc="-1" strike="noStrike">
              <a:solidFill>
                <a:srgbClr val="ffffff"/>
              </a:solidFill>
              <a:latin typeface="Arial"/>
            </a:endParaRPr>
          </a:p>
        </p:txBody>
      </p:sp>
      <p:sp>
        <p:nvSpPr>
          <p:cNvPr id="1986"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7"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88"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doc --open generates browsable HTML documentation for your crate and every dependency,  </a:t>
            </a:r>
            <a:r>
              <a:rPr b="0" lang="en-US" sz="1200" spc="-1" strike="noStrike">
                <a:solidFill>
                  <a:srgbClr val="9aa4b8"/>
                </a:solidFill>
                <a:latin typeface="Arial"/>
                <a:ea typeface="Arial"/>
              </a:rPr>
              <a:t>with consistent formatting across the whole ecosystem.</a:t>
            </a:r>
            <a:endParaRPr b="0" lang="en-US" sz="1200" spc="-1" strike="noStrike">
              <a:solidFill>
                <a:srgbClr val="ffffff"/>
              </a:solidFill>
              <a:latin typeface="Arial"/>
            </a:endParaRPr>
          </a:p>
        </p:txBody>
      </p:sp>
      <p:sp>
        <p:nvSpPr>
          <p:cNvPr id="1989"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0"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1"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docs.rs automatically builds and hosts documentation  </a:t>
            </a:r>
            <a:r>
              <a:rPr b="0" lang="en-US" sz="1200" spc="-1" strike="noStrike">
                <a:solidFill>
                  <a:srgbClr val="9aa4b8"/>
                </a:solidFill>
                <a:latin typeface="Arial"/>
                <a:ea typeface="Arial"/>
              </a:rPr>
              <a:t>for every version of every public crate, for free.</a:t>
            </a:r>
            <a:endParaRPr b="0" lang="en-US" sz="1200" spc="-1" strike="noStrike">
              <a:solidFill>
                <a:srgbClr val="ffffff"/>
              </a:solidFill>
              <a:latin typeface="Arial"/>
            </a:endParaRPr>
          </a:p>
        </p:txBody>
      </p:sp>
      <p:sp>
        <p:nvSpPr>
          <p:cNvPr id="1992"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1993"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199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1995"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Package ecosystem maturity: an honest comparison</a:t>
            </a:r>
            <a:endParaRPr b="0" lang="en-US" sz="2800" spc="-1" strike="noStrike">
              <a:solidFill>
                <a:srgbClr val="ffffff"/>
              </a:solidFill>
              <a:latin typeface="Arial"/>
            </a:endParaRPr>
          </a:p>
        </p:txBody>
      </p:sp>
      <p:sp>
        <p:nvSpPr>
          <p:cNvPr id="1996"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7"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998"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crates.io centralizes discovery the way vcpkg and Conan both aspire to,  </a:t>
            </a:r>
            <a:r>
              <a:rPr b="0" lang="en-US" sz="1200" spc="-1" strike="noStrike">
                <a:solidFill>
                  <a:srgbClr val="9aa4b8"/>
                </a:solidFill>
                <a:latin typeface="Arial"/>
                <a:ea typeface="Arial"/>
              </a:rPr>
              <a:t>with a single canonical registry rather than several competing ones.</a:t>
            </a:r>
            <a:endParaRPr b="0" lang="en-US" sz="1200" spc="-1" strike="noStrike">
              <a:solidFill>
                <a:srgbClr val="ffffff"/>
              </a:solidFill>
              <a:latin typeface="Arial"/>
            </a:endParaRPr>
          </a:p>
        </p:txBody>
      </p:sp>
      <p:sp>
        <p:nvSpPr>
          <p:cNvPr id="1999"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0"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1"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General-purpose and web/backend crates are extremely mature;  </a:t>
            </a:r>
            <a:r>
              <a:rPr b="0" lang="en-US" sz="1200" spc="-1" strike="noStrike">
                <a:solidFill>
                  <a:srgbClr val="9aa4b8"/>
                </a:solidFill>
                <a:latin typeface="Arial"/>
                <a:ea typeface="Arial"/>
              </a:rPr>
              <a:t>some specialized domains (certain embedded targets, some GPU tooling) are younger — which Day 3 addresses directly.</a:t>
            </a:r>
            <a:endParaRPr b="0" lang="en-US" sz="1200" spc="-1" strike="noStrike">
              <a:solidFill>
                <a:srgbClr val="ffffff"/>
              </a:solidFill>
              <a:latin typeface="Arial"/>
            </a:endParaRPr>
          </a:p>
        </p:txBody>
      </p:sp>
      <p:sp>
        <p:nvSpPr>
          <p:cNvPr id="2002"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3"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04"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Semantic versioning is enforced by convention and tooling (cargo-semver-checks),  </a:t>
            </a:r>
            <a:r>
              <a:rPr b="0" lang="en-US" sz="1200" spc="-1" strike="noStrike">
                <a:solidFill>
                  <a:srgbClr val="9aa4b8"/>
                </a:solidFill>
                <a:latin typeface="Arial"/>
                <a:ea typeface="Arial"/>
              </a:rPr>
              <a:t>reducing (not eliminating) the "minor version broke my build" problem.</a:t>
            </a:r>
            <a:endParaRPr b="0" lang="en-US" sz="1200" spc="-1" strike="noStrike">
              <a:solidFill>
                <a:srgbClr val="ffffff"/>
              </a:solidFill>
              <a:latin typeface="Arial"/>
            </a:endParaRPr>
          </a:p>
        </p:txBody>
      </p:sp>
      <p:sp>
        <p:nvSpPr>
          <p:cNvPr id="2005"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06"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0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TOOLING &amp; TESTING</a:t>
            </a:r>
            <a:endParaRPr b="0" lang="en-US" sz="1300" spc="-1" strike="noStrike">
              <a:solidFill>
                <a:srgbClr val="ffffff"/>
              </a:solidFill>
              <a:latin typeface="Arial"/>
            </a:endParaRPr>
          </a:p>
        </p:txBody>
      </p:sp>
      <p:sp>
        <p:nvSpPr>
          <p:cNvPr id="200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Benchmarking: criterion vs. Google Benchmark</a:t>
            </a:r>
            <a:endParaRPr b="0" lang="en-US" sz="2800" spc="-1" strike="noStrike">
              <a:solidFill>
                <a:srgbClr val="ffffff"/>
              </a:solidFill>
              <a:latin typeface="Arial"/>
            </a:endParaRPr>
          </a:p>
        </p:txBody>
      </p:sp>
      <p:sp>
        <p:nvSpPr>
          <p:cNvPr id="2009"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0"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1"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The criterion crate provides statistically rigorous benchmarking  </a:t>
            </a:r>
            <a:r>
              <a:rPr b="0" lang="en-US" sz="1200" spc="-1" strike="noStrike">
                <a:solidFill>
                  <a:srgbClr val="9aa4b8"/>
                </a:solidFill>
                <a:latin typeface="Arial"/>
                <a:ea typeface="Arial"/>
              </a:rPr>
              <a:t>with automatic outlier detection and regression tracking — conceptually parallel to Google Benchmark.</a:t>
            </a:r>
            <a:endParaRPr b="0" lang="en-US" sz="1200" spc="-1" strike="noStrike">
              <a:solidFill>
                <a:srgbClr val="ffffff"/>
              </a:solidFill>
              <a:latin typeface="Arial"/>
            </a:endParaRPr>
          </a:p>
        </p:txBody>
      </p:sp>
      <p:sp>
        <p:nvSpPr>
          <p:cNvPr id="2012"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3"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4"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cargo bench integrates benchmark running into the standard toolchain workflow,  </a:t>
            </a:r>
            <a:r>
              <a:rPr b="0" lang="en-US" sz="1200" spc="-1" strike="noStrike">
                <a:solidFill>
                  <a:srgbClr val="9aa4b8"/>
                </a:solidFill>
                <a:latin typeface="Arial"/>
                <a:ea typeface="Arial"/>
              </a:rPr>
              <a:t>the same way cargo test integrates testing.</a:t>
            </a:r>
            <a:endParaRPr b="0" lang="en-US" sz="1200" spc="-1" strike="noStrike">
              <a:solidFill>
                <a:srgbClr val="ffffff"/>
              </a:solidFill>
              <a:latin typeface="Arial"/>
            </a:endParaRPr>
          </a:p>
        </p:txBody>
      </p:sp>
      <p:sp>
        <p:nvSpPr>
          <p:cNvPr id="2015"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6"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17"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We'll use this directly on Day 3  </a:t>
            </a:r>
            <a:r>
              <a:rPr b="0" lang="en-US" sz="1200" spc="-1" strike="noStrike">
                <a:solidFill>
                  <a:srgbClr val="9aa4b8"/>
                </a:solidFill>
                <a:latin typeface="Arial"/>
                <a:ea typeface="Arial"/>
              </a:rPr>
              <a:t>when comparing a Rust-hosted CUDA kernel against its native CUDA C++ equivalent.</a:t>
            </a:r>
            <a:endParaRPr b="0" lang="en-US" sz="1200" spc="-1" strike="noStrike">
              <a:solidFill>
                <a:srgbClr val="ffffff"/>
              </a:solidFill>
              <a:latin typeface="Arial"/>
            </a:endParaRPr>
          </a:p>
        </p:txBody>
      </p:sp>
      <p:sp>
        <p:nvSpPr>
          <p:cNvPr id="2018"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19"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20"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21"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16</a:t>
            </a:r>
            <a:endParaRPr b="0" lang="en-US" sz="3400" spc="-1" strike="noStrike">
              <a:solidFill>
                <a:srgbClr val="ffffff"/>
              </a:solidFill>
              <a:latin typeface="Arial"/>
            </a:endParaRPr>
          </a:p>
        </p:txBody>
      </p:sp>
      <p:sp>
        <p:nvSpPr>
          <p:cNvPr id="2022"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Practice Problems</a:t>
            </a:r>
            <a:endParaRPr b="0" lang="en-US" sz="2800" spc="-1" strike="noStrike">
              <a:solidFill>
                <a:srgbClr val="ffffff"/>
              </a:solidFill>
              <a:latin typeface="Arial"/>
            </a:endParaRPr>
          </a:p>
        </p:txBody>
      </p:sp>
      <p:sp>
        <p:nvSpPr>
          <p:cNvPr id="2023"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Ten problems, easy to hard — a few of them are traps</a:t>
            </a:r>
            <a:endParaRPr b="0" lang="en-US" sz="1350" spc="-1" strike="noStrike">
              <a:solidFill>
                <a:srgbClr val="ffffff"/>
              </a:solidFill>
              <a:latin typeface="Arial"/>
            </a:endParaRPr>
          </a:p>
        </p:txBody>
      </p:sp>
      <p:sp>
        <p:nvSpPr>
          <p:cNvPr id="2024"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25"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2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a:t>
            </a:r>
            <a:endParaRPr b="0" lang="en-US" sz="1300" spc="-1" strike="noStrike">
              <a:solidFill>
                <a:srgbClr val="ffffff"/>
              </a:solidFill>
              <a:latin typeface="Arial"/>
            </a:endParaRPr>
          </a:p>
        </p:txBody>
      </p:sp>
      <p:sp>
        <p:nvSpPr>
          <p:cNvPr id="2027"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How this module works</a:t>
            </a:r>
            <a:endParaRPr b="0" lang="en-US" sz="2800" spc="-1" strike="noStrike">
              <a:solidFill>
                <a:srgbClr val="ffffff"/>
              </a:solidFill>
              <a:latin typeface="Arial"/>
            </a:endParaRPr>
          </a:p>
        </p:txBody>
      </p:sp>
      <p:sp>
        <p:nvSpPr>
          <p:cNvPr id="2028" name="Text 2"/>
          <p:cNvSpPr/>
          <p:nvPr/>
        </p:nvSpPr>
        <p:spPr>
          <a:xfrm>
            <a:off x="548640" y="1600200"/>
            <a:ext cx="11062800" cy="501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i="1" lang="en-US" sz="1300" spc="-1" strike="noStrike">
                <a:solidFill>
                  <a:srgbClr val="9aa4b8"/>
                </a:solidFill>
                <a:latin typeface="Arial"/>
                <a:ea typeface="Arial"/>
              </a:rPr>
              <a:t>Ten short problems, roughly increasing in difficulty. Each is one slide of code and a task, followed by one slide of solution and explanation.</a:t>
            </a:r>
            <a:endParaRPr b="0" lang="en-US" sz="1300" spc="-1" strike="noStrike">
              <a:solidFill>
                <a:srgbClr val="ffffff"/>
              </a:solidFill>
              <a:latin typeface="Arial"/>
            </a:endParaRPr>
          </a:p>
        </p:txBody>
      </p:sp>
      <p:sp>
        <p:nvSpPr>
          <p:cNvPr id="2029" name="Shape 3"/>
          <p:cNvSpPr/>
          <p:nvPr/>
        </p:nvSpPr>
        <p:spPr>
          <a:xfrm>
            <a:off x="548640" y="22219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0" name="Shape 4"/>
          <p:cNvSpPr/>
          <p:nvPr/>
        </p:nvSpPr>
        <p:spPr>
          <a:xfrm>
            <a:off x="777240" y="27403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1" name="Text 5"/>
          <p:cNvSpPr/>
          <p:nvPr/>
        </p:nvSpPr>
        <p:spPr>
          <a:xfrm>
            <a:off x="1143000" y="22219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Difficulty is labeled Easy, Medium, or Hard — but difficulty and "trap" are independent.  </a:t>
            </a:r>
            <a:r>
              <a:rPr b="0" lang="en-US" sz="1200" spc="-1" strike="noStrike">
                <a:solidFill>
                  <a:srgbClr val="9aa4b8"/>
                </a:solidFill>
                <a:latin typeface="Arial"/>
                <a:ea typeface="Arial"/>
              </a:rPr>
              <a:t>A few problems at every difficulty level are marked TRAP: code that looks fine, compiles (or almost compiles), and does something other than what you'd expect.</a:t>
            </a:r>
            <a:endParaRPr b="0" lang="en-US" sz="1200" spc="-1" strike="noStrike">
              <a:solidFill>
                <a:srgbClr val="ffffff"/>
              </a:solidFill>
              <a:latin typeface="Arial"/>
            </a:endParaRPr>
          </a:p>
        </p:txBody>
      </p:sp>
      <p:sp>
        <p:nvSpPr>
          <p:cNvPr id="2032" name="Shape 6"/>
          <p:cNvSpPr/>
          <p:nvPr/>
        </p:nvSpPr>
        <p:spPr>
          <a:xfrm>
            <a:off x="548640" y="356904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3" name="Shape 7"/>
          <p:cNvSpPr/>
          <p:nvPr/>
        </p:nvSpPr>
        <p:spPr>
          <a:xfrm>
            <a:off x="777240" y="408744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4" name="Text 8"/>
          <p:cNvSpPr/>
          <p:nvPr/>
        </p:nvSpPr>
        <p:spPr>
          <a:xfrm>
            <a:off x="1143000" y="356904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Try each problem yourself before advancing to the solution slide —  </a:t>
            </a:r>
            <a:r>
              <a:rPr b="0" lang="en-US" sz="1200" spc="-1" strike="noStrike">
                <a:solidFill>
                  <a:srgbClr val="9aa4b8"/>
                </a:solidFill>
                <a:latin typeface="Arial"/>
                <a:ea typeface="Arial"/>
              </a:rPr>
              <a:t>the value is in the wrong turn, not just the right answer.</a:t>
            </a:r>
            <a:endParaRPr b="0" lang="en-US" sz="1200" spc="-1" strike="noStrike">
              <a:solidFill>
                <a:srgbClr val="ffffff"/>
              </a:solidFill>
              <a:latin typeface="Arial"/>
            </a:endParaRPr>
          </a:p>
        </p:txBody>
      </p:sp>
      <p:sp>
        <p:nvSpPr>
          <p:cNvPr id="2035" name="Shape 9"/>
          <p:cNvSpPr/>
          <p:nvPr/>
        </p:nvSpPr>
        <p:spPr>
          <a:xfrm>
            <a:off x="548640" y="4916520"/>
            <a:ext cx="11062800" cy="1235880"/>
          </a:xfrm>
          <a:prstGeom prst="roundRect">
            <a:avLst>
              <a:gd name="adj" fmla="val 517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6" name="Shape 10"/>
          <p:cNvSpPr/>
          <p:nvPr/>
        </p:nvSpPr>
        <p:spPr>
          <a:xfrm>
            <a:off x="777240" y="543456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37" name="Text 11"/>
          <p:cNvSpPr/>
          <p:nvPr/>
        </p:nvSpPr>
        <p:spPr>
          <a:xfrm>
            <a:off x="1143000" y="4916520"/>
            <a:ext cx="10239840" cy="1235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Every problem draws on something from today's earlier modules —  </a:t>
            </a:r>
            <a:r>
              <a:rPr b="0" lang="en-US" sz="1200" spc="-1" strike="noStrike">
                <a:solidFill>
                  <a:srgbClr val="9aa4b8"/>
                </a:solidFill>
                <a:latin typeface="Arial"/>
                <a:ea typeface="Arial"/>
              </a:rPr>
              <a:t>this is a review, not new material.</a:t>
            </a:r>
            <a:endParaRPr b="0" lang="en-US" sz="1200" spc="-1" strike="noStrike">
              <a:solidFill>
                <a:srgbClr val="ffffff"/>
              </a:solidFill>
              <a:latin typeface="Arial"/>
            </a:endParaRPr>
          </a:p>
        </p:txBody>
      </p:sp>
      <p:sp>
        <p:nvSpPr>
          <p:cNvPr id="2038" name="Text 1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39" name="Text 1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4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1</a:t>
            </a:r>
            <a:endParaRPr b="0" lang="en-US" sz="1300" spc="-1" strike="noStrike">
              <a:solidFill>
                <a:srgbClr val="ffffff"/>
              </a:solidFill>
              <a:latin typeface="Arial"/>
            </a:endParaRPr>
          </a:p>
        </p:txBody>
      </p:sp>
      <p:sp>
        <p:nvSpPr>
          <p:cNvPr id="2041"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2"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43"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Immutable Binding</a:t>
            </a:r>
            <a:endParaRPr b="0" lang="en-US" sz="2800" spc="-1" strike="noStrike">
              <a:solidFill>
                <a:srgbClr val="ffffff"/>
              </a:solidFill>
              <a:latin typeface="Arial"/>
            </a:endParaRPr>
          </a:p>
        </p:txBody>
      </p:sp>
      <p:sp>
        <p:nvSpPr>
          <p:cNvPr id="2044"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5"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x = 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 + 1;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46"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47"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Fix it with a single-word change.</a:t>
            </a:r>
            <a:endParaRPr b="0" lang="en-US" sz="1300" spc="-1" strike="noStrike">
              <a:solidFill>
                <a:srgbClr val="ffffff"/>
              </a:solidFill>
              <a:latin typeface="Arial"/>
            </a:endParaRPr>
          </a:p>
        </p:txBody>
      </p:sp>
      <p:sp>
        <p:nvSpPr>
          <p:cNvPr id="2048"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49"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5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1</a:t>
            </a:r>
            <a:endParaRPr b="0" lang="en-US" sz="1300" spc="-1" strike="noStrike">
              <a:solidFill>
                <a:srgbClr val="ffffff"/>
              </a:solidFill>
              <a:latin typeface="Arial"/>
            </a:endParaRPr>
          </a:p>
        </p:txBody>
      </p:sp>
      <p:sp>
        <p:nvSpPr>
          <p:cNvPr id="2051"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2"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53"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Immutable Binding</a:t>
            </a:r>
            <a:endParaRPr b="0" lang="en-US" sz="2800" spc="-1" strike="noStrike">
              <a:solidFill>
                <a:srgbClr val="ffffff"/>
              </a:solidFill>
              <a:latin typeface="Arial"/>
            </a:endParaRPr>
          </a:p>
        </p:txBody>
      </p:sp>
      <p:sp>
        <p:nvSpPr>
          <p:cNvPr id="2054"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5"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x = 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 + 1;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56"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57"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Bindings are immutable by default in Rust — the reverse of C++. Adding mut opts this one binding into mutability, exactly the flip covered in the Syntax Orientation module.</a:t>
            </a:r>
            <a:endParaRPr b="0" lang="en-US" sz="1250" spc="-1" strike="noStrike">
              <a:solidFill>
                <a:srgbClr val="ffffff"/>
              </a:solidFill>
              <a:latin typeface="Arial"/>
            </a:endParaRPr>
          </a:p>
        </p:txBody>
      </p:sp>
      <p:sp>
        <p:nvSpPr>
          <p:cNvPr id="2058"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59"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2</a:t>
            </a:r>
            <a:endParaRPr b="0" lang="en-US" sz="1300" spc="-1" strike="noStrike">
              <a:solidFill>
                <a:srgbClr val="ffffff"/>
              </a:solidFill>
              <a:latin typeface="Arial"/>
            </a:endParaRPr>
          </a:p>
        </p:txBody>
      </p:sp>
      <p:sp>
        <p:nvSpPr>
          <p:cNvPr id="2061"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2"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063" name="Shape 3"/>
          <p:cNvSpPr/>
          <p:nvPr/>
        </p:nvSpPr>
        <p:spPr>
          <a:xfrm>
            <a:off x="957384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4"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65"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Missing Return Value</a:t>
            </a:r>
            <a:endParaRPr b="0" lang="en-US" sz="2800" spc="-1" strike="noStrike">
              <a:solidFill>
                <a:srgbClr val="ffffff"/>
              </a:solidFill>
              <a:latin typeface="Arial"/>
            </a:endParaRPr>
          </a:p>
        </p:txBody>
      </p:sp>
      <p:sp>
        <p:nvSpPr>
          <p:cNvPr id="2066"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7"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square(x: i32) -&gt; i32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a:p>
            <a:pPr defTabSz="914400">
              <a:lnSpc>
                <a:spcPct val="125000"/>
              </a:lnSpc>
              <a:tabLst>
                <a:tab algn="l" pos="0"/>
              </a:tabLst>
            </a:pP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square(5));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68"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69"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The compiler reports a type mismatch pointing at the closing brace of square, not at the line with the error. What's actually wrong?</a:t>
            </a:r>
            <a:endParaRPr b="0" lang="en-US" sz="1300" spc="-1" strike="noStrike">
              <a:solidFill>
                <a:srgbClr val="ffffff"/>
              </a:solidFill>
              <a:latin typeface="Arial"/>
            </a:endParaRPr>
          </a:p>
        </p:txBody>
      </p:sp>
      <p:sp>
        <p:nvSpPr>
          <p:cNvPr id="2070"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71"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2</a:t>
            </a:r>
            <a:endParaRPr b="0" lang="en-US" sz="1300" spc="-1" strike="noStrike">
              <a:solidFill>
                <a:srgbClr val="ffffff"/>
              </a:solidFill>
              <a:latin typeface="Arial"/>
            </a:endParaRPr>
          </a:p>
        </p:txBody>
      </p:sp>
      <p:sp>
        <p:nvSpPr>
          <p:cNvPr id="2073"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7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075" name="Shape 3"/>
          <p:cNvSpPr/>
          <p:nvPr/>
        </p:nvSpPr>
        <p:spPr>
          <a:xfrm>
            <a:off x="957384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76"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77"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Missing Return Value</a:t>
            </a:r>
            <a:endParaRPr b="0" lang="en-US" sz="2800" spc="-1" strike="noStrike">
              <a:solidFill>
                <a:srgbClr val="ffffff"/>
              </a:solidFill>
              <a:latin typeface="Arial"/>
            </a:endParaRPr>
          </a:p>
        </p:txBody>
      </p:sp>
      <p:sp>
        <p:nvSpPr>
          <p:cNvPr id="2078"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79"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square(x: i32) -&gt; i32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x * x   // no semicolon — this is</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 now the return value</a:t>
            </a:r>
            <a:endParaRPr b="0" lang="en-US" sz="1400" spc="-1" strike="noStrike">
              <a:solidFill>
                <a:srgbClr val="ffffff"/>
              </a:solidFill>
              <a:latin typeface="Arial"/>
            </a:endParaRPr>
          </a:p>
        </p:txBody>
      </p:sp>
      <p:sp>
        <p:nvSpPr>
          <p:cNvPr id="2080"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1"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A semicolon turns an expression into a statement, and every statement evaluates to (). Adding one after x * x silently changed the function's last line from "the return value" into "a discarded expression, then return nothing." C++ habit says every line ends in a semicolon; in Rust, that habit can quietly break a function's return value.</a:t>
            </a:r>
            <a:endParaRPr b="0" lang="en-US" sz="1250" spc="-1" strike="noStrike">
              <a:solidFill>
                <a:srgbClr val="ffffff"/>
              </a:solidFill>
              <a:latin typeface="Arial"/>
            </a:endParaRPr>
          </a:p>
        </p:txBody>
      </p:sp>
      <p:sp>
        <p:nvSpPr>
          <p:cNvPr id="2082"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83"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8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3</a:t>
            </a:r>
            <a:endParaRPr b="0" lang="en-US" sz="1300" spc="-1" strike="noStrike">
              <a:solidFill>
                <a:srgbClr val="ffffff"/>
              </a:solidFill>
              <a:latin typeface="Arial"/>
            </a:endParaRPr>
          </a:p>
        </p:txBody>
      </p:sp>
      <p:sp>
        <p:nvSpPr>
          <p:cNvPr id="2085"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6"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8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Moved String</a:t>
            </a:r>
            <a:endParaRPr b="0" lang="en-US" sz="2800" spc="-1" strike="noStrike">
              <a:solidFill>
                <a:srgbClr val="ffffff"/>
              </a:solidFill>
              <a:latin typeface="Arial"/>
            </a:endParaRPr>
          </a:p>
        </p:txBody>
      </p:sp>
      <p:sp>
        <p:nvSpPr>
          <p:cNvPr id="2088"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89"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s1 = String::from("hello");</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s2 = s1;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world!", s1);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090"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1"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Fix the compile error so the program still prints "hello, world!" using s1.</a:t>
            </a:r>
            <a:endParaRPr b="0" lang="en-US" sz="1300" spc="-1" strike="noStrike">
              <a:solidFill>
                <a:srgbClr val="ffffff"/>
              </a:solidFill>
              <a:latin typeface="Arial"/>
            </a:endParaRPr>
          </a:p>
        </p:txBody>
      </p:sp>
      <p:sp>
        <p:nvSpPr>
          <p:cNvPr id="209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09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09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3</a:t>
            </a:r>
            <a:endParaRPr b="0" lang="en-US" sz="1300" spc="-1" strike="noStrike">
              <a:solidFill>
                <a:srgbClr val="ffffff"/>
              </a:solidFill>
              <a:latin typeface="Arial"/>
            </a:endParaRPr>
          </a:p>
        </p:txBody>
      </p:sp>
      <p:sp>
        <p:nvSpPr>
          <p:cNvPr id="2095" name="Shape 1"/>
          <p:cNvSpPr/>
          <p:nvPr/>
        </p:nvSpPr>
        <p:spPr>
          <a:xfrm>
            <a:off x="10707480" y="347400"/>
            <a:ext cx="766800" cy="364320"/>
          </a:xfrm>
          <a:prstGeom prst="roundRect">
            <a:avLst>
              <a:gd name="adj" fmla="val 125000"/>
            </a:avLst>
          </a:prstGeom>
          <a:solidFill>
            <a:srgbClr val="58c27d"/>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6"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EASY</a:t>
            </a:r>
            <a:endParaRPr b="0" lang="en-US" sz="1050" spc="-1" strike="noStrike">
              <a:solidFill>
                <a:srgbClr val="ffffff"/>
              </a:solidFill>
              <a:latin typeface="Arial"/>
            </a:endParaRPr>
          </a:p>
        </p:txBody>
      </p:sp>
      <p:sp>
        <p:nvSpPr>
          <p:cNvPr id="209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Moved String</a:t>
            </a:r>
            <a:endParaRPr b="0" lang="en-US" sz="2800" spc="-1" strike="noStrike">
              <a:solidFill>
                <a:srgbClr val="ffffff"/>
              </a:solidFill>
              <a:latin typeface="Arial"/>
            </a:endParaRPr>
          </a:p>
        </p:txBody>
      </p:sp>
      <p:sp>
        <p:nvSpPr>
          <p:cNvPr id="2098"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099"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s1 = String::from("hello");</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s2 = s1.clone();</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world!", s1);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00"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01"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let s2 = s1 moves ownership of the String — s1 is no longer valid afterward. .clone() makes an explicit, visible deep copy instead, so both s1 and s2 own independent data. This is the move-by-default behavior from the Ownership module, not a bug.</a:t>
            </a:r>
            <a:endParaRPr b="0" lang="en-US" sz="1250" spc="-1" strike="noStrike">
              <a:solidFill>
                <a:srgbClr val="ffffff"/>
              </a:solidFill>
              <a:latin typeface="Arial"/>
            </a:endParaRPr>
          </a:p>
        </p:txBody>
      </p:sp>
      <p:sp>
        <p:nvSpPr>
          <p:cNvPr id="210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0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0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4</a:t>
            </a:r>
            <a:endParaRPr b="0" lang="en-US" sz="1300" spc="-1" strike="noStrike">
              <a:solidFill>
                <a:srgbClr val="ffffff"/>
              </a:solidFill>
              <a:latin typeface="Arial"/>
            </a:endParaRPr>
          </a:p>
        </p:txBody>
      </p:sp>
      <p:sp>
        <p:nvSpPr>
          <p:cNvPr id="2105"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0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0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Early Borrow</a:t>
            </a:r>
            <a:endParaRPr b="0" lang="en-US" sz="2800" spc="-1" strike="noStrike">
              <a:solidFill>
                <a:srgbClr val="ffffff"/>
              </a:solidFill>
              <a:latin typeface="Arial"/>
            </a:endParaRPr>
          </a:p>
        </p:txBody>
      </p:sp>
      <p:sp>
        <p:nvSpPr>
          <p:cNvPr id="2108"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09"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first = &amp;v[0];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v.push(4);</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println!("The first element is: {}", first);</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10"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11"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Fix this borrow-checker error by reordering two lines — don't add any new variables or clones.</a:t>
            </a:r>
            <a:endParaRPr b="0" lang="en-US" sz="1300" spc="-1" strike="noStrike">
              <a:solidFill>
                <a:srgbClr val="ffffff"/>
              </a:solidFill>
              <a:latin typeface="Arial"/>
            </a:endParaRPr>
          </a:p>
        </p:txBody>
      </p:sp>
      <p:sp>
        <p:nvSpPr>
          <p:cNvPr id="211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1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1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4</a:t>
            </a:r>
            <a:endParaRPr b="0" lang="en-US" sz="1300" spc="-1" strike="noStrike">
              <a:solidFill>
                <a:srgbClr val="ffffff"/>
              </a:solidFill>
              <a:latin typeface="Arial"/>
            </a:endParaRPr>
          </a:p>
        </p:txBody>
      </p:sp>
      <p:sp>
        <p:nvSpPr>
          <p:cNvPr id="2115"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1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17"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Early Borrow</a:t>
            </a:r>
            <a:endParaRPr b="0" lang="en-US" sz="2800" spc="-1" strike="noStrike">
              <a:solidFill>
                <a:srgbClr val="ffffff"/>
              </a:solidFill>
              <a:latin typeface="Arial"/>
            </a:endParaRPr>
          </a:p>
        </p:txBody>
      </p:sp>
      <p:sp>
        <p:nvSpPr>
          <p:cNvPr id="2118"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19"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first = &amp;v[0];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println!("The first element is: {}", first);</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v.push(4);</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20"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1"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first borrows from v, and push(4) needs a mutable borrow of v while first is still alive — shared and mutable can't overlap. Moving the print before the push means first's borrow ends before push ever needs exclusive access. Same bug as C++ iterator/reference invalidation, caught at compile time instead of at runtime.</a:t>
            </a:r>
            <a:endParaRPr b="0" lang="en-US" sz="1250" spc="-1" strike="noStrike">
              <a:solidFill>
                <a:srgbClr val="ffffff"/>
              </a:solidFill>
              <a:latin typeface="Arial"/>
            </a:endParaRPr>
          </a:p>
        </p:txBody>
      </p:sp>
      <p:sp>
        <p:nvSpPr>
          <p:cNvPr id="2122"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23"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2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5</a:t>
            </a:r>
            <a:endParaRPr b="0" lang="en-US" sz="1300" spc="-1" strike="noStrike">
              <a:solidFill>
                <a:srgbClr val="ffffff"/>
              </a:solidFill>
              <a:latin typeface="Arial"/>
            </a:endParaRPr>
          </a:p>
        </p:txBody>
      </p:sp>
      <p:sp>
        <p:nvSpPr>
          <p:cNvPr id="2125"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2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27"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28"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29"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Overflowing Byte</a:t>
            </a:r>
            <a:endParaRPr b="0" lang="en-US" sz="2800" spc="-1" strike="noStrike">
              <a:solidFill>
                <a:srgbClr val="ffffff"/>
              </a:solidFill>
              <a:latin typeface="Arial"/>
            </a:endParaRPr>
          </a:p>
        </p:txBody>
      </p:sp>
      <p:sp>
        <p:nvSpPr>
          <p:cNvPr id="2130"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1"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x: u8 = 255;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y = x + 1;</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y);</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32"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3"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What does this print in a debug build? What does it print in a --release build? Fix it so the behavior is the same, explicit, and documented in both.</a:t>
            </a:r>
            <a:endParaRPr b="0" lang="en-US" sz="1300" spc="-1" strike="noStrike">
              <a:solidFill>
                <a:srgbClr val="ffffff"/>
              </a:solidFill>
              <a:latin typeface="Arial"/>
            </a:endParaRPr>
          </a:p>
        </p:txBody>
      </p:sp>
      <p:sp>
        <p:nvSpPr>
          <p:cNvPr id="2134"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35"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5</a:t>
            </a:r>
            <a:endParaRPr b="0" lang="en-US" sz="1300" spc="-1" strike="noStrike">
              <a:solidFill>
                <a:srgbClr val="ffffff"/>
              </a:solidFill>
              <a:latin typeface="Arial"/>
            </a:endParaRPr>
          </a:p>
        </p:txBody>
      </p:sp>
      <p:sp>
        <p:nvSpPr>
          <p:cNvPr id="2137"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38"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39"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40"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41"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Overflowing Byte</a:t>
            </a:r>
            <a:endParaRPr b="0" lang="en-US" sz="2800" spc="-1" strike="noStrike">
              <a:solidFill>
                <a:srgbClr val="ffffff"/>
              </a:solidFill>
              <a:latin typeface="Arial"/>
            </a:endParaRPr>
          </a:p>
        </p:txBody>
      </p:sp>
      <p:sp>
        <p:nvSpPr>
          <p:cNvPr id="2142"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43"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x: u8 = 255;</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y = x.wrapping_add(1); // explicit: 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y);</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44"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45"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Debug builds panic on integer overflow; release builds silently wrap (two's complement), by default — different behavior per build profile is exactly the trap. wrapping_add makes the wraparound explicit and identical in both profiles. checked_add (returning Option) or saturating_add are the other named alternatives, depending on what you actually want.</a:t>
            </a:r>
            <a:endParaRPr b="0" lang="en-US" sz="1250" spc="-1" strike="noStrike">
              <a:solidFill>
                <a:srgbClr val="ffffff"/>
              </a:solidFill>
              <a:latin typeface="Arial"/>
            </a:endParaRPr>
          </a:p>
        </p:txBody>
      </p:sp>
      <p:sp>
        <p:nvSpPr>
          <p:cNvPr id="2146"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47"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6</a:t>
            </a:r>
            <a:endParaRPr b="0" lang="en-US" sz="1300" spc="-1" strike="noStrike">
              <a:solidFill>
                <a:srgbClr val="ffffff"/>
              </a:solidFill>
              <a:latin typeface="Arial"/>
            </a:endParaRPr>
          </a:p>
        </p:txBody>
      </p:sp>
      <p:sp>
        <p:nvSpPr>
          <p:cNvPr id="2149"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0"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51"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52"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53"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Reassigned Type</a:t>
            </a:r>
            <a:endParaRPr b="0" lang="en-US" sz="2800" spc="-1" strike="noStrike">
              <a:solidFill>
                <a:srgbClr val="ffffff"/>
              </a:solidFill>
              <a:latin typeface="Arial"/>
            </a:endParaRPr>
          </a:p>
        </p:txBody>
      </p:sp>
      <p:sp>
        <p:nvSpPr>
          <p:cNvPr id="2154"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5"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mut spaces = "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spaces = spaces.len();</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spaces);</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56"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57"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Adding more mut keywords won't fix it — what will?</a:t>
            </a:r>
            <a:endParaRPr b="0" lang="en-US" sz="1300" spc="-1" strike="noStrike">
              <a:solidFill>
                <a:srgbClr val="ffffff"/>
              </a:solidFill>
              <a:latin typeface="Arial"/>
            </a:endParaRPr>
          </a:p>
        </p:txBody>
      </p:sp>
      <p:sp>
        <p:nvSpPr>
          <p:cNvPr id="2158"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59"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6</a:t>
            </a:r>
            <a:endParaRPr b="0" lang="en-US" sz="1300" spc="-1" strike="noStrike">
              <a:solidFill>
                <a:srgbClr val="ffffff"/>
              </a:solidFill>
              <a:latin typeface="Arial"/>
            </a:endParaRPr>
          </a:p>
        </p:txBody>
      </p:sp>
      <p:sp>
        <p:nvSpPr>
          <p:cNvPr id="2161"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2"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163" name="Shape 3"/>
          <p:cNvSpPr/>
          <p:nvPr/>
        </p:nvSpPr>
        <p:spPr>
          <a:xfrm>
            <a:off x="934524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64" name="Text 4"/>
          <p:cNvSpPr/>
          <p:nvPr/>
        </p:nvSpPr>
        <p:spPr>
          <a:xfrm>
            <a:off x="934524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65"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Reassigned Type</a:t>
            </a:r>
            <a:endParaRPr b="0" lang="en-US" sz="2800" spc="-1" strike="noStrike">
              <a:solidFill>
                <a:srgbClr val="ffffff"/>
              </a:solidFill>
              <a:latin typeface="Arial"/>
            </a:endParaRPr>
          </a:p>
        </p:txBody>
      </p:sp>
      <p:sp>
        <p:nvSpPr>
          <p:cNvPr id="2166"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7"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spaces = "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spaces = spaces.len();</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spaces);</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68"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69"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mut lets a binding's value change, but never its type — spaces stays a &amp;str forever once declared mut. Shadowing with a second let creates an entirely new binding, which is allowed to have a different type. This is precisely the shadowing feature from the Data Types module: the fix is less mut, not more.</a:t>
            </a:r>
            <a:endParaRPr b="0" lang="en-US" sz="1250" spc="-1" strike="noStrike">
              <a:solidFill>
                <a:srgbClr val="ffffff"/>
              </a:solidFill>
              <a:latin typeface="Arial"/>
            </a:endParaRPr>
          </a:p>
        </p:txBody>
      </p:sp>
      <p:sp>
        <p:nvSpPr>
          <p:cNvPr id="2170"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71"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7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7</a:t>
            </a:r>
            <a:endParaRPr b="0" lang="en-US" sz="1300" spc="-1" strike="noStrike">
              <a:solidFill>
                <a:srgbClr val="ffffff"/>
              </a:solidFill>
              <a:latin typeface="Arial"/>
            </a:endParaRPr>
          </a:p>
        </p:txBody>
      </p:sp>
      <p:sp>
        <p:nvSpPr>
          <p:cNvPr id="2173"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7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7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Incomplete Match</a:t>
            </a:r>
            <a:endParaRPr b="0" lang="en-US" sz="2800" spc="-1" strike="noStrike">
              <a:solidFill>
                <a:srgbClr val="ffffff"/>
              </a:solidFill>
              <a:latin typeface="Arial"/>
            </a:endParaRPr>
          </a:p>
        </p:txBody>
      </p:sp>
      <p:sp>
        <p:nvSpPr>
          <p:cNvPr id="2176" name="Shape 4"/>
          <p:cNvSpPr/>
          <p:nvPr/>
        </p:nvSpPr>
        <p:spPr>
          <a:xfrm>
            <a:off x="548640" y="1645920"/>
            <a:ext cx="11062800" cy="2741760"/>
          </a:xfrm>
          <a:prstGeom prst="roundRect">
            <a:avLst>
              <a:gd name="adj" fmla="val 30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77" name="Text 5"/>
          <p:cNvSpPr/>
          <p:nvPr/>
        </p:nvSpPr>
        <p:spPr>
          <a:xfrm>
            <a:off x="777240" y="1755720"/>
            <a:ext cx="10605600" cy="25221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300" spc="-1" strike="noStrike">
                <a:solidFill>
                  <a:srgbClr val="edeff4"/>
                </a:solidFill>
                <a:latin typeface="Consolas"/>
                <a:ea typeface="Consolas"/>
              </a:rPr>
              <a:t>enum Shape { Circle(f64), Square(f64), Triangle(f64, f64, f64) }</a:t>
            </a:r>
            <a:endParaRPr b="0" lang="en-US" sz="1300" spc="-1" strike="noStrike">
              <a:solidFill>
                <a:srgbClr val="ffffff"/>
              </a:solidFill>
              <a:latin typeface="Arial"/>
            </a:endParaRPr>
          </a:p>
          <a:p>
            <a:pPr defTabSz="914400">
              <a:lnSpc>
                <a:spcPct val="125000"/>
              </a:lnSpc>
              <a:tabLst>
                <a:tab algn="l" pos="0"/>
              </a:tabLst>
            </a:pP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fn area(s: Shape) -&gt; f64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match s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Shape::Circle(r) =&gt; 3.14159 * r * r,</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Shape::Square(side) =&gt; side * side,</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a:t>
            </a:r>
            <a:endParaRPr b="0" lang="en-US" sz="1300" spc="-1" strike="noStrike">
              <a:solidFill>
                <a:srgbClr val="ffffff"/>
              </a:solidFill>
              <a:latin typeface="Arial"/>
            </a:endParaRPr>
          </a:p>
        </p:txBody>
      </p:sp>
      <p:sp>
        <p:nvSpPr>
          <p:cNvPr id="2178" name="Shape 6"/>
          <p:cNvSpPr/>
          <p:nvPr/>
        </p:nvSpPr>
        <p:spPr>
          <a:xfrm>
            <a:off x="548640" y="4526280"/>
            <a:ext cx="11062800" cy="1370160"/>
          </a:xfrm>
          <a:prstGeom prst="roundRect">
            <a:avLst>
              <a:gd name="adj" fmla="val 5333"/>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79" name="Text 7"/>
          <p:cNvSpPr/>
          <p:nvPr/>
        </p:nvSpPr>
        <p:spPr>
          <a:xfrm>
            <a:off x="777240" y="4663440"/>
            <a:ext cx="10605600" cy="109584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Fix the compile error with a real implementation for the missing case — not a throwaway wildcard arm.</a:t>
            </a:r>
            <a:endParaRPr b="0" lang="en-US" sz="1300" spc="-1" strike="noStrike">
              <a:solidFill>
                <a:srgbClr val="ffffff"/>
              </a:solidFill>
              <a:latin typeface="Arial"/>
            </a:endParaRPr>
          </a:p>
        </p:txBody>
      </p:sp>
      <p:sp>
        <p:nvSpPr>
          <p:cNvPr id="218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8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8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7</a:t>
            </a:r>
            <a:endParaRPr b="0" lang="en-US" sz="1300" spc="-1" strike="noStrike">
              <a:solidFill>
                <a:srgbClr val="ffffff"/>
              </a:solidFill>
              <a:latin typeface="Arial"/>
            </a:endParaRPr>
          </a:p>
        </p:txBody>
      </p:sp>
      <p:sp>
        <p:nvSpPr>
          <p:cNvPr id="2183" name="Shape 1"/>
          <p:cNvSpPr/>
          <p:nvPr/>
        </p:nvSpPr>
        <p:spPr>
          <a:xfrm>
            <a:off x="10478880" y="347400"/>
            <a:ext cx="995400" cy="364320"/>
          </a:xfrm>
          <a:prstGeom prst="roundRect">
            <a:avLst>
              <a:gd name="adj" fmla="val 125000"/>
            </a:avLst>
          </a:prstGeom>
          <a:solidFill>
            <a:srgbClr val="e0b155"/>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8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1a1a1a"/>
                </a:solidFill>
                <a:latin typeface="Arial"/>
                <a:ea typeface="Arial"/>
              </a:rPr>
              <a:t>MEDIUM</a:t>
            </a:r>
            <a:endParaRPr b="0" lang="en-US" sz="1050" spc="-1" strike="noStrike">
              <a:solidFill>
                <a:srgbClr val="ffffff"/>
              </a:solidFill>
              <a:latin typeface="Arial"/>
            </a:endParaRPr>
          </a:p>
        </p:txBody>
      </p:sp>
      <p:sp>
        <p:nvSpPr>
          <p:cNvPr id="218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Incomplete Match</a:t>
            </a:r>
            <a:endParaRPr b="0" lang="en-US" sz="2800" spc="-1" strike="noStrike">
              <a:solidFill>
                <a:srgbClr val="ffffff"/>
              </a:solidFill>
              <a:latin typeface="Arial"/>
            </a:endParaRPr>
          </a:p>
        </p:txBody>
      </p:sp>
      <p:sp>
        <p:nvSpPr>
          <p:cNvPr id="2186"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7"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Shape::Triangle(a, b, c) =&gt;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s = (a + b + c) / 2.0;</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(s*(s-a)*(s-b)*(s-c)).sqrt() // Heron's formula</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88"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89"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match on an enum must cover every variant — the compiler caught a genuinely missing case, not a style nitpick. A wildcard (_ =&gt; 0.0) would compile but silently return a wrong area for every triangle. Exhaustiveness checking is only as useful as the arms you actually write.</a:t>
            </a:r>
            <a:endParaRPr b="0" lang="en-US" sz="1250" spc="-1" strike="noStrike">
              <a:solidFill>
                <a:srgbClr val="ffffff"/>
              </a:solidFill>
              <a:latin typeface="Arial"/>
            </a:endParaRPr>
          </a:p>
        </p:txBody>
      </p:sp>
      <p:sp>
        <p:nvSpPr>
          <p:cNvPr id="219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19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19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8</a:t>
            </a:r>
            <a:endParaRPr b="0" lang="en-US" sz="1300" spc="-1" strike="noStrike">
              <a:solidFill>
                <a:srgbClr val="ffffff"/>
              </a:solidFill>
              <a:latin typeface="Arial"/>
            </a:endParaRPr>
          </a:p>
        </p:txBody>
      </p:sp>
      <p:sp>
        <p:nvSpPr>
          <p:cNvPr id="2193" name="Shape 1"/>
          <p:cNvSpPr/>
          <p:nvPr/>
        </p:nvSpPr>
        <p:spPr>
          <a:xfrm>
            <a:off x="1070748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4"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19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Ambiguous Lifetime</a:t>
            </a:r>
            <a:endParaRPr b="0" lang="en-US" sz="2800" spc="-1" strike="noStrike">
              <a:solidFill>
                <a:srgbClr val="ffffff"/>
              </a:solidFill>
              <a:latin typeface="Arial"/>
            </a:endParaRPr>
          </a:p>
        </p:txBody>
      </p:sp>
      <p:sp>
        <p:nvSpPr>
          <p:cNvPr id="2196" name="Shape 4"/>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7" name="Text 5"/>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longest(x: &amp;str, y: &amp;str) -&gt; &amp;str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if x.len() &gt; y.len() { x } else { y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198" name="Shape 6"/>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199" name="Text 7"/>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with a "missing lifetime specifier" error. Most functions taking references don't need this — why does this one?</a:t>
            </a:r>
            <a:endParaRPr b="0" lang="en-US" sz="1300" spc="-1" strike="noStrike">
              <a:solidFill>
                <a:srgbClr val="ffffff"/>
              </a:solidFill>
              <a:latin typeface="Arial"/>
            </a:endParaRPr>
          </a:p>
        </p:txBody>
      </p:sp>
      <p:sp>
        <p:nvSpPr>
          <p:cNvPr id="220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0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0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8</a:t>
            </a:r>
            <a:endParaRPr b="0" lang="en-US" sz="1300" spc="-1" strike="noStrike">
              <a:solidFill>
                <a:srgbClr val="ffffff"/>
              </a:solidFill>
              <a:latin typeface="Arial"/>
            </a:endParaRPr>
          </a:p>
        </p:txBody>
      </p:sp>
      <p:sp>
        <p:nvSpPr>
          <p:cNvPr id="2203" name="Shape 1"/>
          <p:cNvSpPr/>
          <p:nvPr/>
        </p:nvSpPr>
        <p:spPr>
          <a:xfrm>
            <a:off x="1070748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4" name="Text 2"/>
          <p:cNvSpPr/>
          <p:nvPr/>
        </p:nvSpPr>
        <p:spPr>
          <a:xfrm>
            <a:off x="1070748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05" name="Text 3"/>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Ambiguous Lifetime</a:t>
            </a:r>
            <a:endParaRPr b="0" lang="en-US" sz="2800" spc="-1" strike="noStrike">
              <a:solidFill>
                <a:srgbClr val="ffffff"/>
              </a:solidFill>
              <a:latin typeface="Arial"/>
            </a:endParaRPr>
          </a:p>
        </p:txBody>
      </p:sp>
      <p:sp>
        <p:nvSpPr>
          <p:cNvPr id="2206" name="Shape 4"/>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7" name="Text 5"/>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longest&lt;'a&gt;(x: &amp;'a str, y: &amp;'a str) -&gt; &amp;'a str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if x.len() &gt; y.len() { x } else { y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08" name="Shape 6"/>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09" name="Text 7"/>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Lifetime elision covers the common patterns: one input reference, or &amp;self plus others. Here there are two independent input references and either might be returned, so the compiler can't guess which one the output should be tied to. 'a states explicitly: the result is valid only as long as the shorter-lived of the two arguments.</a:t>
            </a:r>
            <a:endParaRPr b="0" lang="en-US" sz="1250" spc="-1" strike="noStrike">
              <a:solidFill>
                <a:srgbClr val="ffffff"/>
              </a:solidFill>
              <a:latin typeface="Arial"/>
            </a:endParaRPr>
          </a:p>
        </p:txBody>
      </p:sp>
      <p:sp>
        <p:nvSpPr>
          <p:cNvPr id="2210" name="Text 8"/>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11" name="Text 9"/>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1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9</a:t>
            </a:r>
            <a:endParaRPr b="0" lang="en-US" sz="1300" spc="-1" strike="noStrike">
              <a:solidFill>
                <a:srgbClr val="ffffff"/>
              </a:solidFill>
              <a:latin typeface="Arial"/>
            </a:endParaRPr>
          </a:p>
        </p:txBody>
      </p:sp>
      <p:sp>
        <p:nvSpPr>
          <p:cNvPr id="2213"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4"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15"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6"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17"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Silent Iterator</a:t>
            </a:r>
            <a:endParaRPr b="0" lang="en-US" sz="2800" spc="-1" strike="noStrike">
              <a:solidFill>
                <a:srgbClr val="ffffff"/>
              </a:solidFill>
              <a:latin typeface="Arial"/>
            </a:endParaRPr>
          </a:p>
        </p:txBody>
      </p:sp>
      <p:sp>
        <p:nvSpPr>
          <p:cNvPr id="2218" name="Shape 6"/>
          <p:cNvSpPr/>
          <p:nvPr/>
        </p:nvSpPr>
        <p:spPr>
          <a:xfrm>
            <a:off x="548640" y="1645920"/>
            <a:ext cx="11062800" cy="2467440"/>
          </a:xfrm>
          <a:prstGeom prst="roundRect">
            <a:avLst>
              <a:gd name="adj" fmla="val 3333"/>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19" name="Text 7"/>
          <p:cNvSpPr/>
          <p:nvPr/>
        </p:nvSpPr>
        <p:spPr>
          <a:xfrm>
            <a:off x="777240" y="1755720"/>
            <a:ext cx="10605600" cy="224784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v.iter().map(|x| 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20" name="Shape 8"/>
          <p:cNvSpPr/>
          <p:nvPr/>
        </p:nvSpPr>
        <p:spPr>
          <a:xfrm>
            <a:off x="548640" y="4251960"/>
            <a:ext cx="11062800" cy="1644480"/>
          </a:xfrm>
          <a:prstGeom prst="roundRect">
            <a:avLst>
              <a:gd name="adj" fmla="val 4444"/>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1" name="Text 9"/>
          <p:cNvSpPr/>
          <p:nvPr/>
        </p:nvSpPr>
        <p:spPr>
          <a:xfrm>
            <a:off x="777240" y="4389120"/>
            <a:ext cx="10605600" cy="137016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compiles, with only a warning — and prints nothing at all. Why, and what's the smallest fix?</a:t>
            </a:r>
            <a:endParaRPr b="0" lang="en-US" sz="1300" spc="-1" strike="noStrike">
              <a:solidFill>
                <a:srgbClr val="ffffff"/>
              </a:solidFill>
              <a:latin typeface="Arial"/>
            </a:endParaRPr>
          </a:p>
        </p:txBody>
      </p:sp>
      <p:sp>
        <p:nvSpPr>
          <p:cNvPr id="2222"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23"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24"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9</a:t>
            </a:r>
            <a:endParaRPr b="0" lang="en-US" sz="1300" spc="-1" strike="noStrike">
              <a:solidFill>
                <a:srgbClr val="ffffff"/>
              </a:solidFill>
              <a:latin typeface="Arial"/>
            </a:endParaRPr>
          </a:p>
        </p:txBody>
      </p:sp>
      <p:sp>
        <p:nvSpPr>
          <p:cNvPr id="2225"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6"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27"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28"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29"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Silent Iterator</a:t>
            </a:r>
            <a:endParaRPr b="0" lang="en-US" sz="2800" spc="-1" strike="noStrike">
              <a:solidFill>
                <a:srgbClr val="ffffff"/>
              </a:solidFill>
              <a:latin typeface="Arial"/>
            </a:endParaRPr>
          </a:p>
        </p:txBody>
      </p:sp>
      <p:sp>
        <p:nvSpPr>
          <p:cNvPr id="2230"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1"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fn main()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let v = vec![1, 2, 3];</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v.iter().for_each(|x| println!("{}", x));</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32"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3"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Iterator adapters like map are lazy — they build a pipeline but run nothing until something consumes it. map here is never collected, looped over, or otherwise driven, so the closure never executes; the compiler's warning was "unused iterator that must be used," easy to miss. for_each actually drives the iteration; a for loop or .collect() would fix it too.</a:t>
            </a:r>
            <a:endParaRPr b="0" lang="en-US" sz="1250" spc="-1" strike="noStrike">
              <a:solidFill>
                <a:srgbClr val="ffffff"/>
              </a:solidFill>
              <a:latin typeface="Arial"/>
            </a:endParaRPr>
          </a:p>
        </p:txBody>
      </p:sp>
      <p:sp>
        <p:nvSpPr>
          <p:cNvPr id="2234"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35"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156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36"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PROBLEM 10</a:t>
            </a:r>
            <a:endParaRPr b="0" lang="en-US" sz="1300" spc="-1" strike="noStrike">
              <a:solidFill>
                <a:srgbClr val="ffffff"/>
              </a:solidFill>
              <a:latin typeface="Arial"/>
            </a:endParaRPr>
          </a:p>
        </p:txBody>
      </p:sp>
      <p:sp>
        <p:nvSpPr>
          <p:cNvPr id="2237"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38"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39"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0"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41"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Escaping Thread</a:t>
            </a:r>
            <a:endParaRPr b="0" lang="en-US" sz="2800" spc="-1" strike="noStrike">
              <a:solidFill>
                <a:srgbClr val="ffffff"/>
              </a:solidFill>
              <a:latin typeface="Arial"/>
            </a:endParaRPr>
          </a:p>
        </p:txBody>
      </p:sp>
      <p:sp>
        <p:nvSpPr>
          <p:cNvPr id="2242" name="Shape 6"/>
          <p:cNvSpPr/>
          <p:nvPr/>
        </p:nvSpPr>
        <p:spPr>
          <a:xfrm>
            <a:off x="548640" y="1645920"/>
            <a:ext cx="11062800" cy="2741760"/>
          </a:xfrm>
          <a:prstGeom prst="roundRect">
            <a:avLst>
              <a:gd name="adj" fmla="val 30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3" name="Text 7"/>
          <p:cNvSpPr/>
          <p:nvPr/>
        </p:nvSpPr>
        <p:spPr>
          <a:xfrm>
            <a:off x="777240" y="1755720"/>
            <a:ext cx="10605600" cy="25221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300" spc="-1" strike="noStrike">
                <a:solidFill>
                  <a:srgbClr val="edeff4"/>
                </a:solidFill>
                <a:latin typeface="Consolas"/>
                <a:ea typeface="Consolas"/>
              </a:rPr>
              <a:t>use std::thread;</a:t>
            </a:r>
            <a:endParaRPr b="0" lang="en-US" sz="1300" spc="-1" strike="noStrike">
              <a:solidFill>
                <a:srgbClr val="ffffff"/>
              </a:solidFill>
              <a:latin typeface="Arial"/>
            </a:endParaRPr>
          </a:p>
          <a:p>
            <a:pPr defTabSz="914400">
              <a:lnSpc>
                <a:spcPct val="125000"/>
              </a:lnSpc>
              <a:tabLst>
                <a:tab algn="l" pos="0"/>
              </a:tabLst>
            </a:pP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fn main()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let data = vec![1, 2, 3];</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let handle = thread::spawn(|| {</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println!("{:?}", data);</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    </a:t>
            </a:r>
            <a:r>
              <a:rPr b="0" lang="en-US" sz="1300" spc="-1" strike="noStrike">
                <a:solidFill>
                  <a:srgbClr val="edeff4"/>
                </a:solidFill>
                <a:latin typeface="Consolas"/>
                <a:ea typeface="Consolas"/>
              </a:rPr>
              <a:t>handle.join().unwrap();</a:t>
            </a:r>
            <a:endParaRPr b="0" lang="en-US" sz="1300" spc="-1" strike="noStrike">
              <a:solidFill>
                <a:srgbClr val="ffffff"/>
              </a:solidFill>
              <a:latin typeface="Arial"/>
            </a:endParaRPr>
          </a:p>
          <a:p>
            <a:pPr defTabSz="914400">
              <a:lnSpc>
                <a:spcPct val="125000"/>
              </a:lnSpc>
              <a:tabLst>
                <a:tab algn="l" pos="0"/>
              </a:tabLst>
            </a:pPr>
            <a:r>
              <a:rPr b="0" lang="en-US" sz="1300" spc="-1" strike="noStrike">
                <a:solidFill>
                  <a:srgbClr val="edeff4"/>
                </a:solidFill>
                <a:latin typeface="Consolas"/>
                <a:ea typeface="Consolas"/>
              </a:rPr>
              <a:t>}</a:t>
            </a:r>
            <a:endParaRPr b="0" lang="en-US" sz="1300" spc="-1" strike="noStrike">
              <a:solidFill>
                <a:srgbClr val="ffffff"/>
              </a:solidFill>
              <a:latin typeface="Arial"/>
            </a:endParaRPr>
          </a:p>
        </p:txBody>
      </p:sp>
      <p:sp>
        <p:nvSpPr>
          <p:cNvPr id="2244" name="Shape 8"/>
          <p:cNvSpPr/>
          <p:nvPr/>
        </p:nvSpPr>
        <p:spPr>
          <a:xfrm>
            <a:off x="548640" y="4526280"/>
            <a:ext cx="11062800" cy="1370160"/>
          </a:xfrm>
          <a:prstGeom prst="roundRect">
            <a:avLst>
              <a:gd name="adj" fmla="val 5333"/>
            </a:avLst>
          </a:prstGeom>
          <a:solidFill>
            <a:srgbClr val="202a40"/>
          </a:solidFill>
          <a:ln w="12700">
            <a:solidFill>
              <a:srgbClr val="e0b155"/>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45" name="Text 9"/>
          <p:cNvSpPr/>
          <p:nvPr/>
        </p:nvSpPr>
        <p:spPr>
          <a:xfrm>
            <a:off x="777240" y="4663440"/>
            <a:ext cx="10605600" cy="1095840"/>
          </a:xfrm>
          <a:prstGeom prst="rect">
            <a:avLst/>
          </a:prstGeom>
          <a:noFill/>
          <a:ln w="0">
            <a:noFill/>
          </a:ln>
        </p:spPr>
        <p:style>
          <a:lnRef idx="0"/>
          <a:fillRef idx="0"/>
          <a:effectRef idx="0"/>
          <a:fontRef idx="minor"/>
        </p:style>
        <p:txBody>
          <a:bodyPr lIns="90000" rIns="90000" tIns="45000" bIns="45000" anchor="t">
            <a:noAutofit/>
          </a:bodyPr>
          <a:p>
            <a:pPr defTabSz="914400">
              <a:lnSpc>
                <a:spcPct val="130000"/>
              </a:lnSpc>
              <a:tabLst>
                <a:tab algn="l" pos="0"/>
              </a:tabLst>
            </a:pPr>
            <a:r>
              <a:rPr b="1" lang="en-US" sz="1300" spc="-1" strike="noStrike">
                <a:solidFill>
                  <a:srgbClr val="e0b155"/>
                </a:solidFill>
                <a:latin typeface="Arial"/>
                <a:ea typeface="Arial"/>
              </a:rPr>
              <a:t>Task:  </a:t>
            </a:r>
            <a:r>
              <a:rPr b="0" lang="en-US" sz="1300" spc="-1" strike="noStrike">
                <a:solidFill>
                  <a:srgbClr val="edeff4"/>
                </a:solidFill>
                <a:latin typeface="Arial"/>
                <a:ea typeface="Arial"/>
              </a:rPr>
              <a:t>This fails to compile with an error about the closure needing a 'static lifetime. Fix it with one keyword — and explain why the compiler insists on it even though this specific program is obviously fine.</a:t>
            </a:r>
            <a:endParaRPr b="0" lang="en-US" sz="1300" spc="-1" strike="noStrike">
              <a:solidFill>
                <a:srgbClr val="ffffff"/>
              </a:solidFill>
              <a:latin typeface="Arial"/>
            </a:endParaRPr>
          </a:p>
        </p:txBody>
      </p:sp>
      <p:sp>
        <p:nvSpPr>
          <p:cNvPr id="2246"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47"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157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4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PRACTICE PROBLEMS — SOLUTION 10</a:t>
            </a:r>
            <a:endParaRPr b="0" lang="en-US" sz="1300" spc="-1" strike="noStrike">
              <a:solidFill>
                <a:srgbClr val="ffffff"/>
              </a:solidFill>
              <a:latin typeface="Arial"/>
            </a:endParaRPr>
          </a:p>
        </p:txBody>
      </p:sp>
      <p:sp>
        <p:nvSpPr>
          <p:cNvPr id="2249" name="Shape 1"/>
          <p:cNvSpPr/>
          <p:nvPr/>
        </p:nvSpPr>
        <p:spPr>
          <a:xfrm>
            <a:off x="10478880" y="347400"/>
            <a:ext cx="995400" cy="364320"/>
          </a:xfrm>
          <a:prstGeom prst="roundRect">
            <a:avLst>
              <a:gd name="adj" fmla="val 125000"/>
            </a:avLst>
          </a:prstGeom>
          <a:solidFill>
            <a:srgbClr val="9b6bd9"/>
          </a:solidFill>
          <a:ln w="12700">
            <a:solidFill>
              <a:srgbClr val="9b6bd9"/>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0" name="Text 2"/>
          <p:cNvSpPr/>
          <p:nvPr/>
        </p:nvSpPr>
        <p:spPr>
          <a:xfrm>
            <a:off x="10478880" y="347400"/>
            <a:ext cx="9954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 </a:t>
            </a:r>
            <a:r>
              <a:rPr b="1" lang="en-US" sz="1050" spc="-1" strike="noStrike">
                <a:solidFill>
                  <a:srgbClr val="ffffff"/>
                </a:solidFill>
                <a:latin typeface="Arial"/>
                <a:ea typeface="Arial"/>
              </a:rPr>
              <a:t>TRAP</a:t>
            </a:r>
            <a:endParaRPr b="0" lang="en-US" sz="1050" spc="-1" strike="noStrike">
              <a:solidFill>
                <a:srgbClr val="ffffff"/>
              </a:solidFill>
              <a:latin typeface="Arial"/>
            </a:endParaRPr>
          </a:p>
        </p:txBody>
      </p:sp>
      <p:sp>
        <p:nvSpPr>
          <p:cNvPr id="2251" name="Shape 3"/>
          <p:cNvSpPr/>
          <p:nvPr/>
        </p:nvSpPr>
        <p:spPr>
          <a:xfrm>
            <a:off x="9573840" y="347400"/>
            <a:ext cx="766800" cy="364320"/>
          </a:xfrm>
          <a:prstGeom prst="roundRect">
            <a:avLst>
              <a:gd name="adj" fmla="val 125000"/>
            </a:avLst>
          </a:prstGeom>
          <a:solidFill>
            <a:srgbClr val="e15757"/>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2" name="Text 4"/>
          <p:cNvSpPr/>
          <p:nvPr/>
        </p:nvSpPr>
        <p:spPr>
          <a:xfrm>
            <a:off x="9573840" y="347400"/>
            <a:ext cx="766800" cy="364320"/>
          </a:xfrm>
          <a:prstGeom prst="rect">
            <a:avLst/>
          </a:prstGeom>
          <a:noFill/>
          <a:ln w="0">
            <a:noFill/>
          </a:ln>
        </p:spPr>
        <p:style>
          <a:lnRef idx="0"/>
          <a:fillRef idx="0"/>
          <a:effectRef idx="0"/>
          <a:fontRef idx="minor"/>
        </p:style>
        <p:txBody>
          <a:bodyPr wrap="none" lIns="90000" rIns="90000" tIns="45000" bIns="45000" anchor="ctr">
            <a:noAutofit/>
          </a:bodyPr>
          <a:p>
            <a:pPr algn="ctr" defTabSz="914400">
              <a:lnSpc>
                <a:spcPct val="100000"/>
              </a:lnSpc>
              <a:tabLst>
                <a:tab algn="l" pos="0"/>
              </a:tabLst>
            </a:pPr>
            <a:r>
              <a:rPr b="1" lang="en-US" sz="1050" spc="-1" strike="noStrike">
                <a:solidFill>
                  <a:srgbClr val="ffffff"/>
                </a:solidFill>
                <a:latin typeface="Arial"/>
                <a:ea typeface="Arial"/>
              </a:rPr>
              <a:t>HARD</a:t>
            </a:r>
            <a:endParaRPr b="0" lang="en-US" sz="1050" spc="-1" strike="noStrike">
              <a:solidFill>
                <a:srgbClr val="ffffff"/>
              </a:solidFill>
              <a:latin typeface="Arial"/>
            </a:endParaRPr>
          </a:p>
        </p:txBody>
      </p:sp>
      <p:sp>
        <p:nvSpPr>
          <p:cNvPr id="2253" name="Text 5"/>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Escaping Thread</a:t>
            </a:r>
            <a:endParaRPr b="0" lang="en-US" sz="2800" spc="-1" strike="noStrike">
              <a:solidFill>
                <a:srgbClr val="ffffff"/>
              </a:solidFill>
              <a:latin typeface="Arial"/>
            </a:endParaRPr>
          </a:p>
        </p:txBody>
      </p:sp>
      <p:sp>
        <p:nvSpPr>
          <p:cNvPr id="2254" name="Shape 6"/>
          <p:cNvSpPr/>
          <p:nvPr/>
        </p:nvSpPr>
        <p:spPr>
          <a:xfrm>
            <a:off x="548640" y="1645920"/>
            <a:ext cx="11062800" cy="2284560"/>
          </a:xfrm>
          <a:prstGeom prst="roundRect">
            <a:avLst>
              <a:gd name="adj" fmla="val 360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5" name="Text 7"/>
          <p:cNvSpPr/>
          <p:nvPr/>
        </p:nvSpPr>
        <p:spPr>
          <a:xfrm>
            <a:off x="777240" y="1755720"/>
            <a:ext cx="10605600" cy="206496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400" spc="-1" strike="noStrike">
                <a:solidFill>
                  <a:srgbClr val="edeff4"/>
                </a:solidFill>
                <a:latin typeface="Consolas"/>
                <a:ea typeface="Consolas"/>
              </a:rPr>
              <a:t>let handle = thread::spawn(move || {</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    </a:t>
            </a:r>
            <a:r>
              <a:rPr b="0" lang="en-US" sz="1400" spc="-1" strike="noStrike">
                <a:solidFill>
                  <a:srgbClr val="edeff4"/>
                </a:solidFill>
                <a:latin typeface="Consolas"/>
                <a:ea typeface="Consolas"/>
              </a:rPr>
              <a:t>println!("{:?}", data);</a:t>
            </a:r>
            <a:endParaRPr b="0" lang="en-US" sz="1400" spc="-1" strike="noStrike">
              <a:solidFill>
                <a:srgbClr val="ffffff"/>
              </a:solidFill>
              <a:latin typeface="Arial"/>
            </a:endParaRPr>
          </a:p>
          <a:p>
            <a:pPr defTabSz="914400">
              <a:lnSpc>
                <a:spcPct val="125000"/>
              </a:lnSpc>
              <a:tabLst>
                <a:tab algn="l" pos="0"/>
              </a:tabLst>
            </a:pPr>
            <a:r>
              <a:rPr b="0" lang="en-US" sz="1400" spc="-1" strike="noStrike">
                <a:solidFill>
                  <a:srgbClr val="edeff4"/>
                </a:solidFill>
                <a:latin typeface="Consolas"/>
                <a:ea typeface="Consolas"/>
              </a:rPr>
              <a:t>});</a:t>
            </a:r>
            <a:endParaRPr b="0" lang="en-US" sz="1400" spc="-1" strike="noStrike">
              <a:solidFill>
                <a:srgbClr val="ffffff"/>
              </a:solidFill>
              <a:latin typeface="Arial"/>
            </a:endParaRPr>
          </a:p>
        </p:txBody>
      </p:sp>
      <p:sp>
        <p:nvSpPr>
          <p:cNvPr id="2256" name="Shape 8"/>
          <p:cNvSpPr/>
          <p:nvPr/>
        </p:nvSpPr>
        <p:spPr>
          <a:xfrm>
            <a:off x="548640" y="4069080"/>
            <a:ext cx="11062800" cy="1827360"/>
          </a:xfrm>
          <a:prstGeom prst="roundRect">
            <a:avLst>
              <a:gd name="adj" fmla="val 4000"/>
            </a:avLst>
          </a:prstGeom>
          <a:solidFill>
            <a:srgbClr val="202a40"/>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57" name="Text 9"/>
          <p:cNvSpPr/>
          <p:nvPr/>
        </p:nvSpPr>
        <p:spPr>
          <a:xfrm>
            <a:off x="777240" y="4206240"/>
            <a:ext cx="10605600" cy="1553040"/>
          </a:xfrm>
          <a:prstGeom prst="rect">
            <a:avLst/>
          </a:prstGeom>
          <a:noFill/>
          <a:ln w="0">
            <a:noFill/>
          </a:ln>
        </p:spPr>
        <p:style>
          <a:lnRef idx="0"/>
          <a:fillRef idx="0"/>
          <a:effectRef idx="0"/>
          <a:fontRef idx="minor"/>
        </p:style>
        <p:txBody>
          <a:bodyPr lIns="90000" rIns="90000" tIns="45000" bIns="45000" anchor="t">
            <a:noAutofit/>
          </a:bodyPr>
          <a:p>
            <a:pPr defTabSz="914400">
              <a:lnSpc>
                <a:spcPct val="128000"/>
              </a:lnSpc>
              <a:tabLst>
                <a:tab algn="l" pos="0"/>
              </a:tabLst>
            </a:pPr>
            <a:r>
              <a:rPr b="1" lang="en-US" sz="1250" spc="-1" strike="noStrike">
                <a:solidFill>
                  <a:srgbClr val="58c27d"/>
                </a:solidFill>
                <a:latin typeface="Arial"/>
                <a:ea typeface="Arial"/>
              </a:rPr>
              <a:t>Why it works:  </a:t>
            </a:r>
            <a:r>
              <a:rPr b="0" lang="en-US" sz="1250" spc="-1" strike="noStrike">
                <a:solidFill>
                  <a:srgbClr val="edeff4"/>
                </a:solidFill>
                <a:latin typeface="Arial"/>
                <a:ea typeface="Arial"/>
              </a:rPr>
              <a:t>thread::spawn can't know how long the spawned thread will run relative to main, so it requires every capture to be 'static — either owned outright or a genuinely static reference. move transfers ownership of data into the closure instead of borrowing it. The compiler enforces this for every thread::spawn call, not just the ones that would actually outlive their data — it can't tell those apart from here.</a:t>
            </a:r>
            <a:endParaRPr b="0" lang="en-US" sz="1250" spc="-1" strike="noStrike">
              <a:solidFill>
                <a:srgbClr val="ffffff"/>
              </a:solidFill>
              <a:latin typeface="Arial"/>
            </a:endParaRPr>
          </a:p>
        </p:txBody>
      </p:sp>
      <p:sp>
        <p:nvSpPr>
          <p:cNvPr id="2258" name="Text 1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59" name="Text 1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158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60"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PRACTICE PROBLEMS</a:t>
            </a:r>
            <a:endParaRPr b="0" lang="en-US" sz="1300" spc="-1" strike="noStrike">
              <a:solidFill>
                <a:srgbClr val="ffffff"/>
              </a:solidFill>
              <a:latin typeface="Arial"/>
            </a:endParaRPr>
          </a:p>
        </p:txBody>
      </p:sp>
      <p:sp>
        <p:nvSpPr>
          <p:cNvPr id="2261"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Every trap here compiled, or nearly did — that's the point.</a:t>
            </a:r>
            <a:endParaRPr b="0" lang="en-US" sz="3200" spc="-1" strike="noStrike">
              <a:solidFill>
                <a:srgbClr val="ffffff"/>
              </a:solidFill>
              <a:latin typeface="Arial"/>
            </a:endParaRPr>
          </a:p>
        </p:txBody>
      </p:sp>
      <p:sp>
        <p:nvSpPr>
          <p:cNvPr id="2262"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C++'s dangerous constructs usually compile silently and fail at runtime. Rust's dangerous constructs mostly fail to compile, loudly, with a message pointing roughly at the problem. The two "almost worked" traps — the semicolon and the silent iterator — are the exceptions worth remembering precisely because they're rarer.</a:t>
            </a:r>
            <a:endParaRPr b="0" lang="en-US" sz="1400" spc="-1" strike="noStrike">
              <a:solidFill>
                <a:srgbClr val="ffffff"/>
              </a:solidFill>
              <a:latin typeface="Arial"/>
            </a:endParaRPr>
          </a:p>
        </p:txBody>
      </p:sp>
      <p:sp>
        <p:nvSpPr>
          <p:cNvPr id="2263"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64"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65" name="Text 26"/>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Do the Rust100 (Github):  </a:t>
            </a:r>
            <a:endParaRPr b="0" lang="en-US" sz="3200" spc="-1" strike="noStrike">
              <a:solidFill>
                <a:srgbClr val="ffffff"/>
              </a:solidFill>
              <a:latin typeface="Arial"/>
            </a:endParaRPr>
          </a:p>
          <a:p>
            <a:pPr defTabSz="914400">
              <a:lnSpc>
                <a:spcPct val="115000"/>
              </a:lnSpc>
              <a:tabLst>
                <a:tab algn="l" pos="0"/>
              </a:tabLst>
            </a:pPr>
            <a:r>
              <a:rPr b="1" lang="en-US" sz="2800" spc="-1" strike="noStrike">
                <a:solidFill>
                  <a:srgbClr val="edeff4"/>
                </a:solidFill>
                <a:latin typeface="Arial"/>
                <a:ea typeface="Arial"/>
              </a:rPr>
              <a:t>git clone https://github.com/edzimmermann/Rust_course.git</a:t>
            </a:r>
            <a:endParaRPr b="0" lang="en-US" sz="2800" spc="-1" strike="noStrike">
              <a:solidFill>
                <a:srgbClr val="ffffff"/>
              </a:solidFill>
              <a:latin typeface="Arial"/>
            </a:endParaRPr>
          </a:p>
        </p:txBody>
      </p:sp>
      <p:sp>
        <p:nvSpPr>
          <p:cNvPr id="2266" name="Text 22"/>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PRACTICE PROBLEMS</a:t>
            </a:r>
            <a:endParaRPr b="0" lang="en-US" sz="1300" spc="-1" strike="noStrike">
              <a:solidFill>
                <a:srgbClr val="ffffff"/>
              </a:solidFill>
              <a:latin typeface="Arial"/>
            </a:endParaRPr>
          </a:p>
        </p:txBody>
      </p:sp>
      <p:sp>
        <p:nvSpPr>
          <p:cNvPr id="2267" name="Text 30"/>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C++'s dangerous constructs usually compile silently and fail at runtime. Rust's dangerous constructs mostly fail to compile, loudly, with a message pointing roughly at the problem. The two "almost worked" traps — the semicolon and the silent iterator — are the exceptions worth remembering precisely because they're rarer.</a:t>
            </a:r>
            <a:endParaRPr b="0" lang="en-US" sz="1400" spc="-1" strike="noStrike">
              <a:solidFill>
                <a:srgbClr val="ffffff"/>
              </a:solidFill>
              <a:latin typeface="Arial"/>
            </a:endParaRPr>
          </a:p>
        </p:txBody>
      </p:sp>
      <p:sp>
        <p:nvSpPr>
          <p:cNvPr id="2268" name="Text 3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269" name="Text 38"/>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159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70" name="Text 42"/>
          <p:cNvSpPr/>
          <p:nvPr/>
        </p:nvSpPr>
        <p:spPr>
          <a:xfrm>
            <a:off x="548640" y="1965960"/>
            <a:ext cx="5485680" cy="1005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400" spc="-1" strike="noStrike">
                <a:solidFill>
                  <a:srgbClr val="e8804f"/>
                </a:solidFill>
                <a:latin typeface="Arial"/>
                <a:ea typeface="Arial"/>
              </a:rPr>
              <a:t>RUST</a:t>
            </a:r>
            <a:endParaRPr b="0" lang="en-US" sz="5400" spc="-1" strike="noStrike">
              <a:solidFill>
                <a:srgbClr val="ffffff"/>
              </a:solidFill>
              <a:latin typeface="Arial"/>
            </a:endParaRPr>
          </a:p>
        </p:txBody>
      </p:sp>
      <p:sp>
        <p:nvSpPr>
          <p:cNvPr id="2271" name="Text 46"/>
          <p:cNvSpPr/>
          <p:nvPr/>
        </p:nvSpPr>
        <p:spPr>
          <a:xfrm>
            <a:off x="548640" y="269748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2600" spc="-1" strike="noStrike">
                <a:solidFill>
                  <a:srgbClr val="edeff4"/>
                </a:solidFill>
                <a:latin typeface="Arial"/>
                <a:ea typeface="Arial"/>
              </a:rPr>
              <a:t>for C++ Developers</a:t>
            </a:r>
            <a:endParaRPr b="0" lang="en-US" sz="2600" spc="-1" strike="noStrike">
              <a:solidFill>
                <a:srgbClr val="ffffff"/>
              </a:solidFill>
              <a:latin typeface="Arial"/>
            </a:endParaRPr>
          </a:p>
        </p:txBody>
      </p:sp>
      <p:sp>
        <p:nvSpPr>
          <p:cNvPr id="2272" name="Text 50"/>
          <p:cNvSpPr/>
          <p:nvPr/>
        </p:nvSpPr>
        <p:spPr>
          <a:xfrm>
            <a:off x="548640" y="3291840"/>
            <a:ext cx="7314480" cy="456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600" spc="-1" strike="noStrike">
                <a:solidFill>
                  <a:srgbClr val="9aa4b8"/>
                </a:solidFill>
                <a:latin typeface="Arial"/>
                <a:ea typeface="Arial"/>
              </a:rPr>
              <a:t>What you can no longer do — and why</a:t>
            </a:r>
            <a:endParaRPr b="0" lang="en-US" sz="1600" spc="-1" strike="noStrike">
              <a:solidFill>
                <a:srgbClr val="ffffff"/>
              </a:solidFill>
              <a:latin typeface="Arial"/>
            </a:endParaRPr>
          </a:p>
        </p:txBody>
      </p:sp>
      <p:sp>
        <p:nvSpPr>
          <p:cNvPr id="2273" name="Shape 16"/>
          <p:cNvSpPr/>
          <p:nvPr/>
        </p:nvSpPr>
        <p:spPr>
          <a:xfrm>
            <a:off x="8778240" y="1737360"/>
            <a:ext cx="2833920" cy="3291120"/>
          </a:xfrm>
          <a:prstGeom prst="roundRect">
            <a:avLst>
              <a:gd name="adj" fmla="val 3871"/>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74" name="Text 54"/>
          <p:cNvSpPr/>
          <p:nvPr/>
        </p:nvSpPr>
        <p:spPr>
          <a:xfrm>
            <a:off x="8778240" y="1965960"/>
            <a:ext cx="283392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3e8fe0"/>
                </a:solidFill>
                <a:latin typeface="Consolas"/>
                <a:ea typeface="Consolas"/>
              </a:rPr>
              <a:t>C++</a:t>
            </a:r>
            <a:endParaRPr b="0" lang="en-US" sz="1800" spc="-1" strike="noStrike">
              <a:solidFill>
                <a:srgbClr val="ffffff"/>
              </a:solidFill>
              <a:latin typeface="Arial"/>
            </a:endParaRPr>
          </a:p>
        </p:txBody>
      </p:sp>
      <p:sp>
        <p:nvSpPr>
          <p:cNvPr id="2275" name="Text 62"/>
          <p:cNvSpPr/>
          <p:nvPr/>
        </p:nvSpPr>
        <p:spPr>
          <a:xfrm>
            <a:off x="9006840" y="2514600"/>
            <a:ext cx="237672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50" spc="-1" strike="noStrike">
                <a:solidFill>
                  <a:srgbClr val="9aa4b8"/>
                </a:solidFill>
                <a:latin typeface="Consolas"/>
                <a:ea typeface="Consolas"/>
              </a:rPr>
              <a:t>int* p = new int[5];</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delete[] p;</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p[0] = 1;  // UB, compiles</a:t>
            </a:r>
            <a:endParaRPr b="0" lang="en-US" sz="1050" spc="-1" strike="noStrike">
              <a:solidFill>
                <a:srgbClr val="ffffff"/>
              </a:solidFill>
              <a:latin typeface="Arial"/>
            </a:endParaRPr>
          </a:p>
        </p:txBody>
      </p:sp>
      <p:sp>
        <p:nvSpPr>
          <p:cNvPr id="2276" name="Shape 19"/>
          <p:cNvSpPr/>
          <p:nvPr/>
        </p:nvSpPr>
        <p:spPr>
          <a:xfrm>
            <a:off x="9006840" y="3611880"/>
            <a:ext cx="2377440" cy="360"/>
          </a:xfrm>
          <a:prstGeom prst="line">
            <a:avLst/>
          </a:prstGeom>
          <a:ln w="12700">
            <a:solidFill>
              <a:srgbClr val="2b3550"/>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277" name="Text 66"/>
          <p:cNvSpPr/>
          <p:nvPr/>
        </p:nvSpPr>
        <p:spPr>
          <a:xfrm>
            <a:off x="8778240" y="3749040"/>
            <a:ext cx="283392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e8804f"/>
                </a:solidFill>
                <a:latin typeface="Consolas"/>
                <a:ea typeface="Consolas"/>
              </a:rPr>
              <a:t>Rust</a:t>
            </a:r>
            <a:endParaRPr b="0" lang="en-US" sz="1800" spc="-1" strike="noStrike">
              <a:solidFill>
                <a:srgbClr val="ffffff"/>
              </a:solidFill>
              <a:latin typeface="Arial"/>
            </a:endParaRPr>
          </a:p>
        </p:txBody>
      </p:sp>
      <p:sp>
        <p:nvSpPr>
          <p:cNvPr id="2278" name="Text 72"/>
          <p:cNvSpPr/>
          <p:nvPr/>
        </p:nvSpPr>
        <p:spPr>
          <a:xfrm>
            <a:off x="9006840" y="4297680"/>
            <a:ext cx="237672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050" spc="-1" strike="noStrike">
                <a:solidFill>
                  <a:srgbClr val="9aa4b8"/>
                </a:solidFill>
                <a:latin typeface="Consolas"/>
                <a:ea typeface="Consolas"/>
              </a:rPr>
              <a:t>let v = vec![1];</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drop(v);</a:t>
            </a:r>
            <a:endParaRPr b="0" lang="en-US" sz="1050" spc="-1" strike="noStrike">
              <a:solidFill>
                <a:srgbClr val="ffffff"/>
              </a:solidFill>
              <a:latin typeface="Arial"/>
            </a:endParaRPr>
          </a:p>
          <a:p>
            <a:pPr defTabSz="914400">
              <a:lnSpc>
                <a:spcPct val="130000"/>
              </a:lnSpc>
              <a:tabLst>
                <a:tab algn="l" pos="0"/>
              </a:tabLst>
            </a:pPr>
            <a:r>
              <a:rPr b="0" lang="en-US" sz="1050" spc="-1" strike="noStrike">
                <a:solidFill>
                  <a:srgbClr val="9aa4b8"/>
                </a:solidFill>
                <a:latin typeface="Consolas"/>
                <a:ea typeface="Consolas"/>
              </a:rPr>
              <a:t>v[0];  // won't compile</a:t>
            </a:r>
            <a:endParaRPr b="0" lang="en-US" sz="1050" spc="-1" strike="noStrike">
              <a:solidFill>
                <a:srgbClr val="ffffff"/>
              </a:solidFill>
              <a:latin typeface="Arial"/>
            </a:endParaRPr>
          </a:p>
        </p:txBody>
      </p:sp>
      <p:sp>
        <p:nvSpPr>
          <p:cNvPr id="2279" name="Text 73"/>
          <p:cNvSpPr/>
          <p:nvPr/>
        </p:nvSpPr>
        <p:spPr>
          <a:xfrm>
            <a:off x="548640" y="6035040"/>
            <a:ext cx="82288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pc="-1" strike="noStrike">
                <a:solidFill>
                  <a:srgbClr val="9aa4b8"/>
                </a:solidFill>
                <a:latin typeface="Arial"/>
                <a:ea typeface="Arial"/>
              </a:rPr>
              <a:t>A guide to the patterns the borrow checker and type system rule out</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280" name="Text 74"/>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ROADMAP</a:t>
            </a:r>
            <a:endParaRPr b="0" lang="en-US" sz="1300" spc="-1" strike="noStrike">
              <a:solidFill>
                <a:srgbClr val="ffffff"/>
              </a:solidFill>
              <a:latin typeface="Arial"/>
            </a:endParaRPr>
          </a:p>
        </p:txBody>
      </p:sp>
      <p:sp>
        <p:nvSpPr>
          <p:cNvPr id="2281" name="Text 75"/>
          <p:cNvSpPr/>
          <p:nvPr/>
        </p:nvSpPr>
        <p:spPr>
          <a:xfrm>
            <a:off x="548640" y="68580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What we'll cover</a:t>
            </a:r>
            <a:endParaRPr b="0" lang="en-US" sz="3000" spc="-1" strike="noStrike">
              <a:solidFill>
                <a:srgbClr val="ffffff"/>
              </a:solidFill>
              <a:latin typeface="Arial"/>
            </a:endParaRPr>
          </a:p>
        </p:txBody>
      </p:sp>
      <p:sp>
        <p:nvSpPr>
          <p:cNvPr id="2282" name="Shape 31"/>
          <p:cNvSpPr/>
          <p:nvPr/>
        </p:nvSpPr>
        <p:spPr>
          <a:xfrm>
            <a:off x="548640" y="17373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83" name="Text 76"/>
          <p:cNvSpPr/>
          <p:nvPr/>
        </p:nvSpPr>
        <p:spPr>
          <a:xfrm>
            <a:off x="777240" y="18471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01</a:t>
            </a:r>
            <a:endParaRPr b="0" lang="en-US" sz="2200" spc="-1" strike="noStrike">
              <a:solidFill>
                <a:srgbClr val="ffffff"/>
              </a:solidFill>
              <a:latin typeface="Arial"/>
            </a:endParaRPr>
          </a:p>
        </p:txBody>
      </p:sp>
      <p:sp>
        <p:nvSpPr>
          <p:cNvPr id="2284" name="Text 77"/>
          <p:cNvSpPr/>
          <p:nvPr/>
        </p:nvSpPr>
        <p:spPr>
          <a:xfrm>
            <a:off x="1554480" y="18288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Memory &amp; Aliasing</a:t>
            </a:r>
            <a:endParaRPr b="0" lang="en-US" sz="1500" spc="-1" strike="noStrike">
              <a:solidFill>
                <a:srgbClr val="ffffff"/>
              </a:solidFill>
              <a:latin typeface="Arial"/>
            </a:endParaRPr>
          </a:p>
        </p:txBody>
      </p:sp>
      <p:sp>
        <p:nvSpPr>
          <p:cNvPr id="2285" name="Text 78"/>
          <p:cNvSpPr/>
          <p:nvPr/>
        </p:nvSpPr>
        <p:spPr>
          <a:xfrm>
            <a:off x="1554480" y="215784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Pointers, ownership, and who may touch what</a:t>
            </a:r>
            <a:endParaRPr b="0" lang="en-US" sz="1050" spc="-1" strike="noStrike">
              <a:solidFill>
                <a:srgbClr val="ffffff"/>
              </a:solidFill>
              <a:latin typeface="Arial"/>
            </a:endParaRPr>
          </a:p>
        </p:txBody>
      </p:sp>
      <p:sp>
        <p:nvSpPr>
          <p:cNvPr id="2286" name="Shape 43"/>
          <p:cNvSpPr/>
          <p:nvPr/>
        </p:nvSpPr>
        <p:spPr>
          <a:xfrm>
            <a:off x="6263640" y="17373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87" name="Text 79"/>
          <p:cNvSpPr/>
          <p:nvPr/>
        </p:nvSpPr>
        <p:spPr>
          <a:xfrm>
            <a:off x="6492240" y="18471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02</a:t>
            </a:r>
            <a:endParaRPr b="0" lang="en-US" sz="2200" spc="-1" strike="noStrike">
              <a:solidFill>
                <a:srgbClr val="ffffff"/>
              </a:solidFill>
              <a:latin typeface="Arial"/>
            </a:endParaRPr>
          </a:p>
        </p:txBody>
      </p:sp>
      <p:sp>
        <p:nvSpPr>
          <p:cNvPr id="2288" name="Text 80"/>
          <p:cNvSpPr/>
          <p:nvPr/>
        </p:nvSpPr>
        <p:spPr>
          <a:xfrm>
            <a:off x="7269480" y="18288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Type System</a:t>
            </a:r>
            <a:endParaRPr b="0" lang="en-US" sz="1500" spc="-1" strike="noStrike">
              <a:solidFill>
                <a:srgbClr val="ffffff"/>
              </a:solidFill>
              <a:latin typeface="Arial"/>
            </a:endParaRPr>
          </a:p>
        </p:txBody>
      </p:sp>
      <p:sp>
        <p:nvSpPr>
          <p:cNvPr id="2289" name="Text 81"/>
          <p:cNvSpPr/>
          <p:nvPr/>
        </p:nvSpPr>
        <p:spPr>
          <a:xfrm>
            <a:off x="7269480" y="215784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Conversions the compiler no longer does for you</a:t>
            </a:r>
            <a:endParaRPr b="0" lang="en-US" sz="1050" spc="-1" strike="noStrike">
              <a:solidFill>
                <a:srgbClr val="ffffff"/>
              </a:solidFill>
              <a:latin typeface="Arial"/>
            </a:endParaRPr>
          </a:p>
        </p:txBody>
      </p:sp>
      <p:sp>
        <p:nvSpPr>
          <p:cNvPr id="2290" name="Shape 55"/>
          <p:cNvSpPr/>
          <p:nvPr/>
        </p:nvSpPr>
        <p:spPr>
          <a:xfrm>
            <a:off x="548640" y="27705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91" name="Text 82"/>
          <p:cNvSpPr/>
          <p:nvPr/>
        </p:nvSpPr>
        <p:spPr>
          <a:xfrm>
            <a:off x="777240" y="28803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03</a:t>
            </a:r>
            <a:endParaRPr b="0" lang="en-US" sz="2200" spc="-1" strike="noStrike">
              <a:solidFill>
                <a:srgbClr val="ffffff"/>
              </a:solidFill>
              <a:latin typeface="Arial"/>
            </a:endParaRPr>
          </a:p>
        </p:txBody>
      </p:sp>
      <p:sp>
        <p:nvSpPr>
          <p:cNvPr id="2292" name="Text 83"/>
          <p:cNvSpPr/>
          <p:nvPr/>
        </p:nvSpPr>
        <p:spPr>
          <a:xfrm>
            <a:off x="1554480" y="28620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OOP &amp; Generics</a:t>
            </a:r>
            <a:endParaRPr b="0" lang="en-US" sz="1500" spc="-1" strike="noStrike">
              <a:solidFill>
                <a:srgbClr val="ffffff"/>
              </a:solidFill>
              <a:latin typeface="Arial"/>
            </a:endParaRPr>
          </a:p>
        </p:txBody>
      </p:sp>
      <p:sp>
        <p:nvSpPr>
          <p:cNvPr id="2293" name="Text 84"/>
          <p:cNvSpPr/>
          <p:nvPr/>
        </p:nvSpPr>
        <p:spPr>
          <a:xfrm>
            <a:off x="1554480" y="319140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Inheritance, overloading, and templates</a:t>
            </a:r>
            <a:endParaRPr b="0" lang="en-US" sz="1050" spc="-1" strike="noStrike">
              <a:solidFill>
                <a:srgbClr val="ffffff"/>
              </a:solidFill>
              <a:latin typeface="Arial"/>
            </a:endParaRPr>
          </a:p>
        </p:txBody>
      </p:sp>
      <p:sp>
        <p:nvSpPr>
          <p:cNvPr id="2294" name="Shape 56"/>
          <p:cNvSpPr/>
          <p:nvPr/>
        </p:nvSpPr>
        <p:spPr>
          <a:xfrm>
            <a:off x="6263640" y="2770560"/>
            <a:ext cx="5348520" cy="867960"/>
          </a:xfrm>
          <a:prstGeom prst="roundRect">
            <a:avLst>
              <a:gd name="adj" fmla="val 10526"/>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295" name="Text 85"/>
          <p:cNvSpPr/>
          <p:nvPr/>
        </p:nvSpPr>
        <p:spPr>
          <a:xfrm>
            <a:off x="6492240" y="2880360"/>
            <a:ext cx="822240" cy="648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e8804f"/>
                </a:solidFill>
                <a:latin typeface="Consolas"/>
                <a:ea typeface="Consolas"/>
              </a:rPr>
              <a:t>04</a:t>
            </a:r>
            <a:endParaRPr b="0" lang="en-US" sz="2200" spc="-1" strike="noStrike">
              <a:solidFill>
                <a:srgbClr val="ffffff"/>
              </a:solidFill>
              <a:latin typeface="Arial"/>
            </a:endParaRPr>
          </a:p>
        </p:txBody>
      </p:sp>
      <p:sp>
        <p:nvSpPr>
          <p:cNvPr id="2296" name="Text 86"/>
          <p:cNvSpPr/>
          <p:nvPr/>
        </p:nvSpPr>
        <p:spPr>
          <a:xfrm>
            <a:off x="7269480" y="2862000"/>
            <a:ext cx="415980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500" spc="-1" strike="noStrike">
                <a:solidFill>
                  <a:srgbClr val="edeff4"/>
                </a:solidFill>
                <a:latin typeface="Arial"/>
                <a:ea typeface="Arial"/>
              </a:rPr>
              <a:t>Control Flow &amp; State</a:t>
            </a:r>
            <a:endParaRPr b="0" lang="en-US" sz="1500" spc="-1" strike="noStrike">
              <a:solidFill>
                <a:srgbClr val="ffffff"/>
              </a:solidFill>
              <a:latin typeface="Arial"/>
            </a:endParaRPr>
          </a:p>
        </p:txBody>
      </p:sp>
      <p:sp>
        <p:nvSpPr>
          <p:cNvPr id="2297" name="Text 87"/>
          <p:cNvSpPr/>
          <p:nvPr/>
        </p:nvSpPr>
        <p:spPr>
          <a:xfrm>
            <a:off x="7269480" y="3191400"/>
            <a:ext cx="415980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9aa4b8"/>
                </a:solidFill>
                <a:latin typeface="Arial"/>
                <a:ea typeface="Arial"/>
              </a:rPr>
              <a:t>Exceptions, goto, and global mutability</a:t>
            </a:r>
            <a:endParaRPr b="0" lang="en-US" sz="1050" spc="-1" strike="noStrike">
              <a:solidFill>
                <a:srgbClr val="ffffff"/>
              </a:solidFill>
              <a:latin typeface="Arial"/>
            </a:endParaRPr>
          </a:p>
        </p:txBody>
      </p:sp>
      <p:sp>
        <p:nvSpPr>
          <p:cNvPr id="2298" name="Text 88"/>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299" name="Text 89"/>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00" name="Shape 57"/>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01" name="Text 90"/>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01</a:t>
            </a:r>
            <a:endParaRPr b="0" lang="en-US" sz="3400" spc="-1" strike="noStrike">
              <a:solidFill>
                <a:srgbClr val="ffffff"/>
              </a:solidFill>
              <a:latin typeface="Arial"/>
            </a:endParaRPr>
          </a:p>
        </p:txBody>
      </p:sp>
      <p:sp>
        <p:nvSpPr>
          <p:cNvPr id="2302" name="Text 91"/>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Memory &amp; Aliasing</a:t>
            </a:r>
            <a:endParaRPr b="0" lang="en-US" sz="3000" spc="-1" strike="noStrike">
              <a:solidFill>
                <a:srgbClr val="ffffff"/>
              </a:solidFill>
              <a:latin typeface="Arial"/>
            </a:endParaRPr>
          </a:p>
        </p:txBody>
      </p:sp>
      <p:sp>
        <p:nvSpPr>
          <p:cNvPr id="2303" name="Text 92"/>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Pointers, ownership, and who may touch what</a:t>
            </a:r>
            <a:endParaRPr b="0" lang="en-US" sz="1400" spc="-1" strike="noStrike">
              <a:solidFill>
                <a:srgbClr val="ffffff"/>
              </a:solidFill>
              <a:latin typeface="Arial"/>
            </a:endParaRPr>
          </a:p>
        </p:txBody>
      </p:sp>
      <p:sp>
        <p:nvSpPr>
          <p:cNvPr id="2304" name="Text 9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05" name="Text 9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3</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06" name="Text 9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07" name="Text 9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Dangling pointers that compile</a:t>
            </a:r>
            <a:endParaRPr b="0" lang="en-US" sz="3000" spc="-1" strike="noStrike">
              <a:solidFill>
                <a:srgbClr val="ffffff"/>
              </a:solidFill>
              <a:latin typeface="Arial"/>
            </a:endParaRPr>
          </a:p>
        </p:txBody>
      </p:sp>
      <p:sp>
        <p:nvSpPr>
          <p:cNvPr id="2308" name="Shape 59"/>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09" name="Shape 60"/>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0" name="Text 9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11" name="Text 9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12" name="Text 9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make()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int x = 42;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return &amp;x;   // returns dangling ptr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*make();       // UB — compiles fine</a:t>
            </a:r>
            <a:endParaRPr b="0" lang="en-US" sz="1250" spc="-1" strike="noStrike">
              <a:solidFill>
                <a:srgbClr val="ffffff"/>
              </a:solidFill>
              <a:latin typeface="Arial"/>
            </a:endParaRPr>
          </a:p>
        </p:txBody>
      </p:sp>
      <p:sp>
        <p:nvSpPr>
          <p:cNvPr id="2313" name="Text 10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 compiler happily returns the address of a local variable. The bug only shows up at runtime, if it shows up at all.</a:t>
            </a:r>
            <a:endParaRPr b="0" lang="en-US" sz="1150" spc="-1" strike="noStrike">
              <a:solidFill>
                <a:srgbClr val="ffffff"/>
              </a:solidFill>
              <a:latin typeface="Arial"/>
            </a:endParaRPr>
          </a:p>
        </p:txBody>
      </p:sp>
      <p:sp>
        <p:nvSpPr>
          <p:cNvPr id="2314" name="Shape 61"/>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5" name="Shape 63"/>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16" name="Text 10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17" name="Text 10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18" name="Text 10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fn make() -&gt; &amp;i32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let x = 42;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&amp;x   // error: x does not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  live long enough</a:t>
            </a:r>
            <a:endParaRPr b="0" lang="en-US" sz="1250" spc="-1" strike="noStrike">
              <a:solidFill>
                <a:srgbClr val="ffffff"/>
              </a:solidFill>
              <a:latin typeface="Arial"/>
            </a:endParaRPr>
          </a:p>
        </p:txBody>
      </p:sp>
      <p:sp>
        <p:nvSpPr>
          <p:cNvPr id="2319" name="Text 10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Every reference has a lifetime the compiler tracks. A reference that could outlive its data is a compile error, not a runtime surprise.</a:t>
            </a:r>
            <a:endParaRPr b="0" lang="en-US" sz="1150" spc="-1" strike="noStrike">
              <a:solidFill>
                <a:srgbClr val="ffffff"/>
              </a:solidFill>
              <a:latin typeface="Arial"/>
            </a:endParaRPr>
          </a:p>
        </p:txBody>
      </p:sp>
      <p:sp>
        <p:nvSpPr>
          <p:cNvPr id="2320" name="Shape 64"/>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1" name="Text 10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Lifetimes are checked at compile time, so a reference can never point past the end of the thing it refers to.</a:t>
            </a:r>
            <a:endParaRPr b="0" lang="en-US" sz="1200" spc="-1" strike="noStrike">
              <a:solidFill>
                <a:srgbClr val="ffffff"/>
              </a:solidFill>
              <a:latin typeface="Arial"/>
            </a:endParaRPr>
          </a:p>
        </p:txBody>
      </p:sp>
      <p:sp>
        <p:nvSpPr>
          <p:cNvPr id="2322" name="Text 10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23" name="Text 10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4</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24" name="Text 10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25" name="Text 109"/>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Aliased mutable state</a:t>
            </a:r>
            <a:endParaRPr b="0" lang="en-US" sz="3000" spc="-1" strike="noStrike">
              <a:solidFill>
                <a:srgbClr val="ffffff"/>
              </a:solidFill>
              <a:latin typeface="Arial"/>
            </a:endParaRPr>
          </a:p>
        </p:txBody>
      </p:sp>
      <p:sp>
        <p:nvSpPr>
          <p:cNvPr id="2326" name="Shape 65"/>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7" name="Shape 67"/>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28" name="Text 110"/>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29" name="Text 111"/>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30" name="Text 112"/>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void f(std::vector&lt;int&gt;&amp; v)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int&amp; first = v[0];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v.push_back(1); // may reallocate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first = 5;       // UB: dangling ref</a:t>
            </a:r>
            <a:endParaRPr b="0" lang="en-US" sz="1250" spc="-1" strike="noStrike">
              <a:solidFill>
                <a:srgbClr val="ffffff"/>
              </a:solidFill>
              <a:latin typeface="Arial"/>
            </a:endParaRPr>
          </a:p>
        </p:txBody>
      </p:sp>
      <p:sp>
        <p:nvSpPr>
          <p:cNvPr id="2331" name="Text 113"/>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Nothing stops you from holding a reference into a container while also mutating that container through another handle.</a:t>
            </a:r>
            <a:endParaRPr b="0" lang="en-US" sz="1150" spc="-1" strike="noStrike">
              <a:solidFill>
                <a:srgbClr val="ffffff"/>
              </a:solidFill>
              <a:latin typeface="Arial"/>
            </a:endParaRPr>
          </a:p>
        </p:txBody>
      </p:sp>
      <p:sp>
        <p:nvSpPr>
          <p:cNvPr id="2332" name="Shape 68"/>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3" name="Shape 69"/>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4" name="Text 114"/>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35" name="Text 115"/>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36" name="Text 116"/>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mut v = vec![1];</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first = &amp;v[0];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v.push(2);   // error: cannot borrow</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v as mutable</a:t>
            </a:r>
            <a:endParaRPr b="0" lang="en-US" sz="1250" spc="-1" strike="noStrike">
              <a:solidFill>
                <a:srgbClr val="ffffff"/>
              </a:solidFill>
              <a:latin typeface="Arial"/>
            </a:endParaRPr>
          </a:p>
        </p:txBody>
      </p:sp>
      <p:sp>
        <p:nvSpPr>
          <p:cNvPr id="2337" name="Text 117"/>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 borrow checker enforces 'one mutable reference, or many shared references — never both' for every value, everywhere.</a:t>
            </a:r>
            <a:endParaRPr b="0" lang="en-US" sz="1150" spc="-1" strike="noStrike">
              <a:solidFill>
                <a:srgbClr val="ffffff"/>
              </a:solidFill>
              <a:latin typeface="Arial"/>
            </a:endParaRPr>
          </a:p>
        </p:txBody>
      </p:sp>
      <p:sp>
        <p:nvSpPr>
          <p:cNvPr id="2338" name="Shape 70"/>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39" name="Text 118"/>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Most data races and iterator-invalidation bugs are exactly this pattern. Rust rejects the aliasing, not just the race.</a:t>
            </a:r>
            <a:endParaRPr b="0" lang="en-US" sz="1200" spc="-1" strike="noStrike">
              <a:solidFill>
                <a:srgbClr val="ffffff"/>
              </a:solidFill>
              <a:latin typeface="Arial"/>
            </a:endParaRPr>
          </a:p>
        </p:txBody>
      </p:sp>
      <p:sp>
        <p:nvSpPr>
          <p:cNvPr id="2340" name="Text 119"/>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41" name="Text 120"/>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42" name="Text 121"/>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43" name="Text 122"/>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Reading uninitialized memory</a:t>
            </a:r>
            <a:endParaRPr b="0" lang="en-US" sz="3000" spc="-1" strike="noStrike">
              <a:solidFill>
                <a:srgbClr val="ffffff"/>
              </a:solidFill>
              <a:latin typeface="Arial"/>
            </a:endParaRPr>
          </a:p>
        </p:txBody>
      </p:sp>
      <p:sp>
        <p:nvSpPr>
          <p:cNvPr id="2344" name="Shape 71"/>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45" name="Shape 72"/>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46" name="Text 123"/>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47" name="Text 124"/>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48" name="Text 125"/>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std::cout &lt;&lt; x; // UB: indeterminate</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int arr[10];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use(arr[3]);      // garbage value</a:t>
            </a:r>
            <a:endParaRPr b="0" lang="en-US" sz="1250" spc="-1" strike="noStrike">
              <a:solidFill>
                <a:srgbClr val="ffffff"/>
              </a:solidFill>
              <a:latin typeface="Arial"/>
            </a:endParaRPr>
          </a:p>
        </p:txBody>
      </p:sp>
      <p:sp>
        <p:nvSpPr>
          <p:cNvPr id="2349" name="Text 126"/>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Declaring a variable does not give it a value. Reading it before assignment is undefined behavior that often 'just works'.</a:t>
            </a:r>
            <a:endParaRPr b="0" lang="en-US" sz="1150" spc="-1" strike="noStrike">
              <a:solidFill>
                <a:srgbClr val="ffffff"/>
              </a:solidFill>
              <a:latin typeface="Arial"/>
            </a:endParaRPr>
          </a:p>
        </p:txBody>
      </p:sp>
      <p:sp>
        <p:nvSpPr>
          <p:cNvPr id="2350" name="Shape 73"/>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1" name="Shape 74"/>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2" name="Text 127"/>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53" name="Text 128"/>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54" name="Text 129"/>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x: i32;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println!("{}",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error: used binding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isn't initialized</a:t>
            </a:r>
            <a:endParaRPr b="0" lang="en-US" sz="1250" spc="-1" strike="noStrike">
              <a:solidFill>
                <a:srgbClr val="ffffff"/>
              </a:solidFill>
              <a:latin typeface="Arial"/>
            </a:endParaRPr>
          </a:p>
        </p:txBody>
      </p:sp>
      <p:sp>
        <p:nvSpPr>
          <p:cNvPr id="2355" name="Text 130"/>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 compiler performs definite-assignment analysis: every path to a use must have already assigned the variable.</a:t>
            </a:r>
            <a:endParaRPr b="0" lang="en-US" sz="1150" spc="-1" strike="noStrike">
              <a:solidFill>
                <a:srgbClr val="ffffff"/>
              </a:solidFill>
              <a:latin typeface="Arial"/>
            </a:endParaRPr>
          </a:p>
        </p:txBody>
      </p:sp>
      <p:sp>
        <p:nvSpPr>
          <p:cNvPr id="2356" name="Shape 75"/>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57" name="Text 131"/>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Uninitialized reads are a classic source of nondeterministic bugs and security issues; Rust removes the category entirely.</a:t>
            </a:r>
            <a:endParaRPr b="0" lang="en-US" sz="1200" spc="-1" strike="noStrike">
              <a:solidFill>
                <a:srgbClr val="ffffff"/>
              </a:solidFill>
              <a:latin typeface="Arial"/>
            </a:endParaRPr>
          </a:p>
        </p:txBody>
      </p:sp>
      <p:sp>
        <p:nvSpPr>
          <p:cNvPr id="2358" name="Text 132"/>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59" name="Text 133"/>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6</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60" name="Text 134"/>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MEMORY &amp; ALIASING</a:t>
            </a:r>
            <a:endParaRPr b="0" lang="en-US" sz="1300" spc="-1" strike="noStrike">
              <a:solidFill>
                <a:srgbClr val="ffffff"/>
              </a:solidFill>
              <a:latin typeface="Arial"/>
            </a:endParaRPr>
          </a:p>
        </p:txBody>
      </p:sp>
      <p:sp>
        <p:nvSpPr>
          <p:cNvPr id="2361" name="Text 135"/>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Self-referential structs, casually</a:t>
            </a:r>
            <a:endParaRPr b="0" lang="en-US" sz="3000" spc="-1" strike="noStrike">
              <a:solidFill>
                <a:srgbClr val="ffffff"/>
              </a:solidFill>
              <a:latin typeface="Arial"/>
            </a:endParaRPr>
          </a:p>
        </p:txBody>
      </p:sp>
      <p:sp>
        <p:nvSpPr>
          <p:cNvPr id="2362" name="Shape 76"/>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63" name="Shape 77"/>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64" name="Text 136"/>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65" name="Text 137"/>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66" name="Text 138"/>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struct Node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int val;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Node* self; // set in ctor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moving/copying Node invalidates self</a:t>
            </a:r>
            <a:endParaRPr b="0" lang="en-US" sz="1250" spc="-1" strike="noStrike">
              <a:solidFill>
                <a:srgbClr val="ffffff"/>
              </a:solidFill>
              <a:latin typeface="Arial"/>
            </a:endParaRPr>
          </a:p>
        </p:txBody>
      </p:sp>
      <p:sp>
        <p:nvSpPr>
          <p:cNvPr id="2367" name="Text 139"/>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C++ lets a struct freely store a pointer to itself or to a sibling field. Moving the struct silently invalidates that pointer.</a:t>
            </a:r>
            <a:endParaRPr b="0" lang="en-US" sz="1150" spc="-1" strike="noStrike">
              <a:solidFill>
                <a:srgbClr val="ffffff"/>
              </a:solidFill>
              <a:latin typeface="Arial"/>
            </a:endParaRPr>
          </a:p>
        </p:txBody>
      </p:sp>
      <p:sp>
        <p:nvSpPr>
          <p:cNvPr id="2368" name="Shape 78"/>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69" name="Shape 79"/>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0" name="Text 140"/>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71" name="Text 141"/>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72" name="Text 142"/>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struct Node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val: i32,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self_ref: &amp;'static Node,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won't compile without Pin/unsafe</a:t>
            </a:r>
            <a:endParaRPr b="0" lang="en-US" sz="1250" spc="-1" strike="noStrike">
              <a:solidFill>
                <a:srgbClr val="ffffff"/>
              </a:solidFill>
              <a:latin typeface="Arial"/>
            </a:endParaRPr>
          </a:p>
        </p:txBody>
      </p:sp>
      <p:sp>
        <p:nvSpPr>
          <p:cNvPr id="2373" name="Text 143"/>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Because Rust values can move, an ordinary reference into 'self' isn't allowed. You need Pin, indices, or arena crates instead.</a:t>
            </a:r>
            <a:endParaRPr b="0" lang="en-US" sz="1150" spc="-1" strike="noStrike">
              <a:solidFill>
                <a:srgbClr val="ffffff"/>
              </a:solidFill>
              <a:latin typeface="Arial"/>
            </a:endParaRPr>
          </a:p>
        </p:txBody>
      </p:sp>
      <p:sp>
        <p:nvSpPr>
          <p:cNvPr id="2374" name="Shape 80"/>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5" name="Text 144"/>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Move semantics that actually move (not just permit moving) make naive self-reference unsound — so the language forbids it by default.</a:t>
            </a:r>
            <a:endParaRPr b="0" lang="en-US" sz="1200" spc="-1" strike="noStrike">
              <a:solidFill>
                <a:srgbClr val="ffffff"/>
              </a:solidFill>
              <a:latin typeface="Arial"/>
            </a:endParaRPr>
          </a:p>
        </p:txBody>
      </p:sp>
      <p:sp>
        <p:nvSpPr>
          <p:cNvPr id="2376" name="Text 145"/>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77" name="Text 146"/>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7</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78" name="Shape 81"/>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79" name="Text 147"/>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02</a:t>
            </a:r>
            <a:endParaRPr b="0" lang="en-US" sz="3400" spc="-1" strike="noStrike">
              <a:solidFill>
                <a:srgbClr val="ffffff"/>
              </a:solidFill>
              <a:latin typeface="Arial"/>
            </a:endParaRPr>
          </a:p>
        </p:txBody>
      </p:sp>
      <p:sp>
        <p:nvSpPr>
          <p:cNvPr id="2380" name="Text 148"/>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Type System</a:t>
            </a:r>
            <a:endParaRPr b="0" lang="en-US" sz="3000" spc="-1" strike="noStrike">
              <a:solidFill>
                <a:srgbClr val="ffffff"/>
              </a:solidFill>
              <a:latin typeface="Arial"/>
            </a:endParaRPr>
          </a:p>
        </p:txBody>
      </p:sp>
      <p:sp>
        <p:nvSpPr>
          <p:cNvPr id="2381" name="Text 149"/>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Conversions the compiler no longer does for you</a:t>
            </a:r>
            <a:endParaRPr b="0" lang="en-US" sz="1400" spc="-1" strike="noStrike">
              <a:solidFill>
                <a:srgbClr val="ffffff"/>
              </a:solidFill>
              <a:latin typeface="Arial"/>
            </a:endParaRPr>
          </a:p>
        </p:txBody>
      </p:sp>
      <p:sp>
        <p:nvSpPr>
          <p:cNvPr id="2382" name="Text 150"/>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383" name="Text 151"/>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8</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384" name="Text 152"/>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2385" name="Text 153"/>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Implicit narrowing conversions</a:t>
            </a:r>
            <a:endParaRPr b="0" lang="en-US" sz="3000" spc="-1" strike="noStrike">
              <a:solidFill>
                <a:srgbClr val="ffffff"/>
              </a:solidFill>
              <a:latin typeface="Arial"/>
            </a:endParaRPr>
          </a:p>
        </p:txBody>
      </p:sp>
      <p:sp>
        <p:nvSpPr>
          <p:cNvPr id="2386" name="Shape 82"/>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87" name="Shape 83"/>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88" name="Text 154"/>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389" name="Text 155"/>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390" name="Text 156"/>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i = 3.9;      // silently -&gt; 3</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char c = 1000;    // silently truncated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long l = someInt; // widens, fine</a:t>
            </a:r>
            <a:endParaRPr b="0" lang="en-US" sz="1250" spc="-1" strike="noStrike">
              <a:solidFill>
                <a:srgbClr val="ffffff"/>
              </a:solidFill>
              <a:latin typeface="Arial"/>
            </a:endParaRPr>
          </a:p>
        </p:txBody>
      </p:sp>
      <p:sp>
        <p:nvSpPr>
          <p:cNvPr id="2391" name="Text 157"/>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Assigning a double to an int, or a large int to a char, compiles without complaint and quietly loses information.</a:t>
            </a:r>
            <a:endParaRPr b="0" lang="en-US" sz="1150" spc="-1" strike="noStrike">
              <a:solidFill>
                <a:srgbClr val="ffffff"/>
              </a:solidFill>
              <a:latin typeface="Arial"/>
            </a:endParaRPr>
          </a:p>
        </p:txBody>
      </p:sp>
      <p:sp>
        <p:nvSpPr>
          <p:cNvPr id="2392" name="Shape 84"/>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93" name="Shape 85"/>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94" name="Text 158"/>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395" name="Text 159"/>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396" name="Text 160"/>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i: i32 = 3.9;   // error: mismatched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types (f64 vs i32)</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c: u8 = 1000;   // error: literal out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of range for u8</a:t>
            </a:r>
            <a:endParaRPr b="0" lang="en-US" sz="1250" spc="-1" strike="noStrike">
              <a:solidFill>
                <a:srgbClr val="ffffff"/>
              </a:solidFill>
              <a:latin typeface="Arial"/>
            </a:endParaRPr>
          </a:p>
        </p:txBody>
      </p:sp>
      <p:sp>
        <p:nvSpPr>
          <p:cNvPr id="2397" name="Text 161"/>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Numeric conversions must be spelled out with `as` or `TryFrom`, and `TryFrom` forces you to handle the out-of-range case.</a:t>
            </a:r>
            <a:endParaRPr b="0" lang="en-US" sz="1150" spc="-1" strike="noStrike">
              <a:solidFill>
                <a:srgbClr val="ffffff"/>
              </a:solidFill>
              <a:latin typeface="Arial"/>
            </a:endParaRPr>
          </a:p>
        </p:txBody>
      </p:sp>
      <p:sp>
        <p:nvSpPr>
          <p:cNvPr id="2398" name="Shape 86"/>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399" name="Text 162"/>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Narrowing is often unintentional. Making it explicit turns silent data loss into a decision you have to write down.</a:t>
            </a:r>
            <a:endParaRPr b="0" lang="en-US" sz="1200" spc="-1" strike="noStrike">
              <a:solidFill>
                <a:srgbClr val="ffffff"/>
              </a:solidFill>
              <a:latin typeface="Arial"/>
            </a:endParaRPr>
          </a:p>
        </p:txBody>
      </p:sp>
      <p:sp>
        <p:nvSpPr>
          <p:cNvPr id="2400" name="Text 16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01" name="Text 16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9</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02" name="Text 16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2403" name="Text 16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Free int ↔ bool ↔ pointer coercion</a:t>
            </a:r>
            <a:endParaRPr b="0" lang="en-US" sz="3000" spc="-1" strike="noStrike">
              <a:solidFill>
                <a:srgbClr val="ffffff"/>
              </a:solidFill>
              <a:latin typeface="Arial"/>
            </a:endParaRPr>
          </a:p>
        </p:txBody>
      </p:sp>
      <p:sp>
        <p:nvSpPr>
          <p:cNvPr id="2404" name="Shape 87"/>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05" name="Shape 88"/>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06" name="Text 16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07" name="Text 16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08" name="Text 16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n = 5;</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if (n) { ... }        // int -&gt; bool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if (ptr) { ... }        // ptr -&gt; bool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bool b = someFunctionPtr; // ptr -&gt; bool</a:t>
            </a:r>
            <a:endParaRPr b="0" lang="en-US" sz="1250" spc="-1" strike="noStrike">
              <a:solidFill>
                <a:srgbClr val="ffffff"/>
              </a:solidFill>
              <a:latin typeface="Arial"/>
            </a:endParaRPr>
          </a:p>
        </p:txBody>
      </p:sp>
      <p:sp>
        <p:nvSpPr>
          <p:cNvPr id="2409" name="Text 17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Integers, pointers, and enums all convert to bool in a condition. It's convenient, and it's also a common source of typos like `if (x = 5)`.</a:t>
            </a:r>
            <a:endParaRPr b="0" lang="en-US" sz="1150" spc="-1" strike="noStrike">
              <a:solidFill>
                <a:srgbClr val="ffffff"/>
              </a:solidFill>
              <a:latin typeface="Arial"/>
            </a:endParaRPr>
          </a:p>
        </p:txBody>
      </p:sp>
      <p:sp>
        <p:nvSpPr>
          <p:cNvPr id="2410" name="Shape 89"/>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11" name="Shape 90"/>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12" name="Text 17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13" name="Text 17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14" name="Text 17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n = 5;</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if n { ... }   // error: expected bool,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found integer</a:t>
            </a:r>
            <a:endParaRPr b="0" lang="en-US" sz="1250" spc="-1" strike="noStrike">
              <a:solidFill>
                <a:srgbClr val="ffffff"/>
              </a:solidFill>
              <a:latin typeface="Arial"/>
            </a:endParaRPr>
          </a:p>
        </p:txBody>
      </p:sp>
      <p:sp>
        <p:nvSpPr>
          <p:cNvPr id="2415" name="Text 17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Only an actual `bool` is a valid condition. `if n != 0` must be written out — and `=` inside `if` isn't legal syntax to begin with.</a:t>
            </a:r>
            <a:endParaRPr b="0" lang="en-US" sz="1150" spc="-1" strike="noStrike">
              <a:solidFill>
                <a:srgbClr val="ffffff"/>
              </a:solidFill>
              <a:latin typeface="Arial"/>
            </a:endParaRPr>
          </a:p>
        </p:txBody>
      </p:sp>
      <p:sp>
        <p:nvSpPr>
          <p:cNvPr id="2416" name="Shape 91"/>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17" name="Text 17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A precise boolean type closes off an entire class of 'accidentally truthy' bugs that plague loosely-typed conditionals.</a:t>
            </a:r>
            <a:endParaRPr b="0" lang="en-US" sz="1200" spc="-1" strike="noStrike">
              <a:solidFill>
                <a:srgbClr val="ffffff"/>
              </a:solidFill>
              <a:latin typeface="Arial"/>
            </a:endParaRPr>
          </a:p>
        </p:txBody>
      </p:sp>
      <p:sp>
        <p:nvSpPr>
          <p:cNvPr id="2418" name="Text 17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19" name="Text 17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10</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20" name="Text 17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TYPE SYSTEM</a:t>
            </a:r>
            <a:endParaRPr b="0" lang="en-US" sz="1300" spc="-1" strike="noStrike">
              <a:solidFill>
                <a:srgbClr val="ffffff"/>
              </a:solidFill>
              <a:latin typeface="Arial"/>
            </a:endParaRPr>
          </a:p>
        </p:txBody>
      </p:sp>
      <p:sp>
        <p:nvSpPr>
          <p:cNvPr id="2421" name="Text 179"/>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Null as a valid reference</a:t>
            </a:r>
            <a:endParaRPr b="0" lang="en-US" sz="3000" spc="-1" strike="noStrike">
              <a:solidFill>
                <a:srgbClr val="ffffff"/>
              </a:solidFill>
              <a:latin typeface="Arial"/>
            </a:endParaRPr>
          </a:p>
        </p:txBody>
      </p:sp>
      <p:sp>
        <p:nvSpPr>
          <p:cNvPr id="2422" name="Shape 92"/>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3" name="Shape 93"/>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4" name="Text 180"/>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25" name="Text 181"/>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26" name="Text 182"/>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Widget&amp; w = *ptr;   // ptr may be null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w.doThing();          // crashes, maybe</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Widget* p = nullptr;  // fine, always</a:t>
            </a:r>
            <a:endParaRPr b="0" lang="en-US" sz="1250" spc="-1" strike="noStrike">
              <a:solidFill>
                <a:srgbClr val="ffffff"/>
              </a:solidFill>
              <a:latin typeface="Arial"/>
            </a:endParaRPr>
          </a:p>
        </p:txBody>
      </p:sp>
      <p:sp>
        <p:nvSpPr>
          <p:cNvPr id="2427" name="Text 183"/>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 reference is supposed to never be null, but dereferencing a null pointer to bind one compiles and crashes only at use.</a:t>
            </a:r>
            <a:endParaRPr b="0" lang="en-US" sz="1150" spc="-1" strike="noStrike">
              <a:solidFill>
                <a:srgbClr val="ffffff"/>
              </a:solidFill>
              <a:latin typeface="Arial"/>
            </a:endParaRPr>
          </a:p>
        </p:txBody>
      </p:sp>
      <p:sp>
        <p:nvSpPr>
          <p:cNvPr id="2428" name="Shape 94"/>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29" name="Shape 95"/>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0" name="Text 184"/>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31" name="Text 185"/>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32" name="Text 186"/>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w: &amp;Widget = ...; // always valid,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enforced by the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compiler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maybe: Option&lt;&amp;Widget&gt; = None; // must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unwrap first</a:t>
            </a:r>
            <a:endParaRPr b="0" lang="en-US" sz="1250" spc="-1" strike="noStrike">
              <a:solidFill>
                <a:srgbClr val="ffffff"/>
              </a:solidFill>
              <a:latin typeface="Arial"/>
            </a:endParaRPr>
          </a:p>
        </p:txBody>
      </p:sp>
      <p:sp>
        <p:nvSpPr>
          <p:cNvPr id="2433" name="Text 187"/>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 `&amp;T` is guaranteed non-null. Absence is modeled with `Option&lt;T&gt;`, and you must explicitly handle the `None` case to get at the value.</a:t>
            </a:r>
            <a:endParaRPr b="0" lang="en-US" sz="1150" spc="-1" strike="noStrike">
              <a:solidFill>
                <a:srgbClr val="ffffff"/>
              </a:solidFill>
              <a:latin typeface="Arial"/>
            </a:endParaRPr>
          </a:p>
        </p:txBody>
      </p:sp>
      <p:sp>
        <p:nvSpPr>
          <p:cNvPr id="2434" name="Shape 96"/>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5" name="Text 188"/>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Tony Hoare called null references his 'billion-dollar mistake'. Rust encodes absence in the type instead of in a sentinel value.</a:t>
            </a:r>
            <a:endParaRPr b="0" lang="en-US" sz="1200" spc="-1" strike="noStrike">
              <a:solidFill>
                <a:srgbClr val="ffffff"/>
              </a:solidFill>
              <a:latin typeface="Arial"/>
            </a:endParaRPr>
          </a:p>
        </p:txBody>
      </p:sp>
      <p:sp>
        <p:nvSpPr>
          <p:cNvPr id="2436" name="Text 189"/>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37" name="Text 190"/>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11</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38" name="Shape 97"/>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39" name="Text 191"/>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03</a:t>
            </a:r>
            <a:endParaRPr b="0" lang="en-US" sz="3400" spc="-1" strike="noStrike">
              <a:solidFill>
                <a:srgbClr val="ffffff"/>
              </a:solidFill>
              <a:latin typeface="Arial"/>
            </a:endParaRPr>
          </a:p>
        </p:txBody>
      </p:sp>
      <p:sp>
        <p:nvSpPr>
          <p:cNvPr id="2440" name="Text 192"/>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OOP &amp; Generics</a:t>
            </a:r>
            <a:endParaRPr b="0" lang="en-US" sz="3000" spc="-1" strike="noStrike">
              <a:solidFill>
                <a:srgbClr val="ffffff"/>
              </a:solidFill>
              <a:latin typeface="Arial"/>
            </a:endParaRPr>
          </a:p>
        </p:txBody>
      </p:sp>
      <p:sp>
        <p:nvSpPr>
          <p:cNvPr id="2441" name="Text 193"/>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Inheritance, overloading, and templates</a:t>
            </a:r>
            <a:endParaRPr b="0" lang="en-US" sz="1400" spc="-1" strike="noStrike">
              <a:solidFill>
                <a:srgbClr val="ffffff"/>
              </a:solidFill>
              <a:latin typeface="Arial"/>
            </a:endParaRPr>
          </a:p>
        </p:txBody>
      </p:sp>
      <p:sp>
        <p:nvSpPr>
          <p:cNvPr id="2442" name="Text 194"/>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43" name="Text 195"/>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12</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44" name="Text 196"/>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45" name="Text 197"/>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Multiple inheritance of implementation</a:t>
            </a:r>
            <a:endParaRPr b="0" lang="en-US" sz="3000" spc="-1" strike="noStrike">
              <a:solidFill>
                <a:srgbClr val="ffffff"/>
              </a:solidFill>
              <a:latin typeface="Arial"/>
            </a:endParaRPr>
          </a:p>
        </p:txBody>
      </p:sp>
      <p:sp>
        <p:nvSpPr>
          <p:cNvPr id="2446" name="Shape 98"/>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47" name="Shape 99"/>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48" name="Text 198"/>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49" name="Text 199"/>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50" name="Text 200"/>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class Flying : public Animal,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public Machine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diamond problem, virtual bases,</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ambiguous member lookup</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451" name="Text 201"/>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You can inherit implementation from several classes at once, which is powerful but opens the door to the diamond problem and layout ambiguity.</a:t>
            </a:r>
            <a:endParaRPr b="0" lang="en-US" sz="1150" spc="-1" strike="noStrike">
              <a:solidFill>
                <a:srgbClr val="ffffff"/>
              </a:solidFill>
              <a:latin typeface="Arial"/>
            </a:endParaRPr>
          </a:p>
        </p:txBody>
      </p:sp>
      <p:sp>
        <p:nvSpPr>
          <p:cNvPr id="2452" name="Shape 100"/>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3" name="Shape 101"/>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4" name="Text 202"/>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55" name="Text 203"/>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56" name="Text 204"/>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struct Bird;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impl Animal for Bird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impl Flies for Bird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composition + trait impls,</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no base-class data inheritance</a:t>
            </a:r>
            <a:endParaRPr b="0" lang="en-US" sz="1250" spc="-1" strike="noStrike">
              <a:solidFill>
                <a:srgbClr val="ffffff"/>
              </a:solidFill>
              <a:latin typeface="Arial"/>
            </a:endParaRPr>
          </a:p>
        </p:txBody>
      </p:sp>
      <p:sp>
        <p:nvSpPr>
          <p:cNvPr id="2457" name="Text 205"/>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There is no struct inheritance at all. A type can implement any number of traits (interfaces + default methods), but never inherits another struct's fields.</a:t>
            </a:r>
            <a:endParaRPr b="0" lang="en-US" sz="1150" spc="-1" strike="noStrike">
              <a:solidFill>
                <a:srgbClr val="ffffff"/>
              </a:solidFill>
              <a:latin typeface="Arial"/>
            </a:endParaRPr>
          </a:p>
        </p:txBody>
      </p:sp>
      <p:sp>
        <p:nvSpPr>
          <p:cNvPr id="2458" name="Shape 102"/>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59" name="Text 206"/>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Composition and trait implementation give most of the reuse benefit without diamond-shaped ambiguity in field layout or method resolution.</a:t>
            </a:r>
            <a:endParaRPr b="0" lang="en-US" sz="1200" spc="-1" strike="noStrike">
              <a:solidFill>
                <a:srgbClr val="ffffff"/>
              </a:solidFill>
              <a:latin typeface="Arial"/>
            </a:endParaRPr>
          </a:p>
        </p:txBody>
      </p:sp>
      <p:sp>
        <p:nvSpPr>
          <p:cNvPr id="2460" name="Text 207"/>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61" name="Text 208"/>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13</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62" name="Text 209"/>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63" name="Text 210"/>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Ad-hoc function overloading</a:t>
            </a:r>
            <a:endParaRPr b="0" lang="en-US" sz="3000" spc="-1" strike="noStrike">
              <a:solidFill>
                <a:srgbClr val="ffffff"/>
              </a:solidFill>
              <a:latin typeface="Arial"/>
            </a:endParaRPr>
          </a:p>
        </p:txBody>
      </p:sp>
      <p:sp>
        <p:nvSpPr>
          <p:cNvPr id="2464" name="Shape 103"/>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65" name="Shape 104"/>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66" name="Text 211"/>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67" name="Text 212"/>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68" name="Text 213"/>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void log(int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log(std::string 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log(int x, int 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resolved by arity + type</a:t>
            </a:r>
            <a:endParaRPr b="0" lang="en-US" sz="1250" spc="-1" strike="noStrike">
              <a:solidFill>
                <a:srgbClr val="ffffff"/>
              </a:solidFill>
              <a:latin typeface="Arial"/>
            </a:endParaRPr>
          </a:p>
        </p:txBody>
      </p:sp>
      <p:sp>
        <p:nvSpPr>
          <p:cNvPr id="2469" name="Text 214"/>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You can define many functions with the same name, differing in parameter count or type, and the compiler picks one via overload resolution.</a:t>
            </a:r>
            <a:endParaRPr b="0" lang="en-US" sz="1150" spc="-1" strike="noStrike">
              <a:solidFill>
                <a:srgbClr val="ffffff"/>
              </a:solidFill>
              <a:latin typeface="Arial"/>
            </a:endParaRPr>
          </a:p>
        </p:txBody>
      </p:sp>
      <p:sp>
        <p:nvSpPr>
          <p:cNvPr id="2470" name="Shape 105"/>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71" name="Shape 106"/>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72" name="Text 215"/>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73" name="Text 216"/>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74" name="Text 217"/>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fn log(x: i32)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fn log(x: &amp;str)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error: log is defined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multiple times</a:t>
            </a:r>
            <a:endParaRPr b="0" lang="en-US" sz="1250" spc="-1" strike="noStrike">
              <a:solidFill>
                <a:srgbClr val="ffffff"/>
              </a:solidFill>
              <a:latin typeface="Arial"/>
            </a:endParaRPr>
          </a:p>
        </p:txBody>
      </p:sp>
      <p:sp>
        <p:nvSpPr>
          <p:cNvPr id="2475" name="Text 218"/>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 given name resolves to exactly one function. Ad-hoc polymorphism instead goes through traits, generics, or enums with explicit variants.</a:t>
            </a:r>
            <a:endParaRPr b="0" lang="en-US" sz="1150" spc="-1" strike="noStrike">
              <a:solidFill>
                <a:srgbClr val="ffffff"/>
              </a:solidFill>
              <a:latin typeface="Arial"/>
            </a:endParaRPr>
          </a:p>
        </p:txBody>
      </p:sp>
      <p:sp>
        <p:nvSpPr>
          <p:cNvPr id="2476" name="Shape 107"/>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77" name="Text 219"/>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Overload resolution is a genuinely tricky spec (C++'s is famously subtle). Rust trades the convenience for one unambiguous name-to-function mapping.</a:t>
            </a:r>
            <a:endParaRPr b="0" lang="en-US" sz="1200" spc="-1" strike="noStrike">
              <a:solidFill>
                <a:srgbClr val="ffffff"/>
              </a:solidFill>
              <a:latin typeface="Arial"/>
            </a:endParaRPr>
          </a:p>
        </p:txBody>
      </p:sp>
      <p:sp>
        <p:nvSpPr>
          <p:cNvPr id="2478" name="Text 220"/>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79" name="Text 221"/>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14</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80" name="Text 222"/>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81" name="Text 223"/>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Implicit copy constructors with side effects</a:t>
            </a:r>
            <a:endParaRPr b="0" lang="en-US" sz="3000" spc="-1" strike="noStrike">
              <a:solidFill>
                <a:srgbClr val="ffffff"/>
              </a:solidFill>
              <a:latin typeface="Arial"/>
            </a:endParaRPr>
          </a:p>
        </p:txBody>
      </p:sp>
      <p:sp>
        <p:nvSpPr>
          <p:cNvPr id="2482" name="Shape 108"/>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83" name="Shape 109"/>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84" name="Text 224"/>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485" name="Text 225"/>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486" name="Text 226"/>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Buffer a = makeBuffer();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Buffer b = a;   // copy ctor runs</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silently — deep copy,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ref-count bump, or bug</a:t>
            </a:r>
            <a:endParaRPr b="0" lang="en-US" sz="1250" spc="-1" strike="noStrike">
              <a:solidFill>
                <a:srgbClr val="ffffff"/>
              </a:solidFill>
              <a:latin typeface="Arial"/>
            </a:endParaRPr>
          </a:p>
        </p:txBody>
      </p:sp>
      <p:sp>
        <p:nvSpPr>
          <p:cNvPr id="2487" name="Text 227"/>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Any type is copyable by default unless you delete the copy constructor, and that copy can run arbitrary logic every time you pass by value.</a:t>
            </a:r>
            <a:endParaRPr b="0" lang="en-US" sz="1150" spc="-1" strike="noStrike">
              <a:solidFill>
                <a:srgbClr val="ffffff"/>
              </a:solidFill>
              <a:latin typeface="Arial"/>
            </a:endParaRPr>
          </a:p>
        </p:txBody>
      </p:sp>
      <p:sp>
        <p:nvSpPr>
          <p:cNvPr id="2488" name="Shape 110"/>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89" name="Shape 111"/>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0" name="Text 228"/>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491" name="Text 229"/>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492" name="Text 230"/>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a = make_buffer();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b = a;      // move by default;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'a' is no longer usable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Copy only if you #[derive(Copy)]</a:t>
            </a:r>
            <a:endParaRPr b="0" lang="en-US" sz="1250" spc="-1" strike="noStrike">
              <a:solidFill>
                <a:srgbClr val="ffffff"/>
              </a:solidFill>
              <a:latin typeface="Arial"/>
            </a:endParaRPr>
          </a:p>
        </p:txBody>
      </p:sp>
      <p:sp>
        <p:nvSpPr>
          <p:cNvPr id="2493" name="Text 231"/>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Assignment moves by default. A type is silently, bitwise-copyable only if you opt in with `#[derive(Copy)]`, which is restricted to simple data.</a:t>
            </a:r>
            <a:endParaRPr b="0" lang="en-US" sz="1150" spc="-1" strike="noStrike">
              <a:solidFill>
                <a:srgbClr val="ffffff"/>
              </a:solidFill>
              <a:latin typeface="Arial"/>
            </a:endParaRPr>
          </a:p>
        </p:txBody>
      </p:sp>
      <p:sp>
        <p:nvSpPr>
          <p:cNvPr id="2494" name="Shape 112"/>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495" name="Text 232"/>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Move-by-default avoids accidental deep copies and use-after-move bugs; copying with custom logic must go through an explicit `.clone()` call.</a:t>
            </a:r>
            <a:endParaRPr b="0" lang="en-US" sz="1200" spc="-1" strike="noStrike">
              <a:solidFill>
                <a:srgbClr val="ffffff"/>
              </a:solidFill>
              <a:latin typeface="Arial"/>
            </a:endParaRPr>
          </a:p>
        </p:txBody>
      </p:sp>
      <p:sp>
        <p:nvSpPr>
          <p:cNvPr id="2496" name="Text 23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497" name="Text 23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498" name="Text 23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499" name="Text 23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Partial template specialization</a:t>
            </a:r>
            <a:endParaRPr b="0" lang="en-US" sz="3000" spc="-1" strike="noStrike">
              <a:solidFill>
                <a:srgbClr val="ffffff"/>
              </a:solidFill>
              <a:latin typeface="Arial"/>
            </a:endParaRPr>
          </a:p>
        </p:txBody>
      </p:sp>
      <p:sp>
        <p:nvSpPr>
          <p:cNvPr id="2500" name="Shape 113"/>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1" name="Shape 114"/>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2" name="Text 23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03" name="Text 23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04" name="Text 23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template&lt;typename T, typename U&gt;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struct Pair {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template&lt;typename T&gt;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struct Pair&lt;T, int&gt; { ... }; // partial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specialization</a:t>
            </a:r>
            <a:endParaRPr b="0" lang="en-US" sz="1250" spc="-1" strike="noStrike">
              <a:solidFill>
                <a:srgbClr val="ffffff"/>
              </a:solidFill>
              <a:latin typeface="Arial"/>
            </a:endParaRPr>
          </a:p>
        </p:txBody>
      </p:sp>
      <p:sp>
        <p:nvSpPr>
          <p:cNvPr id="2505" name="Text 24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Templates can be partially specialized for specific patterns of type arguments, letting you customize behavior for a subset of instantiations.</a:t>
            </a:r>
            <a:endParaRPr b="0" lang="en-US" sz="1150" spc="-1" strike="noStrike">
              <a:solidFill>
                <a:srgbClr val="ffffff"/>
              </a:solidFill>
              <a:latin typeface="Arial"/>
            </a:endParaRPr>
          </a:p>
        </p:txBody>
      </p:sp>
      <p:sp>
        <p:nvSpPr>
          <p:cNvPr id="2506" name="Shape 115"/>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7" name="Shape 116"/>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08" name="Text 24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09" name="Text 24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10" name="Text 24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impl&lt;T&gt; Pair&lt;T, i32&gt;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error: conflicting</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implementations, no partial</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specialization (stable)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511" name="Text 24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Generics use trait bounds instead of specialization. You express 'behaves differently for i32' through a trait implemented for i32, not a partial match.</a:t>
            </a:r>
            <a:endParaRPr b="0" lang="en-US" sz="1150" spc="-1" strike="noStrike">
              <a:solidFill>
                <a:srgbClr val="ffffff"/>
              </a:solidFill>
              <a:latin typeface="Arial"/>
            </a:endParaRPr>
          </a:p>
        </p:txBody>
      </p:sp>
      <p:sp>
        <p:nvSpPr>
          <p:cNvPr id="2512" name="Shape 117"/>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13" name="Text 24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Specialization can make overload resolution order-dependent and hard to reason about; trait-bound generics keep instance selection unambiguous.</a:t>
            </a:r>
            <a:endParaRPr b="0" lang="en-US" sz="1200" spc="-1" strike="noStrike">
              <a:solidFill>
                <a:srgbClr val="ffffff"/>
              </a:solidFill>
              <a:latin typeface="Arial"/>
            </a:endParaRPr>
          </a:p>
        </p:txBody>
      </p:sp>
      <p:sp>
        <p:nvSpPr>
          <p:cNvPr id="2514" name="Text 24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15" name="Text 24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16" name="Text 24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OOP &amp; GENERICS</a:t>
            </a:r>
            <a:endParaRPr b="0" lang="en-US" sz="1300" spc="-1" strike="noStrike">
              <a:solidFill>
                <a:srgbClr val="ffffff"/>
              </a:solidFill>
              <a:latin typeface="Arial"/>
            </a:endParaRPr>
          </a:p>
        </p:txBody>
      </p:sp>
      <p:sp>
        <p:nvSpPr>
          <p:cNvPr id="2517" name="Text 249"/>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Operator overloading on any type, any way</a:t>
            </a:r>
            <a:endParaRPr b="0" lang="en-US" sz="3000" spc="-1" strike="noStrike">
              <a:solidFill>
                <a:srgbClr val="ffffff"/>
              </a:solidFill>
              <a:latin typeface="Arial"/>
            </a:endParaRPr>
          </a:p>
        </p:txBody>
      </p:sp>
      <p:sp>
        <p:nvSpPr>
          <p:cNvPr id="2518" name="Shape 118"/>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19" name="Shape 119"/>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0" name="Text 250"/>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21" name="Text 251"/>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22" name="Text 252"/>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Matrix operator+(const Matrix&amp;,</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const Vector&amp;);</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any semantics you like, for any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pair of types",</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operator+(int, int); // even this</a:t>
            </a:r>
            <a:endParaRPr b="0" lang="en-US" sz="1250" spc="-1" strike="noStrike">
              <a:solidFill>
                <a:srgbClr val="ffffff"/>
              </a:solidFill>
              <a:latin typeface="Arial"/>
            </a:endParaRPr>
          </a:p>
        </p:txBody>
      </p:sp>
      <p:sp>
        <p:nvSpPr>
          <p:cNvPr id="2523" name="Text 253"/>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You can overload operators for arbitrary type combinations with arbitrary semantics — including surprising ones, like `+` that doesn't return a sum.</a:t>
            </a:r>
            <a:endParaRPr b="0" lang="en-US" sz="1150" spc="-1" strike="noStrike">
              <a:solidFill>
                <a:srgbClr val="ffffff"/>
              </a:solidFill>
              <a:latin typeface="Arial"/>
            </a:endParaRPr>
          </a:p>
        </p:txBody>
      </p:sp>
      <p:sp>
        <p:nvSpPr>
          <p:cNvPr id="2524" name="Shape 120"/>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5" name="Shape 121"/>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26" name="Text 254"/>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27" name="Text 255"/>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28" name="Text 256"/>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impl Add&lt;Vector&gt; for Matrix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type Output = Matrix;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fn add(self, v: Vector) -&gt; Matrix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529" name="Text 257"/>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Operators are just trait methods (`Add`, `Mul`, ...) with a fixed shape: one method, one output type, implemented per-type via the standard trait.</a:t>
            </a:r>
            <a:endParaRPr b="0" lang="en-US" sz="1150" spc="-1" strike="noStrike">
              <a:solidFill>
                <a:srgbClr val="ffffff"/>
              </a:solidFill>
              <a:latin typeface="Arial"/>
            </a:endParaRPr>
          </a:p>
        </p:txBody>
      </p:sp>
      <p:sp>
        <p:nvSpPr>
          <p:cNvPr id="2530" name="Shape 122"/>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31" name="Text 258"/>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Routing every operator through a standard trait keeps `+` predictable across the whole ecosystem, at the cost of some C++-style creative freedom.</a:t>
            </a:r>
            <a:endParaRPr b="0" lang="en-US" sz="1200" spc="-1" strike="noStrike">
              <a:solidFill>
                <a:srgbClr val="ffffff"/>
              </a:solidFill>
              <a:latin typeface="Arial"/>
            </a:endParaRPr>
          </a:p>
        </p:txBody>
      </p:sp>
      <p:sp>
        <p:nvSpPr>
          <p:cNvPr id="2532" name="Text 259"/>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33" name="Text 260"/>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17</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34" name="Shape 123"/>
          <p:cNvSpPr/>
          <p:nvPr/>
        </p:nvSpPr>
        <p:spPr>
          <a:xfrm>
            <a:off x="548640" y="2651760"/>
            <a:ext cx="1370880" cy="137088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35" name="Text 261"/>
          <p:cNvSpPr/>
          <p:nvPr/>
        </p:nvSpPr>
        <p:spPr>
          <a:xfrm>
            <a:off x="548640" y="2651760"/>
            <a:ext cx="1370880" cy="1370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04</a:t>
            </a:r>
            <a:endParaRPr b="0" lang="en-US" sz="3400" spc="-1" strike="noStrike">
              <a:solidFill>
                <a:srgbClr val="ffffff"/>
              </a:solidFill>
              <a:latin typeface="Arial"/>
            </a:endParaRPr>
          </a:p>
        </p:txBody>
      </p:sp>
      <p:sp>
        <p:nvSpPr>
          <p:cNvPr id="2536" name="Text 262"/>
          <p:cNvSpPr/>
          <p:nvPr/>
        </p:nvSpPr>
        <p:spPr>
          <a:xfrm>
            <a:off x="2194560" y="2743200"/>
            <a:ext cx="91432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Control Flow &amp; State</a:t>
            </a:r>
            <a:endParaRPr b="0" lang="en-US" sz="3000" spc="-1" strike="noStrike">
              <a:solidFill>
                <a:srgbClr val="ffffff"/>
              </a:solidFill>
              <a:latin typeface="Arial"/>
            </a:endParaRPr>
          </a:p>
        </p:txBody>
      </p:sp>
      <p:sp>
        <p:nvSpPr>
          <p:cNvPr id="2537" name="Text 263"/>
          <p:cNvSpPr/>
          <p:nvPr/>
        </p:nvSpPr>
        <p:spPr>
          <a:xfrm>
            <a:off x="2194560" y="3429000"/>
            <a:ext cx="8686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pc="-1" strike="noStrike">
                <a:solidFill>
                  <a:srgbClr val="9aa4b8"/>
                </a:solidFill>
                <a:latin typeface="Arial"/>
                <a:ea typeface="Arial"/>
              </a:rPr>
              <a:t>Exceptions, goto, and global mutability</a:t>
            </a:r>
            <a:endParaRPr b="0" lang="en-US" sz="1400" spc="-1" strike="noStrike">
              <a:solidFill>
                <a:srgbClr val="ffffff"/>
              </a:solidFill>
              <a:latin typeface="Arial"/>
            </a:endParaRPr>
          </a:p>
        </p:txBody>
      </p:sp>
      <p:sp>
        <p:nvSpPr>
          <p:cNvPr id="2538" name="Text 264"/>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39" name="Text 265"/>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18</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40" name="Text 266"/>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41" name="Text 267"/>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Exceptions and stack unwinding by default</a:t>
            </a:r>
            <a:endParaRPr b="0" lang="en-US" sz="3000" spc="-1" strike="noStrike">
              <a:solidFill>
                <a:srgbClr val="ffffff"/>
              </a:solidFill>
              <a:latin typeface="Arial"/>
            </a:endParaRPr>
          </a:p>
        </p:txBody>
      </p:sp>
      <p:sp>
        <p:nvSpPr>
          <p:cNvPr id="2542" name="Shape 124"/>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43" name="Shape 125"/>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44" name="Text 268"/>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45" name="Text 269"/>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46" name="Text 270"/>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try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risky();</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catch (const std::exception&amp; e)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handle(e);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or: let it propagate silently</a:t>
            </a:r>
            <a:endParaRPr b="0" lang="en-US" sz="1250" spc="-1" strike="noStrike">
              <a:solidFill>
                <a:srgbClr val="ffffff"/>
              </a:solidFill>
              <a:latin typeface="Arial"/>
            </a:endParaRPr>
          </a:p>
        </p:txBody>
      </p:sp>
      <p:sp>
        <p:nvSpPr>
          <p:cNvPr id="2547" name="Text 271"/>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Any function can throw at any point unless marked noexcept, and callers can simply forget to catch — the error surfaces far from its source.</a:t>
            </a:r>
            <a:endParaRPr b="0" lang="en-US" sz="1150" spc="-1" strike="noStrike">
              <a:solidFill>
                <a:srgbClr val="ffffff"/>
              </a:solidFill>
              <a:latin typeface="Arial"/>
            </a:endParaRPr>
          </a:p>
        </p:txBody>
      </p:sp>
      <p:sp>
        <p:nvSpPr>
          <p:cNvPr id="2548" name="Shape 126"/>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49" name="Shape 127"/>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0" name="Text 272"/>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51" name="Text 273"/>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52" name="Text 274"/>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fn risky() -&gt; Result&lt;Data, Error&gt; { ... }</a:t>
            </a:r>
            <a:endParaRPr b="0" lang="en-US" sz="1250" spc="-1" strike="noStrike">
              <a:solidFill>
                <a:srgbClr val="ffffff"/>
              </a:solidFill>
              <a:latin typeface="Arial"/>
            </a:endParaRPr>
          </a:p>
          <a:p>
            <a:pPr defTabSz="914400">
              <a:lnSpc>
                <a:spcPct val="125000"/>
              </a:lnSpc>
              <a:tabLst>
                <a:tab algn="l" pos="0"/>
              </a:tabLst>
            </a:pP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match risky()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Ok(d) =&gt; use_it(d),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Err(e) =&gt; handle(e),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p:txBody>
      </p:sp>
      <p:sp>
        <p:nvSpPr>
          <p:cNvPr id="2553" name="Text 275"/>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Recoverable errors are ordinary return values (`Result&lt;T, E&gt;`), visible in the function signature. `panic!` exists but is for unrecoverable bugs, not control flow.</a:t>
            </a:r>
            <a:endParaRPr b="0" lang="en-US" sz="1150" spc="-1" strike="noStrike">
              <a:solidFill>
                <a:srgbClr val="ffffff"/>
              </a:solidFill>
              <a:latin typeface="Arial"/>
            </a:endParaRPr>
          </a:p>
        </p:txBody>
      </p:sp>
      <p:sp>
        <p:nvSpPr>
          <p:cNvPr id="2554" name="Shape 128"/>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55" name="Text 276"/>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Putting errors in the type signature means the compiler forces you to acknowledge them — nothing propagates invisibly through the call stack.</a:t>
            </a:r>
            <a:endParaRPr b="0" lang="en-US" sz="1200" spc="-1" strike="noStrike">
              <a:solidFill>
                <a:srgbClr val="ffffff"/>
              </a:solidFill>
              <a:latin typeface="Arial"/>
            </a:endParaRPr>
          </a:p>
        </p:txBody>
      </p:sp>
      <p:sp>
        <p:nvSpPr>
          <p:cNvPr id="2556" name="Text 277"/>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57" name="Text 278"/>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19</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58" name="Text 279"/>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59" name="Text 280"/>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The goto statement</a:t>
            </a:r>
            <a:endParaRPr b="0" lang="en-US" sz="3000" spc="-1" strike="noStrike">
              <a:solidFill>
                <a:srgbClr val="ffffff"/>
              </a:solidFill>
              <a:latin typeface="Arial"/>
            </a:endParaRPr>
          </a:p>
        </p:txBody>
      </p:sp>
      <p:sp>
        <p:nvSpPr>
          <p:cNvPr id="2560" name="Shape 129"/>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1" name="Shape 130"/>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2" name="Text 281"/>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63" name="Text 282"/>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64" name="Text 283"/>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if (done) goto end;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end: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cleanup();</a:t>
            </a:r>
            <a:endParaRPr b="0" lang="en-US" sz="1250" spc="-1" strike="noStrike">
              <a:solidFill>
                <a:srgbClr val="ffffff"/>
              </a:solidFill>
              <a:latin typeface="Arial"/>
            </a:endParaRPr>
          </a:p>
        </p:txBody>
      </p:sp>
      <p:sp>
        <p:nvSpPr>
          <p:cNvPr id="2565" name="Text 284"/>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goto still exists and is occasionally the pragmatic tool for breaking out of nested loops or centralizing cleanup code.</a:t>
            </a:r>
            <a:endParaRPr b="0" lang="en-US" sz="1150" spc="-1" strike="noStrike">
              <a:solidFill>
                <a:srgbClr val="ffffff"/>
              </a:solidFill>
              <a:latin typeface="Arial"/>
            </a:endParaRPr>
          </a:p>
        </p:txBody>
      </p:sp>
      <p:sp>
        <p:nvSpPr>
          <p:cNvPr id="2566" name="Shape 131"/>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7" name="Shape 132"/>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68" name="Text 285"/>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69" name="Text 286"/>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70" name="Text 287"/>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'outer: 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for ...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if done { break 'outer;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cleanup();</a:t>
            </a:r>
            <a:endParaRPr b="0" lang="en-US" sz="1250" spc="-1" strike="noStrike">
              <a:solidFill>
                <a:srgbClr val="ffffff"/>
              </a:solidFill>
              <a:latin typeface="Arial"/>
            </a:endParaRPr>
          </a:p>
        </p:txBody>
      </p:sp>
      <p:sp>
        <p:nvSpPr>
          <p:cNvPr id="2571" name="Text 288"/>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There's no goto. Labeled loops (`'outer:`) give you multi-level break/continue, and RAII-style Drop handles cleanup automatically.</a:t>
            </a:r>
            <a:endParaRPr b="0" lang="en-US" sz="1150" spc="-1" strike="noStrike">
              <a:solidFill>
                <a:srgbClr val="ffffff"/>
              </a:solidFill>
              <a:latin typeface="Arial"/>
            </a:endParaRPr>
          </a:p>
        </p:txBody>
      </p:sp>
      <p:sp>
        <p:nvSpPr>
          <p:cNvPr id="2572" name="Shape 133"/>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73" name="Text 289"/>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Labeled breaks cover the legitimate goto use cases without allowing arbitrary jumps that make control flow hard to follow.</a:t>
            </a:r>
            <a:endParaRPr b="0" lang="en-US" sz="1200" spc="-1" strike="noStrike">
              <a:solidFill>
                <a:srgbClr val="ffffff"/>
              </a:solidFill>
              <a:latin typeface="Arial"/>
            </a:endParaRPr>
          </a:p>
        </p:txBody>
      </p:sp>
      <p:sp>
        <p:nvSpPr>
          <p:cNvPr id="2574" name="Text 290"/>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75" name="Text 291"/>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20</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76" name="Text 292"/>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77" name="Text 293"/>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Freely mutable global state</a:t>
            </a:r>
            <a:endParaRPr b="0" lang="en-US" sz="3000" spc="-1" strike="noStrike">
              <a:solidFill>
                <a:srgbClr val="ffffff"/>
              </a:solidFill>
              <a:latin typeface="Arial"/>
            </a:endParaRPr>
          </a:p>
        </p:txBody>
      </p:sp>
      <p:sp>
        <p:nvSpPr>
          <p:cNvPr id="2578" name="Shape 134"/>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79" name="Shape 135"/>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80" name="Text 294"/>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81" name="Text 295"/>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582" name="Text 296"/>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g_counter = 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void increment() { g_counter++; }</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any thread, any time, no lock</a:t>
            </a:r>
            <a:endParaRPr b="0" lang="en-US" sz="1250" spc="-1" strike="noStrike">
              <a:solidFill>
                <a:srgbClr val="ffffff"/>
              </a:solidFill>
              <a:latin typeface="Arial"/>
            </a:endParaRPr>
          </a:p>
        </p:txBody>
      </p:sp>
      <p:sp>
        <p:nvSpPr>
          <p:cNvPr id="2583" name="Text 297"/>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Global and static mutable variables are ordinary and can be written from anywhere, including from multiple threads with no compiler-enforced protection.</a:t>
            </a:r>
            <a:endParaRPr b="0" lang="en-US" sz="1150" spc="-1" strike="noStrike">
              <a:solidFill>
                <a:srgbClr val="ffffff"/>
              </a:solidFill>
              <a:latin typeface="Arial"/>
            </a:endParaRPr>
          </a:p>
        </p:txBody>
      </p:sp>
      <p:sp>
        <p:nvSpPr>
          <p:cNvPr id="2584" name="Shape 136"/>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85" name="Shape 137"/>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86" name="Text 298"/>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587" name="Text 299"/>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588" name="Text 300"/>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static mut COUNTER: i32 = 0;</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reading/writing requires 'unsafe'</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idiomatic: AtomicI32 or</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Mutex&lt;i32&gt; instead</a:t>
            </a:r>
            <a:endParaRPr b="0" lang="en-US" sz="1250" spc="-1" strike="noStrike">
              <a:solidFill>
                <a:srgbClr val="ffffff"/>
              </a:solidFill>
              <a:latin typeface="Arial"/>
            </a:endParaRPr>
          </a:p>
        </p:txBody>
      </p:sp>
      <p:sp>
        <p:nvSpPr>
          <p:cNvPr id="2589" name="Text 301"/>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Mutable statics require an explicit `unsafe` block to touch. Idiomatic Rust reaches for atomics or a `Mutex`, which make synchronization part of the type.</a:t>
            </a:r>
            <a:endParaRPr b="0" lang="en-US" sz="1150" spc="-1" strike="noStrike">
              <a:solidFill>
                <a:srgbClr val="ffffff"/>
              </a:solidFill>
              <a:latin typeface="Arial"/>
            </a:endParaRPr>
          </a:p>
        </p:txBody>
      </p:sp>
      <p:sp>
        <p:nvSpPr>
          <p:cNvPr id="2590" name="Shape 138"/>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1" name="Text 302"/>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Data races on shared mutable state are undefined behavior in both languages — Rust just refuses to let you reach that state without saying `unsafe` first.</a:t>
            </a:r>
            <a:endParaRPr b="0" lang="en-US" sz="1200" spc="-1" strike="noStrike">
              <a:solidFill>
                <a:srgbClr val="ffffff"/>
              </a:solidFill>
              <a:latin typeface="Arial"/>
            </a:endParaRPr>
          </a:p>
        </p:txBody>
      </p:sp>
      <p:sp>
        <p:nvSpPr>
          <p:cNvPr id="2592" name="Text 303"/>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593" name="Text 304"/>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21</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594" name="Text 305"/>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CONTROL FLOW &amp; STATE</a:t>
            </a:r>
            <a:endParaRPr b="0" lang="en-US" sz="1300" spc="-1" strike="noStrike">
              <a:solidFill>
                <a:srgbClr val="ffffff"/>
              </a:solidFill>
              <a:latin typeface="Arial"/>
            </a:endParaRPr>
          </a:p>
        </p:txBody>
      </p:sp>
      <p:sp>
        <p:nvSpPr>
          <p:cNvPr id="2595" name="Text 306"/>
          <p:cNvSpPr/>
          <p:nvPr/>
        </p:nvSpPr>
        <p:spPr>
          <a:xfrm>
            <a:off x="548640" y="71316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Signed integer overflow as silent UB</a:t>
            </a:r>
            <a:endParaRPr b="0" lang="en-US" sz="3000" spc="-1" strike="noStrike">
              <a:solidFill>
                <a:srgbClr val="ffffff"/>
              </a:solidFill>
              <a:latin typeface="Arial"/>
            </a:endParaRPr>
          </a:p>
        </p:txBody>
      </p:sp>
      <p:sp>
        <p:nvSpPr>
          <p:cNvPr id="2596" name="Shape 139"/>
          <p:cNvSpPr/>
          <p:nvPr/>
        </p:nvSpPr>
        <p:spPr>
          <a:xfrm>
            <a:off x="548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7" name="Shape 140"/>
          <p:cNvSpPr/>
          <p:nvPr/>
        </p:nvSpPr>
        <p:spPr>
          <a:xfrm>
            <a:off x="777240" y="1892880"/>
            <a:ext cx="383400" cy="383400"/>
          </a:xfrm>
          <a:prstGeom prst="roundRect">
            <a:avLst>
              <a:gd name="adj" fmla="val 119048"/>
            </a:avLst>
          </a:prstGeom>
          <a:solidFill>
            <a:srgbClr val="3a2020"/>
          </a:solidFill>
          <a:ln w="12700">
            <a:solidFill>
              <a:srgbClr val="e15757"/>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598" name="Text 307"/>
          <p:cNvSpPr/>
          <p:nvPr/>
        </p:nvSpPr>
        <p:spPr>
          <a:xfrm>
            <a:off x="777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e15757"/>
                </a:solidFill>
                <a:latin typeface="Arial"/>
                <a:ea typeface="Arial"/>
              </a:rPr>
              <a:t>✗</a:t>
            </a:r>
            <a:endParaRPr b="0" lang="en-US" sz="1600" spc="-1" strike="noStrike">
              <a:solidFill>
                <a:srgbClr val="ffffff"/>
              </a:solidFill>
              <a:latin typeface="Arial"/>
            </a:endParaRPr>
          </a:p>
        </p:txBody>
      </p:sp>
      <p:sp>
        <p:nvSpPr>
          <p:cNvPr id="2599" name="Text 308"/>
          <p:cNvSpPr/>
          <p:nvPr/>
        </p:nvSpPr>
        <p:spPr>
          <a:xfrm>
            <a:off x="1280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3e8fe0"/>
                </a:solidFill>
                <a:latin typeface="Arial"/>
                <a:ea typeface="Arial"/>
              </a:rPr>
              <a:t>C++ TODAY</a:t>
            </a:r>
            <a:endParaRPr b="0" lang="en-US" sz="1300" spc="-1" strike="noStrike">
              <a:solidFill>
                <a:srgbClr val="ffffff"/>
              </a:solidFill>
              <a:latin typeface="Arial"/>
            </a:endParaRPr>
          </a:p>
        </p:txBody>
      </p:sp>
      <p:sp>
        <p:nvSpPr>
          <p:cNvPr id="2600" name="Text 309"/>
          <p:cNvSpPr/>
          <p:nvPr/>
        </p:nvSpPr>
        <p:spPr>
          <a:xfrm>
            <a:off x="822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int x = INT_MAX;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x = x + 1;  // UB — not defined to</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a:t>
            </a:r>
            <a:r>
              <a:rPr b="0" lang="en-US" sz="1250" spc="-1" strike="noStrike">
                <a:solidFill>
                  <a:srgbClr val="edeff4"/>
                </a:solidFill>
                <a:latin typeface="Consolas"/>
                <a:ea typeface="Consolas"/>
              </a:rPr>
              <a:t>//  wrap, may do anything</a:t>
            </a:r>
            <a:endParaRPr b="0" lang="en-US" sz="1250" spc="-1" strike="noStrike">
              <a:solidFill>
                <a:srgbClr val="ffffff"/>
              </a:solidFill>
              <a:latin typeface="Arial"/>
            </a:endParaRPr>
          </a:p>
        </p:txBody>
      </p:sp>
      <p:sp>
        <p:nvSpPr>
          <p:cNvPr id="2601" name="Text 310"/>
          <p:cNvSpPr/>
          <p:nvPr/>
        </p:nvSpPr>
        <p:spPr>
          <a:xfrm>
            <a:off x="822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Signed overflow is undefined behavior, not wraparound. Optimizers are allowed to assume it never happens, occasionally deleting the overflow check itself.</a:t>
            </a:r>
            <a:endParaRPr b="0" lang="en-US" sz="1150" spc="-1" strike="noStrike">
              <a:solidFill>
                <a:srgbClr val="ffffff"/>
              </a:solidFill>
              <a:latin typeface="Arial"/>
            </a:endParaRPr>
          </a:p>
        </p:txBody>
      </p:sp>
      <p:sp>
        <p:nvSpPr>
          <p:cNvPr id="2602" name="Shape 141"/>
          <p:cNvSpPr/>
          <p:nvPr/>
        </p:nvSpPr>
        <p:spPr>
          <a:xfrm>
            <a:off x="6263640" y="1691640"/>
            <a:ext cx="5348520" cy="3245400"/>
          </a:xfrm>
          <a:prstGeom prst="roundRect">
            <a:avLst>
              <a:gd name="adj" fmla="val 2535"/>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03" name="Shape 142"/>
          <p:cNvSpPr/>
          <p:nvPr/>
        </p:nvSpPr>
        <p:spPr>
          <a:xfrm>
            <a:off x="6492240" y="1892880"/>
            <a:ext cx="383400" cy="383400"/>
          </a:xfrm>
          <a:prstGeom prst="roundRect">
            <a:avLst>
              <a:gd name="adj" fmla="val 119048"/>
            </a:avLst>
          </a:prstGeom>
          <a:solidFill>
            <a:srgbClr val="1f3324"/>
          </a:solidFill>
          <a:ln w="12700">
            <a:solidFill>
              <a:srgbClr val="58c27d"/>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04" name="Text 311"/>
          <p:cNvSpPr/>
          <p:nvPr/>
        </p:nvSpPr>
        <p:spPr>
          <a:xfrm>
            <a:off x="6492240" y="189288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8c27d"/>
                </a:solidFill>
                <a:latin typeface="Arial"/>
                <a:ea typeface="Arial"/>
              </a:rPr>
              <a:t>✓</a:t>
            </a:r>
            <a:endParaRPr b="0" lang="en-US" sz="1600" spc="-1" strike="noStrike">
              <a:solidFill>
                <a:srgbClr val="ffffff"/>
              </a:solidFill>
              <a:latin typeface="Arial"/>
            </a:endParaRPr>
          </a:p>
        </p:txBody>
      </p:sp>
      <p:sp>
        <p:nvSpPr>
          <p:cNvPr id="2605" name="Text 312"/>
          <p:cNvSpPr/>
          <p:nvPr/>
        </p:nvSpPr>
        <p:spPr>
          <a:xfrm>
            <a:off x="6995160" y="1911240"/>
            <a:ext cx="2742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94" strike="noStrike">
                <a:solidFill>
                  <a:srgbClr val="e8804f"/>
                </a:solidFill>
                <a:latin typeface="Arial"/>
                <a:ea typeface="Arial"/>
              </a:rPr>
              <a:t>RUST INSTEAD</a:t>
            </a:r>
            <a:endParaRPr b="0" lang="en-US" sz="1300" spc="-1" strike="noStrike">
              <a:solidFill>
                <a:srgbClr val="ffffff"/>
              </a:solidFill>
              <a:latin typeface="Arial"/>
            </a:endParaRPr>
          </a:p>
        </p:txBody>
      </p:sp>
      <p:sp>
        <p:nvSpPr>
          <p:cNvPr id="2606" name="Text 313"/>
          <p:cNvSpPr/>
          <p:nvPr/>
        </p:nvSpPr>
        <p:spPr>
          <a:xfrm>
            <a:off x="6537960" y="2468880"/>
            <a:ext cx="4799880" cy="1416600"/>
          </a:xfrm>
          <a:prstGeom prst="rect">
            <a:avLst/>
          </a:prstGeom>
          <a:solidFill>
            <a:srgbClr val="141a28"/>
          </a:solidFill>
          <a:ln w="0">
            <a:noFill/>
          </a:ln>
        </p:spPr>
        <p:style>
          <a:lnRef idx="0"/>
          <a:fillRef idx="0"/>
          <a:effectRef idx="0"/>
          <a:fontRef idx="minor"/>
        </p:style>
        <p:txBody>
          <a:bodyPr lIns="101520" rIns="101520" tIns="101520" bIns="101520" anchor="t">
            <a:noAutofit/>
          </a:bodyPr>
          <a:p>
            <a:pPr defTabSz="914400">
              <a:lnSpc>
                <a:spcPct val="125000"/>
              </a:lnSpc>
              <a:tabLst>
                <a:tab algn="l" pos="0"/>
              </a:tabLst>
            </a:pPr>
            <a:r>
              <a:rPr b="0" lang="en-US" sz="1250" spc="-1" strike="noStrike">
                <a:solidFill>
                  <a:srgbClr val="edeff4"/>
                </a:solidFill>
                <a:latin typeface="Consolas"/>
                <a:ea typeface="Consolas"/>
              </a:rPr>
              <a:t>let x = i32::MAX;</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let x = x + 1;</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debug: panics ("attempt to add</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with overflow")</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release: wraps, but must opt in</a:t>
            </a:r>
            <a:endParaRPr b="0" lang="en-US" sz="1250" spc="-1" strike="noStrike">
              <a:solidFill>
                <a:srgbClr val="ffffff"/>
              </a:solidFill>
              <a:latin typeface="Arial"/>
            </a:endParaRPr>
          </a:p>
          <a:p>
            <a:pPr defTabSz="914400">
              <a:lnSpc>
                <a:spcPct val="125000"/>
              </a:lnSpc>
              <a:tabLst>
                <a:tab algn="l" pos="0"/>
              </a:tabLst>
            </a:pPr>
            <a:r>
              <a:rPr b="0" lang="en-US" sz="1250" spc="-1" strike="noStrike">
                <a:solidFill>
                  <a:srgbClr val="edeff4"/>
                </a:solidFill>
                <a:latin typeface="Consolas"/>
                <a:ea typeface="Consolas"/>
              </a:rPr>
              <a:t>// via wrapping_add for clarity</a:t>
            </a:r>
            <a:endParaRPr b="0" lang="en-US" sz="1250" spc="-1" strike="noStrike">
              <a:solidFill>
                <a:srgbClr val="ffffff"/>
              </a:solidFill>
              <a:latin typeface="Arial"/>
            </a:endParaRPr>
          </a:p>
        </p:txBody>
      </p:sp>
      <p:sp>
        <p:nvSpPr>
          <p:cNvPr id="2607" name="Text 314"/>
          <p:cNvSpPr/>
          <p:nvPr/>
        </p:nvSpPr>
        <p:spPr>
          <a:xfrm>
            <a:off x="6537960" y="4023360"/>
            <a:ext cx="4799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25000"/>
              </a:lnSpc>
              <a:tabLst>
                <a:tab algn="l" pos="0"/>
              </a:tabLst>
            </a:pPr>
            <a:r>
              <a:rPr b="0" lang="en-US" sz="1150" spc="-1" strike="noStrike">
                <a:solidFill>
                  <a:srgbClr val="9aa4b8"/>
                </a:solidFill>
                <a:latin typeface="Arial"/>
                <a:ea typeface="Arial"/>
              </a:rPr>
              <a:t>Overflow is a checked panic in debug builds and a defined (two's-complement) wrap in release, with explicit `wrapping_`/`checked_`/`saturating_` methods for intent.</a:t>
            </a:r>
            <a:endParaRPr b="0" lang="en-US" sz="1150" spc="-1" strike="noStrike">
              <a:solidFill>
                <a:srgbClr val="ffffff"/>
              </a:solidFill>
              <a:latin typeface="Arial"/>
            </a:endParaRPr>
          </a:p>
        </p:txBody>
      </p:sp>
      <p:sp>
        <p:nvSpPr>
          <p:cNvPr id="2608" name="Shape 143"/>
          <p:cNvSpPr/>
          <p:nvPr/>
        </p:nvSpPr>
        <p:spPr>
          <a:xfrm>
            <a:off x="548640" y="5102280"/>
            <a:ext cx="11063520" cy="566280"/>
          </a:xfrm>
          <a:prstGeom prst="roundRect">
            <a:avLst>
              <a:gd name="adj" fmla="val 12903"/>
            </a:avLst>
          </a:prstGeom>
          <a:solidFill>
            <a:srgbClr val="202a40"/>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09" name="Text 315"/>
          <p:cNvSpPr/>
          <p:nvPr/>
        </p:nvSpPr>
        <p:spPr>
          <a:xfrm>
            <a:off x="777240" y="5102280"/>
            <a:ext cx="10606320" cy="566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e8804f"/>
                </a:solidFill>
                <a:latin typeface="Arial"/>
                <a:ea typeface="Arial"/>
              </a:rPr>
              <a:t>Why:  </a:t>
            </a:r>
            <a:r>
              <a:rPr b="0" lang="en-US" sz="1200" spc="-1" strike="noStrike">
                <a:solidFill>
                  <a:srgbClr val="edeff4"/>
                </a:solidFill>
                <a:latin typeface="Arial"/>
                <a:ea typeface="Arial"/>
              </a:rPr>
              <a:t>Turning overflow into a defined, checkable operation removes one of the most notorious 'the optimizer broke my program' surprises in C++.</a:t>
            </a:r>
            <a:endParaRPr b="0" lang="en-US" sz="1200" spc="-1" strike="noStrike">
              <a:solidFill>
                <a:srgbClr val="ffffff"/>
              </a:solidFill>
              <a:latin typeface="Arial"/>
            </a:endParaRPr>
          </a:p>
        </p:txBody>
      </p:sp>
      <p:sp>
        <p:nvSpPr>
          <p:cNvPr id="2610" name="Text 316"/>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611" name="Text 317"/>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22</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12" name="Text 318"/>
          <p:cNvSpPr/>
          <p:nvPr/>
        </p:nvSpPr>
        <p:spPr>
          <a:xfrm>
            <a:off x="548640" y="38412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7" strike="noStrike">
                <a:solidFill>
                  <a:srgbClr val="e8804f"/>
                </a:solidFill>
                <a:latin typeface="Arial"/>
                <a:ea typeface="Arial"/>
              </a:rPr>
              <a:t>WRAP-UP</a:t>
            </a:r>
            <a:endParaRPr b="0" lang="en-US" sz="1300" spc="-1" strike="noStrike">
              <a:solidFill>
                <a:srgbClr val="ffffff"/>
              </a:solidFill>
              <a:latin typeface="Arial"/>
            </a:endParaRPr>
          </a:p>
        </p:txBody>
      </p:sp>
      <p:sp>
        <p:nvSpPr>
          <p:cNvPr id="2613" name="Text 319"/>
          <p:cNvSpPr/>
          <p:nvPr/>
        </p:nvSpPr>
        <p:spPr>
          <a:xfrm>
            <a:off x="548640" y="68580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edeff4"/>
                </a:solidFill>
                <a:latin typeface="Arial"/>
                <a:ea typeface="Arial"/>
              </a:rPr>
              <a:t>The pattern behind the list</a:t>
            </a:r>
            <a:endParaRPr b="0" lang="en-US" sz="3000" spc="-1" strike="noStrike">
              <a:solidFill>
                <a:srgbClr val="ffffff"/>
              </a:solidFill>
              <a:latin typeface="Arial"/>
            </a:endParaRPr>
          </a:p>
        </p:txBody>
      </p:sp>
      <p:sp>
        <p:nvSpPr>
          <p:cNvPr id="2614" name="Text 320"/>
          <p:cNvSpPr/>
          <p:nvPr/>
        </p:nvSpPr>
        <p:spPr>
          <a:xfrm>
            <a:off x="548640" y="1600200"/>
            <a:ext cx="1106352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Almost everything on this list isn't a missing feature — it's a C++ pattern whose safety depended on programmer discipline. Rust turns that discipline into a compiler check.</a:t>
            </a:r>
            <a:endParaRPr b="0" lang="en-US" sz="1400" spc="-1" strike="noStrike">
              <a:solidFill>
                <a:srgbClr val="ffffff"/>
              </a:solidFill>
              <a:latin typeface="Arial"/>
            </a:endParaRPr>
          </a:p>
        </p:txBody>
      </p:sp>
      <p:sp>
        <p:nvSpPr>
          <p:cNvPr id="2615" name="Shape 144"/>
          <p:cNvSpPr/>
          <p:nvPr/>
        </p:nvSpPr>
        <p:spPr>
          <a:xfrm>
            <a:off x="548640" y="26060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6" name="Shape 145"/>
          <p:cNvSpPr/>
          <p:nvPr/>
        </p:nvSpPr>
        <p:spPr>
          <a:xfrm>
            <a:off x="731520" y="29124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7" name="Text 321"/>
          <p:cNvSpPr/>
          <p:nvPr/>
        </p:nvSpPr>
        <p:spPr>
          <a:xfrm>
            <a:off x="1051560" y="267912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Ownership + borrowing replace manual lifetime discipline</a:t>
            </a:r>
            <a:endParaRPr b="0" lang="en-US" sz="1200" spc="-1" strike="noStrike">
              <a:solidFill>
                <a:srgbClr val="ffffff"/>
              </a:solidFill>
              <a:latin typeface="Arial"/>
            </a:endParaRPr>
          </a:p>
        </p:txBody>
      </p:sp>
      <p:sp>
        <p:nvSpPr>
          <p:cNvPr id="2618" name="Shape 146"/>
          <p:cNvSpPr/>
          <p:nvPr/>
        </p:nvSpPr>
        <p:spPr>
          <a:xfrm>
            <a:off x="6263640" y="26060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19" name="Shape 147"/>
          <p:cNvSpPr/>
          <p:nvPr/>
        </p:nvSpPr>
        <p:spPr>
          <a:xfrm>
            <a:off x="6446520" y="29124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0" name="Text 322"/>
          <p:cNvSpPr/>
          <p:nvPr/>
        </p:nvSpPr>
        <p:spPr>
          <a:xfrm>
            <a:off x="6766560" y="267912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Move-by-default replaces implicit deep copies</a:t>
            </a:r>
            <a:endParaRPr b="0" lang="en-US" sz="1200" spc="-1" strike="noStrike">
              <a:solidFill>
                <a:srgbClr val="ffffff"/>
              </a:solidFill>
              <a:latin typeface="Arial"/>
            </a:endParaRPr>
          </a:p>
        </p:txBody>
      </p:sp>
      <p:sp>
        <p:nvSpPr>
          <p:cNvPr id="2621" name="Shape 148"/>
          <p:cNvSpPr/>
          <p:nvPr/>
        </p:nvSpPr>
        <p:spPr>
          <a:xfrm>
            <a:off x="548640" y="35294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2" name="Shape 149"/>
          <p:cNvSpPr/>
          <p:nvPr/>
        </p:nvSpPr>
        <p:spPr>
          <a:xfrm>
            <a:off x="731520" y="38358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3" name="Text 323"/>
          <p:cNvSpPr/>
          <p:nvPr/>
        </p:nvSpPr>
        <p:spPr>
          <a:xfrm>
            <a:off x="1051560" y="36028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Result&lt;T, E&gt; replaces silent exception propagation</a:t>
            </a:r>
            <a:endParaRPr b="0" lang="en-US" sz="1200" spc="-1" strike="noStrike">
              <a:solidFill>
                <a:srgbClr val="ffffff"/>
              </a:solidFill>
              <a:latin typeface="Arial"/>
            </a:endParaRPr>
          </a:p>
        </p:txBody>
      </p:sp>
      <p:sp>
        <p:nvSpPr>
          <p:cNvPr id="2624" name="Shape 150"/>
          <p:cNvSpPr/>
          <p:nvPr/>
        </p:nvSpPr>
        <p:spPr>
          <a:xfrm>
            <a:off x="6263640" y="352944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5" name="Shape 151"/>
          <p:cNvSpPr/>
          <p:nvPr/>
        </p:nvSpPr>
        <p:spPr>
          <a:xfrm>
            <a:off x="6446520" y="383580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6" name="Text 324"/>
          <p:cNvSpPr/>
          <p:nvPr/>
        </p:nvSpPr>
        <p:spPr>
          <a:xfrm>
            <a:off x="6766560" y="36028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Traits + generics replace overloading and specialization</a:t>
            </a:r>
            <a:endParaRPr b="0" lang="en-US" sz="1200" spc="-1" strike="noStrike">
              <a:solidFill>
                <a:srgbClr val="ffffff"/>
              </a:solidFill>
              <a:latin typeface="Arial"/>
            </a:endParaRPr>
          </a:p>
        </p:txBody>
      </p:sp>
      <p:sp>
        <p:nvSpPr>
          <p:cNvPr id="2627" name="Shape 152"/>
          <p:cNvSpPr/>
          <p:nvPr/>
        </p:nvSpPr>
        <p:spPr>
          <a:xfrm>
            <a:off x="548640" y="445320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8" name="Shape 153"/>
          <p:cNvSpPr/>
          <p:nvPr/>
        </p:nvSpPr>
        <p:spPr>
          <a:xfrm>
            <a:off x="731520" y="475956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29" name="Text 325"/>
          <p:cNvSpPr/>
          <p:nvPr/>
        </p:nvSpPr>
        <p:spPr>
          <a:xfrm>
            <a:off x="1051560" y="45262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unsafe is still there — it's opt-in, not the default</a:t>
            </a:r>
            <a:endParaRPr b="0" lang="en-US" sz="1200" spc="-1" strike="noStrike">
              <a:solidFill>
                <a:srgbClr val="ffffff"/>
              </a:solidFill>
              <a:latin typeface="Arial"/>
            </a:endParaRPr>
          </a:p>
        </p:txBody>
      </p:sp>
      <p:sp>
        <p:nvSpPr>
          <p:cNvPr id="2630" name="Shape 154"/>
          <p:cNvSpPr/>
          <p:nvPr/>
        </p:nvSpPr>
        <p:spPr>
          <a:xfrm>
            <a:off x="6263640" y="4453200"/>
            <a:ext cx="5348520" cy="77652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1" name="Shape 155"/>
          <p:cNvSpPr/>
          <p:nvPr/>
        </p:nvSpPr>
        <p:spPr>
          <a:xfrm>
            <a:off x="6446520" y="4759560"/>
            <a:ext cx="163800" cy="16380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2" name="Text 326"/>
          <p:cNvSpPr/>
          <p:nvPr/>
        </p:nvSpPr>
        <p:spPr>
          <a:xfrm>
            <a:off x="6766560" y="4526280"/>
            <a:ext cx="4617000" cy="630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Every rule here has an escape hatch for the 1% that needs it</a:t>
            </a:r>
            <a:endParaRPr b="0" lang="en-US" sz="1200" spc="-1" strike="noStrike">
              <a:solidFill>
                <a:srgbClr val="ffffff"/>
              </a:solidFill>
              <a:latin typeface="Arial"/>
            </a:endParaRPr>
          </a:p>
        </p:txBody>
      </p:sp>
      <p:sp>
        <p:nvSpPr>
          <p:cNvPr id="2633" name="Text 327"/>
          <p:cNvSpPr/>
          <p:nvPr/>
        </p:nvSpPr>
        <p:spPr>
          <a:xfrm>
            <a:off x="457200" y="6537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C++ Developers</a:t>
            </a:r>
            <a:endParaRPr b="0" lang="en-US" sz="1000" spc="-1" strike="noStrike">
              <a:solidFill>
                <a:srgbClr val="ffffff"/>
              </a:solidFill>
              <a:latin typeface="Arial"/>
            </a:endParaRPr>
          </a:p>
        </p:txBody>
      </p:sp>
      <p:sp>
        <p:nvSpPr>
          <p:cNvPr id="2634" name="Text 328"/>
          <p:cNvSpPr/>
          <p:nvPr/>
        </p:nvSpPr>
        <p:spPr>
          <a:xfrm>
            <a:off x="11521440" y="6537960"/>
            <a:ext cx="365040" cy="2736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23</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35" name="Shape 0"/>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36" name="Text 1"/>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Labs</a:t>
            </a:r>
            <a:endParaRPr b="0" lang="en-US" sz="3400" spc="-1" strike="noStrike">
              <a:solidFill>
                <a:srgbClr val="ffffff"/>
              </a:solidFill>
              <a:latin typeface="Arial"/>
            </a:endParaRPr>
          </a:p>
        </p:txBody>
      </p:sp>
      <p:sp>
        <p:nvSpPr>
          <p:cNvPr id="2637" name="Text 2"/>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Time now to write code!</a:t>
            </a:r>
            <a:endParaRPr b="0" lang="en-US" sz="2800" spc="-1" strike="noStrike">
              <a:solidFill>
                <a:srgbClr val="ffffff"/>
              </a:solidFill>
              <a:latin typeface="Arial"/>
            </a:endParaRPr>
          </a:p>
        </p:txBody>
      </p:sp>
      <p:sp>
        <p:nvSpPr>
          <p:cNvPr id="2638" name="Text 3"/>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Solo or group flights </a:t>
            </a:r>
            <a:endParaRPr b="0" lang="en-US" sz="1350" spc="-1" strike="noStrike">
              <a:solidFill>
                <a:srgbClr val="ffffff"/>
              </a:solidFill>
              <a:latin typeface="Arial"/>
            </a:endParaRPr>
          </a:p>
        </p:txBody>
      </p:sp>
      <p:sp>
        <p:nvSpPr>
          <p:cNvPr id="2639" name="Text 4"/>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40" name="Text 5"/>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41" name="Shape 156"/>
          <p:cNvSpPr/>
          <p:nvPr/>
        </p:nvSpPr>
        <p:spPr>
          <a:xfrm>
            <a:off x="548640" y="2651760"/>
            <a:ext cx="1370160" cy="1370160"/>
          </a:xfrm>
          <a:prstGeom prst="roundRect">
            <a:avLst>
              <a:gd name="adj" fmla="val 6667"/>
            </a:avLst>
          </a:prstGeom>
          <a:solidFill>
            <a:srgbClr val="202a40"/>
          </a:solidFill>
          <a:ln w="1905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42" name="Text 329"/>
          <p:cNvSpPr/>
          <p:nvPr/>
        </p:nvSpPr>
        <p:spPr>
          <a:xfrm>
            <a:off x="548640" y="2651760"/>
            <a:ext cx="1370160" cy="1370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400" spc="-1" strike="noStrike">
                <a:solidFill>
                  <a:srgbClr val="e8804f"/>
                </a:solidFill>
                <a:latin typeface="Consolas"/>
                <a:ea typeface="Consolas"/>
              </a:rPr>
              <a:t>17</a:t>
            </a:r>
            <a:endParaRPr b="0" lang="en-US" sz="3400" spc="-1" strike="noStrike">
              <a:solidFill>
                <a:srgbClr val="ffffff"/>
              </a:solidFill>
              <a:latin typeface="Arial"/>
            </a:endParaRPr>
          </a:p>
        </p:txBody>
      </p:sp>
      <p:sp>
        <p:nvSpPr>
          <p:cNvPr id="2643" name="Text 330"/>
          <p:cNvSpPr/>
          <p:nvPr/>
        </p:nvSpPr>
        <p:spPr>
          <a:xfrm>
            <a:off x="2194560" y="2743200"/>
            <a:ext cx="932544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Wrap-up &amp; Roadmap</a:t>
            </a:r>
            <a:endParaRPr b="0" lang="en-US" sz="2800" spc="-1" strike="noStrike">
              <a:solidFill>
                <a:srgbClr val="ffffff"/>
              </a:solidFill>
              <a:latin typeface="Arial"/>
            </a:endParaRPr>
          </a:p>
        </p:txBody>
      </p:sp>
      <p:sp>
        <p:nvSpPr>
          <p:cNvPr id="2644" name="Text 331"/>
          <p:cNvSpPr/>
          <p:nvPr/>
        </p:nvSpPr>
        <p:spPr>
          <a:xfrm>
            <a:off x="2194560" y="3474720"/>
            <a:ext cx="8959680" cy="54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50" spc="-1" strike="noStrike">
                <a:solidFill>
                  <a:srgbClr val="9aa4b8"/>
                </a:solidFill>
                <a:latin typeface="Arial"/>
                <a:ea typeface="Arial"/>
              </a:rPr>
              <a:t>What changed today, and where Days 2 and 3 take it</a:t>
            </a:r>
            <a:endParaRPr b="0" lang="en-US" sz="1350" spc="-1" strike="noStrike">
              <a:solidFill>
                <a:srgbClr val="ffffff"/>
              </a:solidFill>
              <a:latin typeface="Arial"/>
            </a:endParaRPr>
          </a:p>
        </p:txBody>
      </p:sp>
      <p:sp>
        <p:nvSpPr>
          <p:cNvPr id="2645" name="Text 33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46" name="Text 33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160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47"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 &amp; ROADMAP</a:t>
            </a:r>
            <a:endParaRPr b="0" lang="en-US" sz="1300" spc="-1" strike="noStrike">
              <a:solidFill>
                <a:srgbClr val="ffffff"/>
              </a:solidFill>
              <a:latin typeface="Arial"/>
            </a:endParaRPr>
          </a:p>
        </p:txBody>
      </p:sp>
      <p:sp>
        <p:nvSpPr>
          <p:cNvPr id="2648"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The mental-model cheat sheet</a:t>
            </a:r>
            <a:endParaRPr b="0" lang="en-US" sz="2800" spc="-1" strike="noStrike">
              <a:solidFill>
                <a:srgbClr val="ffffff"/>
              </a:solidFill>
              <a:latin typeface="Arial"/>
            </a:endParaRPr>
          </a:p>
        </p:txBody>
      </p:sp>
      <p:graphicFrame>
        <p:nvGraphicFramePr>
          <p:cNvPr id="2649" name="Table 0"/>
          <p:cNvGraphicFramePr/>
          <p:nvPr/>
        </p:nvGraphicFramePr>
        <p:xfrm>
          <a:off x="548640" y="1691640"/>
          <a:ext cx="11063880" cy="3200400"/>
        </p:xfrm>
        <a:graphic>
          <a:graphicData uri="http://schemas.openxmlformats.org/drawingml/2006/table">
            <a:tbl>
              <a:tblPr/>
              <a:tblGrid>
                <a:gridCol w="3931920"/>
                <a:gridCol w="3108960"/>
                <a:gridCol w="4023360"/>
              </a:tblGrid>
              <a:tr h="457200">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Instead of thinking...</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...think</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c>
                  <a:txBody>
                    <a:bodyPr lIns="126720" rIns="126720" anchor="ctr">
                      <a:noAutofit/>
                    </a:bodyPr>
                    <a:p>
                      <a:pPr defTabSz="914400">
                        <a:lnSpc>
                          <a:spcPct val="100000"/>
                        </a:lnSpc>
                        <a:tabLst>
                          <a:tab algn="l" pos="0"/>
                        </a:tabLst>
                      </a:pPr>
                      <a:r>
                        <a:rPr b="1" lang="en-US" sz="1250" spc="-1" strike="noStrike">
                          <a:solidFill>
                            <a:srgbClr val="e8804f"/>
                          </a:solidFill>
                          <a:latin typeface="Arial"/>
                          <a:ea typeface="Arial"/>
                        </a:rPr>
                        <a:t>Because</a:t>
                      </a:r>
                      <a:endParaRPr b="0" lang="en-US" sz="12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202a40"/>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"Did I remember to free this?"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Ownership has exactly one owner</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Drop runs automatically, deterministically</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"Is this pointer still valid?"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Does the borrow checker accept it?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Lifetimes are verified, not assumed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"Which mutex protects this?"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Is it wrapped in Mutex&lt;T&gt;?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The lock and the data are one type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"Did I check for null?"</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Is it Option&lt;T&gt;?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Absence is in the type, not a convention</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"What can this function throw?"</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What's in its Result&lt;T, E&gt;?</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Failure modes are in the signature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r h="457200">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"Which base class implements this?"</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edeff4"/>
                          </a:solidFill>
                          <a:latin typeface="Arial"/>
                          <a:ea typeface="Arial"/>
                        </a:rPr>
                        <a:t>Which trait, for which type?</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c>
                  <a:txBody>
                    <a:bodyPr lIns="126720" rIns="126720" anchor="ctr">
                      <a:noAutofit/>
                    </a:bodyPr>
                    <a:p>
                      <a:pPr defTabSz="914400">
                        <a:lnSpc>
                          <a:spcPct val="100000"/>
                        </a:lnSpc>
                        <a:tabLst>
                          <a:tab algn="l" pos="0"/>
                        </a:tabLst>
                      </a:pPr>
                      <a:r>
                        <a:rPr b="0" lang="en-US" sz="1150" spc="-1" strike="noStrike">
                          <a:solidFill>
                            <a:srgbClr val="9aa4b8"/>
                          </a:solidFill>
                          <a:latin typeface="Arial"/>
                          <a:ea typeface="Arial"/>
                        </a:rPr>
                        <a:t>Behavior and hierarchy are decoupled</a:t>
                      </a:r>
                      <a:endParaRPr b="0" lang="en-US" sz="1150" spc="-1" strike="noStrike">
                        <a:solidFill>
                          <a:srgbClr val="ffffff"/>
                        </a:solidFill>
                        <a:latin typeface="Arial"/>
                      </a:endParaRPr>
                    </a:p>
                  </a:txBody>
                  <a:tcPr anchor="ctr" marL="126720" marR="126720">
                    <a:lnL w="9360">
                      <a:solidFill>
                        <a:srgbClr val="2b3550"/>
                      </a:solidFill>
                      <a:prstDash val="solid"/>
                    </a:lnL>
                    <a:lnR w="9360">
                      <a:solidFill>
                        <a:srgbClr val="2b3550"/>
                      </a:solidFill>
                      <a:prstDash val="solid"/>
                    </a:lnR>
                    <a:lnT w="9360">
                      <a:solidFill>
                        <a:srgbClr val="2b3550"/>
                      </a:solidFill>
                      <a:prstDash val="solid"/>
                    </a:lnT>
                    <a:lnB w="9360">
                      <a:solidFill>
                        <a:srgbClr val="2b3550"/>
                      </a:solidFill>
                      <a:prstDash val="solid"/>
                    </a:lnB>
                    <a:solidFill>
                      <a:srgbClr val="1b2333"/>
                    </a:solidFill>
                  </a:tcPr>
                </a:tc>
              </a:tr>
            </a:tbl>
          </a:graphicData>
        </a:graphic>
      </p:graphicFrame>
      <p:sp>
        <p:nvSpPr>
          <p:cNvPr id="2650" name="Text 2"/>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51" name="Text 3"/>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161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52"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 &amp; ROADMAP</a:t>
            </a:r>
            <a:endParaRPr b="0" lang="en-US" sz="1300" spc="-1" strike="noStrike">
              <a:solidFill>
                <a:srgbClr val="ffffff"/>
              </a:solidFill>
              <a:latin typeface="Arial"/>
            </a:endParaRPr>
          </a:p>
        </p:txBody>
      </p:sp>
      <p:sp>
        <p:nvSpPr>
          <p:cNvPr id="2653"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Day 2 preview: going deeper</a:t>
            </a:r>
            <a:endParaRPr b="0" lang="en-US" sz="2800" spc="-1" strike="noStrike">
              <a:solidFill>
                <a:srgbClr val="ffffff"/>
              </a:solidFill>
              <a:latin typeface="Arial"/>
            </a:endParaRPr>
          </a:p>
        </p:txBody>
      </p:sp>
      <p:sp>
        <p:nvSpPr>
          <p:cNvPr id="2654"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5"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6"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Advanced traits and trait objects:  </a:t>
            </a:r>
            <a:r>
              <a:rPr b="0" lang="en-US" sz="1200" spc="-1" strike="noStrike">
                <a:solidFill>
                  <a:srgbClr val="9aa4b8"/>
                </a:solidFill>
                <a:latin typeface="Arial"/>
                <a:ea typeface="Arial"/>
              </a:rPr>
              <a:t>associated types, supertraits, and object safety in depth.</a:t>
            </a:r>
            <a:endParaRPr b="0" lang="en-US" sz="1200" spc="-1" strike="noStrike">
              <a:solidFill>
                <a:srgbClr val="ffffff"/>
              </a:solidFill>
              <a:latin typeface="Arial"/>
            </a:endParaRPr>
          </a:p>
        </p:txBody>
      </p:sp>
      <p:sp>
        <p:nvSpPr>
          <p:cNvPr id="2657"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8"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59"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Async/await, macros (declarative and procedural), and advanced unsafe/FFI patterns.  </a:t>
            </a:r>
            <a:endParaRPr b="0" lang="en-US" sz="1250" spc="-1" strike="noStrike">
              <a:solidFill>
                <a:srgbClr val="ffffff"/>
              </a:solidFill>
              <a:latin typeface="Arial"/>
            </a:endParaRPr>
          </a:p>
        </p:txBody>
      </p:sp>
      <p:sp>
        <p:nvSpPr>
          <p:cNvPr id="2660"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1"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2"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hands-on workshop porting a real C++ module to Rust,  </a:t>
            </a:r>
            <a:r>
              <a:rPr b="0" lang="en-US" sz="1200" spc="-1" strike="noStrike">
                <a:solidFill>
                  <a:srgbClr val="9aa4b8"/>
                </a:solidFill>
                <a:latin typeface="Arial"/>
                <a:ea typeface="Arial"/>
              </a:rPr>
              <a:t>applying everything from today under time pressure.</a:t>
            </a:r>
            <a:endParaRPr b="0" lang="en-US" sz="1200" spc="-1" strike="noStrike">
              <a:solidFill>
                <a:srgbClr val="ffffff"/>
              </a:solidFill>
              <a:latin typeface="Arial"/>
            </a:endParaRPr>
          </a:p>
        </p:txBody>
      </p:sp>
      <p:sp>
        <p:nvSpPr>
          <p:cNvPr id="2663"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64"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162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65"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 &amp; ROADMAP</a:t>
            </a:r>
            <a:endParaRPr b="0" lang="en-US" sz="1300" spc="-1" strike="noStrike">
              <a:solidFill>
                <a:srgbClr val="ffffff"/>
              </a:solidFill>
              <a:latin typeface="Arial"/>
            </a:endParaRPr>
          </a:p>
        </p:txBody>
      </p:sp>
      <p:sp>
        <p:nvSpPr>
          <p:cNvPr id="2666"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Day 3 preview: Rust on the GPU</a:t>
            </a:r>
            <a:endParaRPr b="0" lang="en-US" sz="2800" spc="-1" strike="noStrike">
              <a:solidFill>
                <a:srgbClr val="ffffff"/>
              </a:solidFill>
              <a:latin typeface="Arial"/>
            </a:endParaRPr>
          </a:p>
        </p:txBody>
      </p:sp>
      <p:sp>
        <p:nvSpPr>
          <p:cNvPr id="2667" name="Shape 2"/>
          <p:cNvSpPr/>
          <p:nvPr/>
        </p:nvSpPr>
        <p:spPr>
          <a:xfrm>
            <a:off x="548640" y="160020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8" name="Shape 3"/>
          <p:cNvSpPr/>
          <p:nvPr/>
        </p:nvSpPr>
        <p:spPr>
          <a:xfrm>
            <a:off x="777240" y="222192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69" name="Text 4"/>
          <p:cNvSpPr/>
          <p:nvPr/>
        </p:nvSpPr>
        <p:spPr>
          <a:xfrm>
            <a:off x="1143000" y="160020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recap of the CUDA programming model, then the Rust GPU ecosystem:  </a:t>
            </a:r>
            <a:r>
              <a:rPr b="0" lang="en-US" sz="1200" spc="-1" strike="noStrike">
                <a:solidFill>
                  <a:srgbClr val="9aa4b8"/>
                </a:solidFill>
                <a:latin typeface="Arial"/>
                <a:ea typeface="Arial"/>
              </a:rPr>
              <a:t>rust-cuda, cudarc, and cust.</a:t>
            </a:r>
            <a:endParaRPr b="0" lang="en-US" sz="1200" spc="-1" strike="noStrike">
              <a:solidFill>
                <a:srgbClr val="ffffff"/>
              </a:solidFill>
              <a:latin typeface="Arial"/>
            </a:endParaRPr>
          </a:p>
        </p:txBody>
      </p:sp>
      <p:sp>
        <p:nvSpPr>
          <p:cNvPr id="2670" name="Shape 5"/>
          <p:cNvSpPr/>
          <p:nvPr/>
        </p:nvSpPr>
        <p:spPr>
          <a:xfrm>
            <a:off x="548640" y="315468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1" name="Shape 6"/>
          <p:cNvSpPr/>
          <p:nvPr/>
        </p:nvSpPr>
        <p:spPr>
          <a:xfrm>
            <a:off x="777240" y="377640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2" name="Text 7"/>
          <p:cNvSpPr/>
          <p:nvPr/>
        </p:nvSpPr>
        <p:spPr>
          <a:xfrm>
            <a:off x="1143000" y="315468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Writing kernels where safety meets the hardware boundary,  </a:t>
            </a:r>
            <a:r>
              <a:rPr b="0" lang="en-US" sz="1200" spc="-1" strike="noStrike">
                <a:solidFill>
                  <a:srgbClr val="9aa4b8"/>
                </a:solidFill>
                <a:latin typeface="Arial"/>
                <a:ea typeface="Arial"/>
              </a:rPr>
              <a:t>and handling memory transfer and unified memory idiomatically.</a:t>
            </a:r>
            <a:endParaRPr b="0" lang="en-US" sz="1200" spc="-1" strike="noStrike">
              <a:solidFill>
                <a:srgbClr val="ffffff"/>
              </a:solidFill>
              <a:latin typeface="Arial"/>
            </a:endParaRPr>
          </a:p>
        </p:txBody>
      </p:sp>
      <p:sp>
        <p:nvSpPr>
          <p:cNvPr id="2673" name="Shape 8"/>
          <p:cNvSpPr/>
          <p:nvPr/>
        </p:nvSpPr>
        <p:spPr>
          <a:xfrm>
            <a:off x="548640" y="4709160"/>
            <a:ext cx="11062800" cy="1443240"/>
          </a:xfrm>
          <a:prstGeom prst="roundRect">
            <a:avLst>
              <a:gd name="adj" fmla="val 4430"/>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4" name="Shape 9"/>
          <p:cNvSpPr/>
          <p:nvPr/>
        </p:nvSpPr>
        <p:spPr>
          <a:xfrm>
            <a:off x="777240" y="5330880"/>
            <a:ext cx="199800" cy="199800"/>
          </a:xfrm>
          <a:prstGeom prst="roundRect">
            <a:avLst>
              <a:gd name="adj" fmla="val 227273"/>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75" name="Text 10"/>
          <p:cNvSpPr/>
          <p:nvPr/>
        </p:nvSpPr>
        <p:spPr>
          <a:xfrm>
            <a:off x="1143000" y="4709160"/>
            <a:ext cx="10239840" cy="1443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1250" spc="-1" strike="noStrike">
                <a:solidFill>
                  <a:srgbClr val="edeff4"/>
                </a:solidFill>
                <a:latin typeface="Arial"/>
                <a:ea typeface="Arial"/>
              </a:rPr>
              <a:t>A capstone project: a Rust-hosted CUDA kernel,  </a:t>
            </a:r>
            <a:r>
              <a:rPr b="0" lang="en-US" sz="1200" spc="-1" strike="noStrike">
                <a:solidFill>
                  <a:srgbClr val="9aa4b8"/>
                </a:solidFill>
                <a:latin typeface="Arial"/>
                <a:ea typeface="Arial"/>
              </a:rPr>
              <a:t>benchmarked directly against a native CUDA C++ implementation.</a:t>
            </a:r>
            <a:endParaRPr b="0" lang="en-US" sz="1200" spc="-1" strike="noStrike">
              <a:solidFill>
                <a:srgbClr val="ffffff"/>
              </a:solidFill>
              <a:latin typeface="Arial"/>
            </a:endParaRPr>
          </a:p>
        </p:txBody>
      </p:sp>
      <p:sp>
        <p:nvSpPr>
          <p:cNvPr id="2676" name="Text 11"/>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77" name="Text 12"/>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163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78"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ce422b"/>
                </a:solidFill>
                <a:latin typeface="Arial"/>
                <a:ea typeface="Arial"/>
              </a:rPr>
              <a:t>WRAP-UP &amp; ROADMAP</a:t>
            </a:r>
            <a:endParaRPr b="0" lang="en-US" sz="1300" spc="-1" strike="noStrike">
              <a:solidFill>
                <a:srgbClr val="ffffff"/>
              </a:solidFill>
              <a:latin typeface="Arial"/>
            </a:endParaRPr>
          </a:p>
        </p:txBody>
      </p:sp>
      <p:sp>
        <p:nvSpPr>
          <p:cNvPr id="2679" name="Text 1"/>
          <p:cNvSpPr/>
          <p:nvPr/>
        </p:nvSpPr>
        <p:spPr>
          <a:xfrm>
            <a:off x="548640" y="2194560"/>
            <a:ext cx="11062800" cy="2101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1" lang="en-US" sz="3200" spc="-1" strike="noStrike">
                <a:solidFill>
                  <a:srgbClr val="edeff4"/>
                </a:solidFill>
                <a:latin typeface="Arial"/>
                <a:ea typeface="Arial"/>
              </a:rPr>
              <a:t>Everything today was one idea, applied consistently.</a:t>
            </a:r>
            <a:endParaRPr b="0" lang="en-US" sz="3200" spc="-1" strike="noStrike">
              <a:solidFill>
                <a:srgbClr val="ffffff"/>
              </a:solidFill>
              <a:latin typeface="Arial"/>
            </a:endParaRPr>
          </a:p>
        </p:txBody>
      </p:sp>
      <p:sp>
        <p:nvSpPr>
          <p:cNvPr id="2680" name="Text 2"/>
          <p:cNvSpPr/>
          <p:nvPr/>
        </p:nvSpPr>
        <p:spPr>
          <a:xfrm>
            <a:off x="548640" y="4434840"/>
            <a:ext cx="1033128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30000"/>
              </a:lnSpc>
              <a:tabLst>
                <a:tab algn="l" pos="0"/>
              </a:tabLst>
            </a:pPr>
            <a:r>
              <a:rPr b="0" lang="en-US" sz="1400" spc="-1" strike="noStrike">
                <a:solidFill>
                  <a:srgbClr val="9aa4b8"/>
                </a:solidFill>
                <a:latin typeface="Arial"/>
                <a:ea typeface="Arial"/>
              </a:rPr>
              <a:t>Discipline you already practice in C++ — RAII, careful aliasing, lock discipline, exhaustive switch statements — becomes a property the compiler verifies instead of one you maintain by habit. Tomorrow, we start applying that same idea to harder problems.</a:t>
            </a:r>
            <a:endParaRPr b="0" lang="en-US" sz="1400" spc="-1" strike="noStrike">
              <a:solidFill>
                <a:srgbClr val="ffffff"/>
              </a:solidFill>
              <a:latin typeface="Arial"/>
            </a:endParaRPr>
          </a:p>
        </p:txBody>
      </p:sp>
      <p:sp>
        <p:nvSpPr>
          <p:cNvPr id="2681" name="Text 3"/>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682" name="Text 4"/>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164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420"/>
        </a:solidFill>
      </p:bgPr>
    </p:bg>
    <p:spTree>
      <p:nvGrpSpPr>
        <p:cNvPr id="1" name=""/>
        <p:cNvGrpSpPr/>
        <p:nvPr/>
      </p:nvGrpSpPr>
      <p:grpSpPr>
        <a:xfrm>
          <a:off x="0" y="0"/>
          <a:ext cx="0" cy="0"/>
          <a:chOff x="0" y="0"/>
          <a:chExt cx="0" cy="0"/>
        </a:xfrm>
      </p:grpSpPr>
      <p:sp>
        <p:nvSpPr>
          <p:cNvPr id="2683" name="Text 0"/>
          <p:cNvSpPr/>
          <p:nvPr/>
        </p:nvSpPr>
        <p:spPr>
          <a:xfrm>
            <a:off x="548640" y="384120"/>
            <a:ext cx="9142560" cy="318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91" strike="noStrike">
                <a:solidFill>
                  <a:srgbClr val="e8804f"/>
                </a:solidFill>
                <a:latin typeface="Arial"/>
                <a:ea typeface="Arial"/>
              </a:rPr>
              <a:t>WRAP-UP</a:t>
            </a:r>
            <a:endParaRPr b="0" lang="en-US" sz="1300" spc="-1" strike="noStrike">
              <a:solidFill>
                <a:srgbClr val="ffffff"/>
              </a:solidFill>
              <a:latin typeface="Arial"/>
            </a:endParaRPr>
          </a:p>
        </p:txBody>
      </p:sp>
      <p:sp>
        <p:nvSpPr>
          <p:cNvPr id="2684" name="Text 1"/>
          <p:cNvSpPr/>
          <p:nvPr/>
        </p:nvSpPr>
        <p:spPr>
          <a:xfrm>
            <a:off x="548640" y="685800"/>
            <a:ext cx="11062800" cy="821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edeff4"/>
                </a:solidFill>
                <a:latin typeface="Arial"/>
                <a:ea typeface="Arial"/>
              </a:rPr>
              <a:t>Thank you — see you for Day 2</a:t>
            </a:r>
            <a:endParaRPr b="0" lang="en-US" sz="2800" spc="-1" strike="noStrike">
              <a:solidFill>
                <a:srgbClr val="ffffff"/>
              </a:solidFill>
              <a:latin typeface="Arial"/>
            </a:endParaRPr>
          </a:p>
        </p:txBody>
      </p:sp>
      <p:sp>
        <p:nvSpPr>
          <p:cNvPr id="2685" name="Shape 2"/>
          <p:cNvSpPr/>
          <p:nvPr/>
        </p:nvSpPr>
        <p:spPr>
          <a:xfrm>
            <a:off x="548640" y="18288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6" name="Shape 3"/>
          <p:cNvSpPr/>
          <p:nvPr/>
        </p:nvSpPr>
        <p:spPr>
          <a:xfrm>
            <a:off x="731520" y="21351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7" name="Text 4"/>
          <p:cNvSpPr/>
          <p:nvPr/>
        </p:nvSpPr>
        <p:spPr>
          <a:xfrm>
            <a:off x="1051560" y="190188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Bring your own C++ codebase snippets for the porting workshop</a:t>
            </a:r>
            <a:endParaRPr b="0" lang="en-US" sz="1200" spc="-1" strike="noStrike">
              <a:solidFill>
                <a:srgbClr val="ffffff"/>
              </a:solidFill>
              <a:latin typeface="Arial"/>
            </a:endParaRPr>
          </a:p>
        </p:txBody>
      </p:sp>
      <p:sp>
        <p:nvSpPr>
          <p:cNvPr id="2688" name="Shape 5"/>
          <p:cNvSpPr/>
          <p:nvPr/>
        </p:nvSpPr>
        <p:spPr>
          <a:xfrm>
            <a:off x="6263640" y="18288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89" name="Shape 6"/>
          <p:cNvSpPr/>
          <p:nvPr/>
        </p:nvSpPr>
        <p:spPr>
          <a:xfrm>
            <a:off x="6446520" y="21351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0" name="Text 7"/>
          <p:cNvSpPr/>
          <p:nvPr/>
        </p:nvSpPr>
        <p:spPr>
          <a:xfrm>
            <a:off x="6766560" y="190188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Install rustup, cargo-clippy, and cargo-criterion before Day 2</a:t>
            </a:r>
            <a:endParaRPr b="0" lang="en-US" sz="1200" spc="-1" strike="noStrike">
              <a:solidFill>
                <a:srgbClr val="ffffff"/>
              </a:solidFill>
              <a:latin typeface="Arial"/>
            </a:endParaRPr>
          </a:p>
        </p:txBody>
      </p:sp>
      <p:sp>
        <p:nvSpPr>
          <p:cNvPr id="2691" name="Shape 8"/>
          <p:cNvSpPr/>
          <p:nvPr/>
        </p:nvSpPr>
        <p:spPr>
          <a:xfrm>
            <a:off x="548640" y="27522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2" name="Shape 9"/>
          <p:cNvSpPr/>
          <p:nvPr/>
        </p:nvSpPr>
        <p:spPr>
          <a:xfrm>
            <a:off x="731520" y="30585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3" name="Text 10"/>
          <p:cNvSpPr/>
          <p:nvPr/>
        </p:nvSpPr>
        <p:spPr>
          <a:xfrm>
            <a:off x="1051560" y="28256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Review today's slides — Day 2 assumes this vocabulary is comfortable</a:t>
            </a:r>
            <a:endParaRPr b="0" lang="en-US" sz="1200" spc="-1" strike="noStrike">
              <a:solidFill>
                <a:srgbClr val="ffffff"/>
              </a:solidFill>
              <a:latin typeface="Arial"/>
            </a:endParaRPr>
          </a:p>
        </p:txBody>
      </p:sp>
      <p:sp>
        <p:nvSpPr>
          <p:cNvPr id="2694" name="Shape 11"/>
          <p:cNvSpPr/>
          <p:nvPr/>
        </p:nvSpPr>
        <p:spPr>
          <a:xfrm>
            <a:off x="6263640" y="275220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5" name="Shape 12"/>
          <p:cNvSpPr/>
          <p:nvPr/>
        </p:nvSpPr>
        <p:spPr>
          <a:xfrm>
            <a:off x="6446520" y="305856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6" name="Text 13"/>
          <p:cNvSpPr/>
          <p:nvPr/>
        </p:nvSpPr>
        <p:spPr>
          <a:xfrm>
            <a:off x="6766560" y="28256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Questions between sessions: office hours posted on the course portal</a:t>
            </a:r>
            <a:endParaRPr b="0" lang="en-US" sz="1200" spc="-1" strike="noStrike">
              <a:solidFill>
                <a:srgbClr val="ffffff"/>
              </a:solidFill>
              <a:latin typeface="Arial"/>
            </a:endParaRPr>
          </a:p>
        </p:txBody>
      </p:sp>
      <p:sp>
        <p:nvSpPr>
          <p:cNvPr id="2697" name="Shape 14"/>
          <p:cNvSpPr/>
          <p:nvPr/>
        </p:nvSpPr>
        <p:spPr>
          <a:xfrm>
            <a:off x="548640" y="367596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8" name="Shape 15"/>
          <p:cNvSpPr/>
          <p:nvPr/>
        </p:nvSpPr>
        <p:spPr>
          <a:xfrm>
            <a:off x="731520" y="398232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99" name="Text 16"/>
          <p:cNvSpPr/>
          <p:nvPr/>
        </p:nvSpPr>
        <p:spPr>
          <a:xfrm>
            <a:off x="1051560" y="37490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Day 3 requires a CUDA-capable machine — check the setup guide</a:t>
            </a:r>
            <a:endParaRPr b="0" lang="en-US" sz="1200" spc="-1" strike="noStrike">
              <a:solidFill>
                <a:srgbClr val="ffffff"/>
              </a:solidFill>
              <a:latin typeface="Arial"/>
            </a:endParaRPr>
          </a:p>
        </p:txBody>
      </p:sp>
      <p:sp>
        <p:nvSpPr>
          <p:cNvPr id="2700" name="Shape 17"/>
          <p:cNvSpPr/>
          <p:nvPr/>
        </p:nvSpPr>
        <p:spPr>
          <a:xfrm>
            <a:off x="6263640" y="3675960"/>
            <a:ext cx="5347800" cy="775800"/>
          </a:xfrm>
          <a:prstGeom prst="roundRect">
            <a:avLst>
              <a:gd name="adj" fmla="val 9412"/>
            </a:avLst>
          </a:prstGeom>
          <a:solidFill>
            <a:srgbClr val="1b2333"/>
          </a:solidFill>
          <a:ln w="12700">
            <a:solidFill>
              <a:srgbClr val="2b3550"/>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01" name="Shape 18"/>
          <p:cNvSpPr/>
          <p:nvPr/>
        </p:nvSpPr>
        <p:spPr>
          <a:xfrm>
            <a:off x="6446520" y="3982320"/>
            <a:ext cx="163080" cy="163080"/>
          </a:xfrm>
          <a:prstGeom prst="roundRect">
            <a:avLst>
              <a:gd name="adj" fmla="val 277778"/>
            </a:avLst>
          </a:prstGeom>
          <a:solidFill>
            <a:srgbClr val="ce422b"/>
          </a:solidFill>
          <a:ln w="12700">
            <a:solidFill>
              <a:srgbClr val="ce422b"/>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702" name="Text 19"/>
          <p:cNvSpPr/>
          <p:nvPr/>
        </p:nvSpPr>
        <p:spPr>
          <a:xfrm>
            <a:off x="6766560" y="3749040"/>
            <a:ext cx="4616280" cy="629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15000"/>
              </a:lnSpc>
              <a:tabLst>
                <a:tab algn="l" pos="0"/>
              </a:tabLst>
            </a:pPr>
            <a:r>
              <a:rPr b="0" lang="en-US" sz="1200" spc="-1" strike="noStrike">
                <a:solidFill>
                  <a:srgbClr val="edeff4"/>
                </a:solidFill>
                <a:latin typeface="Arial"/>
                <a:ea typeface="Arial"/>
              </a:rPr>
              <a:t>The capstone project brief will be shared at the start of Day 3</a:t>
            </a:r>
            <a:endParaRPr b="0" lang="en-US" sz="1200" spc="-1" strike="noStrike">
              <a:solidFill>
                <a:srgbClr val="ffffff"/>
              </a:solidFill>
              <a:latin typeface="Arial"/>
            </a:endParaRPr>
          </a:p>
        </p:txBody>
      </p:sp>
      <p:sp>
        <p:nvSpPr>
          <p:cNvPr id="2703" name="Text 20"/>
          <p:cNvSpPr/>
          <p:nvPr/>
        </p:nvSpPr>
        <p:spPr>
          <a:xfrm>
            <a:off x="457200" y="6537960"/>
            <a:ext cx="5484960" cy="272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9aa4b8"/>
                </a:solidFill>
                <a:latin typeface="Arial"/>
                <a:ea typeface="Arial"/>
              </a:rPr>
              <a:t>Rust for Experienced C++ Developers</a:t>
            </a:r>
            <a:endParaRPr b="0" lang="en-US" sz="1000" spc="-1" strike="noStrike">
              <a:solidFill>
                <a:srgbClr val="ffffff"/>
              </a:solidFill>
              <a:latin typeface="Arial"/>
            </a:endParaRPr>
          </a:p>
        </p:txBody>
      </p:sp>
      <p:sp>
        <p:nvSpPr>
          <p:cNvPr id="2704" name="Text 21"/>
          <p:cNvSpPr/>
          <p:nvPr/>
        </p:nvSpPr>
        <p:spPr>
          <a:xfrm>
            <a:off x="11155680" y="6537960"/>
            <a:ext cx="730080" cy="27288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000" spc="-1" strike="noStrike">
                <a:solidFill>
                  <a:srgbClr val="9aa4b8"/>
                </a:solidFill>
                <a:latin typeface="Arial"/>
                <a:ea typeface="Arial"/>
              </a:rPr>
              <a:t>165 / 165</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pitchFamily="0" charset="1"/>
        <a:ea typeface="Produkt Extralight" pitchFamily="0" charset="1"/>
        <a:cs typeface="Produkt Extralight" pitchFamily="0" charset="1"/>
      </a:majorFont>
      <a:minorFont>
        <a:latin typeface="Produkt Extralight" pitchFamily="0" charset="1"/>
        <a:ea typeface="Produkt Extralight" pitchFamily="0" charset="1"/>
        <a:cs typeface="Produkt Extraligh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pitchFamily="0" charset="1"/>
        <a:ea typeface="Produkt Extralight" pitchFamily="0" charset="1"/>
        <a:cs typeface="Produkt Extralight" pitchFamily="0" charset="1"/>
      </a:majorFont>
      <a:minorFont>
        <a:latin typeface="Produkt Extralight" pitchFamily="0" charset="1"/>
        <a:ea typeface="Produkt Extralight" pitchFamily="0" charset="1"/>
        <a:cs typeface="Produkt Extralight"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LibreOffice/24.2.5.2$MacOSX_AARCH64 LibreOffice_project/bffef4ea93e59bebbeaf7f431bb02b1a39ee8a59</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2026-08-29T21:34:38Z</dcterms:created>
  <dc:creator>PptxGenJS</dc:creator>
  <dc:description/>
  <dc:language>en-US</dc:language>
  <cp:lastModifiedBy/>
  <dcterms:modified xsi:type="dcterms:W3CDTF">2026-09-07T17:56:11Z</dcterms:modified>
  <cp:revision>8</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165</vt:i4>
  </property>
  <property fmtid="{D5CDD505-2E9C-101B-9397-08002B2CF9AE}" pid="3" name="PresentationFormat">
    <vt:lpwstr>On-screen Show (16:9)</vt:lpwstr>
  </property>
  <property fmtid="{D5CDD505-2E9C-101B-9397-08002B2CF9AE}" pid="4" name="Slides">
    <vt:i4>165</vt:i4>
  </property>
</Properties>
</file>