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_rels/notesSlide2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004978B-E9E6-4CA6-BF98-4B18F25F31E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8686D2-F8D9-41E5-B463-5762DA7C057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ED6B38-4C46-464A-BB80-DA79846165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3483EB-D8BE-4B86-8619-8BC68F40C6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875D2F-7B26-4743-8E75-A4CE2F84E8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9CB5F6-01D5-4638-9308-6580E10080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4CA5EB-D9F8-4C5C-B8FB-AB17DEB9AB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12AC83-8737-4565-AD65-633B9A663DC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3451B2-0E91-4D7B-8CF5-7D0C1A3F1D8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3902C4-4065-4D53-A906-D9F406921CD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4A19B1-5C7B-482A-A472-1EF6C91955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904EDF-7588-4F78-9AC6-413FB1CFD1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A4B1FF-DD97-4B92-B96A-262EBA5F4DB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A8F704-FE67-4F3B-B6EB-1CC4B520B8B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F883BC-93FF-40E6-8DAA-768386FB3D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9B052F-6736-41A5-8DA7-98B561A868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750154-07ED-469C-BFAE-4EDFCBDCE82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3FDF36-04CA-42B7-A4F1-18A631FB7B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3B841A-CD0E-4FC7-A77D-FC0675E57B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57697C-B591-4A4C-A436-A52469C331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5E0166-6544-4B63-AD00-B8A273F2AB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CACB89-9448-4B63-91CE-C92A1EBF017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7A9D41-BF44-451B-A56D-1C9D6996DD2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D0876D-AA13-4053-9912-0273C69DAE8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974895-0298-4699-A0AA-03658CD7DDC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8CC2AB-F152-49F5-89CB-0277B065603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B9F202-A18B-4B52-8C43-19512BCAD1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DB731D-6D3E-4BE7-A1F9-F2EF1A41C0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48640" y="1508760"/>
            <a:ext cx="7314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e8804f"/>
                </a:solidFill>
                <a:latin typeface="Arial"/>
                <a:ea typeface="Arial"/>
              </a:rPr>
              <a:t>LAB DAY 1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48640" y="228600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edeff4"/>
                </a:solidFill>
                <a:latin typeface="Arial"/>
                <a:ea typeface="Arial"/>
              </a:rPr>
              <a:t>Hands-On Afternoon Labs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48640" y="278892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aa4b8"/>
                </a:solidFill>
                <a:latin typeface="Arial"/>
                <a:ea typeface="Arial"/>
              </a:rPr>
              <a:t>Two labs, roughly two hours each, building directly on this morning's material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548640" y="3657600"/>
            <a:ext cx="11063880" cy="1416960"/>
          </a:xfrm>
          <a:prstGeom prst="roundRect">
            <a:avLst>
              <a:gd name="adj" fmla="val 5161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48640" y="3931920"/>
            <a:ext cx="2765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deff4"/>
                </a:solidFill>
                <a:latin typeface="Arial"/>
                <a:ea typeface="Arial"/>
              </a:rPr>
              <a:t>Lab 1: Data Summarizer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3314880" y="3931920"/>
            <a:ext cx="2765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deff4"/>
                </a:solidFill>
                <a:latin typeface="Arial"/>
                <a:ea typeface="Arial"/>
              </a:rPr>
              <a:t>Lab 2: Parallel Batch Processor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314520" y="3794760"/>
            <a:ext cx="360" cy="1143000"/>
          </a:xfrm>
          <a:prstGeom prst="line">
            <a:avLst/>
          </a:prstGeom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6080760" y="3931920"/>
            <a:ext cx="2765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deff4"/>
                </a:solidFill>
                <a:latin typeface="Arial"/>
                <a:ea typeface="Arial"/>
              </a:rPr>
              <a:t>Pairs Welcome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6080760" y="3794760"/>
            <a:ext cx="360" cy="1143000"/>
          </a:xfrm>
          <a:prstGeom prst="line">
            <a:avLst/>
          </a:prstGeom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8847000" y="3931920"/>
            <a:ext cx="2765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8804f"/>
                </a:solidFill>
                <a:latin typeface="Arial"/>
                <a:ea typeface="Arial"/>
              </a:rPr>
              <a:t>Docs Yes / LLMs No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8846640" y="3794760"/>
            <a:ext cx="360" cy="1143000"/>
          </a:xfrm>
          <a:prstGeom prst="line">
            <a:avLst/>
          </a:prstGeom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548640" y="534924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aa4b8"/>
                </a:solidFill>
                <a:latin typeface="Arial"/>
                <a:ea typeface="Arial"/>
              </a:rPr>
              <a:t>Everything in both labs draws on Day 1's lecture modules — this is where that material becomes muscle memory.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HOW TODAY WORKS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Two labs, one structure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548640" y="160020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777240" y="222192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43000" y="160020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Each lab opens with a short framing and requirements briefing,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then roughly 90 minutes of independent or paired work, then a group walkthrough of reference solutions.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548640" y="315468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777240" y="377640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1143000" y="315468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Reference solutions show more than one valid approach on purpose —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there's rarely one right way to write a piece of Rust, and comparing approaches is where a lot of the real learning happens.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548640" y="470916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777240" y="533088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1143000" y="470916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Both labs are scoped to run about two to two-and-a-half hours end to end, including discussion and presentations.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2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ce422b"/>
                </a:solidFill>
                <a:latin typeface="Arial"/>
                <a:ea typeface="Arial"/>
              </a:rPr>
              <a:t>GROUND RULES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548640" y="2194560"/>
            <a:ext cx="11063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edeff4"/>
                </a:solidFill>
                <a:latin typeface="Arial"/>
                <a:ea typeface="Arial"/>
              </a:rPr>
              <a:t>Pairs welcome. Docs encouraged. LLMs, please don't.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548640" y="4434840"/>
            <a:ext cx="10332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9aa4b8"/>
                </a:solidFill>
                <a:latin typeface="Arial"/>
                <a:ea typeface="Arial"/>
              </a:rPr>
              <a:t>Work in pairs or small groups if you'd like — talking through a borrow-checker error out loud is often the fastest way to understand it. Please don't ask an LLM to write or fix your code today: the goal is to build your own intuition for ownership, errors, and concurrency, and that's exactly what an LLM shortcut skips past. Internet search is fully fair game — the standard library docs, docs.rs, the Rust Book, and users.rust-lang.org are exactly what a working Rust engineer reaches for. If you're stuck for more than about ten minutes, flag an instructor — that's part of the lab, not a failure of it.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3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TODAY'S SCHEDULE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Where labs fit in a full course day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40" name="Table 0"/>
          <p:cNvGraphicFramePr/>
          <p:nvPr/>
        </p:nvGraphicFramePr>
        <p:xfrm>
          <a:off x="548640" y="1691640"/>
          <a:ext cx="11063880" cy="3200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6309360"/>
              </a:tblGrid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e8804f"/>
                          </a:solidFill>
                          <a:latin typeface="Arial"/>
                          <a:ea typeface="Arial"/>
                        </a:rPr>
                        <a:t>Block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202a40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e8804f"/>
                          </a:solidFill>
                          <a:latin typeface="Arial"/>
                          <a:ea typeface="Arial"/>
                        </a:rPr>
                        <a:t>Duration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202a40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e8804f"/>
                          </a:solidFill>
                          <a:latin typeface="Arial"/>
                          <a:ea typeface="Arial"/>
                        </a:rPr>
                        <a:t>Content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202a40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Morning lecture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~3.5–4 hrs (with breaks)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Modules 1–16 from Day 1: Foundations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Lunch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~45–60 min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—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Lab 1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~2.5 hrs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Robust Data Summarizer — ownership, error handling, iterators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Short break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~10–15 min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—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Lab 2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~2.5 hrs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Parallel Batch Processor — concurrency, borrowing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~7.5–8.5 hrs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A full course day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</a:tbl>
          </a:graphicData>
        </a:graphic>
      </p:graphicFrame>
      <p:sp>
        <p:nvSpPr>
          <p:cNvPr id="41" name="Text 2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4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548640" y="2651760"/>
            <a:ext cx="1371240" cy="1371240"/>
          </a:xfrm>
          <a:prstGeom prst="roundRect">
            <a:avLst>
              <a:gd name="adj" fmla="val 6667"/>
            </a:avLst>
          </a:prstGeom>
          <a:solidFill>
            <a:srgbClr val="202a40"/>
          </a:solidFill>
          <a:ln w="1905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548640" y="2651760"/>
            <a:ext cx="1371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e8804f"/>
                </a:solidFill>
                <a:latin typeface="Consolas"/>
                <a:ea typeface="Consolas"/>
              </a:rPr>
              <a:t>01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2194560" y="2743200"/>
            <a:ext cx="9326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Lab 1: Robust Data Summarizer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2194560" y="3474720"/>
            <a:ext cx="8960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aa4b8"/>
                </a:solidFill>
                <a:latin typeface="Arial"/>
                <a:ea typeface="Arial"/>
              </a:rPr>
              <a:t>Ownership, error handling, and iterators — applied to messy real-world input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5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1: ROBUST DATA SUMMARIZER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Lab 1 time budget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51" name="Table 0"/>
          <p:cNvGraphicFramePr/>
          <p:nvPr/>
        </p:nvGraphicFramePr>
        <p:xfrm>
          <a:off x="548640" y="1691640"/>
          <a:ext cx="11063880" cy="27432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6492240"/>
              </a:tblGrid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e8804f"/>
                          </a:solidFill>
                          <a:latin typeface="Arial"/>
                          <a:ea typeface="Arial"/>
                        </a:rPr>
                        <a:t>Segment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202a40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e8804f"/>
                          </a:solidFill>
                          <a:latin typeface="Arial"/>
                          <a:ea typeface="Arial"/>
                        </a:rPr>
                        <a:t>Duration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202a40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e8804f"/>
                          </a:solidFill>
                          <a:latin typeface="Arial"/>
                          <a:ea typeface="Arial"/>
                        </a:rPr>
                        <a:t>What happens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202a40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Setup &amp; framing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10 min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Instructor presents the problem, requirements, and ground rules; questions answered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Independent / paired work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90 min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Students work solo or in pairs; instructors circulate to help, not to hand out answers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Short break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10 min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Stretch, refill coffee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Solution walkthrough &amp; discussion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20 min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Instructor presents reference approaches; group discussion questions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Student presentations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20–30 min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2–3 pairs briefly present their approach and one thing they learned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</a:tbl>
          </a:graphicData>
        </a:graphic>
      </p:graphicFrame>
      <p:sp>
        <p:nvSpPr>
          <p:cNvPr id="52" name="Text 2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6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1: ROBUST DATA SUMMARIZER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The scenario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548640" y="160020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777240" y="222192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1143000" y="160020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Every run, an instrument logs a batch of readings to a plain text file —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one record per line, as "id,value".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548640" y="315468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777240" y="377640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1143000" y="315468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Some lines are malformed — a dropped byte, a corrupted field, a stray blank line —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because the hardware isn't perfect and the log format was never validated at write time.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548640" y="470916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777240" y="533088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1143000" y="470916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You need a small command-line tool that summarizes the good data and doesn't fall over on the bad.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7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Sample input file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548640" y="1645920"/>
            <a:ext cx="11063880" cy="2468520"/>
          </a:xfrm>
          <a:prstGeom prst="roundRect">
            <a:avLst>
              <a:gd name="adj" fmla="val 3333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777240" y="1755720"/>
            <a:ext cx="10606680" cy="2248920"/>
          </a:xfrm>
          <a:prstGeom prst="rect">
            <a:avLst/>
          </a:prstGeom>
          <a:solidFill>
            <a:srgbClr val="141a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deff4"/>
                </a:solidFill>
                <a:latin typeface="Consolas"/>
                <a:ea typeface="Consolas"/>
              </a:rPr>
              <a:t>S1,23.4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deff4"/>
                </a:solidFill>
                <a:latin typeface="Consolas"/>
                <a:ea typeface="Consolas"/>
              </a:rPr>
              <a:t>S2,25.1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deff4"/>
                </a:solidFill>
                <a:latin typeface="Consolas"/>
                <a:ea typeface="Consolas"/>
              </a:rPr>
              <a:t>S3,BAD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deff4"/>
                </a:solidFill>
                <a:latin typeface="Consolas"/>
                <a:ea typeface="Consolas"/>
              </a:rPr>
              <a:t>S4,22.9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deff4"/>
                </a:solidFill>
                <a:latin typeface="Consolas"/>
                <a:ea typeface="Consolas"/>
              </a:rPr>
              <a:t>S5,24.0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548640" y="4251960"/>
            <a:ext cx="11063880" cy="2057040"/>
          </a:xfrm>
          <a:prstGeom prst="roundRect">
            <a:avLst>
              <a:gd name="adj" fmla="val 3556"/>
            </a:avLst>
          </a:prstGeom>
          <a:solidFill>
            <a:srgbClr val="202a40"/>
          </a:solidFill>
          <a:ln w="12700">
            <a:solidFill>
              <a:srgbClr val="58c2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777240" y="4370760"/>
            <a:ext cx="10606680" cy="181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8c27d"/>
                </a:solidFill>
                <a:latin typeface="Arial"/>
                <a:ea typeface="Arial"/>
              </a:rPr>
              <a:t>Note:  </a:t>
            </a:r>
            <a:r>
              <a:rPr b="0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Line 3 has a non-numeric value; line 5 is blank. Both are realistic hardware-log failure modes, and both must be handled without panicking.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8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Expected output (illustrative)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548640" y="1645920"/>
            <a:ext cx="11063880" cy="2468520"/>
          </a:xfrm>
          <a:prstGeom prst="roundRect">
            <a:avLst>
              <a:gd name="adj" fmla="val 3333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777240" y="1755720"/>
            <a:ext cx="10606680" cy="2248920"/>
          </a:xfrm>
          <a:prstGeom prst="rect">
            <a:avLst/>
          </a:prstGeom>
          <a:solidFill>
            <a:srgbClr val="141a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deff4"/>
                </a:solidFill>
                <a:latin typeface="Consolas"/>
                <a:ea typeface="Consolas"/>
              </a:rPr>
              <a:t>Records read:      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deff4"/>
                </a:solidFill>
                <a:latin typeface="Consolas"/>
                <a:ea typeface="Consolas"/>
              </a:rPr>
              <a:t>Valid records:     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deff4"/>
                </a:solidFill>
                <a:latin typeface="Consolas"/>
                <a:ea typeface="Consolas"/>
              </a:rPr>
              <a:t>Skipped (bad):     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deff4"/>
                </a:solidFill>
                <a:latin typeface="Consolas"/>
                <a:ea typeface="Consolas"/>
              </a:rPr>
              <a:t>Mean:          23.85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deff4"/>
                </a:solidFill>
                <a:latin typeface="Consolas"/>
                <a:ea typeface="Consolas"/>
              </a:rPr>
              <a:t>Min:           22.90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deff4"/>
                </a:solidFill>
                <a:latin typeface="Consolas"/>
                <a:ea typeface="Consolas"/>
              </a:rPr>
              <a:t>Max:           25.10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deff4"/>
                </a:solidFill>
                <a:latin typeface="Consolas"/>
                <a:ea typeface="Consolas"/>
              </a:rPr>
              <a:t>Std dev:        0.90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548640" y="4251960"/>
            <a:ext cx="11063880" cy="2057040"/>
          </a:xfrm>
          <a:prstGeom prst="roundRect">
            <a:avLst>
              <a:gd name="adj" fmla="val 3556"/>
            </a:avLst>
          </a:prstGeom>
          <a:solidFill>
            <a:srgbClr val="202a40"/>
          </a:solidFill>
          <a:ln w="12700">
            <a:solidFill>
              <a:srgbClr val="58c2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777240" y="4370760"/>
            <a:ext cx="10606680" cy="181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8c27d"/>
                </a:solidFill>
                <a:latin typeface="Arial"/>
                <a:ea typeface="Arial"/>
              </a:rPr>
              <a:t>Note:  </a:t>
            </a:r>
            <a:r>
              <a:rPr b="0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Exact formatting is your choice — these numbers are illustrative, not a byte-for-byte spec to match.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9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1: ROBUST DATA SUMMARIZER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Requirements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548640" y="160020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aa4b8"/>
                </a:solidFill>
                <a:latin typeface="Arial"/>
                <a:ea typeface="Arial"/>
              </a:rPr>
              <a:t>In rough priority order — get the top ones solid before chasing the rest.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548640" y="2221920"/>
            <a:ext cx="11063880" cy="698400"/>
          </a:xfrm>
          <a:prstGeom prst="roundRect">
            <a:avLst>
              <a:gd name="adj" fmla="val 916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777240" y="247068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1143000" y="2221920"/>
            <a:ext cx="1024092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Read the file path from the first command-line argument, parse each line as "id,value".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548640" y="3030480"/>
            <a:ext cx="11063880" cy="698400"/>
          </a:xfrm>
          <a:prstGeom prst="roundRect">
            <a:avLst>
              <a:gd name="adj" fmla="val 916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777240" y="327888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1143000" y="3030480"/>
            <a:ext cx="1024092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Skip and count malformed lines (empty, missing comma, non-numeric value) without panicking —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print a one-line warning to stderr for each one skipped.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9"/>
          <p:cNvSpPr/>
          <p:nvPr/>
        </p:nvSpPr>
        <p:spPr>
          <a:xfrm>
            <a:off x="548640" y="3838680"/>
            <a:ext cx="11063880" cy="698400"/>
          </a:xfrm>
          <a:prstGeom prst="roundRect">
            <a:avLst>
              <a:gd name="adj" fmla="val 916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10"/>
          <p:cNvSpPr/>
          <p:nvPr/>
        </p:nvSpPr>
        <p:spPr>
          <a:xfrm>
            <a:off x="777240" y="408744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1143000" y="3838680"/>
            <a:ext cx="1024092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Compute and print: total lines read, valid count, skipped count, mean, min, max, and standard deviation.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12"/>
          <p:cNvSpPr/>
          <p:nvPr/>
        </p:nvSpPr>
        <p:spPr>
          <a:xfrm>
            <a:off x="548640" y="4646880"/>
            <a:ext cx="11063880" cy="698400"/>
          </a:xfrm>
          <a:prstGeom prst="roundRect">
            <a:avLst>
              <a:gd name="adj" fmla="val 916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3"/>
          <p:cNvSpPr/>
          <p:nvPr/>
        </p:nvSpPr>
        <p:spPr>
          <a:xfrm>
            <a:off x="777240" y="489564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1143000" y="4646880"/>
            <a:ext cx="1024092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Group records by the first character of their id and print a per-group mean.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15"/>
          <p:cNvSpPr/>
          <p:nvPr/>
        </p:nvSpPr>
        <p:spPr>
          <a:xfrm>
            <a:off x="548640" y="5455440"/>
            <a:ext cx="11063880" cy="698400"/>
          </a:xfrm>
          <a:prstGeom prst="roundRect">
            <a:avLst>
              <a:gd name="adj" fmla="val 916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16"/>
          <p:cNvSpPr/>
          <p:nvPr/>
        </p:nvSpPr>
        <p:spPr>
          <a:xfrm>
            <a:off x="777240" y="570420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1143000" y="5455440"/>
            <a:ext cx="1024092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Include at least two unit tests: one for the stats calculation on a known small dataset, one for malformed-line handling.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18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9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10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1: ROBUST DATA SUMMARIZER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What we'll look for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5" name="Table 0"/>
          <p:cNvGraphicFramePr/>
          <p:nvPr/>
        </p:nvGraphicFramePr>
        <p:xfrm>
          <a:off x="548640" y="1691640"/>
          <a:ext cx="1106388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e8804f"/>
                          </a:solidFill>
                          <a:latin typeface="Arial"/>
                          <a:ea typeface="Arial"/>
                        </a:rPr>
                        <a:t>Criterion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202a40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e8804f"/>
                          </a:solidFill>
                          <a:latin typeface="Arial"/>
                          <a:ea typeface="Arial"/>
                        </a:rPr>
                        <a:t>What we're checking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202a40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Correctness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Stats match a hand-computed reference on the sample input above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Robustness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No panics on any malformed line — the program always finishes and reports a result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Idiomatic style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cargo clippy runs clean; ownership and error handling follow today's patterns, not C++ habits ported over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Tests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At least two tests, both passing, covering a normal case and a malformed-input case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</a:tbl>
          </a:graphicData>
        </a:graphic>
      </p:graphicFrame>
      <p:sp>
        <p:nvSpPr>
          <p:cNvPr id="106" name="Text 2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11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1: ROBUST DATA SUMMARIZER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Stretch goals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548640" y="160020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aa4b8"/>
                </a:solidFill>
                <a:latin typeface="Arial"/>
                <a:ea typeface="Arial"/>
              </a:rPr>
              <a:t>Optional, for pairs who finish early — pick at most one or two.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3"/>
          <p:cNvSpPr/>
          <p:nvPr/>
        </p:nvSpPr>
        <p:spPr>
          <a:xfrm>
            <a:off x="548640" y="2221920"/>
            <a:ext cx="11063880" cy="698400"/>
          </a:xfrm>
          <a:prstGeom prst="roundRect">
            <a:avLst>
              <a:gd name="adj" fmla="val 916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777240" y="247068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1143000" y="2221920"/>
            <a:ext cx="1024092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Accept input from stdin when no file argument is given (or when the argument is "-").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6"/>
          <p:cNvSpPr/>
          <p:nvPr/>
        </p:nvSpPr>
        <p:spPr>
          <a:xfrm>
            <a:off x="548640" y="3030480"/>
            <a:ext cx="11063880" cy="698400"/>
          </a:xfrm>
          <a:prstGeom prst="roundRect">
            <a:avLst>
              <a:gd name="adj" fmla="val 916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7"/>
          <p:cNvSpPr/>
          <p:nvPr/>
        </p:nvSpPr>
        <p:spPr>
          <a:xfrm>
            <a:off x="777240" y="327888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1143000" y="3030480"/>
            <a:ext cx="1024092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Print the top three outlier records — the ones furthest from the mean.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548640" y="3838680"/>
            <a:ext cx="11063880" cy="698400"/>
          </a:xfrm>
          <a:prstGeom prst="roundRect">
            <a:avLst>
              <a:gd name="adj" fmla="val 916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0"/>
          <p:cNvSpPr/>
          <p:nvPr/>
        </p:nvSpPr>
        <p:spPr>
          <a:xfrm>
            <a:off x="777240" y="408744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1143000" y="3838680"/>
            <a:ext cx="1024092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Replace manual argument parsing with the clap crate — look up its docs.rs page.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2"/>
          <p:cNvSpPr/>
          <p:nvPr/>
        </p:nvSpPr>
        <p:spPr>
          <a:xfrm>
            <a:off x="548640" y="4646880"/>
            <a:ext cx="11063880" cy="698400"/>
          </a:xfrm>
          <a:prstGeom prst="roundRect">
            <a:avLst>
              <a:gd name="adj" fmla="val 916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13"/>
          <p:cNvSpPr/>
          <p:nvPr/>
        </p:nvSpPr>
        <p:spPr>
          <a:xfrm>
            <a:off x="777240" y="489564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1143000" y="4646880"/>
            <a:ext cx="1024092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Define a custom error enum implementing std::error::Error instead of silently dropping bad lines.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5"/>
          <p:cNvSpPr/>
          <p:nvPr/>
        </p:nvSpPr>
        <p:spPr>
          <a:xfrm>
            <a:off x="548640" y="5455440"/>
            <a:ext cx="11063880" cy="698400"/>
          </a:xfrm>
          <a:prstGeom prst="roundRect">
            <a:avLst>
              <a:gd name="adj" fmla="val 916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16"/>
          <p:cNvSpPr/>
          <p:nvPr/>
        </p:nvSpPr>
        <p:spPr>
          <a:xfrm>
            <a:off x="777240" y="570420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7"/>
          <p:cNvSpPr/>
          <p:nvPr/>
        </p:nvSpPr>
        <p:spPr>
          <a:xfrm>
            <a:off x="1143000" y="5455440"/>
            <a:ext cx="1024092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Generate a synthetic 1-million-line file and report how long your program takes to summarize it.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8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9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12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1: ROBUST DATA SUMMARIZER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Hints, if you want them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548640" y="160020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aa4b8"/>
                </a:solidFill>
                <a:latin typeface="Arial"/>
                <a:ea typeface="Arial"/>
              </a:rPr>
              <a:t>Socratic on purpose — look these up rather than guess.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548640" y="2221920"/>
            <a:ext cx="11063880" cy="900360"/>
          </a:xfrm>
          <a:prstGeom prst="roundRect">
            <a:avLst>
              <a:gd name="adj" fmla="val 7107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4"/>
          <p:cNvSpPr/>
          <p:nvPr/>
        </p:nvSpPr>
        <p:spPr>
          <a:xfrm>
            <a:off x="777240" y="257184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1143000" y="2221920"/>
            <a:ext cx="1024092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str::split_once, str::trim, and "3.14".parse::&lt;f64&gt;() do most of the parsing work for you.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What type does parse() return, and what does .ok() do to it?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548640" y="3232440"/>
            <a:ext cx="11063880" cy="900360"/>
          </a:xfrm>
          <a:prstGeom prst="roundRect">
            <a:avLst>
              <a:gd name="adj" fmla="val 7107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7"/>
          <p:cNvSpPr/>
          <p:nvPr/>
        </p:nvSpPr>
        <p:spPr>
          <a:xfrm>
            <a:off x="777240" y="358200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1143000" y="3232440"/>
            <a:ext cx="1024092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Iterator::fold can compute a running (count, sum, sum_sq) in one pass instead of three separate passes.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9"/>
          <p:cNvSpPr/>
          <p:nvPr/>
        </p:nvSpPr>
        <p:spPr>
          <a:xfrm>
            <a:off x="548640" y="4242960"/>
            <a:ext cx="11063880" cy="900360"/>
          </a:xfrm>
          <a:prstGeom prst="roundRect">
            <a:avLst>
              <a:gd name="adj" fmla="val 7107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10"/>
          <p:cNvSpPr/>
          <p:nvPr/>
        </p:nvSpPr>
        <p:spPr>
          <a:xfrm>
            <a:off x="777240" y="459252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1"/>
          <p:cNvSpPr/>
          <p:nvPr/>
        </p:nvSpPr>
        <p:spPr>
          <a:xfrm>
            <a:off x="1143000" y="4242960"/>
            <a:ext cx="1024092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HashMap::entry(...).or_insert_with(...) is the idiomatic way to build a HashMap&lt;String, Vec&lt;f64&gt;&gt; without a manual contains_key check.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12"/>
          <p:cNvSpPr/>
          <p:nvPr/>
        </p:nvSpPr>
        <p:spPr>
          <a:xfrm>
            <a:off x="548640" y="5253120"/>
            <a:ext cx="11063880" cy="900360"/>
          </a:xfrm>
          <a:prstGeom prst="roundRect">
            <a:avLst>
              <a:gd name="adj" fmla="val 7107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3"/>
          <p:cNvSpPr/>
          <p:nvPr/>
        </p:nvSpPr>
        <p:spPr>
          <a:xfrm>
            <a:off x="777240" y="560304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4"/>
          <p:cNvSpPr/>
          <p:nvPr/>
        </p:nvSpPr>
        <p:spPr>
          <a:xfrm>
            <a:off x="1143000" y="5253120"/>
            <a:ext cx="1024092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Searching "rust parse csv line without a crate" or the std::str documentation this afternoon is completely fair game.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5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6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13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0b155"/>
                </a:solidFill>
                <a:latin typeface="Arial"/>
                <a:ea typeface="Arial"/>
              </a:rPr>
              <a:t>LAB 1: ROBUST DATA SUMMARIZER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548640" y="2194560"/>
            <a:ext cx="11063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edeff4"/>
                </a:solidFill>
                <a:latin typeface="Arial"/>
                <a:ea typeface="Arial"/>
              </a:rPr>
              <a:t>Try it yourself now — reference solutions follow.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548640" y="4434840"/>
            <a:ext cx="10332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9aa4b8"/>
                </a:solidFill>
                <a:latin typeface="Arial"/>
                <a:ea typeface="Arial"/>
              </a:rPr>
              <a:t>This is a good place to pause the slides for the 90-minute work session. What follows are two full reference approaches, plus a third for early finishers — not the only correct answers, just a solid baseline to compare against.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14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1: ROBUST DATA SUMMARIZER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Discussion questions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548640" y="160020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aa4b8"/>
                </a:solidFill>
                <a:latin typeface="Arial"/>
                <a:ea typeface="Arial"/>
              </a:rPr>
              <a:t>For the group discussion block — no single right answer expected.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3"/>
          <p:cNvSpPr/>
          <p:nvPr/>
        </p:nvSpPr>
        <p:spPr>
          <a:xfrm>
            <a:off x="548640" y="2221920"/>
            <a:ext cx="11063880" cy="1236960"/>
          </a:xfrm>
          <a:prstGeom prst="roundRect">
            <a:avLst>
              <a:gd name="adj" fmla="val 517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4"/>
          <p:cNvSpPr/>
          <p:nvPr/>
        </p:nvSpPr>
        <p:spPr>
          <a:xfrm>
            <a:off x="777240" y="274032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1143000" y="2221920"/>
            <a:ext cx="10240920" cy="12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Which approach would you extend to stream a 10 GB file without loading it all into memory first?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What single method call would you swap in to get there?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6"/>
          <p:cNvSpPr/>
          <p:nvPr/>
        </p:nvSpPr>
        <p:spPr>
          <a:xfrm>
            <a:off x="548640" y="3569040"/>
            <a:ext cx="11063880" cy="1236960"/>
          </a:xfrm>
          <a:prstGeom prst="roundRect">
            <a:avLst>
              <a:gd name="adj" fmla="val 517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777240" y="408744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1143000" y="3569040"/>
            <a:ext cx="10240920" cy="12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Where did your program panic before you added error handling —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and why didn't the compiler warn you about that possibility?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9"/>
          <p:cNvSpPr/>
          <p:nvPr/>
        </p:nvSpPr>
        <p:spPr>
          <a:xfrm>
            <a:off x="548640" y="4916520"/>
            <a:ext cx="11063880" cy="1236960"/>
          </a:xfrm>
          <a:prstGeom prst="roundRect">
            <a:avLst>
              <a:gd name="adj" fmla="val 517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10"/>
          <p:cNvSpPr/>
          <p:nvPr/>
        </p:nvSpPr>
        <p:spPr>
          <a:xfrm>
            <a:off x="777240" y="543456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11"/>
          <p:cNvSpPr/>
          <p:nvPr/>
        </p:nvSpPr>
        <p:spPr>
          <a:xfrm>
            <a:off x="1143000" y="4916520"/>
            <a:ext cx="10240920" cy="12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If tomorrow's task were "parallelize this," which approach's internal data structures would need to change the least?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2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13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23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1: ROBUST DATA SUMMARIZER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Presentation prompts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548640" y="160020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aa4b8"/>
                </a:solidFill>
                <a:latin typeface="Arial"/>
                <a:ea typeface="Arial"/>
              </a:rPr>
              <a:t>Three quick things for each presenting pair to cover — five minutes, tops.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548640" y="2221920"/>
            <a:ext cx="11063880" cy="1236960"/>
          </a:xfrm>
          <a:prstGeom prst="roundRect">
            <a:avLst>
              <a:gd name="adj" fmla="val 517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4"/>
          <p:cNvSpPr/>
          <p:nvPr/>
        </p:nvSpPr>
        <p:spPr>
          <a:xfrm>
            <a:off x="777240" y="274032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1143000" y="2221920"/>
            <a:ext cx="10240920" cy="12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Which approach did you take, and why?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6"/>
          <p:cNvSpPr/>
          <p:nvPr/>
        </p:nvSpPr>
        <p:spPr>
          <a:xfrm>
            <a:off x="548640" y="3569040"/>
            <a:ext cx="11063880" cy="1236960"/>
          </a:xfrm>
          <a:prstGeom prst="roundRect">
            <a:avLst>
              <a:gd name="adj" fmla="val 517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7"/>
          <p:cNvSpPr/>
          <p:nvPr/>
        </p:nvSpPr>
        <p:spPr>
          <a:xfrm>
            <a:off x="777240" y="408744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1143000" y="3569040"/>
            <a:ext cx="10240920" cy="12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Show us one bug you hit and how you found it.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9"/>
          <p:cNvSpPr/>
          <p:nvPr/>
        </p:nvSpPr>
        <p:spPr>
          <a:xfrm>
            <a:off x="548640" y="4916520"/>
            <a:ext cx="11063880" cy="1236960"/>
          </a:xfrm>
          <a:prstGeom prst="roundRect">
            <a:avLst>
              <a:gd name="adj" fmla="val 5172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10"/>
          <p:cNvSpPr/>
          <p:nvPr/>
        </p:nvSpPr>
        <p:spPr>
          <a:xfrm>
            <a:off x="777240" y="543456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1"/>
          <p:cNvSpPr/>
          <p:nvPr/>
        </p:nvSpPr>
        <p:spPr>
          <a:xfrm>
            <a:off x="1143000" y="4916520"/>
            <a:ext cx="10240920" cy="12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What's one thing you'd do differently with another hour?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12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3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24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548640" y="2651760"/>
            <a:ext cx="1371240" cy="1371240"/>
          </a:xfrm>
          <a:prstGeom prst="roundRect">
            <a:avLst>
              <a:gd name="adj" fmla="val 6667"/>
            </a:avLst>
          </a:prstGeom>
          <a:solidFill>
            <a:srgbClr val="202a40"/>
          </a:solidFill>
          <a:ln w="1905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548640" y="2651760"/>
            <a:ext cx="1371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e8804f"/>
                </a:solidFill>
                <a:latin typeface="Consolas"/>
                <a:ea typeface="Consolas"/>
              </a:rPr>
              <a:t>02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2194560" y="2743200"/>
            <a:ext cx="9326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Lab 2: Parallel Batch Processor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2194560" y="3474720"/>
            <a:ext cx="8960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aa4b8"/>
                </a:solidFill>
                <a:latin typeface="Arial"/>
                <a:ea typeface="Arial"/>
              </a:rPr>
              <a:t>Concurrency and borrowing — proving a parallel version matches a trusted sequential one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5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25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2: PARALLEL BATCH PROCESSOR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Lab 2 time budget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86" name="Table 0"/>
          <p:cNvGraphicFramePr/>
          <p:nvPr/>
        </p:nvGraphicFramePr>
        <p:xfrm>
          <a:off x="548640" y="1691640"/>
          <a:ext cx="11063880" cy="27432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6492240"/>
              </a:tblGrid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e8804f"/>
                          </a:solidFill>
                          <a:latin typeface="Arial"/>
                          <a:ea typeface="Arial"/>
                        </a:rPr>
                        <a:t>Segment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202a40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e8804f"/>
                          </a:solidFill>
                          <a:latin typeface="Arial"/>
                          <a:ea typeface="Arial"/>
                        </a:rPr>
                        <a:t>Duration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202a40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e8804f"/>
                          </a:solidFill>
                          <a:latin typeface="Arial"/>
                          <a:ea typeface="Arial"/>
                        </a:rPr>
                        <a:t>What happens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202a40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Setup &amp; framing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10 min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Instructor presents the problem, requirements, and ground rules; questions answered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Independent / paired work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90 min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Students work solo or in pairs; instructors circulate to help, not to hand out answers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Short break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10 min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Stretch, refill coffee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Solution walkthrough &amp; discussion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20 min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Instructor presents reference approaches; group discussion questions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Student presentations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20–30 min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2–3 pairs briefly present their approach and one thing they learned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</a:tbl>
          </a:graphicData>
        </a:graphic>
      </p:graphicFrame>
      <p:sp>
        <p:nvSpPr>
          <p:cNvPr id="187" name="Text 2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26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2: PARALLEL BATCH PROCESSOR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The scenario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548640" y="160020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3"/>
          <p:cNvSpPr/>
          <p:nvPr/>
        </p:nvSpPr>
        <p:spPr>
          <a:xfrm>
            <a:off x="777240" y="222192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1143000" y="160020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Your team occasionally needs to validate a large batch buffer — think a big block of raw bytes off an acquisition device — before it's trusted downstream.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5"/>
          <p:cNvSpPr/>
          <p:nvPr/>
        </p:nvSpPr>
        <p:spPr>
          <a:xfrm>
            <a:off x="548640" y="315468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6"/>
          <p:cNvSpPr/>
          <p:nvPr/>
        </p:nvSpPr>
        <p:spPr>
          <a:xfrm>
            <a:off x="777240" y="377640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1143000" y="315468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A single-threaded pass works and is already trusted, but it's too slow on the largest buffers your team sees.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8"/>
          <p:cNvSpPr/>
          <p:nvPr/>
        </p:nvSpPr>
        <p:spPr>
          <a:xfrm>
            <a:off x="548640" y="470916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9"/>
          <p:cNvSpPr/>
          <p:nvPr/>
        </p:nvSpPr>
        <p:spPr>
          <a:xfrm>
            <a:off x="777240" y="533088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0"/>
          <p:cNvSpPr/>
          <p:nvPr/>
        </p:nvSpPr>
        <p:spPr>
          <a:xfrm>
            <a:off x="1143000" y="470916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You've been asked for a parallel version that produces byte-for-byte identical results to the sequential one, just faster —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not "probably the same," identical, provably.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11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12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27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The trusted reference implementation (given)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2"/>
          <p:cNvSpPr/>
          <p:nvPr/>
        </p:nvSpPr>
        <p:spPr>
          <a:xfrm>
            <a:off x="548640" y="1645920"/>
            <a:ext cx="11063880" cy="3748680"/>
          </a:xfrm>
          <a:prstGeom prst="roundRect">
            <a:avLst>
              <a:gd name="adj" fmla="val 2195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777240" y="1755720"/>
            <a:ext cx="10606680" cy="3529080"/>
          </a:xfrm>
          <a:prstGeom prst="rect">
            <a:avLst/>
          </a:prstGeom>
          <a:solidFill>
            <a:srgbClr val="141a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struct BatchReport { len: usize, sum: u64, min: u8, max: u8, xor_checksum: u8 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fn analyze_sequential(data: &amp;[u8]) -&gt; BatchReport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let mut sum = 0u64;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let mut min = u8::MAX;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let mut max = 0u8;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let mut xor_checksum = 0u8;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for &amp;b in data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sum += b as u64;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min = min.min(b);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max = max.max(b);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xor_checksum ^= b;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BatchReport { len: data.len(), sum, min, max, xor_checksum 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deff4"/>
                </a:solidFill>
                <a:latin typeface="Consolas"/>
                <a:ea typeface="Consolas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4"/>
          <p:cNvSpPr/>
          <p:nvPr/>
        </p:nvSpPr>
        <p:spPr>
          <a:xfrm>
            <a:off x="548640" y="5532120"/>
            <a:ext cx="11063880" cy="776880"/>
          </a:xfrm>
          <a:prstGeom prst="roundRect">
            <a:avLst>
              <a:gd name="adj" fmla="val 9412"/>
            </a:avLst>
          </a:prstGeom>
          <a:solidFill>
            <a:srgbClr val="202a40"/>
          </a:solidFill>
          <a:ln w="12700">
            <a:solidFill>
              <a:srgbClr val="e0b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5"/>
          <p:cNvSpPr/>
          <p:nvPr/>
        </p:nvSpPr>
        <p:spPr>
          <a:xfrm>
            <a:off x="777240" y="5650920"/>
            <a:ext cx="1060668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b155"/>
                </a:solidFill>
                <a:latin typeface="Arial"/>
                <a:ea typeface="Arial"/>
              </a:rPr>
              <a:t>Your task:  </a:t>
            </a:r>
            <a:r>
              <a:rPr b="0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This function is your specification and your correctness oracle. Your job is analyze_parallel(data, num_workers) — same return type, same results, using threads.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7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28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2: PARALLEL BATCH PROCESSOR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Requirements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2"/>
          <p:cNvSpPr/>
          <p:nvPr/>
        </p:nvSpPr>
        <p:spPr>
          <a:xfrm>
            <a:off x="548640" y="1600200"/>
            <a:ext cx="11063880" cy="822600"/>
          </a:xfrm>
          <a:prstGeom prst="roundRect">
            <a:avLst>
              <a:gd name="adj" fmla="val 7778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3"/>
          <p:cNvSpPr/>
          <p:nvPr/>
        </p:nvSpPr>
        <p:spPr>
          <a:xfrm>
            <a:off x="777240" y="191124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4"/>
          <p:cNvSpPr/>
          <p:nvPr/>
        </p:nvSpPr>
        <p:spPr>
          <a:xfrm>
            <a:off x="1143000" y="1600200"/>
            <a:ext cx="10240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Split data into num_workers roughly-equal contiguous chunks —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handle data.len() not dividing evenly, and num_workers larger than data.len().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5"/>
          <p:cNvSpPr/>
          <p:nvPr/>
        </p:nvSpPr>
        <p:spPr>
          <a:xfrm>
            <a:off x="548640" y="2532960"/>
            <a:ext cx="11063880" cy="822600"/>
          </a:xfrm>
          <a:prstGeom prst="roundRect">
            <a:avLst>
              <a:gd name="adj" fmla="val 7778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6"/>
          <p:cNvSpPr/>
          <p:nvPr/>
        </p:nvSpPr>
        <p:spPr>
          <a:xfrm>
            <a:off x="777240" y="284364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7"/>
          <p:cNvSpPr/>
          <p:nvPr/>
        </p:nvSpPr>
        <p:spPr>
          <a:xfrm>
            <a:off x="1143000" y="2532960"/>
            <a:ext cx="10240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Use std::thread::scope so threads can borrow slices of data directly —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no cloning the buffer, no Arc, no unsafe.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8"/>
          <p:cNvSpPr/>
          <p:nvPr/>
        </p:nvSpPr>
        <p:spPr>
          <a:xfrm>
            <a:off x="548640" y="3465720"/>
            <a:ext cx="11063880" cy="822600"/>
          </a:xfrm>
          <a:prstGeom prst="roundRect">
            <a:avLst>
              <a:gd name="adj" fmla="val 7778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9"/>
          <p:cNvSpPr/>
          <p:nvPr/>
        </p:nvSpPr>
        <p:spPr>
          <a:xfrm>
            <a:off x="777240" y="377640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10"/>
          <p:cNvSpPr/>
          <p:nvPr/>
        </p:nvSpPr>
        <p:spPr>
          <a:xfrm>
            <a:off x="1143000" y="3465720"/>
            <a:ext cx="10240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Each thread computes a partial report for its chunk; combine partial reports into one final BatchReport.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11"/>
          <p:cNvSpPr/>
          <p:nvPr/>
        </p:nvSpPr>
        <p:spPr>
          <a:xfrm>
            <a:off x="548640" y="4398120"/>
            <a:ext cx="11063880" cy="822600"/>
          </a:xfrm>
          <a:prstGeom prst="roundRect">
            <a:avLst>
              <a:gd name="adj" fmla="val 7778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12"/>
          <p:cNvSpPr/>
          <p:nvPr/>
        </p:nvSpPr>
        <p:spPr>
          <a:xfrm>
            <a:off x="777240" y="470916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13"/>
          <p:cNvSpPr/>
          <p:nvPr/>
        </p:nvSpPr>
        <p:spPr>
          <a:xfrm>
            <a:off x="1143000" y="4398120"/>
            <a:ext cx="10240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The result must exactly match analyze_sequential(data) for the same data, for every num_workers you test.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14"/>
          <p:cNvSpPr/>
          <p:nvPr/>
        </p:nvSpPr>
        <p:spPr>
          <a:xfrm>
            <a:off x="548640" y="5330880"/>
            <a:ext cx="11063880" cy="822600"/>
          </a:xfrm>
          <a:prstGeom prst="roundRect">
            <a:avLst>
              <a:gd name="adj" fmla="val 7778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15"/>
          <p:cNvSpPr/>
          <p:nvPr/>
        </p:nvSpPr>
        <p:spPr>
          <a:xfrm>
            <a:off x="777240" y="564192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16"/>
          <p:cNvSpPr/>
          <p:nvPr/>
        </p:nvSpPr>
        <p:spPr>
          <a:xfrm>
            <a:off x="1143000" y="5330880"/>
            <a:ext cx="10240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Include a test that checks this equality across at least three different worker counts, including one that doesn't evenly divide the data.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7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18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29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2: PARALLEL BATCH PROCESSOR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What we'll look for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31" name="Table 0"/>
          <p:cNvGraphicFramePr/>
          <p:nvPr/>
        </p:nvGraphicFramePr>
        <p:xfrm>
          <a:off x="548640" y="1691640"/>
          <a:ext cx="1106388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e8804f"/>
                          </a:solidFill>
                          <a:latin typeface="Arial"/>
                          <a:ea typeface="Arial"/>
                        </a:rPr>
                        <a:t>Criterion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202a40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e8804f"/>
                          </a:solidFill>
                          <a:latin typeface="Arial"/>
                          <a:ea typeface="Arial"/>
                        </a:rPr>
                        <a:t>What we're checking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202a40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Correctness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Output matches analyze_sequential exactly, for every worker count tested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Safe concurrency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No unsafe blocks; no Arc&lt;Mutex&lt;_&gt;&gt; where scoped borrowing or a channel would do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Edge cases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Empty data, num_workers = 1, and num_workers &gt; data.len() all handled without panicking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deff4"/>
                          </a:solidFill>
                          <a:latin typeface="Arial"/>
                          <a:ea typeface="Arial"/>
                        </a:rPr>
                        <a:t>Tests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 lIns="126720" rIns="12672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9aa4b8"/>
                          </a:solidFill>
                          <a:latin typeface="Arial"/>
                          <a:ea typeface="Arial"/>
                        </a:rPr>
                        <a:t>The equivalence test passes across multiple worker counts, not just one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26720" marR="126720">
                    <a:lnL w="9360">
                      <a:solidFill>
                        <a:srgbClr val="2b3550"/>
                      </a:solidFill>
                      <a:prstDash val="solid"/>
                    </a:lnL>
                    <a:lnR w="9360">
                      <a:solidFill>
                        <a:srgbClr val="2b3550"/>
                      </a:solidFill>
                      <a:prstDash val="solid"/>
                    </a:lnR>
                    <a:lnT w="9360">
                      <a:solidFill>
                        <a:srgbClr val="2b3550"/>
                      </a:solidFill>
                      <a:prstDash val="solid"/>
                    </a:lnT>
                    <a:lnB w="9360">
                      <a:solidFill>
                        <a:srgbClr val="2b3550"/>
                      </a:solidFill>
                      <a:prstDash val="solid"/>
                    </a:lnB>
                    <a:solidFill>
                      <a:srgbClr val="1b2333"/>
                    </a:solidFill>
                  </a:tcPr>
                </a:tc>
              </a:tr>
            </a:tbl>
          </a:graphicData>
        </a:graphic>
      </p:graphicFrame>
      <p:sp>
        <p:nvSpPr>
          <p:cNvPr id="232" name="Text 2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30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2: PARALLEL BATCH PROCESSOR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Stretch goals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2"/>
          <p:cNvSpPr/>
          <p:nvPr/>
        </p:nvSpPr>
        <p:spPr>
          <a:xfrm>
            <a:off x="548640" y="160020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3"/>
          <p:cNvSpPr/>
          <p:nvPr/>
        </p:nvSpPr>
        <p:spPr>
          <a:xfrm>
            <a:off x="777240" y="222192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4"/>
          <p:cNvSpPr/>
          <p:nvPr/>
        </p:nvSpPr>
        <p:spPr>
          <a:xfrm>
            <a:off x="1143000" y="160020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Report live progress as chunks complete, using a channel or a shared atomic counter.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5"/>
          <p:cNvSpPr/>
          <p:nvPr/>
        </p:nvSpPr>
        <p:spPr>
          <a:xfrm>
            <a:off x="548640" y="315468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6"/>
          <p:cNvSpPr/>
          <p:nvPr/>
        </p:nvSpPr>
        <p:spPr>
          <a:xfrm>
            <a:off x="777240" y="377640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7"/>
          <p:cNvSpPr/>
          <p:nvPr/>
        </p:nvSpPr>
        <p:spPr>
          <a:xfrm>
            <a:off x="1143000" y="315468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Measure and print wall-clock time for both the sequential and parallel versions on the same large input —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at what size does parallel actually win?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8"/>
          <p:cNvSpPr/>
          <p:nvPr/>
        </p:nvSpPr>
        <p:spPr>
          <a:xfrm>
            <a:off x="548640" y="470916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9"/>
          <p:cNvSpPr/>
          <p:nvPr/>
        </p:nvSpPr>
        <p:spPr>
          <a:xfrm>
            <a:off x="777240" y="533088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10"/>
          <p:cNvSpPr/>
          <p:nvPr/>
        </p:nvSpPr>
        <p:spPr>
          <a:xfrm>
            <a:off x="1143000" y="470916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Pick num_workers automatically using std::thread::available_parallelism().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11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12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31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2: PARALLEL BATCH PROCESSOR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Hints, if you want them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2"/>
          <p:cNvSpPr/>
          <p:nvPr/>
        </p:nvSpPr>
        <p:spPr>
          <a:xfrm>
            <a:off x="548640" y="160020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777240" y="222192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1143000" y="160020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std::thread::scope lets spawned threads borrow data with an ordinary &amp; reference —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look up why that's sound here when a plain thread::spawn would require 'static.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5"/>
          <p:cNvSpPr/>
          <p:nvPr/>
        </p:nvSpPr>
        <p:spPr>
          <a:xfrm>
            <a:off x="548640" y="315468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6"/>
          <p:cNvSpPr/>
          <p:nvPr/>
        </p:nvSpPr>
        <p:spPr>
          <a:xfrm>
            <a:off x="777240" y="377640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1143000" y="315468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slice::chunks(n) already handles an uneven final chunk correctly — the harder part is computing the right chunk size in the first place.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Does usize have a method for "divide, rounding up"?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8"/>
          <p:cNvSpPr/>
          <p:nvPr/>
        </p:nvSpPr>
        <p:spPr>
          <a:xfrm>
            <a:off x="548640" y="470916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9"/>
          <p:cNvSpPr/>
          <p:nvPr/>
        </p:nvSpPr>
        <p:spPr>
          <a:xfrm>
            <a:off x="777240" y="533088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10"/>
          <p:cNvSpPr/>
          <p:nvPr/>
        </p:nvSpPr>
        <p:spPr>
          <a:xfrm>
            <a:off x="1143000" y="470916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A thread::scope closure's JoinHandle::join() returns whatever the spawned closure returns, directly and typed —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no shared mutable state required just to get a value back out.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1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12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32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0b155"/>
                </a:solidFill>
                <a:latin typeface="Arial"/>
                <a:ea typeface="Arial"/>
              </a:rPr>
              <a:t>LAB 2: PARALLEL BATCH PROCESSOR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1"/>
          <p:cNvSpPr/>
          <p:nvPr/>
        </p:nvSpPr>
        <p:spPr>
          <a:xfrm>
            <a:off x="548640" y="2194560"/>
            <a:ext cx="11063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edeff4"/>
                </a:solidFill>
                <a:latin typeface="Arial"/>
                <a:ea typeface="Arial"/>
              </a:rPr>
              <a:t>Try it yourself now — reference solutions follow.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2"/>
          <p:cNvSpPr/>
          <p:nvPr/>
        </p:nvSpPr>
        <p:spPr>
          <a:xfrm>
            <a:off x="548640" y="4434840"/>
            <a:ext cx="10332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9aa4b8"/>
                </a:solidFill>
                <a:latin typeface="Arial"/>
                <a:ea typeface="Arial"/>
              </a:rPr>
              <a:t>Same structure as Lab 1: two full approaches with different trade-offs, a correctness test you can compare against your own, and a set of common pitfalls to check your solution against.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3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4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33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2: PARALLEL BATCH PROCESSOR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Discussion questions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Shape 2"/>
          <p:cNvSpPr/>
          <p:nvPr/>
        </p:nvSpPr>
        <p:spPr>
          <a:xfrm>
            <a:off x="548640" y="160020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3"/>
          <p:cNvSpPr/>
          <p:nvPr/>
        </p:nvSpPr>
        <p:spPr>
          <a:xfrm>
            <a:off x="777240" y="222192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4"/>
          <p:cNvSpPr/>
          <p:nvPr/>
        </p:nvSpPr>
        <p:spPr>
          <a:xfrm>
            <a:off x="1143000" y="160020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This program parallelizes buffer processing without a single unsafe block, and a data race isn't possible even if you tried to introduce one by accident.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What would the equivalent C++ version need to get right by hand that Rust enforced here for free?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5"/>
          <p:cNvSpPr/>
          <p:nvPr/>
        </p:nvSpPr>
        <p:spPr>
          <a:xfrm>
            <a:off x="548640" y="315468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6"/>
          <p:cNvSpPr/>
          <p:nvPr/>
        </p:nvSpPr>
        <p:spPr>
          <a:xfrm>
            <a:off x="777240" y="377640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7"/>
          <p:cNvSpPr/>
          <p:nvPr/>
        </p:nvSpPr>
        <p:spPr>
          <a:xfrm>
            <a:off x="1143000" y="315468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sum, min, max, and xor_checksum are all associative and commutative — partial results combine in any order.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What would change in your design if the spec required an order-dependent rolling hash instead?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8"/>
          <p:cNvSpPr/>
          <p:nvPr/>
        </p:nvSpPr>
        <p:spPr>
          <a:xfrm>
            <a:off x="548640" y="470916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9"/>
          <p:cNvSpPr/>
          <p:nvPr/>
        </p:nvSpPr>
        <p:spPr>
          <a:xfrm>
            <a:off x="777240" y="533088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10"/>
          <p:cNvSpPr/>
          <p:nvPr/>
        </p:nvSpPr>
        <p:spPr>
          <a:xfrm>
            <a:off x="1143000" y="470916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If you measured it: at what data size did the parallel version actually beat the sequential one?  </a:t>
            </a:r>
            <a:r>
              <a:rPr b="0" lang="en-US" sz="1200" spc="-1" strike="noStrike">
                <a:solidFill>
                  <a:srgbClr val="9aa4b8"/>
                </a:solidFill>
                <a:latin typeface="Arial"/>
                <a:ea typeface="Arial"/>
              </a:rPr>
              <a:t>Why might a small input make threading slower, not faster?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11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12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41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e8804f"/>
                </a:solidFill>
                <a:latin typeface="Arial"/>
                <a:ea typeface="Arial"/>
              </a:rPr>
              <a:t>LAB 2: PARALLEL BATCH PROCESSOR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548640" y="6858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deff4"/>
                </a:solidFill>
                <a:latin typeface="Arial"/>
                <a:ea typeface="Arial"/>
              </a:rPr>
              <a:t>Presentation prompts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Shape 2"/>
          <p:cNvSpPr/>
          <p:nvPr/>
        </p:nvSpPr>
        <p:spPr>
          <a:xfrm>
            <a:off x="548640" y="160020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3"/>
          <p:cNvSpPr/>
          <p:nvPr/>
        </p:nvSpPr>
        <p:spPr>
          <a:xfrm>
            <a:off x="777240" y="222192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4"/>
          <p:cNvSpPr/>
          <p:nvPr/>
        </p:nvSpPr>
        <p:spPr>
          <a:xfrm>
            <a:off x="1143000" y="160020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Which approach did you take, and why?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Shape 5"/>
          <p:cNvSpPr/>
          <p:nvPr/>
        </p:nvSpPr>
        <p:spPr>
          <a:xfrm>
            <a:off x="548640" y="315468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6"/>
          <p:cNvSpPr/>
          <p:nvPr/>
        </p:nvSpPr>
        <p:spPr>
          <a:xfrm>
            <a:off x="777240" y="377640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7"/>
          <p:cNvSpPr/>
          <p:nvPr/>
        </p:nvSpPr>
        <p:spPr>
          <a:xfrm>
            <a:off x="1143000" y="315468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Show us one bug you hit and how you found it.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8"/>
          <p:cNvSpPr/>
          <p:nvPr/>
        </p:nvSpPr>
        <p:spPr>
          <a:xfrm>
            <a:off x="548640" y="4709160"/>
            <a:ext cx="11063880" cy="1444320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Shape 9"/>
          <p:cNvSpPr/>
          <p:nvPr/>
        </p:nvSpPr>
        <p:spPr>
          <a:xfrm>
            <a:off x="777240" y="533088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10"/>
          <p:cNvSpPr/>
          <p:nvPr/>
        </p:nvSpPr>
        <p:spPr>
          <a:xfrm>
            <a:off x="1143000" y="4709160"/>
            <a:ext cx="102409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ff4"/>
                </a:solidFill>
                <a:latin typeface="Arial"/>
                <a:ea typeface="Arial"/>
              </a:rPr>
              <a:t>What's one thing you'd do differently with another hour?  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11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Rust for Experienced C++ Developers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12"/>
          <p:cNvSpPr/>
          <p:nvPr/>
        </p:nvSpPr>
        <p:spPr>
          <a:xfrm>
            <a:off x="11155680" y="6537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aa4b8"/>
                </a:solidFill>
                <a:latin typeface="Arial"/>
                <a:ea typeface="Arial"/>
              </a:rPr>
              <a:t>42 / 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LibreOffice/24.2.5.2$MacOSX_AARCH64 LibreOffice_project/bffef4ea93e59bebbeaf7f431bb02b1a39ee8a59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2026-08-28T18:15:39Z</dcterms:created>
  <dc:creator>PptxGenJS</dc:creator>
  <dc:description/>
  <dc:language>en-US</dc:language>
  <cp:lastModifiedBy/>
  <dcterms:modified xsi:type="dcterms:W3CDTF">2026-09-06T10:10:29Z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44</vt:i4>
  </property>
  <property fmtid="{D5CDD505-2E9C-101B-9397-08002B2CF9AE}" pid="3" name="PresentationFormat">
    <vt:lpwstr>On-screen Show (16:9)</vt:lpwstr>
  </property>
  <property fmtid="{D5CDD505-2E9C-101B-9397-08002B2CF9AE}" pid="4" name="Slides">
    <vt:i4>44</vt:i4>
  </property>
</Properties>
</file>