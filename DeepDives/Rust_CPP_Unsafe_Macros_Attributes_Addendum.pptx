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Opening slide.
[Sources]
- Rust std keyword unsafe: https://doc.rust-lang.org/stable/std/keyword.unsafe.html
- The Rust Programming Language, Unsafe Rust: https://doc.rust-lang.org/book/ch20-01-unsafe-rust.html
- The Rust Programming Language, Macros: https://doc.rust-lang.org/book/ch20-05-macros.html
- The Rust Reference, Attributes: https://doc.rust-lang.org/reference/attributes.html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C++ Core Guidelines: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Unsafe Rust: https://doc.rust-lang.org/book/ch20-01-unsafe-rust.html
- Rust std keyword unsafe: https://doc.rust-lang.org/stable/std/keyword.unsafe.html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Unsafe Rust: https://doc.rust-lang.org/book/ch20-01-unsafe-rust.html
- Rust std keyword unsafe: https://doc.rust-lang.org/stable/std/keyword.unsafe.html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Unsafe Rust: https://doc.rust-lang.org/book/ch20-01-unsafe-rust.html
- Rust std keyword unsafe: https://doc.rust-lang.org/stable/std/keyword.unsafe.html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Attributes: https://doc.rust-lang.org/reference/attributes.html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Unsafe Rust: https://doc.rust-lang.org/book/ch20-01-unsafe-rust.html
- Rust std keyword unsafe: https://doc.rust-lang.org/stable/std/keyword.unsafe.html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C++ Core Guidelines: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C++ Core Guidelines: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Unsafe Rust: https://doc.rust-lang.org/book/ch20-01-unsafe-rust.html
- C++ Core Guidelines: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C++ Core Guidelines: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Macros: https://doc.rust-lang.org/book/ch20-05-macros.html
- The Rust Reference, Macros: https://doc.rust-lang.org/stable/reference/macros.html
- The Rust Reference, Attributes: https://doc.rust-lang.org/reference/attributes.html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Macros: https://doc.rust-lang.org/book/ch20-05-macros.html
- The Rust Reference, Macros by Example: https://doc.rust-lang.org/stable/reference/macros-by-example.html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Macros by Example: https://doc.rust-lang.org/stable/reference/macros-by-example.html
- The Rust Programming Language, Macros: https://doc.rust-lang.org/book/ch20-05-macros.html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Macros by Example: https://doc.rust-lang.org/stable/reference/macros-by-example.html
- The Rust Programming Language, Macros: https://doc.rust-lang.org/book/ch20-05-macros.html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Procedural Macros: https://doc.rust-lang.org/reference/procedural-macros.html
- The Rust Programming Language, Macros: https://doc.rust-lang.org/book/ch20-05-macros.html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Macros: https://doc.rust-lang.org/book/ch20-05-macros.html
- The Rust Reference, Procedural Macros: https://doc.rust-lang.org/reference/procedural-macros.html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Procedural Macros: https://doc.rust-lang.org/reference/procedural-macros.html
- The Rust Programming Language, Macros: https://doc.rust-lang.org/book/ch20-05-macros.html
- The Rust Reference, Attributes: https://doc.rust-lang.org/reference/attributes.html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Attributes: https://doc.rust-lang.org/reference/attributes.html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Reference, Attributes: https://doc.rust-lang.org/reference/attributes.html
- The Rust Programming Language, Unsafe Rust: https://doc.rust-lang.org/book/ch20-01-unsafe-rust.html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Macros: https://doc.rust-lang.org/book/ch20-05-macros.html
- The Rust Reference, Attributes: https://doc.rust-lang.org/reference/attributes.html
- cppreference, C++ attributes: https://en.cppreference.com/w/cpp/language/attributes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The Rust Programming Language, Macros: https://doc.rust-lang.org/book/ch20-05-macros.html
- The Rust Reference, Macros: https://doc.rust-lang.org/stable/reference/macros.html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/ Macros / Attributes addendum. 
[Sources]
- Rust std keyword unsafe: https://doc.rust-lang.org/stable/std/keyword.unsafe.html
- The Rust Programming Language, Macros: https://doc.rust-lang.org/book/ch20-05-macros.html
- The Rust Reference, Attributes: https://doc.rust-lang.org/reference/attributes.html
- C++ Core Guidelines: https://isocpp.github.io/CppCoreGuidelines/CppCoreGuidelines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50800">
            <a:solidFill>
              <a:srgbClr val="FF7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8368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Unsafe, Macros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Attributes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21792" y="2039112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10652760" cy="105156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compiler hands the proof obligation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 to the systems programmer.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5394960"/>
            <a:ext cx="1051560" cy="292608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2148840" y="5394960"/>
            <a:ext cx="777240" cy="292608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FFI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154680" y="5394960"/>
            <a:ext cx="1417320" cy="292608"/>
          </a:xfrm>
          <a:prstGeom prst="rect">
            <a:avLst/>
          </a:prstGeom>
          <a:solidFill>
            <a:srgbClr val="19C58F"/>
          </a:solidFill>
          <a:ln>
            <a:solidFill>
              <a:srgbClr val="19C58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pointers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800600" y="5394960"/>
            <a:ext cx="1005840" cy="2926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035040" y="5394960"/>
            <a:ext cx="1188720" cy="292608"/>
          </a:xfrm>
          <a:prstGeom prst="rect">
            <a:avLst/>
          </a:prstGeom>
          <a:solidFill>
            <a:srgbClr val="FF3D71"/>
          </a:solidFill>
          <a:ln>
            <a:solidFill>
              <a:srgbClr val="FF3D7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7452360" y="5394960"/>
            <a:ext cx="1828800" cy="29260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metaprogramming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unsafe belongs at the end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earlier modules build the proof language; unsafe asks what happens when proof is manual.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1417320" cy="82296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exists?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68880" y="1234440"/>
            <a:ext cx="1600200" cy="82296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Pointers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reach it?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370832" y="1234440"/>
            <a:ext cx="1691640" cy="82296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responsible?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55080" y="1234440"/>
            <a:ext cx="1691640" cy="822960"/>
          </a:xfrm>
          <a:prstGeom prst="rect">
            <a:avLst/>
          </a:prstGeom>
          <a:solidFill>
            <a:srgbClr val="0A1624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Borrowing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can access it?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348472" y="1234440"/>
            <a:ext cx="1737360" cy="82296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3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Invariants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states may exist?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378440" y="1234440"/>
            <a:ext cx="1143000" cy="822960"/>
          </a:xfrm>
          <a:prstGeom prst="rect">
            <a:avLst/>
          </a:prstGeom>
          <a:solidFill>
            <a:srgbClr val="0A1624"/>
          </a:solidFill>
          <a:ln w="12700">
            <a:solidFill>
              <a:srgbClr val="FF4D4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4D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proof is now manual?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40280" y="1645920"/>
            <a:ext cx="201168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0" y="1645920"/>
            <a:ext cx="201168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08192" y="1645920"/>
            <a:ext cx="201168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01584" y="1645920"/>
            <a:ext cx="201168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104120" y="1645920"/>
            <a:ext cx="201168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97280" y="3017520"/>
            <a:ext cx="9966960" cy="914400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is not an escape from Rust.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where Rust demands a written contract.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C++ developers: this is where Rust makes explicit the mental checklist you already use.</a:t>
            </a:r>
            <a:endParaRPr lang="en-US" sz="10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central misunderstanding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does not mean “trust me, anything goes.” It means “I will uphold these invariants manually.”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4D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4343400" cy="228600"/>
          </a:xfrm>
          <a:prstGeom prst="rect">
            <a:avLst/>
          </a:prstGeom>
          <a:solidFill>
            <a:srgbClr val="FF4D4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beginners hear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4343400" cy="1536192"/>
          </a:xfrm>
          <a:prstGeom prst="rect">
            <a:avLst/>
          </a:prstGeom>
          <a:solidFill>
            <a:srgbClr val="071827"/>
          </a:solidFill>
          <a:ln w="10160">
            <a:solidFill>
              <a:srgbClr val="FF4D4D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compiler stops caring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undefined behavior is my problem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143000"/>
            <a:ext cx="434340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Rust actually means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00800" y="1435608"/>
            <a:ext cx="4343400" cy="153619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I assert the preconditions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of these operations are 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794760"/>
            <a:ext cx="10378440" cy="841248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is a marker for proof obligations,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 magic zone where Rust semantics disappear.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874520" y="4919472"/>
            <a:ext cx="845820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teaching point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1874520" y="5230368"/>
            <a:ext cx="8458200" cy="557784"/>
          </a:xfrm>
          <a:prstGeom prst="rect">
            <a:avLst/>
          </a:prstGeom>
          <a:solidFill>
            <a:srgbClr val="0A1624"/>
          </a:solidFill>
          <a:ln w="10160">
            <a:solidFill>
              <a:srgbClr val="00B7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C++ often has the same obligations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Rust isolates and labels them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safe APIs can hide a carefully audited unsafe core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Rust still surrounds unsafe Rust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normal architecture is a safe API with a small unsafe implementation detail.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143000"/>
            <a:ext cx="10360152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892040"/>
            <a:ext cx="2651760" cy="658368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Callers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ordinary safe functions and types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709160" y="4892040"/>
            <a:ext cx="2926080" cy="658368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author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audits the internal invariants once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549640" y="4892040"/>
            <a:ext cx="2468880" cy="658368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
</a:t>
            </a:r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enforce the safe surface again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five extra powers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Rust adds exactly the abilities whose safety cannot be fully verified by the type system.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87452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
dereference
</a:t>
            </a:r>
            <a:pPr indent="0" marL="0">
              <a:buNone/>
            </a:pPr>
            <a:r>
              <a:rPr lang="en-US" sz="11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*p reads/writes memory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2971800" y="1371600"/>
            <a:ext cx="187452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fn
call
</a:t>
            </a:r>
            <a:pPr indent="0" marL="0">
              <a:buNone/>
            </a:pPr>
            <a:r>
              <a:rPr lang="en-US" sz="11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caller must satisfy contract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5212080" y="1371600"/>
            <a:ext cx="187452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trait
impl
</a:t>
            </a:r>
            <a:pPr indent="0" marL="0">
              <a:buNone/>
            </a:pPr>
            <a:r>
              <a:rPr lang="en-US" sz="11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promises hidden invariant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7452360" y="1371600"/>
            <a:ext cx="187452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3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mutable static
access
</a:t>
            </a:r>
            <a:pPr indent="0" marL="0">
              <a:buNone/>
            </a:pPr>
            <a:r>
              <a:rPr lang="en-US" sz="11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state can race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692640" y="1371600"/>
            <a:ext cx="1874520" cy="201168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union field
access
</a:t>
            </a:r>
            <a:pPr indent="0" marL="0">
              <a:buNone/>
            </a:pPr>
            <a:r>
              <a:rPr lang="en-US" sz="11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field is valid?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1280160" y="4343400"/>
            <a:ext cx="9555480" cy="73152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Everything else is still ordinary Rust.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narrowness is the story: isolate the impossible-to-prove operations and audit them.</a:t>
            </a:r>
            <a:endParaRPr lang="en-US" sz="10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has two different meanings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declares a contract. The other asserts that the contract has been checked.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4343400" cy="141732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fn / unsafe trait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exists a safety contract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cannot check.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03720" y="1280160"/>
            <a:ext cx="4343400" cy="141732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{ } / unsafe impl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have checked the contract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specific use.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49240" y="1984248"/>
            <a:ext cx="1435608" cy="0"/>
          </a:xfrm>
          <a:prstGeom prst="line">
            <a:avLst/>
          </a:prstGeom>
          <a:noFill/>
          <a:ln w="1651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914400" y="3429000"/>
            <a:ext cx="498348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declaration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914400" y="3721608"/>
            <a:ext cx="4983480" cy="112471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fn set_len_unchecked(v: &amp;mut Vec&lt;u8&gt;, n: usize)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caller must guarantee n &lt;= capacity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0" y="3429000"/>
            <a:ext cx="480060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assertion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400800" y="3721608"/>
            <a:ext cx="4800600" cy="11247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ptr.write(value);  // I checked valid + aligned + unique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2024 makes this distinction sharper: unsafe operations inside unsafe fn still need unsafe blocks by default.</a:t>
            </a:r>
            <a:endParaRPr lang="en-US" sz="10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block: the local proof obligation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smallest useful unsafe block says exactly where the programmer must reason like C/C++.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078992"/>
            <a:ext cx="425196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 dereference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22960" y="1371600"/>
            <a:ext cx="4251960" cy="345643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mut x = 10;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p: *mut i32 = &amp;raw mut x;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*p += 1;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assert_eq!(x, 11);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1078992"/>
            <a:ext cx="544068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programmer must know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623560" y="1389888"/>
            <a:ext cx="5440680" cy="343814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 is non-null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 is properly aligned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 points to initialized i32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 is valid for this access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mutation does not violate aliasing rules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unsafe block is a signpost for reviewers: start your reasoning here.</a:t>
            </a:r>
            <a:endParaRPr lang="en-US" sz="10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fn: a contract for the caller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unsafe function is not bad. It is a function whose preconditions cannot be encoded completely.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516636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must be documented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44168"/>
            <a:ext cx="5166360" cy="313639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/// # Safety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/// Caller must ensure: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/// - ptr is valid for writes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/// - ptr is properly aligned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/// - ptr points to initialized storage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fn write_one(ptr: *mut i32) {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unsafe { ptr.write(1); }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6400800" y="1051560"/>
            <a:ext cx="4800600" cy="141732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analogue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function taking raw pointers often has invisible preconditions: ownership, bounds, nullability, alignment, lifetime, concurrency.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3063240"/>
            <a:ext cx="4800600" cy="141732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improvement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signature marks the call site: the caller must consciously accept the proof obligation.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# Safety section is part of the API, not optional prose.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Raw pointers: Rust admits C-like addresses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pointers are allowed to be null, dangling, aliased, and mutable in ways references are not.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2323490" cy="566928"/>
          </a:xfrm>
          <a:prstGeom prst="rect">
            <a:avLst/>
          </a:prstGeom>
          <a:solidFill>
            <a:srgbClr val="00B7E8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146450" y="1188720"/>
            <a:ext cx="2112264" cy="566928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be null?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58714" y="1188720"/>
            <a:ext cx="3168396" cy="566928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Borrow rules?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427110" y="1188720"/>
            <a:ext cx="2957170" cy="566928"/>
          </a:xfrm>
          <a:prstGeom prst="rect">
            <a:avLst/>
          </a:prstGeom>
          <a:solidFill>
            <a:srgbClr val="FF3D71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Dereference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22960" y="1755648"/>
            <a:ext cx="2323490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&amp;T / &amp;mut 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146450" y="1755648"/>
            <a:ext cx="2112264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58714" y="1755648"/>
            <a:ext cx="3168396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27110" y="1755648"/>
            <a:ext cx="2957170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" y="2322576"/>
            <a:ext cx="2323490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Box&lt;T&gt;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146450" y="2322576"/>
            <a:ext cx="2112264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58714" y="2322576"/>
            <a:ext cx="3168396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enforced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427110" y="2322576"/>
            <a:ext cx="2957170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" y="2889504"/>
            <a:ext cx="2323490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*const 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146450" y="2889504"/>
            <a:ext cx="2112264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8714" y="2889504"/>
            <a:ext cx="3168396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enforced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27110" y="2889504"/>
            <a:ext cx="2957170" cy="566928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" y="3456432"/>
            <a:ext cx="2323490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*mut 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46450" y="3456432"/>
            <a:ext cx="2112264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58714" y="3456432"/>
            <a:ext cx="3168396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enforced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27110" y="3456432"/>
            <a:ext cx="2957170" cy="566928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4709160"/>
            <a:ext cx="9738360" cy="713232"/>
          </a:xfrm>
          <a:prstGeom prst="rect">
            <a:avLst/>
          </a:prstGeom>
          <a:solidFill>
            <a:srgbClr val="08111C"/>
          </a:solidFill>
          <a:ln w="15240">
            <a:solidFill>
              <a:srgbClr val="00B7E8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raw pointer is an address with fewer promises.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00B7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why raw pointers are mostly a boundary tool: FFI, allocators, intrusive data structures, hardware.</a:t>
            </a:r>
            <a:endParaRPr lang="en-US" sz="10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versus raw pointer: what proof moves where?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reference encodes promises the compiler can use. A raw pointer pushes them back to the programmer.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507492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5074920" cy="18105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fn f(x: &amp;mut i32)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*x += 1;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compiler tracks exclusive borrow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6355080" y="1097280"/>
            <a:ext cx="507492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pointer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55080" y="1389888"/>
            <a:ext cx="5074920" cy="181051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fn f(p: *mut i32)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unsafe { *p += 1;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caller and implementation must prove validity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188720" y="3886200"/>
            <a:ext cx="982980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lost information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188720" y="4197096"/>
            <a:ext cx="9829800" cy="832104"/>
          </a:xfrm>
          <a:prstGeom prst="rect">
            <a:avLst/>
          </a:prstGeom>
          <a:solidFill>
            <a:srgbClr val="0A1624"/>
          </a:solidFill>
          <a:ln w="10160">
            <a:solidFill>
              <a:srgbClr val="FF3D7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not null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aligned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initialized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valid for lifetime of access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exclusive if mutating</a:t>
            </a:r>
            <a:endParaRPr lang="en-US" sz="10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FFI: where Rust deliberately stops knowing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compiler cannot prove what a C function, OS API, device, or foreign allocator guarantees.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507492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calling C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5074920" cy="203911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extern "C"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strlen(s: *const c_char) -&gt; usize;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n = unsafe { strlen(c_string.as_ptr()) };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355080" y="1097280"/>
            <a:ext cx="507492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Boundary questions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355080" y="1408176"/>
            <a:ext cx="5074920" cy="2020824"/>
          </a:xfrm>
          <a:prstGeom prst="rect">
            <a:avLst/>
          </a:prstGeom>
          <a:solidFill>
            <a:srgbClr val="0A1624"/>
          </a:solidFill>
          <a:ln w="10160">
            <a:solidFill>
              <a:srgbClr val="00B7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ABI?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owns the memory?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string NUL-terminated?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May the foreign code retain the pointer?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thread may call it?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1143000" y="4160520"/>
            <a:ext cx="9921240" cy="73152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FFI is not merely syntax. It is a contract between type systems.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takeaway: every cross-module boundary should make ownership, lifetime and layout explicit.</a:t>
            </a:r>
            <a:endParaRPr lang="en-US" sz="10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Layout: repr(C) and the shape of memory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normally chooses layouts for Rust. FFI sometimes requires C layout promises.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4389120" cy="22860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data for C boundary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4389120" cy="2953512"/>
          </a:xfrm>
          <a:prstGeom prst="rect">
            <a:avLst/>
          </a:prstGeom>
          <a:solidFill>
            <a:srgbClr val="071827"/>
          </a:solidFill>
          <a:ln w="10160">
            <a:solidFill>
              <a:srgbClr val="7C3AED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#[repr(C)]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Point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x: f64,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y: f64,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extern "C"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fn draw_point(p: Point);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623560" y="1097280"/>
            <a:ext cx="5394960" cy="13258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and Rust must agree on field order, alignment, size and ABI calling convention. Without a layout promise, “same fields” is not enough.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23560" y="2971800"/>
            <a:ext cx="5394960" cy="105156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lesson
</a:t>
            </a:r>
            <a:pPr indent="0" marL="0">
              <a:buNone/>
            </a:pPr>
            <a:r>
              <a:rPr lang="en-US" sz="13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source-level similarity with binary compatibility. Layout is a contract.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can be part of the safety contract; they are not decorative metadata.</a:t>
            </a:r>
            <a:endParaRPr lang="en-US" sz="10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Mutable static: global state breaks local reasoning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global mutable variable is shared mutable state without ownership in the ordinary sense.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3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429768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mutation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4297680" cy="2039112"/>
          </a:xfrm>
          <a:prstGeom prst="rect">
            <a:avLst/>
          </a:prstGeom>
          <a:solidFill>
            <a:srgbClr val="071827"/>
          </a:solidFill>
          <a:ln w="10160">
            <a:solidFill>
              <a:srgbClr val="FF3D71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static mut COUNTER: u32 = 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fn bump()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unsafe { COUNTER += 1;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15000" y="1143000"/>
            <a:ext cx="534924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unsafe?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5715000" y="1453896"/>
            <a:ext cx="5349240" cy="202082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any thread may reach it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mutation may race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borrow reasoning is not enough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synchronization discipline is external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1097280" y="4251960"/>
            <a:ext cx="10012680" cy="777240"/>
          </a:xfrm>
          <a:prstGeom prst="rect">
            <a:avLst/>
          </a:prstGeom>
          <a:solidFill>
            <a:srgbClr val="08111C"/>
          </a:solidFill>
          <a:ln w="15240">
            <a:solidFill>
              <a:srgbClr val="FF3D71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mutable state is a concurrency problem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 before you start a thread.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3D7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atomics, Mutex, OnceLock, thread-local storage, or passing state explicitly.</a:t>
            </a:r>
            <a:endParaRPr lang="en-US" sz="10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trait / unsafe impl: promises about a type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guarantees are not local to one function call. They are properties of an implementation.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452628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Marker promises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4526280" cy="194767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MyHandle(*mut c_void);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impl Send for MyHandle {}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impl Sync for MyHandle {}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5806440" y="1097280"/>
            <a:ext cx="525780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are saying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handle may be transferred or shared across threads without violating the hidden rules of the foreign resource.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06440" y="2788920"/>
            <a:ext cx="525780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questions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5806440" y="3099816"/>
            <a:ext cx="5257800" cy="1106424"/>
          </a:xfrm>
          <a:prstGeom prst="rect">
            <a:avLst/>
          </a:prstGeom>
          <a:solidFill>
            <a:srgbClr val="0A1624"/>
          </a:solidFill>
          <a:ln w="10160">
            <a:solidFill>
              <a:srgbClr val="00B7E8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the underlying resource thread-safe?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closes the handle?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Can callbacks happen concurrently?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does the foreign library guarantee?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impl is one of the loudest “prove it” signs in Rust.</a:t>
            </a:r>
            <a:endParaRPr lang="en-US" sz="10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does not turn off the rest of the compiler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Types, moves, lifetimes, privacy and pattern matching still exist around unsafe operations.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507492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ordinary Rust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5074920" cy="286207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s = String::from("data");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let p = s.as_ptr();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drop(s);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unsafe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*p is now a manual proof problem,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but ownership/drop still happened.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355080" y="1097280"/>
            <a:ext cx="4937760" cy="160020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distinction
</a:t>
            </a:r>
            <a:pPr indent="0" marL="0">
              <a:buNone/>
            </a:pPr>
            <a:r>
              <a:rPr lang="en-US" sz="13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lets you perform specific unchecked operations. It does not change the meaning of ownership, destruction, or type checking elsewhere.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55080" y="3246120"/>
            <a:ext cx="4937760" cy="114300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line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is not “C mode.” It is Rust with selected obligations moved from compiler to programmer.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00B7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helps C++ developers see exactly which guarantees their own code relies on implicitly.</a:t>
            </a:r>
            <a:endParaRPr lang="en-US" sz="10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best unsafe code is hidden behind a safe abstraction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caller should not repeatedly prove the same low-level facts.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05840"/>
            <a:ext cx="521208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298448"/>
            <a:ext cx="5212080" cy="327355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struct Buffer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ptr: NonNull&lt;u8&gt;,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len: usize,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cap: usize,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impl Buffer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pub fn push(&amp;mut self, b: u8) 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// safe surface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unsafe { self.push_unchecked(b)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6400800" y="1143000"/>
            <a:ext cx="4526280" cy="59436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225296"/>
            <a:ext cx="425196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Define representation invariant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0" y="1773936"/>
            <a:ext cx="4160520" cy="594360"/>
          </a:xfrm>
          <a:prstGeom prst="rect">
            <a:avLst/>
          </a:prstGeom>
          <a:solidFill>
            <a:srgbClr val="0E1B2B"/>
          </a:solidFill>
          <a:ln w="12700">
            <a:solidFill>
              <a:srgbClr val="00B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856232"/>
            <a:ext cx="388620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Keep fields private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2404872"/>
            <a:ext cx="3794760" cy="59436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487168"/>
            <a:ext cx="352044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Check preconditions once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98080" y="3035808"/>
            <a:ext cx="3429000" cy="594360"/>
          </a:xfrm>
          <a:prstGeom prst="rect">
            <a:avLst/>
          </a:prstGeom>
          <a:solidFill>
            <a:srgbClr val="0E1B2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3118104"/>
            <a:ext cx="315468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Use small unsafe blocks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863840" y="3666744"/>
            <a:ext cx="3063240" cy="59436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01000" y="3749040"/>
            <a:ext cx="2788920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Expose safe operations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same spirit as good C++: centralize ownership and lifetime discipline in RAII types.</a:t>
            </a:r>
            <a:endParaRPr lang="en-US" sz="10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audit checklist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you see unsafe, ask the low-level questions explicitly.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2393899" cy="633549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79699" y="1097280"/>
            <a:ext cx="4134917" cy="633549"/>
          </a:xfrm>
          <a:prstGeom prst="rect">
            <a:avLst/>
          </a:prstGeom>
          <a:solidFill>
            <a:srgbClr val="FF3D71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go wrong?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14616" y="1097280"/>
            <a:ext cx="4352544" cy="633549"/>
          </a:xfrm>
          <a:prstGeom prst="rect">
            <a:avLst/>
          </a:prstGeom>
          <a:solidFill>
            <a:srgbClr val="00B7E8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mental model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730829"/>
            <a:ext cx="2393899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Valid?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79699" y="1730829"/>
            <a:ext cx="4134917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dangling or out-of-allocation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14616" y="1730829"/>
            <a:ext cx="4352544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lifetime / ownership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364377"/>
            <a:ext cx="2393899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Aligned?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79699" y="2364377"/>
            <a:ext cx="4134917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or UB violation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14616" y="2364377"/>
            <a:ext cx="4352544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representation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997926"/>
            <a:ext cx="2393899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Initialized?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79699" y="2997926"/>
            <a:ext cx="4134917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uninitialized bytes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14616" y="2997926"/>
            <a:ext cx="4352544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 state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631474"/>
            <a:ext cx="2393899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type?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79699" y="3631474"/>
            <a:ext cx="4134917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punning / aliasing issue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14616" y="3631474"/>
            <a:ext cx="4352544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aliasing / layout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4265023"/>
            <a:ext cx="2393899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Exclusive?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79699" y="4265023"/>
            <a:ext cx="4134917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writers or writer+reader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14616" y="4265023"/>
            <a:ext cx="4352544" cy="633549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race / invalid alias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4898571"/>
            <a:ext cx="2393899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Synchronized?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79699" y="4898571"/>
            <a:ext cx="4134917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concurrent mutation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214616" y="4898571"/>
            <a:ext cx="4352544" cy="633549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mutex / atomic protocol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discipline is familiar to C++ experts. Rust just makes the audit boundary visible.</a:t>
            </a:r>
            <a:endParaRPr lang="en-US" sz="10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Tooling: proof, then testing, then hostile testing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code deserves extra mechanical help because the compiler cannot prove enough by itself.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68680" y="1143000"/>
            <a:ext cx="233172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and privacy
</a:t>
            </a:r>
            <a:pPr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 invalid construction through safe APIs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20440" y="1143000"/>
            <a:ext cx="233172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+ property tests
</a:t>
            </a:r>
            <a:pPr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 invariants across many states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2200" y="1143000"/>
            <a:ext cx="233172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Miri / sanitizers
</a:t>
            </a:r>
            <a:pPr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 classes of UB and memory misuse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23960" y="1143000"/>
            <a:ext cx="233172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FF3D7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3D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review
</a:t>
            </a:r>
            <a:pPr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checks the safety contract and invariants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46120" y="1755648"/>
            <a:ext cx="22860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97880" y="1755648"/>
            <a:ext cx="22860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49640" y="1755648"/>
            <a:ext cx="22860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097280" y="3429000"/>
            <a:ext cx="10012680" cy="914400"/>
          </a:xfrm>
          <a:prstGeom prst="rect">
            <a:avLst/>
          </a:prstGeom>
          <a:solidFill>
            <a:srgbClr val="08111C"/>
          </a:solidFill>
          <a:ln w="15240">
            <a:solidFill>
              <a:srgbClr val="7C3AED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does not replace invariants.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tries to falsify your claim that the invariants hold.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C++: sanitizers and static analysis are not “optional extras” for low-level code.</a:t>
            </a:r>
            <a:endParaRPr lang="en-US" sz="10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lesson: where is your unsafe boundary?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gives the boundary a keyword. C++ often leaves it as architecture, convention or review discipline.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489204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low-level surface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44168"/>
            <a:ext cx="4892040" cy="277063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void process(char* p, size_t n);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Is p null?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Does it point to n bytes?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Who owns it?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Can another thread mutate it?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// Is it valid after process returns?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172200" y="1051560"/>
            <a:ext cx="507492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boundary explicit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172200" y="1362456"/>
            <a:ext cx="5074920" cy="275234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 raw pointer APIs with span / owner types where possible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ownership transfer in the type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remaining preconditions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centralize tricky code in small RAII types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1097280" y="4800600"/>
            <a:ext cx="10012680" cy="713232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absence of an unsafe keyword does not mean the absence of unsafe reasoning.</a:t>
            </a:r>
            <a:endParaRPr lang="en-US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summary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whole Rust story still applies; unsafe just changes who proves part of it.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320040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Rust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proves the ordinary ownership, borrowing and aliasing rules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80560" y="1143000"/>
            <a:ext cx="320040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Rust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programmer proves the missing low-level facts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38160" y="1143000"/>
            <a:ext cx="3200400" cy="123444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API design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remain in safe Rust whenever possible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solidFill>
            <a:srgbClr val="08111C"/>
          </a:solidFill>
          <a:ln w="15240">
            <a:solidFill>
              <a:srgbClr val="FF7A1A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is where Rust stops being your proof assistant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starts being your audit log.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macros and attributes — compile-time machinery that looks familiar, but is not the C preprocessor.</a:t>
            </a:r>
            <a:endParaRPr lang="en-US" sz="10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508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772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Macros &amp; Attributes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21792" y="1481328"/>
            <a:ext cx="5669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they feel different from C++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880360"/>
            <a:ext cx="10149840" cy="960120"/>
          </a:xfrm>
          <a:prstGeom prst="rect">
            <a:avLst/>
          </a:prstGeom>
          <a:solidFill>
            <a:srgbClr val="08111C"/>
          </a:solidFill>
          <a:ln w="15240">
            <a:solidFill>
              <a:srgbClr val="7C3AED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 macros rewrite text.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 macros expand syntax.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303520"/>
            <a:ext cx="1417320" cy="29260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macro_rules!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2606040" y="5303520"/>
            <a:ext cx="914400" cy="292608"/>
          </a:xfrm>
          <a:prstGeom prst="rect">
            <a:avLst/>
          </a:prstGeom>
          <a:solidFill>
            <a:srgbClr val="19C58F"/>
          </a:solidFill>
          <a:ln>
            <a:solidFill>
              <a:srgbClr val="19C58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794760" y="5303520"/>
            <a:ext cx="1554480" cy="292608"/>
          </a:xfrm>
          <a:prstGeom prst="rect">
            <a:avLst/>
          </a:prstGeom>
          <a:solidFill>
            <a:srgbClr val="FF7A1A"/>
          </a:solidFill>
          <a:ln>
            <a:solidFill>
              <a:srgbClr val="FF7A1A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 macros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5623560" y="5303520"/>
            <a:ext cx="914400" cy="292608"/>
          </a:xfrm>
          <a:prstGeom prst="rect">
            <a:avLst/>
          </a:prstGeom>
          <a:solidFill>
            <a:srgbClr val="00B7E8"/>
          </a:solidFill>
          <a:ln>
            <a:solidFill>
              <a:srgbClr val="00B7E8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#[cfg]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6812280" y="5303520"/>
            <a:ext cx="1188720" cy="292608"/>
          </a:xfrm>
          <a:prstGeom prst="rect">
            <a:avLst/>
          </a:prstGeom>
          <a:solidFill>
            <a:srgbClr val="FF3D71"/>
          </a:solidFill>
          <a:ln>
            <a:solidFill>
              <a:srgbClr val="FF3D7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#[repr(C)]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321040" y="5303520"/>
            <a:ext cx="1737360" cy="292608"/>
          </a:xfrm>
          <a:prstGeom prst="rect">
            <a:avLst/>
          </a:prstGeom>
          <a:solidFill>
            <a:srgbClr val="FFD166"/>
          </a:solidFill>
          <a:ln>
            <a:solidFill>
              <a:srgbClr val="FFD16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metadata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Rust macros are not C macros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important difference is the unit of manipulation: tokens and syntax, not blind source text.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2363724" cy="685800"/>
          </a:xfrm>
          <a:prstGeom prst="rect">
            <a:avLst/>
          </a:prstGeom>
          <a:solidFill>
            <a:srgbClr val="7C3AED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95244" y="1097280"/>
            <a:ext cx="4190238" cy="685800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/ C++ preprocessor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285482" y="1097280"/>
            <a:ext cx="4190238" cy="685800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macro system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1783080"/>
            <a:ext cx="2363724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input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95244" y="1783080"/>
            <a:ext cx="4190238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text/token stream before compiler proper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285482" y="1783080"/>
            <a:ext cx="4190238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trees / Rust syntax context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2363724" cy="68580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handling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95244" y="2468880"/>
            <a:ext cx="4190238" cy="68580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accidental capture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285482" y="2468880"/>
            <a:ext cx="4190238" cy="68580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hygiene rules reduce capture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2363724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95244" y="3154680"/>
            <a:ext cx="4190238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constants, conditional text, generated boilerplate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85482" y="3154680"/>
            <a:ext cx="4190238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DSLs, repetition, derive code, attributes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31520" y="3840480"/>
            <a:ext cx="2363724" cy="68580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awareness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95244" y="3840480"/>
            <a:ext cx="4190238" cy="68580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85482" y="3840480"/>
            <a:ext cx="4190238" cy="68580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expand before type checking; proc macros still operate on tokens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2363724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 risk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95244" y="4526280"/>
            <a:ext cx="4190238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obscure source semantics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285482" y="4526280"/>
            <a:ext cx="4190238" cy="68580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obscure source semantics too — but more structured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7C3AE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reflex: reach for functions and generics first; use macros when the syntax itself is the abstraction.</a:t>
            </a:r>
            <a:endParaRPr lang="en-US" sz="10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macro_rules!: declarative syntax expansion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by example match token patterns and transcribe new Rust syntax.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51560"/>
            <a:ext cx="539496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repetition macro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44168"/>
            <a:ext cx="5394960" cy="336499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macro_rules! say_many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($($name:expr),* $(,)?) =&gt; 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$( println!("hello {}", $name); )*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};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say_many!("Ada", "Bjarne", "Graydon");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6583680" y="1051560"/>
            <a:ext cx="466344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exists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583680" y="1362456"/>
            <a:ext cx="4663440" cy="334670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 number of arguments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syntactic repetition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domain-specific mini-languages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code that cannot be expressed as an ordinary function signature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00B7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teach macro_rules! as “clever string substitution.” Teach it as syntax pattern matching.</a:t>
            </a:r>
            <a:endParaRPr lang="en-US" sz="10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Hygiene: avoiding accidental capture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macros try to keep names from colliding accidentally, but macro hygiene is not magic invisibility.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4892040" cy="228600"/>
          </a:xfrm>
          <a:prstGeom prst="rect">
            <a:avLst/>
          </a:prstGeom>
          <a:solidFill>
            <a:srgbClr val="FF4D4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 macro fear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4892040" cy="1124712"/>
          </a:xfrm>
          <a:prstGeom prst="rect">
            <a:avLst/>
          </a:prstGeom>
          <a:solidFill>
            <a:srgbClr val="071827"/>
          </a:solidFill>
          <a:ln w="10160">
            <a:solidFill>
              <a:srgbClr val="FF4D4D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#define SQUARE(x) x * x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int y = SQUARE(a + b);   // a + b * a + b</a:t>
            </a:r>
            <a:endParaRPr lang="en-US" sz="91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489204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macro habit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77240" y="3355848"/>
            <a:ext cx="4892040" cy="112471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macro_rules! square {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($x:expr) =&gt; { ($x) * ($x) };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10" dirty="0"/>
          </a:p>
        </p:txBody>
      </p:sp>
      <p:sp>
        <p:nvSpPr>
          <p:cNvPr id="11" name="Text 9"/>
          <p:cNvSpPr/>
          <p:nvPr/>
        </p:nvSpPr>
        <p:spPr>
          <a:xfrm>
            <a:off x="6217920" y="1097280"/>
            <a:ext cx="4892040" cy="155448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Hygiene idea
</a:t>
            </a:r>
            <a:pPr indent="0" marL="0">
              <a:buNone/>
            </a:pPr>
            <a:r>
              <a:rPr lang="en-US" sz="11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 expansion should avoid surprising capture of local names. Rust has mixed-site hygiene for macro_rules!, with important details around labels, locals, and paths.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0" y="3246120"/>
            <a:ext cx="4892040" cy="109728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$crate
</a:t>
            </a:r>
            <a:pPr indent="0" marL="0">
              <a:buNone/>
            </a:pPr>
            <a:r>
              <a:rPr lang="en-US" sz="12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Exported macros can refer back to their defining crate reliably, but visibility rules still matter.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Hygiene reduces a classic C/C++ macro hazard, but macros still require restraint.</a:t>
            </a:r>
            <a:endParaRPr lang="en-US" sz="10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Procedural macros: code that writes code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 macros consume a TokenStream and produce a TokenStream at compile time.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0A1624"/>
          </a:solidFill>
          <a:ln w="12700">
            <a:solidFill>
              <a:srgbClr val="00B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417320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tokens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3703320" y="13258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A1624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13048" y="141732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 macro crate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6949440" y="132588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0A1624"/>
          </a:solidFill>
          <a:ln w="12700">
            <a:solidFill>
              <a:srgbClr val="19C5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9168" y="1417320"/>
            <a:ext cx="2203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tokens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9921240" y="1325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A1624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30968" y="1417320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checking later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2944368" y="1792224"/>
            <a:ext cx="713232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1792224"/>
            <a:ext cx="73152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1792224"/>
            <a:ext cx="457200" cy="0"/>
          </a:xfrm>
          <a:prstGeom prst="line">
            <a:avLst/>
          </a:prstGeom>
          <a:noFill/>
          <a:ln w="12700">
            <a:solidFill>
              <a:srgbClr val="26455F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05840" y="3154680"/>
            <a:ext cx="512064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of a proc macro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1005840" y="3447288"/>
            <a:ext cx="5120640" cy="153619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 proc_macro::TokenStream;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#[proc_macro]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fn my_macro(input: TokenStream) -&gt; TokenStream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parse tokens, emit tokens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75120" y="3154680"/>
            <a:ext cx="429768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flavors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75120" y="3465576"/>
            <a:ext cx="4297680" cy="151790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function-like: custom!(...)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derive: #[derive(MyTrait)]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attribute-like: #[route(...)] fn ...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derive macros: boilerplate as a contract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is a common Rust answer to repetitive trait implementations.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470916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4709160" cy="1399032"/>
          </a:xfrm>
          <a:prstGeom prst="rect">
            <a:avLst/>
          </a:prstGeom>
          <a:solidFill>
            <a:srgbClr val="071827"/>
          </a:solidFill>
          <a:ln w="10160">
            <a:solidFill>
              <a:srgbClr val="19C58F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#[derive(Debug, Clone, PartialEq, Eq)]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UserId(u64);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println!("{:?}", UserId(42));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4709160" cy="228600"/>
          </a:xfrm>
          <a:prstGeom prst="rect">
            <a:avLst/>
          </a:prstGeom>
          <a:solidFill>
            <a:srgbClr val="00B7E8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 derive idea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77240" y="3630168"/>
            <a:ext cx="4709160" cy="1124712"/>
          </a:xfrm>
          <a:prstGeom prst="rect">
            <a:avLst/>
          </a:prstGeom>
          <a:solidFill>
            <a:srgbClr val="071827"/>
          </a:solidFill>
          <a:ln w="10160">
            <a:solidFill>
              <a:srgbClr val="00B7E8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#[derive(Serialize, Deserialize)]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struct Order {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id: OrderId,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status: Status,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4983480" cy="13258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
</a:t>
            </a:r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traits often encode capabilities. A derive macro can generate the repetitive implementation while keeping the capability explicit in the source.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3063240"/>
            <a:ext cx="4983480" cy="1325880"/>
          </a:xfrm>
          <a:prstGeom prst="rect">
            <a:avLst/>
          </a:prstGeom>
          <a:solidFill>
            <a:srgbClr val="0A1624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comparison
</a:t>
            </a:r>
            <a:pPr indent="0" marL="0">
              <a:buNone/>
            </a:pPr>
            <a:r>
              <a:rPr lang="en-US" sz="12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and generated code can express similar intent, but Rust places the request at the type declaration with explicit trait names.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is not “less code by magic.” It is explicit participation in a trait-based contract.</a:t>
            </a:r>
            <a:endParaRPr lang="en-US" sz="10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Attribute-like macros: transform annotated items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look like metadata but can be compile-time code transformation.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3D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480060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style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4800600" cy="1261872"/>
          </a:xfrm>
          <a:prstGeom prst="rect">
            <a:avLst/>
          </a:prstGeom>
          <a:solidFill>
            <a:srgbClr val="071827"/>
          </a:solidFill>
          <a:ln w="10160">
            <a:solidFill>
              <a:srgbClr val="FF3D71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#[route(GET, "/users/:id")]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async fn get_user(id: UserId) -&gt; Response {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handler body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480060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shape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777240" y="3538728"/>
            <a:ext cx="4800600" cy="1444752"/>
          </a:xfrm>
          <a:prstGeom prst="rect">
            <a:avLst/>
          </a:prstGeom>
          <a:solidFill>
            <a:srgbClr val="071827"/>
          </a:solidFill>
          <a:ln w="10160">
            <a:solidFill>
              <a:srgbClr val="FF7A1A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#[proc_macro_attribute]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fn route(args: TokenStream,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    item: TokenStream) -&gt; TokenStream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transform the item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172200" y="1097280"/>
            <a:ext cx="498348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why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172200" y="1408176"/>
            <a:ext cx="4983480" cy="224942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embed a domain language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registration glue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preserve ordinary Rust function syntax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the important metadata visible at the declaration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3D7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can be passive metadata or active macros. Students must learn which is which.</a:t>
            </a:r>
            <a:endParaRPr lang="en-US" sz="101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Attributes: metadata that changes compilation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 attach information to items, crates, fields, variants, expressions and more.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00B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2383841" cy="627017"/>
          </a:xfrm>
          <a:prstGeom prst="rect">
            <a:avLst/>
          </a:prstGeom>
          <a:solidFill>
            <a:srgbClr val="00B7E8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69641" y="1051560"/>
            <a:ext cx="3792474" cy="627017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Kind of meaning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862115" y="1051560"/>
            <a:ext cx="4659325" cy="627017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C++ developers should care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678577"/>
            <a:ext cx="2383841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#[derive(...)]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69641" y="1678577"/>
            <a:ext cx="3792474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trait implementations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62115" y="1678577"/>
            <a:ext cx="4659325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 are declared at the type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305594"/>
            <a:ext cx="2383841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#[cfg(...)]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69641" y="2305594"/>
            <a:ext cx="3792474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compilation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62115" y="2305594"/>
            <a:ext cx="4659325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platform-specific code without textual #ifdef style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2932611"/>
            <a:ext cx="2383841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#[repr(C)]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69641" y="2932611"/>
            <a:ext cx="3792474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 / ABI promise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62115" y="2932611"/>
            <a:ext cx="4659325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interface becomes explicit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559629"/>
            <a:ext cx="2383841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#[test]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069641" y="3559629"/>
            <a:ext cx="3792474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harness metadata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62115" y="3559629"/>
            <a:ext cx="4659325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status is attached to the function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4186646"/>
            <a:ext cx="2383841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#[allow(...)]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069641" y="4186646"/>
            <a:ext cx="3792474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control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62115" y="4186646"/>
            <a:ext cx="4659325" cy="627017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 exceptions are localized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5800" y="4813663"/>
            <a:ext cx="2383841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#![no_std]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069641" y="4813663"/>
            <a:ext cx="3792474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crate-level environment choice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62115" y="4813663"/>
            <a:ext cx="4659325" cy="627017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/ kernel style development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00B7E8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syntax is small, but the semantics can be large: layout, codegen, diagnostics, tests, macros.</a:t>
            </a:r>
            <a:endParaRPr lang="en-US" sz="10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Unsafe attributes: even metadata can carry proof obligations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 attributes influence linking/layout/codegen in ways that can cause unsoundness if misused.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4D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5166360" cy="228600"/>
          </a:xfrm>
          <a:prstGeom prst="rect">
            <a:avLst/>
          </a:prstGeom>
          <a:solidFill>
            <a:srgbClr val="FF4D4D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2024-style safety marking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777240" y="1389888"/>
            <a:ext cx="5166360" cy="1810512"/>
          </a:xfrm>
          <a:prstGeom prst="rect">
            <a:avLst/>
          </a:prstGeom>
          <a:solidFill>
            <a:srgbClr val="071827"/>
          </a:solidFill>
          <a:ln w="10160">
            <a:solidFill>
              <a:srgbClr val="FF4D4D"/>
            </a:solidFill>
          </a:ln>
        </p:spPr>
        <p:txBody>
          <a:bodyPr wrap="square" lIns="1651" tIns="1651" rIns="1651" bIns="1651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#[unsafe(no_mangle)]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pub extern "C" fn call_from_c() {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// exported symbol name is now a global contract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E6F1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446520" y="1097280"/>
            <a:ext cx="4800600" cy="228600"/>
          </a:xfrm>
          <a:prstGeom prst="rect">
            <a:avLst/>
          </a:prstGeom>
          <a:solidFill>
            <a:srgbClr val="FF7A1A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unsafe?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6446520" y="1408176"/>
            <a:ext cx="4800600" cy="1792224"/>
          </a:xfrm>
          <a:prstGeom prst="rect">
            <a:avLst/>
          </a:prstGeom>
          <a:solidFill>
            <a:srgbClr val="0A1624"/>
          </a:solidFill>
          <a:ln w="10160">
            <a:solidFill>
              <a:srgbClr val="FF7A1A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symbol names can collide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link sections can violate platform rules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naked functions have ABI obligations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compiler cannot validate the whole external world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10012680" cy="777240"/>
          </a:xfrm>
          <a:prstGeom prst="rect">
            <a:avLst/>
          </a:prstGeom>
          <a:solidFill>
            <a:srgbClr val="08111C"/>
          </a:solidFill>
          <a:ln w="15240">
            <a:solidFill>
              <a:srgbClr val="FF4D4D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attribute may look like decoration,</a:t>
            </a:r>
            <a:endParaRPr lang="en-US" sz="1850" dirty="0"/>
          </a:p>
          <a:p>
            <a:pPr algn="ctr" indent="0" marL="0">
              <a:buNone/>
            </a:pPr>
            <a:r>
              <a:rPr lang="en-US" sz="185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but it can change the binary contract.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4D4D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same “proof obligation” concept again, now attached to metadata.</a:t>
            </a:r>
            <a:endParaRPr lang="en-US" sz="10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C++ comparison: macros, templates and attributes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surface resemblance is misleading. Rust splits concerns differently.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685800" y="1097280"/>
            <a:ext cx="2167128" cy="655320"/>
          </a:xfrm>
          <a:prstGeom prst="rect">
            <a:avLst/>
          </a:prstGeom>
          <a:solidFill>
            <a:srgbClr val="FF7A1A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52928" y="1097280"/>
            <a:ext cx="4334256" cy="655320"/>
          </a:xfrm>
          <a:prstGeom prst="rect">
            <a:avLst/>
          </a:prstGeom>
          <a:solidFill>
            <a:srgbClr val="00B7E8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C++ habit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87184" y="1097280"/>
            <a:ext cx="4334256" cy="655320"/>
          </a:xfrm>
          <a:prstGeom prst="rect">
            <a:avLst/>
          </a:prstGeom>
          <a:solidFill>
            <a:srgbClr val="19C58F"/>
          </a:solidFill>
          <a:ln>
            <a:solidFill>
              <a:srgbClr val="050B12">
                <a:alpha val="30000"/>
              </a:srgbClr>
            </a:solidFill>
          </a:ln>
        </p:spPr>
        <p:txBody>
          <a:bodyPr wrap="square" lIns="889" tIns="889" rIns="889" bIns="889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habit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85800" y="1752600"/>
            <a:ext cx="2167128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implementation by type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852928" y="1752600"/>
            <a:ext cx="4334256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/ CRTP / macros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187184" y="1752600"/>
            <a:ext cx="4334256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traits + derive macros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2407920"/>
            <a:ext cx="2167128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compile-time code generation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52928" y="2407920"/>
            <a:ext cx="4334256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templates / constexpr / external generator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87184" y="2407920"/>
            <a:ext cx="4334256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macro_rules! or proc macros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2167128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compilation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852928" y="3063240"/>
            <a:ext cx="4334256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#if / #ifdef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87184" y="3063240"/>
            <a:ext cx="4334256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#[cfg] on items or expressions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3718560"/>
            <a:ext cx="2167128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declaration metadata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52928" y="3718560"/>
            <a:ext cx="4334256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[[attributes]] / pragmas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187184" y="3718560"/>
            <a:ext cx="4334256" cy="655320"/>
          </a:xfrm>
          <a:prstGeom prst="rect">
            <a:avLst/>
          </a:prstGeom>
          <a:solidFill>
            <a:srgbClr val="0E1B2B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#[attributes]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4373880"/>
            <a:ext cx="2167128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 extension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52928" y="4373880"/>
            <a:ext cx="4334256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limited, usually macro/preprocessor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187184" y="4373880"/>
            <a:ext cx="4334256" cy="655320"/>
          </a:xfrm>
          <a:prstGeom prst="rect">
            <a:avLst/>
          </a:prstGeom>
          <a:solidFill>
            <a:srgbClr val="0A1624"/>
          </a:solidFill>
          <a:ln w="6350">
            <a:solidFill>
              <a:srgbClr val="123047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 macros operating on tokens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translate mechanically. Ask what contract or code-generation boundary you are expressing.</a:t>
            </a:r>
            <a:endParaRPr lang="en-US" sz="101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Heuristics: when to use macros and attributes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are powerful because they move work to compile time. That power should have a clear reason.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19C5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297180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19C58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9C5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functions when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ordinary values and ordinary types are enough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617720" y="1051560"/>
            <a:ext cx="297180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 generics when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abstraction is over types or traits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0" y="1051560"/>
            <a:ext cx="2971800" cy="91440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macros when
</a:t>
            </a:r>
            <a:pPr indent="0" marL="0">
              <a:buNone/>
            </a:pPr>
            <a:r>
              <a:rPr lang="en-US" sz="12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abstraction is over syntax itself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4937760" cy="228600"/>
          </a:xfrm>
          <a:prstGeom prst="rect">
            <a:avLst/>
          </a:prstGeom>
          <a:solidFill>
            <a:srgbClr val="19C58F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macro reasons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914400" y="3099816"/>
            <a:ext cx="4937760" cy="1335024"/>
          </a:xfrm>
          <a:prstGeom prst="rect">
            <a:avLst/>
          </a:prstGeom>
          <a:solidFill>
            <a:srgbClr val="0A1624"/>
          </a:solidFill>
          <a:ln w="10160">
            <a:solidFill>
              <a:srgbClr val="19C58F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variable syntax shape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domain-specific notation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derive repetitive trait impls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attach compile-time metadata to an item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2788920"/>
            <a:ext cx="4937760" cy="228600"/>
          </a:xfrm>
          <a:prstGeom prst="rect">
            <a:avLst/>
          </a:prstGeom>
          <a:solidFill>
            <a:srgbClr val="FF3D7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0B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macro smells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355080" y="3099816"/>
            <a:ext cx="4937760" cy="1335024"/>
          </a:xfrm>
          <a:prstGeom prst="rect">
            <a:avLst/>
          </a:prstGeom>
          <a:solidFill>
            <a:srgbClr val="0A1624"/>
          </a:solidFill>
          <a:ln w="10160">
            <a:solidFill>
              <a:srgbClr val="FF3D71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hiding control flow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hiding ownership transfer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making errors harder to read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using magic instead of a type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19C58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principle: once the why is clear, the pattern becomes reflex.</a:t>
            </a:r>
            <a:endParaRPr lang="en-US" sz="10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synthesis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and attributes are advanced because they move boundaries.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0"/>
          </a:xfrm>
          <a:prstGeom prst="line">
            <a:avLst/>
          </a:prstGeom>
          <a:noFill/>
          <a:ln w="38100">
            <a:solidFill>
              <a:srgbClr val="FF7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57453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for C++ developers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8961120" y="65745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dirty="0">
                <a:solidFill>
                  <a:srgbClr val="8FA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Unsafe, macros &amp; attributes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3017520" cy="1325880"/>
          </a:xfrm>
          <a:prstGeom prst="rect">
            <a:avLst/>
          </a:prstGeom>
          <a:solidFill>
            <a:srgbClr val="0A1624"/>
          </a:solidFill>
          <a:ln w="12700">
            <a:solidFill>
              <a:srgbClr val="FF7A1A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proof obligations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compiler to programmer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234440"/>
            <a:ext cx="3017520" cy="1325880"/>
          </a:xfrm>
          <a:prstGeom prst="rect">
            <a:avLst/>
          </a:prstGeom>
          <a:solidFill>
            <a:srgbClr val="0A1624"/>
          </a:solidFill>
          <a:ln w="12700">
            <a:solidFill>
              <a:srgbClr val="7C3AED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macros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repetitive or syntactic work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compile-time expansion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0" y="1234440"/>
            <a:ext cx="3017520" cy="1325880"/>
          </a:xfrm>
          <a:prstGeom prst="rect">
            <a:avLst/>
          </a:prstGeom>
          <a:solidFill>
            <a:srgbClr val="0A1624"/>
          </a:solidFill>
          <a:ln w="12700">
            <a:solidFill>
              <a:srgbClr val="00B7E8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7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attributes
</a:t>
            </a:r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metadata and policy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 the declaration itself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10332720" cy="1051560"/>
          </a:xfrm>
          <a:prstGeom prst="rect">
            <a:avLst/>
          </a:prstGeom>
          <a:solidFill>
            <a:srgbClr val="08111C"/>
          </a:solidFill>
          <a:ln w="15240">
            <a:solidFill>
              <a:srgbClr val="19C58F"/>
            </a:solidFill>
          </a:ln>
        </p:spPr>
        <p:txBody>
          <a:bodyPr wrap="square" lIns="1524" tIns="1524" rIns="1524" bIns="1524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deeper Rust lesson is not syntax.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6F1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knowing exactly where each obligation lives.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77240" y="5971032"/>
            <a:ext cx="10652760" cy="384048"/>
          </a:xfrm>
          <a:prstGeom prst="rect">
            <a:avLst/>
          </a:prstGeom>
          <a:solidFill>
            <a:srgbClr val="08111C"/>
          </a:solidFill>
          <a:ln w="12700">
            <a:solidFill>
              <a:srgbClr val="FF7A1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E6F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C++ developers: this sharpens the same instincts you need for robust modern C++.</a:t>
            </a:r>
            <a:endParaRPr lang="en-US" sz="10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Unsafe, Macros and Attributes</dc:title>
  <dc:subject>Rust and C++ course addendum: Unsafe, Macros and Attributes</dc:subject>
  <dc:creator>OpenAI</dc:creator>
  <cp:lastModifiedBy>OpenAI</cp:lastModifiedBy>
  <cp:revision>1</cp:revision>
  <dcterms:created xsi:type="dcterms:W3CDTF">2026-09-13T08:25:14Z</dcterms:created>
  <dcterms:modified xsi:type="dcterms:W3CDTF">2026-09-13T08:25:14Z</dcterms:modified>
</cp:coreProperties>
</file>