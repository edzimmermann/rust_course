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context and module plan from conversation. Rust_course repository context checked via GitHub connector; README describes 100 small Rust debugging/fix-it exercises grouped into 10 subjects.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Instructor framing based on conversation. No external claims beyond course design philosophy.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Course map synthesized from conversation. Rust concepts referenced are documented in The Rust Programming Language and Rust Reference. C++ analogies draw on standard C++ RAII, move semantics, templates/concepts, exceptions and ABI/FFI practice.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Module inventory synthesized from previous generated addendum decks and current course planning conversation.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Teaching workflow synthesized from conversation and Rust_course README classroom workflow.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 Book chapter on error handling; Rust Reference sections on panic/unwinding; C++ standard library practice around exceptions, optional and expected.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 Book chapters on generics/traits and trait objects; Rust Reference trait/object safety rules; C++20 concepts and templates as comparison.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 Reference type layout and repr attributes; Rustonomicon repr and unsafe layout discussions; C++ object layout and ABI practice as comparison.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 Iterator trait documentation and Rust Book iterator chapter; C++20 ranges/views as comparison.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Rustonomicon FFI chapter; Rust Reference items/external blocks and ABI; C/C++ ABI and ownership conventions as comparison.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 async book; Rust standard library Future and Pin documentation; C++ coroutines as comparison.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Cargo Book; Rust API Guidelines; Rustfmt and Clippy documentation; common Rust project workflow.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Course roadmap screenshot provided by user; CUDA programming concepts as comparison; Rust unsafe/FFI and ownership concepts from Rust Reference/Book.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Rust_course/rust_cpp_fixit_100 README lists 100 exercises grouped into these 10 subjects and suggests classroom workflow.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Instructor navigation table synthesized from conversation and planned course module stacks.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User-provided course roadmap screenshot and conversation. Day structure adapted to integrate conceptual stacks and Fix-It exercises.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Instructor slide-library advice synthesized from user preference for non-linear teaching.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Sources: Synthesis of course concepts from conversation; Rust Book/Reference for ownership, borrowing, traits, Send/Sync, unsafe; C++ comparison based on language/library idioms.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Build order recommendation synthesized from course goals and existing addendum coverage.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synthesis from conversation.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NAVIGATION DECK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Rust/C++ Course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Bird’s‑Eye Map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438912" y="226771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stacks, teaching detours, and a topic map for a non-linear, C/C++-rooted Rust course.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3703320"/>
            <a:ext cx="6035040" cy="960120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teach Rust as foreign syntax.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 systems reasoning with a compiler that demands proof.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60920" y="1024128"/>
            <a:ext cx="1828800" cy="47548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C/C++ intuition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46920" y="1783080"/>
            <a:ext cx="1828800" cy="47548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proof obligations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18120" y="2907792"/>
            <a:ext cx="1920240" cy="47548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Fix‑It exercises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491472" y="4206240"/>
            <a:ext cx="1783080" cy="47548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boundary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34072" y="5349240"/>
            <a:ext cx="32918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compiler know?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STANCE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course for people who already think in memory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to replace C++ experience. It is to interrogate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3520440" cy="36118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audience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2130552"/>
            <a:ext cx="3227832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experienced C/C++ developers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already understand cost, layout and ABI pressure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may know the rules but not always name them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9224" y="4946904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respect.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43400" y="1627632"/>
            <a:ext cx="3520440" cy="36118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Rust move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9704" y="2130552"/>
            <a:ext cx="3227832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implicit ownership reasoning explicit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convention into types where possible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move some proof from review into compilation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9704" y="4946904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is not magic.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83880" y="1627632"/>
            <a:ext cx="3520440" cy="36118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real prize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30184" y="2130552"/>
            <a:ext cx="3227832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Rust programmers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better C++ programmers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stronger instincts about lifetime, aliasing and invariants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30184" y="4946904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D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why precedes the pattern.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5623560"/>
            <a:ext cx="8503920" cy="502920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Rust complains, ask: “What fact is the compiler unable to prove?”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BIRD’S‑EYE 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whole course as one mental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detour is a route back to one question: what fact must be true for this program to be valid?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2788920"/>
            <a:ext cx="2377440" cy="822960"/>
          </a:xfrm>
          <a:prstGeom prst="roundRect">
            <a:avLst/>
          </a:prstGeom>
          <a:solidFill>
            <a:srgbClr val="0A1421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KNOW?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23774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reality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bytes • allocation • layout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23774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addresses • validity • provenance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4233672"/>
            <a:ext cx="23774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destroys • who transfers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03320" y="1664208"/>
            <a:ext cx="242316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• mutation • time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172200" y="1664208"/>
            <a:ext cx="242316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illegal states • contracts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89720" y="1627632"/>
            <a:ext cx="23774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&amp; failure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• panic • exceptions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0" y="2926080"/>
            <a:ext cx="23774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Polymorphism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• templates • vtables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89720" y="4233672"/>
            <a:ext cx="237744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Boundaries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• FFI • GPU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703320" y="5257800"/>
            <a:ext cx="242316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• Sync • shared mutation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172200" y="5257800"/>
            <a:ext cx="2423160" cy="566928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 cost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iterators • zero‑cost • LLVM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94760" y="3950208"/>
            <a:ext cx="2194560" cy="256032"/>
          </a:xfrm>
          <a:prstGeom prst="roundRect">
            <a:avLst/>
          </a:prstGeom>
          <a:solidFill>
            <a:srgbClr val="101D2D">
              <a:alpha val="98000"/>
            </a:srgbClr>
          </a:solidFill>
          <a:ln w="10160">
            <a:solidFill>
              <a:srgbClr val="00B7D8">
                <a:alpha val="8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enter from any node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0488" y="3950208"/>
            <a:ext cx="2057400" cy="256032"/>
          </a:xfrm>
          <a:prstGeom prst="roundRect">
            <a:avLst/>
          </a:prstGeom>
          <a:solidFill>
            <a:srgbClr val="101D2D">
              <a:alpha val="98000"/>
            </a:srgbClr>
          </a:solidFill>
          <a:ln w="10160">
            <a:solidFill>
              <a:srgbClr val="25D09A">
                <a:alpha val="80000"/>
              </a:srgbClr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D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return to the center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SLIDE‑STACK INVENTORY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 in reusable stacks, not a fixed syllabus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stack can be entered from a class question, a compiler error, a Fix‑It, or a C++ comparison.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3529584" cy="4206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stacks already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2194560"/>
            <a:ext cx="3236976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Memory literacy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Pointers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Ownership &amp; moves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Aliasing, borrowing &amp; lifetimes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Mutation &amp; concurrency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Types &amp; invariants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Unsafe + macros/attributes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49224" y="560527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D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as needed.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407408" y="1691640"/>
            <a:ext cx="3529584" cy="4206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stacks to add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53712" y="2194560"/>
            <a:ext cx="3236976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Errors &amp; failure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Traits/generics/polymorphism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Representation/layout/zero‑cost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Iterators &amp; ranges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FFI boundaries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Async/Futures/Pin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Toolchain/testing/profiling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553712" y="560527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these next.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11896" y="1691640"/>
            <a:ext cx="3529584" cy="4206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glue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2194560"/>
            <a:ext cx="3236976" cy="3182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Bird’s‑eye topic map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Fix‑It routing map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 comparison bridges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Day 3 GPU bridge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synthesis: what does the compiler know?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8458200" y="5605272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3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between stacks.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INSTRUCTOR MODE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flight system for a non‑linear class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need to follow the map. You need a map good enough to leave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2148840" cy="35204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" y="2130552"/>
            <a:ext cx="1856232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 asks “why?”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compiler error appears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 analogy becomes dangerous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 question arises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649224" y="4855464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chooses entry point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80360" y="1627632"/>
            <a:ext cx="2148840" cy="35204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Detour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26664" y="2130552"/>
            <a:ext cx="1856232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pull the relevant stack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a failure case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the hidden invariant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to C++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3026664" y="4855464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Short, sharp module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57800" y="1627632"/>
            <a:ext cx="2148840" cy="35204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8E3DFF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Fix‑It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04104" y="2130552"/>
            <a:ext cx="1856232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 failure mode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semantic gap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smallest Rust fix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solution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5404104" y="4855464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8E3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concrete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35240" y="1627632"/>
            <a:ext cx="2148840" cy="35204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Return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81544" y="2130552"/>
            <a:ext cx="1856232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 to syntax slide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 to roadmap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 to GPU example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 to compiler question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7781544" y="4855464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D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loop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12680" y="1627632"/>
            <a:ext cx="1691640" cy="35204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Anchor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158984" y="2130552"/>
            <a:ext cx="1399032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the compiler know?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programmer prove?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10158984" y="4855464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3F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325880" y="5614416"/>
            <a:ext cx="9509760" cy="502920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map is not the route. The map lets you improvise without losing the course.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Errors, exceptions, Result and failure semantics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deep issue: which failures are part of the function contract?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3611880" cy="2788920"/>
          </a:xfrm>
          <a:prstGeom prst="rect">
            <a:avLst/>
          </a:prstGeom>
          <a:solidFill>
            <a:srgbClr val="0615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C++ questions: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return code, exception, std::optional, std::expected?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what happens during unwinding?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which failures are recoverable?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which failures violate invariants?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07408" y="1691640"/>
            <a:ext cx="3611880" cy="2788920"/>
          </a:xfrm>
          <a:prstGeom prst="rect">
            <a:avLst/>
          </a:prstGeom>
          <a:solidFill>
            <a:srgbClr val="0615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Rust questions: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Option&lt;T&gt; for absence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Result&lt;T,E&gt; for recoverable failure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panic! for violated assumptions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• ? as propagation, not invisibility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75320" y="1691640"/>
            <a:ext cx="3383280" cy="27889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Slides to include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21624" y="2194560"/>
            <a:ext cx="3090672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 as API surface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recoverable vs unrecoverable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 exceptions vs Rust Result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RAII and Drop during failure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panic: unwind or abort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9966960" cy="713232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not teach `?` as syntax. Teach it as explicit propagation of a typed failure channel.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Traits, generics and polymorphism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C++ bridge: templates, concepts, virtual dispatch and type erasure.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43200" cy="40233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mental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103120"/>
            <a:ext cx="245059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templates: compile-time substitution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concepts: constraints named clearly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virtual: runtime dispatch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type erasure: hide concrete type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94944" y="5330952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model matters.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11880" y="1600200"/>
            <a:ext cx="2743200" cy="40233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mental 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58184" y="2103120"/>
            <a:ext cx="245059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trait bounds: compile-time contracts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impl Trait: concrete but hidden type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dyn Trait: vtable object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associated types: part of the contract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3758184" y="5330952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D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questions, different spelling.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75120" y="1600200"/>
            <a:ext cx="2377440" cy="40233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slides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21424" y="2103120"/>
            <a:ext cx="208483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monomorphization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object safety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vtable boundary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blanket impls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orphan rule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821424" y="533095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rules exist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372600" y="1600200"/>
            <a:ext cx="2331720" cy="40233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8E3DFF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Fix‑Its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18904" y="2103120"/>
            <a:ext cx="2039112" cy="2999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trait bound missing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wrong return abstraction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borrowed trait object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associated type confusion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9518904" y="5330952"/>
            <a:ext cx="2039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8E3D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cost visible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3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Representation, layout and zero‑cost abstraction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C/C++ people, the bytes are never an implementation detail for long.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10332720" cy="603504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type is not only operations. It is representation, alignment, validity and meaning.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2697480" cy="31546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layout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" y="3044952"/>
            <a:ext cx="240487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stack vs heap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alignment and padding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String / Vec descriptors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slices and fat pointers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0440" y="2542032"/>
            <a:ext cx="2697480" cy="31546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Representation control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66744" y="3044952"/>
            <a:ext cx="240487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repr(Rust) vs repr(C)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ABI promises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niche 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Option&lt;&amp;T&gt; intuition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2542032"/>
            <a:ext cx="2697480" cy="31546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8E3DFF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Zero‑cost claim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38544" y="3044952"/>
            <a:ext cx="240487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monomorphization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inlining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LLVM visibility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abstraction disappears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464040" y="2542032"/>
            <a:ext cx="2148840" cy="31546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bridge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10344" y="3044952"/>
            <a:ext cx="1856232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struct layout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std::string shape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optimizer trust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4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Iterators, ranges and abstraction cost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deep issue is not syntax. It is whether a pleasant abstraction still compiles to the loop you meant.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5166360" cy="1965960"/>
          </a:xfrm>
          <a:prstGeom prst="rect">
            <a:avLst/>
          </a:prstGeom>
          <a:solidFill>
            <a:srgbClr val="0615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C++20 style: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auto r = xs | std::views::filter(pred)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| std::views::transform(f);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for (auto x : r) { use(x); 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46520" y="1691640"/>
            <a:ext cx="5166360" cy="1965960"/>
          </a:xfrm>
          <a:prstGeom prst="rect">
            <a:avLst/>
          </a:prstGeom>
          <a:solidFill>
            <a:srgbClr val="0615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Rust style: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xs.iter()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.filter(|x| pred(x))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.map(|x| f(x))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.for_each(|x| use(x));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3383280" cy="15544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 the why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0664" y="4572000"/>
            <a:ext cx="30906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lazy pipeline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ownership of iteration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borrowing during traversal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4434840" y="4069080"/>
            <a:ext cx="3383280" cy="15544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8E3DFF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the cost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81144" y="4572000"/>
            <a:ext cx="30906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MIR/LLVM/assembly glimpses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inlining and specialization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bounds checks and elision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8275320" y="4069080"/>
            <a:ext cx="3383280" cy="155448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Fix‑It angle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21624" y="4572000"/>
            <a:ext cx="30906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iterator consumed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lazy iterator unused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borrowed vs owned item</a:t>
            </a:r>
            <a:endParaRPr lang="en-US" sz="1040" dirty="0"/>
          </a:p>
        </p:txBody>
      </p:sp>
      <p:sp>
        <p:nvSpPr>
          <p:cNvPr id="15" name="Text 12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5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 and boundaries: where guarantees 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Rust’s safety story is strongest when the boundary is explicit. C/C++ interop is the proof boundary.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43200" cy="39776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Boundary facts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103120"/>
            <a:ext cx="2450592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layout agreement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ownership transfer rules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frees memory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nullable vs non-null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unwind behavior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1600200"/>
            <a:ext cx="2743200" cy="39776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58184" y="2103120"/>
            <a:ext cx="2450592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extern "C"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repr(C)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raw pointers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CString / CStr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unsafe wrapper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600200"/>
            <a:ext cx="2377440" cy="39776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21424" y="2103120"/>
            <a:ext cx="2084832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headers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ABI discipline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RAII wrapper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pimpl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opaque handle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372600" y="1600200"/>
            <a:ext cx="2331720" cy="39776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lesson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18904" y="2103120"/>
            <a:ext cx="2039112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unsafe inside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 API outside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ownership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the boundary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143000" y="5806440"/>
            <a:ext cx="9875520" cy="438912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 is not “turn safety off.” It is “move the proof obligation to a small, inspectable border.”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6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Async, futures and Pin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teach this after ownership, moves, borrowing and address stability are alive in the room.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548640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 is easier when students already understand that moving a value can change where it lives.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2743200" cy="3063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async really creates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0664" y="2971800"/>
            <a:ext cx="245059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machine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captured values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suspension 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borrow across await?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11880" y="2468880"/>
            <a:ext cx="2743200" cy="3063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Pin appears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58184" y="2971800"/>
            <a:ext cx="245059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address-sensitive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self-references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future may be polled later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movement restrictions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2468880" cy="3063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8E3DFF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comparison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75704" y="2971800"/>
            <a:ext cx="217627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coroutines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lifetime of frame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executor boundary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372600" y="2468880"/>
            <a:ext cx="2240280" cy="306324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modest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518904" y="2971800"/>
            <a:ext cx="1947672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conceptual only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small demo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runtime rabbit hole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STACK 7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Toolchain, crates, modules, testing and profiling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Rust is not only the language. It is also the build/test/diagnostic culture.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3337560" cy="14173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Cargo &amp; crates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0664" y="2194560"/>
            <a:ext cx="3044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package model, features, dependency boundaries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4389120" y="1691640"/>
            <a:ext cx="3337560" cy="14173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Modules &amp; visibility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35424" y="2194560"/>
            <a:ext cx="3044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public API surface, privacy as design tool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8183880" y="1691640"/>
            <a:ext cx="3337560" cy="14173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30184" y="2194560"/>
            <a:ext cx="3044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unit/integration/doc tests, property-style thinking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337560" cy="14173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8E3DFF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0664" y="4069080"/>
            <a:ext cx="3044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clippy, rustfmt, compiler messages as teaching material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4389120" y="3566160"/>
            <a:ext cx="3337560" cy="14173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35424" y="4069080"/>
            <a:ext cx="3044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criterion/perf/flamegraph mindset, not folklore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8183880" y="3566160"/>
            <a:ext cx="3337560" cy="14173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D166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0184" y="4069080"/>
            <a:ext cx="3044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semver, docs, crate hygiene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1005840" y="5806440"/>
            <a:ext cx="10149840" cy="438912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stack keeps the course from becoming language theory without engineering practice.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STACK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GPU: a proving ground for the whole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3 becomes stronger when GPU programming is framed as ownership across address spaces.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246888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Resource reality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0664" y="2130552"/>
            <a:ext cx="21762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host memory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device memory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unified memory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streams/events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kernel launch boundary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337560" y="1627632"/>
            <a:ext cx="246888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questions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83864" y="2130552"/>
            <a:ext cx="21762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owns the buffer?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may mutate?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lifetime spans the kernel?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is unsafe justified?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80760" y="1627632"/>
            <a:ext cx="246888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questions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27064" y="2130552"/>
            <a:ext cx="21762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RAII for CUDA handles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copy/move of buffers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synchronization discipline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error checking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823960" y="1627632"/>
            <a:ext cx="246888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payoff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70264" y="2130552"/>
            <a:ext cx="217627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unsafe boundary is meaningful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ownership is visible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lifetime bugs are concrete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 is not abstract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FIX‑IT ROUTING 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100 exercises as the heartbeat of the course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exercise should answer: what did Rust reject, and what would C++ require the programmer to remember?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00200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Ownership &amp; Moves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Borrowing &amp; References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441448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Strings &amp; Slices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0" y="2441448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Structs, Enums &amp; Patterns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282696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Option, Result &amp; Errors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0" y="3282696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Collections &amp; Iterators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85800" y="4123944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Traits &amp; Generics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0" y="4123944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Lifetimes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965192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Smart Pointers &amp; Interior Mutability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4965192"/>
            <a:ext cx="5074920" cy="530352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Threads, Channels &amp; Synchronization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508760" y="5989320"/>
            <a:ext cx="9144000" cy="402336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one Fix‑It whenever the room needs proof that the concept is not just a slide.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TO PULL WHICH STACK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trigger table for live teaching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student’s confusion as your navigation signal.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50876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can’t I use it after this line?”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138928" y="150876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&amp; moves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“But it is just a reference.”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5138928" y="201168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 → borrowing → lifetimes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58368" y="251460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one mutable reference?”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138928" y="251460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+ mutation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58368" y="301752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Option instead of null?”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138928" y="301752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&amp; invariants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58368" y="352044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Result everywhere?”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138928" y="352044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Error/failure semantics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58368" y="402336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not just inheritance?”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138928" y="402336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Traits/generics/polymorphism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658368" y="452628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“Is this abstraction slow?”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138928" y="452628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Representation/layout/zero-cost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58368" y="502920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unsafe here?”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5138928" y="502920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Unsafe/FFI boundary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58368" y="5532120"/>
            <a:ext cx="4160520" cy="36576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“Why does async need Pin?”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5138928" y="5532120"/>
            <a:ext cx="6355080" cy="365760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+ address stability + async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THREE-DAY 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roadmap that supports detours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 is not a cage. It is a set of default gravity wells.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3520440" cy="44805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1 —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0664" y="2057400"/>
            <a:ext cx="3227832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opening thesis + memory reality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minimum viable syntax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ownership + moves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pointers + borrowing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lifetimes as time claims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types/invariants + errors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Fix‑Its throughout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0664" y="5742432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mental model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43400" y="1554480"/>
            <a:ext cx="3520440" cy="44805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2 — Consequences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9704" y="2057400"/>
            <a:ext cx="3227832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traits/generics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representation/layout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iterators/zero-cost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interior mutability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concurrency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unsafe + FFI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macros/attributes + tooling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9704" y="5742432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0B7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what follows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92440" y="1554480"/>
            <a:ext cx="3520440" cy="448056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Day 3 — Application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38744" y="2057400"/>
            <a:ext cx="3227832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Rust GPU ecosystem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host/device ownership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kernel safety boundary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interop with CUDA C++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benchmarking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capstone kernel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 to compiler 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38744" y="5742432"/>
            <a:ext cx="3227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D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model under pressure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LIBRARY ORGANIZATION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deck navigable under pressure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slide library lets you jump without hunting.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74320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6A1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stacks by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4944" y="2103120"/>
            <a:ext cx="245059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owns it?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can mutate?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long is valid?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states exist?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does proof stop?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11880" y="1600200"/>
            <a:ext cx="274320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Give each stack a map slide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58184" y="2103120"/>
            <a:ext cx="245059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entry points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 bridge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Rust concept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Fix‑It links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exit slide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1600200"/>
            <a:ext cx="237744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anchors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21424" y="2103120"/>
            <a:ext cx="208483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compiler knows?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moved?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aliases?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invariant?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9372600" y="1600200"/>
            <a:ext cx="2331720" cy="416052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detours short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18904" y="2103120"/>
            <a:ext cx="2039112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5–12 slides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thesis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example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Fix‑It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SYNTHESIS STACK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the compiler know?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should be the closing deck and the recurring anchor.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3017520" cy="384048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886200" y="1527048"/>
            <a:ext cx="3474720" cy="384048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543800" y="1527048"/>
            <a:ext cx="3611880" cy="384048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exists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3886200" y="1993392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mostly yes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7543800" y="1993392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transferred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3886200" y="2423160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partly by convention/types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543800" y="2423160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rule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685800" y="2852928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still valid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3886200" y="2852928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programmer proof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7543800" y="2852928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checker where expressible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85800" y="3282696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 permits mutation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3886200" y="3282696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programmer/library discipline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7543800" y="3282696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/ &amp;mut discipline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685800" y="3712464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holds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3886200" y="3712464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constructors/API discipline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7543800" y="3712464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+ API + unsafe contracts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685800" y="4142232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sharing legal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886200" y="4142232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discipline + library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7543800" y="4142232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Send/Sync + synchronization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685800" y="4572000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 contract valid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3886200" y="4572000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proof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7543800" y="4572000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proof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685800" y="5001768"/>
            <a:ext cx="30175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logic correct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3886200" y="5001768"/>
            <a:ext cx="347472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proof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7543800" y="5001768"/>
            <a:ext cx="3611880" cy="32918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23047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proof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914400" y="5824728"/>
            <a:ext cx="10332720" cy="502920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goal is not to stop thinking. The goal is to decide which facts the compiler should think about with us.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BUILD ORDER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you create more decks, create them in this order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 follows classroom leverage: highest conceptual payoff first.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 &amp; failure semantics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26280" y="1508760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Option/Result to C++ exceptions/std::expected and API contracts.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21408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121408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Traits/generics/polymorphism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26280" y="2121408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5B8C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Necessary for idiomatic Rust and strong C++20 concepts comparison.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734056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734056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Representation/layout/zero-cost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26280" y="2734056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3F7D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Satisfies systems programmers: what are the bytes and costs?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46704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346704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Iterators/ranges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26280" y="3346704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00B7D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Connects ownership, borrowing and performance in everyday code.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3959352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959352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 boundaries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26280" y="3959352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25D09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Prepares for unsafe, C++ interop and GPU code.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572000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Async/Futures/Pin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572000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FFD166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but only after address stability and lifetimes are established.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5184648"/>
            <a:ext cx="475488" cy="420624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84648"/>
            <a:ext cx="288036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Toolchain/testing/profiling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5184648"/>
            <a:ext cx="6812280" cy="420624"/>
          </a:xfrm>
          <a:prstGeom prst="roundRect">
            <a:avLst/>
          </a:prstGeom>
          <a:solidFill>
            <a:srgbClr val="0B1724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practice stack; essential, but less philosophical.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011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THESIS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320040" y="5029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course is about systems thinking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38328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is the new language; C/C++ is the home territory; the machine is the common ground.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1521440" cy="0"/>
          </a:xfrm>
          <a:prstGeom prst="line">
            <a:avLst/>
          </a:prstGeom>
          <a:noFill/>
          <a:ln w="12700">
            <a:solidFill>
              <a:srgbClr val="22304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00200"/>
            <a:ext cx="9966960" cy="914400"/>
          </a:xfrm>
          <a:prstGeom prst="roundRect">
            <a:avLst/>
          </a:prstGeom>
          <a:solidFill>
            <a:srgbClr val="08101A"/>
          </a:solidFill>
          <a:ln w="15240">
            <a:solidFill>
              <a:srgbClr val="FF6A1A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languages cook with water.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interesting question is what they force you to name.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154680" cy="205740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00B7D8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C/C++ gives power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3474720"/>
            <a:ext cx="286207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direct model of memory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 over representation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responsibility stays with the programmer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526280" y="2971800"/>
            <a:ext cx="3154680" cy="205740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25D09A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gives pressure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72584" y="3474720"/>
            <a:ext cx="286207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ownership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prove borrowing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quarantine unsafe assumptions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8321040" y="2971800"/>
            <a:ext cx="3154680" cy="2057400"/>
          </a:xfrm>
          <a:prstGeom prst="roundRect">
            <a:avLst/>
          </a:prstGeom>
          <a:solidFill>
            <a:srgbClr val="0B1724"/>
          </a:solidFill>
          <a:ln w="15240">
            <a:solidFill>
              <a:srgbClr val="FF3F7D">
                <a:alpha val="90000"/>
              </a:srgbClr>
            </a:solidFill>
          </a:ln>
          <a:effectLst>
            <a:outerShdw sx="100000" sy="100000" kx="0" ky="0" algn="bl" rotWithShape="0" blurRad="15240" dist="10160" dir="2700000">
              <a:srgbClr val="000000">
                <a:alpha val="14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F0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class gives judgment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67344" y="3474720"/>
            <a:ext cx="286207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to trust types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to inspect bytes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8B3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the programmer must still prove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017520" y="5806440"/>
            <a:ext cx="6172200" cy="457200"/>
          </a:xfrm>
          <a:prstGeom prst="roundRect">
            <a:avLst/>
          </a:prstGeom>
          <a:solidFill>
            <a:srgbClr val="091421"/>
          </a:solidFill>
          <a:ln w="12700">
            <a:solidFill>
              <a:srgbClr val="8E3DFF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map. Leave the map. Return to the map.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20040" y="655624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Experienced C++ Developers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567160" y="655624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78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FOSS Club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Rust/C++ Course Map and Missing Stacks</dc:title>
  <dc:subject>Rust for experienced C++ developers: course topic map and missing module stacks</dc:subject>
  <dc:creator>OpenAI</dc:creator>
  <cp:lastModifiedBy>OpenAI</cp:lastModifiedBy>
  <cp:revision>1</cp:revision>
  <dcterms:created xsi:type="dcterms:W3CDTF">2026-09-13T12:55:41Z</dcterms:created>
  <dcterms:modified xsi:type="dcterms:W3CDTF">2026-09-13T12:55:41Z</dcterms:modified>
</cp:coreProperties>
</file>