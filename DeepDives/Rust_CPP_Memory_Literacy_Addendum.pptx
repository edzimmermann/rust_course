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notes
Use this as a transition after the move-semantics core deck. The tone can be provocative, but the goal is respectful: experienced C++ knowledge is not obsolete; Rust is a way to test and sharpen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notes
The “spine” of the course is not syntax. It is the chain: resource → owner → lifetime → aliases → mutation → destruction. Rust gives concrete syntax and compile-time diagnostics for that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notes
This slide should lower defensiveness. The goal is to affirm modern C++ while arguing that stronger abstractions do not remove the need to understand allocation, ownership transfer, moved-from states, invalidation, and destruction.
[Sources]
- https://en.cppreference.com/w/cpp/memory/unique_ptr
- https://en.cppreference.com/w/cpp/utility/move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notes
Use the word “basement” deliberately. The class may use high-level C++ every day, but the consequences of invalid pointers, double frees, object lifetime bugs, and allocation failures still come from this lower-level contract.
[Sources]
- https://www.man7.org/linux/man-pages/man3/free.3.html
- https://www.opengroup.org/onlinepubs/009695399/functions/malloc.html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notes
This is a good mini-lecture before introducing RAII or Rust Drop. In C, ownership is not a type-system feature; it is a discipline around a pointer and the exact moment when free is called.
[Sources]
- https://www.man7.org/linux/man-pages/man3/free.3.html
- https://www.opengroup.org/onlinepubs/009695399/functions/malloc.html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notes
A fair position: unique_ptr is an excellent language/library facility, not a weakness. It saves writing routine ownership handles. But when students do not understand manual allocation/free, they cannot understand why unique_ptr is designed the way it is.
[Sources]
- https://en.cppreference.com/w/cpp/memory/unique_ptr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notes
This slide connects with the user’s point that a good C++ developer can still write a custom smart pointer or resource wrapper when unique_ptr is not quite the right abstraction. Rust is a way to discuss the same design responsibilities in a stricter type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notes
Use this checklist repeatedly. It is the bridge from “learning Rust rules” to “becoming better at C++ design.”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notes
This is the philosophical core. Every borrow-checker error should be translated into a systems-programming claim: what alias, lifetime, or ownership relationship was missing or ambiguous?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notes
Be careful not to oversimplify: C++ moved-from objects remain valid but their value may be specified by a type or left in a valid but unspecified state. unique_ptr is a useful case because moved-from is empty/null. Rust’s non-Copy move usually forbids later use of the moved binding.
[Sources]
- https://en.cppreference.com/w/cpp/utility/move
- https://doc.rust-lang.org/stable/book/ch04-01-what-is-ownership.html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notes
This is a high-value example. C++ developers usually understand the vector invalidation issue once shown; Rust’s borrow checker is enforcing a version of that reasoning. The point is not that Rust magically understands every container implementation; it uses the type-level rule that mutable access cannot coexist with active shared borrows.
[Sources]
- https://doc.rust-lang.org/stable/book/ch04-02-references-and-borrowing.html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notes
This is useful as an instructor process slide. Do not let students treat borrow checker errors as arbitrary. Ask what the equivalent C++ review comment would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notes
This slide makes the second course goal explicit. Students should leave with concrete C++ code-review improvements, not just a sense that Rust has stricter syntax.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notes
End with the student’s own provocative phrasing, softened into a useful teaching stance. “Yapping compiler front end” works if followed by: what exactly is it yapping about, and what does that teach us about C++?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565392"/>
            <a:ext cx="11430000" cy="0"/>
          </a:xfrm>
          <a:prstGeom prst="line">
            <a:avLst/>
          </a:prstGeom>
          <a:noFill/>
          <a:ln w="12700">
            <a:solidFill>
              <a:srgbClr val="1D29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940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070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 · memory literacy / ownership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070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070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76656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5F7FB"/>
                </a:solidFill>
              </a:rPr>
              <a:t>Rust interrogates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5F7FB"/>
                </a:solidFill>
              </a:rPr>
              <a:t>your C++ knowledge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2212848"/>
            <a:ext cx="1143000" cy="0"/>
          </a:xfrm>
          <a:prstGeom prst="line">
            <a:avLst/>
          </a:prstGeom>
          <a:noFill/>
          <a:ln w="50800">
            <a:solidFill>
              <a:srgbClr val="E67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68880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3E7"/>
                </a:solidFill>
              </a:rPr>
              <a:t>A teaching section on memory literacy, ownership, and why modern C++ developers still need the basement model.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0"/>
            <a:ext cx="1874520" cy="960120"/>
          </a:xfrm>
          <a:prstGeom prst="rect">
            <a:avLst/>
          </a:prstGeom>
          <a:solidFill>
            <a:srgbClr val="124C65"/>
          </a:solidFill>
          <a:ln w="13970">
            <a:solidFill>
              <a:srgbClr val="16B6C9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3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C++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AD3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“Don’t do that.”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345168" y="1481328"/>
            <a:ext cx="640080" cy="0"/>
          </a:xfrm>
          <a:prstGeom prst="line">
            <a:avLst/>
          </a:prstGeom>
          <a:noFill/>
          <a:ln w="17780">
            <a:solidFill>
              <a:srgbClr val="2D3A59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0058400" y="1005840"/>
            <a:ext cx="1572768" cy="960120"/>
          </a:xfrm>
          <a:prstGeom prst="rect">
            <a:avLst/>
          </a:prstGeom>
          <a:solidFill>
            <a:srgbClr val="71360B"/>
          </a:solidFill>
          <a:ln w="13970">
            <a:solidFill>
              <a:srgbClr val="E6731A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3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AD3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“You can’t do that.”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0" y="2834640"/>
            <a:ext cx="4526280" cy="1051560"/>
          </a:xfrm>
          <a:prstGeom prst="rect">
            <a:avLst/>
          </a:prstGeom>
          <a:solidFill>
            <a:srgbClr val="0A1328"/>
          </a:solidFill>
          <a:ln w="13970">
            <a:solidFill>
              <a:srgbClr val="8B5CF6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course does not teach Rust as “better C++”.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Rust to expose what C++ programmers must already understand.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736592"/>
            <a:ext cx="1417320" cy="256032"/>
          </a:xfrm>
          <a:prstGeom prst="rect">
            <a:avLst/>
          </a:prstGeom>
          <a:solidFill>
            <a:srgbClr val="31235F">
              <a:alpha val="90000"/>
            </a:srgbClr>
          </a:solidFill>
          <a:ln w="12700">
            <a:solidFill>
              <a:srgbClr val="8B5CF6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course identity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5093208"/>
            <a:ext cx="1083564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B"/>
                </a:solidFill>
              </a:rPr>
              <a:t>Learn Rust by making implicit C++ reasoning explicit.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5F7FB"/>
                </a:solidFill>
              </a:rPr>
              <a:t>Improve C++ by understanding why Rust refuses some programs.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070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goals, one spine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32688" cy="0"/>
          </a:xfrm>
          <a:prstGeom prst="line">
            <a:avLst/>
          </a:prstGeom>
          <a:noFill/>
          <a:ln w="38100">
            <a:solidFill>
              <a:srgbClr val="E67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96112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0C3"/>
                </a:solidFill>
              </a:rPr>
              <a:t>The course is a Rust introduction and a C++ improvement workshop.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063240" y="3200400"/>
            <a:ext cx="1188720" cy="0"/>
          </a:xfrm>
          <a:prstGeom prst="line">
            <a:avLst/>
          </a:prstGeom>
          <a:noFill/>
          <a:ln w="17780">
            <a:solidFill>
              <a:srgbClr val="2D3A59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882128" y="3200400"/>
            <a:ext cx="1152144" cy="0"/>
          </a:xfrm>
          <a:prstGeom prst="line">
            <a:avLst/>
          </a:prstGeom>
          <a:noFill/>
          <a:ln w="17780">
            <a:solidFill>
              <a:srgbClr val="2D3A59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777240" y="2267712"/>
            <a:ext cx="2423160" cy="1737360"/>
          </a:xfrm>
          <a:prstGeom prst="rect">
            <a:avLst/>
          </a:prstGeom>
          <a:solidFill>
            <a:srgbClr val="124C65"/>
          </a:solidFill>
          <a:ln w="13970">
            <a:solidFill>
              <a:srgbClr val="16B6C9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the hidden C++ reasoning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51960" y="2121408"/>
            <a:ext cx="3685032" cy="2029968"/>
          </a:xfrm>
          <a:prstGeom prst="rect">
            <a:avLst/>
          </a:prstGeom>
          <a:solidFill>
            <a:srgbClr val="0B1428"/>
          </a:solidFill>
          <a:ln w="13970">
            <a:solidFill>
              <a:srgbClr val="2D3A59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lifetime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allocation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006840" y="2267712"/>
            <a:ext cx="2377440" cy="1737360"/>
          </a:xfrm>
          <a:prstGeom prst="rect">
            <a:avLst/>
          </a:prstGeom>
          <a:solidFill>
            <a:srgbClr val="71360B"/>
          </a:solidFill>
          <a:ln w="13970">
            <a:solidFill>
              <a:srgbClr val="E6731A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it to Rust’s type system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4892040"/>
            <a:ext cx="10104120" cy="658368"/>
          </a:xfrm>
          <a:prstGeom prst="rect">
            <a:avLst/>
          </a:prstGeom>
          <a:solidFill>
            <a:srgbClr val="09142B"/>
          </a:solidFill>
          <a:ln w="13970">
            <a:solidFill>
              <a:srgbClr val="8B5C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Rust error becomes a C++ design question.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070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Modern C++ is not the enemy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32688" cy="0"/>
          </a:xfrm>
          <a:prstGeom prst="line">
            <a:avLst/>
          </a:prstGeom>
          <a:noFill/>
          <a:ln w="38100">
            <a:solidFill>
              <a:srgbClr val="E67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96112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0C3"/>
                </a:solidFill>
              </a:rPr>
              <a:t>C++11/14/17/20 added abstractions that are genuinely good — but abstractions can hide the basement.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828800" cy="347472"/>
          </a:xfrm>
          <a:prstGeom prst="rect">
            <a:avLst/>
          </a:prstGeom>
          <a:solidFill>
            <a:srgbClr val="154D2C"/>
          </a:solidFill>
          <a:ln w="15240">
            <a:solidFill>
              <a:srgbClr val="2FB66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Good news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166360" y="1600200"/>
            <a:ext cx="1325880" cy="347472"/>
          </a:xfrm>
          <a:prstGeom prst="rect">
            <a:avLst/>
          </a:prstGeom>
          <a:solidFill>
            <a:srgbClr val="775400"/>
          </a:solidFill>
          <a:ln w="15240">
            <a:solidFill>
              <a:srgbClr val="F4B00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Risk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49640" y="1600200"/>
            <a:ext cx="1874520" cy="347472"/>
          </a:xfrm>
          <a:prstGeom prst="rect">
            <a:avLst/>
          </a:prstGeom>
          <a:solidFill>
            <a:srgbClr val="31235F"/>
          </a:solidFill>
          <a:ln w="15240">
            <a:solidFill>
              <a:srgbClr val="8B5CF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Teaching move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176272"/>
            <a:ext cx="2240280" cy="2834640"/>
          </a:xfrm>
          <a:prstGeom prst="rect">
            <a:avLst/>
          </a:prstGeom>
          <a:solidFill>
            <a:srgbClr val="154D2C"/>
          </a:solidFill>
          <a:ln w="13970">
            <a:solidFill>
              <a:srgbClr val="2FB660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unique_ptr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make_unique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constructors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lambdas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constexpr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coroutines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86200" y="2331720"/>
            <a:ext cx="3977640" cy="2377440"/>
          </a:xfrm>
          <a:prstGeom prst="rect">
            <a:avLst/>
          </a:prstGeom>
          <a:solidFill>
            <a:srgbClr val="201B0B"/>
          </a:solidFill>
          <a:ln w="13970">
            <a:solidFill>
              <a:srgbClr val="F4B000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Developers can produce working code without retaining the resource model that made the abstraction safe.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0" y="2331720"/>
            <a:ext cx="2514600" cy="2377440"/>
          </a:xfrm>
          <a:prstGeom prst="rect">
            <a:avLst/>
          </a:prstGeom>
          <a:solidFill>
            <a:srgbClr val="31235F"/>
          </a:solidFill>
          <a:ln w="13970">
            <a:solidFill>
              <a:srgbClr val="8B5CF6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Rust to force the underlying model back into the conversation.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5650992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</a:rPr>
              <a:t>The claim is not “modern C++ is bad.”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</a:rPr>
              <a:t>The claim is “convenience must not erase understanding.”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070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basement still exists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32688" cy="0"/>
          </a:xfrm>
          <a:prstGeom prst="line">
            <a:avLst/>
          </a:prstGeom>
          <a:noFill/>
          <a:ln w="38100">
            <a:solidFill>
              <a:srgbClr val="E67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96112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0C3"/>
                </a:solidFill>
              </a:rPr>
              <a:t>The machine does not know about “smart pointers”; it knows bytes, addresses, metadata, and conventions.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377440" y="3017520"/>
            <a:ext cx="1280160" cy="0"/>
          </a:xfrm>
          <a:prstGeom prst="line">
            <a:avLst/>
          </a:prstGeom>
          <a:noFill/>
          <a:ln w="15240">
            <a:solidFill>
              <a:srgbClr val="2D3A59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029200" y="3017520"/>
            <a:ext cx="1280160" cy="0"/>
          </a:xfrm>
          <a:prstGeom prst="line">
            <a:avLst/>
          </a:prstGeom>
          <a:noFill/>
          <a:ln w="15240">
            <a:solidFill>
              <a:srgbClr val="2D3A5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589520" y="3017520"/>
            <a:ext cx="1188720" cy="0"/>
          </a:xfrm>
          <a:prstGeom prst="line">
            <a:avLst/>
          </a:prstGeom>
          <a:noFill/>
          <a:ln w="15240">
            <a:solidFill>
              <a:srgbClr val="2D3A59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22960" y="2377440"/>
            <a:ext cx="1554480" cy="1234440"/>
          </a:xfrm>
          <a:prstGeom prst="rect">
            <a:avLst/>
          </a:prstGeom>
          <a:solidFill>
            <a:srgbClr val="124C65"/>
          </a:solidFill>
          <a:ln w="13970">
            <a:solidFill>
              <a:srgbClr val="16B6C9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bytes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0" y="2377440"/>
            <a:ext cx="1737360" cy="1234440"/>
          </a:xfrm>
          <a:prstGeom prst="rect">
            <a:avLst/>
          </a:prstGeom>
          <a:solidFill>
            <a:srgbClr val="102036"/>
          </a:solidFill>
          <a:ln w="13970">
            <a:solidFill>
              <a:srgbClr val="2D3A59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+ free lists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9360" y="2377440"/>
            <a:ext cx="1600200" cy="1234440"/>
          </a:xfrm>
          <a:prstGeom prst="rect">
            <a:avLst/>
          </a:prstGeom>
          <a:solidFill>
            <a:srgbClr val="31235F"/>
          </a:solidFill>
          <a:ln w="13970">
            <a:solidFill>
              <a:srgbClr val="8B5CF6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 memory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78240" y="2377440"/>
            <a:ext cx="1508760" cy="1234440"/>
          </a:xfrm>
          <a:prstGeom prst="rect">
            <a:avLst/>
          </a:prstGeom>
          <a:solidFill>
            <a:srgbClr val="154D2C"/>
          </a:solidFill>
          <a:ln w="13970">
            <a:solidFill>
              <a:srgbClr val="2FB660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load/store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65960" y="4663440"/>
            <a:ext cx="8321040" cy="804672"/>
          </a:xfrm>
          <a:prstGeom prst="rect">
            <a:avLst/>
          </a:prstGeom>
          <a:solidFill>
            <a:srgbClr val="6F1C28"/>
          </a:solidFill>
          <a:ln w="13970">
            <a:solidFill>
              <a:srgbClr val="E24A5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malloc does not make memory “safe”.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returns a pointer and a promise you must obey.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65960" y="56235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3E7"/>
                </a:solidFill>
              </a:rPr>
              <a:t>Fatal educational gap: treating allocation as magic instead of a contract.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070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malloc/free actually teach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32688" cy="0"/>
          </a:xfrm>
          <a:prstGeom prst="line">
            <a:avLst/>
          </a:prstGeom>
          <a:noFill/>
          <a:ln w="38100">
            <a:solidFill>
              <a:srgbClr val="E67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96112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0C3"/>
                </a:solidFill>
              </a:rPr>
              <a:t>Before RAII, before ownership, before Rust: there is a very small but brutal contract.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1572768"/>
            <a:ext cx="3794760" cy="3246120"/>
          </a:xfrm>
          <a:prstGeom prst="rect">
            <a:avLst/>
          </a:prstGeom>
          <a:solidFill>
            <a:srgbClr val="050A16"/>
          </a:solidFill>
          <a:ln w="12700">
            <a:solidFill>
              <a:srgbClr val="2D3A59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malloc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allocation failed */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use exactly the allocated object */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66360" y="1572768"/>
            <a:ext cx="5394960" cy="594360"/>
          </a:xfrm>
          <a:prstGeom prst="rect">
            <a:avLst/>
          </a:prstGeom>
          <a:solidFill>
            <a:srgbClr val="091426"/>
          </a:solidFill>
          <a:ln w="13970">
            <a:solidFill>
              <a:srgbClr val="2D3A59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pointer must come from malloc/calloc/realloc family.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166360" y="2423160"/>
            <a:ext cx="5394960" cy="594360"/>
          </a:xfrm>
          <a:prstGeom prst="rect">
            <a:avLst/>
          </a:prstGeom>
          <a:solidFill>
            <a:srgbClr val="6F1C28"/>
          </a:solidFill>
          <a:ln w="13970">
            <a:solidFill>
              <a:srgbClr val="E24A5A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twice → undefined behavior.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166360" y="3273552"/>
            <a:ext cx="5394960" cy="594360"/>
          </a:xfrm>
          <a:prstGeom prst="rect">
            <a:avLst/>
          </a:prstGeom>
          <a:solidFill>
            <a:srgbClr val="6F1C28"/>
          </a:solidFill>
          <a:ln w="13970">
            <a:solidFill>
              <a:srgbClr val="E24A5A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after free → undefined behavior.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166360" y="4114800"/>
            <a:ext cx="5394960" cy="594360"/>
          </a:xfrm>
          <a:prstGeom prst="rect">
            <a:avLst/>
          </a:prstGeom>
          <a:solidFill>
            <a:srgbClr val="201B0B"/>
          </a:solidFill>
          <a:ln w="13970">
            <a:solidFill>
              <a:srgbClr val="F4B000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realloc may move the block; old aliases become dangerous.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828800" y="5532120"/>
            <a:ext cx="8549640" cy="530352"/>
          </a:xfrm>
          <a:prstGeom prst="rect">
            <a:avLst/>
          </a:prstGeom>
          <a:solidFill>
            <a:srgbClr val="71360B"/>
          </a:solidFill>
          <a:ln w="13970">
            <a:solidFill>
              <a:srgbClr val="E673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smallest possible ownership lesson.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070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RAII and unique_ptr elevate the contract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32688" cy="0"/>
          </a:xfrm>
          <a:prstGeom prst="line">
            <a:avLst/>
          </a:prstGeom>
          <a:noFill/>
          <a:ln w="38100">
            <a:solidFill>
              <a:srgbClr val="E67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96112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0C3"/>
                </a:solidFill>
              </a:rPr>
              <a:t>Modern C++ reduces ceremony, but the ownership contract is still the point.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0" y="2944368"/>
            <a:ext cx="1143000" cy="0"/>
          </a:xfrm>
          <a:prstGeom prst="line">
            <a:avLst/>
          </a:prstGeom>
          <a:noFill/>
          <a:ln w="17780">
            <a:solidFill>
              <a:srgbClr val="2D3A59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263640" y="2944368"/>
            <a:ext cx="1143000" cy="0"/>
          </a:xfrm>
          <a:prstGeom prst="line">
            <a:avLst/>
          </a:prstGeom>
          <a:noFill/>
          <a:ln w="17780">
            <a:solidFill>
              <a:srgbClr val="2D3A59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868680" y="2039112"/>
            <a:ext cx="1874520" cy="1783080"/>
          </a:xfrm>
          <a:prstGeom prst="rect">
            <a:avLst/>
          </a:prstGeom>
          <a:solidFill>
            <a:srgbClr val="6F1C28"/>
          </a:solidFill>
          <a:ln w="13970">
            <a:solidFill>
              <a:srgbClr val="E24A5A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pair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4096512"/>
            <a:ext cx="1508760" cy="841248"/>
          </a:xfrm>
          <a:prstGeom prst="rect">
            <a:avLst/>
          </a:prstGeom>
          <a:solidFill>
            <a:srgbClr val="050A16"/>
          </a:solidFill>
          <a:ln w="12700">
            <a:solidFill>
              <a:srgbClr val="E24A5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malloc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86200" y="2039112"/>
            <a:ext cx="2377440" cy="1783080"/>
          </a:xfrm>
          <a:prstGeom prst="rect">
            <a:avLst/>
          </a:prstGeom>
          <a:solidFill>
            <a:srgbClr val="124C65"/>
          </a:solidFill>
          <a:ln w="13970">
            <a:solidFill>
              <a:srgbClr val="16B6C9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RAII object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60520" y="4096512"/>
            <a:ext cx="1828800" cy="841248"/>
          </a:xfrm>
          <a:prstGeom prst="rect">
            <a:avLst/>
          </a:prstGeom>
          <a:solidFill>
            <a:srgbClr val="050A16"/>
          </a:solidFill>
          <a:ln w="12700">
            <a:solidFill>
              <a:srgbClr val="16B6C9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destructor closes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06640" y="2039112"/>
            <a:ext cx="2331720" cy="1783080"/>
          </a:xfrm>
          <a:prstGeom prst="rect">
            <a:avLst/>
          </a:prstGeom>
          <a:solidFill>
            <a:srgbClr val="154D2C"/>
          </a:solidFill>
          <a:ln w="13970">
            <a:solidFill>
              <a:srgbClr val="2FB660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unique_ptr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99248" y="4096512"/>
            <a:ext cx="1691640" cy="841248"/>
          </a:xfrm>
          <a:prstGeom prst="rect">
            <a:avLst/>
          </a:prstGeom>
          <a:solidFill>
            <a:srgbClr val="050A16"/>
          </a:solidFill>
          <a:ln w="12700">
            <a:solidFill>
              <a:srgbClr val="2FB66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make_unique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371600" y="5596128"/>
            <a:ext cx="9464040" cy="493776"/>
          </a:xfrm>
          <a:prstGeom prst="rect">
            <a:avLst/>
          </a:prstGeom>
          <a:solidFill>
            <a:srgbClr val="09142B"/>
          </a:solidFill>
          <a:ln w="13970">
            <a:solidFill>
              <a:srgbClr val="8B5C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is real.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the student still needs to know what problem was solved.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070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skill is not obsolete: custom handles still matter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32688" cy="0"/>
          </a:xfrm>
          <a:prstGeom prst="line">
            <a:avLst/>
          </a:prstGeom>
          <a:noFill/>
          <a:ln w="38100">
            <a:solidFill>
              <a:srgbClr val="E67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96112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0C3"/>
                </a:solidFill>
              </a:rPr>
              <a:t>Good C++ developers still design types that own non-memory resources.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536192"/>
            <a:ext cx="1965960" cy="731520"/>
          </a:xfrm>
          <a:prstGeom prst="rect">
            <a:avLst/>
          </a:prstGeom>
          <a:solidFill>
            <a:srgbClr val="124C65"/>
          </a:solidFill>
          <a:ln w="13970">
            <a:solidFill>
              <a:srgbClr val="16B6C9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descriptor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63240" y="1536192"/>
            <a:ext cx="1600200" cy="731520"/>
          </a:xfrm>
          <a:prstGeom prst="rect">
            <a:avLst/>
          </a:prstGeom>
          <a:solidFill>
            <a:srgbClr val="124C65"/>
          </a:solidFill>
          <a:ln w="13970">
            <a:solidFill>
              <a:srgbClr val="16B6C9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socket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4920" y="1536192"/>
            <a:ext cx="1783080" cy="731520"/>
          </a:xfrm>
          <a:prstGeom prst="rect">
            <a:avLst/>
          </a:prstGeom>
          <a:solidFill>
            <a:srgbClr val="124C65"/>
          </a:solidFill>
          <a:ln w="13970">
            <a:solidFill>
              <a:srgbClr val="16B6C9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buffer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69480" y="1536192"/>
            <a:ext cx="1783080" cy="731520"/>
          </a:xfrm>
          <a:prstGeom prst="rect">
            <a:avLst/>
          </a:prstGeom>
          <a:solidFill>
            <a:srgbClr val="124C65"/>
          </a:solidFill>
          <a:ln w="13970">
            <a:solidFill>
              <a:srgbClr val="16B6C9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64040" y="1536192"/>
            <a:ext cx="1783080" cy="731520"/>
          </a:xfrm>
          <a:prstGeom prst="rect">
            <a:avLst/>
          </a:prstGeom>
          <a:solidFill>
            <a:srgbClr val="124C65"/>
          </a:solidFill>
          <a:ln w="13970">
            <a:solidFill>
              <a:srgbClr val="16B6C9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 / guard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788920"/>
            <a:ext cx="4892040" cy="2606040"/>
          </a:xfrm>
          <a:prstGeom prst="rect">
            <a:avLst/>
          </a:prstGeom>
          <a:solidFill>
            <a:srgbClr val="050A16"/>
          </a:solidFill>
          <a:ln w="12700">
            <a:solidFill>
              <a:srgbClr val="2D3A59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fd_handle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fd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fd_handle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noexcept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fd_handle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fd_handle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other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noexcept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fd_handle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fd_handle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other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noexcept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fd_handle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fd_handle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fd_handle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6629400" y="3063240"/>
            <a:ext cx="4069080" cy="1143000"/>
          </a:xfrm>
          <a:prstGeom prst="rect">
            <a:avLst/>
          </a:prstGeom>
          <a:solidFill>
            <a:srgbClr val="71360B"/>
          </a:solidFill>
          <a:ln w="13970">
            <a:solidFill>
              <a:srgbClr val="E6731A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question is unchanged: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closes it, and exactly once?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629400" y="4709160"/>
            <a:ext cx="4069080" cy="749808"/>
          </a:xfrm>
          <a:prstGeom prst="rect">
            <a:avLst/>
          </a:prstGeom>
          <a:solidFill>
            <a:srgbClr val="31235F"/>
          </a:solidFill>
          <a:ln w="13970">
            <a:solidFill>
              <a:srgbClr val="8B5CF6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does not remove this design skill.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makes more of it statically visible.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070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ownership checklist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32688" cy="0"/>
          </a:xfrm>
          <a:prstGeom prst="line">
            <a:avLst/>
          </a:prstGeom>
          <a:noFill/>
          <a:ln w="38100">
            <a:solidFill>
              <a:srgbClr val="E67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96112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0C3"/>
                </a:solidFill>
              </a:rPr>
              <a:t>These are not Rust questions. These are systems-programming questions.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2514600" cy="713232"/>
          </a:xfrm>
          <a:prstGeom prst="rect">
            <a:avLst/>
          </a:prstGeom>
          <a:solidFill>
            <a:srgbClr val="71360B"/>
          </a:solidFill>
          <a:ln w="13970">
            <a:solidFill>
              <a:srgbClr val="E673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owns it?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12464" y="1600200"/>
            <a:ext cx="2514600" cy="713232"/>
          </a:xfrm>
          <a:prstGeom prst="rect">
            <a:avLst/>
          </a:prstGeom>
          <a:solidFill>
            <a:srgbClr val="6F1C28"/>
          </a:solidFill>
          <a:ln w="13970">
            <a:solidFill>
              <a:srgbClr val="E24A5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destroys it?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47688" y="1600200"/>
            <a:ext cx="2514600" cy="713232"/>
          </a:xfrm>
          <a:prstGeom prst="rect">
            <a:avLst/>
          </a:prstGeom>
          <a:solidFill>
            <a:srgbClr val="154D2C"/>
          </a:solidFill>
          <a:ln w="13970">
            <a:solidFill>
              <a:srgbClr val="2FB66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it be copied?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82912" y="1600200"/>
            <a:ext cx="2514600" cy="713232"/>
          </a:xfrm>
          <a:prstGeom prst="rect">
            <a:avLst/>
          </a:prstGeom>
          <a:solidFill>
            <a:srgbClr val="124C65"/>
          </a:solidFill>
          <a:ln w="13970">
            <a:solidFill>
              <a:srgbClr val="16B6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ownership move?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660904"/>
            <a:ext cx="2514600" cy="713232"/>
          </a:xfrm>
          <a:prstGeom prst="rect">
            <a:avLst/>
          </a:prstGeom>
          <a:solidFill>
            <a:srgbClr val="31235F"/>
          </a:solidFill>
          <a:ln w="13970">
            <a:solidFill>
              <a:srgbClr val="8B5C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may borrow it?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12464" y="2660904"/>
            <a:ext cx="2514600" cy="713232"/>
          </a:xfrm>
          <a:prstGeom prst="rect">
            <a:avLst/>
          </a:prstGeom>
          <a:solidFill>
            <a:srgbClr val="725000"/>
          </a:solidFill>
          <a:ln w="13970">
            <a:solidFill>
              <a:srgbClr val="F4B00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may mutate it?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47688" y="2660904"/>
            <a:ext cx="2514600" cy="713232"/>
          </a:xfrm>
          <a:prstGeom prst="rect">
            <a:avLst/>
          </a:prstGeom>
          <a:solidFill>
            <a:srgbClr val="6F1C28"/>
          </a:solidFill>
          <a:ln w="13970">
            <a:solidFill>
              <a:srgbClr val="E24A5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references outlive it?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82912" y="2660904"/>
            <a:ext cx="2514600" cy="713232"/>
          </a:xfrm>
          <a:prstGeom prst="rect">
            <a:avLst/>
          </a:prstGeom>
          <a:solidFill>
            <a:srgbClr val="14203A"/>
          </a:solidFill>
          <a:ln w="13970">
            <a:solidFill>
              <a:srgbClr val="2D3A5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on error?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4069080"/>
            <a:ext cx="4709160" cy="960120"/>
          </a:xfrm>
          <a:prstGeom prst="rect">
            <a:avLst/>
          </a:prstGeom>
          <a:solidFill>
            <a:srgbClr val="124C65"/>
          </a:solidFill>
          <a:ln w="13970">
            <a:solidFill>
              <a:srgbClr val="16B6C9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lets many answers live in convention, naming, reviews, and documentation.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6520" y="4069080"/>
            <a:ext cx="4709160" cy="960120"/>
          </a:xfrm>
          <a:prstGeom prst="rect">
            <a:avLst/>
          </a:prstGeom>
          <a:solidFill>
            <a:srgbClr val="71360B"/>
          </a:solidFill>
          <a:ln w="13970">
            <a:solidFill>
              <a:srgbClr val="E6731A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requires enough answers in types and lifetimes for the compiler to reason.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51560" y="5650992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</a:rPr>
              <a:t>The course makes students ask the checklist before the compiler does.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070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makes C++ intuition executable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32688" cy="0"/>
          </a:xfrm>
          <a:prstGeom prst="line">
            <a:avLst/>
          </a:prstGeom>
          <a:noFill/>
          <a:ln w="38100">
            <a:solidFill>
              <a:srgbClr val="E67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96112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0C3"/>
                </a:solidFill>
              </a:rPr>
              <a:t>A good C++ developer often knows the danger. Rust asks the program to prove it.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2926080" cy="384048"/>
          </a:xfrm>
          <a:prstGeom prst="rect">
            <a:avLst/>
          </a:prstGeom>
          <a:solidFill>
            <a:srgbClr val="124C65"/>
          </a:solidFill>
          <a:ln w="15240">
            <a:solidFill>
              <a:srgbClr val="16B6C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Experienced C++ intuition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663440" y="1463040"/>
            <a:ext cx="2880360" cy="384048"/>
          </a:xfrm>
          <a:prstGeom prst="rect">
            <a:avLst/>
          </a:prstGeom>
          <a:solidFill>
            <a:srgbClr val="71360B"/>
          </a:solidFill>
          <a:ln w="15240">
            <a:solidFill>
              <a:srgbClr val="E6731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Rust compiler question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366760" y="1463040"/>
            <a:ext cx="2331720" cy="384048"/>
          </a:xfrm>
          <a:prstGeom prst="rect">
            <a:avLst/>
          </a:prstGeom>
          <a:solidFill>
            <a:srgbClr val="31235F"/>
          </a:solidFill>
          <a:ln w="15240">
            <a:solidFill>
              <a:srgbClr val="8B5CF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Teaching moment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3063240" cy="2084832"/>
          </a:xfrm>
          <a:prstGeom prst="rect">
            <a:avLst/>
          </a:prstGeom>
          <a:solidFill>
            <a:srgbClr val="124C65"/>
          </a:solidFill>
          <a:ln w="13970">
            <a:solidFill>
              <a:srgbClr val="16B6C9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“This reference might dangle.”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“This move leaves a source behind.”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“This mutation may invalidate aliases.”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103120"/>
            <a:ext cx="3063240" cy="2084832"/>
          </a:xfrm>
          <a:prstGeom prst="rect">
            <a:avLst/>
          </a:prstGeom>
          <a:solidFill>
            <a:srgbClr val="71360B"/>
          </a:solidFill>
          <a:ln w="13970">
            <a:solidFill>
              <a:srgbClr val="E6731A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is the owner?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long is the borrow?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mutation exclusive?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75320" y="2103120"/>
            <a:ext cx="3063240" cy="2084832"/>
          </a:xfrm>
          <a:prstGeom prst="rect">
            <a:avLst/>
          </a:prstGeom>
          <a:solidFill>
            <a:srgbClr val="31235F"/>
          </a:solidFill>
          <a:ln w="13970">
            <a:solidFill>
              <a:srgbClr val="8B5CF6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just fix the error.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resource fact the compiler could not prove.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63040" y="5257800"/>
            <a:ext cx="9235440" cy="603504"/>
          </a:xfrm>
          <a:prstGeom prst="rect">
            <a:avLst/>
          </a:prstGeom>
          <a:solidFill>
            <a:srgbClr val="09142B"/>
          </a:solidFill>
          <a:ln w="13970">
            <a:solidFill>
              <a:srgbClr val="F4B00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is not replacing your C++ knowledge. It is interrogating it.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070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Use-after-move: same concern, different contract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32688" cy="0"/>
          </a:xfrm>
          <a:prstGeom prst="line">
            <a:avLst/>
          </a:prstGeom>
          <a:noFill/>
          <a:ln w="38100">
            <a:solidFill>
              <a:srgbClr val="E67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96112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0C3"/>
                </a:solidFill>
              </a:rPr>
              <a:t>C++ has a valid source object after move; Rust often removes the source binding from legal use.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344168"/>
            <a:ext cx="749808" cy="310896"/>
          </a:xfrm>
          <a:prstGeom prst="rect">
            <a:avLst/>
          </a:prstGeom>
          <a:solidFill>
            <a:srgbClr val="124C65"/>
          </a:solidFill>
          <a:ln w="15240">
            <a:solidFill>
              <a:srgbClr val="16B6C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C++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0" y="1344168"/>
            <a:ext cx="777240" cy="310896"/>
          </a:xfrm>
          <a:prstGeom prst="rect">
            <a:avLst/>
          </a:prstGeom>
          <a:solidFill>
            <a:srgbClr val="71360B"/>
          </a:solidFill>
          <a:ln w="15240">
            <a:solidFill>
              <a:srgbClr val="E6731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Rust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4846320" cy="2560320"/>
          </a:xfrm>
          <a:prstGeom prst="rect">
            <a:avLst/>
          </a:prstGeom>
          <a:solidFill>
            <a:srgbClr val="050A16"/>
          </a:solidFill>
          <a:ln w="12700">
            <a:solidFill>
              <a:srgbClr val="16B6C9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unique_ptr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make_foo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 is valid but empty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expected */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4846320" cy="2560320"/>
          </a:xfrm>
          <a:prstGeom prst="rect">
            <a:avLst/>
          </a:prstGeom>
          <a:solidFill>
            <a:srgbClr val="050A16"/>
          </a:solidFill>
          <a:ln w="12700">
            <a:solidFill>
              <a:srgbClr val="E6731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println!("{p:?}");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error: value borrowed after move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914400" y="4892040"/>
            <a:ext cx="4480560" cy="768096"/>
          </a:xfrm>
          <a:prstGeom prst="rect">
            <a:avLst/>
          </a:prstGeom>
          <a:solidFill>
            <a:srgbClr val="124C65"/>
          </a:solidFill>
          <a:ln w="13970">
            <a:solidFill>
              <a:srgbClr val="16B6C9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lesson: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“moved-from” is a state you must design and document.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4892040"/>
            <a:ext cx="4480560" cy="768096"/>
          </a:xfrm>
          <a:prstGeom prst="rect">
            <a:avLst/>
          </a:prstGeom>
          <a:solidFill>
            <a:srgbClr val="71360B"/>
          </a:solidFill>
          <a:ln w="13970">
            <a:solidFill>
              <a:srgbClr val="E6731A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lesson: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changes which future uses are well-typed.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070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Borrowing teaches aliasing discipline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32688" cy="0"/>
          </a:xfrm>
          <a:prstGeom prst="line">
            <a:avLst/>
          </a:prstGeom>
          <a:noFill/>
          <a:ln w="38100">
            <a:solidFill>
              <a:srgbClr val="E67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96112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0C3"/>
                </a:solidFill>
              </a:rPr>
              <a:t>The “annoying” Rust rule points at a familiar C++ footgun.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1325880" cy="310896"/>
          </a:xfrm>
          <a:prstGeom prst="rect">
            <a:avLst/>
          </a:prstGeom>
          <a:solidFill>
            <a:srgbClr val="6F1C28"/>
          </a:solidFill>
          <a:ln w="15240">
            <a:solidFill>
              <a:srgbClr val="E24A5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C++ danger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46520" y="1371600"/>
            <a:ext cx="1417320" cy="310896"/>
          </a:xfrm>
          <a:prstGeom prst="rect">
            <a:avLst/>
          </a:prstGeom>
          <a:solidFill>
            <a:srgbClr val="71360B"/>
          </a:solidFill>
          <a:ln w="15240">
            <a:solidFill>
              <a:srgbClr val="E6731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Rust reaction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4983480" cy="2834640"/>
          </a:xfrm>
          <a:prstGeom prst="rect">
            <a:avLst/>
          </a:prstGeom>
          <a:solidFill>
            <a:srgbClr val="050A16"/>
          </a:solidFill>
          <a:ln w="12700">
            <a:solidFill>
              <a:srgbClr val="E24A5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push_back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may reallocate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x may dangle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446520" y="1783080"/>
            <a:ext cx="4983480" cy="2834640"/>
          </a:xfrm>
          <a:prstGeom prst="rect">
            <a:avLst/>
          </a:prstGeom>
          <a:solidFill>
            <a:srgbClr val="050A16"/>
          </a:solidFill>
          <a:ln w="12700">
            <a:solidFill>
              <a:srgbClr val="E6731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vec!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println!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"{x}"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rejected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691640" y="5193792"/>
            <a:ext cx="8823960" cy="658368"/>
          </a:xfrm>
          <a:prstGeom prst="rect">
            <a:avLst/>
          </a:prstGeom>
          <a:solidFill>
            <a:srgbClr val="09142B"/>
          </a:solidFill>
          <a:ln w="13970">
            <a:solidFill>
              <a:srgbClr val="F4B00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C++ programmers know container invalidation rules.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forces the aliasing question into the type check.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070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teaching loop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32688" cy="0"/>
          </a:xfrm>
          <a:prstGeom prst="line">
            <a:avLst/>
          </a:prstGeom>
          <a:noFill/>
          <a:ln w="38100">
            <a:solidFill>
              <a:srgbClr val="E67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96112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0C3"/>
                </a:solidFill>
              </a:rPr>
              <a:t>Turn every Rust diagnostic into a C++ design discussion.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926080" y="2971800"/>
            <a:ext cx="960120" cy="0"/>
          </a:xfrm>
          <a:prstGeom prst="line">
            <a:avLst/>
          </a:prstGeom>
          <a:noFill/>
          <a:ln w="17780">
            <a:solidFill>
              <a:srgbClr val="2D3A59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355080" y="2971800"/>
            <a:ext cx="960120" cy="0"/>
          </a:xfrm>
          <a:prstGeom prst="line">
            <a:avLst/>
          </a:prstGeom>
          <a:noFill/>
          <a:ln w="17780">
            <a:solidFill>
              <a:srgbClr val="2D3A5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138160" y="3931920"/>
            <a:ext cx="-4251960" cy="475488"/>
          </a:xfrm>
          <a:prstGeom prst="line">
            <a:avLst/>
          </a:prstGeom>
          <a:noFill/>
          <a:ln w="12700">
            <a:solidFill>
              <a:srgbClr val="2D3A59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68680" y="2148840"/>
            <a:ext cx="2057400" cy="1554480"/>
          </a:xfrm>
          <a:prstGeom prst="rect">
            <a:avLst/>
          </a:prstGeom>
          <a:solidFill>
            <a:srgbClr val="124C65"/>
          </a:solidFill>
          <a:ln w="13970">
            <a:solidFill>
              <a:srgbClr val="16B6C9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asks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“Is this safe?”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886200" y="2148840"/>
            <a:ext cx="2468880" cy="1554480"/>
          </a:xfrm>
          <a:prstGeom prst="rect">
            <a:avLst/>
          </a:prstGeom>
          <a:solidFill>
            <a:srgbClr val="71360B"/>
          </a:solidFill>
          <a:ln w="13970">
            <a:solidFill>
              <a:srgbClr val="E6731A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asks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“Can you prove it?”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0" y="2148840"/>
            <a:ext cx="2743200" cy="1554480"/>
          </a:xfrm>
          <a:prstGeom prst="rect">
            <a:avLst/>
          </a:prstGeom>
          <a:solidFill>
            <a:srgbClr val="31235F"/>
          </a:solidFill>
          <a:ln w="13970">
            <a:solidFill>
              <a:srgbClr val="8B5CF6"/>
            </a:solidFill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asks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fact is missing?”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331720" y="4800600"/>
            <a:ext cx="7589520" cy="694944"/>
          </a:xfrm>
          <a:prstGeom prst="rect">
            <a:avLst/>
          </a:prstGeom>
          <a:solidFill>
            <a:srgbClr val="09142B"/>
          </a:solidFill>
          <a:ln w="13970">
            <a:solidFill>
              <a:srgbClr val="2FB66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return to C++ and redesign the API, object lifetime, or ownership boundary.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070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students should bring back to C++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32688" cy="0"/>
          </a:xfrm>
          <a:prstGeom prst="line">
            <a:avLst/>
          </a:prstGeom>
          <a:noFill/>
          <a:ln w="38100">
            <a:solidFill>
              <a:srgbClr val="E67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96112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0C3"/>
                </a:solidFill>
              </a:rPr>
              <a:t>The Rust section should visibly improve their next C++ code review.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4983480" cy="713232"/>
          </a:xfrm>
          <a:prstGeom prst="rect">
            <a:avLst/>
          </a:prstGeom>
          <a:solidFill>
            <a:srgbClr val="71360B"/>
          </a:solidFill>
          <a:ln w="13970">
            <a:solidFill>
              <a:srgbClr val="E673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explicit ownership transfer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96312"/>
            <a:ext cx="4983480" cy="713232"/>
          </a:xfrm>
          <a:prstGeom prst="rect">
            <a:avLst/>
          </a:prstGeom>
          <a:solidFill>
            <a:srgbClr val="124C65"/>
          </a:solidFill>
          <a:ln w="13970">
            <a:solidFill>
              <a:srgbClr val="16B6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moved-from states boring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575304"/>
            <a:ext cx="4983480" cy="713232"/>
          </a:xfrm>
          <a:prstGeom prst="rect">
            <a:avLst/>
          </a:prstGeom>
          <a:solidFill>
            <a:srgbClr val="31235F"/>
          </a:solidFill>
          <a:ln w="13970">
            <a:solidFill>
              <a:srgbClr val="8B5C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observing APIs from mutating APIs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4983480" cy="713232"/>
          </a:xfrm>
          <a:prstGeom prst="rect">
            <a:avLst/>
          </a:prstGeom>
          <a:solidFill>
            <a:srgbClr val="154D2C"/>
          </a:solidFill>
          <a:ln w="13970">
            <a:solidFill>
              <a:srgbClr val="2FB66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borrowing, not just “pointer passing”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496312"/>
            <a:ext cx="4983480" cy="713232"/>
          </a:xfrm>
          <a:prstGeom prst="rect">
            <a:avLst/>
          </a:prstGeom>
          <a:solidFill>
            <a:srgbClr val="725000"/>
          </a:solidFill>
          <a:ln w="13970">
            <a:solidFill>
              <a:srgbClr val="F4B00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string_view/span as borrowed views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3575304"/>
            <a:ext cx="4983480" cy="713232"/>
          </a:xfrm>
          <a:prstGeom prst="rect">
            <a:avLst/>
          </a:prstGeom>
          <a:solidFill>
            <a:srgbClr val="6F1C28"/>
          </a:solidFill>
          <a:ln w="13970">
            <a:solidFill>
              <a:srgbClr val="E24A5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 allocator and invalidation rules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5394960"/>
            <a:ext cx="8549640" cy="548640"/>
          </a:xfrm>
          <a:prstGeom prst="rect">
            <a:avLst/>
          </a:prstGeom>
          <a:solidFill>
            <a:srgbClr val="09142B"/>
          </a:solidFill>
          <a:ln w="13970">
            <a:solidFill>
              <a:srgbClr val="E673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successful Rust course makes C++ code feel less casual.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070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thought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804672"/>
            <a:ext cx="932688" cy="0"/>
          </a:xfrm>
          <a:prstGeom prst="line">
            <a:avLst/>
          </a:prstGeom>
          <a:noFill/>
          <a:ln w="38100">
            <a:solidFill>
              <a:srgbClr val="E67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96112"/>
            <a:ext cx="10652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0C3"/>
                </a:solidFill>
              </a:rPr>
              <a:t>The deepest Rust lesson is a systems-programming lesson.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05840" y="1417320"/>
            <a:ext cx="10195560" cy="868680"/>
          </a:xfrm>
          <a:prstGeom prst="rect">
            <a:avLst/>
          </a:prstGeom>
          <a:solidFill>
            <a:srgbClr val="124C65"/>
          </a:solidFill>
          <a:ln w="13970">
            <a:solidFill>
              <a:srgbClr val="16B6C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use modern C++ and still insist on old-school memory literacy.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10195560" cy="868680"/>
          </a:xfrm>
          <a:prstGeom prst="rect">
            <a:avLst/>
          </a:prstGeom>
          <a:solidFill>
            <a:srgbClr val="71360B"/>
          </a:solidFill>
          <a:ln w="13970">
            <a:solidFill>
              <a:srgbClr val="E673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is not a substitute for understanding allocation, ownership, lifetime, and aliasing.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05840" y="4160520"/>
            <a:ext cx="10195560" cy="868680"/>
          </a:xfrm>
          <a:prstGeom prst="rect">
            <a:avLst/>
          </a:prstGeom>
          <a:solidFill>
            <a:srgbClr val="31235F"/>
          </a:solidFill>
          <a:ln w="13970">
            <a:solidFill>
              <a:srgbClr val="8B5C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a loud, useful compiler front end that forces those topics back into the foreground.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51560" y="5724144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</a:rPr>
              <a:t>Course mantra: “Do not merely silence the compiler. Explain the ownership fact.”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070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FOSS Club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 Interrogates Your C++ Knowledge</dc:title>
  <dc:subject>Rust for C++ developers: memory literacy and ownership</dc:subject>
  <dc:creator>OpenAI</dc:creator>
  <cp:lastModifiedBy>OpenAI</cp:lastModifiedBy>
  <cp:revision>1</cp:revision>
  <dcterms:created xsi:type="dcterms:W3CDTF">2026-09-12T22:41:23Z</dcterms:created>
  <dcterms:modified xsi:type="dcterms:W3CDTF">2026-09-12T22:41:23Z</dcterms:modified>
</cp:coreProperties>
</file>