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 Book, References and Borrowing, https://doc.rust-lang.org/stable/book/ch04-02-references-and-borrowing.html
- Rust Book, Fearless Concurrency, https://doc.rust-lang.org/book/ch16-00-concurrency.html
- C++ working draft [intro.races], https://eel.is/c++draft/intro.races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 Book, References and Borrowing, https://doc.rust-lang.org/stable/book/ch04-02-references-and-borrowing.html
- C++ working draft [intro.races], https://eel.is/c++draft/intro.races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 Book, References and Borrowing, https://doc.rust-lang.org/stable/book/ch04-02-references-and-borrowing.html
- Rust std::cell::UnsafeCell, https://doc.rust-lang.org/stable/std/cell/struct.UnsafeCell.html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C++ working draft [intro.races], https://eel.is/c++draft/intro.races
- Rust Book, References and Borrowing, https://doc.rust-lang.org/stable/book/ch04-02-references-and-borrowing.html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 Book, References and Borrowing, https://doc.rust-lang.org/stable/book/ch04-02-references-and-borrowing.html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 Book, References and Borrowing, https://doc.rust-lang.org/stable/book/ch04-02-references-and-borrowing.html
- C++ working draft [intro.races], https://eel.is/c++draft/intro.races
- Rust Reference, Behavior considered undefined, https://doc.rust-lang.org/reference/behavior-considered-undefined.html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 std::cell::UnsafeCell, https://doc.rust-lang.org/stable/std/cell/struct.UnsafeCell.html
- Rust std::sync::Mutex, https://doc.rust-lang.org/std/sync/struct.Mutex.html
- Rust std::marker::Sync, https://doc.rust-lang.org/stable/std/marker/trait.Sync.html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C++ working draft [intro.races], https://eel.is/c++draft/intro.races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 Book, Fearless Concurrency, https://doc.rust-lang.org/book/ch16-00-concurrency.html
- Rust Book, Shared-State Concurrency, https://doc.rust-lang.org/book/ch16-03-shared-state.html
- Rust std::marker::Send, https://doc.rust-lang.org/stable/std/marker/trait.Send.html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 Book, Fearless Concurrency, https://doc.rust-lang.org/book/ch16-00-concurrency.html
- C++ working draft [intro.races], https://eel.is/c++draft/intro.races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 Book, Fearless Concurrency, https://doc.rust-lang.org/book/ch16-00-concurrency.html
- Rust std::marker::Send, https://doc.rust-lang.org/stable/std/marker/trait.Send.html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 std::marker::Send, https://doc.rust-lang.org/stable/std/marker/trait.Send.html
- Rust std::marker::Sync, https://doc.rust-lang.org/stable/std/marker/trait.Sync.html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 Book, Shared-State Concurrency, https://doc.rust-lang.org/book/ch16-03-shared-state.html
- Rust std::marker::Send, https://doc.rust-lang.org/stable/std/marker/trait.Send.html
- Rust std::marker::Sync, https://doc.rust-lang.org/stable/std/marker/trait.Sync.html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 std::sync::Mutex, https://doc.rust-lang.org/std/sync/struct.Mutex.html
- Rust Book, Shared-State Concurrency, https://doc.rust-lang.org/book/ch16-03-shared-state.html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C++ working draft [thread.lock.unique], https://eel.is/c++draft/thread.lock.unique
- Rust std::sync::Mutex, https://doc.rust-lang.org/std/sync/struct.Mutex.html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C++ working draft [intro.races], https://eel.is/c++draft/intro.races
- Rust Reference, Behavior considered undefined, https://doc.rust-lang.org/reference/behavior-considered-undefined.html
- Rust Book, Fearless Concurrency, https://doc.rust-lang.org/book/ch16-00-concurrency.html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 Book, Fearless Concurrency, https://doc.rust-lang.org/book/ch16-00-concurrency.html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 Book, Fearless Concurrency, https://doc.rust-lang.org/book/ch16-00-concurrency.html
- Rust Reference, Behavior considered undefined, https://doc.rust-lang.org/reference/behavior-considered-undefined.html
- C++ working draft [intro.races], https://eel.is/c++draft/intro.races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 Book, References and Borrowing, https://doc.rust-lang.org/stable/book/ch04-02-references-and-borrowing.html
- Rust Reference, Behavior considered undefined, https://doc.rust-lang.org/reference/behavior-considered-undefined.html
- C++ working draft [intro.races], https://eel.is/c++draft/intro.races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C++ working draft [intro.races], https://eel.is/c++draft/intro.races
- C++ working draft [thread.lock.unique], https://eel.is/c++draft/thread.lock.unique
- Rust Book, References and Borrowing, https://doc.rust-lang.org/stable/book/ch04-02-references-and-borrowing.html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 Book, Shared-State Concurrency, https://doc.rust-lang.org/book/ch16-03-shared-state.html
- Rust std::sync::Mutex, https://doc.rust-lang.org/std/sync/struct.Mutex.html
- C++ working draft [intro.races], https://eel.is/c++draft/intro.races
- C++ working draft [thread.lock.unique], https://eel.is/c++draft/thread.lock.unique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 std::sync::Mutex, https://doc.rust-lang.org/std/sync/struct.Mutex.html
- Rust Book, Shared-State Concurrency, https://doc.rust-lang.org/book/ch16-03-shared-state.html
- C++ working draft [thread.lock.unique], https://eel.is/c++draft/thread.lock.unique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 Book, References and Borrowing, https://doc.rust-lang.org/stable/book/ch04-02-references-and-borrowing.html
- Rust std::marker::Send, https://doc.rust-lang.org/stable/std/marker/trait.Send.html
- Rust std::marker::Sync, https://doc.rust-lang.org/stable/std/marker/trait.Sync.html
- Rust Book, Shared-State Concurrency, https://doc.rust-lang.org/book/ch16-03-shared-state.html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 std::sync::Mutex, https://doc.rust-lang.org/std/sync/struct.Mutex.html
- Rust std::cell::UnsafeCell, https://doc.rust-lang.org/stable/std/cell/struct.UnsafeCell.html
- Rust Book, Fearless Concurrency, https://doc.rust-lang.org/book/ch16-00-concurrency.html
- C++ working draft [intro.races], https://eel.is/c++draft/intro.races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 Book, References and Borrowing, https://doc.rust-lang.org/stable/book/ch04-02-references-and-borrowing.html
- Rust std::marker::Send, https://doc.rust-lang.org/stable/std/marker/trait.Send.html
- Rust std::marker::Sync, https://doc.rust-lang.org/stable/std/marker/trait.Sync.html
- Rust std::sync::Mutex, https://doc.rust-lang.org/std/sync/struct.Mutex.html
- Rust std::cell::UnsafeCell, https://doc.rust-lang.org/stable/std/cell/struct.UnsafeCell.html
- Rust Book, Fearless Concurrency, https://doc.rust-lang.org/book/ch16-00-concurrency.html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 Book, References and Borrowing, https://doc.rust-lang.org/stable/book/ch04-02-references-and-borrowing.html
- Rust Book, Fearless Concurrency, https://doc.rust-lang.org/book/ch16-00-concurrency.html
- C++ working draft [intro.races], https://eel.is/c++draft/intro.races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12"/>
          </a:solidFill>
          <a:ln w="12700">
            <a:solidFill>
              <a:srgbClr val="03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1143000"/>
            <a:ext cx="7680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Mutation &amp; Concurrency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85216" y="195681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C++ developers learning Rust: why mutation is a capability, not a casual operation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4400" y="4315968"/>
            <a:ext cx="9966960" cy="0"/>
          </a:xfrm>
          <a:prstGeom prst="line">
            <a:avLst/>
          </a:prstGeom>
          <a:noFill/>
          <a:ln w="1524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22960" y="3977640"/>
            <a:ext cx="1508760" cy="41148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 w="12700">
            <a:solidFill>
              <a:srgbClr val="10B981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4088740"/>
            <a:ext cx="1435608" cy="189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71800" y="3977640"/>
            <a:ext cx="1508760" cy="411480"/>
          </a:xfrm>
          <a:prstGeom prst="roundRect">
            <a:avLst>
              <a:gd name="adj" fmla="val 13333"/>
            </a:avLst>
          </a:prstGeom>
          <a:solidFill>
            <a:srgbClr val="0EA5E9"/>
          </a:solidFill>
          <a:ln w="12700">
            <a:solidFill>
              <a:srgbClr val="0EA5E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08376" y="4088740"/>
            <a:ext cx="1435608" cy="189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exclusive access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40680" y="3977640"/>
            <a:ext cx="1508760" cy="411480"/>
          </a:xfrm>
          <a:prstGeom prst="roundRect">
            <a:avLst>
              <a:gd name="adj" fmla="val 13333"/>
            </a:avLst>
          </a:prstGeom>
          <a:solidFill>
            <a:srgbClr val="F97316"/>
          </a:solidFill>
          <a:ln w="12700">
            <a:solidFill>
              <a:srgbClr val="F97316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77256" y="4088740"/>
            <a:ext cx="1435608" cy="189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mutation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726680" y="3977640"/>
            <a:ext cx="1508760" cy="41148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63256" y="4088740"/>
            <a:ext cx="1435608" cy="189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738360" y="3977640"/>
            <a:ext cx="1508760" cy="411480"/>
          </a:xfrm>
          <a:prstGeom prst="roundRect">
            <a:avLst>
              <a:gd name="adj" fmla="val 13333"/>
            </a:avLst>
          </a:prstGeom>
          <a:solidFill>
            <a:srgbClr val="E11D48"/>
          </a:solidFill>
          <a:ln w="12700">
            <a:solidFill>
              <a:srgbClr val="E11D48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74936" y="4088740"/>
            <a:ext cx="1435608" cy="189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234440" y="539496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Once you understand why mutation is dangerous, the coding patterns become reflex.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94360" y="6172200"/>
            <a:ext cx="1737360" cy="256032"/>
          </a:xfrm>
          <a:prstGeom prst="roundRect">
            <a:avLst>
              <a:gd name="adj" fmla="val 21429"/>
            </a:avLst>
          </a:prstGeom>
          <a:solidFill>
            <a:srgbClr val="7C3AED"/>
          </a:solidFill>
          <a:ln w="12700">
            <a:solidFill>
              <a:srgbClr val="7C3AED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" y="6241329"/>
            <a:ext cx="1664208" cy="117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mutation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606040" y="6172200"/>
            <a:ext cx="1737360" cy="256032"/>
          </a:xfrm>
          <a:prstGeom prst="roundRect">
            <a:avLst>
              <a:gd name="adj" fmla="val 21429"/>
            </a:avLst>
          </a:prstGeom>
          <a:solidFill>
            <a:srgbClr val="0EA5E9"/>
          </a:solidFill>
          <a:ln w="12700">
            <a:solidFill>
              <a:srgbClr val="0EA5E9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42616" y="6241329"/>
            <a:ext cx="1664208" cy="117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state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617720" y="6172200"/>
            <a:ext cx="1737360" cy="256032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 w="12700">
            <a:solidFill>
              <a:srgbClr val="F97316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54296" y="6241329"/>
            <a:ext cx="1664208" cy="117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629400" y="6172200"/>
            <a:ext cx="1737360" cy="256032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 w="12700">
            <a:solidFill>
              <a:srgbClr val="10B981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65976" y="6241329"/>
            <a:ext cx="1664208" cy="117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9128455" y="6629400"/>
            <a:ext cx="2331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mutation &amp; concurrency addendum</a:t>
            </a:r>
            <a:endParaRPr lang="en-US" sz="550" dirty="0"/>
          </a:p>
        </p:txBody>
      </p:sp>
      <p:sp>
        <p:nvSpPr>
          <p:cNvPr id="27" name="Text 25"/>
          <p:cNvSpPr/>
          <p:nvPr/>
        </p:nvSpPr>
        <p:spPr>
          <a:xfrm>
            <a:off x="11780215" y="660196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12"/>
          </a:solidFill>
          <a:ln w="12700">
            <a:solidFill>
              <a:srgbClr val="03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follows ownership and pointers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dangerous question changes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46304" y="663854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+ C++ systems course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780215" y="660196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777240" y="1051560"/>
            <a:ext cx="10652760" cy="1051560"/>
          </a:xfrm>
          <a:prstGeom prst="roundRect">
            <a:avLst>
              <a:gd name="adj" fmla="val 2609"/>
            </a:avLst>
          </a:prstGeom>
          <a:solidFill>
            <a:srgbClr val="030912">
              <a:alpha val="98000"/>
            </a:srgbClr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207008"/>
            <a:ext cx="103784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 asks: who is responsible?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Pointers ask: how do I reach it?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Mutation asks: who may change it now?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58368" y="2788920"/>
            <a:ext cx="2331720" cy="1115568"/>
          </a:xfrm>
          <a:prstGeom prst="roundRect">
            <a:avLst>
              <a:gd name="adj" fmla="val 3279"/>
            </a:avLst>
          </a:prstGeom>
          <a:solidFill>
            <a:srgbClr val="08111F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898648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Reachability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3227832"/>
            <a:ext cx="20025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I get to the object?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74720" y="2788920"/>
            <a:ext cx="2331720" cy="1115568"/>
          </a:xfrm>
          <a:prstGeom prst="roundRect">
            <a:avLst>
              <a:gd name="adj" fmla="val 3279"/>
            </a:avLst>
          </a:prstGeom>
          <a:solidFill>
            <a:srgbClr val="08111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02736" y="2898648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Responsibility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39312" y="3227832"/>
            <a:ext cx="20025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Who must destroy or release it?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91072" y="2788920"/>
            <a:ext cx="2331720" cy="1115568"/>
          </a:xfrm>
          <a:prstGeom prst="roundRect">
            <a:avLst>
              <a:gd name="adj" fmla="val 3279"/>
            </a:avLst>
          </a:prstGeom>
          <a:solidFill>
            <a:srgbClr val="08111F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2898648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Mutability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55664" y="3227832"/>
            <a:ext cx="20025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Who can change it?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07424" y="2788920"/>
            <a:ext cx="2331720" cy="1115568"/>
          </a:xfrm>
          <a:prstGeom prst="roundRect">
            <a:avLst>
              <a:gd name="adj" fmla="val 3279"/>
            </a:avLst>
          </a:prstGeom>
          <a:solidFill>
            <a:srgbClr val="08111F"/>
          </a:solidFill>
          <a:ln w="10160">
            <a:solidFill>
              <a:srgbClr val="E11D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0" y="2898648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Concurrency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272016" y="3227832"/>
            <a:ext cx="20025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Who else can change it at the same time?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05840" y="4937760"/>
            <a:ext cx="10149840" cy="658368"/>
          </a:xfrm>
          <a:prstGeom prst="roundRect">
            <a:avLst>
              <a:gd name="adj" fmla="val 4167"/>
            </a:avLst>
          </a:prstGeom>
          <a:solidFill>
            <a:srgbClr val="030912">
              <a:alpha val="98000"/>
            </a:srgbClr>
          </a:solidFill>
          <a:ln w="1397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509320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core hazard is not “mutable syntax.” It is mutation through an alias whose validity you did not prove.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12"/>
          </a:solidFill>
          <a:ln w="12700">
            <a:solidFill>
              <a:srgbClr val="03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Mutation is a capability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just a keyword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46304" y="663854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+ C++ systems course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780215" y="660196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1005840" y="1920240"/>
            <a:ext cx="978408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22960" y="1618488"/>
            <a:ext cx="1691640" cy="530352"/>
          </a:xfrm>
          <a:prstGeom prst="roundRect">
            <a:avLst>
              <a:gd name="adj" fmla="val 10345"/>
            </a:avLst>
          </a:prstGeom>
          <a:solidFill>
            <a:srgbClr val="10B981"/>
          </a:solidFill>
          <a:ln w="12700">
            <a:solidFill>
              <a:srgbClr val="10B981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61683"/>
            <a:ext cx="1618488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exists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017520" y="1618488"/>
            <a:ext cx="1691640" cy="530352"/>
          </a:xfrm>
          <a:prstGeom prst="roundRect">
            <a:avLst>
              <a:gd name="adj" fmla="val 10345"/>
            </a:avLst>
          </a:prstGeom>
          <a:solidFill>
            <a:srgbClr val="0EA5E9"/>
          </a:solidFill>
          <a:ln w="12700">
            <a:solidFill>
              <a:srgbClr val="0EA5E9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54096" y="1761683"/>
            <a:ext cx="1618488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addressable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212080" y="1618488"/>
            <a:ext cx="1691640" cy="530352"/>
          </a:xfrm>
          <a:prstGeom prst="roundRect">
            <a:avLst>
              <a:gd name="adj" fmla="val 10345"/>
            </a:avLst>
          </a:prstGeom>
          <a:solidFill>
            <a:srgbClr val="7C3AED"/>
          </a:solidFill>
          <a:ln w="12700">
            <a:solidFill>
              <a:srgbClr val="7C3AED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48656" y="1761683"/>
            <a:ext cx="1618488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aliased?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406640" y="1618488"/>
            <a:ext cx="1691640" cy="530352"/>
          </a:xfrm>
          <a:prstGeom prst="roundRect">
            <a:avLst>
              <a:gd name="adj" fmla="val 10345"/>
            </a:avLst>
          </a:prstGeom>
          <a:solidFill>
            <a:srgbClr val="F97316"/>
          </a:solidFill>
          <a:ln w="12700">
            <a:solidFill>
              <a:srgbClr val="F97316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43216" y="1761683"/>
            <a:ext cx="1618488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exclusive?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601200" y="1618488"/>
            <a:ext cx="1691640" cy="530352"/>
          </a:xfrm>
          <a:prstGeom prst="roundRect">
            <a:avLst>
              <a:gd name="adj" fmla="val 10345"/>
            </a:avLst>
          </a:prstGeom>
          <a:solidFill>
            <a:srgbClr val="E11D48"/>
          </a:solidFill>
          <a:ln w="12700">
            <a:solidFill>
              <a:srgbClr val="E11D48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37776" y="1761683"/>
            <a:ext cx="1618488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mutation allowed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22960" y="3063240"/>
            <a:ext cx="4846320" cy="1417320"/>
          </a:xfrm>
          <a:prstGeom prst="roundRect">
            <a:avLst>
              <a:gd name="adj" fmla="val 2581"/>
            </a:avLst>
          </a:prstGeom>
          <a:solidFill>
            <a:srgbClr val="08111F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3172968"/>
            <a:ext cx="4590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default mental model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87552" y="3502152"/>
            <a:ext cx="45171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If I have a non-const pointer/reference, I can usually write.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Safety depends on whether every alias respects the same story.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37960" y="3063240"/>
            <a:ext cx="4846320" cy="1417320"/>
          </a:xfrm>
          <a:prstGeom prst="roundRect">
            <a:avLst>
              <a:gd name="adj" fmla="val 2581"/>
            </a:avLst>
          </a:prstGeom>
          <a:solidFill>
            <a:srgbClr val="08111F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65976" y="3172968"/>
            <a:ext cx="4590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default mental model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02552" y="3502152"/>
            <a:ext cx="45171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mutable reference is an exclusive access token.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If the token exists, competing shared access is restricted.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325880" y="5257800"/>
            <a:ext cx="9555480" cy="566928"/>
          </a:xfrm>
          <a:prstGeom prst="roundRect">
            <a:avLst>
              <a:gd name="adj" fmla="val 4839"/>
            </a:avLst>
          </a:prstGeom>
          <a:solidFill>
            <a:srgbClr val="030912">
              <a:alpha val="98000"/>
            </a:srgbClr>
          </a:solidFill>
          <a:ln w="1397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63040" y="5413248"/>
            <a:ext cx="9281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“permission to mutate,” not merely “syntax that mutates.”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12"/>
          </a:solidFill>
          <a:ln w="12700">
            <a:solidFill>
              <a:srgbClr val="03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C++: mutation through aliases is powerful and dangerous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underlying issue, different proof burden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46304" y="663854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+ C++ systems course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780215" y="660196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502920" y="960120"/>
            <a:ext cx="5440680" cy="3291840"/>
          </a:xfrm>
          <a:prstGeom prst="roundRect">
            <a:avLst>
              <a:gd name="adj" fmla="val 1111"/>
            </a:avLst>
          </a:prstGeom>
          <a:solidFill>
            <a:srgbClr val="04111F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960120"/>
            <a:ext cx="544068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1014984"/>
            <a:ext cx="5294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309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C++: easy to create competing handles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621792" y="1353312"/>
            <a:ext cx="521208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void f(std::vector&lt;int&gt;&amp; v)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int&amp; x = v[0];      // alias into buffer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v.push_back(4);     // may reallocate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x = 99;             // what is x now?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6245352" y="960120"/>
            <a:ext cx="5440680" cy="3291840"/>
          </a:xfrm>
          <a:prstGeom prst="roundRect">
            <a:avLst>
              <a:gd name="adj" fmla="val 1111"/>
            </a:avLst>
          </a:prstGeom>
          <a:solidFill>
            <a:srgbClr val="04111F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5352" y="960120"/>
            <a:ext cx="5440680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014984"/>
            <a:ext cx="5294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309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actual problem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6364224" y="1353312"/>
            <a:ext cx="521208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Not the reference syntax.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Not the vector syntax.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The problem is: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  alias + mutation + time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  without a checked proof.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1097280" y="4892040"/>
            <a:ext cx="9966960" cy="749808"/>
          </a:xfrm>
          <a:prstGeom prst="roundRect">
            <a:avLst>
              <a:gd name="adj" fmla="val 3659"/>
            </a:avLst>
          </a:prstGeom>
          <a:solidFill>
            <a:srgbClr val="030912">
              <a:alpha val="98000"/>
            </a:srgbClr>
          </a:solidFill>
          <a:ln w="1397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5047488"/>
            <a:ext cx="9692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C++ programmer must know the container invalidation and aliasing story. Rust tries to make that story explicit.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12"/>
          </a:solidFill>
          <a:ln w="12700">
            <a:solidFill>
              <a:srgbClr val="03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separates two ideas C++ often blends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mutable binding vs exclusive reference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46304" y="663854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+ C++ systems course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780215" y="660196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685800" y="1005840"/>
            <a:ext cx="4983480" cy="2194560"/>
          </a:xfrm>
          <a:prstGeom prst="roundRect">
            <a:avLst>
              <a:gd name="adj" fmla="val 1667"/>
            </a:avLst>
          </a:prstGeom>
          <a:solidFill>
            <a:srgbClr val="04111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005840"/>
            <a:ext cx="498348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060704"/>
            <a:ext cx="4837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309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Mutable binding: the variable can be changed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804672" y="1399032"/>
            <a:ext cx="475488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let mut x = 10;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 += 1;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mut belongs to the binding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x is not magically shared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6492240" y="1005840"/>
            <a:ext cx="4983480" cy="2194560"/>
          </a:xfrm>
          <a:prstGeom prst="roundRect">
            <a:avLst>
              <a:gd name="adj" fmla="val 1667"/>
            </a:avLst>
          </a:prstGeom>
          <a:solidFill>
            <a:srgbClr val="04111F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1005840"/>
            <a:ext cx="4983480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1060704"/>
            <a:ext cx="4837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309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Mutable reference: a temporary exclusive loan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6611112" y="1399032"/>
            <a:ext cx="475488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let mut s = String::from("hi");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let r = &amp;mut s;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r.push_str("!");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while r is live, s is borrowed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1828800" y="4023360"/>
            <a:ext cx="8458200" cy="1417320"/>
          </a:xfrm>
          <a:prstGeom prst="roundRect">
            <a:avLst>
              <a:gd name="adj" fmla="val 2581"/>
            </a:avLst>
          </a:prstGeom>
          <a:solidFill>
            <a:srgbClr val="08111F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56816" y="4133088"/>
            <a:ext cx="8202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Pedagogical point for C++ developers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93392" y="4462272"/>
            <a:ext cx="812901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`mut` is not the essence.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essence is who holds the exclusive capability.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compiler uses that fact to reject competing access.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12"/>
          </a:solidFill>
          <a:ln w="12700">
            <a:solidFill>
              <a:srgbClr val="03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rule is a concurrency preview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readers or one writer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46304" y="663854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+ C++ systems course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780215" y="660196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1920240" y="1417320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10B981"/>
          </a:solidFill>
          <a:ln w="12700">
            <a:solidFill>
              <a:srgbClr val="10B981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56816" y="1570391"/>
            <a:ext cx="2395728" cy="260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reference &amp;T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909560" y="1417320"/>
            <a:ext cx="2743200" cy="566928"/>
          </a:xfrm>
          <a:prstGeom prst="roundRect">
            <a:avLst>
              <a:gd name="adj" fmla="val 9677"/>
            </a:avLst>
          </a:prstGeom>
          <a:solidFill>
            <a:srgbClr val="E11D48"/>
          </a:solidFill>
          <a:ln w="12700">
            <a:solidFill>
              <a:srgbClr val="E11D48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6136" y="1570391"/>
            <a:ext cx="2670048" cy="260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mutable reference &amp;mut 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60120" y="2743200"/>
            <a:ext cx="3474720" cy="1097280"/>
          </a:xfrm>
          <a:prstGeom prst="roundRect">
            <a:avLst>
              <a:gd name="adj" fmla="val 4167"/>
            </a:avLst>
          </a:prstGeom>
          <a:solidFill>
            <a:srgbClr val="08111F"/>
          </a:solidFill>
          <a:ln w="889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834640"/>
            <a:ext cx="3255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readers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allowed together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26680" y="2743200"/>
            <a:ext cx="3474720" cy="1097280"/>
          </a:xfrm>
          <a:prstGeom prst="roundRect">
            <a:avLst>
              <a:gd name="adj" fmla="val 4167"/>
            </a:avLst>
          </a:prstGeom>
          <a:solidFill>
            <a:srgbClr val="08111F"/>
          </a:solidFill>
          <a:ln w="8890">
            <a:solidFill>
              <a:srgbClr val="E11D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36408" y="2834640"/>
            <a:ext cx="3255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writer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exclusivity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34440" y="4892040"/>
            <a:ext cx="9692640" cy="685800"/>
          </a:xfrm>
          <a:prstGeom prst="roundRect">
            <a:avLst>
              <a:gd name="adj" fmla="val 4000"/>
            </a:avLst>
          </a:prstGeom>
          <a:solidFill>
            <a:srgbClr val="030912">
              <a:alpha val="98000"/>
            </a:srgbClr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5047488"/>
            <a:ext cx="9418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not arbitrary syntax. It is the single-thread version of the data-race rule.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12"/>
          </a:solidFill>
          <a:ln w="12700">
            <a:solidFill>
              <a:srgbClr val="03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Interior mutability: when the proof moves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 time vs runtime vs unsafe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46304" y="663854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+ C++ systems course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780215" y="660196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914400" y="2011680"/>
            <a:ext cx="996696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58368" y="1417320"/>
            <a:ext cx="2148840" cy="1234440"/>
          </a:xfrm>
          <a:prstGeom prst="roundRect">
            <a:avLst>
              <a:gd name="adj" fmla="val 3704"/>
            </a:avLst>
          </a:prstGeom>
          <a:solidFill>
            <a:srgbClr val="08111F"/>
          </a:solidFill>
          <a:ln w="889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1508760"/>
            <a:ext cx="19293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&amp;mut 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compile-time exclusivity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0" y="1417320"/>
            <a:ext cx="2148840" cy="1234440"/>
          </a:xfrm>
          <a:prstGeom prst="roundRect">
            <a:avLst>
              <a:gd name="adj" fmla="val 3704"/>
            </a:avLst>
          </a:prstGeom>
          <a:solidFill>
            <a:srgbClr val="08111F"/>
          </a:solidFill>
          <a:ln w="889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84448" y="1508760"/>
            <a:ext cx="19293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 / RefCell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or constrained checks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91072" y="1417320"/>
            <a:ext cx="2148840" cy="1234440"/>
          </a:xfrm>
          <a:prstGeom prst="roundRect">
            <a:avLst>
              <a:gd name="adj" fmla="val 3704"/>
            </a:avLst>
          </a:prstGeom>
          <a:solidFill>
            <a:srgbClr val="08111F"/>
          </a:solidFill>
          <a:ln w="889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508760"/>
            <a:ext cx="19293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Mutex / Atomic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synchronized shared mutation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07424" y="1417320"/>
            <a:ext cx="2148840" cy="1234440"/>
          </a:xfrm>
          <a:prstGeom prst="roundRect">
            <a:avLst>
              <a:gd name="adj" fmla="val 3704"/>
            </a:avLst>
          </a:prstGeom>
          <a:solidFill>
            <a:srgbClr val="08111F"/>
          </a:solidFill>
          <a:ln w="8890">
            <a:solidFill>
              <a:srgbClr val="E11D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17152" y="1508760"/>
            <a:ext cx="19293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UnsafeCell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primitive escape hatch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280160" y="3657600"/>
            <a:ext cx="9646920" cy="1417320"/>
          </a:xfrm>
          <a:prstGeom prst="roundRect">
            <a:avLst>
              <a:gd name="adj" fmla="val 2581"/>
            </a:avLst>
          </a:prstGeom>
          <a:solidFill>
            <a:srgbClr val="08111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08176" y="3767328"/>
            <a:ext cx="9390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nuance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44752" y="4096512"/>
            <a:ext cx="93177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Rust does not ban mutation behind shared references.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It requires that such mutation be represented by a type with a clear proof mechanism.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`UnsafeCell` is the primitive that opts out of ordinary shared-reference immutability.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12"/>
          </a:solidFill>
          <a:ln w="12700">
            <a:solidFill>
              <a:srgbClr val="03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data races: undefined behavior hiding in plain sight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underlying issue, different proof burden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46304" y="663854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+ C++ systems course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780215" y="660196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502920" y="960120"/>
            <a:ext cx="5440680" cy="3291840"/>
          </a:xfrm>
          <a:prstGeom prst="roundRect">
            <a:avLst>
              <a:gd name="adj" fmla="val 1111"/>
            </a:avLst>
          </a:prstGeom>
          <a:solidFill>
            <a:srgbClr val="04111F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960120"/>
            <a:ext cx="544068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1014984"/>
            <a:ext cx="5294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309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C++: looks like a simple counter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621792" y="1353312"/>
            <a:ext cx="521208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int counter = 0;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void worker()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for (int i = 0; i &lt; 100000; ++i)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++counter;      // read-modify-write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run worker on two threads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6245352" y="960120"/>
            <a:ext cx="5440680" cy="3291840"/>
          </a:xfrm>
          <a:prstGeom prst="roundRect">
            <a:avLst>
              <a:gd name="adj" fmla="val 1111"/>
            </a:avLst>
          </a:prstGeom>
          <a:solidFill>
            <a:srgbClr val="04111F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5352" y="960120"/>
            <a:ext cx="5440680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014984"/>
            <a:ext cx="5294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309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went wrong?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6364224" y="1353312"/>
            <a:ext cx="521208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counter++ is not one indivisible action.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It is roughly: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  load counter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  add 1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  store counter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Another thread may interleave.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Non-atomic conflicting access =&gt; data race.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1097280" y="4892040"/>
            <a:ext cx="9966960" cy="749808"/>
          </a:xfrm>
          <a:prstGeom prst="roundRect">
            <a:avLst>
              <a:gd name="adj" fmla="val 3659"/>
            </a:avLst>
          </a:prstGeom>
          <a:solidFill>
            <a:srgbClr val="030912">
              <a:alpha val="98000"/>
            </a:srgbClr>
          </a:solidFill>
          <a:ln w="1397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5047488"/>
            <a:ext cx="9692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says this is not merely a wrong answer. It is undefined behavior if the race requirements are met.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12"/>
          </a:solidFill>
          <a:ln w="12700">
            <a:solidFill>
              <a:srgbClr val="03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refuses to share mutation accidentally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compiler asks for the missing synchronization story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46304" y="663854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+ C++ systems course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780215" y="660196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658368" y="960120"/>
            <a:ext cx="5212080" cy="3383280"/>
          </a:xfrm>
          <a:prstGeom prst="roundRect">
            <a:avLst>
              <a:gd name="adj" fmla="val 1081"/>
            </a:avLst>
          </a:prstGeom>
          <a:solidFill>
            <a:srgbClr val="04111F"/>
          </a:solidFill>
          <a:ln w="10160">
            <a:solidFill>
              <a:srgbClr val="E11D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960120"/>
            <a:ext cx="5212080" cy="2560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014984"/>
            <a:ext cx="5065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309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Attempt: share a counter across threads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777240" y="1353312"/>
            <a:ext cx="4983480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use std::thread;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let mut counter = 0;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for _ in 0..2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thread::spawn(||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counter += 1;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});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6446520" y="1188720"/>
            <a:ext cx="4663440" cy="1645920"/>
          </a:xfrm>
          <a:prstGeom prst="roundRect">
            <a:avLst>
              <a:gd name="adj" fmla="val 2222"/>
            </a:avLst>
          </a:prstGeom>
          <a:solidFill>
            <a:srgbClr val="08111F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74536" y="1298448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is rejected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11112" y="1627632"/>
            <a:ext cx="433425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closure may outlive the stack frame.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Multiple threads would need mutable access.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synchronization type proves safety.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46520" y="3429000"/>
            <a:ext cx="4663440" cy="1554480"/>
          </a:xfrm>
          <a:prstGeom prst="roundRect">
            <a:avLst>
              <a:gd name="adj" fmla="val 2353"/>
            </a:avLst>
          </a:prstGeom>
          <a:solidFill>
            <a:srgbClr val="08111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74536" y="3538728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fix must change the model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11112" y="3867912"/>
            <a:ext cx="433425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Move ownership into threads, 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Share through `Arc&lt;Mutex&lt;T&gt;&gt;`, 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atomics/channels when appropriate.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234440" y="5623560"/>
            <a:ext cx="9692640" cy="502920"/>
          </a:xfrm>
          <a:prstGeom prst="roundRect">
            <a:avLst>
              <a:gd name="adj" fmla="val 5455"/>
            </a:avLst>
          </a:prstGeom>
          <a:solidFill>
            <a:srgbClr val="030912">
              <a:alpha val="98000"/>
            </a:srgbClr>
          </a:solidFill>
          <a:ln w="1397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5779008"/>
            <a:ext cx="9418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compiler is not being annoying; it is asking for the concurrency proof.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12"/>
          </a:solidFill>
          <a:ln w="12700">
            <a:solidFill>
              <a:srgbClr val="03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Concurrency is ownership under pressure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questions, multiplied by CPUs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46304" y="663854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+ C++ systems course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780215" y="660196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868680" y="1005840"/>
            <a:ext cx="4617720" cy="3017520"/>
          </a:xfrm>
          <a:prstGeom prst="roundRect">
            <a:avLst>
              <a:gd name="adj" fmla="val 1515"/>
            </a:avLst>
          </a:prstGeom>
          <a:solidFill>
            <a:srgbClr val="08111F"/>
          </a:solidFill>
          <a:ln w="889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097280"/>
            <a:ext cx="439826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Single-thread reasoning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owns it?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borrows it?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mutates it?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long is it valid?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720840" y="1005840"/>
            <a:ext cx="4617720" cy="3017520"/>
          </a:xfrm>
          <a:prstGeom prst="roundRect">
            <a:avLst>
              <a:gd name="adj" fmla="val 1515"/>
            </a:avLst>
          </a:prstGeom>
          <a:solidFill>
            <a:srgbClr val="08111F"/>
          </a:solidFill>
          <a:ln w="889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30568" y="1097280"/>
            <a:ext cx="439826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Multi-thread reasoning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owns it now?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else can access it?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synchronizes mutation?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becomes visible when?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577840" y="2487168"/>
            <a:ext cx="1024128" cy="0"/>
          </a:xfrm>
          <a:prstGeom prst="line">
            <a:avLst/>
          </a:prstGeom>
          <a:noFill/>
          <a:ln w="2286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188720" y="4846320"/>
            <a:ext cx="9829800" cy="777240"/>
          </a:xfrm>
          <a:prstGeom prst="roundRect">
            <a:avLst>
              <a:gd name="adj" fmla="val 3529"/>
            </a:avLst>
          </a:prstGeom>
          <a:solidFill>
            <a:srgbClr val="030912">
              <a:alpha val="98000"/>
            </a:srgbClr>
          </a:solidFill>
          <a:ln w="1397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" y="5001768"/>
            <a:ext cx="9555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Threads do not create a new category of bugs. They make the old ownership and aliasing bugs simultaneous.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3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12"/>
          </a:solidFill>
          <a:ln w="12700">
            <a:solidFill>
              <a:srgbClr val="03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Moving work into a thread: C++ and Rust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underlying issue, different proof burden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46304" y="663854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+ C++ systems course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780215" y="660196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502920" y="960120"/>
            <a:ext cx="5440680" cy="3291840"/>
          </a:xfrm>
          <a:prstGeom prst="roundRect">
            <a:avLst>
              <a:gd name="adj" fmla="val 1111"/>
            </a:avLst>
          </a:prstGeom>
          <a:solidFill>
            <a:srgbClr val="04111F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960120"/>
            <a:ext cx="544068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1014984"/>
            <a:ext cx="5294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309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C++: capture and lifetime are your responsibility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621792" y="1353312"/>
            <a:ext cx="521208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std::string s = "hello";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std::thread t([s = std::move(s)]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use(s);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});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t.join();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6245352" y="960120"/>
            <a:ext cx="5440680" cy="3291840"/>
          </a:xfrm>
          <a:prstGeom prst="roundRect">
            <a:avLst>
              <a:gd name="adj" fmla="val 1111"/>
            </a:avLst>
          </a:prstGeom>
          <a:solidFill>
            <a:srgbClr val="04111F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5352" y="960120"/>
            <a:ext cx="5440680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014984"/>
            <a:ext cx="5294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309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Rust: thread::spawn requires ownership-safe closure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6364224" y="1353312"/>
            <a:ext cx="521208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let s = String::from("hello");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let handle = std::thread::spawn(move ||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use_it(s);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});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handle.join().unwrap();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1097280" y="4892040"/>
            <a:ext cx="9966960" cy="749808"/>
          </a:xfrm>
          <a:prstGeom prst="roundRect">
            <a:avLst>
              <a:gd name="adj" fmla="val 3659"/>
            </a:avLst>
          </a:prstGeom>
          <a:solidFill>
            <a:srgbClr val="030912">
              <a:alpha val="98000"/>
            </a:srgbClr>
          </a:solidFill>
          <a:ln w="1397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5047488"/>
            <a:ext cx="9692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both languages the good pattern is ownership transfer. Rust makes the lifetime and transfer proof harder to skip.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3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12"/>
          </a:solidFill>
          <a:ln w="12700">
            <a:solidFill>
              <a:srgbClr val="03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and Sync: two concurrency proof obligations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may cross a thread boundary?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46304" y="663854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+ C++ systems course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780215" y="660196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822960" y="960120"/>
            <a:ext cx="4892040" cy="1920240"/>
          </a:xfrm>
          <a:prstGeom prst="roundRect">
            <a:avLst>
              <a:gd name="adj" fmla="val 1905"/>
            </a:avLst>
          </a:prstGeom>
          <a:solidFill>
            <a:srgbClr val="08111F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069848"/>
            <a:ext cx="4636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87552" y="1399032"/>
            <a:ext cx="456285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value can be transferred to another thread.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Think: ownership may cross the boundary.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`Rc&lt;T&gt;` is not Send; `Arc&lt;T&gt;` is designed for this role.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46520" y="960120"/>
            <a:ext cx="4892040" cy="1920240"/>
          </a:xfrm>
          <a:prstGeom prst="roundRect">
            <a:avLst>
              <a:gd name="adj" fmla="val 1905"/>
            </a:avLst>
          </a:prstGeom>
          <a:solidFill>
            <a:srgbClr val="08111F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74536" y="1069848"/>
            <a:ext cx="4636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11112" y="1399032"/>
            <a:ext cx="456285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shared reference `&amp;T` can be shared between threads.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Formal rule: `T` is Sync if `&amp;T` is Send.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Interior mutability must synchronize or be single-thread only.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143000" y="3977640"/>
            <a:ext cx="9921240" cy="914400"/>
          </a:xfrm>
          <a:prstGeom prst="roundRect">
            <a:avLst>
              <a:gd name="adj" fmla="val 3000"/>
            </a:avLst>
          </a:prstGeom>
          <a:solidFill>
            <a:srgbClr val="030912">
              <a:alpha val="98000"/>
            </a:srgbClr>
          </a:solidFill>
          <a:ln w="1397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4133088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asks: may ownership move across threads?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Sync asks: may shared access cross threads?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3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12"/>
          </a:solidFill>
          <a:ln w="12700">
            <a:solidFill>
              <a:srgbClr val="03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Rc vs Arc: same shape, different proof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ownership is not automatically thread-safe mutation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46304" y="663854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+ C++ systems course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780215" y="660196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685800" y="960120"/>
            <a:ext cx="4983480" cy="3063240"/>
          </a:xfrm>
          <a:prstGeom prst="roundRect">
            <a:avLst>
              <a:gd name="adj" fmla="val 1194"/>
            </a:avLst>
          </a:prstGeom>
          <a:solidFill>
            <a:srgbClr val="04111F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960120"/>
            <a:ext cx="498348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014984"/>
            <a:ext cx="4837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309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Single-thread shared ownership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804672" y="1353312"/>
            <a:ext cx="475488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use std::rc::Rc;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let a = Rc::new(data);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let b = Rc::clone(&amp;a);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reference count is not atomic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not for sharing across threads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6492240" y="960120"/>
            <a:ext cx="4983480" cy="3063240"/>
          </a:xfrm>
          <a:prstGeom prst="roundRect">
            <a:avLst>
              <a:gd name="adj" fmla="val 1194"/>
            </a:avLst>
          </a:prstGeom>
          <a:solidFill>
            <a:srgbClr val="04111F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960120"/>
            <a:ext cx="4983480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1014984"/>
            <a:ext cx="4837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309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Thread-safe shared ownership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6611112" y="1353312"/>
            <a:ext cx="475488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use std::sync::Arc;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let a = Arc::new(data);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let b = Arc::clone(&amp;a);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atomic reference count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still need Mutex/Atomic for mutation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1051560" y="5074920"/>
            <a:ext cx="10149840" cy="640080"/>
          </a:xfrm>
          <a:prstGeom prst="roundRect">
            <a:avLst>
              <a:gd name="adj" fmla="val 4286"/>
            </a:avLst>
          </a:prstGeom>
          <a:solidFill>
            <a:srgbClr val="030912">
              <a:alpha val="98000"/>
            </a:srgbClr>
          </a:solidFill>
          <a:ln w="13970">
            <a:solidFill>
              <a:srgbClr val="E11D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523036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`Arc&lt;T&gt;` makes shared ownership thread-safe. It does not make arbitrary mutation of `T` safe by magic.</a:t>
            </a:r>
            <a:endParaRPr lang="en-US" sz="15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3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12"/>
          </a:solidFill>
          <a:ln w="12700">
            <a:solidFill>
              <a:srgbClr val="03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Mutex: mutation by holding a token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lock guard is an ownership object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46304" y="663854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+ C++ systems course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780215" y="660196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2148840" y="2944368"/>
            <a:ext cx="2423160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693408" y="2944368"/>
            <a:ext cx="2377440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31520" y="2331720"/>
            <a:ext cx="2240280" cy="1188720"/>
          </a:xfrm>
          <a:prstGeom prst="roundRect">
            <a:avLst>
              <a:gd name="adj" fmla="val 3846"/>
            </a:avLst>
          </a:prstGeom>
          <a:solidFill>
            <a:srgbClr val="08111F"/>
          </a:solidFill>
          <a:ln w="889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423160"/>
            <a:ext cx="20208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Arc&lt;Mutex&lt;T&gt;&gt;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handle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0" y="2496312"/>
            <a:ext cx="1874520" cy="868680"/>
          </a:xfrm>
          <a:prstGeom prst="roundRect">
            <a:avLst>
              <a:gd name="adj" fmla="val 5263"/>
            </a:avLst>
          </a:prstGeom>
          <a:solidFill>
            <a:srgbClr val="08111F"/>
          </a:solidFill>
          <a:ln w="889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2587752"/>
            <a:ext cx="1655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lock()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052560" y="2331720"/>
            <a:ext cx="2331720" cy="1188720"/>
          </a:xfrm>
          <a:prstGeom prst="roundRect">
            <a:avLst>
              <a:gd name="adj" fmla="val 3846"/>
            </a:avLst>
          </a:prstGeom>
          <a:solidFill>
            <a:srgbClr val="08111F"/>
          </a:solidFill>
          <a:ln w="889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62288" y="2423160"/>
            <a:ext cx="211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MutexGuard&lt;T&gt;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exclusive access until drop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051560" y="4251960"/>
            <a:ext cx="10058400" cy="1417320"/>
          </a:xfrm>
          <a:prstGeom prst="roundRect">
            <a:avLst>
              <a:gd name="adj" fmla="val 2581"/>
            </a:avLst>
          </a:prstGeom>
          <a:solidFill>
            <a:srgbClr val="04111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4251960"/>
            <a:ext cx="1005840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4712" y="4306824"/>
            <a:ext cx="9912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309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pattern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170432" y="4645152"/>
            <a:ext cx="98298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let counter = Arc::new(Mutex::new(0));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let c = Arc::clone(&amp;counter);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thread::spawn(move ||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let mut n = c.lock().unwrap();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*n += 1;        // mutable access via guard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});</a:t>
            </a:r>
            <a:endParaRPr lang="en-US" sz="7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3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12"/>
          </a:solidFill>
          <a:ln w="12700">
            <a:solidFill>
              <a:srgbClr val="03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also has ownership of locks — but it is conventional discipline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underlying issue, different proof burden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46304" y="663854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+ C++ systems course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780215" y="660196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502920" y="960120"/>
            <a:ext cx="5440680" cy="3291840"/>
          </a:xfrm>
          <a:prstGeom prst="roundRect">
            <a:avLst>
              <a:gd name="adj" fmla="val 1111"/>
            </a:avLst>
          </a:prstGeom>
          <a:solidFill>
            <a:srgbClr val="04111F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960120"/>
            <a:ext cx="544068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1014984"/>
            <a:ext cx="5294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309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RAII lock guard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621792" y="1353312"/>
            <a:ext cx="521208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std::mutex m;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int counter = 0;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void worker()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std::lock_guard&lt;std::mutex&gt; lock(m);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++counter;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   // unlock when guard is destroyed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6245352" y="960120"/>
            <a:ext cx="5440680" cy="3291840"/>
          </a:xfrm>
          <a:prstGeom prst="roundRect">
            <a:avLst>
              <a:gd name="adj" fmla="val 1111"/>
            </a:avLst>
          </a:prstGeom>
          <a:solidFill>
            <a:srgbClr val="04111F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5352" y="960120"/>
            <a:ext cx="5440680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014984"/>
            <a:ext cx="5294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309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MutexGuard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6364224" y="1353312"/>
            <a:ext cx="521208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let mut n = counter.lock().unwrap();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*n += 1;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unlock when guard is dropped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1097280" y="4892040"/>
            <a:ext cx="9966960" cy="749808"/>
          </a:xfrm>
          <a:prstGeom prst="roundRect">
            <a:avLst>
              <a:gd name="adj" fmla="val 3659"/>
            </a:avLst>
          </a:prstGeom>
          <a:solidFill>
            <a:srgbClr val="030912">
              <a:alpha val="98000"/>
            </a:srgbClr>
          </a:solidFill>
          <a:ln w="1397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5047488"/>
            <a:ext cx="9692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Excellent C++ and Rust agree on the shape: scope owns the lock; mutation occurs only while the guard exists.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3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12"/>
          </a:solidFill>
          <a:ln w="12700">
            <a:solidFill>
              <a:srgbClr val="03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Atomics: shared mutation without a lock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state, explicit memory ordering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46304" y="663854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+ C++ systems course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780215" y="660196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685800" y="1051560"/>
            <a:ext cx="4983480" cy="2331720"/>
          </a:xfrm>
          <a:prstGeom prst="roundRect">
            <a:avLst>
              <a:gd name="adj" fmla="val 1569"/>
            </a:avLst>
          </a:prstGeom>
          <a:solidFill>
            <a:srgbClr val="04111F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051560"/>
            <a:ext cx="498348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106424"/>
            <a:ext cx="4837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309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804672" y="1444752"/>
            <a:ext cx="475488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std::atomic&lt;int&gt; counter{0};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void worker()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counter.fetch_add(1,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std::memory_order_relaxed);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6492240" y="1051560"/>
            <a:ext cx="4983480" cy="2331720"/>
          </a:xfrm>
          <a:prstGeom prst="roundRect">
            <a:avLst>
              <a:gd name="adj" fmla="val 1569"/>
            </a:avLst>
          </a:prstGeom>
          <a:solidFill>
            <a:srgbClr val="04111F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1051560"/>
            <a:ext cx="4983480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1106424"/>
            <a:ext cx="4837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309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6611112" y="1444752"/>
            <a:ext cx="475488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use std::sync::atomic::{AtomicI32, Ordering};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let counter = AtomicI32::new(0);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counter.fetch_add(1, Ordering::Relaxed);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1280160" y="4114800"/>
            <a:ext cx="9646920" cy="1463040"/>
          </a:xfrm>
          <a:prstGeom prst="roundRect">
            <a:avLst>
              <a:gd name="adj" fmla="val 2500"/>
            </a:avLst>
          </a:prstGeom>
          <a:solidFill>
            <a:srgbClr val="08111F"/>
          </a:solidFill>
          <a:ln w="10160">
            <a:solidFill>
              <a:srgbClr val="E11D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08176" y="4224528"/>
            <a:ext cx="9390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Teaching warning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44752" y="4553712"/>
            <a:ext cx="931773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Atomics remove the data race; they do not automatically prove the algorithm.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Ordering is part of the contract.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Relaxed is often enough for counters, not for publishing structured data.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3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12"/>
          </a:solidFill>
          <a:ln w="12700">
            <a:solidFill>
              <a:srgbClr val="03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 passing: eliminate shared mutation when possible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ownership instead of protecting aliases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46304" y="663854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+ C++ systems course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780215" y="660196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2331720" y="1975104"/>
            <a:ext cx="2743200" cy="0"/>
          </a:xfrm>
          <a:prstGeom prst="line">
            <a:avLst/>
          </a:prstGeom>
          <a:noFill/>
          <a:ln w="1651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995160" y="1975104"/>
            <a:ext cx="2743200" cy="0"/>
          </a:xfrm>
          <a:prstGeom prst="line">
            <a:avLst/>
          </a:prstGeom>
          <a:noFill/>
          <a:ln w="1651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" y="1417320"/>
            <a:ext cx="2057400" cy="1097280"/>
          </a:xfrm>
          <a:prstGeom prst="roundRect">
            <a:avLst>
              <a:gd name="adj" fmla="val 4167"/>
            </a:avLst>
          </a:prstGeom>
          <a:solidFill>
            <a:srgbClr val="08111F"/>
          </a:solidFill>
          <a:ln w="889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1508760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value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74920" y="1417320"/>
            <a:ext cx="2057400" cy="1097280"/>
          </a:xfrm>
          <a:prstGeom prst="roundRect">
            <a:avLst>
              <a:gd name="adj" fmla="val 4167"/>
            </a:avLst>
          </a:prstGeom>
          <a:solidFill>
            <a:srgbClr val="08111F"/>
          </a:solidFill>
          <a:ln w="889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84648" y="1508760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transfers value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464040" y="1417320"/>
            <a:ext cx="2057400" cy="1097280"/>
          </a:xfrm>
          <a:prstGeom prst="roundRect">
            <a:avLst>
              <a:gd name="adj" fmla="val 4167"/>
            </a:avLst>
          </a:prstGeom>
          <a:solidFill>
            <a:srgbClr val="08111F"/>
          </a:solidFill>
          <a:ln w="889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73768" y="1508760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owns value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60120" y="3291840"/>
            <a:ext cx="10287000" cy="1783080"/>
          </a:xfrm>
          <a:prstGeom prst="roundRect">
            <a:avLst>
              <a:gd name="adj" fmla="val 2051"/>
            </a:avLst>
          </a:prstGeom>
          <a:solidFill>
            <a:srgbClr val="04111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3291840"/>
            <a:ext cx="1028700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3272" y="3346704"/>
            <a:ext cx="10140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309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sketch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078992" y="3685032"/>
            <a:ext cx="10058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let (tx, rx) = std::sync::mpsc::channel();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thread::spawn(move ||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tx.send(String::from("event")).unwrap();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});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let event = rx.recv().unwrap();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1508760" y="5715000"/>
            <a:ext cx="9144000" cy="438912"/>
          </a:xfrm>
          <a:prstGeom prst="roundRect">
            <a:avLst>
              <a:gd name="adj" fmla="val 6250"/>
            </a:avLst>
          </a:prstGeom>
          <a:solidFill>
            <a:srgbClr val="030912">
              <a:alpha val="98000"/>
            </a:srgbClr>
          </a:solidFill>
          <a:ln w="1397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0" y="5870448"/>
            <a:ext cx="8869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Sometimes the best lock is no shared mutable state.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3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12"/>
          </a:solidFill>
          <a:ln w="12700">
            <a:solidFill>
              <a:srgbClr val="03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does not solve logical concurrency bugs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safety is not omniscience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46304" y="663854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+ C++ systems course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780215" y="660196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731520" y="1234440"/>
            <a:ext cx="2240280" cy="1417320"/>
          </a:xfrm>
          <a:prstGeom prst="roundRect">
            <a:avLst>
              <a:gd name="adj" fmla="val 2581"/>
            </a:avLst>
          </a:prstGeom>
          <a:solidFill>
            <a:srgbClr val="08111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344168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race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" y="1673352"/>
            <a:ext cx="19110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safe Rust aims to prevent this class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566160" y="1234440"/>
            <a:ext cx="2240280" cy="1417320"/>
          </a:xfrm>
          <a:prstGeom prst="roundRect">
            <a:avLst>
              <a:gd name="adj" fmla="val 2581"/>
            </a:avLst>
          </a:prstGeom>
          <a:solidFill>
            <a:srgbClr val="08111F"/>
          </a:solidFill>
          <a:ln w="10160">
            <a:solidFill>
              <a:srgbClr val="E11D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94176" y="1344168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Deadlock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30752" y="1673352"/>
            <a:ext cx="19110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still possible with bad lock order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0" y="1234440"/>
            <a:ext cx="2240280" cy="1417320"/>
          </a:xfrm>
          <a:prstGeom prst="roundRect">
            <a:avLst>
              <a:gd name="adj" fmla="val 2581"/>
            </a:avLst>
          </a:prstGeom>
          <a:solidFill>
            <a:srgbClr val="08111F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28816" y="1344168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Starvation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65392" y="1673352"/>
            <a:ext cx="19110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scheduler and design issue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235440" y="1234440"/>
            <a:ext cx="2240280" cy="1417320"/>
          </a:xfrm>
          <a:prstGeom prst="roundRect">
            <a:avLst>
              <a:gd name="adj" fmla="val 2581"/>
            </a:avLst>
          </a:prstGeom>
          <a:solidFill>
            <a:srgbClr val="08111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63456" y="1344168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Wrong invariant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400032" y="1673352"/>
            <a:ext cx="19110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types help, but logic remains yours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05840" y="4160520"/>
            <a:ext cx="10149840" cy="960120"/>
          </a:xfrm>
          <a:prstGeom prst="roundRect">
            <a:avLst>
              <a:gd name="adj" fmla="val 2857"/>
            </a:avLst>
          </a:prstGeom>
          <a:solidFill>
            <a:srgbClr val="030912">
              <a:alpha val="98000"/>
            </a:srgbClr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4315968"/>
            <a:ext cx="9875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Rust’s promise is not “concurrent programs are automatically correct.”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promise is narrower and still enormously valuable: many memory-unsafe concurrency errors become type errors.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3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12"/>
          </a:solidFill>
          <a:ln w="12700">
            <a:solidFill>
              <a:srgbClr val="03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Compiler angle: mutation rules become optimization fuel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semantics lower into stronger assumptions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46304" y="663854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+ C++ systems course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780215" y="660196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1417320" y="1874520"/>
            <a:ext cx="1234440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66160" y="1874520"/>
            <a:ext cx="1234440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715000" y="1874520"/>
            <a:ext cx="1234440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863840" y="1874520"/>
            <a:ext cx="1234440" cy="0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0080" y="1572768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0EA5E9"/>
          </a:solidFill>
          <a:ln w="12700">
            <a:solidFill>
              <a:srgbClr val="0EA5E9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1708556"/>
            <a:ext cx="1527048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semantics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788920" y="1572768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7C3AED"/>
          </a:solidFill>
          <a:ln w="12700">
            <a:solidFill>
              <a:srgbClr val="7C3AED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25496" y="1708556"/>
            <a:ext cx="1527048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borrow / type checking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937760" y="1572768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F97316"/>
          </a:solidFill>
          <a:ln w="12700">
            <a:solidFill>
              <a:srgbClr val="F97316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74336" y="1708556"/>
            <a:ext cx="1527048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MIR + LLVM IR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7086600" y="1572768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10B981"/>
          </a:solidFill>
          <a:ln w="12700">
            <a:solidFill>
              <a:srgbClr val="10B981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23176" y="1708556"/>
            <a:ext cx="1527048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 + atomic metadata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9235440" y="1572768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E11D48"/>
          </a:solidFill>
          <a:ln w="12700">
            <a:solidFill>
              <a:srgbClr val="E11D48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72016" y="1708556"/>
            <a:ext cx="1527048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code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143000" y="3383280"/>
            <a:ext cx="9875520" cy="1508760"/>
          </a:xfrm>
          <a:prstGeom prst="roundRect">
            <a:avLst>
              <a:gd name="adj" fmla="val 2424"/>
            </a:avLst>
          </a:prstGeom>
          <a:solidFill>
            <a:srgbClr val="08111F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71016" y="3493008"/>
            <a:ext cx="9619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compilers care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307592" y="3822192"/>
            <a:ext cx="954633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If the compiler can prove no alias mutates data, it can reorder and cache more aggressively.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If a data race is undefined behavior, optimizers may assume well-formed programs avoid it.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Atomics and locks introduce explicit synchronization boundaries.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97280" y="5486400"/>
            <a:ext cx="9966960" cy="502920"/>
          </a:xfrm>
          <a:prstGeom prst="roundRect">
            <a:avLst>
              <a:gd name="adj" fmla="val 5455"/>
            </a:avLst>
          </a:prstGeom>
          <a:solidFill>
            <a:srgbClr val="030912">
              <a:alpha val="98000"/>
            </a:srgbClr>
          </a:solidFill>
          <a:ln w="1397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34440" y="5641848"/>
            <a:ext cx="9692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type system is not just safety paperwork. It communicates facts to later compiler stages.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3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12"/>
          </a:solidFill>
          <a:ln w="12700">
            <a:solidFill>
              <a:srgbClr val="03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improvement target: make mutation contracts visible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mental model comparison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46304" y="663854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+ C++ systems course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780215" y="660196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502920" y="987552"/>
            <a:ext cx="3108960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069848"/>
            <a:ext cx="29626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09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Situation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11880" y="987552"/>
            <a:ext cx="388620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85032" y="1069848"/>
            <a:ext cx="3739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09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to ask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498080" y="987552"/>
            <a:ext cx="420624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71232" y="1069848"/>
            <a:ext cx="40599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09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habit to improve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1371600"/>
            <a:ext cx="3108960" cy="530352"/>
          </a:xfrm>
          <a:prstGeom prst="rect">
            <a:avLst/>
          </a:prstGeom>
          <a:solidFill>
            <a:srgbClr val="08111F"/>
          </a:solidFill>
          <a:ln w="12700">
            <a:solidFill>
              <a:srgbClr val="1E293B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1481328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a function mutates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3611880" y="1371600"/>
            <a:ext cx="3886200" cy="530352"/>
          </a:xfrm>
          <a:prstGeom prst="rect">
            <a:avLst/>
          </a:prstGeom>
          <a:solidFill>
            <a:srgbClr val="08111F"/>
          </a:solidFill>
          <a:ln w="12700">
            <a:solidFill>
              <a:srgbClr val="1E293B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21608" y="1481328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 it in the signature and naming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7498080" y="1371600"/>
            <a:ext cx="4206240" cy="530352"/>
          </a:xfrm>
          <a:prstGeom prst="rect">
            <a:avLst/>
          </a:prstGeom>
          <a:solidFill>
            <a:srgbClr val="08111F"/>
          </a:solidFill>
          <a:ln w="12700">
            <a:solidFill>
              <a:srgbClr val="1E293B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07808" y="1481328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 narrow mutable access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502920" y="1901952"/>
            <a:ext cx="3108960" cy="530352"/>
          </a:xfrm>
          <a:prstGeom prst="rect">
            <a:avLst/>
          </a:prstGeom>
          <a:solidFill>
            <a:srgbClr val="0B1324"/>
          </a:solidFill>
          <a:ln w="12700">
            <a:solidFill>
              <a:srgbClr val="1E293B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2011680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state is shared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3611880" y="1901952"/>
            <a:ext cx="3886200" cy="530352"/>
          </a:xfrm>
          <a:prstGeom prst="rect">
            <a:avLst/>
          </a:prstGeom>
          <a:solidFill>
            <a:srgbClr val="0B1324"/>
          </a:solidFill>
          <a:ln w="12700">
            <a:solidFill>
              <a:srgbClr val="1E293B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21608" y="2011680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ownership explicit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7498080" y="1901952"/>
            <a:ext cx="4206240" cy="530352"/>
          </a:xfrm>
          <a:prstGeom prst="rect">
            <a:avLst/>
          </a:prstGeom>
          <a:solidFill>
            <a:srgbClr val="0B1324"/>
          </a:solidFill>
          <a:ln w="12700">
            <a:solidFill>
              <a:srgbClr val="1E293B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07808" y="2011680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unique_ptr / shared_ptr / references with policy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502920" y="2432304"/>
            <a:ext cx="3108960" cy="530352"/>
          </a:xfrm>
          <a:prstGeom prst="rect">
            <a:avLst/>
          </a:prstGeom>
          <a:solidFill>
            <a:srgbClr val="08111F"/>
          </a:solidFill>
          <a:ln w="12700">
            <a:solidFill>
              <a:srgbClr val="1E293B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" y="2542032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state crosses threads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3611880" y="2432304"/>
            <a:ext cx="3886200" cy="530352"/>
          </a:xfrm>
          <a:prstGeom prst="rect">
            <a:avLst/>
          </a:prstGeom>
          <a:solidFill>
            <a:srgbClr val="08111F"/>
          </a:solidFill>
          <a:ln w="12700">
            <a:solidFill>
              <a:srgbClr val="1E293B">
                <a:alpha val="9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21608" y="2542032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say who synchronizes it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7498080" y="2432304"/>
            <a:ext cx="4206240" cy="530352"/>
          </a:xfrm>
          <a:prstGeom prst="rect">
            <a:avLst/>
          </a:prstGeom>
          <a:solidFill>
            <a:srgbClr val="08111F"/>
          </a:solidFill>
          <a:ln w="12700">
            <a:solidFill>
              <a:srgbClr val="1E293B">
                <a:alpha val="9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07808" y="2542032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mutex, atomic, queue, thread-safe wrapper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502920" y="2962656"/>
            <a:ext cx="3108960" cy="530352"/>
          </a:xfrm>
          <a:prstGeom prst="rect">
            <a:avLst/>
          </a:prstGeom>
          <a:solidFill>
            <a:srgbClr val="0B1324"/>
          </a:solidFill>
          <a:ln w="12700">
            <a:solidFill>
              <a:srgbClr val="1E293B">
                <a:alpha val="9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" y="3072384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locking is required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3611880" y="2962656"/>
            <a:ext cx="3886200" cy="530352"/>
          </a:xfrm>
          <a:prstGeom prst="rect">
            <a:avLst/>
          </a:prstGeom>
          <a:solidFill>
            <a:srgbClr val="0B1324"/>
          </a:solidFill>
          <a:ln w="12700">
            <a:solidFill>
              <a:srgbClr val="1E293B">
                <a:alpha val="9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21608" y="3072384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 lock lifetime to scope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7498080" y="2962656"/>
            <a:ext cx="4206240" cy="530352"/>
          </a:xfrm>
          <a:prstGeom prst="rect">
            <a:avLst/>
          </a:prstGeom>
          <a:solidFill>
            <a:srgbClr val="0B1324"/>
          </a:solidFill>
          <a:ln w="12700">
            <a:solidFill>
              <a:srgbClr val="1E293B">
                <a:alpha val="9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07808" y="3072384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RAII guard; avoid manual lock/unlock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502920" y="3493008"/>
            <a:ext cx="3108960" cy="530352"/>
          </a:xfrm>
          <a:prstGeom prst="rect">
            <a:avLst/>
          </a:prstGeom>
          <a:solidFill>
            <a:srgbClr val="08111F"/>
          </a:solidFill>
          <a:ln w="12700">
            <a:solidFill>
              <a:srgbClr val="1E293B">
                <a:alpha val="9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" y="3602736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data is published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3611880" y="3493008"/>
            <a:ext cx="3886200" cy="530352"/>
          </a:xfrm>
          <a:prstGeom prst="rect">
            <a:avLst/>
          </a:prstGeom>
          <a:solidFill>
            <a:srgbClr val="08111F"/>
          </a:solidFill>
          <a:ln w="12700">
            <a:solidFill>
              <a:srgbClr val="1E293B">
                <a:alpha val="9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21608" y="3602736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visibility semantics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7498080" y="3493008"/>
            <a:ext cx="4206240" cy="530352"/>
          </a:xfrm>
          <a:prstGeom prst="rect">
            <a:avLst/>
          </a:prstGeom>
          <a:solidFill>
            <a:srgbClr val="08111F"/>
          </a:solidFill>
          <a:ln w="12700">
            <a:solidFill>
              <a:srgbClr val="1E293B">
                <a:alpha val="9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07808" y="3602736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mutex release/acquire or atomic ordering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502920" y="4023360"/>
            <a:ext cx="3108960" cy="530352"/>
          </a:xfrm>
          <a:prstGeom prst="rect">
            <a:avLst/>
          </a:prstGeom>
          <a:solidFill>
            <a:srgbClr val="0B1324"/>
          </a:solidFill>
          <a:ln w="12700">
            <a:solidFill>
              <a:srgbClr val="1E293B">
                <a:alpha val="9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" y="4133088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invariants span fields</a:t>
            </a:r>
            <a:endParaRPr lang="en-US" sz="1020" dirty="0"/>
          </a:p>
        </p:txBody>
      </p:sp>
      <p:sp>
        <p:nvSpPr>
          <p:cNvPr id="46" name="Shape 44"/>
          <p:cNvSpPr/>
          <p:nvPr/>
        </p:nvSpPr>
        <p:spPr>
          <a:xfrm>
            <a:off x="3611880" y="4023360"/>
            <a:ext cx="3886200" cy="530352"/>
          </a:xfrm>
          <a:prstGeom prst="rect">
            <a:avLst/>
          </a:prstGeom>
          <a:solidFill>
            <a:srgbClr val="0B1324"/>
          </a:solidFill>
          <a:ln w="12700">
            <a:solidFill>
              <a:srgbClr val="1E293B">
                <a:alpha val="9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21608" y="4133088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exposing half-mutated objects</a:t>
            </a:r>
            <a:endParaRPr lang="en-US" sz="1020" dirty="0"/>
          </a:p>
        </p:txBody>
      </p:sp>
      <p:sp>
        <p:nvSpPr>
          <p:cNvPr id="48" name="Shape 46"/>
          <p:cNvSpPr/>
          <p:nvPr/>
        </p:nvSpPr>
        <p:spPr>
          <a:xfrm>
            <a:off x="7498080" y="4023360"/>
            <a:ext cx="4206240" cy="530352"/>
          </a:xfrm>
          <a:prstGeom prst="rect">
            <a:avLst/>
          </a:prstGeom>
          <a:solidFill>
            <a:srgbClr val="0B1324"/>
          </a:solidFill>
          <a:ln w="12700">
            <a:solidFill>
              <a:srgbClr val="1E293B">
                <a:alpha val="9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07808" y="4133088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encapsulate mutation behind methods</a:t>
            </a:r>
            <a:endParaRPr lang="en-US" sz="10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3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12"/>
          </a:solidFill>
          <a:ln w="12700">
            <a:solidFill>
              <a:srgbClr val="03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Hands-on lab: fix the shared statistics collector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task: make the proof visible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46304" y="663854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+ C++ systems course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780215" y="660196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594360" y="960120"/>
            <a:ext cx="5166360" cy="2834640"/>
          </a:xfrm>
          <a:prstGeom prst="roundRect">
            <a:avLst>
              <a:gd name="adj" fmla="val 1290"/>
            </a:avLst>
          </a:prstGeom>
          <a:solidFill>
            <a:srgbClr val="04111F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960120"/>
            <a:ext cx="516636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014984"/>
            <a:ext cx="5020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309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 / flawed C++ starter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713232" y="1353312"/>
            <a:ext cx="493776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struct Stats { int count = 0; std::vector&lt;std::string&gt; log; } stats;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void record(std::string s)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stats.count++;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stats.log.push_back(std::move(s));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call record() from many threads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6217920" y="960120"/>
            <a:ext cx="5349240" cy="2834640"/>
          </a:xfrm>
          <a:prstGeom prst="roundRect">
            <a:avLst>
              <a:gd name="adj" fmla="val 1290"/>
            </a:avLst>
          </a:prstGeom>
          <a:solidFill>
            <a:srgbClr val="04111F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960120"/>
            <a:ext cx="5349240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91072" y="1014984"/>
            <a:ext cx="5202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309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starter that should not compile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6336792" y="1353312"/>
            <a:ext cx="512064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let stats = Rc::new(RefCell::new(Stats::new()));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for i in 0..4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let s = Rc::clone(&amp;stats);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thread::spawn(move ||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s.borrow_mut().record(i);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});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1371600" y="4297680"/>
            <a:ext cx="9509760" cy="1554480"/>
          </a:xfrm>
          <a:prstGeom prst="roundRect">
            <a:avLst>
              <a:gd name="adj" fmla="val 2353"/>
            </a:avLst>
          </a:prstGeom>
          <a:solidFill>
            <a:srgbClr val="08111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99616" y="4407408"/>
            <a:ext cx="9253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36192" y="4736592"/>
            <a:ext cx="91805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Identify the race / sharing problem in both versions.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Fix the C++ version with RAII synchronization.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Fix the Rust version with the correct thread-safe ownership shape.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Explain what proof each fix gives.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3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12"/>
          </a:solidFill>
          <a:ln w="12700">
            <a:solidFill>
              <a:srgbClr val="03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Suggested lab solution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underlying issue, different proof burden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46304" y="663854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+ C++ systems course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780215" y="660196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502920" y="960120"/>
            <a:ext cx="5440680" cy="3291840"/>
          </a:xfrm>
          <a:prstGeom prst="roundRect">
            <a:avLst>
              <a:gd name="adj" fmla="val 1111"/>
            </a:avLst>
          </a:prstGeom>
          <a:solidFill>
            <a:srgbClr val="04111F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960120"/>
            <a:ext cx="544068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1014984"/>
            <a:ext cx="5294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309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C++20 solution shape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621792" y="1353312"/>
            <a:ext cx="521208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struct SafeStats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std::mutex m;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Stats stats;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void record(std::string s)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std::lock_guard&lt;std::mutex&gt; lock(m);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stats.count++;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stats.log.push_back(std::move(s));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}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};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6245352" y="960120"/>
            <a:ext cx="5440680" cy="3291840"/>
          </a:xfrm>
          <a:prstGeom prst="roundRect">
            <a:avLst>
              <a:gd name="adj" fmla="val 1111"/>
            </a:avLst>
          </a:prstGeom>
          <a:solidFill>
            <a:srgbClr val="04111F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5352" y="960120"/>
            <a:ext cx="5440680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014984"/>
            <a:ext cx="5294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309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solution shape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6364224" y="1353312"/>
            <a:ext cx="521208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let stats = Arc::new(Mutex::new(Stats::new()));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for i in 0..4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let s = Arc::clone(&amp;stats);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thread::spawn(move ||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s.lock().unwrap().record(i);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});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1097280" y="4892040"/>
            <a:ext cx="9966960" cy="749808"/>
          </a:xfrm>
          <a:prstGeom prst="roundRect">
            <a:avLst>
              <a:gd name="adj" fmla="val 3659"/>
            </a:avLst>
          </a:prstGeom>
          <a:solidFill>
            <a:srgbClr val="030912">
              <a:alpha val="98000"/>
            </a:srgbClr>
          </a:solidFill>
          <a:ln w="1397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5047488"/>
            <a:ext cx="9692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both solutions: shared handle outside, exclusive mutation while the guard is alive.</a:t>
            </a:r>
            <a:endParaRPr lang="en-US" sz="15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3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12"/>
          </a:solidFill>
          <a:ln w="12700">
            <a:solidFill>
              <a:srgbClr val="03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Quiz: mutation and concurrency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choice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46304" y="663854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+ C++ systems course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780215" y="660196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502920" y="868680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 w="12700">
            <a:solidFill>
              <a:srgbClr val="F97316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" y="937809"/>
            <a:ext cx="292608" cy="117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960120" y="777240"/>
            <a:ext cx="10652760" cy="685800"/>
          </a:xfrm>
          <a:prstGeom prst="roundRect">
            <a:avLst>
              <a:gd name="adj" fmla="val 6667"/>
            </a:avLst>
          </a:prstGeom>
          <a:solidFill>
            <a:srgbClr val="08111F"/>
          </a:solidFill>
          <a:ln w="889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868680"/>
            <a:ext cx="10433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Rust, `&amp;mut T` primarily represents:</a:t>
            </a: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mutability keyword  B. exclusive access capability  C. heap allocation  D. thread creation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502920" y="1837944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 w="12700">
            <a:solidFill>
              <a:srgbClr val="F97316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" y="1907073"/>
            <a:ext cx="292608" cy="117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960120" y="1746504"/>
            <a:ext cx="10652760" cy="685800"/>
          </a:xfrm>
          <a:prstGeom prst="roundRect">
            <a:avLst>
              <a:gd name="adj" fmla="val 6667"/>
            </a:avLst>
          </a:prstGeom>
          <a:solidFill>
            <a:srgbClr val="08111F"/>
          </a:solidFill>
          <a:ln w="889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1837944"/>
            <a:ext cx="10433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C++ situation most directly resembles Rust rejecting shared mutation?</a:t>
            </a: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virtual dispatch  B. data race or invalidated alias  C. overloaded operator  D. template instantiation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502920" y="280720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 w="12700">
            <a:solidFill>
              <a:srgbClr val="F97316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" y="2876337"/>
            <a:ext cx="292608" cy="117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960120" y="2715768"/>
            <a:ext cx="10652760" cy="685800"/>
          </a:xfrm>
          <a:prstGeom prst="roundRect">
            <a:avLst>
              <a:gd name="adj" fmla="val 6667"/>
            </a:avLst>
          </a:prstGeom>
          <a:solidFill>
            <a:srgbClr val="08111F"/>
          </a:solidFill>
          <a:ln w="889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9848" y="2807208"/>
            <a:ext cx="10433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`Send` mean?</a:t>
            </a: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`&amp;T` is sharable  B. value may transfer to another thread  C. type is atomic  D. no locks needed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502920" y="3776472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 w="12700">
            <a:solidFill>
              <a:srgbClr val="F97316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" y="3845601"/>
            <a:ext cx="292608" cy="117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960120" y="3685032"/>
            <a:ext cx="10652760" cy="685800"/>
          </a:xfrm>
          <a:prstGeom prst="roundRect">
            <a:avLst>
              <a:gd name="adj" fmla="val 6667"/>
            </a:avLst>
          </a:prstGeom>
          <a:solidFill>
            <a:srgbClr val="08111F"/>
          </a:solidFill>
          <a:ln w="889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9848" y="3776472"/>
            <a:ext cx="10433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`Sync` mean?</a:t>
            </a: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type has a mutex  B. type is copyable  C. `&amp;T` may be shared across threads  D. type is immutable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502920" y="4745736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 w="12700">
            <a:solidFill>
              <a:srgbClr val="F97316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" y="4814865"/>
            <a:ext cx="292608" cy="117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960120" y="4654296"/>
            <a:ext cx="10652760" cy="685800"/>
          </a:xfrm>
          <a:prstGeom prst="roundRect">
            <a:avLst>
              <a:gd name="adj" fmla="val 6667"/>
            </a:avLst>
          </a:prstGeom>
          <a:solidFill>
            <a:srgbClr val="08111F"/>
          </a:solidFill>
          <a:ln w="889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9848" y="4745736"/>
            <a:ext cx="10433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is `Rc&lt;T&gt;` not the normal cross-thread shared ownership tool?</a:t>
            </a: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no destructor  B. non-atomic refcount  C. uses heap  D. cannot clone</a:t>
            </a:r>
            <a:endParaRPr lang="en-US" sz="96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3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12"/>
          </a:solidFill>
          <a:ln w="12700">
            <a:solidFill>
              <a:srgbClr val="03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continued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choice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46304" y="663854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+ C++ systems course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780215" y="660196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502920" y="868680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 w="12700">
            <a:solidFill>
              <a:srgbClr val="F97316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" y="937809"/>
            <a:ext cx="292608" cy="117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960120" y="777240"/>
            <a:ext cx="10652760" cy="685800"/>
          </a:xfrm>
          <a:prstGeom prst="roundRect">
            <a:avLst>
              <a:gd name="adj" fmla="val 6667"/>
            </a:avLst>
          </a:prstGeom>
          <a:solidFill>
            <a:srgbClr val="08111F"/>
          </a:solidFill>
          <a:ln w="889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868680"/>
            <a:ext cx="10433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`Arc&lt;Mutex&lt;T&gt;&gt;` combine?</a:t>
            </a: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thread-safe shared ownership + exclusive guarded mutation  B. copying + no allocation  C. static dispatch + lifetimes  D. stack allocation only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502920" y="1837944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 w="12700">
            <a:solidFill>
              <a:srgbClr val="F97316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" y="1907073"/>
            <a:ext cx="292608" cy="117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960120" y="1746504"/>
            <a:ext cx="10652760" cy="685800"/>
          </a:xfrm>
          <a:prstGeom prst="roundRect">
            <a:avLst>
              <a:gd name="adj" fmla="val 6667"/>
            </a:avLst>
          </a:prstGeom>
          <a:solidFill>
            <a:srgbClr val="08111F"/>
          </a:solidFill>
          <a:ln w="889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1837944"/>
            <a:ext cx="10433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bug can still occur in safe Rust?</a:t>
            </a: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ordinary data race  B. use-after-free through safe references  C. deadlock  D. dangling `&amp;T`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502920" y="280720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 w="12700">
            <a:solidFill>
              <a:srgbClr val="F97316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" y="2876337"/>
            <a:ext cx="292608" cy="117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960120" y="2715768"/>
            <a:ext cx="10652760" cy="685800"/>
          </a:xfrm>
          <a:prstGeom prst="roundRect">
            <a:avLst>
              <a:gd name="adj" fmla="val 6667"/>
            </a:avLst>
          </a:prstGeom>
          <a:solidFill>
            <a:srgbClr val="08111F"/>
          </a:solidFill>
          <a:ln w="889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9848" y="2807208"/>
            <a:ext cx="10433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best C++ lesson from Rust mutation rules?</a:t>
            </a: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avoid all mutation  B. make mutation and sharing contracts explicit  C. use raw pointers more  D. never use threads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502920" y="3776472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 w="12700">
            <a:solidFill>
              <a:srgbClr val="F97316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" y="3845601"/>
            <a:ext cx="292608" cy="117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960120" y="3685032"/>
            <a:ext cx="10652760" cy="685800"/>
          </a:xfrm>
          <a:prstGeom prst="roundRect">
            <a:avLst>
              <a:gd name="adj" fmla="val 6667"/>
            </a:avLst>
          </a:prstGeom>
          <a:solidFill>
            <a:srgbClr val="08111F"/>
          </a:solidFill>
          <a:ln w="889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9848" y="3776472"/>
            <a:ext cx="10433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`UnsafeCell` do conceptually?</a:t>
            </a: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makes code thread-safe  B. opts out of shared-reference immutability  C. allocates on heap  D. disables Drop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502920" y="4745736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 w="12700">
            <a:solidFill>
              <a:srgbClr val="F97316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" y="4814865"/>
            <a:ext cx="292608" cy="117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960120" y="4654296"/>
            <a:ext cx="10652760" cy="685800"/>
          </a:xfrm>
          <a:prstGeom prst="roundRect">
            <a:avLst>
              <a:gd name="adj" fmla="val 6667"/>
            </a:avLst>
          </a:prstGeom>
          <a:solidFill>
            <a:srgbClr val="08111F"/>
          </a:solidFill>
          <a:ln w="889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9848" y="4745736"/>
            <a:ext cx="10433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central concurrency question?</a:t>
            </a: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how many cores?  B. who can mutate, who can observe, and what synchronizes them?  C. which syntax?  D. which IDE?</a:t>
            </a:r>
            <a:endParaRPr lang="en-US" sz="96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3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12"/>
          </a:solidFill>
          <a:ln w="12700">
            <a:solidFill>
              <a:srgbClr val="03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answers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the reasoning behind them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46304" y="663854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+ C++ systems course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780215" y="660196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685800" y="749808"/>
            <a:ext cx="658368" cy="256032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 w="12700">
            <a:solidFill>
              <a:srgbClr val="F97316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818937"/>
            <a:ext cx="585216" cy="117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1-B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1508760" y="676656"/>
            <a:ext cx="10012680" cy="393192"/>
          </a:xfrm>
          <a:prstGeom prst="roundRect">
            <a:avLst>
              <a:gd name="adj" fmla="val 11628"/>
            </a:avLst>
          </a:prstGeom>
          <a:solidFill>
            <a:srgbClr val="08111F"/>
          </a:solidFill>
          <a:ln w="889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18488" y="768096"/>
            <a:ext cx="9793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`&amp;mut T` is best understood as an exclusive access capability.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685800" y="1280160"/>
            <a:ext cx="658368" cy="256032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 w="12700">
            <a:solidFill>
              <a:srgbClr val="F97316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" y="1349289"/>
            <a:ext cx="585216" cy="117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2-B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1508760" y="1207008"/>
            <a:ext cx="10012680" cy="393192"/>
          </a:xfrm>
          <a:prstGeom prst="roundRect">
            <a:avLst>
              <a:gd name="adj" fmla="val 11628"/>
            </a:avLst>
          </a:prstGeom>
          <a:solidFill>
            <a:srgbClr val="08111F"/>
          </a:solidFill>
          <a:ln w="889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18488" y="1298448"/>
            <a:ext cx="9793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Rust’s rejection often corresponds to C++ alias invalidation or data-race reasoning.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685800" y="1810512"/>
            <a:ext cx="658368" cy="256032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 w="12700">
            <a:solidFill>
              <a:srgbClr val="F97316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" y="1879641"/>
            <a:ext cx="585216" cy="117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3-B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1508760" y="1737360"/>
            <a:ext cx="10012680" cy="393192"/>
          </a:xfrm>
          <a:prstGeom prst="roundRect">
            <a:avLst>
              <a:gd name="adj" fmla="val 11628"/>
            </a:avLst>
          </a:prstGeom>
          <a:solidFill>
            <a:srgbClr val="08111F"/>
          </a:solidFill>
          <a:ln w="889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18488" y="1828800"/>
            <a:ext cx="9793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`Send` means ownership of a value may be transferred across thread boundaries.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685800" y="2340864"/>
            <a:ext cx="658368" cy="256032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 w="12700">
            <a:solidFill>
              <a:srgbClr val="F97316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" y="2409993"/>
            <a:ext cx="585216" cy="117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4-C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1508760" y="2267712"/>
            <a:ext cx="10012680" cy="393192"/>
          </a:xfrm>
          <a:prstGeom prst="roundRect">
            <a:avLst>
              <a:gd name="adj" fmla="val 11628"/>
            </a:avLst>
          </a:prstGeom>
          <a:solidFill>
            <a:srgbClr val="08111F"/>
          </a:solidFill>
          <a:ln w="889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18488" y="2359152"/>
            <a:ext cx="9793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`Sync` means shared references can be shared across threads.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685800" y="2871216"/>
            <a:ext cx="658368" cy="256032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 w="12700">
            <a:solidFill>
              <a:srgbClr val="F97316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" y="2940345"/>
            <a:ext cx="585216" cy="117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5-B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1508760" y="2798064"/>
            <a:ext cx="10012680" cy="393192"/>
          </a:xfrm>
          <a:prstGeom prst="roundRect">
            <a:avLst>
              <a:gd name="adj" fmla="val 11628"/>
            </a:avLst>
          </a:prstGeom>
          <a:solidFill>
            <a:srgbClr val="08111F"/>
          </a:solidFill>
          <a:ln w="889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18488" y="2889504"/>
            <a:ext cx="9793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`Rc&lt;T&gt;` uses non-atomic reference counting; `Arc&lt;T&gt;` is the thread-safe counterpart.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685800" y="3401568"/>
            <a:ext cx="658368" cy="256032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 w="12700">
            <a:solidFill>
              <a:srgbClr val="F97316">
                <a:alpha val="9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" y="3470697"/>
            <a:ext cx="585216" cy="117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6-A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1508760" y="3328416"/>
            <a:ext cx="10012680" cy="393192"/>
          </a:xfrm>
          <a:prstGeom prst="roundRect">
            <a:avLst>
              <a:gd name="adj" fmla="val 11628"/>
            </a:avLst>
          </a:prstGeom>
          <a:solidFill>
            <a:srgbClr val="08111F"/>
          </a:solidFill>
          <a:ln w="8890">
            <a:solidFill>
              <a:srgbClr val="1E29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18488" y="3419856"/>
            <a:ext cx="9793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`Arc` shares ownership; `Mutex` controls exclusive mutation.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685800" y="3931920"/>
            <a:ext cx="658368" cy="256032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 w="12700">
            <a:solidFill>
              <a:srgbClr val="F97316">
                <a:alpha val="9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" y="4001049"/>
            <a:ext cx="585216" cy="117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7-C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1508760" y="3858768"/>
            <a:ext cx="10012680" cy="393192"/>
          </a:xfrm>
          <a:prstGeom prst="roundRect">
            <a:avLst>
              <a:gd name="adj" fmla="val 11628"/>
            </a:avLst>
          </a:prstGeom>
          <a:solidFill>
            <a:srgbClr val="08111F"/>
          </a:solidFill>
          <a:ln w="8890">
            <a:solidFill>
              <a:srgbClr val="1E29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18488" y="3950208"/>
            <a:ext cx="9793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Rust can still deadlock; it is a logic/scheduling error, not ordinary memory unsafety.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685800" y="4462272"/>
            <a:ext cx="658368" cy="256032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 w="12700">
            <a:solidFill>
              <a:srgbClr val="F97316">
                <a:alpha val="9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2376" y="4531401"/>
            <a:ext cx="585216" cy="117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8-B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1508760" y="4389120"/>
            <a:ext cx="10012680" cy="393192"/>
          </a:xfrm>
          <a:prstGeom prst="roundRect">
            <a:avLst>
              <a:gd name="adj" fmla="val 11628"/>
            </a:avLst>
          </a:prstGeom>
          <a:solidFill>
            <a:srgbClr val="08111F"/>
          </a:solidFill>
          <a:ln w="8890">
            <a:solidFill>
              <a:srgbClr val="1E293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18488" y="4480560"/>
            <a:ext cx="9793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reusable C++ lesson is to make mutation and sharing contracts visible.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685800" y="4992624"/>
            <a:ext cx="658368" cy="256032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 w="12700">
            <a:solidFill>
              <a:srgbClr val="F97316">
                <a:alpha val="9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2376" y="5061753"/>
            <a:ext cx="585216" cy="117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9-B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1508760" y="4919472"/>
            <a:ext cx="10012680" cy="393192"/>
          </a:xfrm>
          <a:prstGeom prst="roundRect">
            <a:avLst>
              <a:gd name="adj" fmla="val 11628"/>
            </a:avLst>
          </a:prstGeom>
          <a:solidFill>
            <a:srgbClr val="08111F"/>
          </a:solidFill>
          <a:ln w="8890">
            <a:solidFill>
              <a:srgbClr val="1E293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18488" y="5010912"/>
            <a:ext cx="9793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`UnsafeCell` is the primitive for interior mutability.</a:t>
            </a:r>
            <a:endParaRPr lang="en-US" sz="960" dirty="0"/>
          </a:p>
        </p:txBody>
      </p:sp>
      <p:sp>
        <p:nvSpPr>
          <p:cNvPr id="44" name="Shape 42"/>
          <p:cNvSpPr/>
          <p:nvPr/>
        </p:nvSpPr>
        <p:spPr>
          <a:xfrm>
            <a:off x="685800" y="5522976"/>
            <a:ext cx="658368" cy="256032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 w="12700">
            <a:solidFill>
              <a:srgbClr val="F97316">
                <a:alpha val="9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2376" y="5592105"/>
            <a:ext cx="585216" cy="117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10-B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1508760" y="5449824"/>
            <a:ext cx="10012680" cy="393192"/>
          </a:xfrm>
          <a:prstGeom prst="roundRect">
            <a:avLst>
              <a:gd name="adj" fmla="val 11628"/>
            </a:avLst>
          </a:prstGeom>
          <a:solidFill>
            <a:srgbClr val="08111F"/>
          </a:solidFill>
          <a:ln w="8890">
            <a:solidFill>
              <a:srgbClr val="1E293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18488" y="5541264"/>
            <a:ext cx="9793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Concurrency is about access, mutation, visibility, and synchronization.</a:t>
            </a:r>
            <a:endParaRPr lang="en-US" sz="960" dirty="0"/>
          </a:p>
        </p:txBody>
      </p:sp>
      <p:sp>
        <p:nvSpPr>
          <p:cNvPr id="48" name="Shape 46"/>
          <p:cNvSpPr/>
          <p:nvPr/>
        </p:nvSpPr>
        <p:spPr>
          <a:xfrm>
            <a:off x="1234440" y="6080760"/>
            <a:ext cx="9692640" cy="411480"/>
          </a:xfrm>
          <a:prstGeom prst="roundRect">
            <a:avLst>
              <a:gd name="adj" fmla="val 6667"/>
            </a:avLst>
          </a:prstGeom>
          <a:solidFill>
            <a:srgbClr val="030912">
              <a:alpha val="98000"/>
            </a:srgbClr>
          </a:solidFill>
          <a:ln w="1397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371600" y="6236208"/>
            <a:ext cx="94183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lesson: mutation is safe only when access, time, and synchronization are part of the design.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3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12"/>
          </a:solidFill>
          <a:ln w="12700">
            <a:solidFill>
              <a:srgbClr val="03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 thesis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students should take back to C++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46304" y="663854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+ C++ systems course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11780215" y="660196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868680" y="1005840"/>
            <a:ext cx="10469880" cy="1097280"/>
          </a:xfrm>
          <a:prstGeom prst="roundRect">
            <a:avLst>
              <a:gd name="adj" fmla="val 2500"/>
            </a:avLst>
          </a:prstGeom>
          <a:solidFill>
            <a:srgbClr val="030912">
              <a:alpha val="98000"/>
            </a:srgbClr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161288"/>
            <a:ext cx="10195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does not eliminate mutation.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forces mutation to arrive with a proof of exclusive or synchronized access.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463040" y="2834640"/>
            <a:ext cx="9235440" cy="1920240"/>
          </a:xfrm>
          <a:prstGeom prst="roundRect">
            <a:avLst>
              <a:gd name="adj" fmla="val 1905"/>
            </a:avLst>
          </a:prstGeom>
          <a:solidFill>
            <a:srgbClr val="08111F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91056" y="2944368"/>
            <a:ext cx="8979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this module, students should reflexively ask: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27632" y="3273552"/>
            <a:ext cx="890625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Who can observe this state?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Who can mutate it?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How long is each access valid?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synchronizes access across threads?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type expresses that proof?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51560" y="5577840"/>
            <a:ext cx="10149840" cy="548640"/>
          </a:xfrm>
          <a:prstGeom prst="roundRect">
            <a:avLst>
              <a:gd name="adj" fmla="val 5000"/>
            </a:avLst>
          </a:prstGeom>
          <a:solidFill>
            <a:srgbClr val="030912">
              <a:alpha val="98000"/>
            </a:srgbClr>
          </a:solidFill>
          <a:ln w="1397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5733288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Rust compiler is a yapping front end for the questions every serious C++ developer should already be asking.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FOSS Club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Rust &amp; C++: Mutation and Concurrency Addendum</dc:title>
  <dc:subject>Rust for C++ developers: Mutation and Concurrency</dc:subject>
  <dc:creator>OpenAI</dc:creator>
  <cp:lastModifiedBy>OpenAI</cp:lastModifiedBy>
  <cp:revision>1</cp:revision>
  <dcterms:created xsi:type="dcterms:W3CDTF">2026-09-13T07:26:22Z</dcterms:created>
  <dcterms:modified xsi:type="dcterms:W3CDTF">2026-09-13T07:26:22Z</dcterms:modified>
</cp:coreProperties>
</file>