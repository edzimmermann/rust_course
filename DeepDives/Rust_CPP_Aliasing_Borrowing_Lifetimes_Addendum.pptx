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intent: emphasize the why behind the pattern, then connect it back to C++ practice.
[Sources]
- Rust Book, “References and Borrowing”: https://doc.rust-lang.org/book/ch04-02-references-and-borrowing.html
- Rustonomicon, “References”: https://doc.rust-lang.org/nomicon/references.html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intent: emphasize the why behind the pattern, then connect it back to C++ practice.
[Sources]
- Rust Book, “References and Borrowing”: https://doc.rust-lang.org/book/ch04-02-references-and-borrowing.html
- Rustonomicon, “Aliasing”: https://doc.rust-lang.org/nomicon/aliasing.html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intent: emphasize the why behind the pattern, then connect it back to C++ practice.
[Sources]
- Rust Book, “References and Borrowing”: https://doc.rust-lang.org/book/ch04-02-references-and-borrowing.html
- Rust Reference, “Pointer types”: https://doc.rust-lang.org/reference/types/pointer.html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intent: emphasize the why behind the pattern, then connect it back to C++ practice.
[Sources]
- cppreference, std::vector::push_back iterator/reference invalidation: https://en.cppreference.com/w/cpp/container/vector/push_back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intent: emphasize the why behind the pattern, then connect it back to C++ practice.
[Sources]
- Rustonomicon, “Aliasing”: https://doc.rust-lang.org/nomicon/aliasing.html
- Rust Book, “References and Borrowing”: https://doc.rust-lang.org/book/ch04-02-references-and-borrowing.html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intent: emphasize the why behind the pattern, then connect it back to C++ practice.
[Sources]
- Rust Reference, “Pointer types”: https://doc.rust-lang.org/reference/types/pointer.html
- Rust Book, “References and Borrowing”: https://doc.rust-lang.org/book/ch04-02-references-and-borrowing.html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intent: emphasize the why behind the pattern, then connect it back to C++ practice.
[Sources]
- Rust Book, “References and Borrowing”: https://doc.rust-lang.org/book/ch04-02-references-and-borrowing.html
- Rust Reference, “Pointer types”: https://doc.rust-lang.org/reference/types/pointer.html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intent: emphasize the why behind the pattern, then connect it back to C++ practice.
[Sources]
- Rust Book, “References and Borrowing”: https://doc.rust-lang.org/book/ch04-02-references-and-borrowing.html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intent: emphasize the why behind the pattern, then connect it back to C++ practice.
[Sources]
- Rust Book, “References and Borrowing”: https://doc.rust-lang.org/book/ch04-02-references-and-borrowing.html
- Rustonomicon, “References”: https://doc.rust-lang.org/nomicon/references.html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intent: emphasize the why behind the pattern, then connect it back to C++ practice.
[Sources]
- Rust Book, “References and Borrowing”: https://doc.rust-lang.org/book/ch04-02-references-and-borrowing.html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intent: emphasize the why behind the pattern, then connect it back to C++ practice.
[Sources]
- cppreference, std::vector::push_back iterator/reference invalidation: https://en.cppreference.com/w/cpp/container/vector/push_back
- Rust Book, “References and Borrowing”: https://doc.rust-lang.org/book/ch04-02-references-and-borrowing.html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intent: emphasize the why behind the pattern, then connect it back to C++ practice.
[Sources]
- Rust Reference, “Pointer types”: https://doc.rust-lang.org/reference/types/pointer.html
- C++ Core Guidelines, Resource management rules: https://cpp-core-guidelines-docs.vercel.app/resource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intent: emphasize the why behind the pattern, then connect it back to C++ practice.
[Sources]
- cppreference, std::vector::push_back iterator/reference invalidation: https://en.cppreference.com/w/cpp/container/vector/push_back
- Rust Book, “References and Borrowing”: https://doc.rust-lang.org/book/ch04-02-references-and-borrowing.html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intent: emphasize the why behind the pattern, then connect it back to C++ practice.
[Sources]
- Rust Reference, “Pointer types”: https://doc.rust-lang.org/reference/types/pointer.html
- Rust Reference, “Behavior considered undefined”: https://doc.rust-lang.org/reference/behavior-considered-undefined.html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intent: emphasize the why behind the pattern, then connect it back to C++ practice.
[Sources]
- Rust Reference, “Pointer types”: https://doc.rust-lang.org/reference/types/pointer.html
- Rust Reference, “Behavior considered undefined”: https://doc.rust-lang.org/reference/behavior-considered-undefined.html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intent: emphasize the why behind the pattern, then connect it back to C++ practice.
[Sources]
- Rustonomicon, “Aliasing”: https://doc.rust-lang.org/nomicon/aliasing.html
- Rust Reference, “Pointer types”: https://doc.rust-lang.org/reference/types/pointer.html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intent: emphasize the why behind the pattern, then connect it back to C++ practice.
[Sources]
- C++ Core Guidelines, Resource management rules: https://cpp-core-guidelines-docs.vercel.app/resource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intent: emphasize the why behind the pattern, then connect it back to C++ practice.
[Sources]
- cppreference, std::vector::push_back iterator/reference invalidation: https://en.cppreference.com/w/cpp/container/vector/push_back
- Rust Book, “References and Borrowing”: https://doc.rust-lang.org/book/ch04-02-references-and-borrowing.html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intent: emphasize the why behind the pattern, then connect it back to C++ practice.
[Sources]
- cppreference, std::vector::push_back iterator/reference invalidation: https://en.cppreference.com/w/cpp/container/vector/push_back
- Rust Book, “References and Borrowing”: https://doc.rust-lang.org/book/ch04-02-references-and-borrowing.html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intent: emphasize the why behind the pattern, then connect it back to C++ practice.
[Sources]
- Rust Book, “References and Borrowing”: https://doc.rust-lang.org/book/ch04-02-references-and-borrowing.html
- Rust Reference, “Pointer types”: https://doc.rust-lang.org/reference/types/pointer.html
- Rust Reference, “Behavior considered undefined”: https://doc.rust-lang.org/reference/behavior-considered-undefined.html
- cppreference, std::vector::push_back iterator/reference invalidation: https://en.cppreference.com/w/cpp/container/vector/push_back
- C++ Core Guidelines, Resource management rules: https://cpp-core-guidelines-docs.vercel.app/resource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intent: emphasize the why behind the pattern, then connect it back to C++ practice.
[Sources]
- Rust Book, “References and Borrowing”: https://doc.rust-lang.org/book/ch04-02-references-and-borrowing.html
- Rust Reference, “Pointer types”: https://doc.rust-lang.org/reference/types/pointer.html
- Rust Reference, “Behavior considered undefined”: https://doc.rust-lang.org/reference/behavior-considered-undefined.html
- cppreference, std::vector::push_back iterator/reference invalidation: https://en.cppreference.com/w/cpp/container/vector/push_back
- C++ Core Guidelines, Resource management rules: https://cpp-core-guidelines-docs.vercel.app/resource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intent: emphasize the why behind the pattern, then connect it back to C++ practice.
[Sources]
- Rust Book, “References and Borrowing”: https://doc.rust-lang.org/book/ch04-02-references-and-borrowing.html
- Rustonomicon, “References”: https://doc.rust-lang.org/nomicon/references.html
- C++ Core Guidelines, Resource management rules: https://cpp-core-guidelines-docs.vercel.app/resource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"/>
            <a:ext cx="12191695" cy="0"/>
          </a:xfrm>
          <a:prstGeom prst="line">
            <a:avLst/>
          </a:prstGeom>
          <a:noFill/>
          <a:ln w="2794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652881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⇄ C++: systems reasoning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8961120" y="65288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/ Borrowing / Lifetimes</a:t>
            </a:r>
            <a:endParaRPr lang="en-US" sz="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04672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Aliasing, Borrowing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Lifetimes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1883664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the real “why” behind Rust references — and a better C++ mental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4224528"/>
            <a:ext cx="32461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ownership answers “who is responsible?”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416552" y="4224528"/>
            <a:ext cx="306324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pointers answer “how do I reach it?”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863840" y="4224528"/>
            <a:ext cx="356616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borrowing asks “who else can touch it?”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72768" y="5166360"/>
            <a:ext cx="9052560" cy="502920"/>
          </a:xfrm>
          <a:prstGeom prst="rect">
            <a:avLst/>
          </a:prstGeom>
          <a:solidFill>
            <a:srgbClr val="0B1220"/>
          </a:solidFill>
          <a:ln w="15240">
            <a:solidFill>
              <a:srgbClr val="22C55E"/>
            </a:solidFill>
          </a:ln>
          <a:effectLst>
            <a:outerShdw sx="100000" sy="100000" kx="0" ky="0" algn="bl" rotWithShape="0" blurRad="12700" dist="762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Once students understand the why, the patterns become reflex.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is the missing third leg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 pointer can be valid and still be dangerous if the aliasing story is wrong.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2834640" cy="502920"/>
          </a:xfrm>
          <a:prstGeom prst="rect">
            <a:avLst/>
          </a:prstGeom>
          <a:solidFill>
            <a:srgbClr val="0C4A6E"/>
          </a:solidFill>
          <a:ln w="12700">
            <a:solidFill>
              <a:srgbClr val="06B6D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Pointer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663440" y="1325880"/>
            <a:ext cx="2834640" cy="502920"/>
          </a:xfrm>
          <a:prstGeom prst="rect">
            <a:avLst/>
          </a:prstGeom>
          <a:solidFill>
            <a:srgbClr val="4C1D95"/>
          </a:solidFill>
          <a:ln w="1270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Ownership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49640" y="1325880"/>
            <a:ext cx="2834640" cy="502920"/>
          </a:xfrm>
          <a:prstGeom prst="rect">
            <a:avLst/>
          </a:prstGeom>
          <a:solidFill>
            <a:srgbClr val="7C2D12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Aliasing + Time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39312" y="1581912"/>
            <a:ext cx="978408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516368" y="1581912"/>
            <a:ext cx="987552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14400" y="2331720"/>
            <a:ext cx="2560320" cy="777240"/>
          </a:xfrm>
          <a:prstGeom prst="rect">
            <a:avLst/>
          </a:prstGeom>
          <a:solidFill>
            <a:srgbClr val="0B1220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address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+ representation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2331720"/>
            <a:ext cx="2560320" cy="777240"/>
          </a:xfrm>
          <a:prstGeom prst="rect">
            <a:avLst/>
          </a:prstGeom>
          <a:solidFill>
            <a:srgbClr val="0B1220"/>
          </a:solidFill>
          <a:ln w="1270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responsibility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+ destruction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0" y="2331720"/>
            <a:ext cx="2560320" cy="777240"/>
          </a:xfrm>
          <a:prstGeom prst="rect">
            <a:avLst/>
          </a:prstGeom>
          <a:solidFill>
            <a:srgbClr val="0B1220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exclusive access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+ validity duration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4114800"/>
            <a:ext cx="9555480" cy="777240"/>
          </a:xfrm>
          <a:prstGeom prst="rect">
            <a:avLst/>
          </a:prstGeom>
          <a:solidFill>
            <a:srgbClr val="111827"/>
          </a:solidFill>
          <a:ln w="15240">
            <a:solidFill>
              <a:srgbClr val="E11D48"/>
            </a:solidFill>
          </a:ln>
          <a:effectLst>
            <a:outerShdw sx="100000" sy="100000" kx="0" ky="0" algn="bl" rotWithShape="0" blurRad="12700" dist="762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hardest bugs happen when the object is reachable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by more than one path, and at least one path mutates it.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5632704"/>
            <a:ext cx="9326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Teaching move: do not begin with lifetime syntax. Begin with the proof obligation.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“why” question: what fact must be proven?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Most Rust reference rules are versions of these C++ questions.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41148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08760" y="1143000"/>
            <a:ext cx="9784080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Reachability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Does this name still reach a live object?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41148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011680"/>
            <a:ext cx="9784080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Mutation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Can this access change the object?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1148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880360"/>
            <a:ext cx="9784080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Exclusivity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Can another path observe or mutate at the same time?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41148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3749040"/>
            <a:ext cx="9784080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Time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How long is this access valid?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5257800"/>
            <a:ext cx="9646920" cy="658368"/>
          </a:xfrm>
          <a:prstGeom prst="rect">
            <a:avLst/>
          </a:prstGeom>
          <a:solidFill>
            <a:srgbClr val="0B1220"/>
          </a:solidFill>
          <a:ln w="15240">
            <a:solidFill>
              <a:srgbClr val="22C55E"/>
            </a:solidFill>
          </a:ln>
          <a:effectLst>
            <a:outerShdw sx="100000" sy="100000" kx="0" ky="0" algn="bl" rotWithShape="0" blurRad="12700" dist="762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 often leaves the proof in the programmer’s head.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 moves much of the proof into the type system.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C++: a tiny alias can outlive the truth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This program can look locally reasonable and still become invalid after mutation.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507492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C++ code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960120"/>
            <a:ext cx="507492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What the programmer must know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074920" cy="1965960"/>
          </a:xfrm>
          <a:prstGeom prst="rect">
            <a:avLst/>
          </a:prstGeom>
          <a:solidFill>
            <a:srgbClr val="07111F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std::vector&lt;int&gt; v{1, 2, 3};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int&amp; x = v[0];        // alias into v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v.push_back(4);       // may reallocate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std::cout &lt;&lt; x;       // dangling?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1444752"/>
            <a:ext cx="5074920" cy="676656"/>
          </a:xfrm>
          <a:prstGeom prst="rect">
            <a:avLst/>
          </a:prstGeom>
          <a:solidFill>
            <a:srgbClr val="0B1220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x is not an owner.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x is not a copy.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x is a path into v’s storage.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414016"/>
            <a:ext cx="5074920" cy="713232"/>
          </a:xfrm>
          <a:prstGeom prst="rect">
            <a:avLst/>
          </a:prstGeom>
          <a:solidFill>
            <a:srgbClr val="1F0D0D"/>
          </a:solidFill>
          <a:ln w="12700">
            <a:solidFill>
              <a:srgbClr val="E11D4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If push_back reallocates,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the storage moved,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but x did not learn that.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4224528"/>
            <a:ext cx="9921240" cy="621792"/>
          </a:xfrm>
          <a:prstGeom prst="rect">
            <a:avLst/>
          </a:prstGeom>
          <a:solidFill>
            <a:srgbClr val="0B1220"/>
          </a:solidFill>
          <a:ln w="15240">
            <a:solidFill>
              <a:srgbClr val="E11D48"/>
            </a:solidFill>
          </a:ln>
          <a:effectLst>
            <a:outerShdw sx="100000" sy="100000" kx="0" ky="0" algn="bl" rotWithShape="0" blurRad="12700" dist="762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bug is temporal: the reference was valid, then stopped being valid.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5321808"/>
            <a:ext cx="9921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C++ improvement target: treat iterator/reference invalidation as lifetime reasoning, not as a container footnote.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real enemy is not “the pointer”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It is the uncontrolled alias — a second route into mutable state.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102352" y="2624328"/>
            <a:ext cx="192024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object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143000"/>
            <a:ext cx="182880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owner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182880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reader 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370832"/>
            <a:ext cx="1828800" cy="4114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writer 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88920" y="1335024"/>
            <a:ext cx="2276856" cy="1335024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88920" y="2944368"/>
            <a:ext cx="2276856" cy="-73152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88920" y="4572000"/>
            <a:ext cx="2276856" cy="-1499616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452360" y="1078992"/>
            <a:ext cx="3566160" cy="804672"/>
          </a:xfrm>
          <a:prstGeom prst="rect">
            <a:avLst/>
          </a:prstGeom>
          <a:solidFill>
            <a:srgbClr val="0B1220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C++ question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Can all three paths remain valid while one mutates?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52360" y="2514600"/>
            <a:ext cx="3566160" cy="804672"/>
          </a:xfrm>
          <a:prstGeom prst="rect">
            <a:avLst/>
          </a:prstGeom>
          <a:solidFill>
            <a:srgbClr val="0B1220"/>
          </a:solidFill>
          <a:ln w="1270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Rust question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Can this program be typed under the borrow rules?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52360" y="3950208"/>
            <a:ext cx="3566160" cy="804672"/>
          </a:xfrm>
          <a:prstGeom prst="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Course question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What fact is missing from the proof?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65960" y="5559552"/>
            <a:ext cx="8229600" cy="457200"/>
          </a:xfrm>
          <a:prstGeom prst="rect">
            <a:avLst/>
          </a:prstGeom>
          <a:solidFill>
            <a:srgbClr val="111827"/>
          </a:solidFill>
          <a:ln w="15240">
            <a:solidFill>
              <a:srgbClr val="F97316"/>
            </a:solidFill>
          </a:ln>
          <a:effectLst>
            <a:outerShdw sx="100000" sy="100000" kx="0" ky="0" algn="bl" rotWithShape="0" blurRad="12700" dist="762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Aliasing turns local reasoning into global reasoning.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 references encode the aliasing contract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The syntax is small; the contract is large.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1965960" cy="594360"/>
          </a:xfrm>
          <a:prstGeom prst="rect">
            <a:avLst/>
          </a:prstGeom>
          <a:solidFill>
            <a:srgbClr val="0C4A6E"/>
          </a:solidFill>
          <a:ln w="12700">
            <a:solidFill>
              <a:srgbClr val="06B6D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&amp;T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2029968"/>
            <a:ext cx="2606040" cy="1078992"/>
          </a:xfrm>
          <a:prstGeom prst="rect">
            <a:avLst/>
          </a:prstGeom>
          <a:solidFill>
            <a:srgbClr val="0B1220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shared borrow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read through this path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any number of readers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4920" y="1143000"/>
            <a:ext cx="1965960" cy="594360"/>
          </a:xfrm>
          <a:prstGeom prst="rect">
            <a:avLst/>
          </a:prstGeom>
          <a:solidFill>
            <a:srgbClr val="7F1D1D"/>
          </a:solidFill>
          <a:ln w="12700">
            <a:solidFill>
              <a:srgbClr val="E11D4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&amp;mut 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54880" y="2029968"/>
            <a:ext cx="2606040" cy="1078992"/>
          </a:xfrm>
          <a:prstGeom prst="rect">
            <a:avLst/>
          </a:prstGeom>
          <a:solidFill>
            <a:srgbClr val="0B1220"/>
          </a:solidFill>
          <a:ln w="12700">
            <a:solidFill>
              <a:srgbClr val="E11D4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exclusive borrow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write allowed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no competing access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0" y="1143000"/>
            <a:ext cx="2011680" cy="594360"/>
          </a:xfrm>
          <a:prstGeom prst="rect">
            <a:avLst/>
          </a:prstGeom>
          <a:solidFill>
            <a:srgbClr val="7C2D12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*const T / *mut 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23960" y="2029968"/>
            <a:ext cx="2606040" cy="1078992"/>
          </a:xfrm>
          <a:prstGeom prst="rect">
            <a:avLst/>
          </a:prstGeom>
          <a:solidFill>
            <a:srgbClr val="0B1220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raw pointer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no automatic safety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or liveness guarantee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4160520"/>
            <a:ext cx="9555480" cy="713232"/>
          </a:xfrm>
          <a:prstGeom prst="rect">
            <a:avLst/>
          </a:prstGeom>
          <a:solidFill>
            <a:srgbClr val="111827"/>
          </a:solidFill>
          <a:ln w="15240">
            <a:solidFill>
              <a:srgbClr val="22C55E"/>
            </a:solidFill>
          </a:ln>
          <a:effectLst>
            <a:outerShdw sx="100000" sy="100000" kx="0" ky="0" algn="bl" rotWithShape="0" blurRad="12700" dist="762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reference is not merely an address.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is an address plus a claim about permitted access.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5321808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Teaching move: the “borrow checker” is a contract checker. It is not a syntax checker.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 const is helpful, but it is not Rust borrowing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const constrains one access path; it does not generally prove global immutability.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507492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C++: one path is const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960120"/>
            <a:ext cx="507492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Rust: shared borrow blocks mutation through the owner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074920" cy="1828800"/>
          </a:xfrm>
          <a:prstGeom prst="rect">
            <a:avLst/>
          </a:prstGeom>
          <a:solidFill>
            <a:srgbClr val="07111F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 value = 1;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int&amp; r = value;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value = 2;       // legal in C++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std::cout &lt;&lt; r;  // observes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1417320"/>
            <a:ext cx="5074920" cy="1828800"/>
          </a:xfrm>
          <a:prstGeom prst="rect">
            <a:avLst/>
          </a:prstGeom>
          <a:solidFill>
            <a:srgbClr val="07111F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let mut value = 1;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let r = &amp;value;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value = 2;       // rejected while r lives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println!("{r}");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3977640"/>
            <a:ext cx="4343400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C++ const: “this reference does not mutate”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3977640"/>
            <a:ext cx="4892040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Rust &amp;T: “no mutation while this shared borrow is live”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74520" y="5166360"/>
            <a:ext cx="8458200" cy="5029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C55E"/>
            </a:solidFill>
          </a:ln>
          <a:effectLst>
            <a:outerShdw sx="100000" sy="100000" kx="0" ky="0" algn="bl" rotWithShape="0" blurRad="12700" dist="762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difference is not morality. It is proof strength.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model: read phase, then write phase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Borrowing is easiest when taught as a timeline.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60020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create value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0" y="1828800"/>
            <a:ext cx="187452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shared borrows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4920" y="1828800"/>
            <a:ext cx="141732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last read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49440" y="1828800"/>
            <a:ext cx="2057400" cy="4114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mutable borrow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464040" y="1828800"/>
            <a:ext cx="18745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 owner again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2039112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663440" y="2039112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537960" y="2039112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52560" y="2039112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60120" y="2971800"/>
            <a:ext cx="5074920" cy="2011680"/>
          </a:xfrm>
          <a:prstGeom prst="rect">
            <a:avLst/>
          </a:prstGeom>
          <a:solidFill>
            <a:srgbClr val="07111F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let mut s = String::from("hello");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let r = &amp;s;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println!("{r}");   // last use of 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let m = &amp;mut s;     // now legal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m.push_str("!");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3182112"/>
            <a:ext cx="4526280" cy="960120"/>
          </a:xfrm>
          <a:prstGeom prst="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The lifetime of a borrow is not always the same as the lexical block.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Modern Rust uses the last actual use when it can.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5596128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Teaching move: time is the missing dimension. Lifetimes are “how long this proof must remain true.”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Lifetimes are not “extra syntax”; they are time contracts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 lifetime says how long a borrowed path must remain valid.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3000" y="1234440"/>
            <a:ext cx="9829800" cy="566928"/>
          </a:xfrm>
          <a:prstGeom prst="rect">
            <a:avLst/>
          </a:prstGeom>
          <a:solidFill>
            <a:srgbClr val="0B1220"/>
          </a:solidFill>
          <a:ln w="15240">
            <a:solidFill>
              <a:srgbClr val="F97316"/>
            </a:solidFill>
          </a:ln>
          <a:effectLst>
            <a:outerShdw sx="100000" sy="100000" kx="0" ky="0" algn="bl" rotWithShape="0" blurRad="12700" dist="762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reference is an address plus a promise about time.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3337560" cy="960120"/>
          </a:xfrm>
          <a:prstGeom prst="rect">
            <a:avLst/>
          </a:prstGeom>
          <a:solidFill>
            <a:srgbClr val="0B1220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C++ mental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“Does this reference outlive its target?”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34840" y="2423160"/>
            <a:ext cx="3337560" cy="960120"/>
          </a:xfrm>
          <a:prstGeom prst="rect">
            <a:avLst/>
          </a:prstGeom>
          <a:solidFill>
            <a:srgbClr val="0B1220"/>
          </a:solidFill>
          <a:ln w="1270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Rust type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“Can the compiler prove this lifetime relation?”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0" y="2423160"/>
            <a:ext cx="3337560" cy="960120"/>
          </a:xfrm>
          <a:prstGeom prst="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Teaching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“Where is the object alive, and where is the reference used?”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4187952"/>
            <a:ext cx="9921240" cy="1097280"/>
          </a:xfrm>
          <a:prstGeom prst="rect">
            <a:avLst/>
          </a:prstGeom>
          <a:solidFill>
            <a:srgbClr val="07111F"/>
          </a:solidFill>
          <a:ln w="12700">
            <a:solidFill>
              <a:srgbClr val="7C3AE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fn longest&lt;'a&gt;(x: &amp;'a str, y: &amp;'a str) -&gt; &amp;'a str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x.len() &gt; y.len() { x } else { y }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// return value cannot outlive both inputs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Returning references: C++ asks for discipline; Rust asks for proof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This is the classic lifetime lesson, but teach it as C++ reasoning first.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507492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C++: compiles, can dangle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960120"/>
            <a:ext cx="507492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Rust: rejected by construction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074920" cy="1508760"/>
          </a:xfrm>
          <a:prstGeom prst="rect">
            <a:avLst/>
          </a:prstGeom>
          <a:solidFill>
            <a:srgbClr val="07111F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const std::string&amp; bad()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std::string s = "temporary";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s;       // dangling reference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1417320"/>
            <a:ext cx="5074920" cy="1508760"/>
          </a:xfrm>
          <a:prstGeom prst="rect">
            <a:avLst/>
          </a:prstGeom>
          <a:solidFill>
            <a:srgbClr val="07111F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fn bad&lt;'a&gt;() -&gt; &amp;'a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let s = String::from("temporary");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&amp;s             // rejected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3840480"/>
            <a:ext cx="4297680" cy="658368"/>
          </a:xfrm>
          <a:prstGeom prst="rect">
            <a:avLst/>
          </a:prstGeom>
          <a:solidFill>
            <a:srgbClr val="0B1220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What the human knows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local storage dies at function exit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3840480"/>
            <a:ext cx="4892040" cy="658368"/>
          </a:xfrm>
          <a:prstGeom prst="rect">
            <a:avLst/>
          </a:prstGeom>
          <a:solidFill>
            <a:srgbClr val="0B1220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What Rust demands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returned reference must be tied to live input or owned result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5212080"/>
            <a:ext cx="9875520" cy="530352"/>
          </a:xfrm>
          <a:prstGeom prst="rect">
            <a:avLst/>
          </a:prstGeom>
          <a:solidFill>
            <a:srgbClr val="111827"/>
          </a:solidFill>
          <a:ln w="15240">
            <a:solidFill>
              <a:srgbClr val="22C55E"/>
            </a:solidFill>
          </a:ln>
          <a:effectLst>
            <a:outerShdw sx="100000" sy="100000" kx="0" ky="0" algn="bl" rotWithShape="0" blurRad="12700" dist="762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Better C++ reflex: when returning a reference, ask “whose lifetime pays for this?”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Container invalidation is lifetime failure in disguise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The reference did not become evil. The storage changed under it.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5120640" cy="1920240"/>
          </a:xfrm>
          <a:prstGeom prst="rect">
            <a:avLst/>
          </a:prstGeom>
          <a:solidFill>
            <a:srgbClr val="07111F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std::vector&lt;int&gt; v{10, 20, 30};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int* p = v.data();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v.push_back(40);       // may reallocate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use(p);                // p may point to old storage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355080" y="1143000"/>
            <a:ext cx="5120640" cy="1920240"/>
          </a:xfrm>
          <a:prstGeom prst="rect">
            <a:avLst/>
          </a:prstGeom>
          <a:solidFill>
            <a:srgbClr val="07111F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let mut v = vec![10, 20, 30];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let p = &amp;v[0];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v.push(40);            // rejected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println!("{p}");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3794760"/>
            <a:ext cx="182880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storage 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25880" y="4434840"/>
            <a:ext cx="1371600" cy="3017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 points here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0" y="4370832"/>
            <a:ext cx="0" cy="-18288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63240" y="3986784"/>
            <a:ext cx="11430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343400" y="3794760"/>
            <a:ext cx="182880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storage 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4434840"/>
            <a:ext cx="1371600" cy="3017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 moved here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46520" y="3886200"/>
            <a:ext cx="4754880" cy="731520"/>
          </a:xfrm>
          <a:prstGeom prst="rect">
            <a:avLst/>
          </a:prstGeom>
          <a:solidFill>
            <a:srgbClr val="0B1220"/>
          </a:solidFill>
          <a:ln w="12700">
            <a:solidFill>
              <a:srgbClr val="E11D4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Rust rejects the mutation because the existing borrow may be invalidated by the mutation.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5650992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C++ improvement target: make invalidation rules part of code review and API design, not trivia.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Views and spans: C++ can express shape, not full lifetime proof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Modern C++ gives better vocabulary, but the compiler still often lacks the whole proof.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" y="960120"/>
            <a:ext cx="507492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C++20 vocabulary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960120"/>
            <a:ext cx="507492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Rust vocabulary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4480560" cy="658368"/>
          </a:xfrm>
          <a:prstGeom prst="rect">
            <a:avLst/>
          </a:prstGeom>
          <a:solidFill>
            <a:srgbClr val="0B1220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std::span&lt;T&gt;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non-owning view into contiguous memory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480560" cy="658368"/>
          </a:xfrm>
          <a:prstGeom prst="rect">
            <a:avLst/>
          </a:prstGeom>
          <a:solidFill>
            <a:srgbClr val="0B1220"/>
          </a:solidFill>
          <a:ln w="12700">
            <a:solidFill>
              <a:srgbClr val="06B6D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std::string_view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non-owning view into characters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29400" y="1417320"/>
            <a:ext cx="4206240" cy="658368"/>
          </a:xfrm>
          <a:prstGeom prst="rect">
            <a:avLst/>
          </a:prstGeom>
          <a:solidFill>
            <a:srgbClr val="0B1220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&amp;[T]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borrowed slice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29400" y="2377440"/>
            <a:ext cx="4206240" cy="658368"/>
          </a:xfrm>
          <a:prstGeom prst="rect">
            <a:avLst/>
          </a:prstGeom>
          <a:solidFill>
            <a:srgbClr val="0B1220"/>
          </a:solidFill>
          <a:ln w="1270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&amp;str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borrowed string slice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61872" y="4114800"/>
            <a:ext cx="9646920" cy="713232"/>
          </a:xfrm>
          <a:prstGeom prst="rect">
            <a:avLst/>
          </a:prstGeom>
          <a:solidFill>
            <a:srgbClr val="111827"/>
          </a:solidFill>
          <a:ln w="15240">
            <a:solidFill>
              <a:srgbClr val="22C55E"/>
            </a:solidFill>
          </a:ln>
          <a:effectLst>
            <a:outerShdw sx="100000" sy="100000" kx="0" ky="0" algn="bl" rotWithShape="0" blurRad="12700" dist="762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C++ type says “this is a view.”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Rust type also participates in proving how long the view remains valid.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Iterator invalidation: teach it as aliasing plus mutation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This is a perfect bridge topic for experienced C++ developers.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207008"/>
            <a:ext cx="5303520" cy="1691640"/>
          </a:xfrm>
          <a:prstGeom prst="rect">
            <a:avLst/>
          </a:prstGeom>
          <a:solidFill>
            <a:srgbClr val="07111F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(auto it = v.begin(); it != v.end(); ++it)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(*it == target)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v.push_back(extra);   // may invalidate 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355080" y="1207008"/>
            <a:ext cx="5074920" cy="1691640"/>
          </a:xfrm>
          <a:prstGeom prst="rect">
            <a:avLst/>
          </a:prstGeom>
          <a:solidFill>
            <a:srgbClr val="07111F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x in &amp;v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*x == target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v.push(extra);       // rejected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4526280" cy="685800"/>
          </a:xfrm>
          <a:prstGeom prst="rect">
            <a:avLst/>
          </a:prstGeom>
          <a:solidFill>
            <a:srgbClr val="0B1220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C++ question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Is the iterator still valid after this operation?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0" y="3657600"/>
            <a:ext cx="4526280" cy="685800"/>
          </a:xfrm>
          <a:prstGeom prst="rect">
            <a:avLst/>
          </a:prstGeom>
          <a:solidFill>
            <a:srgbClr val="0B1220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Rust question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Can I mutate the collection while it is immutably borrowed by iteration?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5157216"/>
            <a:ext cx="9281160" cy="530352"/>
          </a:xfrm>
          <a:prstGeom prst="rect">
            <a:avLst/>
          </a:prstGeom>
          <a:solidFill>
            <a:srgbClr val="0B1220"/>
          </a:solidFill>
          <a:ln w="15240">
            <a:solidFill>
              <a:srgbClr val="E11D48"/>
            </a:solidFill>
          </a:ln>
          <a:effectLst>
            <a:outerShdw sx="100000" sy="100000" kx="0" ky="0" algn="bl" rotWithShape="0" blurRad="12700" dist="762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rule is not arbitrary. Mutation can invalidate the route used by the loop.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Interior mutability: Rust has escape hatches, but they are labeled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Sometimes mutation through shared access is the design — so the type must say so.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14400" y="1207008"/>
            <a:ext cx="1417320" cy="502920"/>
          </a:xfrm>
          <a:prstGeom prst="rect">
            <a:avLst/>
          </a:prstGeom>
          <a:solidFill>
            <a:srgbClr val="0C4A6E"/>
          </a:solidFill>
          <a:ln w="12700">
            <a:solidFill>
              <a:srgbClr val="06B6D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&amp;T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423160" y="1453896"/>
            <a:ext cx="132588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3886200" y="1207008"/>
            <a:ext cx="2926080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normally: read-only access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48840" cy="502920"/>
          </a:xfrm>
          <a:prstGeom prst="rect">
            <a:avLst/>
          </a:prstGeom>
          <a:solidFill>
            <a:srgbClr val="7C2D12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UnsafeCell&lt;T&gt;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154680" y="2990088"/>
            <a:ext cx="128016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572000" y="2743200"/>
            <a:ext cx="3337560" cy="502920"/>
          </a:xfrm>
          <a:prstGeom prst="rect">
            <a:avLst/>
          </a:prstGeom>
          <a:solidFill>
            <a:srgbClr val="0B1220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basis for interior mutability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1600200"/>
            <a:ext cx="2423160" cy="1444752"/>
          </a:xfrm>
          <a:prstGeom prst="rect">
            <a:avLst/>
          </a:prstGeom>
          <a:solidFill>
            <a:srgbClr val="0B1220"/>
          </a:solidFill>
          <a:ln w="1270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Cell&lt;T&gt; / RefCell&lt;T&gt;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Mutex&lt;T&gt; / RwLock&lt;T&gt;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Atomic types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4892040"/>
            <a:ext cx="9601200" cy="713232"/>
          </a:xfrm>
          <a:prstGeom prst="rect">
            <a:avLst/>
          </a:prstGeom>
          <a:solidFill>
            <a:srgbClr val="111827"/>
          </a:solidFill>
          <a:ln w="15240">
            <a:solidFill>
              <a:srgbClr val="22C55E"/>
            </a:solidFill>
          </a:ln>
          <a:effectLst>
            <a:outerShdw sx="100000" sy="100000" kx="0" ky="0" algn="bl" rotWithShape="0" blurRad="12700" dist="762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 does not ban unusual aliasing patterns.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forces the pattern to be explicit and checked by a suitable mechanism.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Unsafe and raw pointers: where the proof obligation returns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Unsafe Rust is not C with a different parser. It is a precisely marked proof boundary.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9808" y="1143000"/>
            <a:ext cx="4480560" cy="1508760"/>
          </a:xfrm>
          <a:prstGeom prst="rect">
            <a:avLst/>
          </a:prstGeom>
          <a:solidFill>
            <a:srgbClr val="07111F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let p: *mut i32 = &amp;mut value;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unsafe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*p = 42;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0" y="1261872"/>
            <a:ext cx="4846320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E11D4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The compiler no longer proves all facts for you here.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3310128"/>
            <a:ext cx="214884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valid address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520440" y="3310128"/>
            <a:ext cx="214884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aligned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63640" y="3310128"/>
            <a:ext cx="214884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initialized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006840" y="3310128"/>
            <a:ext cx="214884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live object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" y="3968496"/>
            <a:ext cx="21488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correct type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520440" y="3968496"/>
            <a:ext cx="2148840" cy="34747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not data-racing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63640" y="3968496"/>
            <a:ext cx="21488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inside allocation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006840" y="3968496"/>
            <a:ext cx="214884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aliasing rules upheld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325880" y="5349240"/>
            <a:ext cx="9509760" cy="502920"/>
          </a:xfrm>
          <a:prstGeom prst="rect">
            <a:avLst/>
          </a:prstGeom>
          <a:solidFill>
            <a:srgbClr val="111827"/>
          </a:solidFill>
          <a:ln w="15240">
            <a:solidFill>
              <a:srgbClr val="F97316"/>
            </a:solidFill>
          </a:ln>
          <a:effectLst>
            <a:outerShdw sx="100000" sy="100000" kx="0" ky="0" algn="bl" rotWithShape="0" blurRad="12700" dist="762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Unsafe is where Rust hands the old C++ checklist back to the programmer.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Compiler angle: aliasing rules are optimization fuel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Semantics first; performance benefit second.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2331720" cy="475488"/>
          </a:xfrm>
          <a:prstGeom prst="rect">
            <a:avLst/>
          </a:prstGeom>
          <a:solidFill>
            <a:srgbClr val="0C4A6E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Source semantics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703320" y="1325880"/>
            <a:ext cx="2606040" cy="475488"/>
          </a:xfrm>
          <a:prstGeom prst="rect">
            <a:avLst/>
          </a:prstGeom>
          <a:solidFill>
            <a:srgbClr val="4C1D95"/>
          </a:solidFill>
          <a:ln w="1270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MIR / borrow reasoning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949440" y="1325880"/>
            <a:ext cx="2514600" cy="475488"/>
          </a:xfrm>
          <a:prstGeom prst="rect">
            <a:avLst/>
          </a:prstGeom>
          <a:solidFill>
            <a:srgbClr val="7C2D12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LLVM IR attributes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75520" y="1325880"/>
            <a:ext cx="1600200" cy="475488"/>
          </a:xfrm>
          <a:prstGeom prst="rect">
            <a:avLst/>
          </a:prstGeom>
          <a:solidFill>
            <a:srgbClr val="14532D"/>
          </a:solidFill>
          <a:ln w="12700">
            <a:solidFill>
              <a:srgbClr val="22C55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Machine code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27248" y="1563624"/>
            <a:ext cx="530352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364224" y="1563624"/>
            <a:ext cx="539496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509760" y="1563624"/>
            <a:ext cx="32004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4937760" cy="658368"/>
          </a:xfrm>
          <a:prstGeom prst="rect">
            <a:avLst/>
          </a:prstGeom>
          <a:solidFill>
            <a:srgbClr val="0B1220"/>
          </a:solidFill>
          <a:ln w="12700">
            <a:solidFill>
              <a:srgbClr val="E11D4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&amp;mut T gives the compiler a strong exclusivity claim during the borrow.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2743200"/>
            <a:ext cx="4937760" cy="658368"/>
          </a:xfrm>
          <a:prstGeom prst="rect">
            <a:avLst/>
          </a:prstGeom>
          <a:solidFill>
            <a:srgbClr val="0B1220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In C++, arbitrary pointers often force the optimizer to be more conservative unless aliasing facts are otherwise known.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4800600"/>
            <a:ext cx="9784080" cy="685800"/>
          </a:xfrm>
          <a:prstGeom prst="rect">
            <a:avLst/>
          </a:prstGeom>
          <a:solidFill>
            <a:srgbClr val="111827"/>
          </a:solidFill>
          <a:ln w="15240">
            <a:solidFill>
              <a:srgbClr val="22C55E"/>
            </a:solidFill>
          </a:ln>
          <a:effectLst>
            <a:outerShdw sx="100000" sy="100000" kx="0" ky="0" algn="bl" rotWithShape="0" blurRad="12700" dist="762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optimizer profits from the same fact the human wanted: “nobody else mutates this while I am using it.”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 improvement target: make aliasing contracts visible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Rust is the training device; C++ code quality is the second payoff.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77240" y="1124712"/>
            <a:ext cx="388620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When a function only observes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937760" y="1124712"/>
            <a:ext cx="63550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prefer const reference, span, string_view, or pointer-to-const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856232"/>
            <a:ext cx="388620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When a function mutates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37760" y="1856232"/>
            <a:ext cx="63550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make mutation explicit and minimize the mutation window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587752"/>
            <a:ext cx="388620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When a function may store a reference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37760" y="2587752"/>
            <a:ext cx="63550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state the lifetime requirement loudly in the API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319272"/>
            <a:ext cx="388620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When a container may reallocate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37760" y="3319272"/>
            <a:ext cx="63550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do not keep raw element aliases across mutation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4050792"/>
            <a:ext cx="388620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When ownership transfers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37760" y="4050792"/>
            <a:ext cx="6355080" cy="438912"/>
          </a:xfrm>
          <a:prstGeom prst="rect">
            <a:avLst/>
          </a:prstGeom>
          <a:solidFill>
            <a:srgbClr val="0B1220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say it with unique_ptr or by value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417320" y="5303520"/>
            <a:ext cx="9281160" cy="658368"/>
          </a:xfrm>
          <a:prstGeom prst="rect">
            <a:avLst/>
          </a:prstGeom>
          <a:solidFill>
            <a:srgbClr val="111827"/>
          </a:solidFill>
          <a:ln w="15240">
            <a:solidFill>
              <a:srgbClr val="22C55E"/>
            </a:solidFill>
          </a:ln>
          <a:effectLst>
            <a:outerShdw sx="100000" sy="100000" kx="0" ky="0" algn="bl" rotWithShape="0" blurRad="12700" dist="762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merely ask “does it compile?”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Ask “where is the aliasing proof encoded?”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Hands-on lab: find the missing proof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Students identify the aliasing/lifetime fact that is not encoded.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5303520" cy="2057400"/>
          </a:xfrm>
          <a:prstGeom prst="rect">
            <a:avLst/>
          </a:prstGeom>
          <a:solidFill>
            <a:srgbClr val="07111F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void append_sentinel(std::vector&lt;std::string&gt;&amp; xs)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std::string_view first = xs.front();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(xs.size() &lt; 10)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xs.push_back("sentinel");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log(first);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0" y="1143000"/>
            <a:ext cx="114300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Tasks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1755648"/>
            <a:ext cx="4892040" cy="1572768"/>
          </a:xfrm>
          <a:prstGeom prst="rect">
            <a:avLst/>
          </a:prstGeom>
          <a:solidFill>
            <a:srgbClr val="0B1220"/>
          </a:solidFill>
          <a:ln w="12700">
            <a:solidFill>
              <a:srgbClr val="F9731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1. What can invalidate first?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2. What is the ownership story?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3. What is the borrowing story?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4. Refactor the C++ code to make the proof visible.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5. Sketch the Rust version and predict the compiler complaint.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25880" y="4754880"/>
            <a:ext cx="9601200" cy="731520"/>
          </a:xfrm>
          <a:prstGeom prst="rect">
            <a:avLst/>
          </a:prstGeom>
          <a:solidFill>
            <a:srgbClr val="111827"/>
          </a:solidFill>
          <a:ln w="15240">
            <a:solidFill>
              <a:srgbClr val="E11D48"/>
            </a:solidFill>
          </a:ln>
          <a:effectLst>
            <a:outerShdw sx="100000" sy="100000" kx="0" ky="0" algn="bl" rotWithShape="0" blurRad="12700" dist="762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goal is not to memorize a rule.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goal is to name the fact the program failed to prove.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lab solution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Several fixes are possible; the point is to shorten or remove the dangerous alias.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5303520" cy="2057400"/>
          </a:xfrm>
          <a:prstGeom prst="rect">
            <a:avLst/>
          </a:prstGeom>
          <a:solidFill>
            <a:srgbClr val="07111F"/>
          </a:solidFill>
          <a:ln w="12700">
            <a:solidFill>
              <a:srgbClr val="22C55E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void append_sentinel(std::vector&lt;std::string&gt;&amp; xs)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std::string first = xs.front();   // own a copy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(xs.size() &lt; 10)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xs.push_back("sentinel");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log(first);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355080" y="1143000"/>
            <a:ext cx="5074920" cy="2057400"/>
          </a:xfrm>
          <a:prstGeom prst="rect">
            <a:avLst/>
          </a:prstGeom>
          <a:solidFill>
            <a:srgbClr val="07111F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fn append_sentinel(xs: &amp;mut Vec&lt;String&gt;)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let first = xs[0].clone();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xs.len() &lt; 10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xs.push("sentinel".to_string());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log(&amp;first);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3977640"/>
            <a:ext cx="4480560" cy="960120"/>
          </a:xfrm>
          <a:prstGeom prst="rect">
            <a:avLst/>
          </a:prstGeom>
          <a:solidFill>
            <a:srgbClr val="0B1220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C++ fix options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copy the needed value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reserve before taking a view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reorder operations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avoid storing a view across mutation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37960" y="3977640"/>
            <a:ext cx="4480560" cy="960120"/>
          </a:xfrm>
          <a:prstGeom prst="rect">
            <a:avLst/>
          </a:prstGeom>
          <a:solidFill>
            <a:srgbClr val="0B1220"/>
          </a:solidFill>
          <a:ln w="1270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Rust teaching point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mutation of xs requires exclusive access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existing borrowed view would block push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owned clone breaks the alias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Quiz: aliasing, borrowing, lifetimes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Multiple choice. More than one answer may be correct where indicated.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" y="1024128"/>
            <a:ext cx="10972800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1. What does &amp;mut T primarily mean?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A. heap allocation  B. exclusive borrowed access  C. const pointer  D. nullable pointer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10972800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2. In C++, why can vector::push_back make an existing reference dangerous?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A. refcount changes  B. reallocation can move storage  C. copy elision fails  D. stack overflow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2542032"/>
            <a:ext cx="10972800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3. Rust allows many &amp;T references because: A. none can mutate through that path  B. they are copied deeply  C. they own data  D. they are always static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3300984"/>
            <a:ext cx="10972800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4. A lifetime is best taught as: A. a GC generation  B. a compile-time validity interval  C. a thread id  D. a heap region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4059936"/>
            <a:ext cx="10972800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E11D4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5. Unsafe Rust means: A. UB becomes OK  B. programmer must uphold more invariants manually  C. borrow checker off forever  D. C++ ABI only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4818888"/>
            <a:ext cx="10972800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6B6D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6. Good C++ after this lesson should make what visible?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A. aliasing contract  B. ownership transfer  C. lifetime expectations  D. all of the above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Quiz answers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Use the answers to reinforce the “why,” not just the rule.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22960" y="1115568"/>
            <a:ext cx="105156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1: 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057400" y="1097280"/>
            <a:ext cx="9098280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F8FAFC"/>
                </a:solidFill>
              </a:rPr>
              <a:t>&amp;mut T means exclusive borrowed access, which permits mutation because competing access is excluded.</a:t>
            </a:r>
            <a:endParaRPr lang="en-US" sz="1230" dirty="0"/>
          </a:p>
        </p:txBody>
      </p:sp>
      <p:sp>
        <p:nvSpPr>
          <p:cNvPr id="6" name="Text 4"/>
          <p:cNvSpPr/>
          <p:nvPr/>
        </p:nvSpPr>
        <p:spPr>
          <a:xfrm>
            <a:off x="822960" y="1810512"/>
            <a:ext cx="105156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2: B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57400" y="1792224"/>
            <a:ext cx="9098280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F8FAFC"/>
                </a:solidFill>
              </a:rPr>
              <a:t>push_back may reallocate; old element references, pointers, and iterators may no longer designate live storage.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822960" y="2505456"/>
            <a:ext cx="105156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3: 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57400" y="2487168"/>
            <a:ext cx="9098280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F8FAFC"/>
                </a:solidFill>
              </a:rPr>
              <a:t>many shared references are safe because mutation through ordinary shared references is not allowed.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105156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4: 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057400" y="3182112"/>
            <a:ext cx="9098280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F8FAFC"/>
                </a:solidFill>
              </a:rPr>
              <a:t>a lifetime is a compile-time validity interval for a borrow.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822960" y="3895344"/>
            <a:ext cx="105156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5: 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57400" y="3877056"/>
            <a:ext cx="9098280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F8FAFC"/>
                </a:solidFill>
              </a:rPr>
              <a:t>unsafe marks where the programmer must uphold invariants manually.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105156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6: 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57400" y="4572000"/>
            <a:ext cx="9098280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F8FAFC"/>
                </a:solidFill>
              </a:rPr>
              <a:t>strong C++ APIs encode ownership, aliasing, and lifetime expectations.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1417320" y="5559552"/>
            <a:ext cx="9281160" cy="475488"/>
          </a:xfrm>
          <a:prstGeom prst="rect">
            <a:avLst/>
          </a:prstGeom>
          <a:solidFill>
            <a:srgbClr val="111827"/>
          </a:solidFill>
          <a:ln w="15240">
            <a:solidFill>
              <a:srgbClr val="22C55E"/>
            </a:solidFill>
          </a:ln>
          <a:effectLst>
            <a:outerShdw sx="100000" sy="100000" kx="0" ky="0" algn="bl" rotWithShape="0" blurRad="12700" dist="762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reinforcement: the compiler complaint is a clue to a missing proof.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thesis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0350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This module should change how students read both Rust and C++.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332720" cy="822960"/>
          </a:xfrm>
          <a:prstGeom prst="rect">
            <a:avLst/>
          </a:prstGeom>
          <a:solidFill>
            <a:srgbClr val="0B1220"/>
          </a:solidFill>
          <a:ln w="15240">
            <a:solidFill>
              <a:srgbClr val="F97316"/>
            </a:solidFill>
          </a:ln>
          <a:effectLst>
            <a:outerShdw sx="100000" sy="100000" kx="0" ky="0" algn="bl" rotWithShape="0" blurRad="12700" dist="762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 references are C++ pointer discipline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made explicit, typed, and checked over time.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05840" y="2761488"/>
            <a:ext cx="3246120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22C55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After this module, students should ask: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3520440"/>
            <a:ext cx="2743200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EA5E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Who can reach this object?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3520440"/>
            <a:ext cx="2743200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E11D4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Who can mutate it?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83880" y="3520440"/>
            <a:ext cx="3063240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For how long is the route valid?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86200" y="3730752"/>
            <a:ext cx="713232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52360" y="3730752"/>
            <a:ext cx="667512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371600" y="5257800"/>
            <a:ext cx="9372600" cy="502920"/>
          </a:xfrm>
          <a:prstGeom prst="rect">
            <a:avLst/>
          </a:prstGeom>
          <a:solidFill>
            <a:srgbClr val="111827"/>
          </a:solidFill>
          <a:ln w="15240">
            <a:solidFill>
              <a:srgbClr val="22C55E"/>
            </a:solidFill>
          </a:ln>
          <a:effectLst>
            <a:outerShdw sx="100000" sy="100000" kx="0" ky="0" algn="bl" rotWithShape="0" blurRad="12700" dist="7620" dir="2700000">
              <a:srgbClr val="000000">
                <a:alpha val="18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Once that reasoning becomes reflex, the coding patterns become obvious.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FOSS Club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Aliasing, Borrowing &amp; Lifetimes</dc:title>
  <dc:subject>Rust and C++ course addendum on aliasing, borrowing, and lifetimes</dc:subject>
  <dc:creator>OpenAI</dc:creator>
  <cp:lastModifiedBy>OpenAI</cp:lastModifiedBy>
  <cp:revision>1</cp:revision>
  <dcterms:created xsi:type="dcterms:W3CDTF">2026-09-13T02:38:39Z</dcterms:created>
  <dcterms:modified xsi:type="dcterms:W3CDTF">2026-09-13T02:38:39Z</dcterms:modified>
</cp:coreProperties>
</file>