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Original course slide retained as a rendered slide background from the previous generated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Rust ownership/move model: https://doc.rust-lang.org/book/ch04-01-what-is-ownership.html
C++ std::move helper semantics: https://eel.is/c++draft/forward
LLVM IR reference: https://llvm.org/docs/LangRef.html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No external sources beyond the language references cited on neighboring slides. This slide defines a classroom process and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Clang -S -emit-llvm produces textual LLVM IR: https://releases.llvm.org/18.1.4/tools/clang/docs/Toolchain.html
rustc --emit=llvm-ir emits LLVM IR: https://doc.rust-lang.org/stable/rustc/command-line-arguments.html
LLVM IR reference: https://llvm.org/docs/LangRef.html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C++ draft specifies std::move returns static_cast&lt;remove_reference_t&lt;T&gt;&amp;&amp;&gt;(t): https://eel.is/c++draft/forward
The lab intentionally uses -fno-elide-constructors to make non-elided moves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C++ standard library moved-from objects are generally valid but have type-specific states and contracts; for the std::move helper see https://eel.is/c++draft/forward. This slide is a student worksheet.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Rust Book ownership chapter shows that assigning a non-Copy value moves it and the old binding cannot be used: https://doc.rust-lang.org/book/ch04-01-what-is-ownership.html
Rust Copy docs state that types implementing Drop cannot be Copy: https://doc.rust-lang.org/std/marker/trait.Copy.html
Rust Reference drop behavior: https://doc.rust-lang.org/reference/destructors.html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Rust references allow using a value without transferring ownership, per The Rust Book: https://doc.rust-lang.org/book/ch04-01-what-is-ownership.html
Clone and Copy semantics: https://doc.rust-lang.org/std/marker/trait.Copy.html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Clang emits textual LLVM IR with -S -emit-llvm: https://releases.llvm.org/18.1.4/tools/clang/docs/Toolchain.html
rustc --emit=llvm-ir emits .ll output: https://doc.rust-lang.org/stable/rustc/command-line-arguments.html
LLVM IR is a low-level, typed SSA IR; instructions include loads, stores, calls, aggregate ops, and memory intrinsics: https://llvm.org/docs/LangRef.html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C++ std::move return expression specification: https://eel.is/c++draft/forward
Rust ownership chapter: https://doc.rust-lang.org/book/ch04-01-what-is-ownership.html
LLVM LangRef: https://llvm.org/docs/LangRef.html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Questions are authored for the course and are based on the language documentation cited in the answer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C++ draft std::move specification: https://eel.is/c++draft/forward
Questions 1 and 4 test the difference between value category and actual moving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Rust Book ownership and move examples: https://doc.rust-lang.org/book/ch04-01-what-is-ownership.html
Rust Copy trait docs: https://doc.rust-lang.org/std/marker/trait.Copy.html
Rust Reference destructors/drop: https://doc.rust-lang.org/reference/destructors.html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LLVM LangRef describes LLVM IR as low-level typed SSA with loads/stores/calls/memory intrinsics, not language-level ownership: https://llvm.org/docs/LangRef.html
Rust ownership use-after-move checking: https://doc.rust-lang.org/book/ch04-01-what-is-ownership.html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C++ draft: std::move returns static_cast&lt;remove_reference_t&lt;T&gt;&amp;&amp;&gt;(t): https://eel.is/c++draft/forward
This solution intentionally states implementation-dependent output as reasoning, not as a guaranteed byte-for-byte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Rust Book shows non-Copy values move on assignment and previous binding cannot be used: https://doc.rust-lang.org/book/ch04-01-what-is-ownership.html
Rust Copy trait docs state that any type implementing Drop cannot be Copy: https://doc.rust-lang.org/std/marker/trait.Copy.html
Rust destructors/drop behavior: https://doc.rust-lang.org/reference/destructors.html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LLVM LangRef describes the IR and low-level instructions: https://llvm.org/docs/LangRef.html
Clang LLVM emission: https://releases.llvm.org/18.1.4/tools/clang/docs/Toolchain.html
rustc LLVM IR emission: https://doc.rust-lang.org/stable/rustc/command-line-arguments.html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Answer key source basis: C++ std::move specification https://eel.is/c++draft/forward; Rust ownership chapter https://doc.rust-lang.org/book/ch04-01-what-is-ownership.html; Rust Copy trait docs https://doc.rust-lang.org/std/marker/trait.Copy.html; Rust destructors https://doc.rust-lang.org/reference/destructors.html; LLVM LangRef https://llvm.org/docs/LangRef.html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/ teaching notes:
This slide is an instructor wrap-up. Conceptual sources: Rust Book ownership chapter https://doc.rust-lang.org/book/ch04-01-what-is-ownership.html and C++ std::move helper specification https://eel.is/c++draft/forward.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ust_CPP_Move_Semantics_Deep_Dive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Lab: make moves visible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40–55 minute lab for C++ developers learning Rust ownership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777240" cy="28346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68249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will predict, run, and explain one ownership transfer in both languages.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3154680" cy="2057400"/>
          </a:xfrm>
          <a:prstGeom prst="roundRect">
            <a:avLst/>
          </a:prstGeom>
          <a:solidFill>
            <a:srgbClr val="0C172B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Trace C++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 copy / move / destructor calls.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 std::move and copy elision.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moved-from object.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95351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AB4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62272" y="2880360"/>
            <a:ext cx="3154680" cy="2057400"/>
          </a:xfrm>
          <a:prstGeom prst="roundRect">
            <a:avLst/>
          </a:prstGeom>
          <a:solidFill>
            <a:srgbClr val="171122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Port to Rust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 String-owning type.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the program, read E0382, then fix it by borrow, move, or clone.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53712" y="2953512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4112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AB4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0" y="2880360"/>
            <a:ext cx="3154680" cy="2057400"/>
          </a:xfrm>
          <a:prstGeom prst="roundRect">
            <a:avLst/>
          </a:prstGeom>
          <a:solidFill>
            <a:srgbClr val="10102A"/>
          </a:solidFill>
          <a:ln w="15240">
            <a:solidFill>
              <a:srgbClr val="6C43C3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Inspect 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LLVM IR at O0 and O3.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what remains: loads, stores, calls, metadata, or nothing.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953512"/>
            <a:ext cx="502920" cy="32004"/>
          </a:xfrm>
          <a:prstGeom prst="rect">
            <a:avLst/>
          </a:prstGeom>
          <a:solidFill>
            <a:srgbClr val="6C43C3"/>
          </a:solidFill>
          <a:ln w="12700">
            <a:solidFill>
              <a:srgbClr val="6C43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5486400"/>
            <a:ext cx="8183880" cy="438912"/>
          </a:xfrm>
          <a:prstGeom prst="roundRect">
            <a:avLst/>
          </a:prstGeom>
          <a:solidFill>
            <a:srgbClr val="11131E"/>
          </a:solidFill>
          <a:ln>
            <a:solidFill>
              <a:srgbClr val="D96A0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prompt: “Where is the ownership obligation now?”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7" name="Text 15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logistics and deliverables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work in pairs; one person predicts while the other runs the experiment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0352" y="1234440"/>
            <a:ext cx="5440680" cy="448056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Timebox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 min: copy starter files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 min: C++ trace experiment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 min: Rust ownership 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 min: LLVM IR inspection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 min: pair share-out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130759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234440"/>
            <a:ext cx="5440680" cy="448056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Prediction table: copy, move, drop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Rust compiler error and explanation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“before / after” fix using borrow or clone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sentence explaining what disappeared in O3 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API rule you will use at 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07592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5797296"/>
            <a:ext cx="8321040" cy="384048"/>
          </a:xfrm>
          <a:prstGeom prst="roundRect">
            <a:avLst/>
          </a:prstGeom>
          <a:solidFill>
            <a:srgbClr val="11131E"/>
          </a:solidFill>
          <a:ln>
            <a:solidFill>
              <a:srgbClr val="D5A30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rule: do not edit before making a prediction.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files: one story in two languages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is not syntax; the point is ownership transfer and cleanup responsibility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2648" y="1234440"/>
            <a:ext cx="2743200" cy="192024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lab/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cpp/trace.cpp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cpp/tiny.cpp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rust/src/main.rs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rust/tiny.rs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worksheet.md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1207008"/>
            <a:ext cx="3566160" cy="201168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experiment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actual constructor calls.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“Which overload did overload resolution choose?”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ask: “Did the optimizer remove it?”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280160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207008"/>
            <a:ext cx="3566160" cy="201168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experiment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compile-time ownership.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“Who may use the value now?”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ask: “Which destructor still runs?”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6680" y="1280160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730752"/>
            <a:ext cx="10927080" cy="160020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Useful commands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clang++ -std=c++20 -O0 -fno-elide-constructors trace.cpp &amp;&amp; ./a.out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clang++ -std=c++20 -O3 -S -emit-llvm tiny.cpp -o cpp.ll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rustc -C opt-level=0 src/main.rs &amp;&amp; ./main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rustc -O --emit=llvm-ir tiny.rs -o rust.ll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562356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clang++ if available; g++ also works for the tracing part.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1: C++ move trace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running, predict the log lines and the state of each object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623560" cy="475488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include &lt;iostream&gt;, &lt;string&gt;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Trace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std::string name;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explicit Trace(std::string 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: name(std::move(n)) { log("ctor");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Trace(const Trace&amp; 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: name(o.name + ".copy") { log("copy");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Trace(Trace&amp;&amp; o) noexcept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: name(std::move(o.name)) { log("move");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~Trace() { log("dtor");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void log(const char* op) const { /* print op + name */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Trace make() { Trace t{"made"}; return t;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consume(Trace t) { t.log("consume"); 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37960" y="1234440"/>
            <a:ext cx="4754880" cy="2286000"/>
          </a:xfrm>
          <a:prstGeom prst="roundRect">
            <a:avLst/>
          </a:prstGeom>
          <a:solidFill>
            <a:srgbClr val="0C172B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prediction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lines are moves?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happens to the source object?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Does `std::move` itself move anything?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changes if copy elision is disabled?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changes at `-O3`?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29400" y="130759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3977640"/>
            <a:ext cx="4754880" cy="160020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main()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Trace a{"A"};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Trace b = std::move(a);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consume(std::move(b));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Trace c = make();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worksheet: change one line at a time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edit tests a different misconception from C++ move semantics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383280" cy="123444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exactly as written.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ctor / move / copy / dtor counts.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30759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234440"/>
            <a:ext cx="3383280" cy="123444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D5A30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`std::move(a)`.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overload is selected now?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307592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234440"/>
            <a:ext cx="3383280" cy="1234440"/>
          </a:xfrm>
          <a:prstGeom prst="roundRect">
            <a:avLst/>
          </a:prstGeom>
          <a:solidFill>
            <a:srgbClr val="0B1225"/>
          </a:solidFill>
          <a:ln w="15240">
            <a:solidFill>
              <a:srgbClr val="19A97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move ctor to not be `noexcept`.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what containers may prefer.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1307592"/>
            <a:ext cx="502920" cy="32004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Worksheet 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337560"/>
            <a:ext cx="1645920" cy="365760"/>
          </a:xfrm>
          <a:prstGeom prst="rect">
            <a:avLst/>
          </a:prstGeom>
          <a:solidFill>
            <a:srgbClr val="121A2C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0" y="3337560"/>
            <a:ext cx="2304288" cy="365760"/>
          </a:xfrm>
          <a:prstGeom prst="rect">
            <a:avLst/>
          </a:prstGeom>
          <a:solidFill>
            <a:srgbClr val="121A2C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13248" y="3337560"/>
            <a:ext cx="2304288" cy="365760"/>
          </a:xfrm>
          <a:prstGeom prst="rect">
            <a:avLst/>
          </a:prstGeom>
          <a:solidFill>
            <a:srgbClr val="121A2C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183880" y="3337560"/>
            <a:ext cx="3154680" cy="365760"/>
          </a:xfrm>
          <a:prstGeom prst="rect">
            <a:avLst/>
          </a:prstGeom>
          <a:solidFill>
            <a:srgbClr val="121A2C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3739896"/>
            <a:ext cx="164592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as written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3739896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13248" y="3739896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83880" y="3739896"/>
            <a:ext cx="315468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4142232"/>
            <a:ext cx="164592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no std::move(a)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4142232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13248" y="4142232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83880" y="4142232"/>
            <a:ext cx="315468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544568"/>
            <a:ext cx="164592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move not noexcept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4544568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13248" y="4544568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83880" y="4544568"/>
            <a:ext cx="315468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4946904"/>
            <a:ext cx="164592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 return std::move(t)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4946904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13248" y="4946904"/>
            <a:ext cx="2304288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83880" y="4946904"/>
            <a:ext cx="3154680" cy="365760"/>
          </a:xfrm>
          <a:prstGeom prst="rect">
            <a:avLst/>
          </a:prstGeom>
          <a:solidFill>
            <a:srgbClr val="0B1225"/>
          </a:solidFill>
          <a:ln w="8890">
            <a:solidFill>
              <a:srgbClr val="24324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" y="5596128"/>
            <a:ext cx="9921240" cy="384048"/>
          </a:xfrm>
          <a:prstGeom prst="roundRect">
            <a:avLst/>
          </a:prstGeom>
          <a:solidFill>
            <a:srgbClr val="14101A"/>
          </a:solidFill>
          <a:ln>
            <a:solidFill>
              <a:srgbClr val="B8414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 the moved-from object except to destroy it or assign a new value unless you know the type’s contract.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2: Rust ownership port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make the compiler complain, then fix the design intentionally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5715000" cy="480060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#[derive(Debug)]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Token(String);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Drop for Token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drop(&amp;mut self) { println!("drop {}", self.0);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consume(t: Token) { println!("consume {}", t.0);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main()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let a = Token("A".to_string());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let b = 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println!("{a:?}"); // predict error E0382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consume(b);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01968" y="1252728"/>
            <a:ext cx="4663440" cy="2331720"/>
          </a:xfrm>
          <a:prstGeom prst="roundRect">
            <a:avLst/>
          </a:prstGeom>
          <a:solidFill>
            <a:srgbClr val="171122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task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Predict the compiler error.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Fix it by borrowing.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Fix it by transferring ownership.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Add explicit cloning and explain the cost.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Explain why `Copy` is not allowed here.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93408" y="1325880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4069080"/>
            <a:ext cx="4663440" cy="1417320"/>
          </a:xfrm>
          <a:prstGeom prst="roundRect">
            <a:avLst/>
          </a:prstGeom>
          <a:solidFill>
            <a:srgbClr val="14120A"/>
          </a:solidFill>
          <a:ln w="15240">
            <a:solidFill>
              <a:srgbClr val="D5A30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hint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“fight” the compiler.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which line wants ownership, which line only wants to observe, and which line should pay for duplication.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93408" y="4142232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worksheet: three legal fixes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program intent, three different ownership contracts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0352" y="1234440"/>
            <a:ext cx="3657600" cy="201168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Borrowing: observe without taking ownership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observe(t: &amp;Token)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println!("observe {}", t.0);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Token("A".to_string());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observe(&amp;a);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println!("still usable: {:?}", a);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15968" y="1234440"/>
            <a:ext cx="3657600" cy="201168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Moving: callee consumes the value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consume(t: 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println!("consume {}", t.0);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Token("A".to_string());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consume(a);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println!("{:?}", a); // not legal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101584" y="1234440"/>
            <a:ext cx="3657600" cy="201168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Cloning: explicit duplicate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#[derive(Debug, Clone)]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Token(String);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Token("A".to_string());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b = a.clone();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consume(b);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println!("original: {:?}", a);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4526280" cy="1600200"/>
          </a:xfrm>
          <a:prstGeom prst="roundRect">
            <a:avLst/>
          </a:prstGeom>
          <a:solidFill>
            <a:srgbClr val="0B1B1E"/>
          </a:solidFill>
          <a:ln w="15240">
            <a:solidFill>
              <a:srgbClr val="19A97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in the contract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Borrowing says: “I only need to read.”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says: “I take cleanup responsibility.”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Cloning says: “I explicitly pay for another value.”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3959352"/>
            <a:ext cx="502920" cy="32004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886200"/>
            <a:ext cx="4526280" cy="1600200"/>
          </a:xfrm>
          <a:prstGeom prst="roundRect">
            <a:avLst/>
          </a:prstGeom>
          <a:solidFill>
            <a:srgbClr val="0C172B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C++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`const T&amp;`, `T&amp;&amp;`, and copy construction are all available in C++; Rust makes the ownership choice explicit at the use site and checks use-after-move.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29400" y="395935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3: inspect the lowering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what survives after source-level ownership has been checked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566160" cy="219456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cpp/tiny.cpp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#include &lt;string&gt;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std::string pass(std::string 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return 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len(std::string 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return static_cast&lt;int&gt;(s.size());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5968" y="1143000"/>
            <a:ext cx="3566160" cy="219456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rust/tiny.rs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#[no_mangle]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fn pass(s: String) -&gt; String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#[no_mangle]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fn len(s: String) -&gt; usize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s.len()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65008" y="1143000"/>
            <a:ext cx="3474720" cy="2194560"/>
          </a:xfrm>
          <a:prstGeom prst="roundRect">
            <a:avLst/>
          </a:prstGeom>
          <a:solidFill>
            <a:srgbClr val="10102A"/>
          </a:solidFill>
          <a:ln w="15240">
            <a:solidFill>
              <a:srgbClr val="6C43C3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clang++ -std=c++20 -O3 -S -emit-llvm tiny.cpp -o cpp.ll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rustc -O --emit=llvm-ir tiny.rs -o rust.ll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56448" y="1216152"/>
            <a:ext cx="502920" cy="32004"/>
          </a:xfrm>
          <a:prstGeom prst="rect">
            <a:avLst/>
          </a:prstGeom>
          <a:solidFill>
            <a:srgbClr val="6C43C3"/>
          </a:solidFill>
          <a:ln w="12700">
            <a:solidFill>
              <a:srgbClr val="6C43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931920"/>
            <a:ext cx="10012680" cy="1417320"/>
          </a:xfrm>
          <a:prstGeom prst="roundRect">
            <a:avLst/>
          </a:prstGeom>
          <a:solidFill>
            <a:srgbClr val="151209"/>
          </a:solidFill>
          <a:ln w="15240">
            <a:solidFill>
              <a:srgbClr val="D5A30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find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there an LLVM “move” instruction?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String data copied, or just metadata?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drops/destructors remain at O0?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checks disappear after O3?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calls are ABI/runtime calls rather than ownership operations?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" y="4005072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debrief: what should students discover?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desired answer is conceptual, not a perfect instruction count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3337560" cy="1965960"/>
          </a:xfrm>
          <a:prstGeom prst="roundRect">
            <a:avLst/>
          </a:prstGeom>
          <a:solidFill>
            <a:srgbClr val="0C172B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`std::move` is a cast to an rvalue expression.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 operation happens only if an overload or constructor actually uses that value category.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234440"/>
            <a:ext cx="3337560" cy="1965960"/>
          </a:xfrm>
          <a:prstGeom prst="roundRect">
            <a:avLst/>
          </a:prstGeom>
          <a:solidFill>
            <a:srgbClr val="171122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move transfers the right to use and later drop the value.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removes access to the old binding for non-Copy types.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6280" y="1307592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234440"/>
            <a:ext cx="3337560" cy="1965960"/>
          </a:xfrm>
          <a:prstGeom prst="roundRect">
            <a:avLst/>
          </a:prstGeom>
          <a:solidFill>
            <a:srgbClr val="10102A"/>
          </a:solidFill>
          <a:ln w="15240">
            <a:solidFill>
              <a:srgbClr val="6C43C3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type checking and borrow checking, ownership is already resolved.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 mostly sees memory, values, calls, and optimizer metadata.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75320" y="1307592"/>
            <a:ext cx="502920" cy="32004"/>
          </a:xfrm>
          <a:prstGeom prst="rect">
            <a:avLst/>
          </a:prstGeom>
          <a:solidFill>
            <a:srgbClr val="6C43C3"/>
          </a:solidFill>
          <a:ln w="12700">
            <a:solidFill>
              <a:srgbClr val="6C43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05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sentence students should be able to say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70832"/>
            <a:ext cx="10561320" cy="658368"/>
          </a:xfrm>
          <a:prstGeom prst="roundRect">
            <a:avLst/>
          </a:prstGeom>
          <a:solidFill>
            <a:srgbClr val="11131E"/>
          </a:solidFill>
          <a:ln>
            <a:solidFill>
              <a:srgbClr val="D96A08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“Move is not a magical byte-copy operation. It is a change in who owns the obligation to clean up, expressed differently by C++ and Rust.”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Quiz: multiple choice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after the lab; 12 questions, 8–10 minutes, closed notes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3886200" cy="2423160"/>
          </a:xfrm>
          <a:prstGeom prst="roundRect">
            <a:avLst/>
          </a:prstGeom>
          <a:solidFill>
            <a:srgbClr val="14120A"/>
          </a:solidFill>
          <a:ln w="15240">
            <a:solidFill>
              <a:srgbClr val="D5A30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run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students to answer individually first.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Then discuss in pairs.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Finally reveal the answer key.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Award credit for the explanation, not only the letter.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399032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25880"/>
            <a:ext cx="3886200" cy="2423160"/>
          </a:xfrm>
          <a:prstGeom prst="roundRect">
            <a:avLst/>
          </a:prstGeom>
          <a:solidFill>
            <a:srgbClr val="0B1B1E"/>
          </a:solidFill>
          <a:ln w="15240">
            <a:solidFill>
              <a:srgbClr val="19A97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tests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 value categories and moved-from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Rust ownership, Copy, Clone, Drop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LLVM lowering and optimizer intuition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design: borrow vs 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66360" y="1399032"/>
            <a:ext cx="502920" cy="32004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4434840"/>
            <a:ext cx="3566160" cy="384048"/>
          </a:xfrm>
          <a:prstGeom prst="roundRect">
            <a:avLst/>
          </a:prstGeom>
          <a:solidFill>
            <a:srgbClr val="B8414B"/>
          </a:solidFill>
          <a:ln>
            <a:solidFill>
              <a:srgbClr val="B8414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show answer key yet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Part A: C++ move semantics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370332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57DC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does std::move(x) do by itself?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Frees x's resources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Casts x to an rvalue expression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Copies x into a temporary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Calls the move constructor immediately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07408" y="1078992"/>
            <a:ext cx="370332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57DC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After moving from a standard-library object, the object is usually…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destroyed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valid but unspecified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undefined to touch at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guaranteed empty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84464" y="1078992"/>
            <a:ext cx="342900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57DC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are many move constructors marked noexcept?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It makes them faster at runtime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It forbids all exceptions in the program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Containers can prefer moving during reallocation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It disables copy elision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60704" y="3172968"/>
            <a:ext cx="457200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57DC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Inside a move constructor, the parameter named other is…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an xvalue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an lvalue expression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always const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already destroyed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3172968"/>
            <a:ext cx="457200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57DC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Why is return std::move(local) often a pessimization?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It turns into a deep copy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It can prevent NRVO/copy elision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It makes local const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It prevents destruction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Part B: Rust ownership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0352" y="1078992"/>
            <a:ext cx="370332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D96A0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For let b = a; where a: String, what happens?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a and b both own the buffer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a is moved; b owns the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a is copied byte-for-byte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a becomes a borrowed reference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07408" y="1078992"/>
            <a:ext cx="370332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D96A0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Which trait makes implicit bitwise duplication legal?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Clone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Drop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Copy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Deref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84464" y="1078992"/>
            <a:ext cx="342900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D96A0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Can a type that implements Drop also implement Copy?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Yes, always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Yes, only if it owns heap 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Only in unsafe 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60704" y="3172968"/>
            <a:ext cx="457200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D96A0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What is the cheapest way to let a function inspect a value?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Pass ownership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Clone first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Pass a shared reference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Use Box&lt;T&gt;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3172968"/>
            <a:ext cx="4572000" cy="123444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D96A0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What does Clone communicate?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Implicit copy at every assignment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Explicit duplication chosen by the programmer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Guaranteed zero-cost 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A destructor has already run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Part C: lowering and API design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520440" cy="137160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6C43C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Does LLVM IR have a first-class “ownership move” instruction?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Yes: 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Yes: transfer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No; it has ordinary low-level operations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Only for Rust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62272" y="1234440"/>
            <a:ext cx="3520440" cy="137160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6C43C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A Rust String move usually copies…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all heap bytes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only stack metadata such as pointer/len/cap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nothing at all, even registers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the allocator object only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1234440"/>
            <a:ext cx="3246120" cy="137160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9A97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An API should take ownership when the callee…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stores, consumes, or becomes responsible for cleanup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only reads the value 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wants to avoid typing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wants automatic cloning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3657600"/>
            <a:ext cx="3520440" cy="137160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19A974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 Best C++/Rust translation of “read without owning” is…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T&amp;&amp; / 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const T&amp; / &amp;T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T* / Box&lt;T&gt;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std::move / clone()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0" y="3657600"/>
            <a:ext cx="3520440" cy="1371600"/>
          </a:xfrm>
          <a:prstGeom prst="roundRect">
            <a:avLst/>
          </a:prstGeom>
          <a:solidFill>
            <a:srgbClr val="0B1225"/>
          </a:solidFill>
          <a:ln w="12700">
            <a:solidFill>
              <a:srgbClr val="D96A0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 The biggest safety difference after a move is…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Rust keeps the old binding usable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C++ forbids all moved-from use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Rust rejects use-after-move statically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LLVM checks use-after-move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Solution 1: C++ trace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log can vary with elision, flags, and library implementation; the reasoning should not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143000"/>
            <a:ext cx="5394960" cy="2286000"/>
          </a:xfrm>
          <a:prstGeom prst="roundRect">
            <a:avLst/>
          </a:prstGeom>
          <a:solidFill>
            <a:srgbClr val="0C172B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reasoning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`std::move(a)` changes the value category; overload resolution then selects move operations where available.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moved-from `a` remains alive and will be destroyed.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this example, `a.name` is typically empty after `std::string` move, but do not rely on a specific value unless the type promises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21615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6208" y="1143000"/>
            <a:ext cx="5394960" cy="2286000"/>
          </a:xfrm>
          <a:prstGeom prst="roundRect">
            <a:avLst/>
          </a:prstGeom>
          <a:solidFill>
            <a:srgbClr val="14120A"/>
          </a:solidFill>
          <a:ln w="15240">
            <a:solidFill>
              <a:srgbClr val="D5A30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variations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Removing `std::move(a)` selects copy construction for `b`.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`return t;` allows copy elision / move from local.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`return std::move(t);` often blocks NRVO and can add a move.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`noexcept` matters for containers that choose between move and copy for strong exception guarantees.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7648" y="1216152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977640"/>
            <a:ext cx="10515600" cy="96012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Trace b = std::move(a);   // move constructs b; a is still a live 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consume(std::move(b));     // move constructs the parameter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Trace c = make();          // usually elided; visible with -fno-elide-constructors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413248"/>
            <a:ext cx="10149840" cy="384048"/>
          </a:xfrm>
          <a:prstGeom prst="roundRect">
            <a:avLst/>
          </a:prstGeom>
          <a:solidFill>
            <a:srgbClr val="11131E"/>
          </a:solidFill>
          <a:ln>
            <a:solidFill>
              <a:srgbClr val="157D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rubric: students get full credit if they separate “cast to rvalue” from “actual move constructor/assignment selected.”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Solution 2: Rust ownership fixes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error is the lesson: the old owner is no longer usable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3520440" cy="192024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Borrowing solution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observe(t: &amp;Token) { println!("{}", t.0);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Token("A".to_string());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observe(&amp;a);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println!("still usable: {:?}", a);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4407408" y="1170432"/>
            <a:ext cx="3520440" cy="192024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Move solution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consume(t: Token) { println!("{}", t.0); 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Token("A".to_string());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consume(a);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a is intentionally gone here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47888" y="1170432"/>
            <a:ext cx="3337560" cy="1920240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24324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Clone solution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#[derive(Debug, Clone)]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Token(String);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a = Token("A".to_string());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consume(a.clone());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5F7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println!("original: {:?}", a);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96112" y="3767328"/>
            <a:ext cx="10469880" cy="1261872"/>
          </a:xfrm>
          <a:prstGeom prst="roundRect">
            <a:avLst/>
          </a:prstGeom>
          <a:solidFill>
            <a:srgbClr val="171122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explanation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line `let b = a;` moves ownership of the Token. Because Token owns a String and implements Drop, it cannot be Copy. `clone()` is explicit duplication; borrowing leaves ownership with the caller.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3840480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Solution 3: LLVM IR findings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move is a source-level ownership event; LLVM mostly sees ordinary low-level operations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5166360" cy="3063240"/>
          </a:xfrm>
          <a:prstGeom prst="roundRect">
            <a:avLst/>
          </a:prstGeom>
          <a:solidFill>
            <a:srgbClr val="10102A"/>
          </a:solidFill>
          <a:ln w="15240">
            <a:solidFill>
              <a:srgbClr val="6C43C3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should see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universal LLVM “move ownership” instruction.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values may become registers or disappear completely.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`String`/`std::string` moves are mostly metadata transfer plus destructor/runtime calls.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Drop flags and cleanup paths are visible more often at O0.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O3 removes dead transfers and inlines aggressively.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502920" cy="32004"/>
          </a:xfrm>
          <a:prstGeom prst="rect">
            <a:avLst/>
          </a:prstGeom>
          <a:solidFill>
            <a:srgbClr val="6C43C3"/>
          </a:solidFill>
          <a:ln w="12700">
            <a:solidFill>
              <a:srgbClr val="6C43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207008"/>
            <a:ext cx="5166360" cy="3063240"/>
          </a:xfrm>
          <a:prstGeom prst="roundRect">
            <a:avLst/>
          </a:prstGeom>
          <a:solidFill>
            <a:srgbClr val="0B1B1E"/>
          </a:solidFill>
          <a:ln w="15240">
            <a:solidFill>
              <a:srgbClr val="19A97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phrasing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“Rust’s borrow checker does not emit runtime ownership checks for ordinary moves. It proves the ownership story before LLVM sees the program. C++ expresses move by overloads and library code; LLVM optimizes the resulting operations.”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02920" cy="32004"/>
          </a:xfrm>
          <a:prstGeom prst="rect">
            <a:avLst/>
          </a:prstGeom>
          <a:solidFill>
            <a:srgbClr val="19A974"/>
          </a:solidFill>
          <a:ln w="12700">
            <a:solidFill>
              <a:srgbClr val="19A9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983480"/>
            <a:ext cx="8915400" cy="411480"/>
          </a:xfrm>
          <a:prstGeom prst="roundRect">
            <a:avLst/>
          </a:prstGeom>
          <a:solidFill>
            <a:srgbClr val="11131E"/>
          </a:solidFill>
          <a:ln>
            <a:solidFill>
              <a:srgbClr val="D5A30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grade on exact IR text. Grade on the absence of source-language magic.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answer key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only after students commit to an answer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234440" y="1124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std::move casts to rvalue; it does not move by itself.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34440" y="1444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Moved-from standard-library objects are valid, but their value is type-specific / unspecified.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34440" y="1764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noexcept enables containers to move while preserving exception guarantees.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34440" y="20848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named rvalue-reference parameter is an lvalue expression.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234440" y="2404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std::move(local) can block NRVO.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71576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34440" y="27249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moves; the old binding is no longer usable.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03580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3044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enables implicit duplication.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355848"/>
            <a:ext cx="594360" cy="237744"/>
          </a:xfrm>
          <a:prstGeom prst="roundRect">
            <a:avLst/>
          </a:prstGeom>
          <a:solidFill>
            <a:srgbClr val="157DC4"/>
          </a:solidFill>
          <a:ln>
            <a:solidFill>
              <a:srgbClr val="157DC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34440" y="33649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types cannot be Copy.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111556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1124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 observes without taking ownership.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143560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1444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is explicit duplication.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175564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95160" y="1764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LLVM has low-level operations, not a universal ownership move.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207568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95160" y="20848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move transfers metadata/ownership, not heap bytes.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239572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95160" y="2404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ownership when the callee consumes or stores.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71576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 B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95160" y="27249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 T&amp; and &amp;T read without owning.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035808"/>
            <a:ext cx="594360" cy="237744"/>
          </a:xfrm>
          <a:prstGeom prst="roundRect">
            <a:avLst/>
          </a:prstGeom>
          <a:solidFill>
            <a:srgbClr val="D96A08"/>
          </a:solidFill>
          <a:ln>
            <a:solidFill>
              <a:srgbClr val="D96A0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 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95160" y="30449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statically rejects use-after-move.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0" y="5532120"/>
            <a:ext cx="6309360" cy="502920"/>
          </a:xfrm>
          <a:prstGeom prst="roundRect">
            <a:avLst/>
          </a:prstGeom>
          <a:solidFill>
            <a:srgbClr val="14120A"/>
          </a:solidFill>
          <a:ln w="15240">
            <a:solidFill>
              <a:srgbClr val="D5A3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 the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answers mention ownership, validity, and when duplication is explicit.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017520" y="5605272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teaching move: translate API intent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731520"/>
            <a:ext cx="914400" cy="50292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8046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the session by having each student rewrite one function signature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2834640" cy="2834640"/>
          </a:xfrm>
          <a:prstGeom prst="roundRect">
            <a:avLst/>
          </a:prstGeom>
          <a:solidFill>
            <a:srgbClr val="0C172B"/>
          </a:solidFill>
          <a:ln w="15240">
            <a:solidFill>
              <a:srgbClr val="157DC4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vocabulary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 T&amp;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T&amp;&amp; / T by value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std::move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constructor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constructor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399032"/>
            <a:ext cx="502920" cy="32004"/>
          </a:xfrm>
          <a:prstGeom prst="rect">
            <a:avLst/>
          </a:prstGeom>
          <a:solidFill>
            <a:srgbClr val="157DC4"/>
          </a:solidFill>
          <a:ln w="12700">
            <a:solidFill>
              <a:srgbClr val="157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4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↔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0" y="1572768"/>
            <a:ext cx="2697480" cy="2331720"/>
          </a:xfrm>
          <a:prstGeom prst="roundRect">
            <a:avLst/>
          </a:prstGeom>
          <a:solidFill>
            <a:srgbClr val="14120A"/>
          </a:solidFill>
          <a:ln w="15240">
            <a:solidFill>
              <a:srgbClr val="D5A30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question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this function only observe, temporarily borrow mutably, or consume ownership?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502920" cy="32004"/>
          </a:xfrm>
          <a:prstGeom prst="rect">
            <a:avLst/>
          </a:prstGeom>
          <a:solidFill>
            <a:srgbClr val="D5A300"/>
          </a:solidFill>
          <a:ln w="12700">
            <a:solidFill>
              <a:srgbClr val="D5A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9248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4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↔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549640" y="1325880"/>
            <a:ext cx="2834640" cy="2834640"/>
          </a:xfrm>
          <a:prstGeom prst="roundRect">
            <a:avLst/>
          </a:prstGeom>
          <a:solidFill>
            <a:srgbClr val="171122"/>
          </a:solidFill>
          <a:ln w="15240">
            <a:solidFill>
              <a:srgbClr val="D96A08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vocabulary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&amp;mut 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.clone()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/ Copy / Clone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41080" y="1399032"/>
            <a:ext cx="502920" cy="32004"/>
          </a:xfrm>
          <a:prstGeom prst="rect">
            <a:avLst/>
          </a:prstGeom>
          <a:solidFill>
            <a:srgbClr val="D96A08"/>
          </a:solidFill>
          <a:ln w="12700">
            <a:solidFill>
              <a:srgbClr val="D96A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5074920"/>
            <a:ext cx="9738360" cy="475488"/>
          </a:xfrm>
          <a:prstGeom prst="roundRect">
            <a:avLst/>
          </a:prstGeom>
          <a:solidFill>
            <a:srgbClr val="11131E"/>
          </a:solidFill>
          <a:ln>
            <a:solidFill>
              <a:srgbClr val="D96A0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closing exercise: take one API from your C++ codebase and write the Rust ownership contract beside it.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" y="65653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semantics: C++ vs Rust — hands-on lab and quiz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11759184" y="651967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F7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 Semantics: C++ vs Rust — Lab and Quiz</dc:title>
  <dc:subject>Move Semantics for C++ Developers: Rust hands-on lab and quiz</dc:subject>
  <dc:creator>OpenAI</dc:creator>
  <cp:lastModifiedBy>OpenAI</cp:lastModifiedBy>
  <cp:revision>1</cp:revision>
  <dcterms:created xsi:type="dcterms:W3CDTF">2026-09-12T18:49:47Z</dcterms:created>
  <dcterms:modified xsi:type="dcterms:W3CDTF">2026-09-12T18:49:47Z</dcterms:modified>
</cp:coreProperties>
</file>