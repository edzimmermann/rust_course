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deck is pro-C++ and pro-pointer literacy. It treats Rust as a way to make pointer contracts explicit, not as an argument that C++ is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set tone. Experienced C++ developers should feel respected: modern C++ is progress, but the resource model remains essential.
[Sources]
- https://en.cppreference.com/w/cpp/memory/unique_ptr
- https://en.cppreference.com/w/cpp/container/span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address is not enough. Correct pointer use depends on object lifetime, bounds, alignment, aliasing, and synchronization. This is the foundation for the whole module.
[Sources]
- https://en.cppreference.com/w/cpp/language/lifetime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Pointers enable systems programming: explicit layout, custom data structures, interoperability with C APIs, and precise memory control. The argument is not to abolish pointers; it is to make their contracts visible.
[Sources]
- https://en.cppreference.com/w/cpp/language/pointer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failure modes as a taxonomy. The same taxonomy will map naturally onto Rust references, raw pointers, ownership pointers, and concurrency types.
[Sources]
- https://en.cppreference.com/w/cpp/language/ub
- https://doc.rust-lang.org/book/ch04-02-references-and-borrowing.html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and Rust both have multiple pointer-like types. The teaching focus is the semantic contract, not the spelling.
[Sources]
- https://en.cppreference.com/w/cpp/memory/unique_ptr
- https://en.cppreference.com/w/cpp/memory/shared_ptr
- https://en.cppreference.com/w/cpp/container/span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fights the misconception that pointer safety is mostly null checking. Rust references are guaranteed to be valid for their lifetime; raw pointers are allowed to be null or invalid, but dereferencing them is unsafe.
[Sources]
- https://en.cppreference.com/w/cpp/language/nullptr
- https://doc.rust-lang.org/book/ch04-02-references-and-borrowing.html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Dangling references are a natural consequence of separate reference lifetime and object lifetime in C++. Rust references cannot outlive the data they reference in safe code.
[Sources]
- https://en.cppreference.com/w/cpp/language/lifetime
- https://doc.rust-lang.org/book/ch04-02-references-and-borrowing.html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reallocation can invalidate references, pointers, and iterators. Rust refuses simultaneous borrowing patterns that would make such invalidation observable through a live safe reference.
[Sources]
- https://en.cppreference.com/w/cpp/container/vector
- https://doc.rust-lang.org/book/ch04-02-references-and-borrowing.html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Rust borrowing model distinguishes many shared immutable references from a single mutable reference. That rule is about aliasing and mutation, and it is also closely related to data-race prevention.
[Sources]
- https://doc.rust-lang.org/book/ch04-02-references-and-borrowing.html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pointer semantics are constrained by object boundaries, valid lifetimes, and provenance-like reasoning. Rust raw pointer APIs document that pointer arithmetic must remain attached to the relevant allocation before dereference.
[Sources]
- https://doc.rust-lang.org/stable/core/primitive.pointer.html
- https://en.cppreference.com/w/cpp/language/lifetime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 references carry safety and liveness guarantees. Raw pointers have no such guarantees, and dereferencing them is unsafe. This is one of the central design distinctions to emphasize.
[Sources]
- https://doc.rust-lang.org/reference/types/pointer.html
- https://doc.rust-lang.org/stable/core/primitive.pointer.html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Slices illustrate pointer metadata. C++ has std::span as a vocabulary type for pointer+size views; Rust slice references carry length metadata as part of the type representation.
[Sources]
- https://en.cppreference.com/w/cpp/container/span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std::unique_ptr expresses unique ownership in C++. Rust Box&lt;T&gt; is the standard owning heap pointer. The main teaching goal is explicit ownership and explicit borrowing.
[Sources]
- https://en.cppreference.com/w/cpp/memory/unique_ptr
- https://doc.rust-lang.org/std/boxed/struct.Box.html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shared_ptr and Rust Rc/Arc express shared ownership, but shared ownership is not sufficient to establish mutation safety or prevent cycles. Rust separates ownership from interior mutability and synchronization choices.
[Sources]
- https://en.cppreference.com/w/cpp/memory/shared_ptr
- https://doc.rust-lang.org/std/rc/struct.Rc.html
- https://doc.rust-lang.org/std/sync/struct.Arc.html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Unsafe Rust allows operations such as dereferencing raw pointers, but the safety obligation moves to the programmer. The idiom is to keep unsafe code small and expose safe APIs that maintain invariants.
[Sources]
- https://doc.rust-lang.org/stable/core/primitive.pointer.html
- https://doc.rust-lang.org/reference/unsafe-keyword.html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turns pointer anxiety into API design. The goal is not a single perfect answer, but making every pointer responsibility explicit.
[Sources]
- https://en.cppreference.com/w/cpp/container/span
- https://doc.rust-lang.org/reference/types/pointer.html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the course teaches pointer literacy as a transferable skill. Rust makes many pointer contracts explicit, and that should improve C++ API design and review habits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30352" y="658368"/>
            <a:ext cx="4114800" cy="640080"/>
          </a:xfrm>
          <a:prstGeom prst="rect">
            <a:avLst/>
          </a:prstGeom>
          <a:noFill/>
          <a:ln/>
        </p:spPr>
        <p:txBody>
          <a:bodyPr wrap="square" lIns="0" tIns="0" rIns="0" bIns="0" rtlCol="0" anchor="ctr"/>
          <a:lstStyle/>
          <a:p>
            <a:pPr indent="0" marL="0">
              <a:buNone/>
            </a:pPr>
            <a:r>
              <a:rPr lang="en-US" sz="4200" b="1" dirty="0">
                <a:solidFill>
                  <a:srgbClr val="E7EEF7"/>
                </a:solidFill>
                <a:latin typeface="Aptos Display" pitchFamily="34" charset="0"/>
                <a:ea typeface="Aptos Display" pitchFamily="34" charset="-122"/>
                <a:cs typeface="Aptos Display" pitchFamily="34" charset="-120"/>
              </a:rPr>
              <a:t>Pointers</a:t>
            </a:r>
            <a:endParaRPr lang="en-US" sz="4200" dirty="0"/>
          </a:p>
        </p:txBody>
      </p:sp>
      <p:sp>
        <p:nvSpPr>
          <p:cNvPr id="6" name="Text 4"/>
          <p:cNvSpPr/>
          <p:nvPr/>
        </p:nvSpPr>
        <p:spPr>
          <a:xfrm>
            <a:off x="557784" y="1325880"/>
            <a:ext cx="6400800" cy="347472"/>
          </a:xfrm>
          <a:prstGeom prst="rect">
            <a:avLst/>
          </a:prstGeom>
          <a:noFill/>
          <a:ln/>
        </p:spPr>
        <p:txBody>
          <a:bodyPr wrap="square" lIns="0" tIns="0" rIns="0" bIns="0" rtlCol="0" anchor="ctr"/>
          <a:lstStyle/>
          <a:p>
            <a:pPr indent="0" marL="0">
              <a:buNone/>
            </a:pPr>
            <a:r>
              <a:rPr lang="en-US" sz="2000" b="1" dirty="0">
                <a:solidFill>
                  <a:srgbClr val="B45309"/>
                </a:solidFill>
              </a:rPr>
              <a:t>the power tool and the time bomb</a:t>
            </a:r>
            <a:endParaRPr lang="en-US" sz="2000" dirty="0"/>
          </a:p>
        </p:txBody>
      </p:sp>
      <p:sp>
        <p:nvSpPr>
          <p:cNvPr id="7" name="Text 5"/>
          <p:cNvSpPr/>
          <p:nvPr/>
        </p:nvSpPr>
        <p:spPr>
          <a:xfrm>
            <a:off x="557784" y="1874520"/>
            <a:ext cx="5486400" cy="219456"/>
          </a:xfrm>
          <a:prstGeom prst="rect">
            <a:avLst/>
          </a:prstGeom>
          <a:noFill/>
          <a:ln/>
        </p:spPr>
        <p:txBody>
          <a:bodyPr wrap="square" lIns="0" tIns="0" rIns="0" bIns="0" rtlCol="0" anchor="ctr"/>
          <a:lstStyle/>
          <a:p>
            <a:pPr indent="0" marL="0">
              <a:buNone/>
            </a:pPr>
            <a:r>
              <a:rPr lang="en-US" sz="1200" dirty="0">
                <a:solidFill>
                  <a:srgbClr val="93A4B8"/>
                </a:solidFill>
              </a:rPr>
              <a:t>A companion module for Rust and better C++ development</a:t>
            </a:r>
            <a:endParaRPr lang="en-US" sz="1200" dirty="0"/>
          </a:p>
        </p:txBody>
      </p:sp>
      <p:sp>
        <p:nvSpPr>
          <p:cNvPr id="8" name="Text 6"/>
          <p:cNvSpPr/>
          <p:nvPr/>
        </p:nvSpPr>
        <p:spPr>
          <a:xfrm>
            <a:off x="7040880" y="713232"/>
            <a:ext cx="1920240" cy="914400"/>
          </a:xfrm>
          <a:prstGeom prst="roundRect">
            <a:avLst/>
          </a:prstGeom>
          <a:solidFill>
            <a:srgbClr val="155E75"/>
          </a:solidFill>
          <a:ln w="12700">
            <a:solidFill>
              <a:srgbClr val="0E7490"/>
            </a:solidFill>
          </a:ln>
          <a:effectLst>
            <a:outerShdw sx="100000" sy="100000" kx="0" ky="0" algn="bl" rotWithShape="0" blurRad="322580000" dist="161290000" dir="162000000000">
              <a:srgbClr val="000000">
                <a:alpha val="2200000000"/>
              </a:srgbClr>
            </a:outerShdw>
          </a:effectLst>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C/C++ pointer culture</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Power, control, layout, FFI</a:t>
            </a:r>
            <a:endParaRPr lang="en-US" sz="1200" dirty="0"/>
          </a:p>
        </p:txBody>
      </p:sp>
      <p:sp>
        <p:nvSpPr>
          <p:cNvPr id="9" name="Text 7"/>
          <p:cNvSpPr/>
          <p:nvPr/>
        </p:nvSpPr>
        <p:spPr>
          <a:xfrm>
            <a:off x="9418320" y="713232"/>
            <a:ext cx="1920240" cy="914400"/>
          </a:xfrm>
          <a:prstGeom prst="roundRect">
            <a:avLst/>
          </a:prstGeom>
          <a:solidFill>
            <a:srgbClr val="7C2D12"/>
          </a:solidFill>
          <a:ln w="12700">
            <a:solidFill>
              <a:srgbClr val="B45309"/>
            </a:solidFill>
          </a:ln>
          <a:effectLst>
            <a:outerShdw sx="100000" sy="100000" kx="0" ky="0" algn="bl" rotWithShape="0" blurRad="322580000" dist="161290000" dir="162000000000">
              <a:srgbClr val="000000">
                <a:alpha val="2200000000"/>
              </a:srgbClr>
            </a:outerShdw>
          </a:effectLst>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Rust pointer culture</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Proofs, lifetimes, safe APIs</a:t>
            </a:r>
            <a:endParaRPr lang="en-US" sz="1200" dirty="0"/>
          </a:p>
        </p:txBody>
      </p:sp>
      <p:sp>
        <p:nvSpPr>
          <p:cNvPr id="10" name="Shape 8"/>
          <p:cNvSpPr/>
          <p:nvPr/>
        </p:nvSpPr>
        <p:spPr>
          <a:xfrm>
            <a:off x="9034272" y="960120"/>
            <a:ext cx="310896" cy="237744"/>
          </a:xfrm>
          <a:prstGeom prst="rightArrow">
            <a:avLst/>
          </a:prstGeom>
          <a:solidFill>
            <a:srgbClr val="B45309"/>
          </a:solidFill>
          <a:ln w="12700">
            <a:solidFill>
              <a:srgbClr val="B45309">
                <a:alpha val="0"/>
              </a:srgbClr>
            </a:solidFill>
            <a:prstDash val="solid"/>
          </a:ln>
        </p:spPr>
      </p:sp>
      <p:sp>
        <p:nvSpPr>
          <p:cNvPr id="11" name="Text 9"/>
          <p:cNvSpPr/>
          <p:nvPr/>
        </p:nvSpPr>
        <p:spPr>
          <a:xfrm>
            <a:off x="594360" y="3794760"/>
            <a:ext cx="1234440" cy="256032"/>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800" b="1" dirty="0">
                <a:solidFill>
                  <a:srgbClr val="E7EEF7"/>
                </a:solidFill>
                <a:latin typeface="Aptos" pitchFamily="34" charset="0"/>
                <a:ea typeface="Aptos" pitchFamily="34" charset="-122"/>
                <a:cs typeface="Aptos" pitchFamily="34" charset="-120"/>
              </a:rPr>
              <a:t>Course thesis</a:t>
            </a:r>
            <a:endParaRPr lang="en-US" sz="800" dirty="0"/>
          </a:p>
        </p:txBody>
      </p:sp>
      <p:sp>
        <p:nvSpPr>
          <p:cNvPr id="12" name="Text 10"/>
          <p:cNvSpPr/>
          <p:nvPr/>
        </p:nvSpPr>
        <p:spPr>
          <a:xfrm>
            <a:off x="594360" y="4160520"/>
            <a:ext cx="5303520" cy="658368"/>
          </a:xfrm>
          <a:prstGeom prst="roundRect">
            <a:avLst/>
          </a:prstGeom>
          <a:solidFill>
            <a:srgbClr val="0B1220"/>
          </a:solidFill>
          <a:ln w="12700">
            <a:solidFill>
              <a:srgbClr val="6D28D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Pointers are not the problem.</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Unproved pointer contracts are the problem.</a:t>
            </a:r>
            <a:endParaRPr lang="en-US" sz="1500" dirty="0"/>
          </a:p>
        </p:txBody>
      </p:sp>
      <p:sp>
        <p:nvSpPr>
          <p:cNvPr id="13" name="Text 11"/>
          <p:cNvSpPr/>
          <p:nvPr/>
        </p:nvSpPr>
        <p:spPr>
          <a:xfrm>
            <a:off x="6766560" y="4160520"/>
            <a:ext cx="4160520" cy="658368"/>
          </a:xfrm>
          <a:prstGeom prst="roundRect">
            <a:avLst/>
          </a:prstGeom>
          <a:solidFill>
            <a:srgbClr val="0B1220"/>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Once students understand the why,</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the patterns become reflex.</a:t>
            </a:r>
            <a:endParaRPr lang="en-US" sz="1500" dirty="0"/>
          </a:p>
        </p:txBody>
      </p:sp>
      <p:sp>
        <p:nvSpPr>
          <p:cNvPr id="15" name="Text 12"/>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6" name="Text 13"/>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This is not an anti-C++ argument</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Modern C++ improved the ergonomics. It did not repeal the underlying machine model.</a:t>
            </a:r>
            <a:endParaRPr lang="en-US" sz="850" dirty="0"/>
          </a:p>
        </p:txBody>
      </p:sp>
      <p:sp>
        <p:nvSpPr>
          <p:cNvPr id="8" name="Text 6"/>
          <p:cNvSpPr/>
          <p:nvPr/>
        </p:nvSpPr>
        <p:spPr>
          <a:xfrm>
            <a:off x="685800" y="1417320"/>
            <a:ext cx="2926080" cy="59436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C++20 gives us better tools</a:t>
            </a:r>
            <a:endParaRPr lang="en-US" sz="1500" dirty="0"/>
          </a:p>
        </p:txBody>
      </p:sp>
      <p:sp>
        <p:nvSpPr>
          <p:cNvPr id="9" name="Text 7"/>
          <p:cNvSpPr/>
          <p:nvPr/>
        </p:nvSpPr>
        <p:spPr>
          <a:xfrm>
            <a:off x="868680" y="2240280"/>
            <a:ext cx="2560320" cy="2057400"/>
          </a:xfrm>
          <a:prstGeom prst="roundRect">
            <a:avLst/>
          </a:prstGeom>
          <a:solidFill>
            <a:srgbClr val="0B2519"/>
          </a:solidFill>
          <a:ln w="12700">
            <a:solidFill>
              <a:srgbClr val="166534"/>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unique_ptr</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span</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string_view</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RAII libraries</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ranges</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concepts</a:t>
            </a:r>
            <a:endParaRPr lang="en-US" sz="1500" dirty="0"/>
          </a:p>
        </p:txBody>
      </p:sp>
      <p:sp>
        <p:nvSpPr>
          <p:cNvPr id="10" name="Text 8"/>
          <p:cNvSpPr/>
          <p:nvPr/>
        </p:nvSpPr>
        <p:spPr>
          <a:xfrm>
            <a:off x="4343400" y="1417320"/>
            <a:ext cx="3291840" cy="594360"/>
          </a:xfrm>
          <a:prstGeom prst="roundRect">
            <a:avLst/>
          </a:prstGeom>
          <a:solidFill>
            <a:srgbClr val="A16207"/>
          </a:solidFill>
          <a:ln w="12700">
            <a:solidFill>
              <a:srgbClr val="A16207"/>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But tools can hide the old questions</a:t>
            </a:r>
            <a:endParaRPr lang="en-US" sz="1500" dirty="0"/>
          </a:p>
        </p:txBody>
      </p:sp>
      <p:sp>
        <p:nvSpPr>
          <p:cNvPr id="11" name="Text 9"/>
          <p:cNvSpPr/>
          <p:nvPr/>
        </p:nvSpPr>
        <p:spPr>
          <a:xfrm>
            <a:off x="4526280" y="2240280"/>
            <a:ext cx="2926080" cy="2057400"/>
          </a:xfrm>
          <a:prstGeom prst="roundRect">
            <a:avLst/>
          </a:prstGeom>
          <a:solidFill>
            <a:srgbClr val="251A05"/>
          </a:solidFill>
          <a:ln w="12700">
            <a:solidFill>
              <a:srgbClr val="A16207"/>
            </a:solidFill>
          </a:ln>
        </p:spPr>
        <p:txBody>
          <a:bodyPr wrap="square" lIns="1524" tIns="1524" rIns="1524" bIns="1524" rtlCol="0" anchor="ctr">
            <a:normAutofit/>
          </a:bodyPr>
          <a:lstStyle/>
          <a:p>
            <a:pPr algn="ctr" indent="0" marL="0">
              <a:buNone/>
            </a:pPr>
            <a:r>
              <a:rPr lang="en-US" sz="1450" b="1" dirty="0">
                <a:solidFill>
                  <a:srgbClr val="E7EEF7"/>
                </a:solidFill>
                <a:latin typeface="Aptos" pitchFamily="34" charset="0"/>
                <a:ea typeface="Aptos" pitchFamily="34" charset="-122"/>
                <a:cs typeface="Aptos" pitchFamily="34" charset="-120"/>
              </a:rPr>
              <a:t>Who owns?</a:t>
            </a:r>
            <a:endParaRPr lang="en-US" sz="1450" dirty="0"/>
          </a:p>
          <a:p>
            <a:pPr algn="ctr" indent="0" marL="0">
              <a:buNone/>
            </a:pPr>
            <a:r>
              <a:rPr lang="en-US" sz="1450" b="1" dirty="0">
                <a:solidFill>
                  <a:srgbClr val="E7EEF7"/>
                </a:solidFill>
                <a:latin typeface="Aptos" pitchFamily="34" charset="0"/>
                <a:ea typeface="Aptos" pitchFamily="34" charset="-122"/>
                <a:cs typeface="Aptos" pitchFamily="34" charset="-120"/>
              </a:rPr>
              <a:t>Who frees?</a:t>
            </a:r>
            <a:endParaRPr lang="en-US" sz="1450" dirty="0"/>
          </a:p>
          <a:p>
            <a:pPr algn="ctr" indent="0" marL="0">
              <a:buNone/>
            </a:pPr>
            <a:r>
              <a:rPr lang="en-US" sz="1450" b="1" dirty="0">
                <a:solidFill>
                  <a:srgbClr val="E7EEF7"/>
                </a:solidFill>
                <a:latin typeface="Aptos" pitchFamily="34" charset="0"/>
                <a:ea typeface="Aptos" pitchFamily="34" charset="-122"/>
                <a:cs typeface="Aptos" pitchFamily="34" charset="-120"/>
              </a:rPr>
              <a:t>Can it dangle?</a:t>
            </a:r>
            <a:endParaRPr lang="en-US" sz="1450" dirty="0"/>
          </a:p>
          <a:p>
            <a:pPr algn="ctr" indent="0" marL="0">
              <a:buNone/>
            </a:pPr>
            <a:r>
              <a:rPr lang="en-US" sz="1450" b="1" dirty="0">
                <a:solidFill>
                  <a:srgbClr val="E7EEF7"/>
                </a:solidFill>
                <a:latin typeface="Aptos" pitchFamily="34" charset="0"/>
                <a:ea typeface="Aptos" pitchFamily="34" charset="-122"/>
                <a:cs typeface="Aptos" pitchFamily="34" charset="-120"/>
              </a:rPr>
              <a:t>Can it alias?</a:t>
            </a:r>
            <a:endParaRPr lang="en-US" sz="1450" dirty="0"/>
          </a:p>
          <a:p>
            <a:pPr algn="ctr" indent="0" marL="0">
              <a:buNone/>
            </a:pPr>
            <a:r>
              <a:rPr lang="en-US" sz="1450" b="1" dirty="0">
                <a:solidFill>
                  <a:srgbClr val="E7EEF7"/>
                </a:solidFill>
                <a:latin typeface="Aptos" pitchFamily="34" charset="0"/>
                <a:ea typeface="Aptos" pitchFamily="34" charset="-122"/>
                <a:cs typeface="Aptos" pitchFamily="34" charset="-120"/>
              </a:rPr>
              <a:t>Can it mutate?</a:t>
            </a:r>
            <a:endParaRPr lang="en-US" sz="1450" dirty="0"/>
          </a:p>
          <a:p>
            <a:pPr algn="ctr" indent="0" marL="0">
              <a:buNone/>
            </a:pPr>
            <a:r>
              <a:rPr lang="en-US" sz="1450" b="1" dirty="0">
                <a:solidFill>
                  <a:srgbClr val="E7EEF7"/>
                </a:solidFill>
                <a:latin typeface="Aptos" pitchFamily="34" charset="0"/>
                <a:ea typeface="Aptos" pitchFamily="34" charset="-122"/>
                <a:cs typeface="Aptos" pitchFamily="34" charset="-120"/>
              </a:rPr>
              <a:t>Can it cross threads?</a:t>
            </a:r>
            <a:endParaRPr lang="en-US" sz="1450" dirty="0"/>
          </a:p>
        </p:txBody>
      </p:sp>
      <p:sp>
        <p:nvSpPr>
          <p:cNvPr id="12" name="Text 10"/>
          <p:cNvSpPr/>
          <p:nvPr/>
        </p:nvSpPr>
        <p:spPr>
          <a:xfrm>
            <a:off x="8321040" y="1417320"/>
            <a:ext cx="2971800" cy="594360"/>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450" b="1" dirty="0">
                <a:solidFill>
                  <a:srgbClr val="E7EEF7"/>
                </a:solidFill>
                <a:latin typeface="Aptos" pitchFamily="34" charset="0"/>
                <a:ea typeface="Aptos" pitchFamily="34" charset="-122"/>
                <a:cs typeface="Aptos" pitchFamily="34" charset="-120"/>
              </a:rPr>
              <a:t>Rust forces the basement back into view</a:t>
            </a:r>
            <a:endParaRPr lang="en-US" sz="1450" dirty="0"/>
          </a:p>
        </p:txBody>
      </p:sp>
      <p:sp>
        <p:nvSpPr>
          <p:cNvPr id="13" name="Text 11"/>
          <p:cNvSpPr/>
          <p:nvPr/>
        </p:nvSpPr>
        <p:spPr>
          <a:xfrm>
            <a:off x="8458200" y="2240280"/>
            <a:ext cx="2697480" cy="2057400"/>
          </a:xfrm>
          <a:prstGeom prst="roundRect">
            <a:avLst/>
          </a:prstGeom>
          <a:solidFill>
            <a:srgbClr val="1B1234"/>
          </a:solidFill>
          <a:ln w="12700">
            <a:solidFill>
              <a:srgbClr val="6D28D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References carry lifetime constraints.</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Mutation carries exclusivity constraints.</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Raw pointers are marked unsafe.</a:t>
            </a:r>
            <a:endParaRPr lang="en-US" sz="1350" dirty="0"/>
          </a:p>
        </p:txBody>
      </p:sp>
      <p:sp>
        <p:nvSpPr>
          <p:cNvPr id="14" name="Shape 12"/>
          <p:cNvSpPr/>
          <p:nvPr/>
        </p:nvSpPr>
        <p:spPr>
          <a:xfrm>
            <a:off x="3611880" y="3264408"/>
            <a:ext cx="594360" cy="0"/>
          </a:xfrm>
          <a:prstGeom prst="line">
            <a:avLst/>
          </a:prstGeom>
          <a:noFill/>
          <a:ln w="19050">
            <a:solidFill>
              <a:srgbClr val="2A3549"/>
            </a:solidFill>
            <a:prstDash val="solid"/>
          </a:ln>
        </p:spPr>
      </p:sp>
      <p:sp>
        <p:nvSpPr>
          <p:cNvPr id="15" name="Shape 13"/>
          <p:cNvSpPr/>
          <p:nvPr/>
        </p:nvSpPr>
        <p:spPr>
          <a:xfrm>
            <a:off x="7635240" y="3264408"/>
            <a:ext cx="594360" cy="0"/>
          </a:xfrm>
          <a:prstGeom prst="line">
            <a:avLst/>
          </a:prstGeom>
          <a:noFill/>
          <a:ln w="19050">
            <a:solidFill>
              <a:srgbClr val="2A3549"/>
            </a:solidFill>
            <a:prstDash val="solid"/>
          </a:ln>
        </p:spPr>
      </p:sp>
      <p:sp>
        <p:nvSpPr>
          <p:cNvPr id="16" name="Text 14"/>
          <p:cNvSpPr/>
          <p:nvPr/>
        </p:nvSpPr>
        <p:spPr>
          <a:xfrm>
            <a:off x="1920240" y="5074920"/>
            <a:ext cx="8321040" cy="530352"/>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The message is not "C++ is bad".</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The message is "do not let convenience erase the mental model."</a:t>
            </a:r>
            <a:endParaRPr lang="en-US" sz="1500" dirty="0"/>
          </a:p>
        </p:txBody>
      </p:sp>
      <p:sp>
        <p:nvSpPr>
          <p:cNvPr id="18" name="Text 15"/>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9" name="Text 16"/>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2</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A pointer is an address plus obligations</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The machine stores a small value. The programmer carries the large contract.</a:t>
            </a:r>
            <a:endParaRPr lang="en-US" sz="850" dirty="0"/>
          </a:p>
        </p:txBody>
      </p:sp>
      <p:sp>
        <p:nvSpPr>
          <p:cNvPr id="8" name="Text 6"/>
          <p:cNvSpPr/>
          <p:nvPr/>
        </p:nvSpPr>
        <p:spPr>
          <a:xfrm>
            <a:off x="777240" y="2011680"/>
            <a:ext cx="2743200" cy="56692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900" b="1" dirty="0">
                <a:solidFill>
                  <a:srgbClr val="E7EEF7"/>
                </a:solidFill>
                <a:latin typeface="Cascadia Mono" pitchFamily="34" charset="0"/>
                <a:ea typeface="Cascadia Mono" pitchFamily="34" charset="-122"/>
                <a:cs typeface="Cascadia Mono" pitchFamily="34" charset="-120"/>
              </a:rPr>
              <a:t>0x7ffeefbff4ac</a:t>
            </a:r>
            <a:endParaRPr lang="en-US" sz="1900" dirty="0"/>
          </a:p>
        </p:txBody>
      </p:sp>
      <p:sp>
        <p:nvSpPr>
          <p:cNvPr id="9" name="Shape 7"/>
          <p:cNvSpPr/>
          <p:nvPr/>
        </p:nvSpPr>
        <p:spPr>
          <a:xfrm>
            <a:off x="3749040" y="2130552"/>
            <a:ext cx="548640" cy="320040"/>
          </a:xfrm>
          <a:prstGeom prst="rightArrow">
            <a:avLst/>
          </a:prstGeom>
          <a:solidFill>
            <a:srgbClr val="B45309"/>
          </a:solidFill>
          <a:ln w="12700">
            <a:solidFill>
              <a:srgbClr val="B45309">
                <a:alpha val="0"/>
              </a:srgbClr>
            </a:solidFill>
            <a:prstDash val="solid"/>
          </a:ln>
        </p:spPr>
      </p:sp>
      <p:sp>
        <p:nvSpPr>
          <p:cNvPr id="10" name="Text 8"/>
          <p:cNvSpPr/>
          <p:nvPr/>
        </p:nvSpPr>
        <p:spPr>
          <a:xfrm>
            <a:off x="4617720" y="1417320"/>
            <a:ext cx="2697480" cy="566928"/>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points into a live allocation</a:t>
            </a:r>
            <a:endParaRPr lang="en-US" sz="1250" dirty="0"/>
          </a:p>
        </p:txBody>
      </p:sp>
      <p:sp>
        <p:nvSpPr>
          <p:cNvPr id="11" name="Text 9"/>
          <p:cNvSpPr/>
          <p:nvPr/>
        </p:nvSpPr>
        <p:spPr>
          <a:xfrm>
            <a:off x="7726680" y="1417320"/>
            <a:ext cx="2697480" cy="566928"/>
          </a:xfrm>
          <a:prstGeom prst="roundRect">
            <a:avLst/>
          </a:prstGeom>
          <a:solidFill>
            <a:srgbClr val="0E7490"/>
          </a:solidFill>
          <a:ln w="12700">
            <a:solidFill>
              <a:srgbClr val="0E7490"/>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is correctly aligned</a:t>
            </a:r>
            <a:endParaRPr lang="en-US" sz="1250" dirty="0"/>
          </a:p>
        </p:txBody>
      </p:sp>
      <p:sp>
        <p:nvSpPr>
          <p:cNvPr id="12" name="Text 10"/>
          <p:cNvSpPr/>
          <p:nvPr/>
        </p:nvSpPr>
        <p:spPr>
          <a:xfrm>
            <a:off x="4617720" y="2331720"/>
            <a:ext cx="2697480" cy="566928"/>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has the right object type</a:t>
            </a:r>
            <a:endParaRPr lang="en-US" sz="1250" dirty="0"/>
          </a:p>
        </p:txBody>
      </p:sp>
      <p:sp>
        <p:nvSpPr>
          <p:cNvPr id="13" name="Text 11"/>
          <p:cNvSpPr/>
          <p:nvPr/>
        </p:nvSpPr>
        <p:spPr>
          <a:xfrm>
            <a:off x="7726680" y="2331720"/>
            <a:ext cx="2697480" cy="566928"/>
          </a:xfrm>
          <a:prstGeom prst="roundRect">
            <a:avLst/>
          </a:prstGeom>
          <a:solidFill>
            <a:srgbClr val="A16207"/>
          </a:solidFill>
          <a:ln w="12700">
            <a:solidFill>
              <a:srgbClr val="A16207"/>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is within bounds</a:t>
            </a:r>
            <a:endParaRPr lang="en-US" sz="1250" dirty="0"/>
          </a:p>
        </p:txBody>
      </p:sp>
      <p:sp>
        <p:nvSpPr>
          <p:cNvPr id="14" name="Text 12"/>
          <p:cNvSpPr/>
          <p:nvPr/>
        </p:nvSpPr>
        <p:spPr>
          <a:xfrm>
            <a:off x="4617720" y="3246120"/>
            <a:ext cx="2697480" cy="566928"/>
          </a:xfrm>
          <a:prstGeom prst="roundRect">
            <a:avLst/>
          </a:prstGeom>
          <a:solidFill>
            <a:srgbClr val="B45309"/>
          </a:solidFill>
          <a:ln w="12700">
            <a:solidFill>
              <a:srgbClr val="B45309"/>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may be read or written now</a:t>
            </a:r>
            <a:endParaRPr lang="en-US" sz="1250" dirty="0"/>
          </a:p>
        </p:txBody>
      </p:sp>
      <p:sp>
        <p:nvSpPr>
          <p:cNvPr id="15" name="Text 13"/>
          <p:cNvSpPr/>
          <p:nvPr/>
        </p:nvSpPr>
        <p:spPr>
          <a:xfrm>
            <a:off x="7726680" y="3246120"/>
            <a:ext cx="2697480" cy="566928"/>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is not racing another access</a:t>
            </a:r>
            <a:endParaRPr lang="en-US" sz="1250" dirty="0"/>
          </a:p>
        </p:txBody>
      </p:sp>
      <p:sp>
        <p:nvSpPr>
          <p:cNvPr id="16" name="Text 14"/>
          <p:cNvSpPr/>
          <p:nvPr/>
        </p:nvSpPr>
        <p:spPr>
          <a:xfrm>
            <a:off x="1097280" y="5074920"/>
            <a:ext cx="9966960" cy="640080"/>
          </a:xfrm>
          <a:prstGeom prst="roundRect">
            <a:avLst/>
          </a:prstGeom>
          <a:solidFill>
            <a:srgbClr val="0B1220"/>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The pointer value does not prove any of these facts.</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C++ often asks the programmer to remember them. Rust often asks the type system to prove them.</a:t>
            </a:r>
            <a:endParaRPr lang="en-US" sz="1500" dirty="0"/>
          </a:p>
        </p:txBody>
      </p:sp>
      <p:sp>
        <p:nvSpPr>
          <p:cNvPr id="18" name="Text 15"/>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9" name="Text 16"/>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Why C/C++ developers love pointers</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Pointers are not a historical accident. They are a precise interface to memory.</a:t>
            </a:r>
            <a:endParaRPr lang="en-US" sz="850" dirty="0"/>
          </a:p>
        </p:txBody>
      </p:sp>
      <p:sp>
        <p:nvSpPr>
          <p:cNvPr id="8" name="Text 6"/>
          <p:cNvSpPr/>
          <p:nvPr/>
        </p:nvSpPr>
        <p:spPr>
          <a:xfrm>
            <a:off x="868680" y="1417320"/>
            <a:ext cx="128016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layout</a:t>
            </a:r>
            <a:endParaRPr lang="en-US" sz="1300" dirty="0"/>
          </a:p>
        </p:txBody>
      </p:sp>
      <p:sp>
        <p:nvSpPr>
          <p:cNvPr id="9" name="Text 7"/>
          <p:cNvSpPr/>
          <p:nvPr/>
        </p:nvSpPr>
        <p:spPr>
          <a:xfrm>
            <a:off x="2468880" y="1417320"/>
            <a:ext cx="169164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address arithmetic</a:t>
            </a:r>
            <a:endParaRPr lang="en-US" sz="1300" dirty="0"/>
          </a:p>
        </p:txBody>
      </p:sp>
      <p:sp>
        <p:nvSpPr>
          <p:cNvPr id="10" name="Text 8"/>
          <p:cNvSpPr/>
          <p:nvPr/>
        </p:nvSpPr>
        <p:spPr>
          <a:xfrm>
            <a:off x="4480560" y="1417320"/>
            <a:ext cx="109728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FFI</a:t>
            </a:r>
            <a:endParaRPr lang="en-US" sz="1300" dirty="0"/>
          </a:p>
        </p:txBody>
      </p:sp>
      <p:sp>
        <p:nvSpPr>
          <p:cNvPr id="11" name="Text 9"/>
          <p:cNvSpPr/>
          <p:nvPr/>
        </p:nvSpPr>
        <p:spPr>
          <a:xfrm>
            <a:off x="5897880" y="1417320"/>
            <a:ext cx="192024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custom allocation</a:t>
            </a:r>
            <a:endParaRPr lang="en-US" sz="1300" dirty="0"/>
          </a:p>
        </p:txBody>
      </p:sp>
      <p:sp>
        <p:nvSpPr>
          <p:cNvPr id="12" name="Text 10"/>
          <p:cNvSpPr/>
          <p:nvPr/>
        </p:nvSpPr>
        <p:spPr>
          <a:xfrm>
            <a:off x="8138160" y="1417320"/>
            <a:ext cx="196596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intrusive structures</a:t>
            </a:r>
            <a:endParaRPr lang="en-US" sz="1300" dirty="0"/>
          </a:p>
        </p:txBody>
      </p:sp>
      <p:sp>
        <p:nvSpPr>
          <p:cNvPr id="13" name="Text 11"/>
          <p:cNvSpPr/>
          <p:nvPr/>
        </p:nvSpPr>
        <p:spPr>
          <a:xfrm>
            <a:off x="10424160" y="1417320"/>
            <a:ext cx="141732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zero-cost control</a:t>
            </a:r>
            <a:endParaRPr lang="en-US" sz="1200" dirty="0"/>
          </a:p>
        </p:txBody>
      </p:sp>
      <p:sp>
        <p:nvSpPr>
          <p:cNvPr id="14" name="Text 12"/>
          <p:cNvSpPr/>
          <p:nvPr/>
        </p:nvSpPr>
        <p:spPr>
          <a:xfrm>
            <a:off x="777240" y="2212848"/>
            <a:ext cx="3749040" cy="2743200"/>
          </a:xfrm>
          <a:prstGeom prst="rect">
            <a:avLst/>
          </a:prstGeom>
          <a:solidFill>
            <a:srgbClr val="07111F"/>
          </a:solidFill>
          <a:ln w="12700">
            <a:solidFill>
              <a:srgbClr val="2A3549"/>
            </a:solidFill>
          </a:ln>
        </p:spPr>
        <p:txBody>
          <a:bodyPr wrap="square" lIns="1524" tIns="1524" rIns="1524" bIns="1524" rtlCol="0" anchor="ctr">
            <a:normAutofit/>
          </a:bodyPr>
          <a:lstStyle/>
          <a:p>
            <a:pPr indent="0" marL="0">
              <a:buNone/>
            </a:pPr>
            <a:r>
              <a:rPr lang="en-US" sz="1000" dirty="0">
                <a:solidFill>
                  <a:srgbClr val="E7EEF7"/>
                </a:solidFill>
                <a:latin typeface="Cascadia Mono" pitchFamily="34" charset="0"/>
                <a:ea typeface="Cascadia Mono" pitchFamily="34" charset="-122"/>
                <a:cs typeface="Cascadia Mono" pitchFamily="34" charset="-120"/>
              </a:rPr>
              <a:t>struct Node {</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int value;</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Node* next;</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a:t>
            </a:r>
            <a:endParaRPr lang="en-US" sz="1000" dirty="0"/>
          </a:p>
          <a:p>
            <a:pPr indent="0" marL="0">
              <a:buNone/>
            </a:pP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void walk(Node* p) {</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while (p) {</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use(p-&gt;value);</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p = p-&gt;next;</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    }</a:t>
            </a:r>
            <a:endParaRPr lang="en-US" sz="1000" dirty="0"/>
          </a:p>
          <a:p>
            <a:pPr indent="0" marL="0">
              <a:buNone/>
            </a:pPr>
            <a:r>
              <a:rPr lang="en-US" sz="1000" dirty="0">
                <a:solidFill>
                  <a:srgbClr val="E7EEF7"/>
                </a:solidFill>
                <a:latin typeface="Cascadia Mono" pitchFamily="34" charset="0"/>
                <a:ea typeface="Cascadia Mono" pitchFamily="34" charset="-122"/>
                <a:cs typeface="Cascadia Mono" pitchFamily="34" charset="-120"/>
              </a:rPr>
              <a:t>}</a:t>
            </a:r>
            <a:endParaRPr lang="en-US" sz="1000" dirty="0"/>
          </a:p>
        </p:txBody>
      </p:sp>
      <p:sp>
        <p:nvSpPr>
          <p:cNvPr id="15" name="Text 13"/>
          <p:cNvSpPr/>
          <p:nvPr/>
        </p:nvSpPr>
        <p:spPr>
          <a:xfrm>
            <a:off x="4983480" y="2423160"/>
            <a:ext cx="2743200" cy="59436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This is beautiful when the invariants are clear.</a:t>
            </a:r>
            <a:endParaRPr lang="en-US" sz="1500" dirty="0"/>
          </a:p>
        </p:txBody>
      </p:sp>
      <p:sp>
        <p:nvSpPr>
          <p:cNvPr id="16" name="Text 14"/>
          <p:cNvSpPr/>
          <p:nvPr/>
        </p:nvSpPr>
        <p:spPr>
          <a:xfrm>
            <a:off x="8092440" y="2423160"/>
            <a:ext cx="3246120" cy="594360"/>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It is terrifying when the invariants are tribal knowledge.</a:t>
            </a:r>
            <a:endParaRPr lang="en-US" sz="1500" dirty="0"/>
          </a:p>
        </p:txBody>
      </p:sp>
      <p:sp>
        <p:nvSpPr>
          <p:cNvPr id="17" name="Text 15"/>
          <p:cNvSpPr/>
          <p:nvPr/>
        </p:nvSpPr>
        <p:spPr>
          <a:xfrm>
            <a:off x="4983480" y="3977640"/>
            <a:ext cx="6355080" cy="594360"/>
          </a:xfrm>
          <a:prstGeom prst="roundRect">
            <a:avLst/>
          </a:prstGeom>
          <a:solidFill>
            <a:srgbClr val="0B1220"/>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Rust keeps the low-level escape hatch, but makes the safe default carry more proof.</a:t>
            </a:r>
            <a:endParaRPr lang="en-US" sz="1500" dirty="0"/>
          </a:p>
        </p:txBody>
      </p:sp>
      <p:sp>
        <p:nvSpPr>
          <p:cNvPr id="19" name="Text 16"/>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20" name="Text 17"/>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4</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Pointer bugs are failures of proof</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Most pointer disasters are not mysterious. A required fact was false or untracked.</a:t>
            </a:r>
            <a:endParaRPr lang="en-US" sz="850" dirty="0"/>
          </a:p>
        </p:txBody>
      </p:sp>
      <p:sp>
        <p:nvSpPr>
          <p:cNvPr id="8" name="Text 6"/>
          <p:cNvSpPr/>
          <p:nvPr/>
        </p:nvSpPr>
        <p:spPr>
          <a:xfrm>
            <a:off x="685800" y="1417320"/>
            <a:ext cx="2331720" cy="841248"/>
          </a:xfrm>
          <a:prstGeom prst="roundRect">
            <a:avLst/>
          </a:prstGeom>
          <a:solidFill>
            <a:srgbClr val="2A3549"/>
          </a:solidFill>
          <a:ln w="12700">
            <a:solidFill>
              <a:srgbClr val="2A3549"/>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null</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there is no object</a:t>
            </a:r>
            <a:endParaRPr lang="en-US" sz="1200" dirty="0"/>
          </a:p>
        </p:txBody>
      </p:sp>
      <p:sp>
        <p:nvSpPr>
          <p:cNvPr id="9" name="Text 7"/>
          <p:cNvSpPr/>
          <p:nvPr/>
        </p:nvSpPr>
        <p:spPr>
          <a:xfrm>
            <a:off x="3474720" y="1417320"/>
            <a:ext cx="2331720" cy="841248"/>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dangling</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the object is gone</a:t>
            </a:r>
            <a:endParaRPr lang="en-US" sz="1200" dirty="0"/>
          </a:p>
        </p:txBody>
      </p:sp>
      <p:sp>
        <p:nvSpPr>
          <p:cNvPr id="10" name="Text 8"/>
          <p:cNvSpPr/>
          <p:nvPr/>
        </p:nvSpPr>
        <p:spPr>
          <a:xfrm>
            <a:off x="6263640" y="1417320"/>
            <a:ext cx="2331720" cy="841248"/>
          </a:xfrm>
          <a:prstGeom prst="roundRect">
            <a:avLst/>
          </a:prstGeom>
          <a:solidFill>
            <a:srgbClr val="A16207"/>
          </a:solidFill>
          <a:ln w="12700">
            <a:solidFill>
              <a:srgbClr val="A16207"/>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out of bounds</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the address escaped the allocation</a:t>
            </a:r>
            <a:endParaRPr lang="en-US" sz="1200" dirty="0"/>
          </a:p>
        </p:txBody>
      </p:sp>
      <p:sp>
        <p:nvSpPr>
          <p:cNvPr id="11" name="Text 9"/>
          <p:cNvSpPr/>
          <p:nvPr/>
        </p:nvSpPr>
        <p:spPr>
          <a:xfrm>
            <a:off x="9052560" y="1417320"/>
            <a:ext cx="2331720" cy="841248"/>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wrong type</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the object model was violated</a:t>
            </a:r>
            <a:endParaRPr lang="en-US" sz="1200" dirty="0"/>
          </a:p>
        </p:txBody>
      </p:sp>
      <p:sp>
        <p:nvSpPr>
          <p:cNvPr id="12" name="Text 10"/>
          <p:cNvSpPr/>
          <p:nvPr/>
        </p:nvSpPr>
        <p:spPr>
          <a:xfrm>
            <a:off x="685800" y="2971800"/>
            <a:ext cx="2331720" cy="841248"/>
          </a:xfrm>
          <a:prstGeom prst="roundRect">
            <a:avLst/>
          </a:prstGeom>
          <a:solidFill>
            <a:srgbClr val="B45309"/>
          </a:solidFill>
          <a:ln w="12700">
            <a:solidFill>
              <a:srgbClr val="B45309"/>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double delete</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ownership was duplicated</a:t>
            </a:r>
            <a:endParaRPr lang="en-US" sz="1200" dirty="0"/>
          </a:p>
        </p:txBody>
      </p:sp>
      <p:sp>
        <p:nvSpPr>
          <p:cNvPr id="13" name="Text 11"/>
          <p:cNvSpPr/>
          <p:nvPr/>
        </p:nvSpPr>
        <p:spPr>
          <a:xfrm>
            <a:off x="3474720" y="2971800"/>
            <a:ext cx="2331720" cy="841248"/>
          </a:xfrm>
          <a:prstGeom prst="roundRect">
            <a:avLst/>
          </a:prstGeom>
          <a:solidFill>
            <a:srgbClr val="0E7490"/>
          </a:solidFill>
          <a:ln w="12700">
            <a:solidFill>
              <a:srgbClr val="0E7490"/>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aliased mutation</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two paths can change one object</a:t>
            </a:r>
            <a:endParaRPr lang="en-US" sz="1200" dirty="0"/>
          </a:p>
        </p:txBody>
      </p:sp>
      <p:sp>
        <p:nvSpPr>
          <p:cNvPr id="14" name="Text 12"/>
          <p:cNvSpPr/>
          <p:nvPr/>
        </p:nvSpPr>
        <p:spPr>
          <a:xfrm>
            <a:off x="6263640" y="2971800"/>
            <a:ext cx="2331720" cy="841248"/>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data race</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threads see unsynchronized mutation</a:t>
            </a:r>
            <a:endParaRPr lang="en-US" sz="1200" dirty="0"/>
          </a:p>
        </p:txBody>
      </p:sp>
      <p:sp>
        <p:nvSpPr>
          <p:cNvPr id="15" name="Text 13"/>
          <p:cNvSpPr/>
          <p:nvPr/>
        </p:nvSpPr>
        <p:spPr>
          <a:xfrm>
            <a:off x="1828800" y="5120640"/>
            <a:ext cx="8412480" cy="658368"/>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Teaching point: do not merely memorize "avoid raw pointers."</a:t>
            </a:r>
            <a:endParaRPr lang="en-US" sz="1600" dirty="0"/>
          </a:p>
          <a:p>
            <a:pPr algn="ctr" indent="0" marL="0">
              <a:buNone/>
            </a:pPr>
            <a:r>
              <a:rPr lang="en-US" sz="1600" b="1" dirty="0">
                <a:solidFill>
                  <a:srgbClr val="E7EEF7"/>
                </a:solidFill>
                <a:latin typeface="Aptos" pitchFamily="34" charset="0"/>
                <a:ea typeface="Aptos" pitchFamily="34" charset="-122"/>
                <a:cs typeface="Aptos" pitchFamily="34" charset="-120"/>
              </a:rPr>
              <a:t>Ask which proof is missing.</a:t>
            </a:r>
            <a:endParaRPr lang="en-US" sz="1600" dirty="0"/>
          </a:p>
        </p:txBody>
      </p:sp>
      <p:sp>
        <p:nvSpPr>
          <p:cNvPr id="17" name="Text 14"/>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8" name="Text 15"/>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5</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Not all pointer-looking things mean the same thing</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The syntax is not the contract. The type must encode the intended relationship.</a:t>
            </a:r>
            <a:endParaRPr lang="en-US" sz="850" dirty="0"/>
          </a:p>
        </p:txBody>
      </p:sp>
      <p:sp>
        <p:nvSpPr>
          <p:cNvPr id="8" name="Text 6"/>
          <p:cNvSpPr/>
          <p:nvPr/>
        </p:nvSpPr>
        <p:spPr>
          <a:xfrm>
            <a:off x="777240" y="1389888"/>
            <a:ext cx="1920240" cy="210312"/>
          </a:xfrm>
          <a:prstGeom prst="roundRect">
            <a:avLst/>
          </a:prstGeom>
          <a:solidFill>
            <a:srgbClr val="155E75"/>
          </a:solidFill>
          <a:ln>
            <a:solidFill>
              <a:srgbClr val="155E75"/>
            </a:solidFill>
          </a:ln>
        </p:spPr>
        <p:txBody>
          <a:bodyPr wrap="square" lIns="381" tIns="381" rIns="381" bIns="381" rtlCol="0" anchor="ctr"/>
          <a:lstStyle/>
          <a:p>
            <a:pPr algn="ctr" indent="0" marL="0">
              <a:buNone/>
            </a:pPr>
            <a:r>
              <a:rPr lang="en-US" sz="720" b="1" dirty="0">
                <a:solidFill>
                  <a:srgbClr val="E7EEF7"/>
                </a:solidFill>
              </a:rPr>
              <a:t>C++ vocabulary</a:t>
            </a:r>
            <a:endParaRPr lang="en-US" sz="720" dirty="0"/>
          </a:p>
        </p:txBody>
      </p:sp>
      <p:sp>
        <p:nvSpPr>
          <p:cNvPr id="9" name="Text 7"/>
          <p:cNvSpPr/>
          <p:nvPr/>
        </p:nvSpPr>
        <p:spPr>
          <a:xfrm>
            <a:off x="6492240" y="1389888"/>
            <a:ext cx="1920240" cy="210312"/>
          </a:xfrm>
          <a:prstGeom prst="roundRect">
            <a:avLst/>
          </a:prstGeom>
          <a:solidFill>
            <a:srgbClr val="7C2D12"/>
          </a:solidFill>
          <a:ln>
            <a:solidFill>
              <a:srgbClr val="7C2D12"/>
            </a:solidFill>
          </a:ln>
        </p:spPr>
        <p:txBody>
          <a:bodyPr wrap="square" lIns="381" tIns="381" rIns="381" bIns="381" rtlCol="0" anchor="ctr"/>
          <a:lstStyle/>
          <a:p>
            <a:pPr algn="ctr" indent="0" marL="0">
              <a:buNone/>
            </a:pPr>
            <a:r>
              <a:rPr lang="en-US" sz="720" b="1" dirty="0">
                <a:solidFill>
                  <a:srgbClr val="E7EEF7"/>
                </a:solidFill>
              </a:rPr>
              <a:t>Rust vocabulary</a:t>
            </a:r>
            <a:endParaRPr lang="en-US" sz="720" dirty="0"/>
          </a:p>
        </p:txBody>
      </p:sp>
      <p:sp>
        <p:nvSpPr>
          <p:cNvPr id="10" name="Text 8"/>
          <p:cNvSpPr/>
          <p:nvPr/>
        </p:nvSpPr>
        <p:spPr>
          <a:xfrm>
            <a:off x="777240" y="1783080"/>
            <a:ext cx="4343400" cy="429768"/>
          </a:xfrm>
          <a:prstGeom prst="roundRect">
            <a:avLst/>
          </a:prstGeom>
          <a:solidFill>
            <a:srgbClr val="0B1220"/>
          </a:solidFill>
          <a:ln w="12700">
            <a:solidFill>
              <a:srgbClr val="155E75"/>
            </a:solidFill>
          </a:ln>
        </p:spPr>
        <p:txBody>
          <a:bodyPr wrap="square" lIns="1524" tIns="1524" rIns="1524" bIns="1524" rtlCol="0" anchor="ctr">
            <a:normAutofit/>
          </a:bodyPr>
          <a:lstStyle/>
          <a:p>
            <a:pPr algn="ctr" indent="0" marL="0">
              <a:buNone/>
            </a:pPr>
            <a:r>
              <a:rPr lang="en-US" sz="1080" b="1" dirty="0">
                <a:solidFill>
                  <a:srgbClr val="E7EEF7"/>
                </a:solidFill>
                <a:latin typeface="Aptos" pitchFamily="34" charset="0"/>
                <a:ea typeface="Aptos" pitchFamily="34" charset="-122"/>
                <a:cs typeface="Aptos" pitchFamily="34" charset="-120"/>
              </a:rPr>
              <a:t>T*</a:t>
            </a:r>
            <a:endParaRPr lang="en-US" sz="1080" dirty="0"/>
          </a:p>
          <a:p>
            <a:pPr algn="ctr" indent="0" marL="0">
              <a:buNone/>
            </a:pPr>
            <a:r>
              <a:rPr lang="en-US" sz="1080" b="1" dirty="0">
                <a:solidFill>
                  <a:srgbClr val="E7EEF7"/>
                </a:solidFill>
                <a:latin typeface="Aptos" pitchFamily="34" charset="0"/>
                <a:ea typeface="Aptos" pitchFamily="34" charset="-122"/>
                <a:cs typeface="Aptos" pitchFamily="34" charset="-120"/>
              </a:rPr>
              <a:t>nullable observer? owner? array?</a:t>
            </a:r>
            <a:endParaRPr lang="en-US" sz="1080" dirty="0"/>
          </a:p>
        </p:txBody>
      </p:sp>
      <p:sp>
        <p:nvSpPr>
          <p:cNvPr id="11" name="Text 9"/>
          <p:cNvSpPr/>
          <p:nvPr/>
        </p:nvSpPr>
        <p:spPr>
          <a:xfrm>
            <a:off x="777240" y="2368296"/>
            <a:ext cx="4343400" cy="429768"/>
          </a:xfrm>
          <a:prstGeom prst="roundRect">
            <a:avLst/>
          </a:prstGeom>
          <a:solidFill>
            <a:srgbClr val="07111F"/>
          </a:solidFill>
          <a:ln w="12700">
            <a:solidFill>
              <a:srgbClr val="155E75"/>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T&amp;</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non-null alias, but can dangle</a:t>
            </a:r>
            <a:endParaRPr lang="en-US" sz="1080" dirty="0"/>
          </a:p>
        </p:txBody>
      </p:sp>
      <p:sp>
        <p:nvSpPr>
          <p:cNvPr id="12" name="Text 10"/>
          <p:cNvSpPr/>
          <p:nvPr/>
        </p:nvSpPr>
        <p:spPr>
          <a:xfrm>
            <a:off x="777240" y="2953512"/>
            <a:ext cx="4343400" cy="429768"/>
          </a:xfrm>
          <a:prstGeom prst="roundRect">
            <a:avLst/>
          </a:prstGeom>
          <a:solidFill>
            <a:srgbClr val="0B1220"/>
          </a:solidFill>
          <a:ln w="12700">
            <a:solidFill>
              <a:srgbClr val="155E75"/>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unique_ptr&lt;T&gt;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unique owner</a:t>
            </a:r>
            <a:endParaRPr lang="en-US" sz="1080" dirty="0"/>
          </a:p>
        </p:txBody>
      </p:sp>
      <p:sp>
        <p:nvSpPr>
          <p:cNvPr id="13" name="Text 11"/>
          <p:cNvSpPr/>
          <p:nvPr/>
        </p:nvSpPr>
        <p:spPr>
          <a:xfrm>
            <a:off x="777240" y="3538728"/>
            <a:ext cx="4343400" cy="429768"/>
          </a:xfrm>
          <a:prstGeom prst="roundRect">
            <a:avLst/>
          </a:prstGeom>
          <a:solidFill>
            <a:srgbClr val="07111F"/>
          </a:solidFill>
          <a:ln w="12700">
            <a:solidFill>
              <a:srgbClr val="155E75"/>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shared_ptr&lt;T&gt;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shared owner</a:t>
            </a:r>
            <a:endParaRPr lang="en-US" sz="1080" dirty="0"/>
          </a:p>
        </p:txBody>
      </p:sp>
      <p:sp>
        <p:nvSpPr>
          <p:cNvPr id="14" name="Text 12"/>
          <p:cNvSpPr/>
          <p:nvPr/>
        </p:nvSpPr>
        <p:spPr>
          <a:xfrm>
            <a:off x="777240" y="4123944"/>
            <a:ext cx="4343400" cy="429768"/>
          </a:xfrm>
          <a:prstGeom prst="roundRect">
            <a:avLst/>
          </a:prstGeom>
          <a:solidFill>
            <a:srgbClr val="0B1220"/>
          </a:solidFill>
          <a:ln w="12700">
            <a:solidFill>
              <a:srgbClr val="155E75"/>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span&lt;T&gt;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pointer + length view</a:t>
            </a:r>
            <a:endParaRPr lang="en-US" sz="1080" dirty="0"/>
          </a:p>
        </p:txBody>
      </p:sp>
      <p:sp>
        <p:nvSpPr>
          <p:cNvPr id="15" name="Text 13"/>
          <p:cNvSpPr/>
          <p:nvPr/>
        </p:nvSpPr>
        <p:spPr>
          <a:xfrm>
            <a:off x="777240" y="4709160"/>
            <a:ext cx="4343400" cy="429768"/>
          </a:xfrm>
          <a:prstGeom prst="roundRect">
            <a:avLst/>
          </a:prstGeom>
          <a:solidFill>
            <a:srgbClr val="07111F"/>
          </a:solidFill>
          <a:ln w="12700">
            <a:solidFill>
              <a:srgbClr val="155E75"/>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iterator</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position with invalidation rules</a:t>
            </a:r>
            <a:endParaRPr lang="en-US" sz="1080" dirty="0"/>
          </a:p>
        </p:txBody>
      </p:sp>
      <p:sp>
        <p:nvSpPr>
          <p:cNvPr id="16" name="Text 14"/>
          <p:cNvSpPr/>
          <p:nvPr/>
        </p:nvSpPr>
        <p:spPr>
          <a:xfrm>
            <a:off x="6492240" y="1783080"/>
            <a:ext cx="4343400" cy="429768"/>
          </a:xfrm>
          <a:prstGeom prst="roundRect">
            <a:avLst/>
          </a:prstGeom>
          <a:solidFill>
            <a:srgbClr val="0B1220"/>
          </a:solidFill>
          <a:ln w="12700">
            <a:solidFill>
              <a:srgbClr val="7C2D12"/>
            </a:solidFill>
          </a:ln>
        </p:spPr>
        <p:txBody>
          <a:bodyPr wrap="square" lIns="1524" tIns="1524" rIns="1524" bIns="1524" rtlCol="0" anchor="ctr">
            <a:normAutofit/>
          </a:bodyPr>
          <a:lstStyle/>
          <a:p>
            <a:pPr algn="ctr" indent="0" marL="0">
              <a:buNone/>
            </a:pPr>
            <a:r>
              <a:rPr lang="en-US" sz="1080" b="1" dirty="0">
                <a:solidFill>
                  <a:srgbClr val="E7EEF7"/>
                </a:solidFill>
                <a:latin typeface="Aptos" pitchFamily="34" charset="0"/>
                <a:ea typeface="Aptos" pitchFamily="34" charset="-122"/>
                <a:cs typeface="Aptos" pitchFamily="34" charset="-120"/>
              </a:rPr>
              <a:t>&amp;T</a:t>
            </a:r>
            <a:endParaRPr lang="en-US" sz="1080" dirty="0"/>
          </a:p>
          <a:p>
            <a:pPr algn="ctr" indent="0" marL="0">
              <a:buNone/>
            </a:pPr>
            <a:r>
              <a:rPr lang="en-US" sz="1080" b="1" dirty="0">
                <a:solidFill>
                  <a:srgbClr val="E7EEF7"/>
                </a:solidFill>
                <a:latin typeface="Aptos" pitchFamily="34" charset="0"/>
                <a:ea typeface="Aptos" pitchFamily="34" charset="-122"/>
                <a:cs typeface="Aptos" pitchFamily="34" charset="-120"/>
              </a:rPr>
              <a:t>shared borrow</a:t>
            </a:r>
            <a:endParaRPr lang="en-US" sz="1080" dirty="0"/>
          </a:p>
        </p:txBody>
      </p:sp>
      <p:sp>
        <p:nvSpPr>
          <p:cNvPr id="17" name="Text 15"/>
          <p:cNvSpPr/>
          <p:nvPr/>
        </p:nvSpPr>
        <p:spPr>
          <a:xfrm>
            <a:off x="6492240" y="2368296"/>
            <a:ext cx="4343400" cy="429768"/>
          </a:xfrm>
          <a:prstGeom prst="roundRect">
            <a:avLst/>
          </a:prstGeom>
          <a:solidFill>
            <a:srgbClr val="07111F"/>
          </a:solidFill>
          <a:ln w="12700">
            <a:solidFill>
              <a:srgbClr val="7C2D12"/>
            </a:solidFill>
          </a:ln>
        </p:spPr>
        <p:txBody>
          <a:bodyPr wrap="square" lIns="1524" tIns="1524" rIns="1524" bIns="1524" rtlCol="0" anchor="ctr">
            <a:normAutofit/>
          </a:bodyPr>
          <a:lstStyle/>
          <a:p>
            <a:pPr algn="ctr" indent="0" marL="0">
              <a:buNone/>
            </a:pPr>
            <a:r>
              <a:rPr lang="en-US" sz="1080" b="1" dirty="0">
                <a:solidFill>
                  <a:srgbClr val="E7EEF7"/>
                </a:solidFill>
                <a:latin typeface="Aptos" pitchFamily="34" charset="0"/>
                <a:ea typeface="Aptos" pitchFamily="34" charset="-122"/>
                <a:cs typeface="Aptos" pitchFamily="34" charset="-120"/>
              </a:rPr>
              <a:t>&amp;mut T</a:t>
            </a:r>
            <a:endParaRPr lang="en-US" sz="1080" dirty="0"/>
          </a:p>
          <a:p>
            <a:pPr algn="ctr" indent="0" marL="0">
              <a:buNone/>
            </a:pPr>
            <a:r>
              <a:rPr lang="en-US" sz="1080" b="1" dirty="0">
                <a:solidFill>
                  <a:srgbClr val="E7EEF7"/>
                </a:solidFill>
                <a:latin typeface="Aptos" pitchFamily="34" charset="0"/>
                <a:ea typeface="Aptos" pitchFamily="34" charset="-122"/>
                <a:cs typeface="Aptos" pitchFamily="34" charset="-120"/>
              </a:rPr>
              <a:t>exclusive mutable borrow</a:t>
            </a:r>
            <a:endParaRPr lang="en-US" sz="1080" dirty="0"/>
          </a:p>
        </p:txBody>
      </p:sp>
      <p:sp>
        <p:nvSpPr>
          <p:cNvPr id="18" name="Text 16"/>
          <p:cNvSpPr/>
          <p:nvPr/>
        </p:nvSpPr>
        <p:spPr>
          <a:xfrm>
            <a:off x="6492240" y="2953512"/>
            <a:ext cx="4343400" cy="429768"/>
          </a:xfrm>
          <a:prstGeom prst="roundRect">
            <a:avLst/>
          </a:prstGeom>
          <a:solidFill>
            <a:srgbClr val="0B1220"/>
          </a:solidFill>
          <a:ln w="12700">
            <a:solidFill>
              <a:srgbClr val="7C2D12"/>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Box&lt;T&gt;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owning heap pointer</a:t>
            </a:r>
            <a:endParaRPr lang="en-US" sz="1080" dirty="0"/>
          </a:p>
        </p:txBody>
      </p:sp>
      <p:sp>
        <p:nvSpPr>
          <p:cNvPr id="19" name="Text 17"/>
          <p:cNvSpPr/>
          <p:nvPr/>
        </p:nvSpPr>
        <p:spPr>
          <a:xfrm>
            <a:off x="6492240" y="3538728"/>
            <a:ext cx="4343400" cy="429768"/>
          </a:xfrm>
          <a:prstGeom prst="roundRect">
            <a:avLst/>
          </a:prstGeom>
          <a:solidFill>
            <a:srgbClr val="07111F"/>
          </a:solidFill>
          <a:ln w="12700">
            <a:solidFill>
              <a:srgbClr val="7C2D12"/>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Rc&lt;T&gt; / Arc&lt;T&gt;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shared ownership</a:t>
            </a:r>
            <a:endParaRPr lang="en-US" sz="1080" dirty="0"/>
          </a:p>
        </p:txBody>
      </p:sp>
      <p:sp>
        <p:nvSpPr>
          <p:cNvPr id="20" name="Text 18"/>
          <p:cNvSpPr/>
          <p:nvPr/>
        </p:nvSpPr>
        <p:spPr>
          <a:xfrm>
            <a:off x="6492240" y="4123944"/>
            <a:ext cx="4343400" cy="429768"/>
          </a:xfrm>
          <a:prstGeom prst="roundRect">
            <a:avLst/>
          </a:prstGeom>
          <a:solidFill>
            <a:srgbClr val="0B1220"/>
          </a:solidFill>
          <a:ln w="12700">
            <a:solidFill>
              <a:srgbClr val="7C2D12"/>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&amp;[T]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slice: pointer + length</a:t>
            </a:r>
            <a:endParaRPr lang="en-US" sz="1080" dirty="0"/>
          </a:p>
        </p:txBody>
      </p:sp>
      <p:sp>
        <p:nvSpPr>
          <p:cNvPr id="21" name="Text 19"/>
          <p:cNvSpPr/>
          <p:nvPr/>
        </p:nvSpPr>
        <p:spPr>
          <a:xfrm>
            <a:off x="6492240" y="4709160"/>
            <a:ext cx="4343400" cy="429768"/>
          </a:xfrm>
          <a:prstGeom prst="roundRect">
            <a:avLst/>
          </a:prstGeom>
          <a:solidFill>
            <a:srgbClr val="07111F"/>
          </a:solidFill>
          <a:ln w="12700">
            <a:solidFill>
              <a:srgbClr val="7C2D12"/>
            </a:solidFill>
          </a:ln>
        </p:spPr>
        <p:txBody>
          <a:bodyPr wrap="square" lIns="1524" tIns="1524" rIns="1524" bIns="1524" rtlCol="0" anchor="ctr">
            <a:normAutofit/>
          </a:bodyPr>
          <a:lstStyle/>
          <a:p>
            <a:pPr algn="ctr" indent="0" marL="0">
              <a:buNone/>
            </a:pPr>
            <a:r>
              <a:rPr lang="en-US" sz="1080" dirty="0">
                <a:solidFill>
                  <a:srgbClr val="E7EEF7"/>
                </a:solidFill>
                <a:latin typeface="Aptos" pitchFamily="34" charset="0"/>
                <a:ea typeface="Aptos" pitchFamily="34" charset="-122"/>
                <a:cs typeface="Aptos" pitchFamily="34" charset="-120"/>
              </a:rPr>
              <a:t>*const T / *mut T</a:t>
            </a:r>
            <a:endParaRPr lang="en-US" sz="1080" dirty="0"/>
          </a:p>
          <a:p>
            <a:pPr algn="ctr" indent="0" marL="0">
              <a:buNone/>
            </a:pPr>
            <a:r>
              <a:rPr lang="en-US" sz="1080" dirty="0">
                <a:solidFill>
                  <a:srgbClr val="E7EEF7"/>
                </a:solidFill>
                <a:latin typeface="Aptos" pitchFamily="34" charset="0"/>
                <a:ea typeface="Aptos" pitchFamily="34" charset="-122"/>
                <a:cs typeface="Aptos" pitchFamily="34" charset="-120"/>
              </a:rPr>
              <a:t>raw, unsafe to dereference</a:t>
            </a:r>
            <a:endParaRPr lang="en-US" sz="1080" dirty="0"/>
          </a:p>
        </p:txBody>
      </p:sp>
      <p:sp>
        <p:nvSpPr>
          <p:cNvPr id="22" name="Shape 20"/>
          <p:cNvSpPr/>
          <p:nvPr/>
        </p:nvSpPr>
        <p:spPr>
          <a:xfrm>
            <a:off x="5440680" y="3246120"/>
            <a:ext cx="658368" cy="256032"/>
          </a:xfrm>
          <a:prstGeom prst="rightArrow">
            <a:avLst/>
          </a:prstGeom>
          <a:solidFill>
            <a:srgbClr val="B45309"/>
          </a:solidFill>
          <a:ln w="12700">
            <a:solidFill>
              <a:srgbClr val="B45309">
                <a:alpha val="0"/>
              </a:srgbClr>
            </a:solidFill>
            <a:prstDash val="solid"/>
          </a:ln>
        </p:spPr>
      </p:sp>
      <p:sp>
        <p:nvSpPr>
          <p:cNvPr id="23" name="Text 21"/>
          <p:cNvSpPr/>
          <p:nvPr/>
        </p:nvSpPr>
        <p:spPr>
          <a:xfrm>
            <a:off x="2103120" y="5486400"/>
            <a:ext cx="7955280" cy="457200"/>
          </a:xfrm>
          <a:prstGeom prst="roundRect">
            <a:avLst/>
          </a:prstGeom>
          <a:solidFill>
            <a:srgbClr val="0B1220"/>
          </a:solidFill>
          <a:ln w="12700">
            <a:solidFill>
              <a:srgbClr val="6D28D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The lesson is not "use the Rust-looking thing."</a:t>
            </a:r>
            <a:endParaRPr lang="en-US" sz="1400" dirty="0"/>
          </a:p>
          <a:p>
            <a:pPr algn="ctr" indent="0" marL="0">
              <a:buNone/>
            </a:pPr>
            <a:r>
              <a:rPr lang="en-US" sz="1400" b="1" dirty="0">
                <a:solidFill>
                  <a:srgbClr val="E7EEF7"/>
                </a:solidFill>
                <a:latin typeface="Aptos" pitchFamily="34" charset="0"/>
                <a:ea typeface="Aptos" pitchFamily="34" charset="-122"/>
                <a:cs typeface="Aptos" pitchFamily="34" charset="-120"/>
              </a:rPr>
              <a:t>The lesson is "choose the type that states the contract."</a:t>
            </a:r>
            <a:endParaRPr lang="en-US" sz="1400" dirty="0"/>
          </a:p>
        </p:txBody>
      </p:sp>
      <p:sp>
        <p:nvSpPr>
          <p:cNvPr id="25" name="Text 22"/>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26" name="Text 23"/>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6</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Null is the beginner bug. Dangling is the expert bug.</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A pointer can be non-null and still invalid.</a:t>
            </a:r>
            <a:endParaRPr lang="en-US" sz="850" dirty="0"/>
          </a:p>
        </p:txBody>
      </p:sp>
      <p:sp>
        <p:nvSpPr>
          <p:cNvPr id="8" name="Text 6"/>
          <p:cNvSpPr/>
          <p:nvPr/>
        </p:nvSpPr>
        <p:spPr>
          <a:xfrm>
            <a:off x="822960" y="1645920"/>
            <a:ext cx="3200400" cy="1645920"/>
          </a:xfrm>
          <a:prstGeom prst="rect">
            <a:avLst/>
          </a:prstGeom>
          <a:solidFill>
            <a:srgbClr val="07111F"/>
          </a:solidFill>
          <a:ln w="12700">
            <a:solidFill>
              <a:srgbClr val="2A3549"/>
            </a:solidFill>
          </a:ln>
        </p:spPr>
        <p:txBody>
          <a:bodyPr wrap="square" lIns="1524" tIns="1524" rIns="1524" bIns="1524" rtlCol="0" anchor="ctr">
            <a:normAutofit/>
          </a:bodyPr>
          <a:lstStyle/>
          <a:p>
            <a:pPr indent="0" marL="0">
              <a:buNone/>
            </a:pPr>
            <a:r>
              <a:rPr lang="en-US" sz="1300" dirty="0">
                <a:solidFill>
                  <a:srgbClr val="E7EEF7"/>
                </a:solidFill>
                <a:latin typeface="Cascadia Mono" pitchFamily="34" charset="0"/>
                <a:ea typeface="Cascadia Mono" pitchFamily="34" charset="-122"/>
                <a:cs typeface="Cascadia Mono" pitchFamily="34" charset="-120"/>
              </a:rPr>
              <a:t>Widget* p = get_widget();</a:t>
            </a:r>
            <a:endParaRPr lang="en-US" sz="1300" dirty="0"/>
          </a:p>
          <a:p>
            <a:pPr indent="0" marL="0">
              <a:buNone/>
            </a:pPr>
            <a:endParaRPr lang="en-US" sz="1300" dirty="0"/>
          </a:p>
          <a:p>
            <a:pPr indent="0" marL="0">
              <a:buNone/>
            </a:pPr>
            <a:r>
              <a:rPr lang="en-US" sz="1300" dirty="0">
                <a:solidFill>
                  <a:srgbClr val="E7EEF7"/>
                </a:solidFill>
                <a:latin typeface="Cascadia Mono" pitchFamily="34" charset="0"/>
                <a:ea typeface="Cascadia Mono" pitchFamily="34" charset="-122"/>
                <a:cs typeface="Cascadia Mono" pitchFamily="34" charset="-120"/>
              </a:rPr>
              <a:t>if (p) {</a:t>
            </a:r>
            <a:endParaRPr lang="en-US" sz="1300" dirty="0"/>
          </a:p>
          <a:p>
            <a:pPr indent="0" marL="0">
              <a:buNone/>
            </a:pPr>
            <a:r>
              <a:rPr lang="en-US" sz="1300" dirty="0">
                <a:solidFill>
                  <a:srgbClr val="E7EEF7"/>
                </a:solidFill>
                <a:latin typeface="Cascadia Mono" pitchFamily="34" charset="0"/>
                <a:ea typeface="Cascadia Mono" pitchFamily="34" charset="-122"/>
                <a:cs typeface="Cascadia Mono" pitchFamily="34" charset="-120"/>
              </a:rPr>
              <a:t>    p-&gt;draw();</a:t>
            </a:r>
            <a:endParaRPr lang="en-US" sz="1300" dirty="0"/>
          </a:p>
          <a:p>
            <a:pPr indent="0" marL="0">
              <a:buNone/>
            </a:pPr>
            <a:r>
              <a:rPr lang="en-US" sz="1300" dirty="0">
                <a:solidFill>
                  <a:srgbClr val="E7EEF7"/>
                </a:solidFill>
                <a:latin typeface="Cascadia Mono" pitchFamily="34" charset="0"/>
                <a:ea typeface="Cascadia Mono" pitchFamily="34" charset="-122"/>
                <a:cs typeface="Cascadia Mono" pitchFamily="34" charset="-120"/>
              </a:rPr>
              <a:t>}</a:t>
            </a:r>
            <a:endParaRPr lang="en-US" sz="1300" dirty="0"/>
          </a:p>
        </p:txBody>
      </p:sp>
      <p:sp>
        <p:nvSpPr>
          <p:cNvPr id="9" name="Text 7"/>
          <p:cNvSpPr/>
          <p:nvPr/>
        </p:nvSpPr>
        <p:spPr>
          <a:xfrm>
            <a:off x="4572000" y="1664208"/>
            <a:ext cx="3108960" cy="438912"/>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The null check proves only one thing:</a:t>
            </a:r>
            <a:endParaRPr lang="en-US" sz="1350" dirty="0"/>
          </a:p>
        </p:txBody>
      </p:sp>
      <p:sp>
        <p:nvSpPr>
          <p:cNvPr id="10" name="Text 8"/>
          <p:cNvSpPr/>
          <p:nvPr/>
        </p:nvSpPr>
        <p:spPr>
          <a:xfrm>
            <a:off x="5440680" y="2331720"/>
            <a:ext cx="1508760" cy="438912"/>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300" b="1" dirty="0">
                <a:solidFill>
                  <a:srgbClr val="E7EEF7"/>
                </a:solidFill>
                <a:latin typeface="Cascadia Mono" pitchFamily="34" charset="0"/>
                <a:ea typeface="Cascadia Mono" pitchFamily="34" charset="-122"/>
                <a:cs typeface="Cascadia Mono" pitchFamily="34" charset="-120"/>
              </a:rPr>
              <a:t>p != nullptr</a:t>
            </a:r>
            <a:endParaRPr lang="en-US" sz="1300" dirty="0"/>
          </a:p>
        </p:txBody>
      </p:sp>
      <p:sp>
        <p:nvSpPr>
          <p:cNvPr id="11" name="Text 9"/>
          <p:cNvSpPr/>
          <p:nvPr/>
        </p:nvSpPr>
        <p:spPr>
          <a:xfrm>
            <a:off x="8138160" y="1664208"/>
            <a:ext cx="1920240" cy="438912"/>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It does not prove:</a:t>
            </a:r>
            <a:endParaRPr lang="en-US" sz="1350" dirty="0"/>
          </a:p>
        </p:txBody>
      </p:sp>
      <p:sp>
        <p:nvSpPr>
          <p:cNvPr id="12" name="Text 10"/>
          <p:cNvSpPr/>
          <p:nvPr/>
        </p:nvSpPr>
        <p:spPr>
          <a:xfrm>
            <a:off x="7818120" y="2331720"/>
            <a:ext cx="2926080" cy="1572768"/>
          </a:xfrm>
          <a:prstGeom prst="roundRect">
            <a:avLst/>
          </a:prstGeom>
          <a:solidFill>
            <a:srgbClr val="230B16"/>
          </a:solidFill>
          <a:ln w="12700">
            <a:solidFill>
              <a:srgbClr val="9F1239"/>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the object is alive</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the type is right</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the access is in bounds</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there is no race</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mutation is legal</a:t>
            </a:r>
            <a:endParaRPr lang="en-US" sz="1300" dirty="0"/>
          </a:p>
        </p:txBody>
      </p:sp>
      <p:sp>
        <p:nvSpPr>
          <p:cNvPr id="13" name="Text 11"/>
          <p:cNvSpPr/>
          <p:nvPr/>
        </p:nvSpPr>
        <p:spPr>
          <a:xfrm>
            <a:off x="1828800" y="5166360"/>
            <a:ext cx="8412480" cy="566928"/>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Rust does not celebrate non-null. It asks for a reference whose lifetime and access mode are valid.</a:t>
            </a:r>
            <a:endParaRPr lang="en-US" sz="1500" dirty="0"/>
          </a:p>
        </p:txBody>
      </p:sp>
      <p:sp>
        <p:nvSpPr>
          <p:cNvPr id="15" name="Text 12"/>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6" name="Text 13"/>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7</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Dangling: the pointer survives the object</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The address can look plausible after the contract has expired.</a:t>
            </a:r>
            <a:endParaRPr lang="en-US" sz="850" dirty="0"/>
          </a:p>
        </p:txBody>
      </p:sp>
      <p:sp>
        <p:nvSpPr>
          <p:cNvPr id="8" name="Text 6"/>
          <p:cNvSpPr/>
          <p:nvPr/>
        </p:nvSpPr>
        <p:spPr>
          <a:xfrm>
            <a:off x="777240" y="1353312"/>
            <a:ext cx="1143000" cy="210312"/>
          </a:xfrm>
          <a:prstGeom prst="roundRect">
            <a:avLst/>
          </a:prstGeom>
          <a:solidFill>
            <a:srgbClr val="9F1239"/>
          </a:solidFill>
          <a:ln>
            <a:solidFill>
              <a:srgbClr val="9F1239"/>
            </a:solidFill>
          </a:ln>
        </p:spPr>
        <p:txBody>
          <a:bodyPr wrap="square" lIns="381" tIns="381" rIns="381" bIns="381" rtlCol="0" anchor="ctr"/>
          <a:lstStyle/>
          <a:p>
            <a:pPr algn="ctr" indent="0" marL="0">
              <a:buNone/>
            </a:pPr>
            <a:r>
              <a:rPr lang="en-US" sz="720" b="1" dirty="0">
                <a:solidFill>
                  <a:srgbClr val="E7EEF7"/>
                </a:solidFill>
              </a:rPr>
              <a:t>C++ smell</a:t>
            </a:r>
            <a:endParaRPr lang="en-US" sz="720" dirty="0"/>
          </a:p>
        </p:txBody>
      </p:sp>
      <p:sp>
        <p:nvSpPr>
          <p:cNvPr id="9" name="Text 7"/>
          <p:cNvSpPr/>
          <p:nvPr/>
        </p:nvSpPr>
        <p:spPr>
          <a:xfrm>
            <a:off x="777240" y="1691640"/>
            <a:ext cx="4983480" cy="2331720"/>
          </a:xfrm>
          <a:prstGeom prst="rect">
            <a:avLst/>
          </a:prstGeom>
          <a:solidFill>
            <a:srgbClr val="07111F"/>
          </a:solidFill>
          <a:ln w="12700">
            <a:solidFill>
              <a:srgbClr val="9F1239"/>
            </a:solidFill>
          </a:ln>
        </p:spPr>
        <p:txBody>
          <a:bodyPr wrap="square" lIns="1524" tIns="1524" rIns="1524" bIns="1524" rtlCol="0" anchor="ctr">
            <a:normAutofit/>
          </a:bodyPr>
          <a:lstStyle/>
          <a:p>
            <a:pPr indent="0" marL="0">
              <a:buNone/>
            </a:pPr>
            <a:r>
              <a:rPr lang="en-US" sz="970" dirty="0">
                <a:solidFill>
                  <a:srgbClr val="E7EEF7"/>
                </a:solidFill>
                <a:latin typeface="Cascadia Mono" pitchFamily="34" charset="0"/>
                <a:ea typeface="Cascadia Mono" pitchFamily="34" charset="-122"/>
                <a:cs typeface="Cascadia Mono" pitchFamily="34" charset="-120"/>
              </a:rPr>
              <a:t>int* make() {</a:t>
            </a:r>
            <a:endParaRPr lang="en-US" sz="970" dirty="0"/>
          </a:p>
          <a:p>
            <a:pPr indent="0" marL="0">
              <a:buNone/>
            </a:pPr>
            <a:r>
              <a:rPr lang="en-US" sz="970" dirty="0">
                <a:solidFill>
                  <a:srgbClr val="E7EEF7"/>
                </a:solidFill>
                <a:latin typeface="Cascadia Mono" pitchFamily="34" charset="0"/>
                <a:ea typeface="Cascadia Mono" pitchFamily="34" charset="-122"/>
                <a:cs typeface="Cascadia Mono" pitchFamily="34" charset="-120"/>
              </a:rPr>
              <a:t>    int x = 42;</a:t>
            </a:r>
            <a:endParaRPr lang="en-US" sz="970" dirty="0"/>
          </a:p>
          <a:p>
            <a:pPr indent="0" marL="0">
              <a:buNone/>
            </a:pPr>
            <a:r>
              <a:rPr lang="en-US" sz="970" dirty="0">
                <a:solidFill>
                  <a:srgbClr val="E7EEF7"/>
                </a:solidFill>
                <a:latin typeface="Cascadia Mono" pitchFamily="34" charset="0"/>
                <a:ea typeface="Cascadia Mono" pitchFamily="34" charset="-122"/>
                <a:cs typeface="Cascadia Mono" pitchFamily="34" charset="-120"/>
              </a:rPr>
              <a:t>    return &amp;x;       // address of dead stack object</a:t>
            </a:r>
            <a:endParaRPr lang="en-US" sz="970" dirty="0"/>
          </a:p>
          <a:p>
            <a:pPr indent="0" marL="0">
              <a:buNone/>
            </a:pPr>
            <a:r>
              <a:rPr lang="en-US" sz="970" dirty="0">
                <a:solidFill>
                  <a:srgbClr val="E7EEF7"/>
                </a:solidFill>
                <a:latin typeface="Cascadia Mono" pitchFamily="34" charset="0"/>
                <a:ea typeface="Cascadia Mono" pitchFamily="34" charset="-122"/>
                <a:cs typeface="Cascadia Mono" pitchFamily="34" charset="-120"/>
              </a:rPr>
              <a:t>}</a:t>
            </a:r>
            <a:endParaRPr lang="en-US" sz="970" dirty="0"/>
          </a:p>
          <a:p>
            <a:pPr indent="0" marL="0">
              <a:buNone/>
            </a:pPr>
            <a:endParaRPr lang="en-US" sz="970" dirty="0"/>
          </a:p>
          <a:p>
            <a:pPr indent="0" marL="0">
              <a:buNone/>
            </a:pPr>
            <a:r>
              <a:rPr lang="en-US" sz="970" dirty="0">
                <a:solidFill>
                  <a:srgbClr val="E7EEF7"/>
                </a:solidFill>
                <a:latin typeface="Cascadia Mono" pitchFamily="34" charset="0"/>
                <a:ea typeface="Cascadia Mono" pitchFamily="34" charset="-122"/>
                <a:cs typeface="Cascadia Mono" pitchFamily="34" charset="-120"/>
              </a:rPr>
              <a:t>int* p = make();</a:t>
            </a:r>
            <a:endParaRPr lang="en-US" sz="970" dirty="0"/>
          </a:p>
          <a:p>
            <a:pPr indent="0" marL="0">
              <a:buNone/>
            </a:pPr>
            <a:r>
              <a:rPr lang="en-US" sz="970" dirty="0">
                <a:solidFill>
                  <a:srgbClr val="E7EEF7"/>
                </a:solidFill>
                <a:latin typeface="Cascadia Mono" pitchFamily="34" charset="0"/>
                <a:ea typeface="Cascadia Mono" pitchFamily="34" charset="-122"/>
                <a:cs typeface="Cascadia Mono" pitchFamily="34" charset="-120"/>
              </a:rPr>
              <a:t>std::cout &lt;&lt; *p;     // undefined behavior</a:t>
            </a:r>
            <a:endParaRPr lang="en-US" sz="970" dirty="0"/>
          </a:p>
        </p:txBody>
      </p:sp>
      <p:sp>
        <p:nvSpPr>
          <p:cNvPr id="10" name="Text 8"/>
          <p:cNvSpPr/>
          <p:nvPr/>
        </p:nvSpPr>
        <p:spPr>
          <a:xfrm>
            <a:off x="6400800" y="1353312"/>
            <a:ext cx="1325880" cy="210312"/>
          </a:xfrm>
          <a:prstGeom prst="roundRect">
            <a:avLst/>
          </a:prstGeom>
          <a:solidFill>
            <a:srgbClr val="7C2D12"/>
          </a:solidFill>
          <a:ln>
            <a:solidFill>
              <a:srgbClr val="7C2D12"/>
            </a:solidFill>
          </a:ln>
        </p:spPr>
        <p:txBody>
          <a:bodyPr wrap="square" lIns="381" tIns="381" rIns="381" bIns="381" rtlCol="0" anchor="ctr"/>
          <a:lstStyle/>
          <a:p>
            <a:pPr algn="ctr" indent="0" marL="0">
              <a:buNone/>
            </a:pPr>
            <a:r>
              <a:rPr lang="en-US" sz="720" b="1" dirty="0">
                <a:solidFill>
                  <a:srgbClr val="E7EEF7"/>
                </a:solidFill>
              </a:rPr>
              <a:t>Rust reaction</a:t>
            </a:r>
            <a:endParaRPr lang="en-US" sz="720" dirty="0"/>
          </a:p>
        </p:txBody>
      </p:sp>
      <p:sp>
        <p:nvSpPr>
          <p:cNvPr id="11" name="Text 9"/>
          <p:cNvSpPr/>
          <p:nvPr/>
        </p:nvSpPr>
        <p:spPr>
          <a:xfrm>
            <a:off x="6400800" y="1691640"/>
            <a:ext cx="4709160" cy="233172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10" dirty="0">
                <a:solidFill>
                  <a:srgbClr val="E7EEF7"/>
                </a:solidFill>
                <a:latin typeface="Cascadia Mono" pitchFamily="34" charset="0"/>
                <a:ea typeface="Cascadia Mono" pitchFamily="34" charset="-122"/>
                <a:cs typeface="Cascadia Mono" pitchFamily="34" charset="-120"/>
              </a:rPr>
              <a:t>fn make() -&gt; &amp;i32 {</a:t>
            </a:r>
            <a:endParaRPr lang="en-US" sz="1010" dirty="0"/>
          </a:p>
          <a:p>
            <a:pPr indent="0" marL="0">
              <a:buNone/>
            </a:pPr>
            <a:r>
              <a:rPr lang="en-US" sz="1010" dirty="0">
                <a:solidFill>
                  <a:srgbClr val="E7EEF7"/>
                </a:solidFill>
                <a:latin typeface="Cascadia Mono" pitchFamily="34" charset="0"/>
                <a:ea typeface="Cascadia Mono" pitchFamily="34" charset="-122"/>
                <a:cs typeface="Cascadia Mono" pitchFamily="34" charset="-120"/>
              </a:rPr>
              <a:t>    let x = 42;</a:t>
            </a:r>
            <a:endParaRPr lang="en-US" sz="1010" dirty="0"/>
          </a:p>
          <a:p>
            <a:pPr indent="0" marL="0">
              <a:buNone/>
            </a:pPr>
            <a:r>
              <a:rPr lang="en-US" sz="1010" dirty="0">
                <a:solidFill>
                  <a:srgbClr val="E7EEF7"/>
                </a:solidFill>
                <a:latin typeface="Cascadia Mono" pitchFamily="34" charset="0"/>
                <a:ea typeface="Cascadia Mono" pitchFamily="34" charset="-122"/>
                <a:cs typeface="Cascadia Mono" pitchFamily="34" charset="-120"/>
              </a:rPr>
              <a:t>    &amp;x              // rejected</a:t>
            </a:r>
            <a:endParaRPr lang="en-US" sz="1010" dirty="0"/>
          </a:p>
          <a:p>
            <a:pPr indent="0" marL="0">
              <a:buNone/>
            </a:pPr>
            <a:r>
              <a:rPr lang="en-US" sz="1010" dirty="0">
                <a:solidFill>
                  <a:srgbClr val="E7EEF7"/>
                </a:solidFill>
                <a:latin typeface="Cascadia Mono" pitchFamily="34" charset="0"/>
                <a:ea typeface="Cascadia Mono" pitchFamily="34" charset="-122"/>
                <a:cs typeface="Cascadia Mono" pitchFamily="34" charset="-120"/>
              </a:rPr>
              <a:t>}</a:t>
            </a:r>
            <a:endParaRPr lang="en-US" sz="1010" dirty="0"/>
          </a:p>
          <a:p>
            <a:pPr indent="0" marL="0">
              <a:buNone/>
            </a:pPr>
            <a:endParaRPr lang="en-US" sz="1010" dirty="0"/>
          </a:p>
          <a:p>
            <a:pPr indent="0" marL="0">
              <a:buNone/>
            </a:pPr>
            <a:r>
              <a:rPr lang="en-US" sz="1010" dirty="0">
                <a:solidFill>
                  <a:srgbClr val="E7EEF7"/>
                </a:solidFill>
                <a:latin typeface="Cascadia Mono" pitchFamily="34" charset="0"/>
                <a:ea typeface="Cascadia Mono" pitchFamily="34" charset="-122"/>
                <a:cs typeface="Cascadia Mono" pitchFamily="34" charset="-120"/>
              </a:rPr>
              <a:t>// The compiler refuses to let</a:t>
            </a:r>
            <a:endParaRPr lang="en-US" sz="1010" dirty="0"/>
          </a:p>
          <a:p>
            <a:pPr indent="0" marL="0">
              <a:buNone/>
            </a:pPr>
            <a:r>
              <a:rPr lang="en-US" sz="1010" dirty="0">
                <a:solidFill>
                  <a:srgbClr val="E7EEF7"/>
                </a:solidFill>
                <a:latin typeface="Cascadia Mono" pitchFamily="34" charset="0"/>
                <a:ea typeface="Cascadia Mono" pitchFamily="34" charset="-122"/>
                <a:cs typeface="Cascadia Mono" pitchFamily="34" charset="-120"/>
              </a:rPr>
              <a:t>// a reference outlive its referent.</a:t>
            </a:r>
            <a:endParaRPr lang="en-US" sz="1010" dirty="0"/>
          </a:p>
        </p:txBody>
      </p:sp>
      <p:sp>
        <p:nvSpPr>
          <p:cNvPr id="12" name="Text 10"/>
          <p:cNvSpPr/>
          <p:nvPr/>
        </p:nvSpPr>
        <p:spPr>
          <a:xfrm>
            <a:off x="1417320" y="5074920"/>
            <a:ext cx="9326880" cy="640080"/>
          </a:xfrm>
          <a:prstGeom prst="roundRect">
            <a:avLst/>
          </a:prstGeom>
          <a:solidFill>
            <a:srgbClr val="07111F"/>
          </a:solidFill>
          <a:ln w="12700">
            <a:solidFill>
              <a:srgbClr val="6D28D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C++ asks: "Will this object still be alive?"</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Rust asks: "Can you prove that in the type/lifetime graph?"</a:t>
            </a:r>
            <a:endParaRPr lang="en-US" sz="1500" dirty="0"/>
          </a:p>
        </p:txBody>
      </p:sp>
      <p:sp>
        <p:nvSpPr>
          <p:cNvPr id="14" name="Text 11"/>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5" name="Text 12"/>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8</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Reallocation: the polite container can move the floor</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This is where pointer literacy meets everyday C++ STL use.</a:t>
            </a:r>
            <a:endParaRPr lang="en-US" sz="850" dirty="0"/>
          </a:p>
        </p:txBody>
      </p:sp>
      <p:sp>
        <p:nvSpPr>
          <p:cNvPr id="8" name="Text 6"/>
          <p:cNvSpPr/>
          <p:nvPr/>
        </p:nvSpPr>
        <p:spPr>
          <a:xfrm>
            <a:off x="777240" y="1335024"/>
            <a:ext cx="685800" cy="210312"/>
          </a:xfrm>
          <a:prstGeom prst="roundRect">
            <a:avLst/>
          </a:prstGeom>
          <a:solidFill>
            <a:srgbClr val="155E75"/>
          </a:solidFill>
          <a:ln>
            <a:solidFill>
              <a:srgbClr val="155E75"/>
            </a:solidFill>
          </a:ln>
        </p:spPr>
        <p:txBody>
          <a:bodyPr wrap="square" lIns="381" tIns="381" rIns="381" bIns="381" rtlCol="0" anchor="ctr"/>
          <a:lstStyle/>
          <a:p>
            <a:pPr algn="ctr" indent="0" marL="0">
              <a:buNone/>
            </a:pPr>
            <a:r>
              <a:rPr lang="en-US" sz="720" b="1" dirty="0">
                <a:solidFill>
                  <a:srgbClr val="E7EEF7"/>
                </a:solidFill>
              </a:rPr>
              <a:t>C++</a:t>
            </a:r>
            <a:endParaRPr lang="en-US" sz="720" dirty="0"/>
          </a:p>
        </p:txBody>
      </p:sp>
      <p:sp>
        <p:nvSpPr>
          <p:cNvPr id="9" name="Text 7"/>
          <p:cNvSpPr/>
          <p:nvPr/>
        </p:nvSpPr>
        <p:spPr>
          <a:xfrm>
            <a:off x="777240" y="1664208"/>
            <a:ext cx="4800600" cy="2011680"/>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100" dirty="0">
                <a:solidFill>
                  <a:srgbClr val="E7EEF7"/>
                </a:solidFill>
                <a:latin typeface="Cascadia Mono" pitchFamily="34" charset="0"/>
                <a:ea typeface="Cascadia Mono" pitchFamily="34" charset="-122"/>
                <a:cs typeface="Cascadia Mono" pitchFamily="34" charset="-120"/>
              </a:rPr>
              <a:t>std::vector&lt;int&gt; v{1,2,3};</a:t>
            </a:r>
            <a:endParaRPr lang="en-US" sz="1100" dirty="0"/>
          </a:p>
          <a:p>
            <a:pPr indent="0" marL="0">
              <a:buNone/>
            </a:pPr>
            <a:r>
              <a:rPr lang="en-US" sz="1100" dirty="0">
                <a:solidFill>
                  <a:srgbClr val="E7EEF7"/>
                </a:solidFill>
                <a:latin typeface="Cascadia Mono" pitchFamily="34" charset="0"/>
                <a:ea typeface="Cascadia Mono" pitchFamily="34" charset="-122"/>
                <a:cs typeface="Cascadia Mono" pitchFamily="34" charset="-120"/>
              </a:rPr>
              <a:t>int&amp; r = v[0];</a:t>
            </a:r>
            <a:endParaRPr lang="en-US" sz="1100" dirty="0"/>
          </a:p>
          <a:p>
            <a:pPr indent="0" marL="0">
              <a:buNone/>
            </a:pPr>
            <a:endParaRPr lang="en-US" sz="1100" dirty="0"/>
          </a:p>
          <a:p>
            <a:pPr indent="0" marL="0">
              <a:buNone/>
            </a:pPr>
            <a:r>
              <a:rPr lang="en-US" sz="1100" dirty="0">
                <a:solidFill>
                  <a:srgbClr val="E7EEF7"/>
                </a:solidFill>
                <a:latin typeface="Cascadia Mono" pitchFamily="34" charset="0"/>
                <a:ea typeface="Cascadia Mono" pitchFamily="34" charset="-122"/>
                <a:cs typeface="Cascadia Mono" pitchFamily="34" charset="-120"/>
              </a:rPr>
              <a:t>v.push_back(4);     // may reallocate</a:t>
            </a:r>
            <a:endParaRPr lang="en-US" sz="1100" dirty="0"/>
          </a:p>
          <a:p>
            <a:pPr indent="0" marL="0">
              <a:buNone/>
            </a:pPr>
            <a:endParaRPr lang="en-US" sz="1100" dirty="0"/>
          </a:p>
          <a:p>
            <a:pPr indent="0" marL="0">
              <a:buNone/>
            </a:pPr>
            <a:r>
              <a:rPr lang="en-US" sz="1100" dirty="0">
                <a:solidFill>
                  <a:srgbClr val="E7EEF7"/>
                </a:solidFill>
                <a:latin typeface="Cascadia Mono" pitchFamily="34" charset="0"/>
                <a:ea typeface="Cascadia Mono" pitchFamily="34" charset="-122"/>
                <a:cs typeface="Cascadia Mono" pitchFamily="34" charset="-120"/>
              </a:rPr>
              <a:t>use(r);             // r may dangle</a:t>
            </a:r>
            <a:endParaRPr lang="en-US" sz="1100" dirty="0"/>
          </a:p>
        </p:txBody>
      </p:sp>
      <p:sp>
        <p:nvSpPr>
          <p:cNvPr id="10" name="Text 8"/>
          <p:cNvSpPr/>
          <p:nvPr/>
        </p:nvSpPr>
        <p:spPr>
          <a:xfrm>
            <a:off x="868680" y="4069080"/>
            <a:ext cx="1828800" cy="594360"/>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old buffer</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[1][2][3]</a:t>
            </a:r>
            <a:endParaRPr lang="en-US" sz="1200" dirty="0"/>
          </a:p>
        </p:txBody>
      </p:sp>
      <p:sp>
        <p:nvSpPr>
          <p:cNvPr id="11" name="Shape 9"/>
          <p:cNvSpPr/>
          <p:nvPr/>
        </p:nvSpPr>
        <p:spPr>
          <a:xfrm>
            <a:off x="2971800" y="4187952"/>
            <a:ext cx="438912" cy="228600"/>
          </a:xfrm>
          <a:prstGeom prst="rightArrow">
            <a:avLst/>
          </a:prstGeom>
          <a:solidFill>
            <a:srgbClr val="B45309"/>
          </a:solidFill>
          <a:ln w="12700">
            <a:solidFill>
              <a:srgbClr val="B45309">
                <a:alpha val="0"/>
              </a:srgbClr>
            </a:solidFill>
            <a:prstDash val="solid"/>
          </a:ln>
        </p:spPr>
      </p:sp>
      <p:sp>
        <p:nvSpPr>
          <p:cNvPr id="12" name="Text 10"/>
          <p:cNvSpPr/>
          <p:nvPr/>
        </p:nvSpPr>
        <p:spPr>
          <a:xfrm>
            <a:off x="3703320" y="4069080"/>
            <a:ext cx="1828800" cy="59436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200" b="1" dirty="0">
                <a:solidFill>
                  <a:srgbClr val="E7EEF7"/>
                </a:solidFill>
                <a:latin typeface="Aptos" pitchFamily="34" charset="0"/>
                <a:ea typeface="Aptos" pitchFamily="34" charset="-122"/>
                <a:cs typeface="Aptos" pitchFamily="34" charset="-120"/>
              </a:rPr>
              <a:t>new buffer</a:t>
            </a:r>
            <a:endParaRPr lang="en-US" sz="1200" dirty="0"/>
          </a:p>
          <a:p>
            <a:pPr algn="ctr" indent="0" marL="0">
              <a:buNone/>
            </a:pPr>
            <a:r>
              <a:rPr lang="en-US" sz="1200" b="1" dirty="0">
                <a:solidFill>
                  <a:srgbClr val="E7EEF7"/>
                </a:solidFill>
                <a:latin typeface="Aptos" pitchFamily="34" charset="0"/>
                <a:ea typeface="Aptos" pitchFamily="34" charset="-122"/>
                <a:cs typeface="Aptos" pitchFamily="34" charset="-120"/>
              </a:rPr>
              <a:t>[1][2][3][4]</a:t>
            </a:r>
            <a:endParaRPr lang="en-US" sz="1200" dirty="0"/>
          </a:p>
        </p:txBody>
      </p:sp>
      <p:sp>
        <p:nvSpPr>
          <p:cNvPr id="13" name="Text 11"/>
          <p:cNvSpPr/>
          <p:nvPr/>
        </p:nvSpPr>
        <p:spPr>
          <a:xfrm>
            <a:off x="6400800" y="1335024"/>
            <a:ext cx="731520" cy="210312"/>
          </a:xfrm>
          <a:prstGeom prst="roundRect">
            <a:avLst/>
          </a:prstGeom>
          <a:solidFill>
            <a:srgbClr val="7C2D12"/>
          </a:solidFill>
          <a:ln>
            <a:solidFill>
              <a:srgbClr val="7C2D12"/>
            </a:solidFill>
          </a:ln>
        </p:spPr>
        <p:txBody>
          <a:bodyPr wrap="square" lIns="381" tIns="381" rIns="381" bIns="381" rtlCol="0" anchor="ctr"/>
          <a:lstStyle/>
          <a:p>
            <a:pPr algn="ctr" indent="0" marL="0">
              <a:buNone/>
            </a:pPr>
            <a:r>
              <a:rPr lang="en-US" sz="720" b="1" dirty="0">
                <a:solidFill>
                  <a:srgbClr val="E7EEF7"/>
                </a:solidFill>
              </a:rPr>
              <a:t>Rust</a:t>
            </a:r>
            <a:endParaRPr lang="en-US" sz="720" dirty="0"/>
          </a:p>
        </p:txBody>
      </p:sp>
      <p:sp>
        <p:nvSpPr>
          <p:cNvPr id="14" name="Text 12"/>
          <p:cNvSpPr/>
          <p:nvPr/>
        </p:nvSpPr>
        <p:spPr>
          <a:xfrm>
            <a:off x="6400800" y="1664208"/>
            <a:ext cx="4846320" cy="201168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70" dirty="0">
                <a:solidFill>
                  <a:srgbClr val="E7EEF7"/>
                </a:solidFill>
                <a:latin typeface="Cascadia Mono" pitchFamily="34" charset="0"/>
                <a:ea typeface="Cascadia Mono" pitchFamily="34" charset="-122"/>
                <a:cs typeface="Cascadia Mono" pitchFamily="34" charset="-120"/>
              </a:rPr>
              <a:t>let mut v = vec![1, 2, 3];</a:t>
            </a: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let r = &amp;v[0];</a:t>
            </a:r>
            <a:endParaRPr lang="en-US" sz="1070" dirty="0"/>
          </a:p>
          <a:p>
            <a:pPr indent="0" marL="0">
              <a:buNone/>
            </a:pP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v.push(4);          // rejected while r lives</a:t>
            </a:r>
            <a:endParaRPr lang="en-US" sz="1070" dirty="0"/>
          </a:p>
          <a:p>
            <a:pPr indent="0" marL="0">
              <a:buNone/>
            </a:pP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println!("{}", r);</a:t>
            </a:r>
            <a:endParaRPr lang="en-US" sz="1070" dirty="0"/>
          </a:p>
        </p:txBody>
      </p:sp>
      <p:sp>
        <p:nvSpPr>
          <p:cNvPr id="15" name="Text 13"/>
          <p:cNvSpPr/>
          <p:nvPr/>
        </p:nvSpPr>
        <p:spPr>
          <a:xfrm>
            <a:off x="6583680" y="4114800"/>
            <a:ext cx="4343400" cy="640080"/>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Rust did not discover a new bug.</a:t>
            </a:r>
            <a:endParaRPr lang="en-US" sz="1400" dirty="0"/>
          </a:p>
          <a:p>
            <a:pPr algn="ctr" indent="0" marL="0">
              <a:buNone/>
            </a:pPr>
            <a:r>
              <a:rPr lang="en-US" sz="1400" b="1" dirty="0">
                <a:solidFill>
                  <a:srgbClr val="E7EEF7"/>
                </a:solidFill>
                <a:latin typeface="Aptos" pitchFamily="34" charset="0"/>
                <a:ea typeface="Aptos" pitchFamily="34" charset="-122"/>
                <a:cs typeface="Aptos" pitchFamily="34" charset="-120"/>
              </a:rPr>
              <a:t>It made the old C++ container invalidation rule executable.</a:t>
            </a:r>
            <a:endParaRPr lang="en-US" sz="1400" dirty="0"/>
          </a:p>
        </p:txBody>
      </p:sp>
      <p:sp>
        <p:nvSpPr>
          <p:cNvPr id="17" name="Text 14"/>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8" name="Text 15"/>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9</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Aliasing plus mutation is the real dragon</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The dangerous pattern is not merely "pointer." It is "who else can observe or change this memory?"</a:t>
            </a:r>
            <a:endParaRPr lang="en-US" sz="850" dirty="0"/>
          </a:p>
        </p:txBody>
      </p:sp>
      <p:sp>
        <p:nvSpPr>
          <p:cNvPr id="8" name="Text 6"/>
          <p:cNvSpPr/>
          <p:nvPr/>
        </p:nvSpPr>
        <p:spPr>
          <a:xfrm>
            <a:off x="777240" y="1554480"/>
            <a:ext cx="4846320" cy="2377440"/>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070" dirty="0">
                <a:solidFill>
                  <a:srgbClr val="E7EEF7"/>
                </a:solidFill>
                <a:latin typeface="Cascadia Mono" pitchFamily="34" charset="0"/>
                <a:ea typeface="Cascadia Mono" pitchFamily="34" charset="-122"/>
                <a:cs typeface="Cascadia Mono" pitchFamily="34" charset="-120"/>
              </a:rPr>
              <a:t>void bump(int* a, int* b) {</a:t>
            </a: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    *a += 1;</a:t>
            </a: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    *b += 1;</a:t>
            </a: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a:t>
            </a:r>
            <a:endParaRPr lang="en-US" sz="1070" dirty="0"/>
          </a:p>
          <a:p>
            <a:pPr indent="0" marL="0">
              <a:buNone/>
            </a:pP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int x = 0;</a:t>
            </a:r>
            <a:endParaRPr lang="en-US" sz="1070" dirty="0"/>
          </a:p>
          <a:p>
            <a:pPr indent="0" marL="0">
              <a:buNone/>
            </a:pPr>
            <a:r>
              <a:rPr lang="en-US" sz="1070" dirty="0">
                <a:solidFill>
                  <a:srgbClr val="E7EEF7"/>
                </a:solidFill>
                <a:latin typeface="Cascadia Mono" pitchFamily="34" charset="0"/>
                <a:ea typeface="Cascadia Mono" pitchFamily="34" charset="-122"/>
                <a:cs typeface="Cascadia Mono" pitchFamily="34" charset="-120"/>
              </a:rPr>
              <a:t>bump(&amp;x, &amp;x);        // legal call; aliasing matters</a:t>
            </a:r>
            <a:endParaRPr lang="en-US" sz="1070" dirty="0"/>
          </a:p>
        </p:txBody>
      </p:sp>
      <p:sp>
        <p:nvSpPr>
          <p:cNvPr id="9" name="Text 7"/>
          <p:cNvSpPr/>
          <p:nvPr/>
        </p:nvSpPr>
        <p:spPr>
          <a:xfrm>
            <a:off x="6172200" y="1554480"/>
            <a:ext cx="4572000" cy="457200"/>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Question the compiler cannot generally answer:</a:t>
            </a:r>
            <a:endParaRPr lang="en-US" sz="1400" dirty="0"/>
          </a:p>
        </p:txBody>
      </p:sp>
      <p:sp>
        <p:nvSpPr>
          <p:cNvPr id="10" name="Text 8"/>
          <p:cNvSpPr/>
          <p:nvPr/>
        </p:nvSpPr>
        <p:spPr>
          <a:xfrm>
            <a:off x="6355080" y="2240280"/>
            <a:ext cx="4206240" cy="1051560"/>
          </a:xfrm>
          <a:prstGeom prst="roundRect">
            <a:avLst/>
          </a:prstGeom>
          <a:solidFill>
            <a:srgbClr val="251205"/>
          </a:solidFill>
          <a:ln w="12700">
            <a:solidFill>
              <a:srgbClr val="B4530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Are a and b two ways to the same object?</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If yes, what writes can be reordered?</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What invariants can be assumed?</a:t>
            </a:r>
            <a:endParaRPr lang="en-US" sz="1350" dirty="0"/>
          </a:p>
        </p:txBody>
      </p:sp>
      <p:sp>
        <p:nvSpPr>
          <p:cNvPr id="11" name="Text 9"/>
          <p:cNvSpPr/>
          <p:nvPr/>
        </p:nvSpPr>
        <p:spPr>
          <a:xfrm>
            <a:off x="777240" y="4434840"/>
            <a:ext cx="4846320" cy="141732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20" dirty="0">
                <a:solidFill>
                  <a:srgbClr val="E7EEF7"/>
                </a:solidFill>
                <a:latin typeface="Cascadia Mono" pitchFamily="34" charset="0"/>
                <a:ea typeface="Cascadia Mono" pitchFamily="34" charset="-122"/>
                <a:cs typeface="Cascadia Mono" pitchFamily="34" charset="-120"/>
              </a:rPr>
              <a:t>fn bump(a: &amp;mut i32, b: &amp;mut i32)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*a += 1;</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*b += 1;</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a:t>
            </a:r>
            <a:endParaRPr lang="en-US" sz="1020" dirty="0"/>
          </a:p>
          <a:p>
            <a:pPr indent="0" marL="0">
              <a:buNone/>
            </a:pP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Cannot call bump(&amp;mut x, &amp;mut x) in safe Rust.</a:t>
            </a:r>
            <a:endParaRPr lang="en-US" sz="1020" dirty="0"/>
          </a:p>
        </p:txBody>
      </p:sp>
      <p:sp>
        <p:nvSpPr>
          <p:cNvPr id="12" name="Text 10"/>
          <p:cNvSpPr/>
          <p:nvPr/>
        </p:nvSpPr>
        <p:spPr>
          <a:xfrm>
            <a:off x="6537960" y="4526280"/>
            <a:ext cx="3840480" cy="713232"/>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&amp;mut means:</a:t>
            </a:r>
            <a:endParaRPr lang="en-US" sz="1600" dirty="0"/>
          </a:p>
          <a:p>
            <a:pPr algn="ctr" indent="0" marL="0">
              <a:buNone/>
            </a:pPr>
            <a:r>
              <a:rPr lang="en-US" sz="1600" b="1" dirty="0">
                <a:solidFill>
                  <a:srgbClr val="E7EEF7"/>
                </a:solidFill>
                <a:latin typeface="Aptos" pitchFamily="34" charset="0"/>
                <a:ea typeface="Aptos" pitchFamily="34" charset="-122"/>
                <a:cs typeface="Aptos" pitchFamily="34" charset="-120"/>
              </a:rPr>
              <a:t>"exclusive access for this borrow"</a:t>
            </a:r>
            <a:endParaRPr lang="en-US" sz="1600" dirty="0"/>
          </a:p>
        </p:txBody>
      </p:sp>
      <p:sp>
        <p:nvSpPr>
          <p:cNvPr id="14" name="Text 11"/>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5" name="Text 12"/>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10</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Pointer arithmetic is not just integer arithmetic</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The address is a number only at the hardware layer; languages attach object meaning.</a:t>
            </a:r>
            <a:endParaRPr lang="en-US" sz="850" dirty="0"/>
          </a:p>
        </p:txBody>
      </p:sp>
      <p:sp>
        <p:nvSpPr>
          <p:cNvPr id="8" name="Text 6"/>
          <p:cNvSpPr/>
          <p:nvPr/>
        </p:nvSpPr>
        <p:spPr>
          <a:xfrm>
            <a:off x="822960" y="1600200"/>
            <a:ext cx="1920240" cy="502920"/>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Allocation A</a:t>
            </a:r>
            <a:endParaRPr lang="en-US" sz="1400" dirty="0"/>
          </a:p>
        </p:txBody>
      </p:sp>
      <p:sp>
        <p:nvSpPr>
          <p:cNvPr id="9" name="Text 7"/>
          <p:cNvSpPr/>
          <p:nvPr/>
        </p:nvSpPr>
        <p:spPr>
          <a:xfrm>
            <a:off x="868680" y="2331720"/>
            <a:ext cx="384048" cy="384048"/>
          </a:xfrm>
          <a:prstGeom prst="roundRect">
            <a:avLst/>
          </a:prstGeom>
          <a:solidFill>
            <a:srgbClr val="0B1220"/>
          </a:solidFill>
          <a:ln w="12700">
            <a:solidFill>
              <a:srgbClr val="0E7490"/>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0</a:t>
            </a:r>
            <a:endParaRPr lang="en-US" sz="1000" dirty="0"/>
          </a:p>
        </p:txBody>
      </p:sp>
      <p:sp>
        <p:nvSpPr>
          <p:cNvPr id="10" name="Text 8"/>
          <p:cNvSpPr/>
          <p:nvPr/>
        </p:nvSpPr>
        <p:spPr>
          <a:xfrm>
            <a:off x="1344168" y="2331720"/>
            <a:ext cx="384048" cy="384048"/>
          </a:xfrm>
          <a:prstGeom prst="roundRect">
            <a:avLst/>
          </a:prstGeom>
          <a:solidFill>
            <a:srgbClr val="0B1220"/>
          </a:solidFill>
          <a:ln w="12700">
            <a:solidFill>
              <a:srgbClr val="0E7490"/>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1</a:t>
            </a:r>
            <a:endParaRPr lang="en-US" sz="1000" dirty="0"/>
          </a:p>
        </p:txBody>
      </p:sp>
      <p:sp>
        <p:nvSpPr>
          <p:cNvPr id="11" name="Text 9"/>
          <p:cNvSpPr/>
          <p:nvPr/>
        </p:nvSpPr>
        <p:spPr>
          <a:xfrm>
            <a:off x="1819656" y="2331720"/>
            <a:ext cx="384048" cy="384048"/>
          </a:xfrm>
          <a:prstGeom prst="roundRect">
            <a:avLst/>
          </a:prstGeom>
          <a:solidFill>
            <a:srgbClr val="0B1220"/>
          </a:solidFill>
          <a:ln w="12700">
            <a:solidFill>
              <a:srgbClr val="0E7490"/>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2</a:t>
            </a:r>
            <a:endParaRPr lang="en-US" sz="1000" dirty="0"/>
          </a:p>
        </p:txBody>
      </p:sp>
      <p:sp>
        <p:nvSpPr>
          <p:cNvPr id="12" name="Text 10"/>
          <p:cNvSpPr/>
          <p:nvPr/>
        </p:nvSpPr>
        <p:spPr>
          <a:xfrm>
            <a:off x="2295144" y="2331720"/>
            <a:ext cx="384048" cy="384048"/>
          </a:xfrm>
          <a:prstGeom prst="roundRect">
            <a:avLst/>
          </a:prstGeom>
          <a:solidFill>
            <a:srgbClr val="0B1220"/>
          </a:solidFill>
          <a:ln w="12700">
            <a:solidFill>
              <a:srgbClr val="0E7490"/>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3</a:t>
            </a:r>
            <a:endParaRPr lang="en-US" sz="1000" dirty="0"/>
          </a:p>
        </p:txBody>
      </p:sp>
      <p:sp>
        <p:nvSpPr>
          <p:cNvPr id="13" name="Text 11"/>
          <p:cNvSpPr/>
          <p:nvPr/>
        </p:nvSpPr>
        <p:spPr>
          <a:xfrm>
            <a:off x="4572000" y="1600200"/>
            <a:ext cx="1920240" cy="502920"/>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Allocation B</a:t>
            </a:r>
            <a:endParaRPr lang="en-US" sz="1400" dirty="0"/>
          </a:p>
        </p:txBody>
      </p:sp>
      <p:sp>
        <p:nvSpPr>
          <p:cNvPr id="14" name="Text 12"/>
          <p:cNvSpPr/>
          <p:nvPr/>
        </p:nvSpPr>
        <p:spPr>
          <a:xfrm>
            <a:off x="4617720" y="2331720"/>
            <a:ext cx="384048" cy="384048"/>
          </a:xfrm>
          <a:prstGeom prst="roundRect">
            <a:avLst/>
          </a:prstGeom>
          <a:solidFill>
            <a:srgbClr val="0B1220"/>
          </a:solidFill>
          <a:ln w="12700">
            <a:solidFill>
              <a:srgbClr val="9F1239"/>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0</a:t>
            </a:r>
            <a:endParaRPr lang="en-US" sz="1000" dirty="0"/>
          </a:p>
        </p:txBody>
      </p:sp>
      <p:sp>
        <p:nvSpPr>
          <p:cNvPr id="15" name="Text 13"/>
          <p:cNvSpPr/>
          <p:nvPr/>
        </p:nvSpPr>
        <p:spPr>
          <a:xfrm>
            <a:off x="5093208" y="2331720"/>
            <a:ext cx="384048" cy="384048"/>
          </a:xfrm>
          <a:prstGeom prst="roundRect">
            <a:avLst/>
          </a:prstGeom>
          <a:solidFill>
            <a:srgbClr val="0B1220"/>
          </a:solidFill>
          <a:ln w="12700">
            <a:solidFill>
              <a:srgbClr val="9F1239"/>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1</a:t>
            </a:r>
            <a:endParaRPr lang="en-US" sz="1000" dirty="0"/>
          </a:p>
        </p:txBody>
      </p:sp>
      <p:sp>
        <p:nvSpPr>
          <p:cNvPr id="16" name="Text 14"/>
          <p:cNvSpPr/>
          <p:nvPr/>
        </p:nvSpPr>
        <p:spPr>
          <a:xfrm>
            <a:off x="5568696" y="2331720"/>
            <a:ext cx="384048" cy="384048"/>
          </a:xfrm>
          <a:prstGeom prst="roundRect">
            <a:avLst/>
          </a:prstGeom>
          <a:solidFill>
            <a:srgbClr val="0B1220"/>
          </a:solidFill>
          <a:ln w="12700">
            <a:solidFill>
              <a:srgbClr val="9F1239"/>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2</a:t>
            </a:r>
            <a:endParaRPr lang="en-US" sz="1000" dirty="0"/>
          </a:p>
        </p:txBody>
      </p:sp>
      <p:sp>
        <p:nvSpPr>
          <p:cNvPr id="17" name="Text 15"/>
          <p:cNvSpPr/>
          <p:nvPr/>
        </p:nvSpPr>
        <p:spPr>
          <a:xfrm>
            <a:off x="6044184" y="2331720"/>
            <a:ext cx="384048" cy="384048"/>
          </a:xfrm>
          <a:prstGeom prst="roundRect">
            <a:avLst/>
          </a:prstGeom>
          <a:solidFill>
            <a:srgbClr val="0B1220"/>
          </a:solidFill>
          <a:ln w="12700">
            <a:solidFill>
              <a:srgbClr val="9F1239"/>
            </a:solidFill>
          </a:ln>
        </p:spPr>
        <p:txBody>
          <a:bodyPr wrap="square" lIns="1524" tIns="1524" rIns="1524" bIns="1524" rtlCol="0" anchor="ctr">
            <a:normAutofit/>
          </a:bodyPr>
          <a:lstStyle/>
          <a:p>
            <a:pPr algn="ctr" indent="0" marL="0">
              <a:buNone/>
            </a:pPr>
            <a:r>
              <a:rPr lang="en-US" sz="1000" b="1" dirty="0">
                <a:solidFill>
                  <a:srgbClr val="E7EEF7"/>
                </a:solidFill>
                <a:latin typeface="Aptos" pitchFamily="34" charset="0"/>
                <a:ea typeface="Aptos" pitchFamily="34" charset="-122"/>
                <a:cs typeface="Aptos" pitchFamily="34" charset="-120"/>
              </a:rPr>
              <a:t>3</a:t>
            </a:r>
            <a:endParaRPr lang="en-US" sz="1000" dirty="0"/>
          </a:p>
        </p:txBody>
      </p:sp>
      <p:sp>
        <p:nvSpPr>
          <p:cNvPr id="18" name="Shape 16"/>
          <p:cNvSpPr/>
          <p:nvPr/>
        </p:nvSpPr>
        <p:spPr>
          <a:xfrm>
            <a:off x="2697480" y="2514600"/>
            <a:ext cx="1645920" cy="0"/>
          </a:xfrm>
          <a:prstGeom prst="line">
            <a:avLst/>
          </a:prstGeom>
          <a:noFill/>
          <a:ln w="25400">
            <a:solidFill>
              <a:srgbClr val="B45309"/>
            </a:solidFill>
            <a:prstDash val="solid"/>
          </a:ln>
        </p:spPr>
      </p:sp>
      <p:sp>
        <p:nvSpPr>
          <p:cNvPr id="19" name="Text 17"/>
          <p:cNvSpPr/>
          <p:nvPr/>
        </p:nvSpPr>
        <p:spPr>
          <a:xfrm>
            <a:off x="822960" y="3383280"/>
            <a:ext cx="5669280" cy="530352"/>
          </a:xfrm>
          <a:prstGeom prst="roundRect">
            <a:avLst/>
          </a:prstGeom>
          <a:solidFill>
            <a:srgbClr val="251205"/>
          </a:solidFill>
          <a:ln w="12700">
            <a:solidFill>
              <a:srgbClr val="B4530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Crossing from one allocation to another is not justified by arithmetic alone.</a:t>
            </a:r>
            <a:endParaRPr lang="en-US" sz="1350" dirty="0"/>
          </a:p>
        </p:txBody>
      </p:sp>
      <p:sp>
        <p:nvSpPr>
          <p:cNvPr id="20" name="Text 18"/>
          <p:cNvSpPr/>
          <p:nvPr/>
        </p:nvSpPr>
        <p:spPr>
          <a:xfrm>
            <a:off x="6949440" y="1508760"/>
            <a:ext cx="4389120" cy="233172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20" dirty="0">
                <a:solidFill>
                  <a:srgbClr val="E7EEF7"/>
                </a:solidFill>
                <a:latin typeface="Cascadia Mono" pitchFamily="34" charset="0"/>
                <a:ea typeface="Cascadia Mono" pitchFamily="34" charset="-122"/>
                <a:cs typeface="Cascadia Mono" pitchFamily="34" charset="-120"/>
              </a:rPr>
              <a:t>let p: *const i32 = xs.as_ptr();</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let q = unsafe { p.add(3) };   // in-bounds proof required</a:t>
            </a:r>
            <a:endParaRPr lang="en-US" sz="1020" dirty="0"/>
          </a:p>
          <a:p>
            <a:pPr indent="0" marL="0">
              <a:buNone/>
            </a:pP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Raw pointer values are copyable.</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Dereference is where unsafe obligations bite.</a:t>
            </a:r>
            <a:endParaRPr lang="en-US" sz="1020" dirty="0"/>
          </a:p>
        </p:txBody>
      </p:sp>
      <p:sp>
        <p:nvSpPr>
          <p:cNvPr id="21" name="Text 19"/>
          <p:cNvSpPr/>
          <p:nvPr/>
        </p:nvSpPr>
        <p:spPr>
          <a:xfrm>
            <a:off x="6949440" y="4297680"/>
            <a:ext cx="4389120" cy="777240"/>
          </a:xfrm>
          <a:prstGeom prst="roundRect">
            <a:avLst/>
          </a:prstGeom>
          <a:solidFill>
            <a:srgbClr val="07111F"/>
          </a:solidFill>
          <a:ln w="12700">
            <a:solidFill>
              <a:srgbClr val="6D28D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Educational point:</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when students say "it is just an address", answer "for the CPU, yes; for the language, no."</a:t>
            </a:r>
            <a:endParaRPr lang="en-US" sz="1350" dirty="0"/>
          </a:p>
        </p:txBody>
      </p:sp>
      <p:sp>
        <p:nvSpPr>
          <p:cNvPr id="23" name="Text 20"/>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24" name="Text 21"/>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11</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Rust splits "pointer" into proof levels</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Safe references are not just prettier raw pointers. They are pointers with obligations already discharged.</a:t>
            </a:r>
            <a:endParaRPr lang="en-US" sz="850" dirty="0"/>
          </a:p>
        </p:txBody>
      </p:sp>
      <p:sp>
        <p:nvSpPr>
          <p:cNvPr id="8" name="Text 6"/>
          <p:cNvSpPr/>
          <p:nvPr/>
        </p:nvSpPr>
        <p:spPr>
          <a:xfrm>
            <a:off x="868680" y="1463040"/>
            <a:ext cx="2926080" cy="50292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Safe Rust</a:t>
            </a:r>
            <a:endParaRPr lang="en-US" sz="1600" dirty="0"/>
          </a:p>
        </p:txBody>
      </p:sp>
      <p:sp>
        <p:nvSpPr>
          <p:cNvPr id="9" name="Text 7"/>
          <p:cNvSpPr/>
          <p:nvPr/>
        </p:nvSpPr>
        <p:spPr>
          <a:xfrm>
            <a:off x="868680" y="2240280"/>
            <a:ext cx="2926080" cy="1417320"/>
          </a:xfrm>
          <a:prstGeom prst="roundRect">
            <a:avLst/>
          </a:prstGeom>
          <a:solidFill>
            <a:srgbClr val="0B2519"/>
          </a:solidFill>
          <a:ln w="12700">
            <a:solidFill>
              <a:srgbClr val="166534"/>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&amp;T</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shared borrow</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valid, aligned, non-null</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no direct mutation</a:t>
            </a:r>
            <a:endParaRPr lang="en-US" sz="1350" dirty="0"/>
          </a:p>
        </p:txBody>
      </p:sp>
      <p:sp>
        <p:nvSpPr>
          <p:cNvPr id="10" name="Text 8"/>
          <p:cNvSpPr/>
          <p:nvPr/>
        </p:nvSpPr>
        <p:spPr>
          <a:xfrm>
            <a:off x="868680" y="3886200"/>
            <a:ext cx="2926080" cy="1417320"/>
          </a:xfrm>
          <a:prstGeom prst="roundRect">
            <a:avLst/>
          </a:prstGeom>
          <a:solidFill>
            <a:srgbClr val="0B2519"/>
          </a:solidFill>
          <a:ln w="12700">
            <a:solidFill>
              <a:srgbClr val="166534"/>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&amp;mut T</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exclusive mutable borrow</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valid, aligned, non-null</a:t>
            </a:r>
            <a:endParaRPr lang="en-US" sz="1350" dirty="0"/>
          </a:p>
          <a:p>
            <a:pPr algn="ctr" indent="0" marL="0">
              <a:buNone/>
            </a:pPr>
            <a:r>
              <a:rPr lang="en-US" sz="1350" b="1" dirty="0">
                <a:solidFill>
                  <a:srgbClr val="E7EEF7"/>
                </a:solidFill>
                <a:latin typeface="Aptos" pitchFamily="34" charset="0"/>
                <a:ea typeface="Aptos" pitchFamily="34" charset="-122"/>
                <a:cs typeface="Aptos" pitchFamily="34" charset="-120"/>
              </a:rPr>
              <a:t>unique for the borrow</a:t>
            </a:r>
            <a:endParaRPr lang="en-US" sz="1350" dirty="0"/>
          </a:p>
        </p:txBody>
      </p:sp>
      <p:sp>
        <p:nvSpPr>
          <p:cNvPr id="11" name="Text 9"/>
          <p:cNvSpPr/>
          <p:nvPr/>
        </p:nvSpPr>
        <p:spPr>
          <a:xfrm>
            <a:off x="4617720" y="1463040"/>
            <a:ext cx="2926080" cy="502920"/>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Unsafe boundary</a:t>
            </a:r>
            <a:endParaRPr lang="en-US" sz="1600" dirty="0"/>
          </a:p>
        </p:txBody>
      </p:sp>
      <p:sp>
        <p:nvSpPr>
          <p:cNvPr id="12" name="Text 10"/>
          <p:cNvSpPr/>
          <p:nvPr/>
        </p:nvSpPr>
        <p:spPr>
          <a:xfrm>
            <a:off x="4617720" y="2240280"/>
            <a:ext cx="2926080" cy="3063240"/>
          </a:xfrm>
          <a:prstGeom prst="roundRect">
            <a:avLst/>
          </a:prstGeom>
          <a:solidFill>
            <a:srgbClr val="251205"/>
          </a:solidFill>
          <a:ln w="12700">
            <a:solidFill>
              <a:srgbClr val="B45309"/>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*const T</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*mut T</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may be null, dangling, unaligned, or out of bounds</a:t>
            </a:r>
            <a:endParaRPr lang="en-US" sz="1300" dirty="0"/>
          </a:p>
          <a:p>
            <a:pPr algn="ctr" indent="0" marL="0">
              <a:buNone/>
            </a:pPr>
            <a:r>
              <a:rPr lang="en-US" sz="1300" b="1" dirty="0">
                <a:solidFill>
                  <a:srgbClr val="E7EEF7"/>
                </a:solidFill>
                <a:latin typeface="Aptos" pitchFamily="34" charset="0"/>
                <a:ea typeface="Aptos" pitchFamily="34" charset="-122"/>
                <a:cs typeface="Aptos" pitchFamily="34" charset="-120"/>
              </a:rPr>
              <a:t>copying is harmless; dereference is unsafe</a:t>
            </a:r>
            <a:endParaRPr lang="en-US" sz="1300" dirty="0"/>
          </a:p>
        </p:txBody>
      </p:sp>
      <p:sp>
        <p:nvSpPr>
          <p:cNvPr id="13" name="Text 11"/>
          <p:cNvSpPr/>
          <p:nvPr/>
        </p:nvSpPr>
        <p:spPr>
          <a:xfrm>
            <a:off x="8412480" y="1463040"/>
            <a:ext cx="2697480" cy="502920"/>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API design goal</a:t>
            </a:r>
            <a:endParaRPr lang="en-US" sz="1600" dirty="0"/>
          </a:p>
        </p:txBody>
      </p:sp>
      <p:sp>
        <p:nvSpPr>
          <p:cNvPr id="14" name="Text 12"/>
          <p:cNvSpPr/>
          <p:nvPr/>
        </p:nvSpPr>
        <p:spPr>
          <a:xfrm>
            <a:off x="8412480" y="2240280"/>
            <a:ext cx="2697480" cy="1234440"/>
          </a:xfrm>
          <a:prstGeom prst="roundRect">
            <a:avLst/>
          </a:prstGeom>
          <a:solidFill>
            <a:srgbClr val="1B1234"/>
          </a:solidFill>
          <a:ln w="12700">
            <a:solidFill>
              <a:srgbClr val="6D28D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Keep raw pointer reasoning small.</a:t>
            </a:r>
            <a:endParaRPr lang="en-US" sz="1400" dirty="0"/>
          </a:p>
          <a:p>
            <a:pPr algn="ctr" indent="0" marL="0">
              <a:buNone/>
            </a:pPr>
            <a:r>
              <a:rPr lang="en-US" sz="1400" b="1" dirty="0">
                <a:solidFill>
                  <a:srgbClr val="E7EEF7"/>
                </a:solidFill>
                <a:latin typeface="Aptos" pitchFamily="34" charset="0"/>
                <a:ea typeface="Aptos" pitchFamily="34" charset="-122"/>
                <a:cs typeface="Aptos" pitchFamily="34" charset="-120"/>
              </a:rPr>
              <a:t>Expose a safe interface whose types state the contract.</a:t>
            </a:r>
            <a:endParaRPr lang="en-US" sz="1400" dirty="0"/>
          </a:p>
        </p:txBody>
      </p:sp>
      <p:sp>
        <p:nvSpPr>
          <p:cNvPr id="15" name="Text 13"/>
          <p:cNvSpPr/>
          <p:nvPr/>
        </p:nvSpPr>
        <p:spPr>
          <a:xfrm>
            <a:off x="8412480" y="3977640"/>
            <a:ext cx="2697480" cy="1325880"/>
          </a:xfrm>
          <a:prstGeom prst="roundRect">
            <a:avLst/>
          </a:prstGeom>
          <a:solidFill>
            <a:srgbClr val="230B16"/>
          </a:solidFill>
          <a:ln w="12700">
            <a:solidFill>
              <a:srgbClr val="9F1239"/>
            </a:solidFill>
          </a:ln>
        </p:spPr>
        <p:txBody>
          <a:bodyPr wrap="square" lIns="1524" tIns="1524" rIns="1524" bIns="1524" rtlCol="0" anchor="ctr">
            <a:normAutofit/>
          </a:bodyPr>
          <a:lstStyle/>
          <a:p>
            <a:pPr algn="ctr" indent="0" marL="0">
              <a:buNone/>
            </a:pPr>
            <a:r>
              <a:rPr lang="en-US" sz="1330" b="1" dirty="0">
                <a:solidFill>
                  <a:srgbClr val="E7EEF7"/>
                </a:solidFill>
                <a:latin typeface="Aptos" pitchFamily="34" charset="0"/>
                <a:ea typeface="Aptos" pitchFamily="34" charset="-122"/>
                <a:cs typeface="Aptos" pitchFamily="34" charset="-120"/>
              </a:rPr>
              <a:t>The unsafe block does not make code safe.</a:t>
            </a:r>
            <a:endParaRPr lang="en-US" sz="1330" dirty="0"/>
          </a:p>
          <a:p>
            <a:pPr algn="ctr" indent="0" marL="0">
              <a:buNone/>
            </a:pPr>
            <a:r>
              <a:rPr lang="en-US" sz="1330" b="1" dirty="0">
                <a:solidFill>
                  <a:srgbClr val="E7EEF7"/>
                </a:solidFill>
                <a:latin typeface="Aptos" pitchFamily="34" charset="0"/>
                <a:ea typeface="Aptos" pitchFamily="34" charset="-122"/>
                <a:cs typeface="Aptos" pitchFamily="34" charset="-120"/>
              </a:rPr>
              <a:t>It marks where the programmer must supply the missing proof.</a:t>
            </a:r>
            <a:endParaRPr lang="en-US" sz="1330" dirty="0"/>
          </a:p>
        </p:txBody>
      </p:sp>
      <p:sp>
        <p:nvSpPr>
          <p:cNvPr id="17" name="Text 14"/>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8" name="Text 15"/>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12</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A pointer can need metadata</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C++ often carries metadata by convention. Rust often makes it part of the pointer-shaped type.</a:t>
            </a:r>
            <a:endParaRPr lang="en-US" sz="850" dirty="0"/>
          </a:p>
        </p:txBody>
      </p:sp>
      <p:sp>
        <p:nvSpPr>
          <p:cNvPr id="8" name="Text 6"/>
          <p:cNvSpPr/>
          <p:nvPr/>
        </p:nvSpPr>
        <p:spPr>
          <a:xfrm>
            <a:off x="777240" y="1353312"/>
            <a:ext cx="1417320" cy="210312"/>
          </a:xfrm>
          <a:prstGeom prst="roundRect">
            <a:avLst/>
          </a:prstGeom>
          <a:solidFill>
            <a:srgbClr val="155E75"/>
          </a:solidFill>
          <a:ln>
            <a:solidFill>
              <a:srgbClr val="155E75"/>
            </a:solidFill>
          </a:ln>
        </p:spPr>
        <p:txBody>
          <a:bodyPr wrap="square" lIns="381" tIns="381" rIns="381" bIns="381" rtlCol="0" anchor="ctr"/>
          <a:lstStyle/>
          <a:p>
            <a:pPr algn="ctr" indent="0" marL="0">
              <a:buNone/>
            </a:pPr>
            <a:r>
              <a:rPr lang="en-US" sz="720" b="1" dirty="0">
                <a:solidFill>
                  <a:srgbClr val="E7EEF7"/>
                </a:solidFill>
              </a:rPr>
              <a:t>C++ convention</a:t>
            </a:r>
            <a:endParaRPr lang="en-US" sz="720" dirty="0"/>
          </a:p>
        </p:txBody>
      </p:sp>
      <p:sp>
        <p:nvSpPr>
          <p:cNvPr id="9" name="Text 7"/>
          <p:cNvSpPr/>
          <p:nvPr/>
        </p:nvSpPr>
        <p:spPr>
          <a:xfrm>
            <a:off x="777240" y="1709928"/>
            <a:ext cx="4572000" cy="1234440"/>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120" dirty="0">
                <a:solidFill>
                  <a:srgbClr val="E7EEF7"/>
                </a:solidFill>
                <a:latin typeface="Cascadia Mono" pitchFamily="34" charset="0"/>
                <a:ea typeface="Cascadia Mono" pitchFamily="34" charset="-122"/>
                <a:cs typeface="Cascadia Mono" pitchFamily="34" charset="-120"/>
              </a:rPr>
              <a:t>void process(int* p, std::size_t n);</a:t>
            </a:r>
            <a:endParaRPr lang="en-US" sz="1120" dirty="0"/>
          </a:p>
          <a:p>
            <a:pPr indent="0" marL="0">
              <a:buNone/>
            </a:pPr>
            <a:endParaRPr lang="en-US" sz="1120" dirty="0"/>
          </a:p>
          <a:p>
            <a:pPr indent="0" marL="0">
              <a:buNone/>
            </a:pPr>
            <a:r>
              <a:rPr lang="en-US" sz="1120" dirty="0">
                <a:solidFill>
                  <a:srgbClr val="E7EEF7"/>
                </a:solidFill>
                <a:latin typeface="Cascadia Mono" pitchFamily="34" charset="0"/>
                <a:ea typeface="Cascadia Mono" pitchFamily="34" charset="-122"/>
                <a:cs typeface="Cascadia Mono" pitchFamily="34" charset="-120"/>
              </a:rPr>
              <a:t>// Contract lives in the pair:</a:t>
            </a:r>
            <a:endParaRPr lang="en-US" sz="1120" dirty="0"/>
          </a:p>
          <a:p>
            <a:pPr indent="0" marL="0">
              <a:buNone/>
            </a:pPr>
            <a:r>
              <a:rPr lang="en-US" sz="1120" dirty="0">
                <a:solidFill>
                  <a:srgbClr val="E7EEF7"/>
                </a:solidFill>
                <a:latin typeface="Cascadia Mono" pitchFamily="34" charset="0"/>
                <a:ea typeface="Cascadia Mono" pitchFamily="34" charset="-122"/>
                <a:cs typeface="Cascadia Mono" pitchFamily="34" charset="-120"/>
              </a:rPr>
              <a:t>// p points to n contiguous ints.</a:t>
            </a:r>
            <a:endParaRPr lang="en-US" sz="1120" dirty="0"/>
          </a:p>
        </p:txBody>
      </p:sp>
      <p:sp>
        <p:nvSpPr>
          <p:cNvPr id="10" name="Text 8"/>
          <p:cNvSpPr/>
          <p:nvPr/>
        </p:nvSpPr>
        <p:spPr>
          <a:xfrm>
            <a:off x="914400" y="3520440"/>
            <a:ext cx="1325880" cy="438912"/>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pointer</a:t>
            </a:r>
            <a:endParaRPr lang="en-US" sz="1300" dirty="0"/>
          </a:p>
        </p:txBody>
      </p:sp>
      <p:sp>
        <p:nvSpPr>
          <p:cNvPr id="11" name="Text 9"/>
          <p:cNvSpPr/>
          <p:nvPr/>
        </p:nvSpPr>
        <p:spPr>
          <a:xfrm>
            <a:off x="2514600" y="3520440"/>
            <a:ext cx="1325880" cy="438912"/>
          </a:xfrm>
          <a:prstGeom prst="roundRect">
            <a:avLst/>
          </a:prstGeom>
          <a:solidFill>
            <a:srgbClr val="A16207"/>
          </a:solidFill>
          <a:ln w="12700">
            <a:solidFill>
              <a:srgbClr val="A16207"/>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 length</a:t>
            </a:r>
            <a:endParaRPr lang="en-US" sz="1300" dirty="0"/>
          </a:p>
        </p:txBody>
      </p:sp>
      <p:sp>
        <p:nvSpPr>
          <p:cNvPr id="12" name="Text 10"/>
          <p:cNvSpPr/>
          <p:nvPr/>
        </p:nvSpPr>
        <p:spPr>
          <a:xfrm>
            <a:off x="6446520" y="1353312"/>
            <a:ext cx="1143000" cy="210312"/>
          </a:xfrm>
          <a:prstGeom prst="roundRect">
            <a:avLst/>
          </a:prstGeom>
          <a:solidFill>
            <a:srgbClr val="7C2D12"/>
          </a:solidFill>
          <a:ln>
            <a:solidFill>
              <a:srgbClr val="7C2D12"/>
            </a:solidFill>
          </a:ln>
        </p:spPr>
        <p:txBody>
          <a:bodyPr wrap="square" lIns="381" tIns="381" rIns="381" bIns="381" rtlCol="0" anchor="ctr"/>
          <a:lstStyle/>
          <a:p>
            <a:pPr algn="ctr" indent="0" marL="0">
              <a:buNone/>
            </a:pPr>
            <a:r>
              <a:rPr lang="en-US" sz="720" b="1" dirty="0">
                <a:solidFill>
                  <a:srgbClr val="E7EEF7"/>
                </a:solidFill>
              </a:rPr>
              <a:t>Rust slice</a:t>
            </a:r>
            <a:endParaRPr lang="en-US" sz="720" dirty="0"/>
          </a:p>
        </p:txBody>
      </p:sp>
      <p:sp>
        <p:nvSpPr>
          <p:cNvPr id="13" name="Text 11"/>
          <p:cNvSpPr/>
          <p:nvPr/>
        </p:nvSpPr>
        <p:spPr>
          <a:xfrm>
            <a:off x="6446520" y="1709928"/>
            <a:ext cx="4572000" cy="123444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120" dirty="0">
                <a:solidFill>
                  <a:srgbClr val="E7EEF7"/>
                </a:solidFill>
                <a:latin typeface="Cascadia Mono" pitchFamily="34" charset="0"/>
                <a:ea typeface="Cascadia Mono" pitchFamily="34" charset="-122"/>
                <a:cs typeface="Cascadia Mono" pitchFamily="34" charset="-120"/>
              </a:rPr>
              <a:t>fn process(xs: &amp;[i32]) {</a:t>
            </a:r>
            <a:endParaRPr lang="en-US" sz="1120" dirty="0"/>
          </a:p>
          <a:p>
            <a:pPr indent="0" marL="0">
              <a:buNone/>
            </a:pPr>
            <a:r>
              <a:rPr lang="en-US" sz="1120" dirty="0">
                <a:solidFill>
                  <a:srgbClr val="E7EEF7"/>
                </a:solidFill>
                <a:latin typeface="Cascadia Mono" pitchFamily="34" charset="0"/>
                <a:ea typeface="Cascadia Mono" pitchFamily="34" charset="-122"/>
                <a:cs typeface="Cascadia Mono" pitchFamily="34" charset="-120"/>
              </a:rPr>
              <a:t>    // xs carries data pointer + length</a:t>
            </a:r>
            <a:endParaRPr lang="en-US" sz="1120" dirty="0"/>
          </a:p>
          <a:p>
            <a:pPr indent="0" marL="0">
              <a:buNone/>
            </a:pPr>
            <a:r>
              <a:rPr lang="en-US" sz="1120" dirty="0">
                <a:solidFill>
                  <a:srgbClr val="E7EEF7"/>
                </a:solidFill>
                <a:latin typeface="Cascadia Mono" pitchFamily="34" charset="0"/>
                <a:ea typeface="Cascadia Mono" pitchFamily="34" charset="-122"/>
                <a:cs typeface="Cascadia Mono" pitchFamily="34" charset="-120"/>
              </a:rPr>
              <a:t>    // indexing can check bounds</a:t>
            </a:r>
            <a:endParaRPr lang="en-US" sz="1120" dirty="0"/>
          </a:p>
          <a:p>
            <a:pPr indent="0" marL="0">
              <a:buNone/>
            </a:pPr>
            <a:r>
              <a:rPr lang="en-US" sz="1120" dirty="0">
                <a:solidFill>
                  <a:srgbClr val="E7EEF7"/>
                </a:solidFill>
                <a:latin typeface="Cascadia Mono" pitchFamily="34" charset="0"/>
                <a:ea typeface="Cascadia Mono" pitchFamily="34" charset="-122"/>
                <a:cs typeface="Cascadia Mono" pitchFamily="34" charset="-120"/>
              </a:rPr>
              <a:t>}</a:t>
            </a:r>
            <a:endParaRPr lang="en-US" sz="1120" dirty="0"/>
          </a:p>
        </p:txBody>
      </p:sp>
      <p:sp>
        <p:nvSpPr>
          <p:cNvPr id="14" name="Text 12"/>
          <p:cNvSpPr/>
          <p:nvPr/>
        </p:nvSpPr>
        <p:spPr>
          <a:xfrm>
            <a:off x="6629400" y="3520440"/>
            <a:ext cx="1325880" cy="438912"/>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&amp;[T]</a:t>
            </a:r>
            <a:endParaRPr lang="en-US" sz="1300" dirty="0"/>
          </a:p>
        </p:txBody>
      </p:sp>
      <p:sp>
        <p:nvSpPr>
          <p:cNvPr id="15" name="Text 13"/>
          <p:cNvSpPr/>
          <p:nvPr/>
        </p:nvSpPr>
        <p:spPr>
          <a:xfrm>
            <a:off x="8229600" y="3520440"/>
            <a:ext cx="2194560" cy="438912"/>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 data pointer + length</a:t>
            </a:r>
            <a:endParaRPr lang="en-US" sz="1300" dirty="0"/>
          </a:p>
        </p:txBody>
      </p:sp>
      <p:sp>
        <p:nvSpPr>
          <p:cNvPr id="16" name="Text 14"/>
          <p:cNvSpPr/>
          <p:nvPr/>
        </p:nvSpPr>
        <p:spPr>
          <a:xfrm>
            <a:off x="2057400" y="5166360"/>
            <a:ext cx="8001000" cy="566928"/>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Same fundamental idea.</a:t>
            </a:r>
            <a:endParaRPr lang="en-US" sz="1500" dirty="0"/>
          </a:p>
          <a:p>
            <a:pPr algn="ctr" indent="0" marL="0">
              <a:buNone/>
            </a:pPr>
            <a:r>
              <a:rPr lang="en-US" sz="1500" b="1" dirty="0">
                <a:solidFill>
                  <a:srgbClr val="E7EEF7"/>
                </a:solidFill>
                <a:latin typeface="Aptos" pitchFamily="34" charset="0"/>
                <a:ea typeface="Aptos" pitchFamily="34" charset="-122"/>
                <a:cs typeface="Aptos" pitchFamily="34" charset="-120"/>
              </a:rPr>
              <a:t>Different amount of contract visible in the type.</a:t>
            </a:r>
            <a:endParaRPr lang="en-US" sz="1500" dirty="0"/>
          </a:p>
        </p:txBody>
      </p:sp>
      <p:sp>
        <p:nvSpPr>
          <p:cNvPr id="18" name="Text 15"/>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9" name="Text 16"/>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13</a:t>
            </a:r>
            <a:endParaRPr lang="en-US" sz="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Ownership pointers: same machine idea, stricter contract</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Put allocation behind an owner. Borrow through references.</a:t>
            </a:r>
            <a:endParaRPr lang="en-US" sz="850" dirty="0"/>
          </a:p>
        </p:txBody>
      </p:sp>
      <p:sp>
        <p:nvSpPr>
          <p:cNvPr id="8" name="Text 6"/>
          <p:cNvSpPr/>
          <p:nvPr/>
        </p:nvSpPr>
        <p:spPr>
          <a:xfrm>
            <a:off x="777240" y="1353312"/>
            <a:ext cx="685800" cy="210312"/>
          </a:xfrm>
          <a:prstGeom prst="roundRect">
            <a:avLst/>
          </a:prstGeom>
          <a:solidFill>
            <a:srgbClr val="155E75"/>
          </a:solidFill>
          <a:ln>
            <a:solidFill>
              <a:srgbClr val="155E75"/>
            </a:solidFill>
          </a:ln>
        </p:spPr>
        <p:txBody>
          <a:bodyPr wrap="square" lIns="381" tIns="381" rIns="381" bIns="381" rtlCol="0" anchor="ctr"/>
          <a:lstStyle/>
          <a:p>
            <a:pPr algn="ctr" indent="0" marL="0">
              <a:buNone/>
            </a:pPr>
            <a:r>
              <a:rPr lang="en-US" sz="720" b="1" dirty="0">
                <a:solidFill>
                  <a:srgbClr val="E7EEF7"/>
                </a:solidFill>
              </a:rPr>
              <a:t>C++</a:t>
            </a:r>
            <a:endParaRPr lang="en-US" sz="720" dirty="0"/>
          </a:p>
        </p:txBody>
      </p:sp>
      <p:sp>
        <p:nvSpPr>
          <p:cNvPr id="9" name="Text 7"/>
          <p:cNvSpPr/>
          <p:nvPr/>
        </p:nvSpPr>
        <p:spPr>
          <a:xfrm>
            <a:off x="777240" y="1691640"/>
            <a:ext cx="4846320" cy="1828800"/>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080" dirty="0">
                <a:solidFill>
                  <a:srgbClr val="E7EEF7"/>
                </a:solidFill>
                <a:latin typeface="Cascadia Mono" pitchFamily="34" charset="0"/>
                <a:ea typeface="Cascadia Mono" pitchFamily="34" charset="-122"/>
                <a:cs typeface="Cascadia Mono" pitchFamily="34" charset="-120"/>
              </a:rPr>
              <a:t>auto p = std::make_unique&lt;Widget&gt;();</a:t>
            </a: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use(*p);</a:t>
            </a:r>
            <a:endParaRPr lang="en-US" sz="1080" dirty="0"/>
          </a:p>
          <a:p>
            <a:pPr indent="0" marL="0">
              <a:buNone/>
            </a:pP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auto q = std::move(p);</a:t>
            </a: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 p is empty; q owns the object</a:t>
            </a:r>
            <a:endParaRPr lang="en-US" sz="1080" dirty="0"/>
          </a:p>
        </p:txBody>
      </p:sp>
      <p:sp>
        <p:nvSpPr>
          <p:cNvPr id="10" name="Text 8"/>
          <p:cNvSpPr/>
          <p:nvPr/>
        </p:nvSpPr>
        <p:spPr>
          <a:xfrm>
            <a:off x="6446520" y="1353312"/>
            <a:ext cx="685800" cy="210312"/>
          </a:xfrm>
          <a:prstGeom prst="roundRect">
            <a:avLst/>
          </a:prstGeom>
          <a:solidFill>
            <a:srgbClr val="7C2D12"/>
          </a:solidFill>
          <a:ln>
            <a:solidFill>
              <a:srgbClr val="7C2D12"/>
            </a:solidFill>
          </a:ln>
        </p:spPr>
        <p:txBody>
          <a:bodyPr wrap="square" lIns="381" tIns="381" rIns="381" bIns="381" rtlCol="0" anchor="ctr"/>
          <a:lstStyle/>
          <a:p>
            <a:pPr algn="ctr" indent="0" marL="0">
              <a:buNone/>
            </a:pPr>
            <a:r>
              <a:rPr lang="en-US" sz="720" b="1" dirty="0">
                <a:solidFill>
                  <a:srgbClr val="E7EEF7"/>
                </a:solidFill>
              </a:rPr>
              <a:t>Rust</a:t>
            </a:r>
            <a:endParaRPr lang="en-US" sz="720" dirty="0"/>
          </a:p>
        </p:txBody>
      </p:sp>
      <p:sp>
        <p:nvSpPr>
          <p:cNvPr id="11" name="Text 9"/>
          <p:cNvSpPr/>
          <p:nvPr/>
        </p:nvSpPr>
        <p:spPr>
          <a:xfrm>
            <a:off x="6446520" y="1691640"/>
            <a:ext cx="4846320" cy="182880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80" dirty="0">
                <a:solidFill>
                  <a:srgbClr val="E7EEF7"/>
                </a:solidFill>
                <a:latin typeface="Cascadia Mono" pitchFamily="34" charset="0"/>
                <a:ea typeface="Cascadia Mono" pitchFamily="34" charset="-122"/>
                <a:cs typeface="Cascadia Mono" pitchFamily="34" charset="-120"/>
              </a:rPr>
              <a:t>let p = Box::new(Widget::new());</a:t>
            </a: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use_ref(&amp;p);</a:t>
            </a:r>
            <a:endParaRPr lang="en-US" sz="1080" dirty="0"/>
          </a:p>
          <a:p>
            <a:pPr indent="0" marL="0">
              <a:buNone/>
            </a:pP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let q = p;</a:t>
            </a:r>
            <a:endParaRPr lang="en-US" sz="1080" dirty="0"/>
          </a:p>
          <a:p>
            <a:pPr indent="0" marL="0">
              <a:buNone/>
            </a:pPr>
            <a:r>
              <a:rPr lang="en-US" sz="1080" dirty="0">
                <a:solidFill>
                  <a:srgbClr val="E7EEF7"/>
                </a:solidFill>
                <a:latin typeface="Cascadia Mono" pitchFamily="34" charset="0"/>
                <a:ea typeface="Cascadia Mono" pitchFamily="34" charset="-122"/>
                <a:cs typeface="Cascadia Mono" pitchFamily="34" charset="-120"/>
              </a:rPr>
              <a:t>// p moved; q owns the object</a:t>
            </a:r>
            <a:endParaRPr lang="en-US" sz="1080" dirty="0"/>
          </a:p>
        </p:txBody>
      </p:sp>
      <p:sp>
        <p:nvSpPr>
          <p:cNvPr id="12" name="Text 10"/>
          <p:cNvSpPr/>
          <p:nvPr/>
        </p:nvSpPr>
        <p:spPr>
          <a:xfrm>
            <a:off x="1463040" y="4160520"/>
            <a:ext cx="4114800" cy="50292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Both ideas are good systems programming.</a:t>
            </a:r>
            <a:endParaRPr lang="en-US" sz="1500" dirty="0"/>
          </a:p>
        </p:txBody>
      </p:sp>
      <p:sp>
        <p:nvSpPr>
          <p:cNvPr id="13" name="Text 11"/>
          <p:cNvSpPr/>
          <p:nvPr/>
        </p:nvSpPr>
        <p:spPr>
          <a:xfrm>
            <a:off x="6263640" y="4160520"/>
            <a:ext cx="4526280" cy="502920"/>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450" b="1" dirty="0">
                <a:solidFill>
                  <a:srgbClr val="E7EEF7"/>
                </a:solidFill>
                <a:latin typeface="Aptos" pitchFamily="34" charset="0"/>
                <a:ea typeface="Aptos" pitchFamily="34" charset="-122"/>
                <a:cs typeface="Aptos" pitchFamily="34" charset="-120"/>
              </a:rPr>
              <a:t>Rust makes more of the post-move and borrow contract statically visible.</a:t>
            </a:r>
            <a:endParaRPr lang="en-US" sz="1450" dirty="0"/>
          </a:p>
        </p:txBody>
      </p:sp>
      <p:sp>
        <p:nvSpPr>
          <p:cNvPr id="14" name="Text 12"/>
          <p:cNvSpPr/>
          <p:nvPr/>
        </p:nvSpPr>
        <p:spPr>
          <a:xfrm>
            <a:off x="1280160" y="5394960"/>
            <a:ext cx="9601200" cy="457200"/>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C++ improvement target: APIs should say whether a pointer is an owner, observer, optional, view, or output parameter.</a:t>
            </a:r>
            <a:endParaRPr lang="en-US" sz="1350" dirty="0"/>
          </a:p>
        </p:txBody>
      </p:sp>
      <p:sp>
        <p:nvSpPr>
          <p:cNvPr id="16" name="Text 13"/>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7" name="Text 14"/>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14</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Shared ownership is not shared mutation</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Counting owners does not solve aliasing by itself.</a:t>
            </a:r>
            <a:endParaRPr lang="en-US" sz="850" dirty="0"/>
          </a:p>
        </p:txBody>
      </p:sp>
      <p:sp>
        <p:nvSpPr>
          <p:cNvPr id="8" name="Text 6"/>
          <p:cNvSpPr/>
          <p:nvPr/>
        </p:nvSpPr>
        <p:spPr>
          <a:xfrm>
            <a:off x="777240" y="1508760"/>
            <a:ext cx="2560320" cy="530352"/>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std::shared_ptr&lt;T&gt;</a:t>
            </a:r>
            <a:endParaRPr lang="en-US" sz="1600" dirty="0"/>
          </a:p>
        </p:txBody>
      </p:sp>
      <p:sp>
        <p:nvSpPr>
          <p:cNvPr id="9" name="Text 7"/>
          <p:cNvSpPr/>
          <p:nvPr/>
        </p:nvSpPr>
        <p:spPr>
          <a:xfrm>
            <a:off x="8869680" y="1508760"/>
            <a:ext cx="2194560" cy="530352"/>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Rc&lt;T&gt; / Arc&lt;T&gt;</a:t>
            </a:r>
            <a:endParaRPr lang="en-US" sz="1600" dirty="0"/>
          </a:p>
        </p:txBody>
      </p:sp>
      <p:sp>
        <p:nvSpPr>
          <p:cNvPr id="10" name="Text 8"/>
          <p:cNvSpPr/>
          <p:nvPr/>
        </p:nvSpPr>
        <p:spPr>
          <a:xfrm>
            <a:off x="4800600" y="2331720"/>
            <a:ext cx="1828800" cy="685800"/>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700" b="1" dirty="0">
                <a:solidFill>
                  <a:srgbClr val="E7EEF7"/>
                </a:solidFill>
                <a:latin typeface="Aptos" pitchFamily="34" charset="0"/>
                <a:ea typeface="Aptos" pitchFamily="34" charset="-122"/>
                <a:cs typeface="Aptos" pitchFamily="34" charset="-120"/>
              </a:rPr>
              <a:t>object</a:t>
            </a:r>
            <a:endParaRPr lang="en-US" sz="1700" dirty="0"/>
          </a:p>
        </p:txBody>
      </p:sp>
      <p:sp>
        <p:nvSpPr>
          <p:cNvPr id="11" name="Shape 9"/>
          <p:cNvSpPr/>
          <p:nvPr/>
        </p:nvSpPr>
        <p:spPr>
          <a:xfrm>
            <a:off x="3337560" y="1783080"/>
            <a:ext cx="1417320" cy="777240"/>
          </a:xfrm>
          <a:prstGeom prst="line">
            <a:avLst/>
          </a:prstGeom>
          <a:noFill/>
          <a:ln w="25400">
            <a:solidFill>
              <a:srgbClr val="0E7490"/>
            </a:solidFill>
            <a:prstDash val="solid"/>
          </a:ln>
        </p:spPr>
      </p:sp>
      <p:sp>
        <p:nvSpPr>
          <p:cNvPr id="12" name="Shape 10"/>
          <p:cNvSpPr/>
          <p:nvPr/>
        </p:nvSpPr>
        <p:spPr>
          <a:xfrm>
            <a:off x="8869680" y="1783080"/>
            <a:ext cx="-2240280" cy="777240"/>
          </a:xfrm>
          <a:prstGeom prst="line">
            <a:avLst/>
          </a:prstGeom>
          <a:noFill/>
          <a:ln w="25400">
            <a:solidFill>
              <a:srgbClr val="B45309"/>
            </a:solidFill>
            <a:prstDash val="solid"/>
          </a:ln>
        </p:spPr>
      </p:sp>
      <p:sp>
        <p:nvSpPr>
          <p:cNvPr id="13" name="Text 11"/>
          <p:cNvSpPr/>
          <p:nvPr/>
        </p:nvSpPr>
        <p:spPr>
          <a:xfrm>
            <a:off x="914400" y="3886200"/>
            <a:ext cx="4206240" cy="502920"/>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450" b="1" dirty="0">
                <a:solidFill>
                  <a:srgbClr val="E7EEF7"/>
                </a:solidFill>
                <a:latin typeface="Aptos" pitchFamily="34" charset="0"/>
                <a:ea typeface="Aptos" pitchFamily="34" charset="-122"/>
                <a:cs typeface="Aptos" pitchFamily="34" charset="-120"/>
              </a:rPr>
              <a:t>Solves: lifetime of the owned allocation</a:t>
            </a:r>
            <a:endParaRPr lang="en-US" sz="1450" dirty="0"/>
          </a:p>
        </p:txBody>
      </p:sp>
      <p:sp>
        <p:nvSpPr>
          <p:cNvPr id="14" name="Text 12"/>
          <p:cNvSpPr/>
          <p:nvPr/>
        </p:nvSpPr>
        <p:spPr>
          <a:xfrm>
            <a:off x="6126480" y="3886200"/>
            <a:ext cx="4480560" cy="502920"/>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420" b="1" dirty="0">
                <a:solidFill>
                  <a:srgbClr val="E7EEF7"/>
                </a:solidFill>
                <a:latin typeface="Aptos" pitchFamily="34" charset="0"/>
                <a:ea typeface="Aptos" pitchFamily="34" charset="-122"/>
                <a:cs typeface="Aptos" pitchFamily="34" charset="-120"/>
              </a:rPr>
              <a:t>Does not solve: cycles, logical ownership, mutation discipline</a:t>
            </a:r>
            <a:endParaRPr lang="en-US" sz="1420" dirty="0"/>
          </a:p>
        </p:txBody>
      </p:sp>
      <p:sp>
        <p:nvSpPr>
          <p:cNvPr id="15" name="Text 13"/>
          <p:cNvSpPr/>
          <p:nvPr/>
        </p:nvSpPr>
        <p:spPr>
          <a:xfrm>
            <a:off x="1828800" y="5212080"/>
            <a:ext cx="8458200" cy="530352"/>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450" b="1" dirty="0">
                <a:solidFill>
                  <a:srgbClr val="E7EEF7"/>
                </a:solidFill>
                <a:latin typeface="Aptos" pitchFamily="34" charset="0"/>
                <a:ea typeface="Aptos" pitchFamily="34" charset="-122"/>
                <a:cs typeface="Aptos" pitchFamily="34" charset="-120"/>
              </a:rPr>
              <a:t>Rust makes mutation a separate choice: RefCell, Mutex, RwLock, Cell, atomics.</a:t>
            </a:r>
            <a:endParaRPr lang="en-US" sz="1450" dirty="0"/>
          </a:p>
        </p:txBody>
      </p:sp>
      <p:sp>
        <p:nvSpPr>
          <p:cNvPr id="17" name="Text 14"/>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8" name="Text 15"/>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15</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Unsafe Rust is not C in disguise</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It is a way to localize the proof obligation.</a:t>
            </a:r>
            <a:endParaRPr lang="en-US" sz="850" dirty="0"/>
          </a:p>
        </p:txBody>
      </p:sp>
      <p:sp>
        <p:nvSpPr>
          <p:cNvPr id="8" name="Text 6"/>
          <p:cNvSpPr/>
          <p:nvPr/>
        </p:nvSpPr>
        <p:spPr>
          <a:xfrm>
            <a:off x="777240" y="1508760"/>
            <a:ext cx="4754880" cy="2743200"/>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20" dirty="0">
                <a:solidFill>
                  <a:srgbClr val="E7EEF7"/>
                </a:solidFill>
                <a:latin typeface="Cascadia Mono" pitchFamily="34" charset="0"/>
                <a:ea typeface="Cascadia Mono" pitchFamily="34" charset="-122"/>
                <a:cs typeface="Cascadia Mono" pitchFamily="34" charset="-120"/>
              </a:rPr>
              <a:t>pub fn get(i: usize) -&gt; Option&lt;&amp;T&gt;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if i &lt; self.len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 tiny unsafe kernel</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unsafe { Some(&amp;*self.ptr.add(i))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 else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None</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    }</a:t>
            </a:r>
            <a:endParaRPr lang="en-US" sz="1020" dirty="0"/>
          </a:p>
          <a:p>
            <a:pPr indent="0" marL="0">
              <a:buNone/>
            </a:pPr>
            <a:r>
              <a:rPr lang="en-US" sz="1020" dirty="0">
                <a:solidFill>
                  <a:srgbClr val="E7EEF7"/>
                </a:solidFill>
                <a:latin typeface="Cascadia Mono" pitchFamily="34" charset="0"/>
                <a:ea typeface="Cascadia Mono" pitchFamily="34" charset="-122"/>
                <a:cs typeface="Cascadia Mono" pitchFamily="34" charset="-120"/>
              </a:rPr>
              <a:t>}</a:t>
            </a:r>
            <a:endParaRPr lang="en-US" sz="1020" dirty="0"/>
          </a:p>
        </p:txBody>
      </p:sp>
      <p:sp>
        <p:nvSpPr>
          <p:cNvPr id="9" name="Text 7"/>
          <p:cNvSpPr/>
          <p:nvPr/>
        </p:nvSpPr>
        <p:spPr>
          <a:xfrm>
            <a:off x="6263640" y="1508760"/>
            <a:ext cx="2743200" cy="475488"/>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Unsafe obligations</a:t>
            </a:r>
            <a:endParaRPr lang="en-US" sz="1500" dirty="0"/>
          </a:p>
        </p:txBody>
      </p:sp>
      <p:sp>
        <p:nvSpPr>
          <p:cNvPr id="10" name="Text 8"/>
          <p:cNvSpPr/>
          <p:nvPr/>
        </p:nvSpPr>
        <p:spPr>
          <a:xfrm>
            <a:off x="6263640" y="2240280"/>
            <a:ext cx="4389120" cy="1920240"/>
          </a:xfrm>
          <a:prstGeom prst="roundRect">
            <a:avLst/>
          </a:prstGeom>
          <a:solidFill>
            <a:srgbClr val="230B16"/>
          </a:solidFill>
          <a:ln w="12700">
            <a:solidFill>
              <a:srgbClr val="9F1239"/>
            </a:solidFill>
          </a:ln>
        </p:spPr>
        <p:txBody>
          <a:bodyPr wrap="square" lIns="1524" tIns="1524" rIns="1524" bIns="1524" rtlCol="0" anchor="ctr">
            <a:normAutofit/>
          </a:bodyPr>
          <a:lstStyle/>
          <a:p>
            <a:pPr algn="ctr" indent="0" marL="0">
              <a:buNone/>
            </a:pPr>
            <a:r>
              <a:rPr lang="en-US" sz="1250" b="1" dirty="0">
                <a:solidFill>
                  <a:srgbClr val="E7EEF7"/>
                </a:solidFill>
                <a:latin typeface="Aptos" pitchFamily="34" charset="0"/>
                <a:ea typeface="Aptos" pitchFamily="34" charset="-122"/>
                <a:cs typeface="Aptos" pitchFamily="34" charset="-120"/>
              </a:rPr>
              <a:t>ptr is non-null or valid for ZST</a:t>
            </a:r>
            <a:endParaRPr lang="en-US" sz="1250" dirty="0"/>
          </a:p>
          <a:p>
            <a:pPr algn="ctr" indent="0" marL="0">
              <a:buNone/>
            </a:pPr>
            <a:r>
              <a:rPr lang="en-US" sz="1250" b="1" dirty="0">
                <a:solidFill>
                  <a:srgbClr val="E7EEF7"/>
                </a:solidFill>
                <a:latin typeface="Aptos" pitchFamily="34" charset="0"/>
                <a:ea typeface="Aptos" pitchFamily="34" charset="-122"/>
                <a:cs typeface="Aptos" pitchFamily="34" charset="-120"/>
              </a:rPr>
              <a:t>i &lt; len</a:t>
            </a:r>
            <a:endParaRPr lang="en-US" sz="1250" dirty="0"/>
          </a:p>
          <a:p>
            <a:pPr algn="ctr" indent="0" marL="0">
              <a:buNone/>
            </a:pPr>
            <a:r>
              <a:rPr lang="en-US" sz="1250" b="1" dirty="0">
                <a:solidFill>
                  <a:srgbClr val="E7EEF7"/>
                </a:solidFill>
                <a:latin typeface="Aptos" pitchFamily="34" charset="0"/>
                <a:ea typeface="Aptos" pitchFamily="34" charset="-122"/>
                <a:cs typeface="Aptos" pitchFamily="34" charset="-120"/>
              </a:rPr>
              <a:t>allocation is live</a:t>
            </a:r>
            <a:endParaRPr lang="en-US" sz="1250" dirty="0"/>
          </a:p>
          <a:p>
            <a:pPr algn="ctr" indent="0" marL="0">
              <a:buNone/>
            </a:pPr>
            <a:r>
              <a:rPr lang="en-US" sz="1250" b="1" dirty="0">
                <a:solidFill>
                  <a:srgbClr val="E7EEF7"/>
                </a:solidFill>
                <a:latin typeface="Aptos" pitchFamily="34" charset="0"/>
                <a:ea typeface="Aptos" pitchFamily="34" charset="-122"/>
                <a:cs typeface="Aptos" pitchFamily="34" charset="-120"/>
              </a:rPr>
              <a:t>alignment is correct</a:t>
            </a:r>
            <a:endParaRPr lang="en-US" sz="1250" dirty="0"/>
          </a:p>
          <a:p>
            <a:pPr algn="ctr" indent="0" marL="0">
              <a:buNone/>
            </a:pPr>
            <a:r>
              <a:rPr lang="en-US" sz="1250" b="1" dirty="0">
                <a:solidFill>
                  <a:srgbClr val="E7EEF7"/>
                </a:solidFill>
                <a:latin typeface="Aptos" pitchFamily="34" charset="0"/>
                <a:ea typeface="Aptos" pitchFamily="34" charset="-122"/>
                <a:cs typeface="Aptos" pitchFamily="34" charset="-120"/>
              </a:rPr>
              <a:t>returned reference cannot outlive owner</a:t>
            </a:r>
            <a:endParaRPr lang="en-US" sz="1250" dirty="0"/>
          </a:p>
          <a:p>
            <a:pPr algn="ctr" indent="0" marL="0">
              <a:buNone/>
            </a:pPr>
            <a:r>
              <a:rPr lang="en-US" sz="1250" b="1" dirty="0">
                <a:solidFill>
                  <a:srgbClr val="E7EEF7"/>
                </a:solidFill>
                <a:latin typeface="Aptos" pitchFamily="34" charset="0"/>
                <a:ea typeface="Aptos" pitchFamily="34" charset="-122"/>
                <a:cs typeface="Aptos" pitchFamily="34" charset="-120"/>
              </a:rPr>
              <a:t>no mutable alias exists</a:t>
            </a:r>
            <a:endParaRPr lang="en-US" sz="1250" dirty="0"/>
          </a:p>
        </p:txBody>
      </p:sp>
      <p:sp>
        <p:nvSpPr>
          <p:cNvPr id="11" name="Text 9"/>
          <p:cNvSpPr/>
          <p:nvPr/>
        </p:nvSpPr>
        <p:spPr>
          <a:xfrm>
            <a:off x="1828800" y="5166360"/>
            <a:ext cx="8366760" cy="566928"/>
          </a:xfrm>
          <a:prstGeom prst="roundRect">
            <a:avLst/>
          </a:prstGeom>
          <a:solidFill>
            <a:srgbClr val="07111F"/>
          </a:solidFill>
          <a:ln w="12700">
            <a:solidFill>
              <a:srgbClr val="6D28D9"/>
            </a:solidFill>
          </a:ln>
        </p:spPr>
        <p:txBody>
          <a:bodyPr wrap="square" lIns="1524" tIns="1524" rIns="1524" bIns="1524" rtlCol="0" anchor="ctr">
            <a:normAutofit/>
          </a:bodyPr>
          <a:lstStyle/>
          <a:p>
            <a:pPr algn="ctr" indent="0" marL="0">
              <a:buNone/>
            </a:pPr>
            <a:r>
              <a:rPr lang="en-US" sz="1600" b="1" dirty="0">
                <a:solidFill>
                  <a:srgbClr val="E7EEF7"/>
                </a:solidFill>
                <a:latin typeface="Aptos" pitchFamily="34" charset="0"/>
                <a:ea typeface="Aptos" pitchFamily="34" charset="-122"/>
                <a:cs typeface="Aptos" pitchFamily="34" charset="-120"/>
              </a:rPr>
              <a:t>The safe API is the promise.</a:t>
            </a:r>
            <a:endParaRPr lang="en-US" sz="1600" dirty="0"/>
          </a:p>
          <a:p>
            <a:pPr algn="ctr" indent="0" marL="0">
              <a:buNone/>
            </a:pPr>
            <a:r>
              <a:rPr lang="en-US" sz="1600" b="1" dirty="0">
                <a:solidFill>
                  <a:srgbClr val="E7EEF7"/>
                </a:solidFill>
                <a:latin typeface="Aptos" pitchFamily="34" charset="0"/>
                <a:ea typeface="Aptos" pitchFamily="34" charset="-122"/>
                <a:cs typeface="Aptos" pitchFamily="34" charset="-120"/>
              </a:rPr>
              <a:t>The unsafe block is the proof site.</a:t>
            </a:r>
            <a:endParaRPr lang="en-US" sz="1600" dirty="0"/>
          </a:p>
        </p:txBody>
      </p:sp>
      <p:sp>
        <p:nvSpPr>
          <p:cNvPr id="13" name="Text 10"/>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14" name="Text 11"/>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16</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Classroom exercise: make the pointer contract visible</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Use this as a discussion bridge from C++ API design to Rust API design.</a:t>
            </a:r>
            <a:endParaRPr lang="en-US" sz="850" dirty="0"/>
          </a:p>
        </p:txBody>
      </p:sp>
      <p:sp>
        <p:nvSpPr>
          <p:cNvPr id="8" name="Text 6"/>
          <p:cNvSpPr/>
          <p:nvPr/>
        </p:nvSpPr>
        <p:spPr>
          <a:xfrm>
            <a:off x="777240" y="1417320"/>
            <a:ext cx="4572000" cy="685800"/>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500" dirty="0">
                <a:solidFill>
                  <a:srgbClr val="E7EEF7"/>
                </a:solidFill>
                <a:latin typeface="Cascadia Mono" pitchFamily="34" charset="0"/>
                <a:ea typeface="Cascadia Mono" pitchFamily="34" charset="-122"/>
                <a:cs typeface="Cascadia Mono" pitchFamily="34" charset="-120"/>
              </a:rPr>
              <a:t>void parse(char* p, int n, Result* out);</a:t>
            </a:r>
            <a:endParaRPr lang="en-US" sz="1500" dirty="0"/>
          </a:p>
        </p:txBody>
      </p:sp>
      <p:sp>
        <p:nvSpPr>
          <p:cNvPr id="9" name="Text 7"/>
          <p:cNvSpPr/>
          <p:nvPr/>
        </p:nvSpPr>
        <p:spPr>
          <a:xfrm>
            <a:off x="6080760" y="1417320"/>
            <a:ext cx="2194560" cy="502920"/>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500" b="1" dirty="0">
                <a:solidFill>
                  <a:srgbClr val="E7EEF7"/>
                </a:solidFill>
                <a:latin typeface="Aptos" pitchFamily="34" charset="0"/>
                <a:ea typeface="Aptos" pitchFamily="34" charset="-122"/>
                <a:cs typeface="Aptos" pitchFamily="34" charset="-120"/>
              </a:rPr>
              <a:t>Ask before coding</a:t>
            </a:r>
            <a:endParaRPr lang="en-US" sz="1500" dirty="0"/>
          </a:p>
        </p:txBody>
      </p:sp>
      <p:sp>
        <p:nvSpPr>
          <p:cNvPr id="10" name="Text 8"/>
          <p:cNvSpPr/>
          <p:nvPr/>
        </p:nvSpPr>
        <p:spPr>
          <a:xfrm>
            <a:off x="777240" y="246888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Can p be null?</a:t>
            </a:r>
            <a:endParaRPr lang="en-US" sz="1180" dirty="0"/>
          </a:p>
        </p:txBody>
      </p:sp>
      <p:sp>
        <p:nvSpPr>
          <p:cNvPr id="11" name="Text 9"/>
          <p:cNvSpPr/>
          <p:nvPr/>
        </p:nvSpPr>
        <p:spPr>
          <a:xfrm>
            <a:off x="4343400" y="246888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Is n bytes, chars, or elements?</a:t>
            </a:r>
            <a:endParaRPr lang="en-US" sz="1180" dirty="0"/>
          </a:p>
        </p:txBody>
      </p:sp>
      <p:sp>
        <p:nvSpPr>
          <p:cNvPr id="12" name="Text 10"/>
          <p:cNvSpPr/>
          <p:nvPr/>
        </p:nvSpPr>
        <p:spPr>
          <a:xfrm>
            <a:off x="7909560" y="246888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Who owns the buffer?</a:t>
            </a:r>
            <a:endParaRPr lang="en-US" sz="1180" dirty="0"/>
          </a:p>
        </p:txBody>
      </p:sp>
      <p:sp>
        <p:nvSpPr>
          <p:cNvPr id="13" name="Text 11"/>
          <p:cNvSpPr/>
          <p:nvPr/>
        </p:nvSpPr>
        <p:spPr>
          <a:xfrm>
            <a:off x="777240" y="320040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May parse modify it?</a:t>
            </a:r>
            <a:endParaRPr lang="en-US" sz="1180" dirty="0"/>
          </a:p>
        </p:txBody>
      </p:sp>
      <p:sp>
        <p:nvSpPr>
          <p:cNvPr id="14" name="Text 12"/>
          <p:cNvSpPr/>
          <p:nvPr/>
        </p:nvSpPr>
        <p:spPr>
          <a:xfrm>
            <a:off x="4343400" y="320040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How long must it live?</a:t>
            </a:r>
            <a:endParaRPr lang="en-US" sz="1180" dirty="0"/>
          </a:p>
        </p:txBody>
      </p:sp>
      <p:sp>
        <p:nvSpPr>
          <p:cNvPr id="15" name="Text 13"/>
          <p:cNvSpPr/>
          <p:nvPr/>
        </p:nvSpPr>
        <p:spPr>
          <a:xfrm>
            <a:off x="7909560" y="3200400"/>
            <a:ext cx="2926080" cy="429768"/>
          </a:xfrm>
          <a:prstGeom prst="roundRect">
            <a:avLst/>
          </a:prstGeom>
          <a:solidFill>
            <a:srgbClr val="0B1220"/>
          </a:solidFill>
          <a:ln w="12700">
            <a:solidFill>
              <a:srgbClr val="2A354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Is out optional or required?</a:t>
            </a:r>
            <a:endParaRPr lang="en-US" sz="1180" dirty="0"/>
          </a:p>
        </p:txBody>
      </p:sp>
      <p:sp>
        <p:nvSpPr>
          <p:cNvPr id="16" name="Text 14"/>
          <p:cNvSpPr/>
          <p:nvPr/>
        </p:nvSpPr>
        <p:spPr>
          <a:xfrm>
            <a:off x="777240" y="3931920"/>
            <a:ext cx="2926080" cy="429768"/>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180" b="1" dirty="0">
                <a:solidFill>
                  <a:srgbClr val="E7EEF7"/>
                </a:solidFill>
                <a:latin typeface="Aptos" pitchFamily="34" charset="0"/>
                <a:ea typeface="Aptos" pitchFamily="34" charset="-122"/>
                <a:cs typeface="Aptos" pitchFamily="34" charset="-120"/>
              </a:rPr>
              <a:t>Can out alias p?</a:t>
            </a:r>
            <a:endParaRPr lang="en-US" sz="1180" dirty="0"/>
          </a:p>
        </p:txBody>
      </p:sp>
      <p:sp>
        <p:nvSpPr>
          <p:cNvPr id="17" name="Text 15"/>
          <p:cNvSpPr/>
          <p:nvPr/>
        </p:nvSpPr>
        <p:spPr>
          <a:xfrm>
            <a:off x="777240" y="4709160"/>
            <a:ext cx="2468880" cy="384048"/>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Possible C++ refactor</a:t>
            </a:r>
            <a:endParaRPr lang="en-US" sz="1300" dirty="0"/>
          </a:p>
        </p:txBody>
      </p:sp>
      <p:sp>
        <p:nvSpPr>
          <p:cNvPr id="18" name="Text 16"/>
          <p:cNvSpPr/>
          <p:nvPr/>
        </p:nvSpPr>
        <p:spPr>
          <a:xfrm>
            <a:off x="777240" y="5230368"/>
            <a:ext cx="5120640" cy="566928"/>
          </a:xfrm>
          <a:prstGeom prst="rect">
            <a:avLst/>
          </a:prstGeom>
          <a:solidFill>
            <a:srgbClr val="07111F"/>
          </a:solidFill>
          <a:ln w="12700">
            <a:solidFill>
              <a:srgbClr val="0E7490"/>
            </a:solidFill>
          </a:ln>
        </p:spPr>
        <p:txBody>
          <a:bodyPr wrap="square" lIns="1524" tIns="1524" rIns="1524" bIns="1524" rtlCol="0" anchor="ctr">
            <a:normAutofit/>
          </a:bodyPr>
          <a:lstStyle/>
          <a:p>
            <a:pPr indent="0" marL="0">
              <a:buNone/>
            </a:pPr>
            <a:r>
              <a:rPr lang="en-US" sz="1080" dirty="0">
                <a:solidFill>
                  <a:srgbClr val="E7EEF7"/>
                </a:solidFill>
                <a:latin typeface="Cascadia Mono" pitchFamily="34" charset="0"/>
                <a:ea typeface="Cascadia Mono" pitchFamily="34" charset="-122"/>
                <a:cs typeface="Cascadia Mono" pitchFamily="34" charset="-120"/>
              </a:rPr>
              <a:t>std::optional&lt;Result&gt; parse(std::span&lt;const char&gt; input);</a:t>
            </a:r>
            <a:endParaRPr lang="en-US" sz="1080" dirty="0"/>
          </a:p>
        </p:txBody>
      </p:sp>
      <p:sp>
        <p:nvSpPr>
          <p:cNvPr id="19" name="Text 17"/>
          <p:cNvSpPr/>
          <p:nvPr/>
        </p:nvSpPr>
        <p:spPr>
          <a:xfrm>
            <a:off x="6446520" y="4709160"/>
            <a:ext cx="2468880" cy="384048"/>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300" b="1" dirty="0">
                <a:solidFill>
                  <a:srgbClr val="E7EEF7"/>
                </a:solidFill>
                <a:latin typeface="Aptos" pitchFamily="34" charset="0"/>
                <a:ea typeface="Aptos" pitchFamily="34" charset="-122"/>
                <a:cs typeface="Aptos" pitchFamily="34" charset="-120"/>
              </a:rPr>
              <a:t>Possible Rust shape</a:t>
            </a:r>
            <a:endParaRPr lang="en-US" sz="1300" dirty="0"/>
          </a:p>
        </p:txBody>
      </p:sp>
      <p:sp>
        <p:nvSpPr>
          <p:cNvPr id="20" name="Text 18"/>
          <p:cNvSpPr/>
          <p:nvPr/>
        </p:nvSpPr>
        <p:spPr>
          <a:xfrm>
            <a:off x="6446520" y="5230368"/>
            <a:ext cx="5029200" cy="566928"/>
          </a:xfrm>
          <a:prstGeom prst="rect">
            <a:avLst/>
          </a:prstGeom>
          <a:solidFill>
            <a:srgbClr val="07111F"/>
          </a:solidFill>
          <a:ln w="12700">
            <a:solidFill>
              <a:srgbClr val="B45309"/>
            </a:solidFill>
          </a:ln>
        </p:spPr>
        <p:txBody>
          <a:bodyPr wrap="square" lIns="1524" tIns="1524" rIns="1524" bIns="1524" rtlCol="0" anchor="ctr">
            <a:normAutofit/>
          </a:bodyPr>
          <a:lstStyle/>
          <a:p>
            <a:pPr indent="0" marL="0">
              <a:buNone/>
            </a:pPr>
            <a:r>
              <a:rPr lang="en-US" sz="1080" dirty="0">
                <a:solidFill>
                  <a:srgbClr val="E7EEF7"/>
                </a:solidFill>
                <a:latin typeface="Cascadia Mono" pitchFamily="34" charset="0"/>
                <a:ea typeface="Cascadia Mono" pitchFamily="34" charset="-122"/>
                <a:cs typeface="Cascadia Mono" pitchFamily="34" charset="-120"/>
              </a:rPr>
              <a:t>fn parse(input: &amp;[u8]) -&gt; Result&lt;Parsed, ParseError&gt;</a:t>
            </a:r>
            <a:endParaRPr lang="en-US" sz="1080" dirty="0"/>
          </a:p>
        </p:txBody>
      </p:sp>
      <p:sp>
        <p:nvSpPr>
          <p:cNvPr id="22" name="Text 19"/>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23" name="Text 20"/>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17</a:t>
            </a:r>
            <a:endParaRPr lang="en-US" sz="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A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5"/>
          </a:solidFill>
          <a:ln w="12700">
            <a:solidFill>
              <a:srgbClr val="333333">
                <a:alpha val="0"/>
              </a:srgbClr>
            </a:solidFill>
            <a:prstDash val="solid"/>
          </a:ln>
        </p:spPr>
      </p:sp>
      <p:sp>
        <p:nvSpPr>
          <p:cNvPr id="3" name="Shape 1"/>
          <p:cNvSpPr/>
          <p:nvPr/>
        </p:nvSpPr>
        <p:spPr>
          <a:xfrm>
            <a:off x="0" y="0"/>
            <a:ext cx="12191695" cy="109728"/>
          </a:xfrm>
          <a:prstGeom prst="rect">
            <a:avLst/>
          </a:prstGeom>
          <a:solidFill>
            <a:srgbClr val="B45309"/>
          </a:solidFill>
          <a:ln w="12700">
            <a:solidFill>
              <a:srgbClr val="333333">
                <a:alpha val="0"/>
              </a:srgbClr>
            </a:solidFill>
            <a:prstDash val="solid"/>
          </a:ln>
        </p:spPr>
      </p:sp>
      <p:sp>
        <p:nvSpPr>
          <p:cNvPr id="4" name="Shape 2"/>
          <p:cNvSpPr/>
          <p:nvPr/>
        </p:nvSpPr>
        <p:spPr>
          <a:xfrm>
            <a:off x="0" y="6803136"/>
            <a:ext cx="12191695" cy="54864"/>
          </a:xfrm>
          <a:prstGeom prst="rect">
            <a:avLst/>
          </a:prstGeom>
          <a:solidFill>
            <a:srgbClr val="2A3549"/>
          </a:solidFill>
          <a:ln w="12700">
            <a:solidFill>
              <a:srgbClr val="333333">
                <a:alpha val="0"/>
              </a:srgbClr>
            </a:solidFill>
            <a:prstDash val="solid"/>
          </a:ln>
        </p:spPr>
      </p:sp>
      <p:sp>
        <p:nvSpPr>
          <p:cNvPr id="5" name="Text 3"/>
          <p:cNvSpPr/>
          <p:nvPr/>
        </p:nvSpPr>
        <p:spPr>
          <a:xfrm>
            <a:off x="502920" y="329184"/>
            <a:ext cx="9875520" cy="438912"/>
          </a:xfrm>
          <a:prstGeom prst="rect">
            <a:avLst/>
          </a:prstGeom>
          <a:noFill/>
          <a:ln/>
        </p:spPr>
        <p:txBody>
          <a:bodyPr wrap="square" lIns="0" tIns="0" rIns="0" bIns="0" rtlCol="0" anchor="ctr"/>
          <a:lstStyle/>
          <a:p>
            <a:pPr indent="0" marL="0">
              <a:buNone/>
            </a:pPr>
            <a:r>
              <a:rPr lang="en-US" sz="2500" b="1" dirty="0">
                <a:solidFill>
                  <a:srgbClr val="E7EEF7"/>
                </a:solidFill>
                <a:latin typeface="Aptos Display" pitchFamily="34" charset="0"/>
                <a:ea typeface="Aptos Display" pitchFamily="34" charset="-122"/>
                <a:cs typeface="Aptos Display" pitchFamily="34" charset="-120"/>
              </a:rPr>
              <a:t>The pointer checklist</a:t>
            </a:r>
            <a:endParaRPr lang="en-US" sz="2500" dirty="0"/>
          </a:p>
        </p:txBody>
      </p:sp>
      <p:sp>
        <p:nvSpPr>
          <p:cNvPr id="6" name="Shape 4"/>
          <p:cNvSpPr/>
          <p:nvPr/>
        </p:nvSpPr>
        <p:spPr>
          <a:xfrm>
            <a:off x="502920" y="822960"/>
            <a:ext cx="960120" cy="0"/>
          </a:xfrm>
          <a:prstGeom prst="line">
            <a:avLst/>
          </a:prstGeom>
          <a:noFill/>
          <a:ln w="25400">
            <a:solidFill>
              <a:srgbClr val="B45309"/>
            </a:solidFill>
            <a:prstDash val="solid"/>
          </a:ln>
        </p:spPr>
      </p:sp>
      <p:sp>
        <p:nvSpPr>
          <p:cNvPr id="7" name="Text 5"/>
          <p:cNvSpPr/>
          <p:nvPr/>
        </p:nvSpPr>
        <p:spPr>
          <a:xfrm>
            <a:off x="502920" y="896112"/>
            <a:ext cx="10881360" cy="274320"/>
          </a:xfrm>
          <a:prstGeom prst="rect">
            <a:avLst/>
          </a:prstGeom>
          <a:noFill/>
          <a:ln/>
        </p:spPr>
        <p:txBody>
          <a:bodyPr wrap="square" lIns="0" tIns="0" rIns="0" bIns="0" rtlCol="0" anchor="ctr"/>
          <a:lstStyle/>
          <a:p>
            <a:pPr indent="0" marL="0">
              <a:buNone/>
            </a:pPr>
            <a:r>
              <a:rPr lang="en-US" sz="850" dirty="0">
                <a:solidFill>
                  <a:srgbClr val="93A4B8"/>
                </a:solidFill>
                <a:latin typeface="Aptos" pitchFamily="34" charset="0"/>
                <a:ea typeface="Aptos" pitchFamily="34" charset="-122"/>
                <a:cs typeface="Aptos" pitchFamily="34" charset="-120"/>
              </a:rPr>
              <a:t>Teach the why until the pattern becomes reflex.</a:t>
            </a:r>
            <a:endParaRPr lang="en-US" sz="850" dirty="0"/>
          </a:p>
        </p:txBody>
      </p:sp>
      <p:sp>
        <p:nvSpPr>
          <p:cNvPr id="8" name="Text 6"/>
          <p:cNvSpPr/>
          <p:nvPr/>
        </p:nvSpPr>
        <p:spPr>
          <a:xfrm>
            <a:off x="822960" y="1508760"/>
            <a:ext cx="2304288" cy="713232"/>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owner</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Who owns the object?</a:t>
            </a:r>
            <a:endParaRPr lang="en-US" sz="1150" dirty="0"/>
          </a:p>
        </p:txBody>
      </p:sp>
      <p:sp>
        <p:nvSpPr>
          <p:cNvPr id="9" name="Text 7"/>
          <p:cNvSpPr/>
          <p:nvPr/>
        </p:nvSpPr>
        <p:spPr>
          <a:xfrm>
            <a:off x="3584448" y="1508760"/>
            <a:ext cx="2304288" cy="713232"/>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lifetime</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How long is it alive?</a:t>
            </a:r>
            <a:endParaRPr lang="en-US" sz="1150" dirty="0"/>
          </a:p>
        </p:txBody>
      </p:sp>
      <p:sp>
        <p:nvSpPr>
          <p:cNvPr id="10" name="Text 8"/>
          <p:cNvSpPr/>
          <p:nvPr/>
        </p:nvSpPr>
        <p:spPr>
          <a:xfrm>
            <a:off x="6345936" y="1508760"/>
            <a:ext cx="2304288" cy="713232"/>
          </a:xfrm>
          <a:prstGeom prst="roundRect">
            <a:avLst/>
          </a:prstGeom>
          <a:solidFill>
            <a:srgbClr val="166534"/>
          </a:solidFill>
          <a:ln w="12700">
            <a:solidFill>
              <a:srgbClr val="166534"/>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null</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Can the pointer be absent?</a:t>
            </a:r>
            <a:endParaRPr lang="en-US" sz="1150" dirty="0"/>
          </a:p>
        </p:txBody>
      </p:sp>
      <p:sp>
        <p:nvSpPr>
          <p:cNvPr id="11" name="Text 9"/>
          <p:cNvSpPr/>
          <p:nvPr/>
        </p:nvSpPr>
        <p:spPr>
          <a:xfrm>
            <a:off x="9107424" y="1508760"/>
            <a:ext cx="2304288" cy="713232"/>
          </a:xfrm>
          <a:prstGeom prst="roundRect">
            <a:avLst/>
          </a:prstGeom>
          <a:solidFill>
            <a:srgbClr val="6D28D9"/>
          </a:solidFill>
          <a:ln w="12700">
            <a:solidFill>
              <a:srgbClr val="6D28D9"/>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bounds</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What region is valid?</a:t>
            </a:r>
            <a:endParaRPr lang="en-US" sz="1150" dirty="0"/>
          </a:p>
        </p:txBody>
      </p:sp>
      <p:sp>
        <p:nvSpPr>
          <p:cNvPr id="12" name="Text 10"/>
          <p:cNvSpPr/>
          <p:nvPr/>
        </p:nvSpPr>
        <p:spPr>
          <a:xfrm>
            <a:off x="822960" y="2560320"/>
            <a:ext cx="2304288" cy="713232"/>
          </a:xfrm>
          <a:prstGeom prst="roundRect">
            <a:avLst/>
          </a:prstGeom>
          <a:solidFill>
            <a:srgbClr val="A16207"/>
          </a:solidFill>
          <a:ln w="12700">
            <a:solidFill>
              <a:srgbClr val="A16207"/>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type/alignment</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Is the object model respected?</a:t>
            </a:r>
            <a:endParaRPr lang="en-US" sz="1150" dirty="0"/>
          </a:p>
        </p:txBody>
      </p:sp>
      <p:sp>
        <p:nvSpPr>
          <p:cNvPr id="13" name="Text 11"/>
          <p:cNvSpPr/>
          <p:nvPr/>
        </p:nvSpPr>
        <p:spPr>
          <a:xfrm>
            <a:off x="3584448" y="2560320"/>
            <a:ext cx="2304288" cy="713232"/>
          </a:xfrm>
          <a:prstGeom prst="roundRect">
            <a:avLst/>
          </a:prstGeom>
          <a:solidFill>
            <a:srgbClr val="9F1239"/>
          </a:solidFill>
          <a:ln w="12700">
            <a:solidFill>
              <a:srgbClr val="9F1239"/>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aliasing</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Who else can access it?</a:t>
            </a:r>
            <a:endParaRPr lang="en-US" sz="1150" dirty="0"/>
          </a:p>
        </p:txBody>
      </p:sp>
      <p:sp>
        <p:nvSpPr>
          <p:cNvPr id="14" name="Text 12"/>
          <p:cNvSpPr/>
          <p:nvPr/>
        </p:nvSpPr>
        <p:spPr>
          <a:xfrm>
            <a:off x="6345936" y="2560320"/>
            <a:ext cx="2304288" cy="713232"/>
          </a:xfrm>
          <a:prstGeom prst="roundRect">
            <a:avLst/>
          </a:prstGeom>
          <a:solidFill>
            <a:srgbClr val="2A3549"/>
          </a:solidFill>
          <a:ln w="12700">
            <a:solidFill>
              <a:srgbClr val="2A3549"/>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mutation</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Who may mutate it now?</a:t>
            </a:r>
            <a:endParaRPr lang="en-US" sz="1150" dirty="0"/>
          </a:p>
        </p:txBody>
      </p:sp>
      <p:sp>
        <p:nvSpPr>
          <p:cNvPr id="15" name="Text 13"/>
          <p:cNvSpPr/>
          <p:nvPr/>
        </p:nvSpPr>
        <p:spPr>
          <a:xfrm>
            <a:off x="9107424" y="2560320"/>
            <a:ext cx="2304288" cy="713232"/>
          </a:xfrm>
          <a:prstGeom prst="roundRect">
            <a:avLst/>
          </a:prstGeom>
          <a:solidFill>
            <a:srgbClr val="B45309"/>
          </a:solidFill>
          <a:ln w="12700">
            <a:solidFill>
              <a:srgbClr val="B45309"/>
            </a:solidFill>
          </a:ln>
        </p:spPr>
        <p:txBody>
          <a:bodyPr wrap="square" lIns="1524" tIns="1524" rIns="1524" bIns="1524" rtlCol="0" anchor="ctr">
            <a:normAutofit/>
          </a:bodyPr>
          <a:lstStyle/>
          <a:p>
            <a:pPr algn="ctr" indent="0" marL="0">
              <a:buNone/>
            </a:pPr>
            <a:r>
              <a:rPr lang="en-US" sz="1150" b="1" dirty="0">
                <a:solidFill>
                  <a:srgbClr val="E7EEF7"/>
                </a:solidFill>
                <a:latin typeface="Aptos" pitchFamily="34" charset="0"/>
                <a:ea typeface="Aptos" pitchFamily="34" charset="-122"/>
                <a:cs typeface="Aptos" pitchFamily="34" charset="-120"/>
              </a:rPr>
              <a:t>threads</a:t>
            </a:r>
            <a:endParaRPr lang="en-US" sz="1150" dirty="0"/>
          </a:p>
          <a:p>
            <a:pPr algn="ctr" indent="0" marL="0">
              <a:buNone/>
            </a:pPr>
            <a:r>
              <a:rPr lang="en-US" sz="1150" b="1" dirty="0">
                <a:solidFill>
                  <a:srgbClr val="E7EEF7"/>
                </a:solidFill>
                <a:latin typeface="Aptos" pitchFamily="34" charset="0"/>
                <a:ea typeface="Aptos" pitchFamily="34" charset="-122"/>
                <a:cs typeface="Aptos" pitchFamily="34" charset="-120"/>
              </a:rPr>
              <a:t>Can another thread touch it?</a:t>
            </a:r>
            <a:endParaRPr lang="en-US" sz="1150" dirty="0"/>
          </a:p>
        </p:txBody>
      </p:sp>
      <p:sp>
        <p:nvSpPr>
          <p:cNvPr id="16" name="Text 14"/>
          <p:cNvSpPr/>
          <p:nvPr/>
        </p:nvSpPr>
        <p:spPr>
          <a:xfrm>
            <a:off x="868680" y="4160520"/>
            <a:ext cx="2560320" cy="438912"/>
          </a:xfrm>
          <a:prstGeom prst="roundRect">
            <a:avLst/>
          </a:prstGeom>
          <a:solidFill>
            <a:srgbClr val="155E75"/>
          </a:solidFill>
          <a:ln w="12700">
            <a:solidFill>
              <a:srgbClr val="0E7490"/>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C++ improvement goal</a:t>
            </a:r>
            <a:endParaRPr lang="en-US" sz="1400" dirty="0"/>
          </a:p>
        </p:txBody>
      </p:sp>
      <p:sp>
        <p:nvSpPr>
          <p:cNvPr id="17" name="Text 15"/>
          <p:cNvSpPr/>
          <p:nvPr/>
        </p:nvSpPr>
        <p:spPr>
          <a:xfrm>
            <a:off x="868680" y="4800600"/>
            <a:ext cx="4526280" cy="749808"/>
          </a:xfrm>
          <a:prstGeom prst="roundRect">
            <a:avLst/>
          </a:prstGeom>
          <a:solidFill>
            <a:srgbClr val="07111F"/>
          </a:solidFill>
          <a:ln w="12700">
            <a:solidFill>
              <a:srgbClr val="0E7490"/>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Make pointer contracts explicit in names, types, assertions, RAII owners, spans, and documentation.</a:t>
            </a:r>
            <a:endParaRPr lang="en-US" sz="1350" dirty="0"/>
          </a:p>
        </p:txBody>
      </p:sp>
      <p:sp>
        <p:nvSpPr>
          <p:cNvPr id="18" name="Text 16"/>
          <p:cNvSpPr/>
          <p:nvPr/>
        </p:nvSpPr>
        <p:spPr>
          <a:xfrm>
            <a:off x="6446520" y="4160520"/>
            <a:ext cx="2560320" cy="438912"/>
          </a:xfrm>
          <a:prstGeom prst="roundRect">
            <a:avLst/>
          </a:prstGeom>
          <a:solidFill>
            <a:srgbClr val="7C2D12"/>
          </a:solidFill>
          <a:ln w="12700">
            <a:solidFill>
              <a:srgbClr val="B4530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Rust learning goal</a:t>
            </a:r>
            <a:endParaRPr lang="en-US" sz="1400" dirty="0"/>
          </a:p>
        </p:txBody>
      </p:sp>
      <p:sp>
        <p:nvSpPr>
          <p:cNvPr id="19" name="Text 17"/>
          <p:cNvSpPr/>
          <p:nvPr/>
        </p:nvSpPr>
        <p:spPr>
          <a:xfrm>
            <a:off x="6446520" y="4800600"/>
            <a:ext cx="4526280" cy="749808"/>
          </a:xfrm>
          <a:prstGeom prst="roundRect">
            <a:avLst/>
          </a:prstGeom>
          <a:solidFill>
            <a:srgbClr val="07111F"/>
          </a:solidFill>
          <a:ln w="12700">
            <a:solidFill>
              <a:srgbClr val="B45309"/>
            </a:solidFill>
          </a:ln>
        </p:spPr>
        <p:txBody>
          <a:bodyPr wrap="square" lIns="1524" tIns="1524" rIns="1524" bIns="1524" rtlCol="0" anchor="ctr">
            <a:normAutofit/>
          </a:bodyPr>
          <a:lstStyle/>
          <a:p>
            <a:pPr algn="ctr" indent="0" marL="0">
              <a:buNone/>
            </a:pPr>
            <a:r>
              <a:rPr lang="en-US" sz="1350" b="1" dirty="0">
                <a:solidFill>
                  <a:srgbClr val="E7EEF7"/>
                </a:solidFill>
                <a:latin typeface="Aptos" pitchFamily="34" charset="0"/>
                <a:ea typeface="Aptos" pitchFamily="34" charset="-122"/>
                <a:cs typeface="Aptos" pitchFamily="34" charset="-120"/>
              </a:rPr>
              <a:t>Understand what fact the compiler is trying to prove, not just what syntax appeases it.</a:t>
            </a:r>
            <a:endParaRPr lang="en-US" sz="1350" dirty="0"/>
          </a:p>
        </p:txBody>
      </p:sp>
      <p:sp>
        <p:nvSpPr>
          <p:cNvPr id="20" name="Text 18"/>
          <p:cNvSpPr/>
          <p:nvPr/>
        </p:nvSpPr>
        <p:spPr>
          <a:xfrm>
            <a:off x="2057400" y="5897880"/>
            <a:ext cx="8092440" cy="384048"/>
          </a:xfrm>
          <a:prstGeom prst="roundRect">
            <a:avLst/>
          </a:prstGeom>
          <a:solidFill>
            <a:srgbClr val="0B1220"/>
          </a:solidFill>
          <a:ln w="12700">
            <a:solidFill>
              <a:srgbClr val="6D28D9"/>
            </a:solidFill>
          </a:ln>
        </p:spPr>
        <p:txBody>
          <a:bodyPr wrap="square" lIns="1524" tIns="1524" rIns="1524" bIns="1524" rtlCol="0" anchor="ctr">
            <a:normAutofit/>
          </a:bodyPr>
          <a:lstStyle/>
          <a:p>
            <a:pPr algn="ctr" indent="0" marL="0">
              <a:buNone/>
            </a:pPr>
            <a:r>
              <a:rPr lang="en-US" sz="1400" b="1" dirty="0">
                <a:solidFill>
                  <a:srgbClr val="E7EEF7"/>
                </a:solidFill>
                <a:latin typeface="Aptos" pitchFamily="34" charset="0"/>
                <a:ea typeface="Aptos" pitchFamily="34" charset="-122"/>
                <a:cs typeface="Aptos" pitchFamily="34" charset="-120"/>
              </a:rPr>
              <a:t>Pointers are still a power tool. Rust teaches you to label the blade.</a:t>
            </a:r>
            <a:endParaRPr lang="en-US" sz="1400" dirty="0"/>
          </a:p>
        </p:txBody>
      </p:sp>
      <p:sp>
        <p:nvSpPr>
          <p:cNvPr id="22" name="Text 19"/>
          <p:cNvSpPr/>
          <p:nvPr/>
        </p:nvSpPr>
        <p:spPr>
          <a:xfrm>
            <a:off x="502920" y="6565392"/>
            <a:ext cx="3840480" cy="118872"/>
          </a:xfrm>
          <a:prstGeom prst="rect">
            <a:avLst/>
          </a:prstGeom>
          <a:noFill/>
          <a:ln/>
        </p:spPr>
        <p:txBody>
          <a:bodyPr wrap="square" lIns="0" tIns="0" rIns="0" bIns="0" rtlCol="0" anchor="ctr"/>
          <a:lstStyle/>
          <a:p>
            <a:pPr indent="0" marL="0">
              <a:buNone/>
            </a:pPr>
            <a:r>
              <a:rPr lang="en-US" sz="480" dirty="0">
                <a:solidFill>
                  <a:srgbClr val="93A4B8"/>
                </a:solidFill>
              </a:rPr>
              <a:t>Rust for C++ developers - Pointers addendum</a:t>
            </a:r>
            <a:endParaRPr lang="en-US" sz="480" dirty="0"/>
          </a:p>
        </p:txBody>
      </p:sp>
      <p:sp>
        <p:nvSpPr>
          <p:cNvPr id="23" name="Text 20"/>
          <p:cNvSpPr/>
          <p:nvPr/>
        </p:nvSpPr>
        <p:spPr>
          <a:xfrm>
            <a:off x="11475720" y="6528816"/>
            <a:ext cx="228600" cy="137160"/>
          </a:xfrm>
          <a:prstGeom prst="rect">
            <a:avLst/>
          </a:prstGeom>
          <a:noFill/>
          <a:ln/>
        </p:spPr>
        <p:txBody>
          <a:bodyPr wrap="square" lIns="0" tIns="0" rIns="0" bIns="0" rtlCol="0" anchor="ctr"/>
          <a:lstStyle/>
          <a:p>
            <a:pPr indent="0" marL="0">
              <a:buNone/>
            </a:pPr>
            <a:r>
              <a:rPr lang="en-US" sz="550" dirty="0">
                <a:solidFill>
                  <a:srgbClr val="93A4B8"/>
                </a:solidFill>
              </a:rPr>
              <a:t>18</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 The Power Tool and the Time Bomb</dc:title>
  <dc:subject>Rust and C++ pointer semantics for experienced C++ developers</dc:subject>
  <dc:creator>OpenAI</dc:creator>
  <cp:lastModifiedBy>OpenAI</cp:lastModifiedBy>
  <cp:revision>1</cp:revision>
  <dcterms:created xsi:type="dcterms:W3CDTF">2026-09-12T22:53:47Z</dcterms:created>
  <dcterms:modified xsi:type="dcterms:W3CDTF">2026-09-12T22:53:47Z</dcterms:modified>
</cp:coreProperties>
</file>