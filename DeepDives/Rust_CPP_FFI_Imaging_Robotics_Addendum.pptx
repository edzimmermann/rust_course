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Rust Reference, External blocks and ABI: https://doc.rust-lang.org/reference/items/external-blocks.html
- Rustonomicon, Foreign Function Interface: https://doc.rust-lang.org/nomicon/ffi.html
- CXX guide: https://cxx.rs/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Rustonomicon, Foreign Function Interface: https://doc.rust-lang.org/nomicon/ffi.html
- Rust Reference, External blocks and ABI: https://doc.rust-lang.org/reference/items/external-blocks.html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Rust Reference, External blocks and ABI: https://doc.rust-lang.org/reference/items/external-blocks.html
- mozilla/cbindgen project: https://github.com/mozilla/cbindgen
- CXX guide: https://cxx.rs/
- bindgen User Guide: https://rust-lang.github.io/rust-bindgen/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Rust Reference, External blocks and ABI: https://doc.rust-lang.org/reference/items/external-blocks.html
- Rustonomicon, Foreign Function Interface: https://doc.rust-lang.org/nomicon/ffi.html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bindgen User Guide, Generating bindings to C++: https://rust-lang.github.io/rust-bindgen/cpp.html
- CXX guide: https://cxx.rs/
- Rustonomicon, Foreign Function Interface: https://doc.rust-lang.org/nomicon/ffi.html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bindgen User Guide: https://rust-lang.github.io/rust-bindgen/
- mozilla/cbindgen project: https://github.com/mozilla/cbindgen
- CXX guide: https://cxx.rs/
- bindgen User Guide, Generating bindings to C++: https://rust-lang.github.io/rust-bindgen/cpp.html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Rustonomicon, Foreign Function Interface: https://doc.rust-lang.org/nomicon/ffi.html
- Rust Reference, External blocks and ABI: https://doc.rust-lang.org/reference/items/external-blocks.html
- bindgen User Guide: https://rust-lang.github.io/rust-bindgen/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Rust Reference, Type layout and repr(C): https://doc.rust-lang.org/stable/reference/type-layout.html
- Rust std::ffi module: https://doc.rust-lang.org/std/ffi/
- Rustonomicon, Foreign Function Interface: https://doc.rust-lang.org/nomicon/ffi.html
- Rust Reference, unwinding across FFI boundaries: https://doc.rust-lang.org/stable/reference/panic.html#unwinding-across-ffi-boundaries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Rust Reference, External blocks and ABI: https://doc.rust-lang.org/reference/items/external-blocks.html
- Rustonomicon, Foreign Function Interface: https://doc.rust-lang.org/nomicon/ffi.html
- Rust Reference, Type layout and repr(C): https://doc.rust-lang.org/stable/reference/type-layout.html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Rust Reference, External blocks and ABI: https://doc.rust-lang.org/reference/items/external-blocks.html
- mozilla/cbindgen project: https://github.com/mozilla/cbindgen
- Rustonomicon, Foreign Function Interface: https://doc.rust-lang.org/nomicon/ffi.html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Rust Reference, Type layout and repr(C): https://doc.rust-lang.org/stable/reference/type-layout.html
- Rustonomicon, Foreign Function Interface: https://doc.rust-lang.org/nomicon/ffi.html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Rust std::ffi module: https://doc.rust-lang.org/std/ffi/
- Rustonomicon, Foreign Function Interface: https://doc.rust-lang.org/nomicon/ffi.html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Rustonomicon, Foreign Function Interface: https://doc.rust-lang.org/nomicon/ffi.html
- C++ Core Guidelines, interfaces/resource management themes: https://isocpp.github.io/CppCoreGuidelines/CppCoreGuidelines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Rustonomicon, Foreign Function Interface: https://doc.rust-lang.org/nomicon/ffi.html
- Rust Reference, Type layout and repr(C): https://doc.rust-lang.org/stable/reference/type-layout.html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Rust Reference, Type layout and repr(C): https://doc.rust-lang.org/stable/reference/type-layout.html
- Rustonomicon, Foreign Function Interface: https://doc.rust-lang.org/nomicon/ffi.html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Rustonomicon, Foreign Function Interface: https://doc.rust-lang.org/nomicon/ffi.html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Rustonomicon, Foreign Function Interface: https://doc.rust-lang.org/nomicon/ffi.html
- Rust Reference, Type layout and repr(C): https://doc.rust-lang.org/stable/reference/type-layout.html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Rust Reference, Type layout and repr(C): https://doc.rust-lang.org/stable/reference/type-layout.html
- Rustonomicon, Foreign Function Interface: https://doc.rust-lang.org/nomicon/ffi.html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Rust Reference, unwinding across FFI boundaries: https://doc.rust-lang.org/stable/reference/panic.html#unwinding-across-ffi-boundaries
- Rustonomicon, Foreign Function Interface: https://doc.rust-lang.org/nomicon/ffi.html
- Rust Reference, External blocks and ABI: https://doc.rust-lang.org/reference/items/external-blocks.html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Rust Reference, unwinding across FFI boundaries: https://doc.rust-lang.org/stable/reference/panic.html#unwinding-across-ffi-boundaries
- Rustonomicon, Foreign Function Interface: https://doc.rust-lang.org/nomicon/ffi.html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Rustonomicon, Foreign Function Interface: https://doc.rust-lang.org/nomicon/ffi.html
- Rust Reference, unwinding across FFI boundaries: https://doc.rust-lang.org/stable/reference/panic.html#unwinding-across-ffi-boundaries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Rustonomicon, Foreign Function Interface: https://doc.rust-lang.org/nomicon/ffi.html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Rustonomicon, Foreign Function Interface: https://doc.rust-lang.org/nomicon/ffi.html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bindgen User Guide: https://rust-lang.github.io/rust-bindgen/
- CXX guide: https://cxx.rs/
- mozilla/cbindgen project: https://github.com/mozilla/cbindgen
- Rust Reference, External blocks and ABI: https://doc.rust-lang.org/reference/items/external-blocks.html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Rust Reference, unwinding across FFI boundaries: https://doc.rust-lang.org/stable/reference/panic.html#unwinding-across-ffi-boundaries
- Rustonomicon, Foreign Function Interface: https://doc.rust-lang.org/nomicon/ffi.html
- bindgen User Guide, Generating bindings to C++: https://rust-lang.github.io/rust-bindgen/cpp.html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Rustonomicon, Foreign Function Interface: https://doc.rust-lang.org/nomicon/ffi.html
- C++ Core Guidelines, interfaces/resource management themes: https://isocpp.github.io/CppCoreGuidelines/CppCoreGuidelines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bindgen User Guide: https://rust-lang.github.io/rust-bindgen/
- Rust Reference, Type layout and repr(C): https://doc.rust-lang.org/stable/reference/type-layout.html
- Rustonomicon, Foreign Function Interface: https://doc.rust-lang.org/nomicon/ffi.html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Rustonomicon, Foreign Function Interface: https://doc.rust-lang.org/nomicon/ffi.html
- Rust Reference, External blocks and ABI: https://doc.rust-lang.org/reference/items/external-blocks.html
- Rust Reference, Type layout and repr(C): https://doc.rust-lang.org/stable/reference/type-layout.html
- Rust Reference, unwinding across FFI boundaries: https://doc.rust-lang.org/stable/reference/panic.html#unwinding-across-ffi-boundaries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Rust Reference, External blocks and ABI: https://doc.rust-lang.org/reference/items/external-blocks.html
- Rustonomicon, Foreign Function Interface: https://doc.rust-lang.org/nomicon/ffi.html
- Rust Reference, Type layout and repr(C): https://doc.rust-lang.org/stable/reference/type-layout.html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
[Sources]
- Rustonomicon, Foreign Function Interface: https://doc.rust-lang.org/nomicon/ffi.html
- Rust Reference, External blocks and ABI: https://doc.rust-lang.org/reference/items/external-blocks.html
- Rust Reference, Type layout and repr(C): https://doc.rust-lang.org/stable/reference/type-layout.html
- Rust Reference, unwinding across FFI boundaries: https://doc.rust-lang.org/stable/reference/panic.html#unwinding-across-ffi-boundaries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FFI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143000"/>
            <a:ext cx="694944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FFI: Where the Guarantees End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30352" y="30632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BD5E1"/>
                </a:solidFill>
              </a:rPr>
              <a:t>A deep stack for Rust + C/C++ in imaging and robotics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30352" y="626364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Medical imaging • operation robotics • vendor SDKs • C/C++ libraries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49640" y="960120"/>
            <a:ext cx="2743200" cy="393192"/>
          </a:xfrm>
          <a:prstGeom prst="rect">
            <a:avLst/>
          </a:prstGeom>
          <a:solidFill>
            <a:srgbClr val="10B981">
              <a:alpha val="92000"/>
            </a:srgbClr>
          </a:solidFill>
          <a:ln>
            <a:solidFill>
              <a:srgbClr val="10B981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safe Rust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549640" y="1801368"/>
            <a:ext cx="2743200" cy="393192"/>
          </a:xfrm>
          <a:prstGeom prst="rect">
            <a:avLst/>
          </a:prstGeom>
          <a:solidFill>
            <a:srgbClr val="F97316">
              <a:alpha val="92000"/>
            </a:srgbClr>
          </a:solidFill>
          <a:ln>
            <a:solidFill>
              <a:srgbClr val="F97316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unsafe edge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49640" y="2642616"/>
            <a:ext cx="2743200" cy="393192"/>
          </a:xfrm>
          <a:prstGeom prst="rect">
            <a:avLst/>
          </a:prstGeom>
          <a:solidFill>
            <a:srgbClr val="2563EB">
              <a:alpha val="92000"/>
            </a:srgbClr>
          </a:solidFill>
          <a:ln>
            <a:solidFill>
              <a:srgbClr val="2563EB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 ABI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549640" y="3483864"/>
            <a:ext cx="2743200" cy="393192"/>
          </a:xfrm>
          <a:prstGeom prst="rect">
            <a:avLst/>
          </a:prstGeom>
          <a:solidFill>
            <a:srgbClr val="7C3AED">
              <a:alpha val="92000"/>
            </a:srgbClr>
          </a:solidFill>
          <a:ln>
            <a:solidFill>
              <a:srgbClr val="7C3AED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C++ SDK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11480" y="651967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Rust for Experienced C++ Developers</a:t>
            </a:r>
            <a:endParaRPr lang="en-US" sz="720" dirty="0"/>
          </a:p>
        </p:txBody>
      </p:sp>
      <p:sp>
        <p:nvSpPr>
          <p:cNvPr id="12" name="Text 9"/>
          <p:cNvSpPr/>
          <p:nvPr/>
        </p:nvSpPr>
        <p:spPr>
          <a:xfrm>
            <a:off x="11018520" y="6519672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1 / 30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POINT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FFI is not syntax — it is a contract boundary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Rust for Experienced C++ Developers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2 / 30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291840" cy="2926080"/>
          </a:xfrm>
          <a:prstGeom prst="rect">
            <a:avLst/>
          </a:prstGeom>
          <a:solidFill>
            <a:srgbClr val="0F172A"/>
          </a:solidFill>
          <a:ln>
            <a:solidFill>
              <a:srgbClr val="0F172A">
                <a:alpha val="90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Inside Rust</a:t>
            </a:r>
            <a:endParaRPr lang="en-US" sz="1900" dirty="0"/>
          </a:p>
          <a:p>
            <a:pPr algn="ctr" indent="0" marL="0">
              <a:buNone/>
            </a:pP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Ownership, borrowing, lifetimes, Send/Sync, Result, Drop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434840" y="1554480"/>
            <a:ext cx="3291840" cy="2926080"/>
          </a:xfrm>
          <a:prstGeom prst="rect">
            <a:avLst/>
          </a:prstGeom>
          <a:solidFill>
            <a:srgbClr val="7C2D12"/>
          </a:solidFill>
          <a:ln>
            <a:solidFill>
              <a:srgbClr val="7C2D12">
                <a:alpha val="90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the boundary</a:t>
            </a:r>
            <a:endParaRPr lang="en-US" sz="1900" dirty="0"/>
          </a:p>
          <a:p>
            <a:pPr algn="ctr" indent="0" marL="0">
              <a:buNone/>
            </a:pP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pointers, C ABI, allocation rules, thread rules, unwinding rules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0" y="1554480"/>
            <a:ext cx="3291840" cy="2926080"/>
          </a:xfrm>
          <a:prstGeom prst="rect">
            <a:avLst/>
          </a:prstGeom>
          <a:solidFill>
            <a:srgbClr val="172554"/>
          </a:solidFill>
          <a:ln>
            <a:solidFill>
              <a:srgbClr val="172554">
                <a:alpha val="90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Foreign world</a:t>
            </a:r>
            <a:endParaRPr lang="en-US" sz="1900" dirty="0"/>
          </a:p>
          <a:p>
            <a:pPr algn="ctr" indent="0" marL="0">
              <a:buNone/>
            </a:pP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APIs, C++ SDKs, GPU drivers, image libraries, device callbacks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023360" y="3017520"/>
            <a:ext cx="32004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818120" y="3017520"/>
            <a:ext cx="32004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097280" y="52120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question: what facts must cross this boundary, and who proves them?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BIRD’S-EYE 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directions of interop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Rust for Experienced C++ Developers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3 / 30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3291840" cy="3977640"/>
          </a:xfrm>
          <a:prstGeom prst="rect">
            <a:avLst/>
          </a:prstGeom>
          <a:solidFill>
            <a:srgbClr val="1F2937"/>
          </a:solidFill>
          <a:ln>
            <a:solidFill>
              <a:srgbClr val="334155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calls C
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legacy kernels
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vendor C API
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OS/device APIs
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small stable surface
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34840" y="1417320"/>
            <a:ext cx="3291840" cy="3977640"/>
          </a:xfrm>
          <a:prstGeom prst="rect">
            <a:avLst/>
          </a:prstGeom>
          <a:solidFill>
            <a:srgbClr val="1F2937"/>
          </a:solidFill>
          <a:ln>
            <a:solidFill>
              <a:srgbClr val="334155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calls C++
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 wrapper
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CXX bridge
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opaque handles
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manual destructor path
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75320" y="1417320"/>
            <a:ext cx="3291840" cy="3977640"/>
          </a:xfrm>
          <a:prstGeom prst="rect">
            <a:avLst/>
          </a:prstGeom>
          <a:solidFill>
            <a:srgbClr val="1F2937"/>
          </a:solidFill>
          <a:ln>
            <a:solidFill>
              <a:srgbClr val="334155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C/C++ calls Rust
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plugin
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algorithm module
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robotic safety logic
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cdylib + header
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58064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The direction matters: it decides ownership, build system, error model, and who controls the event loop.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ABI REALITY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 ABI is the narrow bridge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Rust for Experienced C++ Developers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4 / 30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3291840" cy="37490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C ABI gives you
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calling convention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symbol names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plain data layout discipline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linker interoperability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34840" y="1325880"/>
            <a:ext cx="3291840" cy="37490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</a:rPr>
              <a:t>It does not give you
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ownership semantics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borrow lifetimes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exception behavior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thread-safety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allocator agreement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38160" y="1325880"/>
            <a:ext cx="3291840" cy="37490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</a:rPr>
              <a:t>Therefore
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FFI design is mostly about rebuilding these missing contracts explicitly.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5440680"/>
            <a:ext cx="9509760" cy="749808"/>
          </a:xfrm>
          <a:prstGeom prst="rect">
            <a:avLst/>
          </a:prstGeom>
          <a:solidFill>
            <a:srgbClr val="0B1220"/>
          </a:solidFill>
          <a:ln>
            <a:solidFill>
              <a:srgbClr val="334155">
                <a:alpha val="80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unsafe extern "C"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fn vendor_filter(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input: *const u16,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len: usize,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output: *mut u16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) -&gt; i32;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BOUNDARY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not pretend C++ is just “C with classes”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Rust for Experienced C++ Developers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5 / 30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3520440" cy="4206240"/>
          </a:xfrm>
          <a:prstGeom prst="rect">
            <a:avLst/>
          </a:prstGeom>
          <a:solidFill>
            <a:srgbClr val="1F2937"/>
          </a:solidFill>
          <a:ln>
            <a:solidFill>
              <a:srgbClr val="334155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gives us
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constructors/destructors
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templates and overloads
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exceptions
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RAII and smart pointers
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library-specific invariants
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370832" y="1280160"/>
            <a:ext cx="3520440" cy="4206240"/>
          </a:xfrm>
          <a:prstGeom prst="rect">
            <a:avLst/>
          </a:prstGeom>
          <a:solidFill>
            <a:srgbClr val="1F2937"/>
          </a:solidFill>
          <a:ln>
            <a:solidFill>
              <a:srgbClr val="334155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FFI usually wants
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stable symbols
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simple signatures
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opaque ownership
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explicit error returns
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no exceptions crossing
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92440" y="1280160"/>
            <a:ext cx="3520440" cy="4206240"/>
          </a:xfrm>
          <a:prstGeom prst="rect">
            <a:avLst/>
          </a:prstGeom>
          <a:solidFill>
            <a:srgbClr val="1F2937"/>
          </a:solidFill>
          <a:ln>
            <a:solidFill>
              <a:srgbClr val="334155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Bridge strategy
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wrap C++ in a C façade
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or use CXX for selected safe types
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keep STL/templates behind boundary
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expose domain operations, not internals
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STACK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Which tool belongs where?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Rust for Experienced C++ Developers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6 / 30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594360" y="1325880"/>
            <a:ext cx="1828800" cy="347472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Tool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423160" y="1325880"/>
            <a:ext cx="4114800" cy="347472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What it creates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37960" y="1325880"/>
            <a:ext cx="4846320" cy="347472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Use when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764792"/>
            <a:ext cx="1828800" cy="566928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97316"/>
                </a:solidFill>
              </a:rPr>
              <a:t>bindgen</a:t>
            </a:r>
            <a:endParaRPr lang="en-US" sz="1240" dirty="0"/>
          </a:p>
        </p:txBody>
      </p:sp>
      <p:sp>
        <p:nvSpPr>
          <p:cNvPr id="10" name="Text 8"/>
          <p:cNvSpPr/>
          <p:nvPr/>
        </p:nvSpPr>
        <p:spPr>
          <a:xfrm>
            <a:off x="2423160" y="1764792"/>
            <a:ext cx="4114800" cy="566928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F172A"/>
                </a:solidFill>
              </a:rPr>
              <a:t>C/C++ headers → Rust declarations</a:t>
            </a:r>
            <a:endParaRPr lang="en-US" sz="1240" dirty="0"/>
          </a:p>
        </p:txBody>
      </p:sp>
      <p:sp>
        <p:nvSpPr>
          <p:cNvPr id="11" name="Text 9"/>
          <p:cNvSpPr/>
          <p:nvPr/>
        </p:nvSpPr>
        <p:spPr>
          <a:xfrm>
            <a:off x="6537960" y="1764792"/>
            <a:ext cx="4846320" cy="566928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F172A"/>
                </a:solidFill>
              </a:rPr>
              <a:t>Rust calls existing native library</a:t>
            </a:r>
            <a:endParaRPr lang="en-US" sz="1240" dirty="0"/>
          </a:p>
        </p:txBody>
      </p:sp>
      <p:sp>
        <p:nvSpPr>
          <p:cNvPr id="12" name="Text 10"/>
          <p:cNvSpPr/>
          <p:nvPr/>
        </p:nvSpPr>
        <p:spPr>
          <a:xfrm>
            <a:off x="594360" y="2478024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97316"/>
                </a:solidFill>
              </a:rPr>
              <a:t>cbindgen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2423160" y="2478024"/>
            <a:ext cx="4114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F172A"/>
                </a:solidFill>
              </a:rPr>
              <a:t>Rust public API → C/C++ header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6537960" y="2478024"/>
            <a:ext cx="48463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F172A"/>
                </a:solidFill>
              </a:rPr>
              <a:t>C/C++ host calls Rust module</a:t>
            </a:r>
            <a:endParaRPr lang="en-US" sz="1240" dirty="0"/>
          </a:p>
        </p:txBody>
      </p:sp>
      <p:sp>
        <p:nvSpPr>
          <p:cNvPr id="15" name="Text 13"/>
          <p:cNvSpPr/>
          <p:nvPr/>
        </p:nvSpPr>
        <p:spPr>
          <a:xfrm>
            <a:off x="594360" y="3191256"/>
            <a:ext cx="1828800" cy="566928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97316"/>
                </a:solidFill>
              </a:rPr>
              <a:t>CXX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2423160" y="3191256"/>
            <a:ext cx="4114800" cy="566928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F172A"/>
                </a:solidFill>
              </a:rPr>
              <a:t>shared Rust/C++ bridge module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6537960" y="3191256"/>
            <a:ext cx="4846320" cy="566928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F172A"/>
                </a:solidFill>
              </a:rPr>
              <a:t>selected C++ interop without raw C-style signatures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594360" y="3904488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97316"/>
                </a:solidFill>
              </a:rPr>
              <a:t>manual C wrapper</a:t>
            </a:r>
            <a:endParaRPr lang="en-US" sz="1240" dirty="0"/>
          </a:p>
        </p:txBody>
      </p:sp>
      <p:sp>
        <p:nvSpPr>
          <p:cNvPr id="19" name="Text 17"/>
          <p:cNvSpPr/>
          <p:nvPr/>
        </p:nvSpPr>
        <p:spPr>
          <a:xfrm>
            <a:off x="2423160" y="3904488"/>
            <a:ext cx="4114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F172A"/>
                </a:solidFill>
              </a:rPr>
              <a:t>you design a tiny ABI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6537960" y="3904488"/>
            <a:ext cx="48463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F172A"/>
                </a:solidFill>
              </a:rPr>
              <a:t>vendor SDKs, overloaded C++, exceptions, complex ownership</a:t>
            </a:r>
            <a:endParaRPr lang="en-US" sz="1240" dirty="0"/>
          </a:p>
        </p:txBody>
      </p:sp>
      <p:sp>
        <p:nvSpPr>
          <p:cNvPr id="21" name="Text 19"/>
          <p:cNvSpPr/>
          <p:nvPr/>
        </p:nvSpPr>
        <p:spPr>
          <a:xfrm>
            <a:off x="1005840" y="5349240"/>
            <a:ext cx="10149840" cy="594360"/>
          </a:xfrm>
          <a:prstGeom prst="rect">
            <a:avLst/>
          </a:prstGeom>
          <a:solidFill>
            <a:srgbClr val="0F172A"/>
          </a:solidFill>
          <a:ln>
            <a:solidFill>
              <a:srgbClr val="0F172A">
                <a:alpha val="90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of thumb: generate declarations when the ABI is already good; design a façade when the ABI expresses the wrong ideas.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safe wrapper is the real product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Rust for Experienced C++ Developers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7 / 30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051560" y="1234440"/>
            <a:ext cx="10058400" cy="804672"/>
          </a:xfrm>
          <a:prstGeom prst="rect">
            <a:avLst/>
          </a:prstGeom>
          <a:solidFill>
            <a:srgbClr val="10B981"/>
          </a:solidFill>
          <a:ln>
            <a:solidFill>
              <a:srgbClr val="10B981">
                <a:alpha val="90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API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ImageVolume, RegistrationResult, RobotPose, Result&lt;T,E&gt;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2286000"/>
            <a:ext cx="10058400" cy="804672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90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wrapper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validates dimensions, owns handles, maps errors, enforces lifetime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3337560"/>
            <a:ext cx="10058400" cy="804672"/>
          </a:xfrm>
          <a:prstGeom prst="rect">
            <a:avLst/>
          </a:prstGeom>
          <a:solidFill>
            <a:srgbClr val="F97316"/>
          </a:solidFill>
          <a:ln>
            <a:solidFill>
              <a:srgbClr val="F97316">
                <a:alpha val="90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 layer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bindgen/manual extern "C" declarations and raw pointers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4389120"/>
            <a:ext cx="10058400" cy="804672"/>
          </a:xfrm>
          <a:prstGeom prst="rect">
            <a:avLst/>
          </a:prstGeom>
          <a:solidFill>
            <a:srgbClr val="7C3AED"/>
          </a:solidFill>
          <a:ln>
            <a:solidFill>
              <a:srgbClr val="7C3AED">
                <a:alpha val="90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 library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API, C++ SDK, CUDA/OpenCL, DICOM/OpenCV/ITK-style stack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566928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Only the sys layer should feel like C. The rest should feel like Rust.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BOUNDARY VOCABULARY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boundary types that say what they mean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Rust for Experienced C++ Developers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8 / 30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3566160" cy="4434840"/>
          </a:xfrm>
          <a:prstGeom prst="rect">
            <a:avLst/>
          </a:prstGeom>
          <a:solidFill>
            <a:srgbClr val="1F2937"/>
          </a:solidFill>
          <a:ln>
            <a:solidFill>
              <a:srgbClr val="334155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 at ABI edge
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integers with fixed width
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raw pointers + length
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#[repr(C)] structs
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opaque handles
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explicit enum status codes
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343400" y="1234440"/>
            <a:ext cx="3566160" cy="4434840"/>
          </a:xfrm>
          <a:prstGeom prst="rect">
            <a:avLst/>
          </a:prstGeom>
          <a:solidFill>
            <a:srgbClr val="1F2937"/>
          </a:solidFill>
          <a:ln>
            <a:solidFill>
              <a:srgbClr val="334155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at ABI edge
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Rust Vec/String/Result directly
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C++ std::vector/std::string directly
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references with hidden lifetimes
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trait objects / virtual classes
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exceptions / panics crossing
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0" y="1234440"/>
            <a:ext cx="3566160" cy="4434840"/>
          </a:xfrm>
          <a:prstGeom prst="rect">
            <a:avLst/>
          </a:prstGeom>
          <a:solidFill>
            <a:srgbClr val="1F2937"/>
          </a:solidFill>
          <a:ln>
            <a:solidFill>
              <a:srgbClr val="334155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Wrap immediately
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raw pointer → NonNull or slice
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status code → Result
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opaque handle → Drop type
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 string → CStr / CString
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callback → explicit lifetime policy
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CALLING 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Rust calls a native C imaging function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Rust for Experienced C++ Developers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9 / 30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5349240" cy="4389120"/>
          </a:xfrm>
          <a:prstGeom prst="rect">
            <a:avLst/>
          </a:prstGeom>
          <a:solidFill>
            <a:srgbClr val="0B1220"/>
          </a:solidFill>
          <a:ln>
            <a:solidFill>
              <a:srgbClr val="334155">
                <a:alpha val="80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#[repr(C)]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pub struct CImageU16 {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pub data: *const u16,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pub width: usize,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pub height: usize,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pub stride_elems: usize,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060" dirty="0"/>
          </a:p>
          <a:p>
            <a:pPr indent="0" marL="0">
              <a:buNone/>
            </a:pP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unsafe extern "C" {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fn denoise_u16(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src: *const CImageU16,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dst: *mut CImageU16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) -&gt; i32;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060" dirty="0"/>
          </a:p>
        </p:txBody>
      </p:sp>
      <p:sp>
        <p:nvSpPr>
          <p:cNvPr id="7" name="Text 5"/>
          <p:cNvSpPr/>
          <p:nvPr/>
        </p:nvSpPr>
        <p:spPr>
          <a:xfrm>
            <a:off x="6400800" y="1417320"/>
            <a:ext cx="5074920" cy="4160520"/>
          </a:xfrm>
          <a:prstGeom prst="rect">
            <a:avLst/>
          </a:prstGeom>
          <a:solidFill>
            <a:srgbClr val="1F2937"/>
          </a:solidFill>
          <a:ln>
            <a:solidFill>
              <a:srgbClr val="334155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Rust cannot check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the signature matches the header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the pointer is non-null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the pointed-to memory is alive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dst is writable and not aliased badly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the stride is truthful
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EXPORTING RUST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C/C++ calls Rust: cdylib + generated header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Rust for Experienced C++ Developers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10 / 30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5669280" cy="4480560"/>
          </a:xfrm>
          <a:prstGeom prst="rect">
            <a:avLst/>
          </a:prstGeom>
          <a:solidFill>
            <a:srgbClr val="0B1220"/>
          </a:solidFill>
          <a:ln>
            <a:solidFill>
              <a:srgbClr val="334155">
                <a:alpha val="80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#[repr(C)]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pub struct ImageStats {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pub min: u16,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pub max: u16,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pub mean: f32,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#[unsafe(no_mangle)]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pub extern "C" fn rust_image_stats(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data: *const u16,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len: usize,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out: *mut ImageStats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) -&gt; i32 {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// validate pointers, catch panic, fill out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0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6720840" y="1508760"/>
            <a:ext cx="4526280" cy="3931920"/>
          </a:xfrm>
          <a:prstGeom prst="rect">
            <a:avLst/>
          </a:prstGeom>
          <a:solidFill>
            <a:srgbClr val="1F2937"/>
          </a:solidFill>
          <a:ln>
            <a:solidFill>
              <a:srgbClr val="334155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side wants
</a:t>
            </a:r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a header
</a:t>
            </a:r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 library file
</a:t>
            </a:r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stable symbols
</a:t>
            </a:r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documented allocation rules
</a:t>
            </a:r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versioned ABI
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58978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Use cbindgen or a hand-maintained header. Treat the header as a contract, not a byproduct.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repr(C) says “layout like C” — not “everything is safe”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Rust for Experienced C++ Developers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11 / 30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5074920" cy="4251960"/>
          </a:xfrm>
          <a:prstGeom prst="rect">
            <a:avLst/>
          </a:prstGeom>
          <a:solidFill>
            <a:srgbClr val="0B1220"/>
          </a:solidFill>
          <a:ln>
            <a:solidFill>
              <a:srgbClr val="334155">
                <a:alpha val="80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#[repr(C)]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pub struct ImageHeader {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pub width: u32,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pub height: u32,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pub spacing_mm: [f32; 3],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pub pixel_type: PixelType,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060" dirty="0"/>
          </a:p>
          <a:p>
            <a:pPr indent="0" marL="0">
              <a:buNone/>
            </a:pP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#[repr(C)]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pub enum PixelType {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U8 = 1,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U16 = 2,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F32 = 3,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060" dirty="0"/>
          </a:p>
        </p:txBody>
      </p:sp>
      <p:sp>
        <p:nvSpPr>
          <p:cNvPr id="7" name="Text 5"/>
          <p:cNvSpPr/>
          <p:nvPr/>
        </p:nvSpPr>
        <p:spPr>
          <a:xfrm>
            <a:off x="6263640" y="1325880"/>
            <a:ext cx="5257800" cy="4251960"/>
          </a:xfrm>
          <a:prstGeom prst="rect">
            <a:avLst/>
          </a:prstGeom>
          <a:solidFill>
            <a:srgbClr val="1F2937"/>
          </a:solidFill>
          <a:ln>
            <a:solidFill>
              <a:srgbClr val="334155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Still verify
</a:t>
            </a:r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field order
</a:t>
            </a:r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field sizes
</a:t>
            </a:r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alignment
</a:t>
            </a:r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enum representation
</a:t>
            </a:r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padding and versioning
</a:t>
            </a:r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platform-specific typedefs
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58064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For vendor APIs: add layout tests or static assertions on both sides.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Rust strings and C strings solve different problems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Rust for Experienced C++ Developers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12 / 30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338328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Rust
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String / &amp;str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length stored explicitly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UTF-8 invariant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may contain NUL bytes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not NUL terminated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34840" y="1234440"/>
            <a:ext cx="338328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</a:rPr>
              <a:t>C
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char* / wchar_t*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terminated by NUL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encoding may be unspecified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may be borrowed or owned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allocator matters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38160" y="1234440"/>
            <a:ext cx="338328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Boundary
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CString for Rust→C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CStr for C→Rust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validate UTF-8 when needed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do not put CStr directly in extern signatures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828800" y="5577840"/>
            <a:ext cx="8595360" cy="502920"/>
          </a:xfrm>
          <a:prstGeom prst="rect">
            <a:avLst/>
          </a:prstGeom>
          <a:solidFill>
            <a:srgbClr val="0B1220"/>
          </a:solidFill>
          <a:ln>
            <a:solidFill>
              <a:srgbClr val="334155">
                <a:alpha val="80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let name = CString::new("Series42")?;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unsafe { sdk_open_series(name.as_ptr()) };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FFI function must answer: who frees this?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Rust for Experienced C++ Developers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13 / 30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1920240" cy="347472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889" tIns="889" rIns="889" bIns="889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423160" y="1234440"/>
            <a:ext cx="2423160" cy="347472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889" tIns="889" rIns="889" bIns="889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Owner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1234440"/>
            <a:ext cx="2743200" cy="347472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889" tIns="889" rIns="889" bIns="889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FFI shape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589520" y="1234440"/>
            <a:ext cx="3840480" cy="347472"/>
          </a:xfrm>
          <a:prstGeom prst="rect">
            <a:avLst/>
          </a:prstGeom>
          <a:solidFill>
            <a:srgbClr val="1F2937"/>
          </a:solidFill>
          <a:ln/>
        </p:spPr>
        <p:txBody>
          <a:bodyPr wrap="square" lIns="889" tIns="889" rIns="889" bIns="889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Risk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673352"/>
            <a:ext cx="1920240" cy="59436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97316"/>
                </a:solidFill>
              </a:rPr>
              <a:t>Input buffer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2423160" y="1673352"/>
            <a:ext cx="2423160" cy="59436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caller owns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4846320" y="1673352"/>
            <a:ext cx="2743200" cy="59436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borrow for duration of call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7589520" y="1673352"/>
            <a:ext cx="3840480" cy="59436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do not retain pointer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502920" y="2450592"/>
            <a:ext cx="19202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97316"/>
                </a:solidFill>
              </a:rPr>
              <a:t>Output buffer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2423160" y="2450592"/>
            <a:ext cx="242316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caller allocates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4846320" y="2450592"/>
            <a:ext cx="27432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callee writes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7589520" y="2450592"/>
            <a:ext cx="38404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capacity must be checked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502920" y="3227832"/>
            <a:ext cx="1920240" cy="59436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97316"/>
                </a:solidFill>
              </a:rPr>
              <a:t>Returned handle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2423160" y="3227832"/>
            <a:ext cx="2423160" cy="59436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callee allocates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4846320" y="3227832"/>
            <a:ext cx="2743200" cy="59436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caller must destroy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7589520" y="3227832"/>
            <a:ext cx="3840480" cy="59436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provide destroy()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502920" y="4005072"/>
            <a:ext cx="19202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97316"/>
                </a:solidFill>
              </a:rPr>
              <a:t>Borrowed view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2423160" y="4005072"/>
            <a:ext cx="242316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owner elsewhere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4846320" y="4005072"/>
            <a:ext cx="27432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lifetime external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7589520" y="4005072"/>
            <a:ext cx="38404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no Rust reference stored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914400" y="5394960"/>
            <a:ext cx="10332720" cy="640080"/>
          </a:xfrm>
          <a:prstGeom prst="rect">
            <a:avLst/>
          </a:prstGeom>
          <a:solidFill>
            <a:srgbClr val="7F1D1D"/>
          </a:solidFill>
          <a:ln>
            <a:solidFill>
              <a:srgbClr val="7F1D1D">
                <a:alpha val="90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Never allocate in one runtime and free in another unless the API explicitly says so.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OPAQUE HANDLES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Keep C++ objects behind a stable handle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Rust for Experienced C++ Developers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14 / 30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5212080" cy="2834640"/>
          </a:xfrm>
          <a:prstGeom prst="rect">
            <a:avLst/>
          </a:prstGeom>
          <a:solidFill>
            <a:srgbClr val="0B1220"/>
          </a:solidFill>
          <a:ln>
            <a:solidFill>
              <a:srgbClr val="334155">
                <a:alpha val="80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// C-compatible header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typedef struct ScannerHandle ScannerHandle;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ScannerHandle* scanner_create(const Config*);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void scanner_destroy(ScannerHandle*);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int scanner_next_frame(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ScannerHandle*, ImageFrame* out);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63640" y="1325880"/>
            <a:ext cx="5212080" cy="2834640"/>
          </a:xfrm>
          <a:prstGeom prst="rect">
            <a:avLst/>
          </a:prstGeom>
          <a:solidFill>
            <a:srgbClr val="0B1220"/>
          </a:solidFill>
          <a:ln>
            <a:solidFill>
              <a:srgbClr val="334155">
                <a:alpha val="80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pub struct Scanner {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raw: NonNull&lt;ScannerHandle&gt;,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170" dirty="0"/>
          </a:p>
          <a:p>
            <a:pPr indent="0" marL="0">
              <a:buNone/>
            </a:pP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impl Drop for Scanner {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fn drop(&amp;mut self) {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unsafe { scanner_destroy(self.raw.as_ptr()) }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}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170" dirty="0"/>
          </a:p>
        </p:txBody>
      </p:sp>
      <p:sp>
        <p:nvSpPr>
          <p:cNvPr id="8" name="Text 6"/>
          <p:cNvSpPr/>
          <p:nvPr/>
        </p:nvSpPr>
        <p:spPr>
          <a:xfrm>
            <a:off x="1828800" y="4709160"/>
            <a:ext cx="8412480" cy="1097280"/>
          </a:xfrm>
          <a:prstGeom prst="rect">
            <a:avLst/>
          </a:prstGeom>
          <a:solidFill>
            <a:srgbClr val="1F2937"/>
          </a:solidFill>
          <a:ln>
            <a:solidFill>
              <a:srgbClr val="334155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works
</a:t>
            </a:r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C++ object identity stays in C++
</a:t>
            </a:r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Rust owns only the handle
</a:t>
            </a:r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Drop closes the lifetime hole
</a:t>
            </a:r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safe methods validate call contracts
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IMAGING DOMAIN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 image buffer is not just a pointer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Rust for Experienced C++ Developers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15 / 30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777240" y="1371600"/>
            <a:ext cx="2103120" cy="566928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90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pointer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154680" y="1371600"/>
            <a:ext cx="2286000" cy="566928"/>
          </a:xfrm>
          <a:prstGeom prst="rect">
            <a:avLst/>
          </a:prstGeom>
          <a:solidFill>
            <a:srgbClr val="7C3AED"/>
          </a:solidFill>
          <a:ln>
            <a:solidFill>
              <a:srgbClr val="7C3AED">
                <a:alpha val="90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width / height / depth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15000" y="1371600"/>
            <a:ext cx="1965960" cy="566928"/>
          </a:xfrm>
          <a:prstGeom prst="rect">
            <a:avLst/>
          </a:prstGeom>
          <a:solidFill>
            <a:srgbClr val="F97316"/>
          </a:solidFill>
          <a:ln>
            <a:solidFill>
              <a:srgbClr val="F97316">
                <a:alpha val="90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stride / pitch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955280" y="1371600"/>
            <a:ext cx="1920240" cy="566928"/>
          </a:xfrm>
          <a:prstGeom prst="rect">
            <a:avLst/>
          </a:prstGeom>
          <a:solidFill>
            <a:srgbClr val="10B981"/>
          </a:solidFill>
          <a:ln>
            <a:solidFill>
              <a:srgbClr val="10B981">
                <a:alpha val="90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pixel format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149840" y="1371600"/>
            <a:ext cx="1280160" cy="566928"/>
          </a:xfrm>
          <a:prstGeom prst="rect">
            <a:avLst/>
          </a:prstGeom>
          <a:solidFill>
            <a:srgbClr val="EF4444"/>
          </a:solidFill>
          <a:ln>
            <a:solidFill>
              <a:srgbClr val="EF4444">
                <a:alpha val="90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2514600"/>
            <a:ext cx="5074920" cy="2834640"/>
          </a:xfrm>
          <a:prstGeom prst="rect">
            <a:avLst/>
          </a:prstGeom>
          <a:solidFill>
            <a:srgbClr val="0B1220"/>
          </a:solidFill>
          <a:ln>
            <a:solidFill>
              <a:srgbClr val="334155">
                <a:alpha val="80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#[repr(C)]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pub struct ImageViewU16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pub data: *const u16,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pub width: usize,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pub height: usize,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pub stride_elems: usize,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pub spacing_mm: [f32; 3],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pub orientation: [f32; 9],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2514600"/>
            <a:ext cx="4754880" cy="2834640"/>
          </a:xfrm>
          <a:prstGeom prst="rect">
            <a:avLst/>
          </a:prstGeom>
          <a:solidFill>
            <a:srgbClr val="1F2937"/>
          </a:solidFill>
          <a:ln>
            <a:solidFill>
              <a:srgbClr val="334155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Medical images add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voxel spacing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orientation / coordinate frame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slice ordering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patient/study metadata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calibration and units
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STRIDES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width × height is often the beginner bug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Rust for Experienced C++ Developers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16 / 30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5166360" cy="3291840"/>
          </a:xfrm>
          <a:prstGeom prst="rect">
            <a:avLst/>
          </a:prstGeom>
          <a:solidFill>
            <a:srgbClr val="0B1220"/>
          </a:solidFill>
          <a:ln>
            <a:solidFill>
              <a:srgbClr val="334155">
                <a:alpha val="80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for y in 0..height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let row = data.add(y * stride_elems);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for x in 0..width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let px = *row.add(x);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// process pixel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9360" y="1371600"/>
            <a:ext cx="5074920" cy="3291840"/>
          </a:xfrm>
          <a:prstGeom prst="rect">
            <a:avLst/>
          </a:prstGeom>
          <a:solidFill>
            <a:srgbClr val="1F2937"/>
          </a:solidFill>
          <a:ln>
            <a:solidFill>
              <a:srgbClr val="334155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stride exists
</a:t>
            </a:r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padding for alignment
</a:t>
            </a:r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ROI views into a larger image
</a:t>
            </a:r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GPU pitch / device memory
</a:t>
            </a:r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multi-planar formats
</a:t>
            </a:r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vendor buffer pools
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5257800"/>
            <a:ext cx="10241280" cy="685800"/>
          </a:xfrm>
          <a:prstGeom prst="rect">
            <a:avLst/>
          </a:prstGeom>
          <a:solidFill>
            <a:srgbClr val="7F1D1D"/>
          </a:solidFill>
          <a:ln>
            <a:solidFill>
              <a:srgbClr val="7F1D1D">
                <a:alpha val="90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contract: every address computed from (data, y, stride, x) must stay inside the allocated object.</a:t>
            </a:r>
            <a:endParaRPr lang="en-US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 COPY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Turn raw image memory into a Rust view only after proving the contract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Rust for Experienced C++ Developers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17 / 30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6035040" cy="4526280"/>
          </a:xfrm>
          <a:prstGeom prst="rect">
            <a:avLst/>
          </a:prstGeom>
          <a:solidFill>
            <a:srgbClr val="0B1220"/>
          </a:solidFill>
          <a:ln>
            <a:solidFill>
              <a:srgbClr val="334155">
                <a:alpha val="80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pub unsafe fn view_u16&lt;'a&gt;(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data: *const u16,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width: usize,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height: usize,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stride: usize,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) -&gt; ImageView&lt;'a, u16&gt; {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assert!(!data.is_null());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assert!(width &lt;= stride);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// still requires external proof of allocation size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ImageView { data, width, height, stride, _life: PhantomData }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060" dirty="0"/>
          </a:p>
        </p:txBody>
      </p:sp>
      <p:sp>
        <p:nvSpPr>
          <p:cNvPr id="7" name="Text 5"/>
          <p:cNvSpPr/>
          <p:nvPr/>
        </p:nvSpPr>
        <p:spPr>
          <a:xfrm>
            <a:off x="7040880" y="1417320"/>
            <a:ext cx="4434840" cy="4160520"/>
          </a:xfrm>
          <a:prstGeom prst="rect">
            <a:avLst/>
          </a:prstGeom>
          <a:solidFill>
            <a:srgbClr val="1F2937"/>
          </a:solidFill>
          <a:ln>
            <a:solidFill>
              <a:srgbClr val="334155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means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does not own pixels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cannot outlive foreign buffer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must respect aliasing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must not assume contiguity unless stated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must encode mutability separately
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PIXEL INVARIANTS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Pixel type is part of the contract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Rust for Experienced C++ Developers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18 / 30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3383280" cy="4297680"/>
          </a:xfrm>
          <a:prstGeom prst="rect">
            <a:avLst/>
          </a:prstGeom>
          <a:solidFill>
            <a:srgbClr val="1F2937"/>
          </a:solidFill>
          <a:ln>
            <a:solidFill>
              <a:srgbClr val="334155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Bad boundary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void* pixels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int pixel_type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magic channel count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implicit endian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implicit scaling
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434840" y="1325880"/>
            <a:ext cx="3383280" cy="4297680"/>
          </a:xfrm>
          <a:prstGeom prst="rect">
            <a:avLst/>
          </a:prstGeom>
          <a:solidFill>
            <a:srgbClr val="1F2937"/>
          </a:solidFill>
          <a:ln>
            <a:solidFill>
              <a:srgbClr val="334155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boundary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tagged PixelFormat enum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explicit bit depth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channel order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endianness if relevant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unit/scaling metadata
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83880" y="1325880"/>
            <a:ext cx="3246120" cy="4297680"/>
          </a:xfrm>
          <a:prstGeom prst="rect">
            <a:avLst/>
          </a:prstGeom>
          <a:solidFill>
            <a:srgbClr val="0B1220"/>
          </a:solidFill>
          <a:ln>
            <a:solidFill>
              <a:srgbClr val="334155">
                <a:alpha val="80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#[repr(C)]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pub enum PixelFormat {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MonoU8 = 1,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MonoU16LE = 2,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RgbU8 = 3,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Float32 = 4,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160" dirty="0"/>
          </a:p>
          <a:p>
            <a:pPr indent="0" marL="0">
              <a:buNone/>
            </a:pP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match format { ... }</a:t>
            </a:r>
            <a:endParaRPr lang="en-US" sz="116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BOUNDARY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 native failure into Rust Result early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Rust for Experienced C++ Developers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19 / 30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5349240" cy="4389120"/>
          </a:xfrm>
          <a:prstGeom prst="rect">
            <a:avLst/>
          </a:prstGeom>
          <a:solidFill>
            <a:srgbClr val="0B1220"/>
          </a:solidFill>
          <a:ln>
            <a:solidFill>
              <a:srgbClr val="334155">
                <a:alpha val="80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#[repr(C)]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pub enum Status {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Ok = 0,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InvalidArgument = 1,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OutOfMemory = 2,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DeviceLost = 3,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fn status_to_result(s: Status) -&gt; Result&lt;(), FfiError&gt; {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match s {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Status::Ok =&gt; Ok(()),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_ =&gt; Err(FfiError::from(s)),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}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6400800" y="1371600"/>
            <a:ext cx="5074920" cy="4160520"/>
          </a:xfrm>
          <a:prstGeom prst="rect">
            <a:avLst/>
          </a:prstGeom>
          <a:solidFill>
            <a:srgbClr val="1F2937"/>
          </a:solidFill>
          <a:ln>
            <a:solidFill>
              <a:srgbClr val="334155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the ABI edge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no Rust Result&lt;T,E&gt; in C signatures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no C++ exceptions crossing by accident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out parameters for values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thread-local last-error only if documented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include diagnostic strings carefully
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UNWINDING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Panics and C++ exceptions are not ordinary return values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Rust for Experienced C++ Developers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20 / 30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338328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</a:rPr>
              <a:t>Default rule
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Do not let Rust panic or C++ exception cross the boundary. Convert to status/error first.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34840" y="1325880"/>
            <a:ext cx="338328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</a:rPr>
              <a:t>When using C-unwind
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Only deliberately, when both sides and build flags support it. Document it as part of the ABI.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38160" y="1325880"/>
            <a:ext cx="338328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l" rotWithShape="0" blurRad="12700" dist="12700" dir="2700000">
              <a:srgbClr val="000000">
                <a:alpha val="10000"/>
              </a:srgbClr>
            </a:outerShdw>
          </a:effectLst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Robotics lesson
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A surprise unwind in a control or acquisition callback is a system-level fault, not just a language feature.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5577840"/>
            <a:ext cx="10058400" cy="658368"/>
          </a:xfrm>
          <a:prstGeom prst="rect">
            <a:avLst/>
          </a:prstGeom>
          <a:solidFill>
            <a:srgbClr val="0B1220"/>
          </a:solidFill>
          <a:ln>
            <a:solidFill>
              <a:srgbClr val="334155">
                <a:alpha val="80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pub extern "C" fn entry(...) -&gt; i32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match std::panic::catch_unwind(|| run(...))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Ok(Ok(())) =&gt; 0,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Ok(Err(e)) =&gt; e.code(),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Err(_) =&gt; STATUS_PANIC,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CALLBACKS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Callbacks are borrowed execution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Rust for Experienced C++ Developers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21 / 30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685800" y="1280160"/>
            <a:ext cx="5166360" cy="2331720"/>
          </a:xfrm>
          <a:prstGeom prst="rect">
            <a:avLst/>
          </a:prstGeom>
          <a:solidFill>
            <a:srgbClr val="0B1220"/>
          </a:solidFill>
          <a:ln>
            <a:solidFill>
              <a:srgbClr val="334155">
                <a:alpha val="80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typedef void (*FrameCallback)(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const Frame* frame,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void* user_data);</a:t>
            </a:r>
            <a:endParaRPr lang="en-US" sz="1210" dirty="0"/>
          </a:p>
          <a:p>
            <a:pPr indent="0" marL="0">
              <a:buNone/>
            </a:pP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int sdk_register_callback(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ScannerHandle*,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FrameCallback cb,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void* user_data);</a:t>
            </a:r>
            <a:endParaRPr lang="en-US" sz="1210" dirty="0"/>
          </a:p>
        </p:txBody>
      </p:sp>
      <p:sp>
        <p:nvSpPr>
          <p:cNvPr id="7" name="Text 5"/>
          <p:cNvSpPr/>
          <p:nvPr/>
        </p:nvSpPr>
        <p:spPr>
          <a:xfrm>
            <a:off x="685800" y="3886200"/>
            <a:ext cx="5166360" cy="1737360"/>
          </a:xfrm>
          <a:prstGeom prst="rect">
            <a:avLst/>
          </a:prstGeom>
          <a:solidFill>
            <a:srgbClr val="0B1220"/>
          </a:solidFill>
          <a:ln>
            <a:solidFill>
              <a:srgbClr val="334155">
                <a:alpha val="80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extern "C" fn on_frame(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frame: *const Frame,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user: *mut c_void,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) {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// recover context, validate frame, never panic out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210" dirty="0"/>
          </a:p>
        </p:txBody>
      </p:sp>
      <p:sp>
        <p:nvSpPr>
          <p:cNvPr id="8" name="Text 6"/>
          <p:cNvSpPr/>
          <p:nvPr/>
        </p:nvSpPr>
        <p:spPr>
          <a:xfrm>
            <a:off x="6263640" y="1280160"/>
            <a:ext cx="5166360" cy="4343400"/>
          </a:xfrm>
          <a:prstGeom prst="rect">
            <a:avLst/>
          </a:prstGeom>
          <a:solidFill>
            <a:srgbClr val="1F2937"/>
          </a:solidFill>
          <a:ln>
            <a:solidFill>
              <a:srgbClr val="334155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 before writing code
</a:t>
            </a:r>
            <a:pPr indent="0" marL="0">
              <a:buNone/>
            </a:pPr>
            <a:r>
              <a:rPr lang="en-US" sz="15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Which thread invokes the callback?
</a:t>
            </a:r>
            <a:pPr indent="0" marL="0">
              <a:buNone/>
            </a:pPr>
            <a:r>
              <a:rPr lang="en-US" sz="15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May it re-enter the SDK?
</a:t>
            </a:r>
            <a:pPr indent="0" marL="0">
              <a:buNone/>
            </a:pPr>
            <a:r>
              <a:rPr lang="en-US" sz="15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How long is frame valid?
</a:t>
            </a:r>
            <a:pPr indent="0" marL="0">
              <a:buNone/>
            </a:pPr>
            <a:r>
              <a:rPr lang="en-US" sz="15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Who owns user_data?
</a:t>
            </a:r>
            <a:pPr indent="0" marL="0">
              <a:buNone/>
            </a:pPr>
            <a:r>
              <a:rPr lang="en-US" sz="15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Can callback block?
</a:t>
            </a:r>
            <a:pPr indent="0" marL="0">
              <a:buNone/>
            </a:pPr>
            <a:r>
              <a:rPr lang="en-US" sz="15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How is it unregistered?
</a:t>
            </a:r>
            <a:endParaRPr lang="en-US" sz="153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THREADS AND REAL TIME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Rust safety does not automatically make the SDK thread-safe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Rust for Experienced C++ Developers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22 / 30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685800" y="1280160"/>
            <a:ext cx="3383280" cy="4389120"/>
          </a:xfrm>
          <a:prstGeom prst="rect">
            <a:avLst/>
          </a:prstGeom>
          <a:solidFill>
            <a:srgbClr val="1F2937"/>
          </a:solidFill>
          <a:ln>
            <a:solidFill>
              <a:srgbClr val="334155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explicitly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thread affinity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callback thread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lock ordering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buffer pool ownership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lifetime of device contexts
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434840" y="1280160"/>
            <a:ext cx="3383280" cy="4389120"/>
          </a:xfrm>
          <a:prstGeom prst="rect">
            <a:avLst/>
          </a:prstGeom>
          <a:solidFill>
            <a:srgbClr val="1F2937"/>
          </a:solidFill>
          <a:ln>
            <a:solidFill>
              <a:srgbClr val="334155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Robotics constraints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bounded latency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avoid allocation in control loop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avoid blocking in callbacks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predictable shutdown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safe degradation path
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83880" y="1280160"/>
            <a:ext cx="3383280" cy="4389120"/>
          </a:xfrm>
          <a:prstGeom prst="rect">
            <a:avLst/>
          </a:prstGeom>
          <a:solidFill>
            <a:srgbClr val="1F2937"/>
          </a:solidFill>
          <a:ln>
            <a:solidFill>
              <a:srgbClr val="334155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expression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Send/Sync only when true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Arc&lt;Mutex&lt;_&gt;&gt; when needed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channels for ownership transfer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Drop for shutdown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unsafe impl only with proof
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GPU FFI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device pointer is not a Rust slice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Rust for Experienced C++ Developers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23 / 30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2926080" cy="1097280"/>
          </a:xfrm>
          <a:prstGeom prst="rect">
            <a:avLst/>
          </a:prstGeom>
          <a:solidFill>
            <a:srgbClr val="10B981"/>
          </a:solidFill>
          <a:ln>
            <a:solidFill>
              <a:srgbClr val="10B981">
                <a:alpha val="90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 pointer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CPU can dereference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617720" y="1371600"/>
            <a:ext cx="2926080" cy="1097280"/>
          </a:xfrm>
          <a:prstGeom prst="rect">
            <a:avLst/>
          </a:prstGeom>
          <a:solidFill>
            <a:srgbClr val="F97316"/>
          </a:solidFill>
          <a:ln>
            <a:solidFill>
              <a:srgbClr val="F97316">
                <a:alpha val="90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 pointer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GPU address space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503920" y="1371600"/>
            <a:ext cx="2926080" cy="1097280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90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unified/pinned memory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still has rules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51560" y="3154680"/>
            <a:ext cx="10058400" cy="2331720"/>
          </a:xfrm>
          <a:prstGeom prst="rect">
            <a:avLst/>
          </a:prstGeom>
          <a:solidFill>
            <a:srgbClr val="1F2937"/>
          </a:solidFill>
          <a:ln>
            <a:solidFill>
              <a:srgbClr val="334155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GPU boundary must carry
</a:t>
            </a:r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device/context
</a:t>
            </a:r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stream
</a:t>
            </a:r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synchronization point
</a:t>
            </a:r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pitch/stride
</a:t>
            </a:r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lifetime of allocation
</a:t>
            </a:r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host visibility guarantee
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" y="58064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This is FFI again: ownership + lifetime + aliasing, but now the memory is not necessarily CPU-addressable.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STACK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linker is part of the lesson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Rust for Experienced C++ Developers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24 / 30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3474720" cy="4297680"/>
          </a:xfrm>
          <a:prstGeom prst="rect">
            <a:avLst/>
          </a:prstGeom>
          <a:solidFill>
            <a:srgbClr val="1F2937"/>
          </a:solidFill>
          <a:ln>
            <a:solidFill>
              <a:srgbClr val="334155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56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Cargo build.rs
</a:t>
            </a:r>
            <a:pPr indent="0" marL="0">
              <a:buNone/>
            </a:pPr>
            <a:r>
              <a:rPr lang="en-US" sz="15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locate headers/libs
</a:t>
            </a:r>
            <a:pPr indent="0" marL="0">
              <a:buNone/>
            </a:pPr>
            <a:r>
              <a:rPr lang="en-US" sz="15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emit link search path
</a:t>
            </a:r>
            <a:pPr indent="0" marL="0">
              <a:buNone/>
            </a:pPr>
            <a:r>
              <a:rPr lang="en-US" sz="15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invoke bindgen/cxx-build
</a:t>
            </a:r>
            <a:pPr indent="0" marL="0">
              <a:buNone/>
            </a:pPr>
            <a:r>
              <a:rPr lang="en-US" sz="15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rerun if headers change
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4389120" y="1325880"/>
            <a:ext cx="3474720" cy="4297680"/>
          </a:xfrm>
          <a:prstGeom prst="rect">
            <a:avLst/>
          </a:prstGeom>
          <a:solidFill>
            <a:srgbClr val="1F2937"/>
          </a:solidFill>
          <a:ln>
            <a:solidFill>
              <a:srgbClr val="334155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56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 build system
</a:t>
            </a:r>
            <a:pPr indent="0" marL="0">
              <a:buNone/>
            </a:pPr>
            <a:r>
              <a:rPr lang="en-US" sz="15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CMake/pkg-config
</a:t>
            </a:r>
            <a:pPr indent="0" marL="0">
              <a:buNone/>
            </a:pPr>
            <a:r>
              <a:rPr lang="en-US" sz="15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compiler flags
</a:t>
            </a:r>
            <a:pPr indent="0" marL="0">
              <a:buNone/>
            </a:pPr>
            <a:r>
              <a:rPr lang="en-US" sz="15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runtime library path
</a:t>
            </a:r>
            <a:pPr indent="0" marL="0">
              <a:buNone/>
            </a:pPr>
            <a:r>
              <a:rPr lang="en-US" sz="15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debug vs release ABI
</a:t>
            </a:r>
            <a:pPr indent="0" marL="0">
              <a:buNone/>
            </a:pPr>
            <a:r>
              <a:rPr lang="en-US" sz="15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platform toolchains
</a:t>
            </a:r>
            <a:endParaRPr lang="en-US" sz="1560" dirty="0"/>
          </a:p>
        </p:txBody>
      </p:sp>
      <p:sp>
        <p:nvSpPr>
          <p:cNvPr id="8" name="Text 6"/>
          <p:cNvSpPr/>
          <p:nvPr/>
        </p:nvSpPr>
        <p:spPr>
          <a:xfrm>
            <a:off x="8092440" y="1325880"/>
            <a:ext cx="3474720" cy="4297680"/>
          </a:xfrm>
          <a:prstGeom prst="rect">
            <a:avLst/>
          </a:prstGeom>
          <a:solidFill>
            <a:srgbClr val="1F2937"/>
          </a:solidFill>
          <a:ln>
            <a:solidFill>
              <a:srgbClr val="334155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56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
</a:t>
            </a:r>
            <a:pPr indent="0" marL="0">
              <a:buNone/>
            </a:pPr>
            <a:r>
              <a:rPr lang="en-US" sz="15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DLL/.so/.dylib placement
</a:t>
            </a:r>
            <a:pPr indent="0" marL="0">
              <a:buNone/>
            </a:pPr>
            <a:r>
              <a:rPr lang="en-US" sz="15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vendor SDK redistributables
</a:t>
            </a:r>
            <a:pPr indent="0" marL="0">
              <a:buNone/>
            </a:pPr>
            <a:r>
              <a:rPr lang="en-US" sz="15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driver version
</a:t>
            </a:r>
            <a:pPr indent="0" marL="0">
              <a:buNone/>
            </a:pPr>
            <a:r>
              <a:rPr lang="en-US" sz="15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CI smoke test
</a:t>
            </a:r>
            <a:pPr indent="0" marL="0">
              <a:buNone/>
            </a:pPr>
            <a:r>
              <a:rPr lang="en-US" sz="15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symbol/version audit
</a:t>
            </a:r>
            <a:endParaRPr lang="en-US" sz="156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FAÇADE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robust wrapper hides C++ complexity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Rust for Experienced C++ Developers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25 / 30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6035040" cy="4892040"/>
          </a:xfrm>
          <a:prstGeom prst="rect">
            <a:avLst/>
          </a:prstGeom>
          <a:solidFill>
            <a:srgbClr val="0B1220"/>
          </a:solidFill>
          <a:ln>
            <a:solidFill>
              <a:srgbClr val="334155">
                <a:alpha val="80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// wrapper.cpp: catches exceptions, owns C++ types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extern "C" int reg_run(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RegistrationHandle* h,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const ImageViewU16* fixed,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const ImageViewU16* moving,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Transform3D* out) noexcept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try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auto r = h-&gt;impl-&gt;run(*fixed, *moving);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*out = to_c_transform(r);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 STATUS_OK;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} catch (const std::exception&amp; e)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h-&gt;last_error = e.what();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 STATUS_FAILURE;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980" dirty="0"/>
          </a:p>
        </p:txBody>
      </p:sp>
      <p:sp>
        <p:nvSpPr>
          <p:cNvPr id="7" name="Text 5"/>
          <p:cNvSpPr/>
          <p:nvPr/>
        </p:nvSpPr>
        <p:spPr>
          <a:xfrm>
            <a:off x="7040880" y="1417320"/>
            <a:ext cx="4434840" cy="4343400"/>
          </a:xfrm>
          <a:prstGeom prst="rect">
            <a:avLst/>
          </a:prstGeom>
          <a:solidFill>
            <a:srgbClr val="1F2937"/>
          </a:solidFill>
          <a:ln>
            <a:solidFill>
              <a:srgbClr val="334155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noexcept façade?
</a:t>
            </a:r>
            <a:pPr indent="0" marL="0">
              <a:buNone/>
            </a:pPr>
            <a:r>
              <a:rPr lang="en-US" sz="15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no exception crosses into Rust
</a:t>
            </a:r>
            <a:pPr indent="0" marL="0">
              <a:buNone/>
            </a:pPr>
            <a:r>
              <a:rPr lang="en-US" sz="15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library invariants stay in C++
</a:t>
            </a:r>
            <a:pPr indent="0" marL="0">
              <a:buNone/>
            </a:pPr>
            <a:r>
              <a:rPr lang="en-US" sz="15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Rust sees stable C ABI
</a:t>
            </a:r>
            <a:pPr indent="0" marL="0">
              <a:buNone/>
            </a:pPr>
            <a:r>
              <a:rPr lang="en-US" sz="15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last_error is owned by handle
</a:t>
            </a:r>
            <a:pPr indent="0" marL="0">
              <a:buNone/>
            </a:pPr>
            <a:r>
              <a:rPr lang="en-US" sz="15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testing surface is small
</a:t>
            </a:r>
            <a:endParaRPr lang="en-US" sz="158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Medical imaging / robotics: keep unsafe at the edge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Rust for Experienced C++ Developers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26 / 30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868680" y="1143000"/>
            <a:ext cx="10424160" cy="585216"/>
          </a:xfrm>
          <a:prstGeom prst="rect">
            <a:avLst/>
          </a:prstGeom>
          <a:solidFill>
            <a:srgbClr val="1F2937"/>
          </a:solidFill>
          <a:ln>
            <a:solidFill>
              <a:srgbClr val="1F2937">
                <a:alpha val="90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/ workflow — safe Rust or C++ application logic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2011680"/>
            <a:ext cx="10424160" cy="585216"/>
          </a:xfrm>
          <a:prstGeom prst="rect">
            <a:avLst/>
          </a:prstGeom>
          <a:solidFill>
            <a:srgbClr val="10B981"/>
          </a:solidFill>
          <a:ln>
            <a:solidFill>
              <a:srgbClr val="10B981">
                <a:alpha val="90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orchestration — Result, state machines, typed geometry, checked configs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2880360"/>
            <a:ext cx="10424160" cy="585216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90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FFI wrapper crate — safe API over unsafe sys layer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68680" y="3749040"/>
            <a:ext cx="10424160" cy="585216"/>
          </a:xfrm>
          <a:prstGeom prst="rect">
            <a:avLst/>
          </a:prstGeom>
          <a:solidFill>
            <a:srgbClr val="F97316"/>
          </a:solidFill>
          <a:ln>
            <a:solidFill>
              <a:srgbClr val="F97316">
                <a:alpha val="90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/ C++ SDKs — acquisition, image processing, robot controller, GPU libraries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68680" y="4617720"/>
            <a:ext cx="10424160" cy="585216"/>
          </a:xfrm>
          <a:prstGeom prst="rect">
            <a:avLst/>
          </a:prstGeom>
          <a:solidFill>
            <a:srgbClr val="7C3AED"/>
          </a:solidFill>
          <a:ln>
            <a:solidFill>
              <a:srgbClr val="7C3AED">
                <a:alpha val="90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hardware and drivers — scanner, camera, robot arm, accelerator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22960" y="580644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Design goal: a surgeon-facing or robot-facing path should not depend on remembering undocumented pointer folklore.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make FFI less like folklore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Rust for Experienced C++ Developers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27 / 30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3383280" cy="4389120"/>
          </a:xfrm>
          <a:prstGeom prst="rect">
            <a:avLst/>
          </a:prstGeom>
          <a:solidFill>
            <a:srgbClr val="1F2937"/>
          </a:solidFill>
          <a:ln>
            <a:solidFill>
              <a:srgbClr val="334155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57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checks
</a:t>
            </a:r>
            <a:pPr indent="0" marL="0">
              <a:buNone/>
            </a:pPr>
            <a:r>
              <a:rPr lang="en-US" sz="15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layout tests
</a:t>
            </a:r>
            <a:pPr indent="0" marL="0">
              <a:buNone/>
            </a:pPr>
            <a:r>
              <a:rPr lang="en-US" sz="15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C/C++ static_assert
</a:t>
            </a:r>
            <a:pPr indent="0" marL="0">
              <a:buNone/>
            </a:pPr>
            <a:r>
              <a:rPr lang="en-US" sz="15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header generation in CI
</a:t>
            </a:r>
            <a:pPr indent="0" marL="0">
              <a:buNone/>
            </a:pPr>
            <a:r>
              <a:rPr lang="en-US" sz="15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bindgen allowlists
</a:t>
            </a:r>
            <a:pPr indent="0" marL="0">
              <a:buNone/>
            </a:pPr>
            <a:r>
              <a:rPr lang="en-US" sz="15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ABI version constant
</a:t>
            </a:r>
            <a:endParaRPr lang="en-US" sz="1570" dirty="0"/>
          </a:p>
        </p:txBody>
      </p:sp>
      <p:sp>
        <p:nvSpPr>
          <p:cNvPr id="7" name="Text 5"/>
          <p:cNvSpPr/>
          <p:nvPr/>
        </p:nvSpPr>
        <p:spPr>
          <a:xfrm>
            <a:off x="4434840" y="1325880"/>
            <a:ext cx="3383280" cy="4389120"/>
          </a:xfrm>
          <a:prstGeom prst="rect">
            <a:avLst/>
          </a:prstGeom>
          <a:solidFill>
            <a:srgbClr val="1F2937"/>
          </a:solidFill>
          <a:ln>
            <a:solidFill>
              <a:srgbClr val="334155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57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 checks
</a:t>
            </a:r>
            <a:pPr indent="0" marL="0">
              <a:buNone/>
            </a:pPr>
            <a:r>
              <a:rPr lang="en-US" sz="15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ASan/UBSan/TSan
</a:t>
            </a:r>
            <a:pPr indent="0" marL="0">
              <a:buNone/>
            </a:pPr>
            <a:r>
              <a:rPr lang="en-US" sz="15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valgrind where useful
</a:t>
            </a:r>
            <a:pPr indent="0" marL="0">
              <a:buNone/>
            </a:pPr>
            <a:r>
              <a:rPr lang="en-US" sz="15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Miri for Rust-side unsafe assumptions
</a:t>
            </a:r>
            <a:pPr indent="0" marL="0">
              <a:buNone/>
            </a:pPr>
            <a:r>
              <a:rPr lang="en-US" sz="15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fuzz boundary inputs
</a:t>
            </a:r>
            <a:pPr indent="0" marL="0">
              <a:buNone/>
            </a:pPr>
            <a:r>
              <a:rPr lang="en-US" sz="15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stress callbacks/shutdown
</a:t>
            </a:r>
            <a:endParaRPr lang="en-US" sz="1570" dirty="0"/>
          </a:p>
        </p:txBody>
      </p:sp>
      <p:sp>
        <p:nvSpPr>
          <p:cNvPr id="8" name="Text 6"/>
          <p:cNvSpPr/>
          <p:nvPr/>
        </p:nvSpPr>
        <p:spPr>
          <a:xfrm>
            <a:off x="8183880" y="1325880"/>
            <a:ext cx="3383280" cy="4389120"/>
          </a:xfrm>
          <a:prstGeom prst="rect">
            <a:avLst/>
          </a:prstGeom>
          <a:solidFill>
            <a:srgbClr val="1F2937"/>
          </a:solidFill>
          <a:ln>
            <a:solidFill>
              <a:srgbClr val="334155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57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checks
</a:t>
            </a:r>
            <a:pPr indent="0" marL="0">
              <a:buNone/>
            </a:pPr>
            <a:r>
              <a:rPr lang="en-US" sz="15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versioned SDK matrix
</a:t>
            </a:r>
            <a:pPr indent="0" marL="0">
              <a:buNone/>
            </a:pPr>
            <a:r>
              <a:rPr lang="en-US" sz="15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driver/runtime compatibility
</a:t>
            </a:r>
            <a:pPr indent="0" marL="0">
              <a:buNone/>
            </a:pPr>
            <a:r>
              <a:rPr lang="en-US" sz="15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release-mode smoke tests
</a:t>
            </a:r>
            <a:pPr indent="0" marL="0">
              <a:buNone/>
            </a:pPr>
            <a:r>
              <a:rPr lang="en-US" sz="15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long-running acquisition test
</a:t>
            </a:r>
            <a:pPr indent="0" marL="0">
              <a:buNone/>
            </a:pPr>
            <a:r>
              <a:rPr lang="en-US" sz="15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fault injection
</a:t>
            </a:r>
            <a:endParaRPr lang="en-US" sz="157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DEBUG CHECKLIST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FFI fails, ask these in order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Rust for Experienced C++ Developers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28 / 30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5074920" cy="530352"/>
          </a:xfrm>
          <a:prstGeom prst="rect">
            <a:avLst/>
          </a:prstGeom>
          <a:solidFill>
            <a:srgbClr val="1F2937"/>
          </a:solidFill>
          <a:ln>
            <a:solidFill>
              <a:srgbClr val="1F2937">
                <a:alpha val="90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Signature exactly matches header?</a:t>
            </a:r>
            <a:endParaRPr lang="en-US" sz="1420" dirty="0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5074920" cy="530352"/>
          </a:xfrm>
          <a:prstGeom prst="rect">
            <a:avLst/>
          </a:prstGeom>
          <a:solidFill>
            <a:srgbClr val="243044"/>
          </a:solidFill>
          <a:ln>
            <a:solidFill>
              <a:srgbClr val="243044">
                <a:alpha val="90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Calling convention correct?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5074920" cy="530352"/>
          </a:xfrm>
          <a:prstGeom prst="rect">
            <a:avLst/>
          </a:prstGeom>
          <a:solidFill>
            <a:srgbClr val="1F2937"/>
          </a:solidFill>
          <a:ln>
            <a:solidFill>
              <a:srgbClr val="1F2937">
                <a:alpha val="90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Struct layout and enum width correct?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777240" y="3840480"/>
            <a:ext cx="5074920" cy="530352"/>
          </a:xfrm>
          <a:prstGeom prst="rect">
            <a:avLst/>
          </a:prstGeom>
          <a:solidFill>
            <a:srgbClr val="243044"/>
          </a:solidFill>
          <a:ln>
            <a:solidFill>
              <a:srgbClr val="243044">
                <a:alpha val="90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Pointer valid, aligned, initialized?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777240" y="4709160"/>
            <a:ext cx="5074920" cy="530352"/>
          </a:xfrm>
          <a:prstGeom prst="rect">
            <a:avLst/>
          </a:prstGeom>
          <a:solidFill>
            <a:srgbClr val="1F2937"/>
          </a:solidFill>
          <a:ln>
            <a:solidFill>
              <a:srgbClr val="1F2937">
                <a:alpha val="90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Buffer size and stride correct?</a:t>
            </a:r>
            <a:endParaRPr lang="en-US" sz="1420" dirty="0"/>
          </a:p>
        </p:txBody>
      </p:sp>
      <p:sp>
        <p:nvSpPr>
          <p:cNvPr id="11" name="Text 9"/>
          <p:cNvSpPr/>
          <p:nvPr/>
        </p:nvSpPr>
        <p:spPr>
          <a:xfrm>
            <a:off x="6217920" y="1234440"/>
            <a:ext cx="5074920" cy="530352"/>
          </a:xfrm>
          <a:prstGeom prst="rect">
            <a:avLst/>
          </a:prstGeom>
          <a:solidFill>
            <a:srgbClr val="243044"/>
          </a:solidFill>
          <a:ln>
            <a:solidFill>
              <a:srgbClr val="243044">
                <a:alpha val="90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Ownership/freeing side correct?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217920" y="2103120"/>
            <a:ext cx="5074920" cy="530352"/>
          </a:xfrm>
          <a:prstGeom prst="rect">
            <a:avLst/>
          </a:prstGeom>
          <a:solidFill>
            <a:srgbClr val="1F2937"/>
          </a:solidFill>
          <a:ln>
            <a:solidFill>
              <a:srgbClr val="1F2937">
                <a:alpha val="90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Exception/panic contained?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6217920" y="2971800"/>
            <a:ext cx="5074920" cy="530352"/>
          </a:xfrm>
          <a:prstGeom prst="rect">
            <a:avLst/>
          </a:prstGeom>
          <a:solidFill>
            <a:srgbClr val="243044"/>
          </a:solidFill>
          <a:ln>
            <a:solidFill>
              <a:srgbClr val="243044">
                <a:alpha val="90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Callback thread and lifetime correct?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6217920" y="3840480"/>
            <a:ext cx="5074920" cy="530352"/>
          </a:xfrm>
          <a:prstGeom prst="rect">
            <a:avLst/>
          </a:prstGeom>
          <a:solidFill>
            <a:srgbClr val="1F2937"/>
          </a:solidFill>
          <a:ln>
            <a:solidFill>
              <a:srgbClr val="1F2937">
                <a:alpha val="90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 Allocator and build configuration match?</a:t>
            </a:r>
            <a:endParaRPr lang="en-US" sz="1420" dirty="0"/>
          </a:p>
        </p:txBody>
      </p:sp>
      <p:sp>
        <p:nvSpPr>
          <p:cNvPr id="15" name="Text 13"/>
          <p:cNvSpPr/>
          <p:nvPr/>
        </p:nvSpPr>
        <p:spPr>
          <a:xfrm>
            <a:off x="6217920" y="4709160"/>
            <a:ext cx="5074920" cy="530352"/>
          </a:xfrm>
          <a:prstGeom prst="rect">
            <a:avLst/>
          </a:prstGeom>
          <a:solidFill>
            <a:srgbClr val="243044"/>
          </a:solidFill>
          <a:ln>
            <a:solidFill>
              <a:srgbClr val="243044">
                <a:alpha val="90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 Release optimization exposing UB?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1005840" y="5806440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FFI bugs are usually not mysterious. They are usually one broken contract.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HANDS-ON LAB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Wrap a tiny C image kernel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Rust for Experienced C++ Developers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29 / 30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5486400" cy="2331720"/>
          </a:xfrm>
          <a:prstGeom prst="rect">
            <a:avLst/>
          </a:prstGeom>
          <a:solidFill>
            <a:srgbClr val="0B1220"/>
          </a:solidFill>
          <a:ln>
            <a:solidFill>
              <a:srgbClr val="334155">
                <a:alpha val="80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// C library you are given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int threshold_u16(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const uint16_t* src,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size_t width,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size_t height,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size_t stride,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uint16_t threshold,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uint8_t* dst,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size_t dst_stride);</a:t>
            </a:r>
            <a:endParaRPr lang="en-US" sz="1160" dirty="0"/>
          </a:p>
        </p:txBody>
      </p:sp>
      <p:sp>
        <p:nvSpPr>
          <p:cNvPr id="7" name="Text 5"/>
          <p:cNvSpPr/>
          <p:nvPr/>
        </p:nvSpPr>
        <p:spPr>
          <a:xfrm>
            <a:off x="6537960" y="1143000"/>
            <a:ext cx="4892040" cy="2743200"/>
          </a:xfrm>
          <a:prstGeom prst="rect">
            <a:avLst/>
          </a:prstGeom>
          <a:solidFill>
            <a:srgbClr val="1F2937"/>
          </a:solidFill>
          <a:ln>
            <a:solidFill>
              <a:srgbClr val="334155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task
</a:t>
            </a:r>
            <a:pPr indent="0" marL="0">
              <a:buNone/>
            </a:pPr>
            <a:r>
              <a:rPr lang="en-US" sz="15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declare the extern function
</a:t>
            </a:r>
            <a:pPr indent="0" marL="0">
              <a:buNone/>
            </a:pPr>
            <a:r>
              <a:rPr lang="en-US" sz="15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create ImageViewU16 and ImageMutU8 wrappers
</a:t>
            </a:r>
            <a:pPr indent="0" marL="0">
              <a:buNone/>
            </a:pPr>
            <a:r>
              <a:rPr lang="en-US" sz="15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validate nulls, strides and dimensions
</a:t>
            </a:r>
            <a:pPr indent="0" marL="0">
              <a:buNone/>
            </a:pPr>
            <a:r>
              <a:rPr lang="en-US" sz="15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map status code to Result
</a:t>
            </a:r>
            <a:pPr indent="0" marL="0">
              <a:buNone/>
            </a:pPr>
            <a:r>
              <a:rPr lang="en-US" sz="15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write one test with padded stride
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05840" y="4206240"/>
            <a:ext cx="10149840" cy="1463040"/>
          </a:xfrm>
          <a:prstGeom prst="rect">
            <a:avLst/>
          </a:prstGeom>
          <a:solidFill>
            <a:srgbClr val="1F2937"/>
          </a:solidFill>
          <a:ln>
            <a:solidFill>
              <a:srgbClr val="334155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Discussion
</a:t>
            </a:r>
            <a:pPr indent="0" marL="0">
              <a:buNone/>
            </a:pPr>
            <a:r>
              <a:rPr lang="en-US" sz="14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safe to expose?
</a:t>
            </a:r>
            <a:pPr indent="0" marL="0">
              <a:buNone/>
            </a:pPr>
            <a:r>
              <a:rPr lang="en-US" sz="14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Where is unsafe contained?
</a:t>
            </a:r>
            <a:pPr indent="0" marL="0">
              <a:buNone/>
            </a:pPr>
            <a:r>
              <a:rPr lang="en-US" sz="14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Who owns each buffer?
</a:t>
            </a:r>
            <a:pPr indent="0" marL="0">
              <a:buNone/>
            </a:pPr>
            <a:r>
              <a:rPr lang="en-US" sz="14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What would change for a GPU buffer?
</a:t>
            </a:r>
            <a:pPr indent="0" marL="0">
              <a:buNone/>
            </a:pPr>
            <a:r>
              <a:rPr lang="en-US" sz="14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would change for async callbacks?
</a:t>
            </a:r>
            <a:endParaRPr lang="en-US" sz="142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FFI is where Rust hands the proof obligation back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Rust for Experienced C++ Developers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11018520" y="6519672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30 / 30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868680" y="1234440"/>
            <a:ext cx="10469880" cy="1508760"/>
          </a:xfrm>
          <a:prstGeom prst="rect">
            <a:avLst/>
          </a:prstGeom>
          <a:solidFill>
            <a:srgbClr val="111827"/>
          </a:solidFill>
          <a:ln>
            <a:solidFill>
              <a:srgbClr val="111827">
                <a:alpha val="90000"/>
              </a:srgbClr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the boundary, Rust does not know.</a:t>
            </a:r>
            <a:endParaRPr lang="en-US" sz="3000" dirty="0"/>
          </a:p>
          <a:p>
            <a:pPr algn="ctr" indent="0" marL="0">
              <a:buNone/>
            </a:pP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must state the contract, check what can be checked, and contain the unsafe code.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05840" y="3246120"/>
            <a:ext cx="4800600" cy="2148840"/>
          </a:xfrm>
          <a:prstGeom prst="rect">
            <a:avLst/>
          </a:prstGeom>
          <a:solidFill>
            <a:srgbClr val="1F2937"/>
          </a:solidFill>
          <a:ln>
            <a:solidFill>
              <a:srgbClr val="334155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good pattern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tiny unsafe surface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explicit ownership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stable layout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no surprise unwinding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safe domain API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tests that attack the boundary
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3246120"/>
            <a:ext cx="4800600" cy="2148840"/>
          </a:xfrm>
          <a:prstGeom prst="rect">
            <a:avLst/>
          </a:prstGeom>
          <a:solidFill>
            <a:srgbClr val="1F2937"/>
          </a:solidFill>
          <a:ln>
            <a:solidFill>
              <a:srgbClr val="334155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C++ lesson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do not hide resource contracts in folklore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make allocation/freeing explicit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separate views from owners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do not confuse pointer reachability with validity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encode invariants where possible
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589788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Same machine. Same memory. Fewer undocumented assumptions.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FOSS Club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Rust and C++ FFI: Where the Guarantees End</dc:title>
  <dc:subject>Rust FFI for C++ imaging libraries</dc:subject>
  <dc:creator>OpenAI</dc:creator>
  <cp:lastModifiedBy>OpenAI</cp:lastModifiedBy>
  <cp:revision>1</cp:revision>
  <dcterms:created xsi:type="dcterms:W3CDTF">2026-09-13T19:00:04Z</dcterms:created>
  <dcterms:modified xsi:type="dcterms:W3CDTF">2026-09-13T19:00:04Z</dcterms:modified>
</cp:coreProperties>
</file>