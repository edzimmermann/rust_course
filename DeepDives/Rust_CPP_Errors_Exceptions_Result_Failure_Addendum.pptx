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Book, Chapter 9: Error Handling — https://doc.rust-lang.org/book/ch09-00-error-handling.html
Rust std/core Result docs and ? operator — https://doc.rust-lang.org/core/result/
Rust Reference: Panic behavior, panic strategies, unwind/abort — https://doc.rust-lang.org/stable/reference/panic.html
cppreference: C++ exceptions and exception safety guarantees — https://en.cppreference.com/w/cpp/language/exceptions
cppreference: std::expected, C++23 — https://en.cppreference.com/w/cpp/utility/expected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Book, Chapter 9: Error Handling — https://doc.rust-lang.org/book/ch09-00-error-handling.html
cppreference: C++ exceptions and exception safety guarantees — https://en.cppreference.com/w/cpp/language/exceptions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std/core Result docs and ? operator — https://doc.rust-lang.org/core/result/
Rust Reference: Panic behavior, panic strategies, unwind/abort — https://doc.rust-lang.org/stable/reference/panic.html
cppreference: C++ exceptions and exception safety guarantees — https://en.cppreference.com/w/cpp/language/exceptions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cppreference: C++ exceptions and exception safety guarantees — https://en.cppreference.com/w/cpp/language/exceptions
cppreference: std::expected, C++23 — https://en.cppreference.com/w/cpp/utility/expected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Book, Chapter 9: Error Handling — https://doc.rust-lang.org/book/ch09-00-error-handling.html
Rust std/core Result docs and ? operator — https://doc.rust-lang.org/core/result/
Rust Reference: Panic behavior, panic strategies, unwind/abort — https://doc.rust-lang.org/stable/reference/panic.html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cppreference: C++ exceptions and exception safety guarantees — https://en.cppreference.com/w/cpp/language/exceptions
Rust std/core Result docs and ? operator — https://doc.rust-lang.org/core/result/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cppreference: C++ exceptions and exception safety guarantees — https://en.cppreference.com/w/cpp/language/exceptions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cppreference: C++ exceptions and exception safety guarantees — https://en.cppreference.com/w/cpp/language/exceptions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std/core Result docs and ? operator — https://doc.rust-lang.org/core/result/
Rust Book, Chapter 9: Error Handling — https://doc.rust-lang.org/book/ch09-00-error-handling.html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std/core Result docs and ? operator — https://doc.rust-lang.org/core/result/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Reference: Panic behavior, panic strategies, unwind/abort — https://doc.rust-lang.org/stable/reference/panic.html
Rust Book, Chapter 9: Error Handling — https://doc.rust-lang.org/book/ch09-00-error-handling.html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Book, Chapter 9: Error Handling — https://doc.rust-lang.org/book/ch09-00-error-handling.html
Rust std/core Result docs and ? operator — https://doc.rust-lang.org/core/result/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cppreference: std::expected, C++23 — https://en.cppreference.com/w/cpp/utility/expected
Rust std/core Result docs and ? operator — https://doc.rust-lang.org/core/result/
Rust Reference: Panic behavior, panic strategies, unwind/abort — https://doc.rust-lang.org/stable/reference/panic.html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std/core Result docs and ? operator — https://doc.rust-lang.org/core/result/
Rust Book, Chapter 9: Error Handling — https://doc.rust-lang.org/book/ch09-00-error-handling.html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Reference: Panic behavior, panic strategies, unwind/abort — https://doc.rust-lang.org/stable/reference/panic.html
cppreference: C++ exceptions and exception safety guarantees — https://en.cppreference.com/w/cpp/language/exceptions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cppreference: C++ exceptions and exception safety guarantees — https://en.cppreference.com/w/cpp/language/exceptions
Rust std/core Result docs and ? operator — https://doc.rust-lang.org/core/result/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repo: rust_cpp_fixit_100 subjects include Option, Result and Error Handling — https://github.com/edzimmermann/Rust_course/tree/main/rust_cpp_fixit_100
Rust std/core Result docs and ? operator — https://doc.rust-lang.org/core/result/
Rust Reference: Panic behavior, panic strategies, unwind/abort — https://doc.rust-lang.org/stable/reference/panic.html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Book, Chapter 9: Error Handling — https://doc.rust-lang.org/book/ch09-00-error-handling.html
Rust std/core Result docs and ? operator — https://doc.rust-lang.org/core/result/
cppreference: std::expected, C++23 — https://en.cppreference.com/w/cpp/utility/expected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std/core Result docs and ? operator — https://doc.rust-lang.org/core/result/
Rust Book, Chapter 9: Error Handling — https://doc.rust-lang.org/book/ch09-00-error-handling.html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std/core Result docs and ? operator — https://doc.rust-lang.org/core/result/
Rust Book, Chapter 9: Error Handling — https://doc.rust-lang.org/book/ch09-00-error-handling.html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cppreference: std::expected, C++23 — https://en.cppreference.com/w/cpp/utility/expected
Rust std/core Result docs and ? operator — https://doc.rust-lang.org/core/result/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std/core Result docs and ? operator — https://doc.rust-lang.org/core/result/
Rust Reference: Panic behavior, panic strategies, unwind/abort — https://doc.rust-lang.org/stable/reference/panic.html
cppreference: C++ exceptions and exception safety guarantees — https://en.cppreference.com/w/cpp/language/exceptions
cppreference: std::expected, C++23 — https://en.cppreference.com/w/cpp/utility/expected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Book, Chapter 9: Error Handling — https://doc.rust-lang.org/book/ch09-00-error-handling.html
Rust std/core Result docs and ? operator — https://doc.rust-lang.org/core/result/
Rust Reference: Panic behavior, panic strategies, unwind/abort — https://doc.rust-lang.org/stable/reference/panic.html
cppreference: C++ exceptions and exception safety guarantees — https://en.cppreference.com/w/cpp/language/exceptions
cppreference: std::expected, C++23 — https://en.cppreference.com/w/cpp/utility/expected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 STACK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Errors, Exceptions, `Result` and Failure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that turns “how do I return an error?” into “what is part of the contract?”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1206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is not a side topic. It is where API design, invariants, RAII, ownership and control flow collide.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5358384"/>
            <a:ext cx="713232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E02C70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5440680"/>
            <a:ext cx="6912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teach `?` as syntax. Teach it as explicit propagation of a typed failure channel.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0B1624"/>
          </a:solidFill>
          <a:ln w="15240">
            <a:solidFill>
              <a:srgbClr val="FF8A3D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2824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 PATH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6592824" y="2395728"/>
            <a:ext cx="1188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exceptions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0B1624"/>
          </a:solidFill>
          <a:ln w="15240">
            <a:solidFill>
              <a:srgbClr val="00A896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5904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TYPED PATH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8375904" y="2395728"/>
            <a:ext cx="1188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`Result`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012680" y="18288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0B1624"/>
          </a:solidFill>
          <a:ln w="15240">
            <a:solidFill>
              <a:srgbClr val="FF4D6D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58984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4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FATAL PATH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10158984" y="2395728"/>
            <a:ext cx="1188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 / abort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73568" y="2560320"/>
            <a:ext cx="228600" cy="0"/>
          </a:xfrm>
          <a:prstGeom prst="line">
            <a:avLst/>
          </a:prstGeom>
          <a:noFill/>
          <a:ln w="15240">
            <a:solidFill>
              <a:srgbClr val="6573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560320"/>
            <a:ext cx="219456" cy="0"/>
          </a:xfrm>
          <a:prstGeom prst="line">
            <a:avLst/>
          </a:prstGeom>
          <a:noFill/>
          <a:ln w="15240">
            <a:solidFill>
              <a:srgbClr val="65738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TEACHING FRAME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question is not “exceptions or Result?”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question is: what kind of failure are we talking about?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331720" cy="3017520"/>
          </a:xfrm>
          <a:prstGeom prst="roundRect">
            <a:avLst>
              <a:gd name="adj" fmla="val 3922"/>
            </a:avLst>
          </a:prstGeom>
          <a:solidFill>
            <a:srgbClr val="0B1624"/>
          </a:solidFill>
          <a:ln w="1524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01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CLASS 1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804672" y="2231136"/>
            <a:ext cx="192024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negative outcome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2798064"/>
            <a:ext cx="1874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missing, parse failed, not found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04672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value / enum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429000" y="1600200"/>
            <a:ext cx="2331720" cy="3017520"/>
          </a:xfrm>
          <a:prstGeom prst="roundRect">
            <a:avLst>
              <a:gd name="adj" fmla="val 3922"/>
            </a:avLst>
          </a:prstGeom>
          <a:solidFill>
            <a:srgbClr val="0B1624"/>
          </a:solidFill>
          <a:ln w="15240">
            <a:solidFill>
              <a:srgbClr val="FF8A3D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1901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CLASS 2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3593592" y="2231136"/>
            <a:ext cx="192024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failure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93592" y="2798064"/>
            <a:ext cx="1874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I/O, network, permission, memory pressure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593592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or report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2331720" cy="3017520"/>
          </a:xfrm>
          <a:prstGeom prst="roundRect">
            <a:avLst>
              <a:gd name="adj" fmla="val 3922"/>
            </a:avLst>
          </a:prstGeom>
          <a:solidFill>
            <a:srgbClr val="0B1624"/>
          </a:solidFill>
          <a:ln w="15240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901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4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CLASS 3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6382512" y="2231136"/>
            <a:ext cx="192024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 bug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82512" y="2798064"/>
            <a:ext cx="1874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precondition violated, impossible branch, bad invariant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382512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panic/assert/terminate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9006840" y="1600200"/>
            <a:ext cx="2331720" cy="3017520"/>
          </a:xfrm>
          <a:prstGeom prst="roundRect">
            <a:avLst>
              <a:gd name="adj" fmla="val 3922"/>
            </a:avLst>
          </a:prstGeom>
          <a:solidFill>
            <a:srgbClr val="0B1624"/>
          </a:solidFill>
          <a:ln w="15240">
            <a:solidFill>
              <a:srgbClr val="7B3FF2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1432" y="1901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7B3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CLASS 4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9171432" y="2231136"/>
            <a:ext cx="192024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boundary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71432" y="2798064"/>
            <a:ext cx="1874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FFI, kernel, device, allocator, OS call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171432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contract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194560" y="5559552"/>
            <a:ext cx="777240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0642A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04288" y="5641848"/>
            <a:ext cx="7552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 mechanism before classifying the failure is design by reflex.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is another output channel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channel may be visible in the type, hidden in control flow, or fatal to the process.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E1A2B"/>
          </a:solidFill>
          <a:ln w="15240">
            <a:solidFill>
              <a:srgbClr val="65738B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395728"/>
            <a:ext cx="1097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51760" y="2651760"/>
            <a:ext cx="1143000" cy="0"/>
          </a:xfrm>
          <a:prstGeom prst="line">
            <a:avLst/>
          </a:prstGeom>
          <a:noFill/>
          <a:ln w="15240">
            <a:solidFill>
              <a:srgbClr val="6573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40480" y="182880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091827"/>
          </a:solidFill>
          <a:ln w="15240">
            <a:solidFill>
              <a:srgbClr val="00B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2148840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15968" y="2606040"/>
            <a:ext cx="1325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work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state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resources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1143000" cy="-59436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2834640"/>
            <a:ext cx="1143000" cy="822960"/>
          </a:xfrm>
          <a:prstGeom prst="line">
            <a:avLst/>
          </a:prstGeom>
          <a:noFill/>
          <a:ln w="15240">
            <a:solidFill>
              <a:srgbClr val="FF8A3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2651760"/>
            <a:ext cx="1143000" cy="0"/>
          </a:xfrm>
          <a:prstGeom prst="line">
            <a:avLst/>
          </a:prstGeom>
          <a:noFill/>
          <a:ln w="15240">
            <a:solidFill>
              <a:srgbClr val="FF4D6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114300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3258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 CHANNEL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7589520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returned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224028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0B1624"/>
          </a:solidFill>
          <a:ln w="15240">
            <a:solidFill>
              <a:srgbClr val="FF4D6D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423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4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FATAL CHANNEL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758952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 / terminate / abort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06640" y="333756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35204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CHANNEL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7589520" y="3794760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or `Result::Err`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965960" y="5577840"/>
            <a:ext cx="822960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E02C70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5688" y="5660136"/>
            <a:ext cx="8010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design is deciding which channels exist — and which are visible.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TOOLBOX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has many failure mechanisms because C++ serves many eras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 is not “which one is modern?” but “which one preserves meaning at this boundary?”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2971800" cy="1463040"/>
          </a:xfrm>
          <a:prstGeom prst="roundRect">
            <a:avLst>
              <a:gd name="adj" fmla="val 6250"/>
            </a:avLst>
          </a:prstGeom>
          <a:solidFill>
            <a:srgbClr val="0B1624"/>
          </a:solidFill>
          <a:ln w="15240">
            <a:solidFill>
              <a:srgbClr val="65738B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01368"/>
            <a:ext cx="266090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codes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2194560"/>
            <a:ext cx="266090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heritage; explicit but easy to ignore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2971800" cy="1463040"/>
          </a:xfrm>
          <a:prstGeom prst="roundRect">
            <a:avLst>
              <a:gd name="adj" fmla="val 6250"/>
            </a:avLst>
          </a:prstGeom>
          <a:solidFill>
            <a:srgbClr val="0B1624"/>
          </a:solidFill>
          <a:ln w="15240">
            <a:solidFill>
              <a:srgbClr val="FF8A3D">
                <a:alpha val="8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801368"/>
            <a:ext cx="266090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98848" y="2194560"/>
            <a:ext cx="266090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failure path; RAII unwinding; invisible in signature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2971800" cy="1463040"/>
          </a:xfrm>
          <a:prstGeom prst="roundRect">
            <a:avLst>
              <a:gd name="adj" fmla="val 6250"/>
            </a:avLst>
          </a:prstGeom>
          <a:solidFill>
            <a:srgbClr val="0B1624"/>
          </a:solidFill>
          <a:ln w="15240">
            <a:solidFill>
              <a:srgbClr val="00A896">
                <a:alpha val="8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801368"/>
            <a:ext cx="266090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`std::optional`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56448" y="2194560"/>
            <a:ext cx="266090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maybe a value; no reason attached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0B1624"/>
          </a:solidFill>
          <a:ln w="15240">
            <a:solidFill>
              <a:srgbClr val="7B3FF2">
                <a:alpha val="8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858768"/>
            <a:ext cx="320954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`std::expected`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" y="4251960"/>
            <a:ext cx="320954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or typed error; C++23 vocabulary type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343400" y="365760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0B1624"/>
          </a:solidFill>
          <a:ln w="15240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3858768"/>
            <a:ext cx="320954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Assertions / terminate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98848" y="4251960"/>
            <a:ext cx="320954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bugs, violated invariants, impossible states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645920" y="5715000"/>
            <a:ext cx="896112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0642A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5797296"/>
            <a:ext cx="8741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C++ API makes failure policy visible even when the language does not force it.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TOOLBOX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narrows the default choices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`Result` for recoverable failures; `panic!` for bugs/irrecoverable conditions; types for absence.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0B1624"/>
          </a:solidFill>
          <a:ln w="15240">
            <a:solidFill>
              <a:srgbClr val="00B7C7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55648"/>
            <a:ext cx="27340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`Option&lt;T&gt;`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121408"/>
            <a:ext cx="27340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absence without explanation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 value” is ordinary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1572768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0B1624"/>
          </a:solidFill>
          <a:ln w="1524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755648"/>
            <a:ext cx="27340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`Result&lt;T,E&gt;`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2121408"/>
            <a:ext cx="27340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recoverable failure with typed error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the function signature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92440" y="1572768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0B1624"/>
          </a:solidFill>
          <a:ln w="15240">
            <a:solidFill>
              <a:srgbClr val="7B3FF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755648"/>
            <a:ext cx="27340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`?`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57032" y="2121408"/>
            <a:ext cx="27340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return of error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conversion via `From`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37033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0B1624"/>
          </a:solidFill>
          <a:ln w="15240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3886200"/>
            <a:ext cx="323697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`panic!`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33472" y="4251960"/>
            <a:ext cx="323697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bug, broken invariant, impossible state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unwind or abort strategy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37033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0B1624"/>
          </a:solidFill>
          <a:ln w="15240">
            <a:solidFill>
              <a:srgbClr val="FF8A3D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3886200"/>
            <a:ext cx="323697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error enum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31152" y="4251960"/>
            <a:ext cx="323697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failures as variants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checks every case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737360" y="5623560"/>
            <a:ext cx="877824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47088" y="5705856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Rust’s default style turns failure into data before it turns failure into control flow.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CONTRAST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 second path vs explicit second value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 move failure out of the return type. `Result` puts failure inside the return type.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06131F"/>
          </a:solidFill>
          <a:ln w="15240">
            <a:solidFill>
              <a:srgbClr val="FF8A3D">
                <a:alpha val="7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554480"/>
            <a:ext cx="47823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 load_config(const std::filesystem::path&amp; p)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std::ifstream f(p);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(!f) throw ConfigError{p};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read_all(f);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06131F"/>
          </a:solidFill>
          <a:ln w="15240">
            <a:solidFill>
              <a:srgbClr val="00A896">
                <a:alpha val="7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554480"/>
            <a:ext cx="47823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read_to_string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69080"/>
            <a:ext cx="4617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call site may look like a plain value call. The failure path is real, but not visible in the type.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79476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69080"/>
            <a:ext cx="4617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call site must handle, transform, or propagate the `Err` branch. The type keeps asking the question.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0" y="5623560"/>
            <a:ext cx="88696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E02C70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5648" y="5705856"/>
            <a:ext cx="8650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Neither is automatically “better”; they impose different proof obligations on API users.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EXCEPTIONS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exceptions buy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powerful precisely because they are not just “error codes with nicer syntax.”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4892040" cy="1325880"/>
          </a:xfrm>
          <a:prstGeom prst="roundRect">
            <a:avLst>
              <a:gd name="adj" fmla="val 6897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73936"/>
            <a:ext cx="43891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path stays clean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41832" y="2139696"/>
            <a:ext cx="43891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ordinary code reads like the happy path; failure jumps out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55080" y="1572768"/>
            <a:ext cx="4892040" cy="1325880"/>
          </a:xfrm>
          <a:prstGeom prst="roundRect">
            <a:avLst>
              <a:gd name="adj" fmla="val 6897"/>
            </a:avLst>
          </a:prstGeom>
          <a:solidFill>
            <a:srgbClr val="0B1624"/>
          </a:solidFill>
          <a:ln w="15240">
            <a:solidFill>
              <a:srgbClr val="7B3FF2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73936"/>
            <a:ext cx="43891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Constructors can fail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519672" y="2139696"/>
            <a:ext cx="43891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objects either fully exist or construction throws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3401568"/>
            <a:ext cx="4892040" cy="1325880"/>
          </a:xfrm>
          <a:prstGeom prst="roundRect">
            <a:avLst>
              <a:gd name="adj" fmla="val 6897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602736"/>
            <a:ext cx="43891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RAII cleanup works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941832" y="3968496"/>
            <a:ext cx="43891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unwinding destroys already-constructed objects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3401568"/>
            <a:ext cx="4892040" cy="1325880"/>
          </a:xfrm>
          <a:prstGeom prst="roundRect">
            <a:avLst>
              <a:gd name="adj" fmla="val 6897"/>
            </a:avLst>
          </a:prstGeom>
          <a:solidFill>
            <a:srgbClr val="0B1624"/>
          </a:solidFill>
          <a:ln w="15240">
            <a:solidFill>
              <a:srgbClr val="7B3FF2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602736"/>
            <a:ext cx="43891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safety becomes a design discipline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519672" y="3968496"/>
            <a:ext cx="43891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basic, strong and nothrow guarantees are API properties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5623560"/>
            <a:ext cx="777240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F8A3D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04288" y="5705856"/>
            <a:ext cx="7552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exceptions are not a beginner feature. They require grown-up invariants.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EXCEPTION SAFETY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hidden stack: state after failure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an exception, what is true about every object touched on the way out?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9784080" cy="685800"/>
          </a:xfrm>
          <a:prstGeom prst="roundRect">
            <a:avLst>
              <a:gd name="adj" fmla="val 13333"/>
            </a:avLst>
          </a:prstGeom>
          <a:solidFill>
            <a:srgbClr val="0B1624"/>
          </a:solidFill>
          <a:ln w="15240">
            <a:solidFill>
              <a:srgbClr val="FF4D6D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728216"/>
            <a:ext cx="146304" cy="146304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627632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guarantee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5943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state may be partially changed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9784080" cy="685800"/>
          </a:xfrm>
          <a:prstGeom prst="roundRect">
            <a:avLst>
              <a:gd name="adj" fmla="val 13333"/>
            </a:avLst>
          </a:prstGeom>
          <a:solidFill>
            <a:srgbClr val="0B1624"/>
          </a:solidFill>
          <a:ln w="15240">
            <a:solidFill>
              <a:srgbClr val="FF8A3D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2734056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633472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guarantee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3931920" y="2651760"/>
            <a:ext cx="5943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objects remain valid; invariants preserved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9784080" cy="685800"/>
          </a:xfrm>
          <a:prstGeom prst="roundRect">
            <a:avLst>
              <a:gd name="adj" fmla="val 13333"/>
            </a:avLst>
          </a:prstGeom>
          <a:solidFill>
            <a:srgbClr val="0B1624"/>
          </a:solidFill>
          <a:ln w="15240">
            <a:solidFill>
              <a:srgbClr val="00A896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3739896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guarantee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3931920" y="3657600"/>
            <a:ext cx="5943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 succeeds or has no visible effect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914400" y="4480560"/>
            <a:ext cx="9784080" cy="685800"/>
          </a:xfrm>
          <a:prstGeom prst="roundRect">
            <a:avLst>
              <a:gd name="adj" fmla="val 13333"/>
            </a:avLst>
          </a:prstGeom>
          <a:solidFill>
            <a:srgbClr val="0B1624"/>
          </a:solidFill>
          <a:ln w="15240">
            <a:solidFill>
              <a:srgbClr val="7B3FF2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4745736"/>
            <a:ext cx="146304" cy="146304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4645152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Nothrow guarantee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3931920" y="4663440"/>
            <a:ext cx="5943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 promises not to throw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1828800" y="5486400"/>
            <a:ext cx="8183880" cy="658368"/>
          </a:xfrm>
          <a:prstGeom prst="roundRect">
            <a:avLst>
              <a:gd name="adj" fmla="val 13889"/>
            </a:avLst>
          </a:prstGeom>
          <a:solidFill>
            <a:srgbClr val="06131F"/>
          </a:solidFill>
          <a:ln w="15240">
            <a:solidFill>
              <a:srgbClr val="00A896">
                <a:alpha val="7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75104" y="5623560"/>
            <a:ext cx="7891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tmp = make_new_state();   // may throw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swap(state, tmp);             // should not throw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RESULT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`Result&lt;T,E&gt;`: error as a value you must account for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move is not syntax. It is that success and failure are both part of the static type.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06131F"/>
          </a:solidFill>
          <a:ln w="15240">
            <a:solidFill>
              <a:srgbClr val="00A896">
                <a:alpha val="7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00200"/>
            <a:ext cx="336499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6309360" cy="1371600"/>
          </a:xfrm>
          <a:prstGeom prst="roundRect">
            <a:avLst>
              <a:gd name="adj" fmla="val 6667"/>
            </a:avLst>
          </a:prstGeom>
          <a:solidFill>
            <a:srgbClr val="06131F"/>
          </a:solidFill>
          <a:ln w="15240">
            <a:solidFill>
              <a:srgbClr val="00B7C7">
                <a:alpha val="7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5504" y="1600200"/>
            <a:ext cx="6016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ParsePortError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4572000" cy="621792"/>
          </a:xfrm>
          <a:prstGeom prst="roundRect">
            <a:avLst>
              <a:gd name="adj" fmla="val 14706"/>
            </a:avLst>
          </a:prstGeom>
          <a:solidFill>
            <a:srgbClr val="0B1624"/>
          </a:solidFill>
          <a:ln w="15240">
            <a:solidFill>
              <a:srgbClr val="00A896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12464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caller sees the possibility of failure in the signature.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035040" y="3520440"/>
            <a:ext cx="4572000" cy="621792"/>
          </a:xfrm>
          <a:prstGeom prst="roundRect">
            <a:avLst>
              <a:gd name="adj" fmla="val 14706"/>
            </a:avLst>
          </a:prstGeom>
          <a:solidFill>
            <a:srgbClr val="0B1624"/>
          </a:solidFill>
          <a:ln w="15240">
            <a:solidFill>
              <a:srgbClr val="FF8A3D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712464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tracks whether a returned `Result` is used.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77240" y="4434840"/>
            <a:ext cx="4572000" cy="621792"/>
          </a:xfrm>
          <a:prstGeom prst="roundRect">
            <a:avLst>
              <a:gd name="adj" fmla="val 14706"/>
            </a:avLst>
          </a:prstGeom>
          <a:solidFill>
            <a:srgbClr val="0B1624"/>
          </a:solidFill>
          <a:ln w="15240">
            <a:solidFill>
              <a:srgbClr val="7B3FF2">
                <a:alpha val="8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626864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matching can force full treatment of cases.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035040" y="4434840"/>
            <a:ext cx="4572000" cy="621792"/>
          </a:xfrm>
          <a:prstGeom prst="roundRect">
            <a:avLst>
              <a:gd name="adj" fmla="val 14706"/>
            </a:avLst>
          </a:prstGeom>
          <a:solidFill>
            <a:srgbClr val="0B1624"/>
          </a:solidFill>
          <a:ln w="15240">
            <a:solidFill>
              <a:srgbClr val="E02C70">
                <a:alpha val="8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626864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`?` makes propagation concise without hiding the type.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103120" y="5623560"/>
            <a:ext cx="79552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12848" y="5705856"/>
            <a:ext cx="7735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`Result` is a design pressure: “Are you sure failure is part of this API?”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MARK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`?` is not Rust exceptions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`?` is local syntax for a very explicit rule: return the error from this function.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74920" cy="1371600"/>
          </a:xfrm>
          <a:prstGeom prst="roundRect">
            <a:avLst>
              <a:gd name="adj" fmla="val 6667"/>
            </a:avLst>
          </a:prstGeom>
          <a:solidFill>
            <a:srgbClr val="06131F"/>
          </a:solidFill>
          <a:ln w="15240">
            <a:solidFill>
              <a:srgbClr val="00A896">
                <a:alpha val="7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54480"/>
            <a:ext cx="47823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read_to_string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cfg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1624"/>
          </a:solidFill>
          <a:ln w="15240">
            <a:solidFill>
              <a:srgbClr val="7B3FF2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276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7B3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DESUGARS CONCEPTUALLY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41605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`Ok(v)`: use `v`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`Err(e)`: return `Err(convert(e))`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6576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0B1624"/>
          </a:solidFill>
          <a:ln w="15240">
            <a:solidFill>
              <a:srgbClr val="00A896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3931920"/>
            <a:ext cx="2578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enclosing function must return a compatible error channel.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4617720" y="36576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0B1624"/>
          </a:solidFill>
          <a:ln w="15240">
            <a:solidFill>
              <a:srgbClr val="7B3FF2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3931920"/>
            <a:ext cx="2578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 use traits such as `From`.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138160" y="36576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0B1624"/>
          </a:solidFill>
          <a:ln w="15240">
            <a:solidFill>
              <a:srgbClr val="FF8A3D">
                <a:alpha val="8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3931920"/>
            <a:ext cx="2578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catch anything; it propagates.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1645920" y="5623560"/>
            <a:ext cx="88696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E02C70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55648" y="5705856"/>
            <a:ext cx="8650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 `?` as a compact way to keep failure explicit, not as a way to stop thinking.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PANIC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`panic!` is a different contract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panic says: this is not an ordinary alternative result for this caller.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154680" cy="3108960"/>
          </a:xfrm>
          <a:prstGeom prst="roundRect">
            <a:avLst>
              <a:gd name="adj" fmla="val 2941"/>
            </a:avLst>
          </a:prstGeom>
          <a:solidFill>
            <a:srgbClr val="0B1624"/>
          </a:solidFill>
          <a:ln w="1524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836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RECOVERABLE INPUT FAILURE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896112" y="2258568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`Result&lt;T,E&gt;`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6112" y="2926080"/>
            <a:ext cx="2468880" cy="7680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missing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config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denied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3154680" cy="3108960"/>
          </a:xfrm>
          <a:prstGeom prst="roundRect">
            <a:avLst>
              <a:gd name="adj" fmla="val 2941"/>
            </a:avLst>
          </a:prstGeom>
          <a:solidFill>
            <a:srgbClr val="0B1624"/>
          </a:solidFill>
          <a:ln w="15240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8836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4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PROGRAMMER BUG / INVARIANT BROKEN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690872" y="2258568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`panic!` / assert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90872" y="2926080"/>
            <a:ext cx="2468880" cy="7680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known impossible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contradiction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precondition failed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321040" y="1600200"/>
            <a:ext cx="3154680" cy="3108960"/>
          </a:xfrm>
          <a:prstGeom prst="roundRect">
            <a:avLst>
              <a:gd name="adj" fmla="val 2941"/>
            </a:avLst>
          </a:prstGeom>
          <a:solidFill>
            <a:srgbClr val="0B1624"/>
          </a:solidFill>
          <a:ln w="15240">
            <a:solidFill>
              <a:srgbClr val="FF8A3D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8836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BOUNDARY / EMBEDDED / GPU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8485632" y="2258568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abort / error code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85632" y="2926080"/>
            <a:ext cx="2468880" cy="7680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unwinding allowed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runtime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target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1965960" y="5623560"/>
            <a:ext cx="832104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5688" y="5705856"/>
            <a:ext cx="8101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panic may unwind or abort; do not build normal business logic on panic.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UNWRAP / EXPECT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`unwrap()` is a claim, not an error-handling 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 the claim is legitimate. Often it is just laziness with better syntax.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06131F"/>
          </a:solidFill>
          <a:ln w="15240">
            <a:solidFill>
              <a:srgbClr val="FF4D6D">
                <a:alpha val="7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54480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unwrap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06131F"/>
          </a:solidFill>
          <a:ln w="15240">
            <a:solidFill>
              <a:srgbClr val="FF8A3D">
                <a:alpha val="7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9944" y="1554480"/>
            <a:ext cx="47365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"port must be a valid u16"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493008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3858768"/>
            <a:ext cx="2468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tests, examples, truly impossible cases, invariants already checked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0" y="324612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FF4D6D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3493008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3858768"/>
            <a:ext cx="2468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input, I/O, network, config files, external data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229600" y="324612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7B3FF2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3493008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94192" y="3858768"/>
            <a:ext cx="2468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`Result`, add context, convert at the boundary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828800" y="5596128"/>
            <a:ext cx="84124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F8A3D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5678424"/>
            <a:ext cx="8193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C++ developers: `unwrap()` is morally closer to an assertion than to a catch block.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 TABLE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mechanically translate mechanisms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surface behavior may have a different semantic contract.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881360" cy="3977640"/>
          </a:xfrm>
          <a:prstGeom prst="roundRect">
            <a:avLst>
              <a:gd name="adj" fmla="val 2299"/>
            </a:avLst>
          </a:prstGeom>
          <a:solidFill>
            <a:srgbClr val="0B1624"/>
          </a:solidFill>
          <a:ln w="15240">
            <a:solidFill>
              <a:srgbClr val="00B7C7">
                <a:alpha val="8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452628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</a:t>
            </a:r>
            <a:endParaRPr lang="en-US" sz="640" dirty="0"/>
          </a:p>
        </p:txBody>
      </p:sp>
      <p:sp>
        <p:nvSpPr>
          <p:cNvPr id="10" name="Text 8"/>
          <p:cNvSpPr/>
          <p:nvPr/>
        </p:nvSpPr>
        <p:spPr>
          <a:xfrm>
            <a:off x="754380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E02C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914400" y="1975104"/>
            <a:ext cx="1028700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084832"/>
            <a:ext cx="3108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exception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`Result` or panic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543800" y="2084832"/>
            <a:ext cx="3200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depends on recoverability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14400" y="2560320"/>
            <a:ext cx="1028700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670048"/>
            <a:ext cx="3108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error code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2670048"/>
            <a:ext cx="2560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`Result&lt;T,E&gt;`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43800" y="2670048"/>
            <a:ext cx="3200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the error, do not hide meaning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14400" y="3145536"/>
            <a:ext cx="1028700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255264"/>
            <a:ext cx="3108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`std::optional&lt;T&gt;`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26280" y="3255264"/>
            <a:ext cx="2560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`Option&lt;T&gt;`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43800" y="3255264"/>
            <a:ext cx="3200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absence without error reason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14400" y="3730752"/>
            <a:ext cx="1028700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840480"/>
            <a:ext cx="3108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`std::expected&lt;T,E&gt;`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3840480"/>
            <a:ext cx="2560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`Result&lt;T,E&gt;`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43800" y="3840480"/>
            <a:ext cx="3200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 modern C++ analogue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14400" y="4315968"/>
            <a:ext cx="1028700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425696"/>
            <a:ext cx="3108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`assert` / terminate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26280" y="4425696"/>
            <a:ext cx="2560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`panic!` / abort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43800" y="4425696"/>
            <a:ext cx="3200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or unrecoverable invariant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194560" y="5715000"/>
            <a:ext cx="777240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E02C70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5797296"/>
            <a:ext cx="7552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 translation is the one that preserves the proof obligation.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TYPE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types are domain modeling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error design is just another way to represent illegal states.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4983480" cy="2560320"/>
          </a:xfrm>
          <a:prstGeom prst="roundRect">
            <a:avLst>
              <a:gd name="adj" fmla="val 3571"/>
            </a:avLst>
          </a:prstGeom>
          <a:solidFill>
            <a:srgbClr val="06131F"/>
          </a:solidFill>
          <a:ln w="15240">
            <a:solidFill>
              <a:srgbClr val="00A896">
                <a:alpha val="7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08760"/>
            <a:ext cx="4690872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ConfigError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usize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MissingField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InvalidRange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i64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263640" y="1481328"/>
            <a:ext cx="4983480" cy="585216"/>
          </a:xfrm>
          <a:prstGeom prst="roundRect">
            <a:avLst>
              <a:gd name="adj" fmla="val 15625"/>
            </a:avLst>
          </a:prstGeom>
          <a:solidFill>
            <a:srgbClr val="0B1624"/>
          </a:solidFill>
          <a:ln w="15240">
            <a:solidFill>
              <a:srgbClr val="00A896">
                <a:alpha val="8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64208"/>
            <a:ext cx="4526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useful detail near the source.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322576"/>
            <a:ext cx="4983480" cy="585216"/>
          </a:xfrm>
          <a:prstGeom prst="roundRect">
            <a:avLst>
              <a:gd name="adj" fmla="val 15625"/>
            </a:avLst>
          </a:prstGeom>
          <a:solidFill>
            <a:srgbClr val="0B1624"/>
          </a:solidFill>
          <a:ln w="15240">
            <a:solidFill>
              <a:srgbClr val="FF8A3D">
                <a:alpha val="8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505456"/>
            <a:ext cx="4526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Collapse detail only at UI/log/reporting boundaries.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163824"/>
            <a:ext cx="4983480" cy="585216"/>
          </a:xfrm>
          <a:prstGeom prst="roundRect">
            <a:avLst>
              <a:gd name="adj" fmla="val 15625"/>
            </a:avLst>
          </a:prstGeom>
          <a:solidFill>
            <a:srgbClr val="0B1624"/>
          </a:solidFill>
          <a:ln w="15240">
            <a:solidFill>
              <a:srgbClr val="7B3FF2">
                <a:alpha val="8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346704"/>
            <a:ext cx="4526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errors callers can act 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4005072"/>
            <a:ext cx="4983480" cy="585216"/>
          </a:xfrm>
          <a:prstGeom prst="roundRect">
            <a:avLst>
              <a:gd name="adj" fmla="val 15625"/>
            </a:avLst>
          </a:prstGeom>
          <a:solidFill>
            <a:srgbClr val="0B1624"/>
          </a:solidFill>
          <a:ln w="15240">
            <a:solidFill>
              <a:srgbClr val="FF4D6D">
                <a:alpha val="8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187952"/>
            <a:ext cx="4526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make every function return a string.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71600" y="5577840"/>
            <a:ext cx="941832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5660136"/>
            <a:ext cx="9198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values are part of your public type vocabulary. Treat them as seriously as success values.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policy changes at boundaries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a module, preserve structure. At the edge, translate to the language of the boundary.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240280" cy="2423160"/>
          </a:xfrm>
          <a:prstGeom prst="roundRect">
            <a:avLst>
              <a:gd name="adj" fmla="val 4082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0848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 CODE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850392" y="2596896"/>
            <a:ext cx="178308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error enum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source details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53512" y="2971800"/>
            <a:ext cx="475488" cy="0"/>
          </a:xfrm>
          <a:prstGeom prst="line">
            <a:avLst/>
          </a:prstGeom>
          <a:noFill/>
          <a:ln w="15240">
            <a:solidFill>
              <a:srgbClr val="6573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1828800"/>
            <a:ext cx="2240280" cy="2423160"/>
          </a:xfrm>
          <a:prstGeom prst="roundRect">
            <a:avLst>
              <a:gd name="adj" fmla="val 4082"/>
            </a:avLst>
          </a:prstGeom>
          <a:solidFill>
            <a:srgbClr val="0B1624"/>
          </a:solidFill>
          <a:ln w="15240">
            <a:solidFill>
              <a:srgbClr val="7B3FF2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0848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7B3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/ LIBRARY API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3685032" y="2596896"/>
            <a:ext cx="178308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error contract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surprise panics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88152" y="2971800"/>
            <a:ext cx="475488" cy="0"/>
          </a:xfrm>
          <a:prstGeom prst="line">
            <a:avLst/>
          </a:prstGeom>
          <a:noFill/>
          <a:ln w="15240">
            <a:solidFill>
              <a:srgbClr val="6573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1828800"/>
            <a:ext cx="2240280" cy="2423160"/>
          </a:xfrm>
          <a:prstGeom prst="roundRect">
            <a:avLst>
              <a:gd name="adj" fmla="val 4082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0848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/ UI / LOGS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6519672" y="2596896"/>
            <a:ext cx="178308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message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code / diagnostics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22792" y="2971800"/>
            <a:ext cx="475488" cy="0"/>
          </a:xfrm>
          <a:prstGeom prst="line">
            <a:avLst/>
          </a:prstGeom>
          <a:noFill/>
          <a:ln w="15240">
            <a:solidFill>
              <a:srgbClr val="6573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89720" y="1828800"/>
            <a:ext cx="2240280" cy="2423160"/>
          </a:xfrm>
          <a:prstGeom prst="roundRect">
            <a:avLst>
              <a:gd name="adj" fmla="val 4082"/>
            </a:avLst>
          </a:prstGeom>
          <a:solidFill>
            <a:srgbClr val="0B1624"/>
          </a:solidFill>
          <a:ln w="15240">
            <a:solidFill>
              <a:srgbClr val="FF4D6D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4312" y="20848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4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 / GPU / OS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9354312" y="2596896"/>
            <a:ext cx="178308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unwinding assumptions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ABI status codes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45920" y="5623560"/>
            <a:ext cx="88696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5705856"/>
            <a:ext cx="8650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moment you cross a language/runtime boundary, the failure contract must be explicit.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Performance: understand the shape, then measure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exceptions and Rust `Result` move cost to different places.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exceptions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987552" y="2395728"/>
            <a:ext cx="25603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path can be clean
</a:t>
            </a:r>
            <a:endParaRPr lang="en-US" sz="860" dirty="0"/>
          </a:p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path may require unwinding machinery
</a:t>
            </a:r>
            <a:endParaRPr lang="en-US" sz="860" dirty="0"/>
          </a:p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 are invisible in type signatures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`Result`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4736592" y="2395728"/>
            <a:ext cx="25603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branch/data path visible to optimizer
</a:t>
            </a:r>
            <a:endParaRPr lang="en-US" sz="860" dirty="0"/>
          </a:p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value is part of ABI/type
</a:t>
            </a:r>
            <a:endParaRPr lang="en-US" sz="860" dirty="0"/>
          </a:p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`?` compiles to ordinary control flow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0B1624"/>
          </a:solidFill>
          <a:ln w="15240">
            <a:solidFill>
              <a:srgbClr val="7B3FF2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rule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8485632" y="2395728"/>
            <a:ext cx="25603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optimize the wrong failure model
</a:t>
            </a:r>
            <a:endParaRPr lang="en-US" sz="860" dirty="0"/>
          </a:p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hot-path invariants from recoverable errors
</a:t>
            </a:r>
            <a:endParaRPr lang="en-US" sz="860" dirty="0"/>
          </a:p>
          <a:p>
            <a:r>
              <a:rPr lang="en-US" sz="86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generated code only after design is right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1645920" y="5596128"/>
            <a:ext cx="88696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6C945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55648" y="5678424"/>
            <a:ext cx="8650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fastest failure path is usually the one you designed not to happen in the hot loop.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FIX-IT HOOKS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this stack plugs into the 100 exercises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failures as tiny diagnostic probes: what does the compiler force, and what can still be wrong?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 w="15240">
            <a:solidFill>
              <a:srgbClr val="F06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28216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/ Result / Error Handling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2130552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exercise stack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 w="15240">
            <a:solidFill>
              <a:srgbClr val="00A896">
                <a:alpha val="8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28216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&amp; Moves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45152" y="2130552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values move too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 w="15240">
            <a:solidFill>
              <a:srgbClr val="7B3FF2">
                <a:alpha val="8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728216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Borrowing &amp; References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02752" y="2130552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returning references in errors?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22960" y="361188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 w="15240">
            <a:solidFill>
              <a:srgbClr val="FF8A3D">
                <a:alpha val="8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831336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Structs, Enums &amp; Patterns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7552" y="4233672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domain errors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480560" y="361188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 w="15240">
            <a:solidFill>
              <a:srgbClr val="E02C70">
                <a:alpha val="84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831336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&amp; Generics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5152" y="4233672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conversion and bounds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138160" y="361188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0B1624"/>
          </a:solidFill>
          <a:ln w="15240">
            <a:solidFill>
              <a:srgbClr val="FF4D6D">
                <a:alpha val="8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3831336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&amp; Synchronization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02752" y="4233672"/>
            <a:ext cx="2606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 across threads; join returns failure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371600" y="5669280"/>
            <a:ext cx="941832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0642A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5751576"/>
            <a:ext cx="9198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students: “Is this a compile-time error, runtime failure, bad API, or wrong invariant?”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TRIGGER TABLE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pull this stack during class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deck whenever the room starts arguing about “just return an error.”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01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“WHY NO EXCEPTIONS?”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896112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hidden and typed failure paths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FF4D6D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801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4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“CAN I JUST UNWRAP?”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645152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invariant was proven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801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“WHY IS `?` SPECIAL?”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8394192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propagation and conversion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7B3FF2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044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7B3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“THIS ERROR TYPE IS UGLY”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896112" y="436168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the domain, then simplify at boundary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480560" y="370332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9044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B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“C++ EXPECTED IS THE SAME”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4645152" y="436168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analogue, different ecosystem defaults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229600" y="370332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0B1624"/>
          </a:solidFill>
          <a:ln w="15240">
            <a:solidFill>
              <a:srgbClr val="E02C70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39044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E02C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“PANIC IS SCARY”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8394192" y="436168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bugs from recoverable failures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Lab: turn vague failure into typed failure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repair the API, not just the syntax.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06131F"/>
          </a:solidFill>
          <a:ln w="15240">
            <a:solidFill>
              <a:srgbClr val="FF4D6D">
                <a:alpha val="7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463040"/>
            <a:ext cx="50109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read_to_string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unwrap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unwrap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5120640" cy="1325880"/>
          </a:xfrm>
          <a:prstGeom prst="roundRect">
            <a:avLst>
              <a:gd name="adj" fmla="val 6897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54480"/>
            <a:ext cx="1097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0" y="1883664"/>
            <a:ext cx="44805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panics with a meaningful `Result`. Preserve the two failure causes. Decide where to convert to a user-facing message.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960120" y="365760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913632"/>
            <a:ext cx="1783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Identify failure classes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703320" y="365760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3913632"/>
            <a:ext cx="1783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Design `enum PortError`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446520" y="365760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0B1624"/>
          </a:solidFill>
          <a:ln w="15240">
            <a:solidFill>
              <a:srgbClr val="7B3FF2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3913632"/>
            <a:ext cx="1783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Use `?` where conversion is defined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189720" y="365760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0B1624"/>
          </a:solidFill>
          <a:ln w="15240">
            <a:solidFill>
              <a:srgbClr val="E02C7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3913632"/>
            <a:ext cx="1783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Handle result at `main` or boundary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1234440" y="5596128"/>
            <a:ext cx="97840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4168" y="5678424"/>
            <a:ext cx="9564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 is not “avoid unwrap.” The point is to express which failures the caller must understand.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possible Rust solution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it small. Then discuss what changes in production code.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5806440" cy="4892040"/>
          </a:xfrm>
          <a:prstGeom prst="roundRect">
            <a:avLst>
              <a:gd name="adj" fmla="val 1869"/>
            </a:avLst>
          </a:prstGeom>
          <a:solidFill>
            <a:srgbClr val="06131F"/>
          </a:solidFill>
          <a:ln w="15240">
            <a:solidFill>
              <a:srgbClr val="00A896">
                <a:alpha val="7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371600"/>
            <a:ext cx="5513832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#[derive(Debug)]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PortError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PortError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PortError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read_to_string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port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90" dirty="0"/>
          </a:p>
        </p:txBody>
      </p:sp>
      <p:sp>
        <p:nvSpPr>
          <p:cNvPr id="9" name="Shape 7"/>
          <p:cNvSpPr/>
          <p:nvPr/>
        </p:nvSpPr>
        <p:spPr>
          <a:xfrm>
            <a:off x="6903720" y="1325880"/>
            <a:ext cx="4526280" cy="4343400"/>
          </a:xfrm>
          <a:prstGeom prst="roundRect">
            <a:avLst>
              <a:gd name="adj" fmla="val 2105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6002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POINTS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7150608" y="1993392"/>
            <a:ext cx="37490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87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error type good enough for callers?
</a:t>
            </a:r>
            <a:endParaRPr lang="en-US" sz="870" dirty="0"/>
          </a:p>
          <a:p>
            <a:r>
              <a:rPr lang="en-US" sz="87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the enum store the path too?
</a:t>
            </a:r>
            <a:endParaRPr lang="en-US" sz="870" dirty="0"/>
          </a:p>
          <a:p>
            <a:r>
              <a:rPr lang="en-US" sz="87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we format human-readable messages?
</a:t>
            </a:r>
            <a:endParaRPr lang="en-US" sz="870" dirty="0"/>
          </a:p>
          <a:p>
            <a:r>
              <a:rPr lang="en-US" sz="87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application code use `Box&lt;dyn Error&gt;` or a crate?
</a:t>
            </a:r>
            <a:endParaRPr lang="en-US" sz="870" dirty="0"/>
          </a:p>
          <a:p>
            <a:r>
              <a:rPr lang="en-US" sz="87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would the closest C++20/23 API look like?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995160" y="4983480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E02C70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5065776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Smallest correct fix first; better production ergonomics second.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COUNTERPOINT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exercise in modern C++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C++ to prove the idea is language-independent.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06131F"/>
          </a:solidFill>
          <a:ln w="15240">
            <a:solidFill>
              <a:srgbClr val="7B3FF2">
                <a:alpha val="7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463040"/>
            <a:ext cx="574243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PortErrc { io, parse 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std::expected&lt;uint16_t, PortErrc&gt;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load_port(std::string_view path)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text = read_file(path);      // expected&lt;string, PortErrc&gt;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(!text) return std::unexpected{text.error()};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port = parse_u16(*text);     // expected&lt;uint16_t, PortErrc&gt;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(!port) return std::unexpected{port.error()};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*port;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160520" cy="3291840"/>
          </a:xfrm>
          <a:prstGeom prst="roundRect">
            <a:avLst>
              <a:gd name="adj" fmla="val 2778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88352" y="17830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TEACHING POINT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7388352" y="2240280"/>
            <a:ext cx="3429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C++ can express much of the same idea with vocabulary types. Rust simply makes this style the ordinary path.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388352" y="3383280"/>
            <a:ext cx="33375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the recurring course thesis: Rust is not magic; it moves more facts into places the compiler can see.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097280" y="5715000"/>
            <a:ext cx="996696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0642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5797296"/>
            <a:ext cx="9747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module should improve their C++ even if they never ship Rust.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COMPILER KNOWLEDGE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the compiler know?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course question, now applied to failure.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744200" cy="4206240"/>
          </a:xfrm>
          <a:prstGeom prst="roundRect">
            <a:avLst>
              <a:gd name="adj" fmla="val 2174"/>
            </a:avLst>
          </a:prstGeom>
          <a:solidFill>
            <a:srgbClr val="0B1624"/>
          </a:solidFill>
          <a:ln w="15240">
            <a:solidFill>
              <a:srgbClr val="E02C70">
                <a:alpha val="8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916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E02C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</a:t>
            </a:r>
            <a:endParaRPr lang="en-US" sz="640" dirty="0"/>
          </a:p>
        </p:txBody>
      </p:sp>
      <p:sp>
        <p:nvSpPr>
          <p:cNvPr id="10" name="Text 8"/>
          <p:cNvSpPr/>
          <p:nvPr/>
        </p:nvSpPr>
        <p:spPr>
          <a:xfrm>
            <a:off x="7818120" y="16916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914400" y="1956816"/>
            <a:ext cx="1014984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03120"/>
            <a:ext cx="3154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this call fail?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maybe, by convention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818120" y="2103120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in `Result` type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14400" y="2578608"/>
            <a:ext cx="1014984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24912"/>
            <a:ext cx="3154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failures are expected?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663440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 / exception type / error code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818120" y="2724912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type / enum variants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14400" y="3200400"/>
            <a:ext cx="1014984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346704"/>
            <a:ext cx="3154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caller handle it?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663440" y="3346704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always statically visible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818120" y="3346704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use, match, or propagate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14400" y="3822192"/>
            <a:ext cx="1014984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968496"/>
            <a:ext cx="3154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on programmer bug?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663440" y="3968496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assert/UB/throw/terminate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818120" y="3968496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 or explicit unsafe contract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14400" y="4443984"/>
            <a:ext cx="10149840" cy="0"/>
          </a:xfrm>
          <a:prstGeom prst="line">
            <a:avLst/>
          </a:prstGeom>
          <a:noFill/>
          <a:ln w="8890">
            <a:solidFill>
              <a:srgbClr val="1C2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590288"/>
            <a:ext cx="3154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failure cross FFI?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663440" y="4590288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 unless specified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818120" y="4590288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 unless specified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194560" y="5715000"/>
            <a:ext cx="768096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E02C70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5797296"/>
            <a:ext cx="7461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is where “compiler pressure” becomes API design discipline.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 w="12700">
            <a:solidFill>
              <a:srgbClr val="050B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" y="1078992"/>
            <a:ext cx="11405311" cy="0"/>
          </a:xfrm>
          <a:prstGeom prst="line">
            <a:avLst/>
          </a:prstGeom>
          <a:noFill/>
          <a:ln w="12700">
            <a:solidFill>
              <a:srgbClr val="14243A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6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SYNTHESIS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93192" y="4754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 failure as contract, not cleanup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students see the why, the patterns become reflex.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0B1624"/>
          </a:solidFill>
          <a:ln w="1524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7922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8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LESSON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078992" y="2240280"/>
            <a:ext cx="25146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exception-safety guarantees
</a:t>
            </a:r>
            <a:endParaRPr lang="en-US" sz="880" dirty="0"/>
          </a:p>
          <a:p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`expected`/`optional` intentionally
</a:t>
            </a:r>
            <a:endParaRPr lang="en-US" sz="880" dirty="0"/>
          </a:p>
          <a:p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hide ownership/failure conventions
</a:t>
            </a:r>
            <a:endParaRPr lang="en-US" sz="880" dirty="0"/>
          </a:p>
          <a:p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boundary contracts explicit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0B1624"/>
          </a:solidFill>
          <a:ln w="1524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7922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00A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LESSON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736592" y="2240280"/>
            <a:ext cx="25146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`Result` is typed failure
</a:t>
            </a:r>
            <a:endParaRPr lang="en-US" sz="880" dirty="0"/>
          </a:p>
          <a:p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`?` is propagation, not magic
</a:t>
            </a:r>
            <a:endParaRPr lang="en-US" sz="880" dirty="0"/>
          </a:p>
          <a:p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`panic!` is not ordinary control flow
</a:t>
            </a:r>
            <a:endParaRPr lang="en-US" sz="880" dirty="0"/>
          </a:p>
          <a:p>
            <a:r>
              <a:rPr lang="en-US" sz="880" dirty="0">
                <a:solidFill>
                  <a:srgbClr val="A6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types are domain types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0B1624"/>
          </a:solidFill>
          <a:ln w="15240">
            <a:solidFill>
              <a:srgbClr val="E02C7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7922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E02C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LESSON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8339328" y="2331720"/>
            <a:ext cx="2514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systems programmer does not merely handle errors. They decide which failures belong in the program model.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417320" y="5623560"/>
            <a:ext cx="9326880" cy="329184"/>
          </a:xfrm>
          <a:prstGeom prst="roundRect">
            <a:avLst>
              <a:gd name="adj" fmla="val 19444"/>
            </a:avLst>
          </a:prstGeom>
          <a:solidFill>
            <a:srgbClr val="0E1A2B"/>
          </a:solidFill>
          <a:ln w="15240">
            <a:solidFill>
              <a:srgbClr val="F0642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5705856"/>
            <a:ext cx="9107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A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ask “How do I make the error go away?” Ask “Who must know this can fail?”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39319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1750040" y="65653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5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4252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Errors, Exceptions, Result and Failure</dc:title>
  <dc:subject>Rust/C++ Course Addendum: Errors, Exceptions, Result and Failure</dc:subject>
  <dc:creator>OpenAI</dc:creator>
  <cp:lastModifiedBy>OpenAI</cp:lastModifiedBy>
  <cp:revision>1</cp:revision>
  <dcterms:created xsi:type="dcterms:W3CDTF">2026-09-13T13:09:24Z</dcterms:created>
  <dcterms:modified xsi:type="dcterms:W3CDTF">2026-09-13T13:09:24Z</dcterms:modified>
</cp:coreProperties>
</file>