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position this stack as a bridge between high-level design and byte-level reasoning. The audience already knows C++; the goal is to make the dispatch and representation costs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bird’s-eye slide for non-linear teaching. Pull it up whenever the class starts debating a syntax rule instead of the underlying dispatch/layout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two-axis map: dispatch strategy and representation visibility. The goal is to give students a mental place to file generics, trait objects, enums, repr(C), and fat pointers.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non-linear entry point. It marks a new stack, not necessarily a scheduled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before syntax. It prevents students from treating generics, dyn Trait, enum dispatch, and trait bounds as equivalent spellings.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useful early in the stack. Emphasize that the language constructs are not one-for-one equivalents; they answer similar design questions with different constraints.
[Sources]
- https://doc.rust-lang.org/book/ch10-00-generics.html
- https://en.cppreference.com/w/cpp/language/virtual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C++ interface analogy, then deliberately break it. Traits describe behavior; they do not create an object hierarchy or imply a base subobject layout.
[Sources]
- https://doc.rust-lang.org/book/ch10-02-traits.html
- https://en.cppreference.com/w/cpp/language/virtual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Trait bounds should be introduced as compiler-checkable obligations, not as syntax decoration. This parallels C++20 concepts and requires clauses.
[Sources]
- https://doc.rust-lang.org/book/ch10-02-traits.html
- https://doc.rust-lang.org/reference/trait-bounds.html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dispatch/monomorphization: the compiler creates concrete versions at compile time. Use this slide to compare to C++ templates and to discuss inlining versus code bloat.
[Sources]
- https://doc.rust-lang.org/book/ch10-01-syntax.html#performance-of-code-using-generics
- https://google.github.io/comprehensive-rust/generics/monomorphization.html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Trait objects are dynamically sized and used behind a pointer. Pointers to trait objects carry a data pointer and metadata/vtable pointer; method calls use dynamic dispatch.
[Sources]
- https://doc.rust-lang.org/reference/types/trait-object.html
- https://doc.rust-lang.org/stable/reference/dynamically-sized-types.html
- https://doc.rust-lang.org/book/ch18-02-trait-objects.html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 dispatch is an important third option, closer to std::variant + std::visit in modern C++. It is often the right design when the set of alternatives is closed.
[Sources]
- https://doc.rust-lang.org/book/ch06-00-enums.html
- https://en.cppreference.com/w/cpp/utility/variant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gives quick navigation. Students often overuse dyn Trait because it resembles OOP interfaces; show that generics and impl Trait are often more direct.
[Sources]
- https://doc.rust-lang.org/book/ch10-02-traits.html
- https://doc.rust-lang.org/reference/types/impl-trait.html
- https://doc.rust-lang.org/reference/types/trait-object.html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Associated types simplify APIs when each implementation has one natural related type. Generic parameters express caller-chosen variation.
[Sources]
- https://doc.rust-lang.org/book/ch20-02-advanced-traits.html
- https://rust-lang.github.io/rfcs/0195-associated-items.html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Rust calls this dyn compatibility. It is often explained as “object safety.” The restrictions exist because a trait object erases the concrete Self type and must call through a vtable.
[Sources]
- https://doc.rust-lang.org/reference/items/traits.html#dyn-compatibility
- https://doc.rust-lang.org/reference/types/trait-object.html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100 Fix-It exercise collection: traits and generics are a perfect place to ask students to identify whether the problem is a bound, an erased type, a generic return type, or a design choice.
[Sources]
- https://github.com/edzimmermann/Rust_course/tree/main/rust_cpp_fixit_100/07_traits_and_generics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non-linear entry point. It marks a new stack, not necessarily a scheduled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second stack by linking representation back to the earlier types-and-invariants topic. A type is a design, proof, and machine representation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high-value slide for C++ developers. They already understand pointers and descriptors; show that Rust’s type spellings encode these shapes.
[Sources]
- https://doc.rust-lang.org/stable/reference/dynamically-sized-types.html
- https://doc.rust-lang.org/std/vec/struct.Vec.html
- https://doc.rust-lang.org/std/string/struct.String.html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Sized and DST are a practical representation topic. Use it to explain why str is usually seen as &amp;str and trait objects as &amp;dyn Trait or Box&lt;dyn Trait&gt;.
[Sources]
- https://doc.rust-lang.org/book/ch20-03-advanced-types.html
- https://doc.rust-lang.org/stable/reference/dynamically-sized-types.html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is a contract. Rust’s default representation has fewer layout guarantees than C-compatible representation; this is exactly why repr(C) exists.
[Sources]
- https://doc.rust-lang.org/stable/reference/type-layout.html
- https://doc.rust-lang.org/nomicon/other-reprs.html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byte-level slide. The exact layout can be target/ABI dependent, but the teaching point is alignment and padding. Rust warns hard about packed fields because unaligned references are UB.
[Sources]
- https://doc.rust-lang.org/stable/reference/type-layout.html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Niche optimization is a powerful bridge from invariants to representation. Use Option&lt;&amp;T&gt; as the core example: null is not a valid reference, so None can use that representation.
[Sources]
- https://doc.rust-lang.org/std/option/#representation
- https://doc.rust-lang.org/std/ptr/struct.NonNull.html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Zero-cost abstraction should be presented as a falsifiable engineering claim. It often holds for Rust iterators and generics after optimization, but learners should inspect generated code for hot paths.
[Sources]
- https://doc.rust-lang.org/book/ch13-04-performance.html
- https://doc.rust-lang.org/book/ch10-01-syntax.html#performance-of-code-using-generics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gives a high-level view; avoid pretending the full compiler pipeline is simple. The teaching point is information flow: what facts does the compiler still know at optimization time?
[Sources]
- https://rustc-dev-guide.rust-lang.org/mir/index.html
- https://llvm.org/docs/LangRef.html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corrective slide. It prevents a naive “Rust is zero-cost” takeaway. Good C++ and good Rust both require inspecting the abstraction boundary and the generated code where performance matters.
[Sources]
- https://doc.rust-lang.org/book/ch18-02-trait-objects.html#trait-objects-perform-dynamic-dispatch
- https://doc.rust-lang.org/book/ch13-04-performance.html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practical work. This connects the stack back to the 100 Fix-It style: students classify the error/design issue before trying to make the compiler happy.
[Sources]
- https://github.com/edzimmermann/Rust_course/tree/main/rust_cpp_fixit_100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synthesis for the stack. Return to this when leaving the topic: dispatch and layout are the two recurring questions behind abstraction.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029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 MEETS THE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Traits, Generics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Polymorphism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85216" y="2432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followed by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6766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Representation, Layout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Zero‑Cost Abstraction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459028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C++ developers: every abstraction has a dispatch story and a byte story.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18120" y="841248"/>
            <a:ext cx="1600200" cy="73152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source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shape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29800" y="1938528"/>
            <a:ext cx="1600200" cy="73152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compiler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proof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8120" y="3035808"/>
            <a:ext cx="1600200" cy="73152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machine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shape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5240" y="4800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D3D"/>
                </a:solidFill>
              </a:rPr>
              <a:t>dispatch + layout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52578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C7"/>
                </a:solidFill>
              </a:rPr>
              <a:t>What does the compiler know?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64282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FLIGHT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stack matters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The syntax is not the story. The story is where the proof lives.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645920" cy="36576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505456"/>
            <a:ext cx="1645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algorithm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many types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0008" y="2423160"/>
            <a:ext cx="4572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80360" y="2057400"/>
            <a:ext cx="1645920" cy="36576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implementation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2505456"/>
            <a:ext cx="1645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time?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time?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44568" y="2423160"/>
            <a:ext cx="4572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2057400"/>
            <a:ext cx="1645920" cy="36576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invariants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2505456"/>
            <a:ext cx="1645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legal?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39128" y="2423160"/>
            <a:ext cx="4572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269480" y="2057400"/>
            <a:ext cx="1645920" cy="36576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bytes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2505456"/>
            <a:ext cx="1645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layout, padding,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 pointers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33688" y="2423160"/>
            <a:ext cx="4572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464040" y="2057400"/>
            <a:ext cx="1645920" cy="36576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costs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64040" y="2505456"/>
            <a:ext cx="1645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size, calls,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187952"/>
            <a:ext cx="10149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C++ gives you many of these choices explicitly. Rust keeps the same choices, but makes more of the contract statically visible.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61872" y="515721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26D3D"/>
                </a:solidFill>
              </a:rPr>
              <a:t>Instructor move: when the room gets lost, return to this slide and ask: which choice are we making?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FLIGHT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questions behind almost every abstraction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11612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D3D"/>
                </a:solidFill>
              </a:rPr>
              <a:t>Who chooses the implementation?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1612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What representation is visible?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389888"/>
            <a:ext cx="0" cy="43434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611880"/>
            <a:ext cx="10287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591056"/>
            <a:ext cx="42976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dispatch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43000" y="2112264"/>
            <a:ext cx="4297680" cy="10515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generics / templates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monomorphization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inlining possible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3895344"/>
            <a:ext cx="42976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dispatch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3000" y="4416552"/>
            <a:ext cx="4297680" cy="10515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 Trait / virtual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vtable lookup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type erased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1591056"/>
            <a:ext cx="42976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layout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2112264"/>
            <a:ext cx="4297680" cy="10515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T, Vec&lt;T&gt;, enum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sees size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concrete fields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3895344"/>
            <a:ext cx="42976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erased / contractual layout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46520" y="4416552"/>
            <a:ext cx="4297680" cy="10515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 Trait, &amp;[T]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repr(C), FFI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or ABI rules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5916168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Rust makes you pick the quadrant more often. That is a design advantage, not bureaucracy.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D3D"/>
                </a:solidFill>
              </a:rPr>
              <a:t>STACK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5087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Traits, Generics &amp; Polymorphism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3504" y="2871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AAB6C7"/>
                </a:solidFill>
              </a:rPr>
              <a:t>How we reuse behavior without forgetting the cost model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3504" y="3904488"/>
            <a:ext cx="6492240" cy="0"/>
          </a:xfrm>
          <a:prstGeom prst="line">
            <a:avLst/>
          </a:prstGeom>
          <a:noFill/>
          <a:ln w="38100">
            <a:solidFill>
              <a:srgbClr val="F26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42976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6C7"/>
                </a:solidFill>
              </a:rPr>
              <a:t>pull this stack when the class asks “why not just templates / virtuals?”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Rust for Experienced C++ Developers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Polymorphism is a question, not a feature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25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Before choosing syntax, choose the shape of the problem.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7889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or closed set?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788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new types appear outside this module/crate?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97680" y="1920240"/>
            <a:ext cx="27889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Compile-time or runtime?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2423160"/>
            <a:ext cx="2788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caller know the concrete type?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63840" y="1920240"/>
            <a:ext cx="27889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Homogeneous or heterogeneous?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0" y="2423160"/>
            <a:ext cx="2788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Vec&lt;T&gt;, or many concrete types in one container?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3913632"/>
            <a:ext cx="27889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inlining?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416552"/>
            <a:ext cx="2788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on a hot path where indirect calls matter?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97680" y="3913632"/>
            <a:ext cx="27889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size pressure?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4416552"/>
            <a:ext cx="2788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monomorphization clone too much code?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63840" y="3913632"/>
            <a:ext cx="27889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the abstraction?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0" y="4416552"/>
            <a:ext cx="2788920" cy="74980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author, caller, plugin, FFI boundary?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vocabulary ↔ Rust vocabulary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2898648" cy="31089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30168" y="1325880"/>
            <a:ext cx="2898648" cy="31089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1325880"/>
            <a:ext cx="4910328" cy="31089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289864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&lt;typename T&gt;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3630168" y="1828800"/>
            <a:ext cx="289864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f&lt;T&gt;(x: T)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6601968" y="1828800"/>
            <a:ext cx="491032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polymorphism; code specialized for concrete T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658368" y="2487168"/>
            <a:ext cx="289864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/ requires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3630168" y="2487168"/>
            <a:ext cx="289864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 bound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601968" y="2487168"/>
            <a:ext cx="491032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operations must T support?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658368" y="3145536"/>
            <a:ext cx="289864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base class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630168" y="3145536"/>
            <a:ext cx="289864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 Trait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601968" y="3145536"/>
            <a:ext cx="491032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dispatch through a vtable-like mechanism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658368" y="3803904"/>
            <a:ext cx="289864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std::variant + visit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3630168" y="3803904"/>
            <a:ext cx="289864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+ match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601968" y="3803904"/>
            <a:ext cx="491032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set of alternatives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658368" y="4462272"/>
            <a:ext cx="289864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CRTP / policy type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630168" y="4462272"/>
            <a:ext cx="289864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impl / marker types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6601968" y="4462272"/>
            <a:ext cx="4910328" cy="47548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compile-time composition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658368" y="5120640"/>
            <a:ext cx="289864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erasure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3630168" y="5120640"/>
            <a:ext cx="289864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Box&lt;dyn Trait&gt; / &amp;dyn Trait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6601968" y="5120640"/>
            <a:ext cx="4910328" cy="475488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 exact type, keep behavior contract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1005840" y="58978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26D3D"/>
                </a:solidFill>
              </a:rPr>
              <a:t>This table is a map, not a translation table. The cost model still matters.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trait is a behavior contract, not a class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5257800" cy="297180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...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6355080" y="1371600"/>
            <a:ext cx="5166360" cy="297180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Draw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~Draw() = default;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draw() const = 0;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Button : Draw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label;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draw() const override;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68680" y="4535424"/>
            <a:ext cx="4526280" cy="219456"/>
          </a:xfrm>
          <a:prstGeom prst="rect">
            <a:avLst/>
          </a:prstGeom>
          <a:solidFill>
            <a:srgbClr val="0B1220">
              <a:alpha val="92000"/>
            </a:srgbClr>
          </a:solidFill>
          <a:ln w="8890">
            <a:solidFill>
              <a:srgbClr val="60A5FA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Rust: behavior separate from representation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4535424"/>
            <a:ext cx="4709160" cy="219456"/>
          </a:xfrm>
          <a:prstGeom prst="rect">
            <a:avLst/>
          </a:prstGeom>
          <a:solidFill>
            <a:srgbClr val="0B1220">
              <a:alpha val="92000"/>
            </a:srgbClr>
          </a:solidFill>
          <a:ln w="8890">
            <a:solidFill>
              <a:srgbClr val="F26D3D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6D3D"/>
                </a:solidFill>
              </a:rPr>
              <a:t>C++: interface often entangled with object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trait can be implemented for an existing type without changing its storage.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inherited data layout is implied by the trait itself.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is chosen later: generic bound, impl Trait, dyn Trait, enum, etc.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 bounds are proof obligations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5120640" cy="260604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"{item:?}"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D3D"/>
                </a:solidFill>
              </a:rPr>
              <a:t>Read the bound aloud: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3952" y="1783080"/>
            <a:ext cx="4663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caller may choose any T.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compiler must be able to prove T supports Debug and Draw.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the function, only those promised operations are legal.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bound is part of the function contract.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analogy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4700016"/>
            <a:ext cx="10881360" cy="841248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Drawable&lt;T&gt; &amp;&amp; std::formattable&lt;T, char&gt;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log_draw(const T&amp; item) { /* ... */ }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914400" y="5806440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The point is not “Rust has traits.” The point is that operations become explicit proof obligations at the API boundary.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dispatch: monomorphization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4944" y="1325880"/>
            <a:ext cx="4160520" cy="265176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1_i32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2_i32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074920" y="2011680"/>
            <a:ext cx="1051560" cy="-50292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2606040"/>
            <a:ext cx="1051560" cy="530352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96112" y="4160520"/>
            <a:ext cx="361188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234440"/>
            <a:ext cx="2011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max_i32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9632" y="1810512"/>
            <a:ext cx="2423160" cy="73152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code specialized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2011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max_&amp;str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99632" y="3547872"/>
            <a:ext cx="2423160" cy="73152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code specialized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&amp;str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1417320"/>
            <a:ext cx="2286000" cy="3657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gain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720" y="1874520"/>
            <a:ext cx="2240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vtable lookup
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inlining possible
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 sees concrete 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0" y="3429000"/>
            <a:ext cx="2286000" cy="3657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may pay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886200"/>
            <a:ext cx="2240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code copies
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compile times
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binaries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91616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C++ templates and Rust generics both make this trade: runtime speed for compile-time specialization.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dispatch: `dyn Trait`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4663440" cy="320040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screen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widget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screen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indirect call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7223760" y="2048256"/>
            <a:ext cx="502920" cy="0"/>
          </a:xfrm>
          <a:prstGeom prst="line">
            <a:avLst/>
          </a:prstGeom>
          <a:noFill/>
          <a:ln w="2159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23760" y="2852928"/>
            <a:ext cx="502920" cy="658368"/>
          </a:xfrm>
          <a:prstGeom prst="line">
            <a:avLst/>
          </a:prstGeom>
          <a:noFill/>
          <a:ln w="21590">
            <a:solidFill>
              <a:srgbClr val="F26D3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742432" y="2084832"/>
            <a:ext cx="1417320" cy="102412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&amp;dyn Draw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 pointer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91640"/>
            <a:ext cx="2011680" cy="38404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pointer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8120" y="2212848"/>
            <a:ext cx="2011680" cy="68580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Button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Slider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3611880"/>
            <a:ext cx="2011680" cy="38404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vtable pointer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4133088"/>
            <a:ext cx="2011680" cy="694944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draw()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drop()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 / align metadata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230368"/>
            <a:ext cx="10607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container can hold many concrete types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dispatch enables open extension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indirect call and less inlining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Enum dispatch: closed-world polymorphism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4754880" cy="379476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141732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the set of variants is known and controlled.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89320" y="2148840"/>
            <a:ext cx="1828800" cy="310896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exhaustive handling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object-safety restrictions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easier to inspect layout/cost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9320" y="3977640"/>
            <a:ext cx="1828800" cy="310896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43891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a new variant touches the enum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open for external plugins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variants can inflate enum size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`T: Trait`, `impl Trait`, `dyn Trait`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2734056" cy="30175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spelling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3355848" y="1261872"/>
            <a:ext cx="2734056" cy="30175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knows T?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144768" y="1261872"/>
            <a:ext cx="2093976" cy="30175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293608" y="1261872"/>
            <a:ext cx="2962656" cy="30175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66928" y="1764792"/>
            <a:ext cx="27340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f&lt;T: Draw&gt;(x: T)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3355848" y="1764792"/>
            <a:ext cx="27340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 chooses concrete 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44768" y="1764792"/>
            <a:ext cx="209397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dispatch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93608" y="1764792"/>
            <a:ext cx="29626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generic algorithms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514600"/>
            <a:ext cx="273405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f(x: impl Draw)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3355848" y="2514600"/>
            <a:ext cx="273405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shorthand for a concrete-but-hidden type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44768" y="2514600"/>
            <a:ext cx="209397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dispatch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93608" y="2514600"/>
            <a:ext cx="296265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simple public APIs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3264408"/>
            <a:ext cx="27340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f(x: &amp;dyn Draw)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3355848" y="3264408"/>
            <a:ext cx="27340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type erased behind pointer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44768" y="3264408"/>
            <a:ext cx="209397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dispatch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93608" y="3264408"/>
            <a:ext cx="29626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heterogeneous/open sets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4014216"/>
            <a:ext cx="273405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make() -&gt; impl Draw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3355848" y="4014216"/>
            <a:ext cx="273405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callee chooses one hidden concrete type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44768" y="4014216"/>
            <a:ext cx="209397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dispatch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93608" y="4014216"/>
            <a:ext cx="2962656" cy="530352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hiding return type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4764024"/>
            <a:ext cx="27340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Box&lt;dyn Draw&gt;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3355848" y="4764024"/>
            <a:ext cx="27340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erased value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44768" y="4764024"/>
            <a:ext cx="209397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dispatch + allocation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93608" y="4764024"/>
            <a:ext cx="2962656" cy="53035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plugin-like ownership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8680" y="589788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Rule of thumb: choose the narrowest abstraction that expresses the real variation.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Associated types: when the implementer owns the choice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4892040" cy="164592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16752" y="14447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iterator implementation chooses exactly one Item type.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53328" y="2084832"/>
            <a:ext cx="48463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associated types when the output/related type belongs to the implementer.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generic parameters when the caller should be able to choose many target types.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mental model: nested type aliases + constrained interfaces, but checked through traits.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4892040" cy="1353312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can ask for different T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1417320" y="5413248"/>
            <a:ext cx="3429000" cy="219456"/>
          </a:xfrm>
          <a:prstGeom prst="rect">
            <a:avLst/>
          </a:prstGeom>
          <a:solidFill>
            <a:srgbClr val="0B1220">
              <a:alpha val="92000"/>
            </a:srgbClr>
          </a:solidFill>
          <a:ln w="8890">
            <a:solidFill>
              <a:srgbClr val="F26D3D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6D3D"/>
                </a:solidFill>
              </a:rPr>
              <a:t>generic parameter: caller chooses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5413248"/>
            <a:ext cx="3886200" cy="219456"/>
          </a:xfrm>
          <a:prstGeom prst="rect">
            <a:avLst/>
          </a:prstGeom>
          <a:solidFill>
            <a:srgbClr val="0B1220">
              <a:alpha val="92000"/>
            </a:srgbClr>
          </a:solidFill>
          <a:ln w="8890">
            <a:solidFill>
              <a:srgbClr val="60A5FA">
                <a:alpha val="8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associated type: implementer chooses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every trait can become `dyn`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5074920" cy="242316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CloneLike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clone_like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is the size of Self through dyn CloneLike?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Which constructor should the vtable expose?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vtable needs finite, concrete callable signatures.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63640" y="1993392"/>
            <a:ext cx="48006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 Self can require knowing the concrete size.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methods would require infinitely many possible vtable entries.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methods can be restricted with where Self: Sized.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error is usually pointing at a real representation problem.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910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D3D"/>
                </a:solidFill>
              </a:rPr>
              <a:t>Translation for C++ developers: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8FAFC"/>
                </a:solidFill>
              </a:rPr>
              <a:t>“Can this interface really be called through an erased pointer without knowing the concrete object type?”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/ GENERICS / POLYMORPHISM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Fix‑It landing zone: traits &amp; generics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Use this stack when students can read Rust syntax but still choose the wrong abstraction.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11480" cy="411480"/>
          </a:xfrm>
          <a:prstGeom prst="rect">
            <a:avLst/>
          </a:prstGeom>
          <a:solidFill>
            <a:srgbClr val="F26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dispatch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70832" y="18745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generic? impl Trait? dyn Trait? enum?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11480" cy="41148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proof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70832" y="274320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trait bound does the compiler need?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411480" cy="41148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the API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70832" y="36118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own, borrow, or erase?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411480" cy="411480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480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cost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70832" y="44805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size, indirect call, allocation, inlining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" y="5486400"/>
            <a:ext cx="10149840" cy="658368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 exercise prompt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“Make this compile without erasing the type unless you need to.”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ask: what would the analogous C++ template/concept look like?</a:t>
            </a:r>
            <a:endParaRPr lang="en-US" sz="12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STACK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5087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Representation, Layout &amp; Zero‑Cost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3504" y="2871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AAB6C7"/>
                </a:solidFill>
              </a:rPr>
              <a:t>The byte-level story behind high-level Rust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3504" y="3904488"/>
            <a:ext cx="649224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42976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6C7"/>
                </a:solidFill>
              </a:rPr>
              <a:t>pull this stack when the class asks “why not just templates / virtuals?”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Rust for Experienced C++ Developers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type is not just an API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For a systems programmer, a type answers five questions at once.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691640" cy="40233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1691640" cy="65836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I do?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08960" y="2331720"/>
            <a:ext cx="1691640" cy="40233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880360"/>
            <a:ext cx="1691640" cy="65836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states are legal?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349240" y="2331720"/>
            <a:ext cx="1691640" cy="40233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2880360"/>
            <a:ext cx="1691640" cy="65836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drops it?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89520" y="2331720"/>
            <a:ext cx="1691640" cy="40233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2880360"/>
            <a:ext cx="1691640" cy="65836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code selected?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829800" y="2331720"/>
            <a:ext cx="1691640" cy="40233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29800" y="2880360"/>
            <a:ext cx="1691640" cy="658368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bytes exist?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97280" y="46451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Rust’s type system is powerful because it connects these questions instead of treating them as comments.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shapes to keep in your head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3258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1325880" cy="1243584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inline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 known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3258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1920240"/>
            <a:ext cx="1325880" cy="1243584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pointer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borrowed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4343400" y="1417320"/>
            <a:ext cx="13258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&amp;[T]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400" y="1920240"/>
            <a:ext cx="1325880" cy="1243584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ptr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length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13258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&amp;dyn Trait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1325880" cy="1243584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ptr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vtable ptr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8001000" y="1417320"/>
            <a:ext cx="13258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Vec&lt;T&gt;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01000" y="1920240"/>
            <a:ext cx="1325880" cy="1243584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ptr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9829800" y="1417320"/>
            <a:ext cx="132588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29800" y="1920240"/>
            <a:ext cx="1325880" cy="1243584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ptr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UTF‑8 invariant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685800" y="3822192"/>
            <a:ext cx="10515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The Rust type spelling often tells you the machine shape: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value vs borrowed view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pointer vs fat pointer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data vs heap-backed descriptor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Compile-time size vs runtime metadata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has the same realities: references, spans, vtables, string descriptors.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names these boundaries more aggressively in the type.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`Sized`, DSTs and fat pointers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4937760" cy="219456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really means: T: Sized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 may be str, [u8], dyn Draw, ...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80760" y="141732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Dynamically sized types do not disappear — they move behind pointers.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172200" y="2148840"/>
            <a:ext cx="47091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`str`, `[T]`, and `dyn Trait` are examples of DSTs.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variable or parameter by value generally needs a known size.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 to DSTs carry metadata: length for slices, vtable for trait objects.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1005840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&amp;[u8]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240280" y="4251960"/>
            <a:ext cx="1645920" cy="3657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ptr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4251960"/>
            <a:ext cx="914400" cy="3657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4251960"/>
            <a:ext cx="1325880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&amp;dyn Draw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4251960"/>
            <a:ext cx="1645920" cy="3657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ptr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98280" y="4251960"/>
            <a:ext cx="1463040" cy="36576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vtable ptr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`repr(Rust)` vs `repr(C)`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3977640" cy="315468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RustPacket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#[repr(C)]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CPacket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10" dirty="0"/>
          </a:p>
        </p:txBody>
      </p:sp>
      <p:sp>
        <p:nvSpPr>
          <p:cNvPr id="8" name="Text 6"/>
          <p:cNvSpPr/>
          <p:nvPr/>
        </p:nvSpPr>
        <p:spPr>
          <a:xfrm>
            <a:off x="5074920" y="1417320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Rust layout is not a stable ABI contract.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66360" y="2148840"/>
            <a:ext cx="52578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`repr(Rust)` guarantees soundness properties, not source field order.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`repr(C)` is for C ABI compatibility and layout-sensitive operations.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`repr(transparent)` is useful for newtypes around a single field.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infer FFI layout from “it looks like C.” Say it with repr.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5074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D3D"/>
                </a:solidFill>
              </a:rPr>
              <a:t>C++ instinct: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5065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“What is the ABI contract?”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50749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Rust answer: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5065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“Only if you asked for one.”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Alignment and padding: the CPU has opinions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3337560" cy="228600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#[repr(C)]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508760"/>
            <a:ext cx="475488" cy="502920"/>
          </a:xfrm>
          <a:prstGeom prst="rect">
            <a:avLst/>
          </a:prstGeom>
          <a:solidFill>
            <a:srgbClr val="F26D3D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475488" cy="5029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32120" y="1508760"/>
            <a:ext cx="475488" cy="5029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1508760"/>
            <a:ext cx="475488" cy="5029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37960" y="1508760"/>
            <a:ext cx="475488" cy="50292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40880" y="1508760"/>
            <a:ext cx="475488" cy="50292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43800" y="1508760"/>
            <a:ext cx="475488" cy="50292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0" y="1508760"/>
            <a:ext cx="475488" cy="50292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49640" y="1508760"/>
            <a:ext cx="475488" cy="50292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52560" y="1508760"/>
            <a:ext cx="475488" cy="50292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55480" y="1508760"/>
            <a:ext cx="475488" cy="5029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0" y="1508760"/>
            <a:ext cx="475488" cy="5029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21488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6C7"/>
                </a:solidFill>
              </a:rPr>
              <a:t>example byte layout under one ABI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743200"/>
            <a:ext cx="59893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often need addresses divisible by their alignment.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Padding may exist between fields and at the end of a struct.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`repr(packed)` can remove padding, but may make references to fields unsafe/invalid.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low-level code respects both representation and alignment.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6112" y="569671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6D3D"/>
                </a:solidFill>
              </a:rPr>
              <a:t>Lesson for C/C++ brains: “smaller” is not automatically “safe” or “faster.”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Niches: when absence costs nothing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5212080" cy="384048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size_of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assert_eq!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size_of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size_of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assert_eq!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size_of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NonNull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size_of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NonNull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6263640" y="1325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type has an impossible bit pattern, Rust can often use it as the enum tag.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114300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2377440" cy="34747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non‑null address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18120" y="2788920"/>
            <a:ext cx="2377440" cy="34747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 is invalid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3657600"/>
            <a:ext cx="146304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Option&lt;&amp;T&gt;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92440" y="3657600"/>
            <a:ext cx="1463040" cy="34747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Some(ptr)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92640" y="3657600"/>
            <a:ext cx="1645920" cy="347472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= null niche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expressive types do not always imply larger data.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only rely on documented layout guarantees, not observed accidents.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Zero‑cost abstraction is a claim to verify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4434840" cy="1874520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58368" y="3675888"/>
            <a:ext cx="4434840" cy="1481328"/>
          </a:xfrm>
          <a:prstGeom prst="rect">
            <a:avLst/>
          </a:prstGeom>
          <a:solidFill>
            <a:srgbClr val="0B1220">
              <a:alpha val="97000"/>
            </a:srgbClr>
          </a:solidFill>
          <a:ln w="1016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0;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 x : data)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y = x * 2;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(y &gt; 10) sum += y;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914400" cy="713232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4206240"/>
            <a:ext cx="914400" cy="-713232"/>
          </a:xfrm>
          <a:prstGeom prst="line">
            <a:avLst/>
          </a:prstGeom>
          <a:noFill/>
          <a:ln w="25400">
            <a:solidFill>
              <a:srgbClr val="F26D3D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20840" y="2788920"/>
            <a:ext cx="1828800" cy="43891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961120" y="2788920"/>
            <a:ext cx="2011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code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595360" y="3017520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72200" y="4023360"/>
            <a:ext cx="4800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Generics and iterator adapters can compile down to tight loops.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guarantee is not “all abstractions are free.”
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allocations, dynamic dispatch, bounds checks, and missed inlining.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5907024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Systems programmer discipline: trust the model, then inspect the generated code.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compiler sees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48840" y="2322576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322576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46520" y="2322576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95360" y="2322576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1536192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source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450592"/>
            <a:ext cx="1536192" cy="8686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traits, generics,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2788920" y="1920240"/>
            <a:ext cx="1536192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 / MIR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88920" y="2450592"/>
            <a:ext cx="1536192" cy="8686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borrows, drops,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flow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1536192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monomorphized code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2450592"/>
            <a:ext cx="1536192" cy="8686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where static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1536192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 IR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86600" y="2450592"/>
            <a:ext cx="1536192" cy="8686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inlining, alias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analysis, passes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9235440" y="1920240"/>
            <a:ext cx="1536192" cy="3657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code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5440" y="2450592"/>
            <a:ext cx="1536192" cy="86868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calls, loads,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branches, allocs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1005840" y="43159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C++ and Rust both end up at the same kind of machine. The difference is which facts survive long enough to be useful.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5138928"/>
            <a:ext cx="9326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dispatch keeps concrete types visible longer.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dispatch intentionally erases some information.
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attributes decide which byte facts are promises.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abstraction is not free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325880"/>
            <a:ext cx="27889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 dispatch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2788920" cy="7772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 call; less inlining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15968" y="1325880"/>
            <a:ext cx="27889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/ Rc / Arc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15968" y="1828800"/>
            <a:ext cx="2788920" cy="7772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and pointer chasing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9560" y="1325880"/>
            <a:ext cx="27889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enums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2788920" cy="7772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variant may dominate size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3273552"/>
            <a:ext cx="27889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bounds checks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3776472"/>
            <a:ext cx="2788920" cy="7772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only when optimizer can prove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15968" y="3273552"/>
            <a:ext cx="27889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 bounds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15968" y="3776472"/>
            <a:ext cx="2788920" cy="7772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monomorphization may grow binary size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09560" y="3273552"/>
            <a:ext cx="27889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 choices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3776472"/>
            <a:ext cx="2788920" cy="77724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ABI/layout promises may restrict optimization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5595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The lesson is not “avoid abstraction.” The lesson is “know which abstraction you chose.”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LAYOUT / ZERO-COST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/ Fix‑It landing zone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Good exercises here make students predict cost before seeing codegen.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4884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choice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one API three ways: generic, dyn Trait, enum. Explain the cost and flexibility.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214884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probe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274320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size_of / align_of to compare T, &amp;T, &amp;[T], &amp;dyn Trait, Option&lt;&amp;T&gt;.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214884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Iterator vs loop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46120" y="361188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optimized Rust and compare with a hand-written loop. Identify calls/branches.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214884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bridge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44805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AB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a C++ template+concept design into Rust trait bounds. Then choose whether dyn is needed.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D3D"/>
                </a:solidFill>
              </a:rPr>
              <a:t>Instructor prompt: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54681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FAFC"/>
                </a:solidFill>
              </a:rPr>
              <a:t>“Before fixing it, tell me whether this is a type-system problem, dispatch problem, or representation problem.”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closing question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20272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Every abstraction must answer two systems questions.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530352" cy="530352"/>
          </a:xfrm>
          <a:prstGeom prst="rect">
            <a:avLst/>
          </a:prstGeom>
          <a:solidFill>
            <a:srgbClr val="F26D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606040" y="25054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How is the implementation chosen?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3429000"/>
            <a:ext cx="530352" cy="530352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606040" y="3511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What representation exists at runtime?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6D3D"/>
                </a:solidFill>
              </a:rPr>
              <a:t>Rust does not abolish costs. It forces more of the cost model into the type boundary, where the compiler and the reader can see it.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Traits, Generics, Polymorphism + Representation, Layout and Zero-Cost Abstraction</dc:title>
  <dc:subject>Rust for experienced C++ developers</dc:subject>
  <dc:creator>OpenAI</dc:creator>
  <cp:lastModifiedBy>OpenAI</cp:lastModifiedBy>
  <cp:revision>1</cp:revision>
  <dcterms:created xsi:type="dcterms:W3CDTF">2026-09-13T18:09:30Z</dcterms:created>
  <dcterms:modified xsi:type="dcterms:W3CDTF">2026-09-13T18:09:30Z</dcterms:modified>
</cp:coreProperties>
</file>