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introduce a stack that is not just another Rust syntax deck. The point is to teach where guarantees are made, where they stop, and how to design systems around those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external sources. This is a teaching stance: coding assistants reduce the marginal cost of syntax, but architectural correctness still depends on understanding contracts and proof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external sources. Conceptual architecture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general Rust language model; see Rust Book / Rust Reference for ownership, borrowing, Result, Option, and data race rules. This slide is a synthesis rather than a direct quotation.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external sources. This is an architectural framing: Rust's language guarantees do not cover OS/hardware/resource/domain correctness.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external sources. This slide captures the course philosophy for medical imaging and operation robotics: evaluate restricted engineering subsets, not marketing versions of languages.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external sources. Design principles for bounded systems; not language-specific.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no_std attribute documentation: https://doc.rust-lang.org/beta/core/attribute.no_std.html
Rust Reference preludes/no_std explanation: https://doc.rust-lang.org/nightly/reference/names/preludes.html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Vec documentation, capacity/reallocation and try_reserve: https://doc.rust-lang.org/std/vec/struct.Vec.html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std::alloc::handle_alloc_error documentation: https://doc.rust-lang.org/stable/std/alloc/fn.handle_alloc_error.html
Rust Vec::try_reserve documentation: https://doc.rust-lang.org/std/vec/struct.Vec.html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panic reference, panic strategies and unwinding/abort: https://doc.rust-lang.org/stable/reference/panic.html
Rust std::alloc::handle_alloc_error: https://doc.rust-lang.org/stable/std/alloc/fn.handle_alloc_error.html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panic reference: unwinding calls Drop on live objects while traversing Rust frames; abort is non-recoverable: https://doc.rust-lang.org/stable/reference/panic.html
Linux OOM killer settings and behavior: https://kernel.org/doc/html/latest/admin-guide/sysctl/vm.html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Book, Unsafe Rust / unsafe superpowers: https://doc.rust-lang.org/book/ch20-01-unsafe-rust.html
Rust Reference / unsafe code model (general): https://doc.rust-lang.org/reference/unsafe.html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Book, Unsafe Rust: https://doc.rust-lang.org/book/ch20-01-unsafe-rust.html
Rustonomicon FFI section: https://doc.rust-lang.org/nightly/nomicon/ffi.html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Rustonomicon FFI section emphasizes that foreign calls are unsafe and signatures/contracts must be correct: https://doc.rust-lang.org/nightly/nomicon/ffi.html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Rustonomicon FFI section: https://doc.rust-lang.org/nightly/nomicon/ffi.html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 Reference: panic behavior and unwinding across FFI boundaries: https://doc.rust-lang.org/stable/reference/panic.html
Rust Reference: function ABI and unwinding behavior: https://doc.rust-lang.org/beta/reference/items/functions.html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Rustonomicon FFI section: https://doc.rust-lang.org/nightly/nomicon/ffi.html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external sources. Domain-specific design checklist for medical imaging 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external sources. General realtime/robotics architecture framing.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general Rust Send/Sync model and standard Mutex&lt;T&gt; semantics. This slide is intentionally conceptual and does not claim Rust proves deadlock freedom.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Linux kernel overcommit accounting documentation: https://www.kernel.org/doc/html/latest/mm/overcommit-accounting.html
Linux /proc/sys/vm documentation, OOM and overcommit controls: https://kernel.org/doc/html/latest/admin-guide/sysctl/vm.html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Linux kernel documentation on overcommit_memory modes, including heuristic, always overcommit, and don't overcommit modes: https://www.kernel.org/doc/html/latest/mm/overcommit-accounting.html
Linux /proc/sys/vm documentation: https://kernel.org/doc/html/latest/admin-guide/sysctl/vm.html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external sources. Architecture recommendation for integrating Rust with existing validated imaging/robotics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external sources. This slide reflects the pedagogical implication of code generation: syntax is not the primary architectural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external sources. Practical checklist for architecture 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external sources. Suggested use within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external sources. Closing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DIVE STACK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Contracts, Boundaries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System Reality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94944" y="242316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systems architects — especially where software touches images, devices, robots, and operating systems.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13232" y="4160520"/>
            <a:ext cx="10698480" cy="1005840"/>
          </a:xfrm>
          <a:prstGeom prst="rect">
            <a:avLst/>
          </a:prstGeom>
          <a:solidFill>
            <a:srgbClr val="0F172A"/>
          </a:solidFill>
          <a:ln w="17780">
            <a:solidFill>
              <a:srgbClr val="F97316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 is not the hard part anymore.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Knowing which guarantees exist — and which do not — is the architect's job.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stack exists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LLMs can help write syntax. They cannot own your system contracts.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502920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LLMs are increasingly good at spelling Rust: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fn, impl, match, lifetimes, cargo, iterator chains.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46520" y="1572768"/>
            <a:ext cx="498348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Architects still must know: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guaranteed, who guarantees it, and what happens when the guarantee is violated.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06440" y="2148840"/>
            <a:ext cx="548640" cy="0"/>
          </a:xfrm>
          <a:prstGeom prst="line">
            <a:avLst/>
          </a:prstGeom>
          <a:noFill/>
          <a:ln w="2286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051560" y="3977640"/>
            <a:ext cx="10058400" cy="960120"/>
          </a:xfrm>
          <a:prstGeom prst="rect">
            <a:avLst/>
          </a:prstGeom>
          <a:solidFill>
            <a:srgbClr val="0F172A"/>
          </a:solidFill>
          <a:ln w="17780">
            <a:solidFill>
              <a:srgbClr val="22D3EE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hard questions are not “how do I write this loop?”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are “what contract does this layer actually enforce?”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central course question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guarantee belongs to a layer. Misplacing the layer creates false confidence.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9921240" cy="566928"/>
          </a:xfrm>
          <a:prstGeom prst="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Rust type system  —  ownership, borrowing, lifetimes, traits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080760" y="2029968"/>
            <a:ext cx="0" cy="25603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143000" y="2286000"/>
            <a:ext cx="9921240" cy="56692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Rust library/API  —  Result, Mutex&lt;T&gt;, Vec&lt;T&gt;, slices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080760" y="2898648"/>
            <a:ext cx="0" cy="25603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143000" y="3154680"/>
            <a:ext cx="9921240" cy="566928"/>
          </a:xfrm>
          <a:prstGeom prst="rect">
            <a:avLst/>
          </a:prstGeom>
          <a:solidFill>
            <a:srgbClr val="F97316">
              <a:alpha val="92000"/>
            </a:srgbClr>
          </a:solidFill>
          <a:ln w="12700">
            <a:solidFill>
              <a:srgbClr val="F97316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unsafe / FFI boundary  —  raw pointers, ABI, layout, foreign code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080760" y="3767328"/>
            <a:ext cx="0" cy="25603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143000" y="4023360"/>
            <a:ext cx="9921240" cy="566928"/>
          </a:xfrm>
          <a:prstGeom prst="rect">
            <a:avLst/>
          </a:prstGeom>
          <a:solidFill>
            <a:srgbClr val="FBBF24">
              <a:alpha val="92000"/>
            </a:srgbClr>
          </a:solidFill>
          <a:ln w="12700">
            <a:solidFill>
              <a:srgbClr val="FBBF24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allocator + OS  —  virtual memory, overcommit, page faults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080760" y="4636008"/>
            <a:ext cx="0" cy="25603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143000" y="4892040"/>
            <a:ext cx="9921240" cy="566928"/>
          </a:xfrm>
          <a:prstGeom prst="rect">
            <a:avLst/>
          </a:prstGeom>
          <a:solidFill>
            <a:srgbClr val="F87171">
              <a:alpha val="92000"/>
            </a:srgbClr>
          </a:solidFill>
          <a:ln w="12700">
            <a:solidFill>
              <a:srgbClr val="F8717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hardware + domain  —  timing, devices, physics, patients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828800" y="5824728"/>
            <a:ext cx="8458200" cy="438912"/>
          </a:xfrm>
          <a:prstGeom prst="rect">
            <a:avLst/>
          </a:prstGeom>
          <a:solidFill>
            <a:srgbClr val="0F172A"/>
          </a:solidFill>
          <a:ln w="17780">
            <a:solidFill>
              <a:srgbClr val="60A5FA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this repeatedly: “Which layer owns this guarantee?”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Rust is very good at proving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Rust moves many memory facts from convention into the language model.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3900830" cy="629412"/>
          </a:xfrm>
          <a:prstGeom prst="rect">
            <a:avLst/>
          </a:prstGeom>
          <a:solidFill>
            <a:srgbClr val="182235"/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86630" y="1417320"/>
            <a:ext cx="3467405" cy="629412"/>
          </a:xfrm>
          <a:prstGeom prst="rect">
            <a:avLst/>
          </a:prstGeom>
          <a:solidFill>
            <a:srgbClr val="182235"/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C/C++ location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54035" y="1417320"/>
            <a:ext cx="3467405" cy="629412"/>
          </a:xfrm>
          <a:prstGeom prst="rect">
            <a:avLst/>
          </a:prstGeom>
          <a:solidFill>
            <a:srgbClr val="182235"/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location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065020"/>
            <a:ext cx="3900830" cy="62941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owns this resource?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4586630" y="2065020"/>
            <a:ext cx="3467405" cy="62941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convention / review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054035" y="2065020"/>
            <a:ext cx="3467405" cy="62941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rules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685800" y="2712720"/>
            <a:ext cx="3900830" cy="62941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this reference dangle?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586630" y="2712720"/>
            <a:ext cx="3467405" cy="62941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programmer analysis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8054035" y="2712720"/>
            <a:ext cx="3467405" cy="62941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borrow checker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85800" y="3360420"/>
            <a:ext cx="3900830" cy="62941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this write race another write?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586630" y="3360420"/>
            <a:ext cx="3467405" cy="62941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discipline + tools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8054035" y="3360420"/>
            <a:ext cx="3467405" cy="62941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system rejects data races in safe code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85800" y="4008120"/>
            <a:ext cx="3900830" cy="62941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this value initialized?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86630" y="4008120"/>
            <a:ext cx="3467405" cy="62941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discipline + warnings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8054035" y="4008120"/>
            <a:ext cx="3467405" cy="62941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definite assignment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685800" y="4655820"/>
            <a:ext cx="3900830" cy="62941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Have we handled absence?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586630" y="4655820"/>
            <a:ext cx="3467405" cy="62941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null/optional convention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8054035" y="4655820"/>
            <a:ext cx="3467405" cy="62941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Option&lt;T&gt; + match/if let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1143000" y="5650992"/>
            <a:ext cx="9875520" cy="530352"/>
          </a:xfrm>
          <a:prstGeom prst="rect">
            <a:avLst/>
          </a:prstGeom>
          <a:solidFill>
            <a:srgbClr val="0F172A"/>
          </a:solidFill>
          <a:ln w="17780">
            <a:solidFill>
              <a:srgbClr val="F97316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is a huge win — but it is not a proof of the whole system.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Rust does not promise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safety is not system safety, availability, timing, or correctness.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" y="1444752"/>
            <a:ext cx="1046988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OS has enough memory or will not kill the process
</a:t>
            </a:r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realtime deadline will be met
</a:t>
            </a:r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C/C++/CUDA library obeys the header you declared
</a:t>
            </a:r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image buffer is the right pixel type, stride, endian, or calibration
</a:t>
            </a:r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algorithm is clinically correct
</a:t>
            </a:r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hardware device, bus, GPU, or filesystem will keep working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5138928"/>
            <a:ext cx="9372600" cy="822960"/>
          </a:xfrm>
          <a:prstGeom prst="rect">
            <a:avLst/>
          </a:prstGeom>
          <a:solidFill>
            <a:srgbClr val="0F172A"/>
          </a:solidFill>
          <a:ln w="17780">
            <a:solidFill>
              <a:srgbClr val="22D3EE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narrows important failure classes.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does not eliminate the architect’s proof ledger.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wrong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Safety-critical work rarely compares “all of C++” to “all of Rust.”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4800600" cy="475488"/>
          </a:xfrm>
          <a:prstGeom prst="rect">
            <a:avLst/>
          </a:prstGeom>
          <a:solidFill>
            <a:srgbClr val="F87171">
              <a:alpha val="92000"/>
            </a:srgbClr>
          </a:solidFill>
          <a:ln w="12700">
            <a:solidFill>
              <a:srgbClr val="F8717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comparison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480060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“Modern C++ with every feature”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versus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“Rust with every crate and every runtime convenience”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1508760"/>
            <a:ext cx="4800600" cy="475488"/>
          </a:xfrm>
          <a:prstGeom prst="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comparison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629400" y="2121408"/>
            <a:ext cx="480060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C/C++ subset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versus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Rust subset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constraints: no surprise allocation, bounded paths, explicit unsafe/FFI.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669280" y="2788920"/>
            <a:ext cx="822960" cy="0"/>
          </a:xfrm>
          <a:prstGeom prst="line">
            <a:avLst/>
          </a:prstGeom>
          <a:noFill/>
          <a:ln w="2286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280160" y="5166360"/>
            <a:ext cx="9601200" cy="676656"/>
          </a:xfrm>
          <a:prstGeom prst="rect">
            <a:avLst/>
          </a:prstGeom>
          <a:solidFill>
            <a:srgbClr val="0F172A"/>
          </a:solidFill>
          <a:ln w="17780">
            <a:solidFill>
              <a:srgbClr val="22D3EE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serious systems, language choice is downstream of the contract you need.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Safety-critical design starts by removing dynamics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safest heap allocation is often the one you never perform in the control path.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627632"/>
            <a:ext cx="3246120" cy="493776"/>
          </a:xfrm>
          <a:prstGeom prst="rect">
            <a:avLst/>
          </a:prstGeom>
          <a:solidFill>
            <a:srgbClr val="60A5FA">
              <a:alpha val="92000"/>
            </a:srgbClr>
          </a:solidFill>
          <a:ln w="12700">
            <a:solidFill>
              <a:srgbClr val="60A5F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Initialization phase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3246120" cy="11704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allocate, probe, validate, warm caches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0" y="1627632"/>
            <a:ext cx="3246120" cy="493776"/>
          </a:xfrm>
          <a:prstGeom prst="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Steady-state phase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72000" y="2267712"/>
            <a:ext cx="3246120" cy="11704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buffers, bounded queues, no surprise work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321040" y="1627632"/>
            <a:ext cx="3246120" cy="493776"/>
          </a:xfrm>
          <a:prstGeom prst="rect">
            <a:avLst/>
          </a:prstGeom>
          <a:solidFill>
            <a:srgbClr val="FBBF24">
              <a:alpha val="92000"/>
            </a:srgbClr>
          </a:solidFill>
          <a:ln w="12700">
            <a:solidFill>
              <a:srgbClr val="FBBF24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phase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321040" y="2267712"/>
            <a:ext cx="3246120" cy="11704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closed, report, recover, degrade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10515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dynamic allocation in the hard loop
</a:t>
            </a:r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unbounded queues
</a:t>
            </a:r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hidden copies
</a:t>
            </a:r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accidental locks
</a:t>
            </a:r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panic policy
</a:t>
            </a:r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error path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5705856"/>
            <a:ext cx="8686800" cy="530352"/>
          </a:xfrm>
          <a:prstGeom prst="rect">
            <a:avLst/>
          </a:prstGeom>
          <a:solidFill>
            <a:srgbClr val="0F172A"/>
          </a:solidFill>
          <a:ln w="17780">
            <a:solidFill>
              <a:srgbClr val="F97316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helps with ownership and aliasing.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does not choose your operational policy.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without a heap is still Rust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#![no_std] changes the contract surface, not the whole language.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394960" cy="1828800"/>
          </a:xfrm>
          <a:prstGeom prst="rect">
            <a:avLst/>
          </a:prstGeom>
          <a:solidFill>
            <a:srgbClr val="050A14"/>
          </a:solidFill>
          <a:ln w="10160">
            <a:solidFill>
              <a:srgbClr val="334155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#![no_std]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halve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u32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u32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46520" y="1417320"/>
            <a:ext cx="507492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remains: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Option, Result, slices, iterators, traits, pattern matching, many primitives.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6520" y="2788920"/>
            <a:ext cx="507492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 is explicit: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Vec, String, Box require the alloc crate and an allocator in no_std contexts.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4160520"/>
            <a:ext cx="507492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supply: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point, panic handler, possibly allocator, target-specific runtime hooks.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Allocation is a contract with an allocator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guarantee that physics, VM policy, and process limits will cooperate.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2560320" cy="457200"/>
          </a:xfrm>
          <a:prstGeom prst="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 / Box / String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0" y="1417320"/>
            <a:ext cx="2560320" cy="457200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allocator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46520" y="1417320"/>
            <a:ext cx="2560320" cy="457200"/>
          </a:xfrm>
          <a:prstGeom prst="rect">
            <a:avLst/>
          </a:prstGeom>
          <a:solidFill>
            <a:srgbClr val="FBBF24">
              <a:alpha val="92000"/>
            </a:srgbClr>
          </a:solidFill>
          <a:ln w="12700">
            <a:solidFill>
              <a:srgbClr val="FBBF24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VM policy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235440" y="1417320"/>
            <a:ext cx="2560320" cy="457200"/>
          </a:xfrm>
          <a:prstGeom prst="rect">
            <a:avLst/>
          </a:prstGeom>
          <a:solidFill>
            <a:srgbClr val="F87171">
              <a:alpha val="92000"/>
            </a:srgbClr>
          </a:solidFill>
          <a:ln w="12700">
            <a:solidFill>
              <a:srgbClr val="F8717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 / swap / device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1645920"/>
            <a:ext cx="22860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17920" y="1645920"/>
            <a:ext cx="22860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06840" y="1645920"/>
            <a:ext cx="22860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4400" y="2743200"/>
            <a:ext cx="4983480" cy="1417320"/>
          </a:xfrm>
          <a:prstGeom prst="rect">
            <a:avLst/>
          </a:prstGeom>
          <a:solidFill>
            <a:srgbClr val="050A14"/>
          </a:solidFill>
          <a:ln w="10160">
            <a:solidFill>
              <a:srgbClr val="334155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try_reserve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Ok, future pushes up to capacity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avoid reallocation in this phase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55080" y="2834640"/>
            <a:ext cx="4892040" cy="1097280"/>
          </a:xfrm>
          <a:prstGeom prst="rect">
            <a:avLst/>
          </a:prstGeom>
          <a:solidFill>
            <a:srgbClr val="0F172A"/>
          </a:solidFill>
          <a:ln w="17780">
            <a:solidFill>
              <a:srgbClr val="22D3EE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Fallible reservation is a design tool: move allocation failure to a known point.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14400" y="4937760"/>
            <a:ext cx="100584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pre-size buffers
</a:t>
            </a:r>
            <a:pPr indent="0" marL="0">
              <a:buNone/>
            </a:pPr>
            <a:r>
              <a:rPr lang="en-US" sz="17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 in initialization
</a:t>
            </a:r>
            <a:pPr indent="0" marL="0">
              <a:buNone/>
            </a:pPr>
            <a:r>
              <a:rPr lang="en-US" sz="17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allocation as failure-bearing
</a:t>
            </a:r>
            <a:pPr indent="0" marL="0">
              <a:buNone/>
            </a:pPr>
            <a:r>
              <a:rPr lang="en-US" sz="17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what may allocate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OOM is not a neat exception by default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memory-safe program can still be killed, aborted, or denied resources.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3474720" cy="420624"/>
          </a:xfrm>
          <a:prstGeom prst="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std allocation failure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347472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handle_alloc_error is divergent; default std behavior prints to stderr and aborts the process. Future behavior may differ.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370832" y="1463040"/>
            <a:ext cx="3474720" cy="420624"/>
          </a:xfrm>
          <a:prstGeom prst="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Fallible APIs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70832" y="1993392"/>
            <a:ext cx="347472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Vec::try_reserve and similar APIs let you surface capacity failure as Result at a deliberate boundary.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73568" y="1463040"/>
            <a:ext cx="3474720" cy="420624"/>
          </a:xfrm>
          <a:prstGeom prst="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policy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73568" y="1993392"/>
            <a:ext cx="347472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OS can still kill a process under memory pressure. No language destructor runs after SIGKILL.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188720" y="4892040"/>
            <a:ext cx="9784080" cy="685800"/>
          </a:xfrm>
          <a:prstGeom prst="rect">
            <a:avLst/>
          </a:prstGeom>
          <a:solidFill>
            <a:srgbClr val="0F172A"/>
          </a:solidFill>
          <a:ln w="17780">
            <a:solidFill>
              <a:srgbClr val="F97316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rule: allocation is a failure mode. Decide where it is allowed to occur.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 taxonomy: choose the right channel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critical API should not hide its failure semantics.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387395" cy="682752"/>
          </a:xfrm>
          <a:prstGeom prst="rect">
            <a:avLst/>
          </a:prstGeom>
          <a:solidFill>
            <a:srgbClr val="182235"/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kind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27475" y="1417320"/>
            <a:ext cx="2731770" cy="682752"/>
          </a:xfrm>
          <a:prstGeom prst="rect">
            <a:avLst/>
          </a:prstGeom>
          <a:solidFill>
            <a:srgbClr val="182235"/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shape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59245" y="1417320"/>
            <a:ext cx="4807915" cy="682752"/>
          </a:xfrm>
          <a:prstGeom prst="rect">
            <a:avLst/>
          </a:prstGeom>
          <a:solidFill>
            <a:srgbClr val="182235"/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Architectural meaning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118360"/>
            <a:ext cx="3387395" cy="68275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recoverable failure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4027475" y="2118360"/>
            <a:ext cx="2731770" cy="68275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Result&lt;T,E&gt;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759245" y="2118360"/>
            <a:ext cx="4807915" cy="68275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caller must decide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640080" y="2819400"/>
            <a:ext cx="3387395" cy="68275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Programmer invariant violated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027475" y="2819400"/>
            <a:ext cx="2731770" cy="68275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panic! / assert!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6759245" y="2819400"/>
            <a:ext cx="4807915" cy="68275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or impossible state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3387395" cy="68275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Allocation/resource exhaustion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027475" y="3520440"/>
            <a:ext cx="2731770" cy="68275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or abort / OS kill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6759245" y="3520440"/>
            <a:ext cx="4807915" cy="68275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decision, not syntax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40080" y="4221480"/>
            <a:ext cx="3387395" cy="68275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Foreign library failure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027475" y="4221480"/>
            <a:ext cx="2731770" cy="68275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code → Result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6759245" y="4221480"/>
            <a:ext cx="4807915" cy="68275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at boundary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640080" y="4922520"/>
            <a:ext cx="3387395" cy="68275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/ process death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027475" y="4922520"/>
            <a:ext cx="2731770" cy="68275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Rust value returned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6759245" y="4922520"/>
            <a:ext cx="4807915" cy="682752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supervision / restart / safety state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Drop / RAII is strong — not magic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depends on how execution stops.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1417320"/>
            <a:ext cx="2377440" cy="475488"/>
          </a:xfrm>
          <a:prstGeom prst="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return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11880" y="1417320"/>
            <a:ext cx="2377440" cy="47548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panic = unwind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63640" y="1417320"/>
            <a:ext cx="2377440" cy="475488"/>
          </a:xfrm>
          <a:prstGeom prst="rect">
            <a:avLst/>
          </a:prstGeom>
          <a:solidFill>
            <a:srgbClr val="FBBF24">
              <a:alpha val="92000"/>
            </a:srgbClr>
          </a:solidFill>
          <a:ln w="12700">
            <a:solidFill>
              <a:srgbClr val="FBBF24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panic = abort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15400" y="1417320"/>
            <a:ext cx="2377440" cy="475488"/>
          </a:xfrm>
          <a:prstGeom prst="rect">
            <a:avLst/>
          </a:prstGeom>
          <a:solidFill>
            <a:srgbClr val="F87171">
              <a:alpha val="92000"/>
            </a:srgbClr>
          </a:solidFill>
          <a:ln w="12700">
            <a:solidFill>
              <a:srgbClr val="F8717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SIGKILL / OOM kill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237744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runs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scope exits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11880" y="2148840"/>
            <a:ext cx="237744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runs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while unwinding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 Rust frames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263640" y="2148840"/>
            <a:ext cx="237744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aborts;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is not a normal control path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915400" y="2148840"/>
            <a:ext cx="237744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catch.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Drop.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process is gone.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4663440"/>
            <a:ext cx="9235440" cy="749808"/>
          </a:xfrm>
          <a:prstGeom prst="rect">
            <a:avLst/>
          </a:prstGeom>
          <a:solidFill>
            <a:srgbClr val="0F172A"/>
          </a:solidFill>
          <a:ln w="17780">
            <a:solidFill>
              <a:srgbClr val="F97316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Language-level cleanup exists only while the OS still lets the program run.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 is a boundary, not a mode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does not “turn off Rust.” It unlocks specific operations.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196596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F97316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dereference raw pointer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44952" y="1600200"/>
            <a:ext cx="196596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F97316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unsafe function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12664" y="1600200"/>
            <a:ext cx="196596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/ modify mutable static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0376" y="1600200"/>
            <a:ext cx="196596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unsafe trait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48088" y="1600200"/>
            <a:ext cx="196596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union field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913632"/>
            <a:ext cx="9875520" cy="713232"/>
          </a:xfrm>
          <a:prstGeom prst="rect">
            <a:avLst/>
          </a:prstGeom>
          <a:solidFill>
            <a:srgbClr val="0F172A"/>
          </a:solidFill>
          <a:ln w="17780">
            <a:solidFill>
              <a:srgbClr val="22D3EE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compiler still type-checks and borrow-checks ordinary references inside unsafe code.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154680" y="4983480"/>
            <a:ext cx="5852160" cy="804672"/>
          </a:xfrm>
          <a:prstGeom prst="rect">
            <a:avLst/>
          </a:prstGeom>
          <a:solidFill>
            <a:srgbClr val="050A14"/>
          </a:solidFill>
          <a:ln w="10160">
            <a:solidFill>
              <a:srgbClr val="334155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unsafe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Here you may do things safe Rust forbids.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proof obligation moved to you.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 shifts the proof obligation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where the C/C++ checklist comes back.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60704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pointer is non-null, valid, aligned, and inside the allocation
</a:t>
            </a:r>
            <a:pPr indent="0" marL="0">
              <a:buNone/>
            </a:pPr>
            <a:r>
              <a:rPr lang="en-US" sz="1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pointed-to bytes are initialized and have the correct type
</a:t>
            </a:r>
            <a:pPr indent="0" marL="0">
              <a:buNone/>
            </a:pPr>
            <a:r>
              <a:rPr lang="en-US" sz="1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lifetime is long enough for every access
</a:t>
            </a:r>
            <a:pPr indent="0" marL="0">
              <a:buNone/>
            </a:pPr>
            <a:r>
              <a:rPr lang="en-US" sz="1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mutable access is exclusive, or synchronization proves otherwise
</a:t>
            </a:r>
            <a:pPr indent="0" marL="0">
              <a:buNone/>
            </a:pPr>
            <a:r>
              <a:rPr lang="en-US" sz="1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foreign code obeys its documentation and ABI
</a:t>
            </a:r>
            <a:pPr indent="0" marL="0">
              <a:buNone/>
            </a:pPr>
            <a:r>
              <a:rPr lang="en-US" sz="1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panic, exception, and error paths cannot violate invariants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188720" y="5074920"/>
            <a:ext cx="9875520" cy="841248"/>
          </a:xfrm>
          <a:prstGeom prst="rect">
            <a:avLst/>
          </a:prstGeom>
          <a:solidFill>
            <a:srgbClr val="0F172A"/>
          </a:solidFill>
          <a:ln w="17780">
            <a:solidFill>
              <a:srgbClr val="22D3EE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Rust users should not inherit your unsafe proof obligation.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a safe API only when the wrapper can enforce the contract.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safe-wrapper pattern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unsafety small, named, reviewed, and surrounded by checks.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49840" cy="493776"/>
          </a:xfrm>
          <a:prstGeom prst="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safe API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080760" y="1883664"/>
            <a:ext cx="0" cy="329184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005840" y="2267712"/>
            <a:ext cx="10149840" cy="493776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inputs: lengths, alignment, ownership, aliasing, state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080760" y="2825496"/>
            <a:ext cx="0" cy="338328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005840" y="3218688"/>
            <a:ext cx="10149840" cy="493776"/>
          </a:xfrm>
          <a:prstGeom prst="rect">
            <a:avLst/>
          </a:prstGeom>
          <a:solidFill>
            <a:srgbClr val="F97316">
              <a:alpha val="92000"/>
            </a:srgbClr>
          </a:solidFill>
          <a:ln w="12700">
            <a:solidFill>
              <a:srgbClr val="F97316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tiny unsafe call / pointer conversion / FFI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080760" y="3776472"/>
            <a:ext cx="0" cy="338328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05840" y="4169664"/>
            <a:ext cx="10149840" cy="493776"/>
          </a:xfrm>
          <a:prstGeom prst="rect">
            <a:avLst/>
          </a:prstGeom>
          <a:solidFill>
            <a:srgbClr val="FBBF24">
              <a:alpha val="92000"/>
            </a:srgbClr>
          </a:solidFill>
          <a:ln w="12700">
            <a:solidFill>
              <a:srgbClr val="FBBF24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status + restore invariants + return Result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280160" y="5230368"/>
            <a:ext cx="9601200" cy="713232"/>
          </a:xfrm>
          <a:prstGeom prst="rect">
            <a:avLst/>
          </a:prstGeom>
          <a:solidFill>
            <a:srgbClr val="050A14"/>
          </a:solidFill>
          <a:ln w="10160">
            <a:solidFill>
              <a:srgbClr val="334155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SAFETY: input and output lengths verified;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buffers do not overlap; C function does not retain pointers.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rc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unsafe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c_reconstruct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out_ptr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out_len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FFI: the narrow waist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boundary, high-level Rust types become low-level contracts again.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301752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side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&amp;[u16]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&amp;mut [f32]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Result&lt;(), Error&gt;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+ lifetime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90288" y="1508760"/>
            <a:ext cx="301752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F9731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ABI waist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*const u16 + len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*mut f32 + len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status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retained pointers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0" y="1508760"/>
            <a:ext cx="301752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side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/ C++ / CUDA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imaging library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robotics SDK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driver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794760" y="2468880"/>
            <a:ext cx="79552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607808" y="2468880"/>
            <a:ext cx="80467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325880" y="4937760"/>
            <a:ext cx="9555480" cy="731520"/>
          </a:xfrm>
          <a:prstGeom prst="rect">
            <a:avLst/>
          </a:prstGeom>
          <a:solidFill>
            <a:srgbClr val="0F172A"/>
          </a:solidFill>
          <a:ln w="17780">
            <a:solidFill>
              <a:srgbClr val="22D3EE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 ABI is excellent as a boundary. It is terrible as a place to hide assumptions.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let panics and C++ exceptions drift across accidentally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Unwinding is part of the ABI contract.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3033979" cy="694944"/>
          </a:xfrm>
          <a:prstGeom prst="rect">
            <a:avLst/>
          </a:prstGeom>
          <a:solidFill>
            <a:srgbClr val="182235"/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19779" y="1417320"/>
            <a:ext cx="3792474" cy="694944"/>
          </a:xfrm>
          <a:prstGeom prst="rect">
            <a:avLst/>
          </a:prstGeom>
          <a:solidFill>
            <a:srgbClr val="182235"/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default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12253" y="1417320"/>
            <a:ext cx="4009187" cy="694944"/>
          </a:xfrm>
          <a:prstGeom prst="rect">
            <a:avLst/>
          </a:prstGeom>
          <a:solidFill>
            <a:srgbClr val="182235"/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choice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130552"/>
            <a:ext cx="3033979" cy="694944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panic → C ABI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3719779" y="2130552"/>
            <a:ext cx="3792474" cy="694944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catch or abort before boundary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7512253" y="2130552"/>
            <a:ext cx="4009187" cy="694944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status / Result equivalent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685800" y="2843784"/>
            <a:ext cx="3033979" cy="694944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exception → Rust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3719779" y="2843784"/>
            <a:ext cx="3792474" cy="694944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cross extern "C"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7512253" y="2843784"/>
            <a:ext cx="4009187" cy="694944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catch in C++ shim or use explicit unwind ABI with care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85800" y="3557016"/>
            <a:ext cx="3033979" cy="694944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panic = abort builds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3719779" y="3557016"/>
            <a:ext cx="3792474" cy="694944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unwinding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7512253" y="3557016"/>
            <a:ext cx="4009187" cy="694944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smaller/simpler failure model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85800" y="4270248"/>
            <a:ext cx="3033979" cy="694944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medical/robotics API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3719779" y="4270248"/>
            <a:ext cx="3792474" cy="694944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hidden unwinds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7512253" y="4270248"/>
            <a:ext cx="4009187" cy="694944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codes + safe states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1097280" y="5394960"/>
            <a:ext cx="10058400" cy="566928"/>
          </a:xfrm>
          <a:prstGeom prst="rect">
            <a:avLst/>
          </a:prstGeom>
          <a:solidFill>
            <a:srgbClr val="0F172A"/>
          </a:solidFill>
          <a:ln w="17780">
            <a:solidFill>
              <a:srgbClr val="F97316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FFI boundaries, exception policy is not an implementation detail. It is part of the interface.</a:t>
            </a:r>
            <a:endParaRPr lang="en-US" sz="2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imaging library wrapper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expose raw imaging contracts to the rest of the Rust program.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BOUNDARY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5257800" cy="1417320"/>
          </a:xfrm>
          <a:prstGeom prst="rect">
            <a:avLst/>
          </a:prstGeom>
          <a:solidFill>
            <a:srgbClr val="050A14"/>
          </a:solidFill>
          <a:ln w="10160">
            <a:solidFill>
              <a:srgbClr val="334155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reconstruct_u16_to_f32(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uint16_t* input, size_t pixels,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float* output, size_t out_pixels,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width, int height, int stride);</a:t>
            </a:r>
            <a:endParaRPr lang="en-US" sz="1090" dirty="0"/>
          </a:p>
        </p:txBody>
      </p:sp>
      <p:sp>
        <p:nvSpPr>
          <p:cNvPr id="8" name="Text 6"/>
          <p:cNvSpPr/>
          <p:nvPr/>
        </p:nvSpPr>
        <p:spPr>
          <a:xfrm>
            <a:off x="6236208" y="135331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WRAPPER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172200" y="1572768"/>
            <a:ext cx="5303520" cy="1874520"/>
          </a:xfrm>
          <a:prstGeom prst="rect">
            <a:avLst/>
          </a:prstGeom>
          <a:solidFill>
            <a:srgbClr val="050A14"/>
          </a:solidFill>
          <a:ln w="10160">
            <a:solidFill>
              <a:srgbClr val="334155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reconstruct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ImageView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u16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ImageMut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f32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ReconError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validate shape, stride, overlap, calibration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unsafe call hidden here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100584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3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3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pointers become slices or domain types
</a:t>
            </a:r>
            <a:pPr indent="0" marL="0">
              <a:buNone/>
            </a:pPr>
            <a:r>
              <a:rPr lang="en-US" sz="183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3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codes become Result
</a:t>
            </a:r>
            <a:pPr indent="0" marL="0">
              <a:buNone/>
            </a:pPr>
            <a:r>
              <a:rPr lang="en-US" sz="183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3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 and stride are checked once
</a:t>
            </a:r>
            <a:pPr indent="0" marL="0">
              <a:buNone/>
            </a:pPr>
            <a:r>
              <a:rPr lang="en-US" sz="183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3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foreign code must not retain borrowed pointers
</a:t>
            </a:r>
            <a:pPr indent="0" marL="0">
              <a:buNone/>
            </a:pPr>
            <a:r>
              <a:rPr lang="en-US" sz="183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3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does not leak into application code</a:t>
            </a:r>
            <a:endParaRPr lang="en-US" sz="18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Imaging buffers have more contracts than “pointer + length”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where domain knowledge must enter the type design.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3291840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width × height × depth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26280" y="1417320"/>
            <a:ext cx="3291840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 / slice spacing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75320" y="1417320"/>
            <a:ext cx="3291840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 type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u8, u16, f32, complex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2624328"/>
            <a:ext cx="3291840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endianness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DICOM / file boundary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526280" y="2624328"/>
            <a:ext cx="3291840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SIMD / DMA / GPU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75320" y="2624328"/>
            <a:ext cx="3291840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frees / who may mutate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77240" y="3831336"/>
            <a:ext cx="3291840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overlap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in-place legal?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26280" y="3831336"/>
            <a:ext cx="3291840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/ pinned / GPU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275320" y="3831336"/>
            <a:ext cx="3291840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spacing, orientation, units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234440" y="5522976"/>
            <a:ext cx="9784080" cy="512064"/>
          </a:xfrm>
          <a:prstGeom prst="rect">
            <a:avLst/>
          </a:prstGeom>
          <a:solidFill>
            <a:srgbClr val="0F172A"/>
          </a:solidFill>
          <a:ln w="17780">
            <a:solidFill>
              <a:srgbClr val="F97316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safe wrapper should encode as many of these as possible — and document the rest.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 robotics: Rust helps, but deadlines are outside the type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correct borrow graph is not a realtime proof.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3033979" cy="676656"/>
          </a:xfrm>
          <a:prstGeom prst="rect">
            <a:avLst/>
          </a:prstGeom>
          <a:solidFill>
            <a:srgbClr val="182235"/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Concern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19779" y="1417320"/>
            <a:ext cx="3575761" cy="676656"/>
          </a:xfrm>
          <a:prstGeom prst="rect">
            <a:avLst/>
          </a:prstGeom>
          <a:solidFill>
            <a:srgbClr val="182235"/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helps with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95540" y="1417320"/>
            <a:ext cx="4225900" cy="676656"/>
          </a:xfrm>
          <a:prstGeom prst="rect">
            <a:avLst/>
          </a:prstGeom>
          <a:solidFill>
            <a:srgbClr val="182235"/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your job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112264"/>
            <a:ext cx="3033979" cy="676656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state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3719779" y="2112264"/>
            <a:ext cx="3575761" cy="676656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/ Sync / Mutex&lt;T&gt;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7295540" y="2112264"/>
            <a:ext cx="4225900" cy="676656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deadlocks, priority inversion, scheduling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685800" y="2807208"/>
            <a:ext cx="3033979" cy="676656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lifetime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3719779" y="2807208"/>
            <a:ext cx="3575761" cy="676656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/ Drop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7295540" y="2807208"/>
            <a:ext cx="4225900" cy="676656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 of release under abort / OS kill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85800" y="3502152"/>
            <a:ext cx="3033979" cy="676656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loop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3719779" y="3502152"/>
            <a:ext cx="3575761" cy="676656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data races in safe code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7295540" y="3502152"/>
            <a:ext cx="4225900" cy="676656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WCET, jitter, memory allocation policy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85800" y="4197096"/>
            <a:ext cx="3033979" cy="676656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API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3719779" y="4197096"/>
            <a:ext cx="3575761" cy="676656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wrapper contracts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7295540" y="4197096"/>
            <a:ext cx="4225900" cy="676656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behavior, bus failures, safety state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1097280" y="5349240"/>
            <a:ext cx="10058400" cy="566928"/>
          </a:xfrm>
          <a:prstGeom prst="rect">
            <a:avLst/>
          </a:prstGeom>
          <a:solidFill>
            <a:srgbClr val="0F172A"/>
          </a:solidFill>
          <a:ln w="17780">
            <a:solidFill>
              <a:srgbClr val="22D3EE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hard realtime paths: make allocation, blocking, panic, and logging policy explicit.</a:t>
            </a:r>
            <a:endParaRPr lang="en-US" sz="2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Concurrency: Rust solves the data-race layer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does not solve every concurrent-systems failure mode.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846320" cy="457200"/>
          </a:xfrm>
          <a:prstGeom prst="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Rust can make hard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6177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sharing non-Send types across threads
</a:t>
            </a:r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mutating data without the guard
</a:t>
            </a:r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dangling captures into spawned threads
</a:t>
            </a:r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races in safe code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1417320"/>
            <a:ext cx="4846320" cy="457200"/>
          </a:xfrm>
          <a:prstGeom prst="rect">
            <a:avLst/>
          </a:prstGeom>
          <a:solidFill>
            <a:srgbClr val="FBBF24">
              <a:alpha val="92000"/>
            </a:srgbClr>
          </a:solidFill>
          <a:ln w="12700">
            <a:solidFill>
              <a:srgbClr val="FBBF24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remains system design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629400" y="2148840"/>
            <a:ext cx="461772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deadlock and lock ordering
</a:t>
            </a:r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inversion
</a:t>
            </a:r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unbounded blocking
</a:t>
            </a:r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starvation and scheduling policy
</a:t>
            </a:r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timing and sensor freshness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5349240"/>
            <a:ext cx="9052560" cy="594360"/>
          </a:xfrm>
          <a:prstGeom prst="rect">
            <a:avLst/>
          </a:prstGeom>
          <a:solidFill>
            <a:srgbClr val="0F172A"/>
          </a:solidFill>
          <a:ln w="17780">
            <a:solidFill>
              <a:srgbClr val="F97316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“Fearless concurrency” does not mean “thoughtless concurrency.”</a:t>
            </a:r>
            <a:endParaRPr lang="en-US" sz="2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Address ≠ memory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valid pointer/reference is still only one layer of the story.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1874520" cy="914400"/>
          </a:xfrm>
          <a:prstGeom prst="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object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Box&lt;T&gt; / &amp;T / Vec&lt;T&gt;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88920" y="1965960"/>
            <a:ext cx="32004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136392" y="1508760"/>
            <a:ext cx="1874520" cy="914400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 address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address space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10912" y="1965960"/>
            <a:ext cx="32004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358384" y="1508760"/>
            <a:ext cx="1874520" cy="914400"/>
          </a:xfrm>
          <a:prstGeom prst="rect">
            <a:avLst/>
          </a:prstGeom>
          <a:solidFill>
            <a:srgbClr val="60A5FA">
              <a:alpha val="92000"/>
            </a:srgbClr>
          </a:solidFill>
          <a:ln w="12700">
            <a:solidFill>
              <a:srgbClr val="60A5F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table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+ permissions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32904" y="1965960"/>
            <a:ext cx="32004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580376" y="1508760"/>
            <a:ext cx="1874520" cy="914400"/>
          </a:xfrm>
          <a:prstGeom prst="rect">
            <a:avLst/>
          </a:prstGeom>
          <a:solidFill>
            <a:srgbClr val="FBBF24">
              <a:alpha val="92000"/>
            </a:srgbClr>
          </a:solidFill>
          <a:ln w="12700">
            <a:solidFill>
              <a:srgbClr val="FBBF24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 / file / swap / zero-fill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54896" y="1965960"/>
            <a:ext cx="32004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802368" y="1508760"/>
            <a:ext cx="1874520" cy="914400"/>
          </a:xfrm>
          <a:prstGeom prst="rect">
            <a:avLst/>
          </a:prstGeom>
          <a:solidFill>
            <a:srgbClr val="F87171">
              <a:alpha val="92000"/>
            </a:srgbClr>
          </a:solidFill>
          <a:ln w="12700">
            <a:solidFill>
              <a:srgbClr val="F8717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MMU, device, bus, ECC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71600" y="3977640"/>
            <a:ext cx="9418320" cy="914400"/>
          </a:xfrm>
          <a:prstGeom prst="rect">
            <a:avLst/>
          </a:prstGeom>
          <a:solidFill>
            <a:srgbClr val="0F172A"/>
          </a:solidFill>
          <a:ln w="17780">
            <a:solidFill>
              <a:srgbClr val="F97316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can prove the reference does not outlive its object.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cannot promise a page fault will succeed.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5532120"/>
            <a:ext cx="10058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 memory, file mappings, page cache, swap, NUMA, pinned pages, GPU buffers — all below Rust’s type system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Overcommit: the airline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 seats, 1,000 tickets — efficient until everyone arrives.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28346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sold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 allocation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 range reserved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663440" y="1508760"/>
            <a:ext cx="28346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passenger arrives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page touch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fault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03920" y="1508760"/>
            <a:ext cx="28346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F8717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seat needed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backing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OOM policy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703320" y="2148840"/>
            <a:ext cx="9144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543800" y="2148840"/>
            <a:ext cx="9144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05840" y="4160520"/>
            <a:ext cx="10104120" cy="658368"/>
          </a:xfrm>
          <a:prstGeom prst="rect">
            <a:avLst/>
          </a:prstGeom>
          <a:solidFill>
            <a:srgbClr val="0F172A"/>
          </a:solidFill>
          <a:ln w="17780">
            <a:solidFill>
              <a:srgbClr val="F97316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Overbooking is rational when occasional failure costs less than always reserving pessimistically.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88720" y="5257800"/>
            <a:ext cx="9829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lesson: efficient systems often trade hard reservation for probabilistic utilization. You need to know when that bargain is unacceptable.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as containment language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“rewrite the scanner.” Put contracts around legacy power.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52760" cy="457200"/>
          </a:xfrm>
          <a:prstGeom prst="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Rust orchestration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10652760" cy="457200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types: ImageView, RobotState, FrameId, CalibratedTransform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916936"/>
            <a:ext cx="10652760" cy="457200"/>
          </a:xfrm>
          <a:prstGeom prst="rect">
            <a:avLst/>
          </a:prstGeom>
          <a:solidFill>
            <a:srgbClr val="F97316">
              <a:alpha val="92000"/>
            </a:srgbClr>
          </a:solidFill>
          <a:ln w="12700">
            <a:solidFill>
              <a:srgbClr val="F97316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reviewed unsafe / FFI layer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3621024"/>
            <a:ext cx="10652760" cy="457200"/>
          </a:xfrm>
          <a:prstGeom prst="rect">
            <a:avLst/>
          </a:prstGeom>
          <a:solidFill>
            <a:srgbClr val="FBBF24">
              <a:alpha val="92000"/>
            </a:srgbClr>
          </a:solidFill>
          <a:ln w="12700">
            <a:solidFill>
              <a:srgbClr val="FBBF24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C / C++ / CUDA / vendor libraries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40" y="4325112"/>
            <a:ext cx="10652760" cy="457200"/>
          </a:xfrm>
          <a:prstGeom prst="rect">
            <a:avLst/>
          </a:prstGeom>
          <a:solidFill>
            <a:srgbClr val="F87171">
              <a:alpha val="92000"/>
            </a:srgbClr>
          </a:solidFill>
          <a:ln w="12700">
            <a:solidFill>
              <a:srgbClr val="F8717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devices, drivers, OS, GPU, sensors, physical world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508760" y="5532120"/>
            <a:ext cx="9144000" cy="594360"/>
          </a:xfrm>
          <a:prstGeom prst="rect">
            <a:avLst/>
          </a:prstGeom>
          <a:solidFill>
            <a:srgbClr val="0F172A"/>
          </a:solidFill>
          <a:ln w="17780">
            <a:solidFill>
              <a:srgbClr val="22D3EE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win may be less “Rust replaces C++”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more “Rust prevents C++ contracts from leaking everywhere.”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LLMs change the educational center of gravity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reduce the syntax bottleneck — which makes the contract lesson more important.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4937760" cy="420624"/>
          </a:xfrm>
          <a:prstGeom prst="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an LLM can often produce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46634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idiomatic loops and matches
</a:t>
            </a:r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Cargo.toml scaffolding
</a:t>
            </a:r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plumbing
</a:t>
            </a:r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 implementations
</a:t>
            </a:r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ffi declarations — sometimes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6520" y="1463040"/>
            <a:ext cx="4937760" cy="420624"/>
          </a:xfrm>
          <a:prstGeom prst="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cannot own for you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148840"/>
            <a:ext cx="46634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actual safety case
</a:t>
            </a:r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unsafe invariants
</a:t>
            </a:r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OS/resource model
</a:t>
            </a:r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clinical/domain meaning
</a:t>
            </a:r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failure policy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5074920"/>
            <a:ext cx="9052560" cy="749808"/>
          </a:xfrm>
          <a:prstGeom prst="rect">
            <a:avLst/>
          </a:prstGeom>
          <a:solidFill>
            <a:srgbClr val="0F172A"/>
          </a:solidFill>
          <a:ln w="17780">
            <a:solidFill>
              <a:srgbClr val="F97316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model to write code faster.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outsource the system contract.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architect’s proof ledger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every critical fact, write down who proves it and what happens on violation.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1325880"/>
            <a:ext cx="3872484" cy="628323"/>
          </a:xfrm>
          <a:prstGeom prst="rect">
            <a:avLst/>
          </a:prstGeom>
          <a:solidFill>
            <a:srgbClr val="182235"/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39412" y="1325880"/>
            <a:ext cx="3540557" cy="628323"/>
          </a:xfrm>
          <a:prstGeom prst="rect">
            <a:avLst/>
          </a:prstGeom>
          <a:solidFill>
            <a:srgbClr val="182235"/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proves/enforces?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979969" y="1325880"/>
            <a:ext cx="3651199" cy="628323"/>
          </a:xfrm>
          <a:prstGeom prst="rect">
            <a:avLst/>
          </a:prstGeom>
          <a:solidFill>
            <a:srgbClr val="182235"/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Violation behavior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972491"/>
            <a:ext cx="3872484" cy="628323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buffer length is sufficient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4439412" y="1972491"/>
            <a:ext cx="3540557" cy="628323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wrapper checks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7979969" y="1972491"/>
            <a:ext cx="3651199" cy="628323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Err, not UB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66928" y="2619103"/>
            <a:ext cx="3872484" cy="628323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library does not retain pointer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439412" y="2619103"/>
            <a:ext cx="3540557" cy="628323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contract + review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7979969" y="2619103"/>
            <a:ext cx="3651199" cy="628323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invariant broken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66928" y="3265714"/>
            <a:ext cx="3872484" cy="628323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allocation happens only at init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439412" y="3265714"/>
            <a:ext cx="3540557" cy="628323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+ tests + review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7979969" y="3265714"/>
            <a:ext cx="3651199" cy="628323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policy violation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566928" y="3912326"/>
            <a:ext cx="3872484" cy="628323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loop completes in budget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439412" y="3912326"/>
            <a:ext cx="3540557" cy="628323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+ RT design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7979969" y="3912326"/>
            <a:ext cx="3651199" cy="628323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action / degraded state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66928" y="4558937"/>
            <a:ext cx="3872484" cy="628323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panic never crosses FFI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439412" y="4558937"/>
            <a:ext cx="3540557" cy="628323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shim + catch/abort policy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7979969" y="4558937"/>
            <a:ext cx="3651199" cy="628323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abort or UB risk if wrong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66928" y="5205549"/>
            <a:ext cx="3872484" cy="628323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metadata is clinically meaningful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439412" y="5205549"/>
            <a:ext cx="3540557" cy="628323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validation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7979969" y="5205549"/>
            <a:ext cx="3651199" cy="628323"/>
          </a:xfrm>
          <a:prstGeom prst="rect">
            <a:avLst/>
          </a:prstGeom>
          <a:solidFill>
            <a:srgbClr val="0F172A">
              <a:alpha val="92000"/>
            </a:srgbClr>
          </a:solidFill>
          <a:ln w="635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output despite safe memory</a:t>
            </a:r>
            <a:endParaRPr lang="en-US" sz="9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use this stack in class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5097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a detour deck: pull it when the class starts confusing layers.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489204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F9731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Rust feels like syntax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slides 1–6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00800" y="1325880"/>
            <a:ext cx="489204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heap/allocation comes up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slides 7–12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2587752"/>
            <a:ext cx="489204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F9731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unsafe/FFI appears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slides 13–18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00800" y="2587752"/>
            <a:ext cx="489204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imaging/robotics examples arise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slides 19–24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22960" y="3849624"/>
            <a:ext cx="489204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F9731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LLMs or tooling dominate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slides 25–26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34440" y="5486400"/>
            <a:ext cx="9784080" cy="493776"/>
          </a:xfrm>
          <a:prstGeom prst="rect">
            <a:avLst/>
          </a:prstGeom>
          <a:solidFill>
            <a:srgbClr val="0F172A"/>
          </a:solidFill>
          <a:ln w="17780">
            <a:solidFill>
              <a:srgbClr val="22D3EE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deck is not a linear lecture. It is a map of “why” when syntax is no longer enough.</a:t>
            </a:r>
            <a:endParaRPr lang="en-US" sz="2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THESIS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does not remove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need to think.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49808" y="23774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lets us decide which facts the compiler should help us prove — and which facts remain architectural, operational, or physical.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4389120"/>
            <a:ext cx="10287000" cy="822960"/>
          </a:xfrm>
          <a:prstGeom prst="rect">
            <a:avLst/>
          </a:prstGeom>
          <a:solidFill>
            <a:srgbClr val="0F172A"/>
          </a:solidFill>
          <a:ln w="17780">
            <a:solidFill>
              <a:srgbClr val="F97316"/>
            </a:solidFill>
          </a:ln>
          <a:effectLst>
            <a:outerShdw sx="100000" sy="100000" kx="0" ky="0" algn="bl" rotWithShape="0" blurRad="25400" dist="1778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mature Rust lesson is not “the compiler saves us.”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“know exactly where the compiler stops.”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Advanced C++ Developers  •  Contracts &amp; Boundaries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FOSS Club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 Contracts, Boundaries &amp; System Reality</dc:title>
  <dc:subject>Rust contracts and contract boundaries for C++ systems architects</dc:subject>
  <dc:creator>OpenAI</dc:creator>
  <cp:lastModifiedBy>OpenAI</cp:lastModifiedBy>
  <cp:revision>1</cp:revision>
  <dcterms:created xsi:type="dcterms:W3CDTF">2026-09-13T20:47:36Z</dcterms:created>
  <dcterms:modified xsi:type="dcterms:W3CDTF">2026-09-13T20:47:36Z</dcterms:modified>
</cp:coreProperties>
</file>